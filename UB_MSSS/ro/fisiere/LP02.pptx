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Acesta este al doilea dintre cele șapte seminarii și primul al cărui produs se notează. Azi învățați trei instrumente pe care le folosiți apoi pentru organizația echipei voastre: cele cinci categorii de schimbare, fișa unei probleme externe și ordonarea problemelor după cât de mult contează și cât de probabil este să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Seminarul are două ore: o oră în sală, cu toată grupa, și o oră de lucru al echipei, pe care o puteți face acasă. În sală vă întoarceți la spitalul din primul seminar și răspundeți la întrebarea lăsată atunci deschisă: s-a schimbat populația din jurul lui? Mai mult de jumătate din timp lucrați voi: votați, discutați cu colegul de bancă și scrieți, ca echipă, prima fișă a unei probleme externe. În ora echipei scrieți analiza externă a organizației voastre, al doilea capitol al planului strategic.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primul seminar ați fost, pentru câteva minute, managerii Spitalului Orășenesc Zimnicea, un spital mic din județul Teleorman. Ați aflat o singură cifră: în 2025, paturile lui de acuți contractate cu casa de asigurări au avut un grad de ocupare de 46,6%. Răspunsul cinstit a fost atunci „nu decid încă”, iar prima întrebare de verificat a fost: s-a schimbat populația din jurul spitalului? Azi îi răspundeți cu date publice.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pe telefon, prin codul de pe ecran: cum credeți că s-a schimbat, în ultimii zece ani, populația județului Teleorman? A crescut, a rămas aproape la fel, a scăzut puțin sau a scăzut mult? Apoi discutați două minute cu colegul de bancă: dacă populația a scăzut, ce înseamnă asta pentru un spital mic? Distribuția voturilor apare pe ecran înainte de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publicate de Eurostat dau răspunsul. La 1 ianuarie 2015, județul Teleorman avea 361 479 de locuitori; la 1 ianuarie 2025, avea 313 033. În zece ani, județul a pierdut 48 446 de locuitori, adică 13,4% din populație, aproape unul din șapte. Valorile recente, inclusiv cea din 2025, sunt estimări ale Eurostat, nu rezultate de recensământ.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Populația a scăzut și, în același timp, a îmbătrânit. Ponderea persoanelor de 65 de ani și peste a crescut de la 24,6% în 2015 la 26,6% în 2025, mult peste media țării, de 20,3% în același an. În Teleorman, mai mult de un locuitor din patru are 65 de ani sau peste. Ponderea a crescut însă mai încet decât în țară: cu 2,0 puncte procentuale în Teleorman și cu 3,3 puncte în România, unde a urcat de la 17,0% la 20,3%. Gradul de îmbătrânire al județului este mult peste medie, dar a crescut mai lent decât în țară. Vârsta mediană, vârsta care împarte populația în două jumătăți egale, era în 2025 de 49,4 ani în Teleorman, față de 44,0 ani în România.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înseamnă asta pentru spital? Nu înseamnă automat mai puțini pacienți. Raționamentul următor nu este un rezultat măsurat, iar echipa îl verifică apoi în datele spitalului: mai puțini locuitori, dar mai vârstnici, pot însemna mai puține nașteri și mai puține urgențe la copii, dar mai multe internări pentru boli cronice, mai multă recuperare și mai multă nevoie de îngrijire la domiciliu. Un spital cu paturi puțin ocupate poate fi un spital ale cărui servicii nu mai corespund nevoilor celor din jur, nu neapărat unul de prisos. Datele populației nu decid nimic singure: ele mută întrebarea de la „câte paturi?” la „ce fel de servicii?”.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au și o limită pe care trebuie să o spuneți. Cifrele privesc tot județul, nu orașul Zimnicea și nici zona din care vin efectiv pacienții spitalului, adică aria lui de servicii. Pentru o concluzie despre Zimnicea, echipa ar căuta datele pe localități în baza TEMPO a Institutului Național de Statistică. Seria Eurostat are și ea o particularitate: ponderea vârstnicilor din Teleorman crește până în 2021, la 27,5%, scade brusc între 2021 și 2022, la 25,8%, apoi crește din nou, iar valorile din 2021 încoace sunt estimări. Fișierul Eurostat nu spune de ce a apărut ruptura, iar notele nu îi atribuie o cauză. De aceea, comparați județul cu țara pe aceiași ani, spuneți dacă seria are o ruptură și precizați că valorile recente sunt estimări.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Semnalul despre populație este o schimbare socială și demografică. Schimbările din jurul unei organizații se grupează în cinci categorii: economice, sociale și demografice, legislative și politice, tehnologice și concurențiale. Manualul le grupează în cinci categorii, nu în cele șase litere ale acronimului PESTEL: politica și legislația formează o singură categorie, iar concurența are o categorie proprie. Analiza PESTEL este trecerea sistematică a schimbărilor prin aceste categorii; în limbaj de zi cu zi, o listă de verificare, ca să nu uitați nicio parte a lumii din jurul organizației. Categoriile ajută, dar nu decid în locul vostru: problemele nu vin cu eticheta pusă. O problemă poate ține de două categorii; important este să știți de ce ați ales-o pe una dintre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apar, pe rând, patru semnale din jurul Spitalului Orășenesc Zimnicea, fiecare cu sursa lui. Pentru fiecare, votați pe telefon în ce categorie îl puneți: economică, socială și demografică, legislativă și politică, tehnologică sau concurențială. După fiecare vot, distribuția apare pe ecran, iar un voluntar spune în jumătate de minut de ce a ales categoria.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semnal: în 2023, îngrijirile cu internare au absorbit 41% din cheltuielile de sănătate ale României, a doua pondere din Uniunea Europeană, iar îngrijirile ambulatorii numai 20%, a doua cea mai mică din Uniune. Profilul de țară descrie un sistem care se bazează pe servicii spitalicești care consumă multe resurse. Semnalul este economic și privește sistemul de sănătate. Pentru spitalul din Zimnicea, orice plan care mută îngrijirea dinspre internare spre ambulatoriu sau spre internarea de zi merge în aceeași direcție cu o țintă declarată de mult timp: întărirea asistenței primare apare pe agenda politică încă din anii 1990, cu progrese limitate.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semnal: modelul-cadru al contractului de management îi cere managerului unui spital public să pregătească planul de dezvoltare pornind de la nevoile de servicii medicale ale populației din zona deservită. Semnalul este legislativ și politic, pentru că vine dintr-un ordin al ministrului sănătății, adică dintr-un act normativ. Pentru Zimnicea, el leagă direct primul semnal, cel despre populație, de documentul pe care conducerea spitalului este obligată să îl scrie.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semnal: Strategia națională de sănătate 2023–2030 numește printre deficiențele sistemului „Dezvoltarea suboptimală a serviciilor de telemedicină” și își propune „Creșterea accesului la servicii de sănătate prin implementarea sistemului informatic de furnizare a serviciilor medicale la distanță (telemedicină)”. Profilul de țară arată că folosirea teleconsultațiilor rămâne limitată în România. Semnalul este tehnologic, dar are și o parte legislativă și politică, pentru că strategia este un document al Guvernului. Pentru un spital mic dintr-un județ îmbătrânit, consultațiile de control la distanță pot fi o cale de a ajunge la pacienții care nu mai pot face drumul până la 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patrulea semnal: în județul Teleorman sunt patru spitale publice generale de acuți, iar dintre ele spitalul din Zimnicea are complexitatea medie a cazurilor cea mai mică. Indicele de complexitate a cazurilor, care compară complexitatea medie a cazurilor unui spital cu o valoare de referință, este la Zimnicea 0,93, față de 1,34 la spitalul județean din Alexandria. Semnalul este concurențial și privește aria de servicii: aceiași pacienți pot alege alt spital din județ, din București sau din județele vecine. Îl veți analiza în detaliu la seminarul al treilea, despre aria de servicii și competitori.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PESTEL a spitalului din Zimnicea, pe scurt: câte un semnal în fiecare categorie, cu stratul mediului în care s-a produs și cu sursa lui. Populația și vârsta privesc județul Teleorman; cheltuielile privesc anul 2023; spitalele privesc anul 2025. Tabelul nu este încă o analiză. Este o listă de semnale verificate, fiecare cu sursa ei. Analiza începe când echipa întreabă, pentru fiecare semnal, ce înseamnă el pentru organizația ei și cât de mult contează. Pentru asta folosiți fișa problemei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Fișa problemei externe este fișa pe care echipa scrie o singură problemă din jurul organizației, în cinci elemente: formularea, într-una sau două propoziții, fără soluția inclusă; dovezile, cu sursa și anul de referință; implicațiile pentru organizație; aprecierea impactului și a probabilității; semnul după care echipa și-ar schimba concluzia. În limbaj de zi cu zi: o pagină pe care un coleg care nu a participat la discuție o poate citi și verifica singur. Formularea fără soluție împiedică echipa să sară la o decizie înainte de analiza internă: „populația județului scade și îmbătrânește” este o problemă; „spitalul trebuie să-și închidă o secție” este deja o soluție. Semnul după care v-ați schimba concluzia arată că știți că o analiză externă se sprijină pe presupuneri, care se verifică periodic.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Iată fișa pentru Zimnicea. Formularea: populația județului Teleorman scade în fiecare an, iar ponderea vârstnicilor este mult mai mare decât media țării, deși a crescut mai încet decât ea. Dovezile: între 2015 și 2025, populația a scăzut în fiecare an, de la 361 479 la 313 033 de locuitori, cu 13,4% în total; ponderea persoanelor de 65 de ani și peste a crescut de la 24,6% la 26,6%, adică cu 2,0 puncte procentuale, iar în România cu 3,3 puncte. Implicațiile: spitalul are, probabil, mai mulți pacienți vârstnici, cu boli cronice; dacă are servicii pentru copii sau pentru nașteri, acestea pot avea tot mai puțini pacienți, iar ce servicii are efectiv spitalul se verifică în structura lui aprobată. Aprecierea: impact mare și probabilitate mare, pentru că populația scade în fiecare an al seriei, iar ponderea vârstnicilor, după ruptura dintre 2021 și 2022, crește din nou. Semnul: datele pe localități arată că orașul și comunele din jur nu urmează tendința județului, sau cazurile spitalului cresc. Observați ce nu conține fișa: nicio soluție, niciun „trebuie”.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cu echipa voastră. Fiecare membru spune schimbarea pe care a găsit-o înainte de seminar, cu sursa ei. Echipa alege una singură, cea mai bine documentată, și scrie fișa ei în cele cinci elemente. Coordonatorul deschide pe telefon formularul „Analiza externă”, prin codul de pe ecran, alege varianta „Prima problemă, în sală” și trece fișa. Pe ecran apar, în timp real, categoriile alese de echipe. La final citim două fișe și le discutăm împreună: are formularea o soluție ascunsă? Se poate verifica dovada?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greșeli fac o fișă greu de folosit. Prima este formularea care conține soluția, de exemplu „lipsa unui ambulatoriu de geriatrie”, care închide discuția înainte de analiza internă. A doua este dovada fără an sau fără sursă găsibilă: „statisticile arată”. A treia este implicația scrisă pentru țară, nu pentru organizație: „sistemul va avea nevoie de mai mulți medici”. Fișa voastră trece testul dacă un coleg din altă echipă o poate verifica fără să vă întrebe nimic. Decizia vine mai târziu, după analiza internă și după alegerea direcției strategice.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externă găsește, de obicei, mai multe probleme decât poate trata un plan, așa că echipa trebuie să le ordoneze. Manualul descrie o metodă simplă și folosită pe scară largă: prioritizarea problemelor după impact și probabilitate. În disciplină o numim, pe scurt, „impact × probabilitate”. În limbaj de zi cu zi: cât de mult ne-ar afecta schimbarea și cât de sigur e că va continua. Pentru fiecare problemă, echipa dă o notă impactului și una probabilității, pe o scară de la 1 la 10, unde 10 înseamnă impact sau probabilitate mare. În exemplul din manual, un cămin de bătrâni își notează trei probleme din jur, fiecare cu dovezile ei și cu cele două note. Apoi problemele se așază pe un grafic, cu probabilitatea pe o axă și impactul pe cealaltă; cele din zona cu impact mare și probabilitate mare sunt critice și ar trebui tratate în planul strategic.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Metoda pare exactă, dar nu este. Manualul atrage atenția că problemele externe vin rareori sub forma unor date care se pot număra: de cele mai multe ori, analiza înseamnă ca echipa să cadă de acord că problema există și cât contează și să aprecieze dacă ea va continua. Notele de la 1 la 10 sunt, așadar, judecăți argumentate, nu măsurători. Ele nu se adună și nu se înmulțesc într-un scor și nu țin locul datelor; semnul „×” din numele metodei arată cele două axe ale graficului, nu o înmulțire. Folosul lor este că vă obligă să vă spuneți argumentele și să vedeți unde nu sunteți de acord.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trei dintre semnalele spitalului din Zimnicea, populația care scade și îmbătrânește, telemedicina și concurența spitalelor din jur, votați pe telefon două note de la 1 la 10: cât de mare este impactul asupra spitalului și cât de probabil este ca schimbarea să continue. Pe ecran apare graficul: fiecare semnal este un punct, la media voturilor voastre. Media arată doar unde vă aflați, nu este un scor al problemei.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Să presupunem că sala a dat populației care scade și îmbătrânește impactul 8 și probabilitatea 9, concurenței spitalelor din jur impactul 7 și probabilitatea 8, iar telemedicinei impactul 6 și probabilitatea 5. Primele două probleme cad în zona cu impact mare și probabilitate mare și intră în planul strategic. Telemedicina rămâne la mijloc: echipa o urmărește și caută date înainte să decidă dacă o trece în plan. Graficul nu are o variantă bună stabilită dinainte, dar discuția contează. Dacă o parte din sală dă telemedicinei probabilitatea nouă și alta probabilitatea trei, diferența nu se rezolvă prin medie, ci prin date. Un dezacord mare este un semn că problema trebuie urmărită, nu că un grup a greșit.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este un titlu de ziar inventat pentru exercițiu, nu un articol real: „Teleormanul s-a golit: județul a pierdut un sfert din locuitori în zece ani”. Ați crede acest titlu? Sala se împarte în două tabere: cei care l-ar crede și cei care nu l-ar crede. Câte un voluntar din fiecare tabără își spune argumentul într-un minut.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pe care le-ați văzut la începutul seminarului permit verificarea. Populația județului a scăzut în zece ani cu 13,4%, adică aproape cu o șeptime, nu cu un sfert. Titlul are, așadar, dreptate în direcție, dar exagerează mărimea schimbării aproape de două ori, iar cuvântul „golit” nu descrie un județ cu peste trei sute de mii de locuitori. Pentru analiza externă, diferența contează: o scădere cu o șeptime poate cere adaptarea serviciilor, nu neapărat închiderea lor; decizia vine după analiza internă. Înainte să scrieți un semnal pe fișă, căutați cifra la sursa ei și scrieți-o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echipei produce al doilea capitol al planului strategic: analiza externă a organizației voastre. Porniți de la fișa organizației din primul seminar și de la răspunsul la întrebarea „ce informații lipsesc despre mediul extern”. Faceți analiza PESTEL: pentru fiecare categorie, cel puțin un semnal, cu stratul, sursa, anul de referință și adresa paginii; dacă într-o categorie nu găsiți nimic verificabil, scrieți asta și unde ați căutat. Alegeți cele trei semnale cele mai importante și scrieți pentru fiecare fișa problemei externe. Dați fiecăreia o notă pentru impact și una pentru probabilitate, de la 1 la 10, cu argumentul fiecărei note și cu orizontul de timp, împreună, ca echipă. Produsul se notează cu 0, 1 sau 2 puncte: 2 puncte pentru toate cele cinci categorii acoperite, fiecare cu un semnal sau cu căutarea documentată, trei fișe complete, note argumentate și surse cu anul de referință; 1 punct pentru o analiză predată la termen, dar cu o categorie neacoperită sau cu fișe incomplete; 0 puncte pentru o analiză nepredată sau fără surse. Coordonatorul trimite un singur formular pe echipă, varianta „Analiza externă completă”, cu câmpul obligatoriu „Ce a făcut fiecare membru al echipei”. Termenul: duminică 25.10.2026, ora 22:00.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Majoritatea semnalelor din jurul unei organizații de sănătate din România se pot verifica în câteva locuri. Institutul Național de Statistică publică, în baza TEMPO, serii despre populație și despre unitățile sanitare, multe pe județe și pe localități. Eurostat publică indicatorii de structură a populației, o parte și pe județe. Casa Națională de Asigurări de Sănătate publică, în aplicația „Performanță Spitale Publice”, indicatorii spitalelor publice. Profilul de țară al României descrie personalul, finanțarea și accesul la îngrijiri. Legile și ordinele se citesc în forma consolidată pe portalul legislativ al Ministerului Justiției, iar Strategia națională de sănătate arată direcțiile sistemului. Regula surselor rămâne aceeași: orice cifră poartă sursa și anul de referință, iar o cifră din presă se caută la sursa ei oficială. Un instrument de inteligență artificială nu este o sursă de cifre.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Cinci lucruri de reținut. Analiza mediului extern pornește de la un semnal și îl verifică în date publice înainte de a-l folosi; un semnal neverificat rămâne o întrebare, nu o problemă a planului. Cele cinci categorii nu sunt un scop în sine: ele ajută echipa să adune informația la un loc și să vadă tiparele. O problemă externă se scrie pe o fișă cu cinci elemente. Problemele se ordonează după impact și după probabilitate; cele cu impact mare și probabilitate mare intră în planul strategic. Notele de impact și de probabilitate sunt judecăți ale echipei, nu măsurători.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Ultimele cinci minute sunt ale voastre: trei întrebări, anonim, pe Mentimeter, fără cont. Ce a fost util azi? Unde v-am pierdut? Ce ați putea folosi mâine? La începutul seminarului următor veți vedea două lucruri schimbate după răspunsurile voastre. De mâine, când auziți că „populația scade, deci spitalul nu mai are rost”, întrebați trei lucruri: cu cât a scăzut și după ce sursă, ce s-a schimbat în structura populației și ce servicii cer acum cei care au rămas.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0175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0175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SEMINARUL 2 · ORA DIN SALĂ</a:t>
            </a:r>
            <a:endParaRPr lang="en-US" sz="1300" dirty="0"/>
          </a:p>
        </p:txBody>
      </p:sp>
      <p:sp>
        <p:nvSpPr>
          <p:cNvPr id="4" name="Text 2"/>
          <p:cNvSpPr/>
          <p:nvPr/>
        </p:nvSpPr>
        <p:spPr>
          <a:xfrm>
            <a:off x="685800" y="1463040"/>
            <a:ext cx="7132320" cy="91440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Analiza mediului extern</a:t>
            </a:r>
            <a:endParaRPr lang="en-US" sz="4400" dirty="0"/>
          </a:p>
        </p:txBody>
      </p:sp>
      <p:sp>
        <p:nvSpPr>
          <p:cNvPr id="5" name="Text 3"/>
          <p:cNvSpPr/>
          <p:nvPr/>
        </p:nvSpPr>
        <p:spPr>
          <a:xfrm>
            <a:off x="685800" y="2514600"/>
            <a:ext cx="6766560" cy="137160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Ce se schimbă în jurul organizației voastre și ce contează primul?</a:t>
            </a:r>
            <a:endParaRPr lang="en-US" sz="2600" dirty="0"/>
          </a:p>
        </p:txBody>
      </p:sp>
      <p:sp>
        <p:nvSpPr>
          <p:cNvPr id="6" name="Shape 4"/>
          <p:cNvSpPr/>
          <p:nvPr/>
        </p:nvSpPr>
        <p:spPr>
          <a:xfrm>
            <a:off x="713232" y="4572000"/>
            <a:ext cx="1280160" cy="27432"/>
          </a:xfrm>
          <a:prstGeom prst="rect">
            <a:avLst/>
          </a:prstGeom>
          <a:solidFill>
            <a:srgbClr val="FF4757"/>
          </a:solidFill>
          <a:ln/>
        </p:spPr>
        <p:txBody>
          <a:bodyPr/>
          <a:p/>
        </p:txBody>
      </p:sp>
      <p:sp>
        <p:nvSpPr>
          <p:cNvPr id="7" name="Text 5"/>
          <p:cNvSpPr/>
          <p:nvPr/>
        </p:nvSpPr>
        <p:spPr>
          <a:xfrm>
            <a:off x="685800" y="4754880"/>
            <a:ext cx="694944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Management strategic în sănătate · UB, FSI, anul II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Conf. univ. dr. Adrian Pană · luni, 19.10.2026</a:t>
            </a:r>
            <a:endParaRPr lang="en-US" sz="1500" dirty="0"/>
          </a:p>
        </p:txBody>
      </p:sp>
      <p:sp>
        <p:nvSpPr>
          <p:cNvPr id="8" name="Shape 6"/>
          <p:cNvSpPr/>
          <p:nvPr/>
        </p:nvSpPr>
        <p:spPr>
          <a:xfrm>
            <a:off x="8138160" y="2011680"/>
            <a:ext cx="3429000" cy="329184"/>
          </a:xfrm>
          <a:prstGeom prst="roundRect">
            <a:avLst>
              <a:gd name="adj" fmla="val 50000"/>
            </a:avLst>
          </a:prstGeom>
          <a:solidFill>
            <a:srgbClr val="FF4757"/>
          </a:solidFill>
          <a:ln w="12700">
            <a:solidFill>
              <a:srgbClr val="FF4757"/>
            </a:solidFill>
            <a:prstDash val="solid"/>
          </a:ln>
        </p:spPr>
        <p:txBody>
          <a:bodyPr/>
          <a:p/>
        </p:txBody>
      </p:sp>
      <p:sp>
        <p:nvSpPr>
          <p:cNvPr id="9" name="Text 7"/>
          <p:cNvSpPr/>
          <p:nvPr/>
        </p:nvSpPr>
        <p:spPr>
          <a:xfrm>
            <a:off x="8138160" y="2011680"/>
            <a:ext cx="342900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cinci categorii</a:t>
            </a:r>
            <a:endParaRPr lang="en-US" sz="1500" dirty="0"/>
          </a:p>
        </p:txBody>
      </p:sp>
      <p:sp>
        <p:nvSpPr>
          <p:cNvPr id="10" name="Shape 8"/>
          <p:cNvSpPr/>
          <p:nvPr/>
        </p:nvSpPr>
        <p:spPr>
          <a:xfrm>
            <a:off x="8138160" y="2697480"/>
            <a:ext cx="3429000" cy="329184"/>
          </a:xfrm>
          <a:prstGeom prst="roundRect">
            <a:avLst>
              <a:gd name="adj" fmla="val 50000"/>
            </a:avLst>
          </a:prstGeom>
          <a:solidFill>
            <a:srgbClr val="FFC24B"/>
          </a:solidFill>
          <a:ln w="12700">
            <a:solidFill>
              <a:srgbClr val="FFC24B"/>
            </a:solidFill>
            <a:prstDash val="solid"/>
          </a:ln>
        </p:spPr>
        <p:txBody>
          <a:bodyPr/>
          <a:p/>
        </p:txBody>
      </p:sp>
      <p:sp>
        <p:nvSpPr>
          <p:cNvPr id="11" name="Text 9"/>
          <p:cNvSpPr/>
          <p:nvPr/>
        </p:nvSpPr>
        <p:spPr>
          <a:xfrm>
            <a:off x="8138160" y="2697480"/>
            <a:ext cx="342900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fișa unei probleme</a:t>
            </a:r>
            <a:endParaRPr lang="en-US" sz="1500" dirty="0"/>
          </a:p>
        </p:txBody>
      </p:sp>
      <p:sp>
        <p:nvSpPr>
          <p:cNvPr id="12" name="Shape 10"/>
          <p:cNvSpPr/>
          <p:nvPr/>
        </p:nvSpPr>
        <p:spPr>
          <a:xfrm>
            <a:off x="8138160" y="3383280"/>
            <a:ext cx="3429000" cy="329184"/>
          </a:xfrm>
          <a:prstGeom prst="roundRect">
            <a:avLst>
              <a:gd name="adj" fmla="val 50000"/>
            </a:avLst>
          </a:prstGeom>
          <a:solidFill>
            <a:srgbClr val="27D3BE"/>
          </a:solidFill>
          <a:ln w="12700">
            <a:solidFill>
              <a:srgbClr val="27D3BE"/>
            </a:solidFill>
            <a:prstDash val="solid"/>
          </a:ln>
        </p:spPr>
        <p:txBody>
          <a:bodyPr/>
          <a:p/>
        </p:txBody>
      </p:sp>
      <p:sp>
        <p:nvSpPr>
          <p:cNvPr id="13" name="Text 11"/>
          <p:cNvSpPr/>
          <p:nvPr/>
        </p:nvSpPr>
        <p:spPr>
          <a:xfrm>
            <a:off x="8138160" y="3383280"/>
            <a:ext cx="342900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ce contează primul</a:t>
            </a:r>
            <a:endParaRPr lang="en-US" sz="1500" dirty="0"/>
          </a:p>
        </p:txBody>
      </p:sp>
      <p:sp>
        <p:nvSpPr>
          <p:cNvPr id="14" name="Text 12"/>
          <p:cNvSpPr/>
          <p:nvPr/>
        </p:nvSpPr>
        <p:spPr>
          <a:xfrm>
            <a:off x="8138160" y="4206240"/>
            <a:ext cx="3429000" cy="73152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trei instrumente pentru organizația echipei voastre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ORA DIN SALĂ ȘI ORA ECHIPEI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azi și ce predați la sfârșit</a:t>
            </a:r>
            <a:endParaRPr lang="en-US" sz="3000" dirty="0"/>
          </a:p>
        </p:txBody>
      </p:sp>
      <p:sp>
        <p:nvSpPr>
          <p:cNvPr id="4" name="Shape 2"/>
          <p:cNvSpPr/>
          <p:nvPr/>
        </p:nvSpPr>
        <p:spPr>
          <a:xfrm>
            <a:off x="59436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5" name="Shape 3"/>
          <p:cNvSpPr/>
          <p:nvPr/>
        </p:nvSpPr>
        <p:spPr>
          <a:xfrm>
            <a:off x="594360" y="17830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011680"/>
            <a:ext cx="2926080" cy="45720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În sală</a:t>
            </a:r>
            <a:endParaRPr lang="en-US" sz="2400" dirty="0"/>
          </a:p>
        </p:txBody>
      </p:sp>
      <p:sp>
        <p:nvSpPr>
          <p:cNvPr id="7" name="Text 5"/>
          <p:cNvSpPr/>
          <p:nvPr/>
        </p:nvSpPr>
        <p:spPr>
          <a:xfrm>
            <a:off x="86868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Zimnicea: s-a schimbat populația din jur?</a:t>
            </a:r>
            <a:endParaRPr lang="en-US" sz="1600" dirty="0"/>
          </a:p>
        </p:txBody>
      </p:sp>
      <p:sp>
        <p:nvSpPr>
          <p:cNvPr id="8" name="Shape 6"/>
          <p:cNvSpPr/>
          <p:nvPr/>
        </p:nvSpPr>
        <p:spPr>
          <a:xfrm>
            <a:off x="434340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9" name="Shape 7"/>
          <p:cNvSpPr/>
          <p:nvPr/>
        </p:nvSpPr>
        <p:spPr>
          <a:xfrm>
            <a:off x="4343400" y="1783080"/>
            <a:ext cx="3474720" cy="82296"/>
          </a:xfrm>
          <a:prstGeom prst="rect">
            <a:avLst/>
          </a:prstGeom>
          <a:solidFill>
            <a:srgbClr val="8A6100"/>
          </a:solidFill>
          <a:ln w="12700">
            <a:solidFill>
              <a:srgbClr val="8A6100"/>
            </a:solidFill>
            <a:prstDash val="solid"/>
          </a:ln>
        </p:spPr>
        <p:txBody>
          <a:bodyPr/>
          <a:p/>
        </p:txBody>
      </p:sp>
      <p:sp>
        <p:nvSpPr>
          <p:cNvPr id="10" name="Text 8"/>
          <p:cNvSpPr/>
          <p:nvPr/>
        </p:nvSpPr>
        <p:spPr>
          <a:xfrm>
            <a:off x="4617720" y="2011680"/>
            <a:ext cx="2926080" cy="457200"/>
          </a:xfrm>
          <a:prstGeom prst="rect">
            <a:avLst/>
          </a:prstGeom>
          <a:noFill/>
          <a:ln/>
        </p:spPr>
        <p:txBody>
          <a:bodyPr wrap="square" lIns="0" tIns="0" rIns="0" bIns="0" rtlCol="0" anchor="t"/>
          <a:lstStyle/>
          <a:p>
            <a:pPr indent="0" marL="0">
              <a:buNone/>
            </a:pPr>
            <a:r>
              <a:rPr lang="en-US" sz="2400" b="1" dirty="0">
                <a:solidFill>
                  <a:srgbClr val="8A6100"/>
                </a:solidFill>
                <a:latin typeface="Palatino Linotype" pitchFamily="34" charset="0"/>
                <a:ea typeface="Palatino Linotype" pitchFamily="34" charset="-122"/>
                <a:cs typeface="Palatino Linotype" pitchFamily="34" charset="-120"/>
              </a:rPr>
              <a:t>În echipă</a:t>
            </a:r>
            <a:endParaRPr lang="en-US" sz="2400" dirty="0"/>
          </a:p>
        </p:txBody>
      </p:sp>
      <p:sp>
        <p:nvSpPr>
          <p:cNvPr id="11" name="Text 9"/>
          <p:cNvSpPr/>
          <p:nvPr/>
        </p:nvSpPr>
        <p:spPr>
          <a:xfrm>
            <a:off x="461772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Prima fișă a unei probleme externe.</a:t>
            </a:r>
            <a:endParaRPr lang="en-US" sz="1600" dirty="0"/>
          </a:p>
        </p:txBody>
      </p:sp>
      <p:sp>
        <p:nvSpPr>
          <p:cNvPr id="12" name="Shape 10"/>
          <p:cNvSpPr/>
          <p:nvPr/>
        </p:nvSpPr>
        <p:spPr>
          <a:xfrm>
            <a:off x="809244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13" name="Shape 11"/>
          <p:cNvSpPr/>
          <p:nvPr/>
        </p:nvSpPr>
        <p:spPr>
          <a:xfrm>
            <a:off x="8092440" y="1783080"/>
            <a:ext cx="3474720" cy="82296"/>
          </a:xfrm>
          <a:prstGeom prst="rect">
            <a:avLst/>
          </a:prstGeom>
          <a:solidFill>
            <a:srgbClr val="0E7C6B"/>
          </a:solidFill>
          <a:ln w="12700">
            <a:solidFill>
              <a:srgbClr val="0E7C6B"/>
            </a:solidFill>
            <a:prstDash val="solid"/>
          </a:ln>
        </p:spPr>
        <p:txBody>
          <a:bodyPr/>
          <a:p/>
        </p:txBody>
      </p:sp>
      <p:sp>
        <p:nvSpPr>
          <p:cNvPr id="14" name="Text 12"/>
          <p:cNvSpPr/>
          <p:nvPr/>
        </p:nvSpPr>
        <p:spPr>
          <a:xfrm>
            <a:off x="8366760" y="2011680"/>
            <a:ext cx="2926080" cy="45720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Acasă</a:t>
            </a:r>
            <a:endParaRPr lang="en-US" sz="2400" dirty="0"/>
          </a:p>
        </p:txBody>
      </p:sp>
      <p:sp>
        <p:nvSpPr>
          <p:cNvPr id="15" name="Text 13"/>
          <p:cNvSpPr/>
          <p:nvPr/>
        </p:nvSpPr>
        <p:spPr>
          <a:xfrm>
            <a:off x="836676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Analiza externă: al doilea capitol al planului.</a:t>
            </a:r>
            <a:endParaRPr lang="en-US" sz="1600" dirty="0"/>
          </a:p>
        </p:txBody>
      </p:sp>
      <p:sp>
        <p:nvSpPr>
          <p:cNvPr id="16" name="Shape 14"/>
          <p:cNvSpPr/>
          <p:nvPr/>
        </p:nvSpPr>
        <p:spPr>
          <a:xfrm>
            <a:off x="594360" y="3977640"/>
            <a:ext cx="548640" cy="731520"/>
          </a:xfrm>
          <a:prstGeom prst="rect">
            <a:avLst/>
          </a:prstGeom>
          <a:solidFill>
            <a:srgbClr val="585A64"/>
          </a:solidFill>
          <a:ln w="19050">
            <a:solidFill>
              <a:srgbClr val="F6F5F2"/>
            </a:solidFill>
            <a:prstDash val="solid"/>
          </a:ln>
        </p:spPr>
        <p:txBody>
          <a:bodyPr/>
          <a:p/>
        </p:txBody>
      </p:sp>
      <p:sp>
        <p:nvSpPr>
          <p:cNvPr id="17" name="Shape 15"/>
          <p:cNvSpPr/>
          <p:nvPr/>
        </p:nvSpPr>
        <p:spPr>
          <a:xfrm>
            <a:off x="1143000" y="3977640"/>
            <a:ext cx="1828800" cy="731520"/>
          </a:xfrm>
          <a:prstGeom prst="rect">
            <a:avLst/>
          </a:prstGeom>
          <a:solidFill>
            <a:srgbClr val="FF4757"/>
          </a:solidFill>
          <a:ln w="19050">
            <a:solidFill>
              <a:srgbClr val="F6F5F2"/>
            </a:solidFill>
            <a:prstDash val="solid"/>
          </a:ln>
        </p:spPr>
        <p:txBody>
          <a:bodyPr/>
          <a:p/>
        </p:txBody>
      </p:sp>
      <p:sp>
        <p:nvSpPr>
          <p:cNvPr id="18" name="Text 16"/>
          <p:cNvSpPr/>
          <p:nvPr/>
        </p:nvSpPr>
        <p:spPr>
          <a:xfrm>
            <a:off x="1143000" y="3977640"/>
            <a:ext cx="1828800" cy="73152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Zimnicea</a:t>
            </a:r>
            <a:endParaRPr lang="en-US" sz="1300" dirty="0"/>
          </a:p>
        </p:txBody>
      </p:sp>
      <p:sp>
        <p:nvSpPr>
          <p:cNvPr id="19" name="Shape 17"/>
          <p:cNvSpPr/>
          <p:nvPr/>
        </p:nvSpPr>
        <p:spPr>
          <a:xfrm>
            <a:off x="2971800" y="3977640"/>
            <a:ext cx="2194560" cy="731520"/>
          </a:xfrm>
          <a:prstGeom prst="rect">
            <a:avLst/>
          </a:prstGeom>
          <a:solidFill>
            <a:srgbClr val="FFC24B"/>
          </a:solidFill>
          <a:ln w="19050">
            <a:solidFill>
              <a:srgbClr val="F6F5F2"/>
            </a:solidFill>
            <a:prstDash val="solid"/>
          </a:ln>
        </p:spPr>
        <p:txBody>
          <a:bodyPr/>
          <a:p/>
        </p:txBody>
      </p:sp>
      <p:sp>
        <p:nvSpPr>
          <p:cNvPr id="20" name="Text 18"/>
          <p:cNvSpPr/>
          <p:nvPr/>
        </p:nvSpPr>
        <p:spPr>
          <a:xfrm>
            <a:off x="2971800" y="3977640"/>
            <a:ext cx="2194560" cy="731520"/>
          </a:xfrm>
          <a:prstGeom prst="rect">
            <a:avLst/>
          </a:prstGeom>
          <a:noFill/>
          <a:ln/>
        </p:spPr>
        <p:txBody>
          <a:bodyPr wrap="square" lIns="0" tIns="0" rIns="0" bIns="0" rtlCol="0" anchor="ctr"/>
          <a:lstStyle/>
          <a:p>
            <a:pPr algn="ctr" indent="0" marL="0">
              <a:buNone/>
            </a:pPr>
            <a:r>
              <a:rPr lang="en-US" sz="1300" b="1" dirty="0">
                <a:solidFill>
                  <a:srgbClr val="3D2A00"/>
                </a:solidFill>
                <a:latin typeface="Palatino Linotype" pitchFamily="34" charset="0"/>
                <a:ea typeface="Palatino Linotype" pitchFamily="34" charset="-122"/>
                <a:cs typeface="Palatino Linotype" pitchFamily="34" charset="-120"/>
              </a:rPr>
              <a:t>Cinci semnale</a:t>
            </a:r>
            <a:endParaRPr lang="en-US" sz="1300" dirty="0"/>
          </a:p>
        </p:txBody>
      </p:sp>
      <p:sp>
        <p:nvSpPr>
          <p:cNvPr id="21" name="Shape 19"/>
          <p:cNvSpPr/>
          <p:nvPr/>
        </p:nvSpPr>
        <p:spPr>
          <a:xfrm>
            <a:off x="5166360" y="3977640"/>
            <a:ext cx="2743200" cy="731520"/>
          </a:xfrm>
          <a:prstGeom prst="rect">
            <a:avLst/>
          </a:prstGeom>
          <a:solidFill>
            <a:srgbClr val="27D3BE"/>
          </a:solidFill>
          <a:ln w="19050">
            <a:solidFill>
              <a:srgbClr val="F6F5F2"/>
            </a:solidFill>
            <a:prstDash val="solid"/>
          </a:ln>
        </p:spPr>
        <p:txBody>
          <a:bodyPr/>
          <a:p/>
        </p:txBody>
      </p:sp>
      <p:sp>
        <p:nvSpPr>
          <p:cNvPr id="22" name="Text 20"/>
          <p:cNvSpPr/>
          <p:nvPr/>
        </p:nvSpPr>
        <p:spPr>
          <a:xfrm>
            <a:off x="5166360" y="3977640"/>
            <a:ext cx="2743200" cy="731520"/>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Fișa problemei</a:t>
            </a:r>
            <a:endParaRPr lang="en-US" sz="1300" dirty="0"/>
          </a:p>
        </p:txBody>
      </p:sp>
      <p:sp>
        <p:nvSpPr>
          <p:cNvPr id="23" name="Shape 21"/>
          <p:cNvSpPr/>
          <p:nvPr/>
        </p:nvSpPr>
        <p:spPr>
          <a:xfrm>
            <a:off x="7909560" y="3977640"/>
            <a:ext cx="1828800" cy="731520"/>
          </a:xfrm>
          <a:prstGeom prst="rect">
            <a:avLst/>
          </a:prstGeom>
          <a:solidFill>
            <a:srgbClr val="9B7EF7"/>
          </a:solidFill>
          <a:ln w="19050">
            <a:solidFill>
              <a:srgbClr val="F6F5F2"/>
            </a:solidFill>
            <a:prstDash val="solid"/>
          </a:ln>
        </p:spPr>
        <p:txBody>
          <a:bodyPr/>
          <a:p/>
        </p:txBody>
      </p:sp>
      <p:sp>
        <p:nvSpPr>
          <p:cNvPr id="24" name="Text 22"/>
          <p:cNvSpPr/>
          <p:nvPr/>
        </p:nvSpPr>
        <p:spPr>
          <a:xfrm>
            <a:off x="7909560" y="3977640"/>
            <a:ext cx="1828800" cy="731520"/>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Ce contează primul</a:t>
            </a:r>
            <a:endParaRPr lang="en-US" sz="1300" dirty="0"/>
          </a:p>
        </p:txBody>
      </p:sp>
      <p:sp>
        <p:nvSpPr>
          <p:cNvPr id="25" name="Shape 23"/>
          <p:cNvSpPr/>
          <p:nvPr/>
        </p:nvSpPr>
        <p:spPr>
          <a:xfrm>
            <a:off x="9738360" y="3977640"/>
            <a:ext cx="914400" cy="731520"/>
          </a:xfrm>
          <a:prstGeom prst="rect">
            <a:avLst/>
          </a:prstGeom>
          <a:solidFill>
            <a:srgbClr val="ECEAE4"/>
          </a:solidFill>
          <a:ln w="19050">
            <a:solidFill>
              <a:srgbClr val="F6F5F2"/>
            </a:solidFill>
            <a:prstDash val="solid"/>
          </a:ln>
        </p:spPr>
        <p:txBody>
          <a:bodyPr/>
          <a:p/>
        </p:txBody>
      </p:sp>
      <p:sp>
        <p:nvSpPr>
          <p:cNvPr id="26" name="Text 24"/>
          <p:cNvSpPr/>
          <p:nvPr/>
        </p:nvSpPr>
        <p:spPr>
          <a:xfrm>
            <a:off x="9738360" y="3977640"/>
            <a:ext cx="914400" cy="73152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Titlul</a:t>
            </a:r>
            <a:endParaRPr lang="en-US" sz="1300" dirty="0"/>
          </a:p>
        </p:txBody>
      </p:sp>
      <p:sp>
        <p:nvSpPr>
          <p:cNvPr id="27" name="Shape 25"/>
          <p:cNvSpPr/>
          <p:nvPr/>
        </p:nvSpPr>
        <p:spPr>
          <a:xfrm>
            <a:off x="10652760" y="3977640"/>
            <a:ext cx="914400" cy="731520"/>
          </a:xfrm>
          <a:prstGeom prst="rect">
            <a:avLst/>
          </a:prstGeom>
          <a:solidFill>
            <a:srgbClr val="F9F8F5"/>
          </a:solidFill>
          <a:ln w="19050">
            <a:solidFill>
              <a:srgbClr val="F6F5F2"/>
            </a:solidFill>
            <a:prstDash val="solid"/>
          </a:ln>
        </p:spPr>
        <p:txBody>
          <a:bodyPr/>
          <a:p/>
        </p:txBody>
      </p:sp>
      <p:sp>
        <p:nvSpPr>
          <p:cNvPr id="28" name="Text 26"/>
          <p:cNvSpPr/>
          <p:nvPr/>
        </p:nvSpPr>
        <p:spPr>
          <a:xfrm>
            <a:off x="10652760" y="3977640"/>
            <a:ext cx="914400" cy="73152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Bilet</a:t>
            </a:r>
            <a:endParaRPr lang="en-US" sz="1300" dirty="0"/>
          </a:p>
        </p:txBody>
      </p:sp>
      <p:sp>
        <p:nvSpPr>
          <p:cNvPr id="29" name="Text 27"/>
          <p:cNvSpPr/>
          <p:nvPr/>
        </p:nvSpPr>
        <p:spPr>
          <a:xfrm>
            <a:off x="594360" y="4937760"/>
            <a:ext cx="10972800" cy="4572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Mai mult de jumătate din timp lucrați voi: votați, discutați, scrieți ca echipă.</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PRIMUL SEMINAR AȚI FOST MANAGERII SPITALULUI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Zimnicea, a doua privire</a:t>
            </a:r>
            <a:endParaRPr lang="en-US" sz="3200" dirty="0"/>
          </a:p>
        </p:txBody>
      </p:sp>
      <p:sp>
        <p:nvSpPr>
          <p:cNvPr id="4" name="Text 2"/>
          <p:cNvSpPr/>
          <p:nvPr/>
        </p:nvSpPr>
        <p:spPr>
          <a:xfrm>
            <a:off x="502920" y="1600200"/>
            <a:ext cx="6035040" cy="2103120"/>
          </a:xfrm>
          <a:prstGeom prst="rect">
            <a:avLst/>
          </a:prstGeom>
          <a:noFill/>
          <a:ln/>
        </p:spPr>
        <p:txBody>
          <a:bodyPr wrap="square" lIns="0" tIns="0" rIns="0" bIns="0" rtlCol="0" anchor="ctr"/>
          <a:lstStyle/>
          <a:p>
            <a:pPr indent="0" marL="0">
              <a:buNone/>
            </a:pPr>
            <a:r>
              <a:rPr lang="en-US" sz="13000" b="1" dirty="0">
                <a:solidFill>
                  <a:srgbClr val="FF4757"/>
                </a:solidFill>
                <a:latin typeface="Palatino Linotype" pitchFamily="34" charset="0"/>
                <a:ea typeface="Palatino Linotype" pitchFamily="34" charset="-122"/>
                <a:cs typeface="Palatino Linotype" pitchFamily="34" charset="-120"/>
              </a:rPr>
              <a:t>46,6%</a:t>
            </a:r>
            <a:endParaRPr lang="en-US" sz="13000" dirty="0"/>
          </a:p>
        </p:txBody>
      </p:sp>
      <p:sp>
        <p:nvSpPr>
          <p:cNvPr id="5" name="Text 3"/>
          <p:cNvSpPr/>
          <p:nvPr/>
        </p:nvSpPr>
        <p:spPr>
          <a:xfrm>
            <a:off x="594360" y="3749040"/>
            <a:ext cx="6035040" cy="73152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gradul de ocupare a paturilor de acuți contractate, în 2025</a:t>
            </a:r>
            <a:endParaRPr lang="en-US" sz="1900" dirty="0"/>
          </a:p>
        </p:txBody>
      </p:sp>
      <p:sp>
        <p:nvSpPr>
          <p:cNvPr id="6" name="Shape 4"/>
          <p:cNvSpPr/>
          <p:nvPr/>
        </p:nvSpPr>
        <p:spPr>
          <a:xfrm>
            <a:off x="6949440" y="1691640"/>
            <a:ext cx="4617720" cy="2834640"/>
          </a:xfrm>
          <a:prstGeom prst="roundRect">
            <a:avLst>
              <a:gd name="adj" fmla="val 2903"/>
            </a:avLst>
          </a:prstGeom>
          <a:solidFill>
            <a:srgbClr val="1D1F2B"/>
          </a:solidFill>
          <a:ln w="12700">
            <a:solidFill>
              <a:srgbClr val="1D1F2B"/>
            </a:solidFill>
            <a:prstDash val="solid"/>
          </a:ln>
        </p:spPr>
        <p:txBody>
          <a:bodyPr/>
          <a:p/>
        </p:txBody>
      </p:sp>
      <p:sp>
        <p:nvSpPr>
          <p:cNvPr id="7" name="Text 5"/>
          <p:cNvSpPr/>
          <p:nvPr/>
        </p:nvSpPr>
        <p:spPr>
          <a:xfrm>
            <a:off x="7269480" y="1691640"/>
            <a:ext cx="4069080" cy="2834640"/>
          </a:xfrm>
          <a:prstGeom prst="rect">
            <a:avLst/>
          </a:prstGeom>
          <a:noFill/>
          <a:ln/>
        </p:spPr>
        <p:txBody>
          <a:bodyPr wrap="square" lIns="0" tIns="0" rIns="0" bIns="0" rtlCol="0" anchor="ctr"/>
          <a:lstStyle/>
          <a:p>
            <a:pPr indent="0" marL="0">
              <a:spcAft>
                <a:spcPts val="600"/>
              </a:spcAft>
              <a:buNone/>
            </a:pPr>
            <a:r>
              <a:rPr lang="en-US" sz="1500" b="1" dirty="0">
                <a:solidFill>
                  <a:srgbClr val="FFC24B"/>
                </a:solidFill>
                <a:latin typeface="Palatino Linotype" pitchFamily="34" charset="0"/>
                <a:ea typeface="Palatino Linotype" pitchFamily="34" charset="-122"/>
                <a:cs typeface="Palatino Linotype" pitchFamily="34" charset="-120"/>
              </a:rPr>
              <a:t>Răspunsul cinstit de atunci</a:t>
            </a:r>
            <a:endParaRPr lang="en-US" sz="1500" dirty="0"/>
          </a:p>
          <a:p>
            <a:pPr indent="0" marL="0">
              <a:spcAft>
                <a:spcPts val="600"/>
              </a:spcAft>
              <a:buNone/>
            </a:pPr>
            <a:r>
              <a:rPr lang="en-US" sz="3000" b="1" dirty="0">
                <a:solidFill>
                  <a:srgbClr val="FFFFFF"/>
                </a:solidFill>
                <a:latin typeface="Palatino Linotype" pitchFamily="34" charset="0"/>
                <a:ea typeface="Palatino Linotype" pitchFamily="34" charset="-122"/>
                <a:cs typeface="Palatino Linotype" pitchFamily="34" charset="-120"/>
              </a:rPr>
              <a:t>„Nu decid încă.”</a:t>
            </a:r>
            <a:endParaRPr lang="en-US" sz="1500" dirty="0"/>
          </a:p>
          <a:p>
            <a:pPr indent="0" marL="0">
              <a:spcAft>
                <a:spcPts val="600"/>
              </a:spcAft>
              <a:buNone/>
            </a:pPr>
            <a:r>
              <a:rPr lang="en-US" sz="1500" b="1" dirty="0">
                <a:solidFill>
                  <a:srgbClr val="FFC24B"/>
                </a:solidFill>
                <a:latin typeface="Palatino Linotype" pitchFamily="34" charset="0"/>
                <a:ea typeface="Palatino Linotype" pitchFamily="34" charset="-122"/>
                <a:cs typeface="Palatino Linotype" pitchFamily="34" charset="-120"/>
              </a:rPr>
              <a:t>Prima întrebare de verificat:</a:t>
            </a:r>
            <a:endParaRPr lang="en-US" sz="1500" dirty="0"/>
          </a:p>
          <a:p>
            <a:pPr indent="0" marL="0">
              <a:spcAft>
                <a:spcPts val="600"/>
              </a:spcAft>
              <a:buNone/>
            </a:pPr>
            <a:r>
              <a:rPr lang="en-US" sz="2100" dirty="0">
                <a:solidFill>
                  <a:srgbClr val="FFFFFF"/>
                </a:solidFill>
                <a:latin typeface="Palatino Linotype" pitchFamily="34" charset="0"/>
                <a:ea typeface="Palatino Linotype" pitchFamily="34" charset="-122"/>
                <a:cs typeface="Palatino Linotype" pitchFamily="34" charset="-120"/>
              </a:rPr>
              <a:t>s-a schimbat populația din jurul spitalului?</a:t>
            </a:r>
            <a:endParaRPr lang="en-US" sz="1500" dirty="0"/>
          </a:p>
        </p:txBody>
      </p:sp>
      <p:sp>
        <p:nvSpPr>
          <p:cNvPr id="8" name="Text 6"/>
          <p:cNvSpPr/>
          <p:nvPr/>
        </p:nvSpPr>
        <p:spPr>
          <a:xfrm>
            <a:off x="594360" y="5074920"/>
            <a:ext cx="10972800" cy="64008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Azi răspundeți la întrebare cu date publice.</a:t>
            </a:r>
            <a:endParaRPr lang="en-US" sz="24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CNAS, aplicația „Performanță Spitale Publice”, date pentru 2025.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VOT PE TELEFON</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Cum s-a schimbat, în ultimii zece ani, populația județului Teleorman?</a:t>
            </a:r>
            <a:endParaRPr lang="en-US" sz="2800" dirty="0"/>
          </a:p>
        </p:txBody>
      </p:sp>
      <p:sp>
        <p:nvSpPr>
          <p:cNvPr id="6" name="Shape 4"/>
          <p:cNvSpPr/>
          <p:nvPr/>
        </p:nvSpPr>
        <p:spPr>
          <a:xfrm>
            <a:off x="594360" y="1828800"/>
            <a:ext cx="70866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1984248"/>
            <a:ext cx="420624" cy="420624"/>
          </a:xfrm>
          <a:prstGeom prst="ellipse">
            <a:avLst/>
          </a:prstGeom>
          <a:solidFill>
            <a:srgbClr val="FFC24B"/>
          </a:solidFill>
          <a:ln/>
        </p:spPr>
        <p:txBody>
          <a:bodyPr/>
          <a:p/>
        </p:txBody>
      </p:sp>
      <p:sp>
        <p:nvSpPr>
          <p:cNvPr id="8" name="Text 6"/>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59436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 crescut</a:t>
            </a:r>
            <a:endParaRPr lang="en-US" sz="1900" dirty="0"/>
          </a:p>
        </p:txBody>
      </p:sp>
      <p:sp>
        <p:nvSpPr>
          <p:cNvPr id="10" name="Shape 8"/>
          <p:cNvSpPr/>
          <p:nvPr/>
        </p:nvSpPr>
        <p:spPr>
          <a:xfrm>
            <a:off x="594360" y="2697480"/>
            <a:ext cx="70866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2852928"/>
            <a:ext cx="420624" cy="420624"/>
          </a:xfrm>
          <a:prstGeom prst="ellipse">
            <a:avLst/>
          </a:prstGeom>
          <a:solidFill>
            <a:srgbClr val="FFC24B"/>
          </a:solidFill>
          <a:ln/>
        </p:spPr>
        <p:txBody>
          <a:bodyPr/>
          <a:p/>
        </p:txBody>
      </p:sp>
      <p:sp>
        <p:nvSpPr>
          <p:cNvPr id="12" name="Text 10"/>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97480"/>
            <a:ext cx="59436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 rămas aproape la fel</a:t>
            </a:r>
            <a:endParaRPr lang="en-US" sz="1900" dirty="0"/>
          </a:p>
        </p:txBody>
      </p:sp>
      <p:sp>
        <p:nvSpPr>
          <p:cNvPr id="14" name="Shape 12"/>
          <p:cNvSpPr/>
          <p:nvPr/>
        </p:nvSpPr>
        <p:spPr>
          <a:xfrm>
            <a:off x="594360" y="3566160"/>
            <a:ext cx="70866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3721608"/>
            <a:ext cx="420624" cy="420624"/>
          </a:xfrm>
          <a:prstGeom prst="ellipse">
            <a:avLst/>
          </a:prstGeom>
          <a:solidFill>
            <a:srgbClr val="FFC24B"/>
          </a:solidFill>
          <a:ln/>
        </p:spPr>
        <p:txBody>
          <a:bodyPr/>
          <a:p/>
        </p:txBody>
      </p:sp>
      <p:sp>
        <p:nvSpPr>
          <p:cNvPr id="16" name="Text 14"/>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66160"/>
            <a:ext cx="59436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 scăzut puțin</a:t>
            </a:r>
            <a:endParaRPr lang="en-US" sz="1900" dirty="0"/>
          </a:p>
        </p:txBody>
      </p:sp>
      <p:sp>
        <p:nvSpPr>
          <p:cNvPr id="18" name="Shape 16"/>
          <p:cNvSpPr/>
          <p:nvPr/>
        </p:nvSpPr>
        <p:spPr>
          <a:xfrm>
            <a:off x="594360" y="4434840"/>
            <a:ext cx="7086600" cy="731520"/>
          </a:xfrm>
          <a:prstGeom prst="roundRect">
            <a:avLst>
              <a:gd name="adj" fmla="val 11250"/>
            </a:avLst>
          </a:prstGeom>
          <a:solidFill>
            <a:srgbClr val="1D1F2B"/>
          </a:solidFill>
          <a:ln w="12700">
            <a:solidFill>
              <a:srgbClr val="1D1F2B"/>
            </a:solidFill>
            <a:prstDash val="solid"/>
          </a:ln>
        </p:spPr>
        <p:txBody>
          <a:bodyPr/>
          <a:p/>
        </p:txBody>
      </p:sp>
      <p:sp>
        <p:nvSpPr>
          <p:cNvPr id="19" name="Shape 17"/>
          <p:cNvSpPr/>
          <p:nvPr/>
        </p:nvSpPr>
        <p:spPr>
          <a:xfrm>
            <a:off x="868680" y="4590288"/>
            <a:ext cx="420624" cy="420624"/>
          </a:xfrm>
          <a:prstGeom prst="ellipse">
            <a:avLst/>
          </a:prstGeom>
          <a:solidFill>
            <a:srgbClr val="FFC24B"/>
          </a:solidFill>
          <a:ln/>
        </p:spPr>
        <p:txBody>
          <a:bodyPr/>
          <a:p/>
        </p:txBody>
      </p:sp>
      <p:sp>
        <p:nvSpPr>
          <p:cNvPr id="20" name="Text 18"/>
          <p:cNvSpPr/>
          <p:nvPr/>
        </p:nvSpPr>
        <p:spPr>
          <a:xfrm>
            <a:off x="86868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434840"/>
            <a:ext cx="594360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A scăzut mult</a:t>
            </a:r>
            <a:endParaRPr lang="en-US" sz="1900" dirty="0"/>
          </a:p>
        </p:txBody>
      </p:sp>
      <p:sp>
        <p:nvSpPr>
          <p:cNvPr id="22" name="Shape 20"/>
          <p:cNvSpPr/>
          <p:nvPr/>
        </p:nvSpPr>
        <p:spPr>
          <a:xfrm>
            <a:off x="8001000" y="1828800"/>
            <a:ext cx="3566160" cy="3291840"/>
          </a:xfrm>
          <a:prstGeom prst="roundRect">
            <a:avLst>
              <a:gd name="adj" fmla="val 2778"/>
            </a:avLst>
          </a:prstGeom>
          <a:solidFill>
            <a:srgbClr val="FFFFFF"/>
          </a:solidFill>
          <a:ln w="19050">
            <a:solidFill>
              <a:srgbClr val="8E94A8"/>
            </a:solidFill>
            <a:prstDash val="dash"/>
          </a:ln>
        </p:spPr>
        <p:txBody>
          <a:bodyPr/>
          <a:p/>
        </p:txBody>
      </p:sp>
      <p:sp>
        <p:nvSpPr>
          <p:cNvPr id="24" name="Text 22"/>
          <p:cNvSpPr/>
          <p:nvPr/>
        </p:nvSpPr>
        <p:spPr>
          <a:xfrm>
            <a:off x="594360" y="5349240"/>
            <a:ext cx="73152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
        <p:nvSpPr>
          <p:cNvPr id="25" name="Text 23"/>
          <p:cNvSpPr/>
          <p:nvPr/>
        </p:nvSpPr>
        <p:spPr>
          <a:xfrm>
            <a:off x="594360" y="5760720"/>
            <a:ext cx="10972800" cy="54864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Apoi două minute cu colegul de bancă: dacă populația a scăzut, ce înseamnă asta pentru un spital mic?</a:t>
            </a:r>
            <a:endParaRPr lang="en-US" sz="1600" dirty="0"/>
          </a:p>
        </p:txBody>
      </p:sp>
      <p:pic>
        <p:nvPicPr>
          <p:cNvPr id="26" name="Picture 25" descr="Mentimeter_UB_MSSS_LP02.png"/>
          <p:cNvPicPr>
            <a:picLocks noChangeAspect="1"/>
          </p:cNvPicPr>
          <p:nvPr/>
        </p:nvPicPr>
        <p:blipFill>
          <a:blip r:embed="rId3"/>
          <a:stretch>
            <a:fillRect/>
          </a:stretch>
        </p:blipFill>
        <p:spPr>
          <a:xfrm>
            <a:off x="8451850" y="1828800"/>
            <a:ext cx="2664460" cy="2664460"/>
          </a:xfrm>
          <a:prstGeom prst="rect">
            <a:avLst/>
          </a:prstGeom>
        </p:spPr>
      </p:pic>
      <p:sp>
        <p:nvSpPr>
          <p:cNvPr id="27" name="TextBox 26"/>
          <p:cNvSpPr txBox="1"/>
          <p:nvPr/>
        </p:nvSpPr>
        <p:spPr>
          <a:xfrm>
            <a:off x="8183880" y="4531360"/>
            <a:ext cx="32004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votul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ARATĂ 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Aproape unul din șapte locuitori, în zece ani</a:t>
            </a:r>
            <a:endParaRPr lang="en-US" sz="3000" dirty="0"/>
          </a:p>
        </p:txBody>
      </p:sp>
      <p:sp>
        <p:nvSpPr>
          <p:cNvPr id="4" name="Text 2"/>
          <p:cNvSpPr/>
          <p:nvPr/>
        </p:nvSpPr>
        <p:spPr>
          <a:xfrm>
            <a:off x="502920" y="1645920"/>
            <a:ext cx="6217920" cy="2011680"/>
          </a:xfrm>
          <a:prstGeom prst="rect">
            <a:avLst/>
          </a:prstGeom>
          <a:noFill/>
          <a:ln/>
        </p:spPr>
        <p:txBody>
          <a:bodyPr wrap="square" lIns="0" tIns="0" rIns="0" bIns="0" rtlCol="0" anchor="ctr"/>
          <a:lstStyle/>
          <a:p>
            <a:pPr indent="0" marL="0">
              <a:buNone/>
            </a:pPr>
            <a:r>
              <a:rPr lang="en-US" sz="12000" b="1" dirty="0">
                <a:solidFill>
                  <a:srgbClr val="FF4757"/>
                </a:solidFill>
                <a:latin typeface="Palatino Linotype" pitchFamily="34" charset="0"/>
                <a:ea typeface="Palatino Linotype" pitchFamily="34" charset="-122"/>
                <a:cs typeface="Palatino Linotype" pitchFamily="34" charset="-120"/>
              </a:rPr>
              <a:t>13,4%</a:t>
            </a:r>
            <a:endParaRPr lang="en-US" sz="12000" dirty="0"/>
          </a:p>
        </p:txBody>
      </p:sp>
      <p:sp>
        <p:nvSpPr>
          <p:cNvPr id="5" name="Text 3"/>
          <p:cNvSpPr/>
          <p:nvPr/>
        </p:nvSpPr>
        <p:spPr>
          <a:xfrm>
            <a:off x="594360" y="3703320"/>
            <a:ext cx="621792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cu atât a scăzut populația județului Teleorman, între 2015 și 2025</a:t>
            </a:r>
            <a:endParaRPr lang="en-US" sz="1900" dirty="0"/>
          </a:p>
        </p:txBody>
      </p:sp>
      <p:sp>
        <p:nvSpPr>
          <p:cNvPr id="6" name="Shape 4"/>
          <p:cNvSpPr/>
          <p:nvPr/>
        </p:nvSpPr>
        <p:spPr>
          <a:xfrm>
            <a:off x="7040880" y="1691640"/>
            <a:ext cx="4526280" cy="3291840"/>
          </a:xfrm>
          <a:prstGeom prst="roundRect">
            <a:avLst>
              <a:gd name="adj" fmla="val 2500"/>
            </a:avLst>
          </a:prstGeom>
          <a:solidFill>
            <a:srgbClr val="1D1F2B"/>
          </a:solidFill>
          <a:ln w="12700">
            <a:solidFill>
              <a:srgbClr val="1D1F2B"/>
            </a:solidFill>
            <a:prstDash val="solid"/>
          </a:ln>
        </p:spPr>
        <p:txBody>
          <a:bodyPr/>
          <a:p/>
        </p:txBody>
      </p:sp>
      <p:sp>
        <p:nvSpPr>
          <p:cNvPr id="7" name="Text 5"/>
          <p:cNvSpPr/>
          <p:nvPr/>
        </p:nvSpPr>
        <p:spPr>
          <a:xfrm>
            <a:off x="7360920" y="1691640"/>
            <a:ext cx="4023360" cy="3291840"/>
          </a:xfrm>
          <a:prstGeom prst="rect">
            <a:avLst/>
          </a:prstGeom>
          <a:noFill/>
          <a:ln/>
        </p:spPr>
        <p:txBody>
          <a:bodyPr wrap="square" lIns="0" tIns="0" rIns="0" bIns="0" rtlCol="0" anchor="ctr"/>
          <a:lstStyle/>
          <a:p>
            <a:pPr indent="0" marL="0">
              <a:spcAft>
                <a:spcPts val="500"/>
              </a:spcAft>
              <a:buNone/>
            </a:pPr>
            <a:r>
              <a:rPr lang="en-US" sz="1400" b="1" dirty="0">
                <a:solidFill>
                  <a:srgbClr val="959BB0"/>
                </a:solidFill>
                <a:latin typeface="Palatino Linotype" pitchFamily="34" charset="0"/>
                <a:ea typeface="Palatino Linotype" pitchFamily="34" charset="-122"/>
                <a:cs typeface="Palatino Linotype" pitchFamily="34" charset="-120"/>
              </a:rPr>
              <a:t>1 ianuarie 2015</a:t>
            </a:r>
            <a:endParaRPr lang="en-US" sz="1400" dirty="0"/>
          </a:p>
          <a:p>
            <a:pPr indent="0" marL="0">
              <a:spcAft>
                <a:spcPts val="500"/>
              </a:spcAft>
              <a:buNone/>
            </a:pPr>
            <a:r>
              <a:rPr lang="en-US" sz="2600" b="1" dirty="0">
                <a:solidFill>
                  <a:srgbClr val="FFFFFF"/>
                </a:solidFill>
                <a:latin typeface="Palatino Linotype" pitchFamily="34" charset="0"/>
                <a:ea typeface="Palatino Linotype" pitchFamily="34" charset="-122"/>
                <a:cs typeface="Palatino Linotype" pitchFamily="34" charset="-120"/>
              </a:rPr>
              <a:t>361 479 de locuitori</a:t>
            </a:r>
            <a:endParaRPr lang="en-US" sz="1400" dirty="0"/>
          </a:p>
          <a:p>
            <a:pPr indent="0" marL="0">
              <a:spcAft>
                <a:spcPts val="500"/>
              </a:spcAft>
              <a:buNone/>
            </a:pPr>
            <a:r>
              <a:rPr lang="en-US" sz="1400" b="1" dirty="0">
                <a:solidFill>
                  <a:srgbClr val="959BB0"/>
                </a:solidFill>
                <a:latin typeface="Palatino Linotype" pitchFamily="34" charset="0"/>
                <a:ea typeface="Palatino Linotype" pitchFamily="34" charset="-122"/>
                <a:cs typeface="Palatino Linotype" pitchFamily="34" charset="-120"/>
              </a:rPr>
              <a:t>1 ianuarie 2025</a:t>
            </a:r>
            <a:endParaRPr lang="en-US" sz="1400" dirty="0"/>
          </a:p>
          <a:p>
            <a:pPr indent="0" marL="0">
              <a:spcAft>
                <a:spcPts val="500"/>
              </a:spcAft>
              <a:buNone/>
            </a:pPr>
            <a:r>
              <a:rPr lang="en-US" sz="2600" b="1" dirty="0">
                <a:solidFill>
                  <a:srgbClr val="FFFFFF"/>
                </a:solidFill>
                <a:latin typeface="Palatino Linotype" pitchFamily="34" charset="0"/>
                <a:ea typeface="Palatino Linotype" pitchFamily="34" charset="-122"/>
                <a:cs typeface="Palatino Linotype" pitchFamily="34" charset="-120"/>
              </a:rPr>
              <a:t>313 033 de locuitori</a:t>
            </a:r>
            <a:endParaRPr lang="en-US" sz="1400" dirty="0"/>
          </a:p>
          <a:p>
            <a:pPr indent="0" marL="0">
              <a:spcAft>
                <a:spcPts val="500"/>
              </a:spcAft>
              <a:buNone/>
            </a:pPr>
            <a:r>
              <a:rPr lang="en-US" sz="1900" b="1" dirty="0">
                <a:solidFill>
                  <a:srgbClr val="FFC24B"/>
                </a:solidFill>
                <a:latin typeface="Palatino Linotype" pitchFamily="34" charset="0"/>
                <a:ea typeface="Palatino Linotype" pitchFamily="34" charset="-122"/>
                <a:cs typeface="Palatino Linotype" pitchFamily="34" charset="-120"/>
              </a:rPr>
              <a:t>48 446 de locuitori mai puțin</a:t>
            </a:r>
            <a:endParaRPr lang="en-US" sz="1400" dirty="0"/>
          </a:p>
        </p:txBody>
      </p:sp>
      <p:sp>
        <p:nvSpPr>
          <p:cNvPr id="8" name="Text 6"/>
          <p:cNvSpPr/>
          <p:nvPr/>
        </p:nvSpPr>
        <p:spPr>
          <a:xfrm>
            <a:off x="594360" y="5257800"/>
            <a:ext cx="10972800" cy="640080"/>
          </a:xfrm>
          <a:prstGeom prst="rect">
            <a:avLst/>
          </a:prstGeom>
          <a:noFill/>
          <a:ln/>
        </p:spPr>
        <p:txBody>
          <a:bodyPr wrap="square" lIns="0" tIns="0" rIns="0" bIns="0" rtlCol="0" anchor="t"/>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Valorile recente sunt estimări ale Eurostat, nu rezultate de recensământ.</a:t>
            </a:r>
            <a:endParaRPr lang="en-US" sz="18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Eurostat, demo_r_pjanaggr3.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PONDEREA PERSOANELOR DE 65 DE ANI ȘI PESTE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Mai puțini și mai vârstnici, dar nu mai repede decât țara</a:t>
            </a:r>
            <a:endParaRPr lang="en-US" sz="2800" dirty="0"/>
          </a:p>
        </p:txBody>
      </p:sp>
      <p:sp>
        <p:nvSpPr>
          <p:cNvPr id="4" name="Shape 2"/>
          <p:cNvSpPr/>
          <p:nvPr/>
        </p:nvSpPr>
        <p:spPr>
          <a:xfrm>
            <a:off x="822960" y="2578608"/>
            <a:ext cx="1097280" cy="2999232"/>
          </a:xfrm>
          <a:prstGeom prst="rect">
            <a:avLst/>
          </a:prstGeom>
          <a:solidFill>
            <a:srgbClr val="272A38"/>
          </a:solidFill>
          <a:ln w="12700">
            <a:solidFill>
              <a:srgbClr val="272A38"/>
            </a:solidFill>
            <a:prstDash val="solid"/>
          </a:ln>
        </p:spPr>
        <p:txBody>
          <a:bodyPr/>
          <a:p/>
        </p:txBody>
      </p:sp>
      <p:sp>
        <p:nvSpPr>
          <p:cNvPr id="5" name="Text 3"/>
          <p:cNvSpPr/>
          <p:nvPr/>
        </p:nvSpPr>
        <p:spPr>
          <a:xfrm>
            <a:off x="640080" y="2121408"/>
            <a:ext cx="1463040" cy="411480"/>
          </a:xfrm>
          <a:prstGeom prst="rect">
            <a:avLst/>
          </a:prstGeom>
          <a:noFill/>
          <a:ln/>
        </p:spPr>
        <p:txBody>
          <a:bodyPr wrap="square" lIns="0" tIns="0" rIns="0" bIns="0" rtlCol="0" anchor="t"/>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24,6%</a:t>
            </a:r>
            <a:endParaRPr lang="en-US" sz="1800" dirty="0"/>
          </a:p>
        </p:txBody>
      </p:sp>
      <p:sp>
        <p:nvSpPr>
          <p:cNvPr id="6" name="Text 4"/>
          <p:cNvSpPr/>
          <p:nvPr/>
        </p:nvSpPr>
        <p:spPr>
          <a:xfrm>
            <a:off x="548640" y="5650992"/>
            <a:ext cx="1645920" cy="36576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Teleorman 2015</a:t>
            </a:r>
            <a:endParaRPr lang="en-US" sz="1250" dirty="0"/>
          </a:p>
        </p:txBody>
      </p:sp>
      <p:sp>
        <p:nvSpPr>
          <p:cNvPr id="7" name="Shape 5"/>
          <p:cNvSpPr/>
          <p:nvPr/>
        </p:nvSpPr>
        <p:spPr>
          <a:xfrm>
            <a:off x="2423160" y="2334768"/>
            <a:ext cx="1097280" cy="3243072"/>
          </a:xfrm>
          <a:prstGeom prst="rect">
            <a:avLst/>
          </a:prstGeom>
          <a:solidFill>
            <a:srgbClr val="B02532"/>
          </a:solidFill>
          <a:ln w="12700">
            <a:solidFill>
              <a:srgbClr val="B02532"/>
            </a:solidFill>
            <a:prstDash val="solid"/>
          </a:ln>
        </p:spPr>
        <p:txBody>
          <a:bodyPr/>
          <a:p/>
        </p:txBody>
      </p:sp>
      <p:sp>
        <p:nvSpPr>
          <p:cNvPr id="8" name="Text 6"/>
          <p:cNvSpPr/>
          <p:nvPr/>
        </p:nvSpPr>
        <p:spPr>
          <a:xfrm>
            <a:off x="2240280" y="1877568"/>
            <a:ext cx="1463040" cy="411480"/>
          </a:xfrm>
          <a:prstGeom prst="rect">
            <a:avLst/>
          </a:prstGeom>
          <a:noFill/>
          <a:ln/>
        </p:spPr>
        <p:txBody>
          <a:bodyPr wrap="square" lIns="0" tIns="0" rIns="0" bIns="0" rtlCol="0" anchor="t"/>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26,6%</a:t>
            </a:r>
            <a:endParaRPr lang="en-US" sz="1800" dirty="0"/>
          </a:p>
        </p:txBody>
      </p:sp>
      <p:sp>
        <p:nvSpPr>
          <p:cNvPr id="9" name="Text 7"/>
          <p:cNvSpPr/>
          <p:nvPr/>
        </p:nvSpPr>
        <p:spPr>
          <a:xfrm>
            <a:off x="2148840" y="5650992"/>
            <a:ext cx="1645920" cy="36576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Teleorman 2025</a:t>
            </a:r>
            <a:endParaRPr lang="en-US" sz="1250" dirty="0"/>
          </a:p>
        </p:txBody>
      </p:sp>
      <p:sp>
        <p:nvSpPr>
          <p:cNvPr id="10" name="Shape 8"/>
          <p:cNvSpPr/>
          <p:nvPr/>
        </p:nvSpPr>
        <p:spPr>
          <a:xfrm>
            <a:off x="4023360" y="3505200"/>
            <a:ext cx="1097280" cy="2072640"/>
          </a:xfrm>
          <a:prstGeom prst="rect">
            <a:avLst/>
          </a:prstGeom>
          <a:solidFill>
            <a:srgbClr val="A9A69E"/>
          </a:solidFill>
          <a:ln w="12700">
            <a:solidFill>
              <a:srgbClr val="A9A69E"/>
            </a:solidFill>
            <a:prstDash val="solid"/>
          </a:ln>
        </p:spPr>
        <p:txBody>
          <a:bodyPr/>
          <a:p/>
        </p:txBody>
      </p:sp>
      <p:sp>
        <p:nvSpPr>
          <p:cNvPr id="11" name="Text 9"/>
          <p:cNvSpPr/>
          <p:nvPr/>
        </p:nvSpPr>
        <p:spPr>
          <a:xfrm>
            <a:off x="3840480" y="3048000"/>
            <a:ext cx="1463040" cy="411480"/>
          </a:xfrm>
          <a:prstGeom prst="rect">
            <a:avLst/>
          </a:prstGeom>
          <a:noFill/>
          <a:ln/>
        </p:spPr>
        <p:txBody>
          <a:bodyPr wrap="square" lIns="0" tIns="0" rIns="0" bIns="0" rtlCol="0" anchor="t"/>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17,0%</a:t>
            </a:r>
            <a:endParaRPr lang="en-US" sz="1800" dirty="0"/>
          </a:p>
        </p:txBody>
      </p:sp>
      <p:sp>
        <p:nvSpPr>
          <p:cNvPr id="12" name="Text 10"/>
          <p:cNvSpPr/>
          <p:nvPr/>
        </p:nvSpPr>
        <p:spPr>
          <a:xfrm>
            <a:off x="3749040" y="5650992"/>
            <a:ext cx="1645920" cy="36576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România 2015</a:t>
            </a:r>
            <a:endParaRPr lang="en-US" sz="1250" dirty="0"/>
          </a:p>
        </p:txBody>
      </p:sp>
      <p:sp>
        <p:nvSpPr>
          <p:cNvPr id="13" name="Shape 11"/>
          <p:cNvSpPr/>
          <p:nvPr/>
        </p:nvSpPr>
        <p:spPr>
          <a:xfrm>
            <a:off x="5623560" y="3102864"/>
            <a:ext cx="1097280" cy="2474976"/>
          </a:xfrm>
          <a:prstGeom prst="rect">
            <a:avLst/>
          </a:prstGeom>
          <a:solidFill>
            <a:srgbClr val="0E7C6B"/>
          </a:solidFill>
          <a:ln w="12700">
            <a:solidFill>
              <a:srgbClr val="0E7C6B"/>
            </a:solidFill>
            <a:prstDash val="solid"/>
          </a:ln>
        </p:spPr>
        <p:txBody>
          <a:bodyPr/>
          <a:p/>
        </p:txBody>
      </p:sp>
      <p:sp>
        <p:nvSpPr>
          <p:cNvPr id="14" name="Text 12"/>
          <p:cNvSpPr/>
          <p:nvPr/>
        </p:nvSpPr>
        <p:spPr>
          <a:xfrm>
            <a:off x="5440680" y="2645664"/>
            <a:ext cx="1463040" cy="411480"/>
          </a:xfrm>
          <a:prstGeom prst="rect">
            <a:avLst/>
          </a:prstGeom>
          <a:noFill/>
          <a:ln/>
        </p:spPr>
        <p:txBody>
          <a:bodyPr wrap="square" lIns="0" tIns="0" rIns="0" bIns="0" rtlCol="0" anchor="t"/>
          <a:lstStyle/>
          <a:p>
            <a:pPr algn="ctr" indent="0" marL="0">
              <a:buNone/>
            </a:pPr>
            <a:r>
              <a:rPr lang="en-US" sz="1800" b="1" dirty="0">
                <a:solidFill>
                  <a:srgbClr val="11121A"/>
                </a:solidFill>
                <a:latin typeface="Palatino Linotype" pitchFamily="34" charset="0"/>
                <a:ea typeface="Palatino Linotype" pitchFamily="34" charset="-122"/>
                <a:cs typeface="Palatino Linotype" pitchFamily="34" charset="-120"/>
              </a:rPr>
              <a:t>20,3%</a:t>
            </a:r>
            <a:endParaRPr lang="en-US" sz="1800" dirty="0"/>
          </a:p>
        </p:txBody>
      </p:sp>
      <p:sp>
        <p:nvSpPr>
          <p:cNvPr id="15" name="Text 13"/>
          <p:cNvSpPr/>
          <p:nvPr/>
        </p:nvSpPr>
        <p:spPr>
          <a:xfrm>
            <a:off x="5349240" y="5650992"/>
            <a:ext cx="1645920" cy="365760"/>
          </a:xfrm>
          <a:prstGeom prst="rect">
            <a:avLst/>
          </a:prstGeom>
          <a:noFill/>
          <a:ln/>
        </p:spPr>
        <p:txBody>
          <a:bodyPr wrap="square" lIns="0" tIns="0" rIns="0" bIns="0" rtlCol="0" anchor="t"/>
          <a:lstStyle/>
          <a:p>
            <a:pPr algn="ctr" indent="0" marL="0">
              <a:buNone/>
            </a:pPr>
            <a:r>
              <a:rPr lang="en-US" sz="1250" dirty="0">
                <a:solidFill>
                  <a:srgbClr val="585A64"/>
                </a:solidFill>
                <a:latin typeface="Palatino Linotype" pitchFamily="34" charset="0"/>
                <a:ea typeface="Palatino Linotype" pitchFamily="34" charset="-122"/>
                <a:cs typeface="Palatino Linotype" pitchFamily="34" charset="-120"/>
              </a:rPr>
              <a:t>România 2025</a:t>
            </a:r>
            <a:endParaRPr lang="en-US" sz="1250" dirty="0"/>
          </a:p>
        </p:txBody>
      </p:sp>
      <p:sp>
        <p:nvSpPr>
          <p:cNvPr id="16" name="Shape 14"/>
          <p:cNvSpPr/>
          <p:nvPr/>
        </p:nvSpPr>
        <p:spPr>
          <a:xfrm>
            <a:off x="640080" y="5577840"/>
            <a:ext cx="6400800" cy="18288"/>
          </a:xfrm>
          <a:prstGeom prst="rect">
            <a:avLst/>
          </a:prstGeom>
          <a:solidFill>
            <a:srgbClr val="11121A"/>
          </a:solidFill>
          <a:ln/>
        </p:spPr>
        <p:txBody>
          <a:bodyPr/>
          <a:p/>
        </p:txBody>
      </p:sp>
      <p:sp>
        <p:nvSpPr>
          <p:cNvPr id="17" name="Shape 15"/>
          <p:cNvSpPr/>
          <p:nvPr/>
        </p:nvSpPr>
        <p:spPr>
          <a:xfrm>
            <a:off x="7589520" y="1783080"/>
            <a:ext cx="3977640" cy="1737360"/>
          </a:xfrm>
          <a:prstGeom prst="roundRect">
            <a:avLst>
              <a:gd name="adj" fmla="val 4737"/>
            </a:avLst>
          </a:prstGeom>
          <a:solidFill>
            <a:srgbClr val="ECEAE4"/>
          </a:solidFill>
          <a:ln w="12700">
            <a:solidFill>
              <a:srgbClr val="ECEAE4"/>
            </a:solidFill>
            <a:prstDash val="solid"/>
          </a:ln>
        </p:spPr>
        <p:txBody>
          <a:bodyPr/>
          <a:p/>
        </p:txBody>
      </p:sp>
      <p:sp>
        <p:nvSpPr>
          <p:cNvPr id="18" name="Text 16"/>
          <p:cNvSpPr/>
          <p:nvPr/>
        </p:nvSpPr>
        <p:spPr>
          <a:xfrm>
            <a:off x="7863840" y="1783080"/>
            <a:ext cx="3520440" cy="1737360"/>
          </a:xfrm>
          <a:prstGeom prst="rect">
            <a:avLst/>
          </a:prstGeom>
          <a:noFill/>
          <a:ln/>
        </p:spPr>
        <p:txBody>
          <a:bodyPr wrap="square" lIns="0" tIns="0" rIns="0" bIns="0" rtlCol="0" anchor="ctr"/>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+2,0 puncte</a:t>
            </a:r>
            <a:endParaRPr lang="en-US" sz="28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Teleorman, față de </a:t>
            </a:r>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+3,3 puncte</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 în România</a:t>
            </a:r>
            <a:endParaRPr lang="en-US" sz="2800" dirty="0"/>
          </a:p>
        </p:txBody>
      </p:sp>
      <p:sp>
        <p:nvSpPr>
          <p:cNvPr id="19" name="Shape 17"/>
          <p:cNvSpPr/>
          <p:nvPr/>
        </p:nvSpPr>
        <p:spPr>
          <a:xfrm>
            <a:off x="7589520" y="3657600"/>
            <a:ext cx="3977640" cy="1920240"/>
          </a:xfrm>
          <a:prstGeom prst="roundRect">
            <a:avLst>
              <a:gd name="adj" fmla="val 4286"/>
            </a:avLst>
          </a:prstGeom>
          <a:solidFill>
            <a:srgbClr val="ECEAE4"/>
          </a:solidFill>
          <a:ln w="12700">
            <a:solidFill>
              <a:srgbClr val="ECEAE4"/>
            </a:solidFill>
            <a:prstDash val="solid"/>
          </a:ln>
        </p:spPr>
        <p:txBody>
          <a:bodyPr/>
          <a:p/>
        </p:txBody>
      </p:sp>
      <p:sp>
        <p:nvSpPr>
          <p:cNvPr id="20" name="Text 18"/>
          <p:cNvSpPr/>
          <p:nvPr/>
        </p:nvSpPr>
        <p:spPr>
          <a:xfrm>
            <a:off x="7863840" y="3657600"/>
            <a:ext cx="3520440" cy="1920240"/>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Vârsta mediană, 2025</a:t>
            </a:r>
            <a:endParaRPr lang="en-US" sz="1400" dirty="0"/>
          </a:p>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49,4 ani în Teleorman</a:t>
            </a:r>
            <a:endParaRPr lang="en-US" sz="1400" dirty="0"/>
          </a:p>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44,0 ani în România</a:t>
            </a:r>
            <a:endParaRPr lang="en-US" sz="1400" dirty="0"/>
          </a:p>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vârsta care împarte populația în două jumătăți egale</a:t>
            </a:r>
            <a:endParaRPr lang="en-US" sz="14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valorile recente sunt estimări.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RAȚIONAMENT, NU UN REZULTAT MĂSURAT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înseamnă asta pentru spital?</a:t>
            </a:r>
            <a:endParaRPr lang="en-US" sz="3200" dirty="0"/>
          </a:p>
        </p:txBody>
      </p:sp>
      <p:sp>
        <p:nvSpPr>
          <p:cNvPr id="4" name="Shape 2"/>
          <p:cNvSpPr/>
          <p:nvPr/>
        </p:nvSpPr>
        <p:spPr>
          <a:xfrm>
            <a:off x="594360" y="1783080"/>
            <a:ext cx="5349240" cy="3017520"/>
          </a:xfrm>
          <a:prstGeom prst="roundRect">
            <a:avLst>
              <a:gd name="adj" fmla="val 2727"/>
            </a:avLst>
          </a:prstGeom>
          <a:solidFill>
            <a:srgbClr val="1D1F2B"/>
          </a:solidFill>
          <a:ln w="12700">
            <a:solidFill>
              <a:srgbClr val="1D1F2B"/>
            </a:solidFill>
            <a:prstDash val="solid"/>
          </a:ln>
        </p:spPr>
        <p:txBody>
          <a:bodyPr/>
          <a:p/>
        </p:txBody>
      </p:sp>
      <p:sp>
        <p:nvSpPr>
          <p:cNvPr id="5" name="Text 3"/>
          <p:cNvSpPr/>
          <p:nvPr/>
        </p:nvSpPr>
        <p:spPr>
          <a:xfrm>
            <a:off x="868680" y="1783080"/>
            <a:ext cx="4846320" cy="3017520"/>
          </a:xfrm>
          <a:prstGeom prst="rect">
            <a:avLst/>
          </a:prstGeom>
          <a:noFill/>
          <a:ln/>
        </p:spPr>
        <p:txBody>
          <a:bodyPr wrap="square" lIns="0" tIns="0" rIns="0" bIns="0" rtlCol="0" anchor="ctr"/>
          <a:lstStyle/>
          <a:p>
            <a:pPr indent="0" marL="0">
              <a:spcAft>
                <a:spcPts val="600"/>
              </a:spcAft>
              <a:buNone/>
            </a:pPr>
            <a:r>
              <a:rPr lang="en-US" sz="1500" b="1" dirty="0">
                <a:solidFill>
                  <a:srgbClr val="FFC24B"/>
                </a:solidFill>
                <a:latin typeface="Palatino Linotype" pitchFamily="34" charset="0"/>
                <a:ea typeface="Palatino Linotype" pitchFamily="34" charset="-122"/>
                <a:cs typeface="Palatino Linotype" pitchFamily="34" charset="-120"/>
              </a:rPr>
              <a:t>Pot fi mai puține</a:t>
            </a:r>
            <a:endParaRPr lang="en-US" sz="1500" dirty="0"/>
          </a:p>
          <a:p>
            <a:pPr indent="0" marL="0">
              <a:spcAft>
                <a:spcPts val="600"/>
              </a:spcAft>
              <a:buNone/>
            </a:pPr>
            <a:r>
              <a:rPr lang="en-US" sz="2200" b="1" dirty="0">
                <a:solidFill>
                  <a:srgbClr val="FFFFFF"/>
                </a:solidFill>
                <a:latin typeface="Palatino Linotype" pitchFamily="34" charset="0"/>
                <a:ea typeface="Palatino Linotype" pitchFamily="34" charset="-122"/>
                <a:cs typeface="Palatino Linotype" pitchFamily="34" charset="-120"/>
              </a:rPr>
              <a:t>nașteri și urgențe la copii</a:t>
            </a:r>
            <a:endParaRPr lang="en-US" sz="1500" dirty="0"/>
          </a:p>
          <a:p>
            <a:pPr indent="0" marL="0">
              <a:spcAft>
                <a:spcPts val="600"/>
              </a:spcAft>
              <a:buNone/>
            </a:pPr>
            <a:r>
              <a:rPr lang="en-US" sz="1500" b="1" dirty="0">
                <a:solidFill>
                  <a:srgbClr val="27D3BE"/>
                </a:solidFill>
                <a:latin typeface="Palatino Linotype" pitchFamily="34" charset="0"/>
                <a:ea typeface="Palatino Linotype" pitchFamily="34" charset="-122"/>
                <a:cs typeface="Palatino Linotype" pitchFamily="34" charset="-120"/>
              </a:rPr>
              <a:t>Pot fi mai multe</a:t>
            </a:r>
            <a:endParaRPr lang="en-US" sz="1500" dirty="0"/>
          </a:p>
          <a:p>
            <a:pPr indent="0" marL="0">
              <a:spcAft>
                <a:spcPts val="600"/>
              </a:spcAft>
              <a:buNone/>
            </a:pPr>
            <a:r>
              <a:rPr lang="en-US" sz="2200" b="1" dirty="0">
                <a:solidFill>
                  <a:srgbClr val="FFFFFF"/>
                </a:solidFill>
                <a:latin typeface="Palatino Linotype" pitchFamily="34" charset="0"/>
                <a:ea typeface="Palatino Linotype" pitchFamily="34" charset="-122"/>
                <a:cs typeface="Palatino Linotype" pitchFamily="34" charset="-120"/>
              </a:rPr>
              <a:t>internări pentru boli cronice, recuperare, îngrijire la domiciliu</a:t>
            </a:r>
            <a:endParaRPr lang="en-US" sz="1500" dirty="0"/>
          </a:p>
        </p:txBody>
      </p:sp>
      <p:sp>
        <p:nvSpPr>
          <p:cNvPr id="6" name="Text 4"/>
          <p:cNvSpPr/>
          <p:nvPr/>
        </p:nvSpPr>
        <p:spPr>
          <a:xfrm>
            <a:off x="6400800" y="1783080"/>
            <a:ext cx="5166360" cy="3017520"/>
          </a:xfrm>
          <a:prstGeom prst="rect">
            <a:avLst/>
          </a:prstGeom>
          <a:noFill/>
          <a:ln/>
        </p:spPr>
        <p:txBody>
          <a:bodyPr wrap="square" lIns="0" tIns="0" rIns="0" bIns="0" rtlCol="0" anchor="ctr"/>
          <a:lstStyle/>
          <a:p>
            <a:pPr algn="ctr" indent="0" marL="0">
              <a:buNone/>
            </a:pPr>
            <a:r>
              <a:rPr lang="en-US" sz="3000" b="1" dirty="0">
                <a:solidFill>
                  <a:srgbClr val="959BB0"/>
                </a:solidFill>
                <a:latin typeface="Palatino Linotype" pitchFamily="34" charset="0"/>
                <a:ea typeface="Palatino Linotype" pitchFamily="34" charset="-122"/>
                <a:cs typeface="Palatino Linotype" pitchFamily="34" charset="-120"/>
              </a:rPr>
              <a:t>„câte paturi?”</a:t>
            </a:r>
            <a:endParaRPr lang="en-US" sz="3000" dirty="0"/>
          </a:p>
          <a:p>
            <a:pPr algn="ctr" indent="0" marL="0">
              <a:buNone/>
            </a:pPr>
            <a:r>
              <a:rPr lang="en-US" sz="3000" b="1" dirty="0">
                <a:solidFill>
                  <a:srgbClr val="FF4757"/>
                </a:solidFill>
                <a:latin typeface="Palatino Linotype" pitchFamily="34" charset="0"/>
                <a:ea typeface="Palatino Linotype" pitchFamily="34" charset="-122"/>
                <a:cs typeface="Palatino Linotype" pitchFamily="34" charset="-120"/>
              </a:rPr>
              <a:t>↓</a:t>
            </a:r>
            <a:endParaRPr lang="en-US" sz="3000" dirty="0"/>
          </a:p>
          <a:p>
            <a:pPr algn="ctr" indent="0" marL="0">
              <a:buNone/>
            </a:pPr>
            <a:r>
              <a:rPr lang="en-US" sz="3400" b="1" dirty="0">
                <a:solidFill>
                  <a:srgbClr val="FF4757"/>
                </a:solidFill>
                <a:latin typeface="Palatino Linotype" pitchFamily="34" charset="0"/>
                <a:ea typeface="Palatino Linotype" pitchFamily="34" charset="-122"/>
                <a:cs typeface="Palatino Linotype" pitchFamily="34" charset="-120"/>
              </a:rPr>
              <a:t>„ce fel de servicii?”</a:t>
            </a:r>
            <a:endParaRPr lang="en-US" sz="3000" dirty="0"/>
          </a:p>
        </p:txBody>
      </p:sp>
      <p:sp>
        <p:nvSpPr>
          <p:cNvPr id="7" name="Text 5"/>
          <p:cNvSpPr/>
          <p:nvPr/>
        </p:nvSpPr>
        <p:spPr>
          <a:xfrm>
            <a:off x="594360" y="5029200"/>
            <a:ext cx="10972800" cy="10058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Paturi puțin ocupate pot însemna servicii care nu mai corespund nevoilor, nu neapărat un spital de prisos.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LIMITA PE CARE TREBUIE SĂ O SPUNEȚI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Județul nu este aria de servicii, iar seria are o ruptură</a:t>
            </a:r>
            <a:endParaRPr lang="en-US" sz="2800" dirty="0"/>
          </a:p>
        </p:txBody>
      </p:sp>
      <p:sp>
        <p:nvSpPr>
          <p:cNvPr id="4" name="Shape 2"/>
          <p:cNvSpPr/>
          <p:nvPr/>
        </p:nvSpPr>
        <p:spPr>
          <a:xfrm>
            <a:off x="822960" y="2845613"/>
            <a:ext cx="960120" cy="2549347"/>
          </a:xfrm>
          <a:prstGeom prst="rect">
            <a:avLst/>
          </a:prstGeom>
          <a:solidFill>
            <a:srgbClr val="272A38"/>
          </a:solidFill>
          <a:ln w="12700">
            <a:solidFill>
              <a:srgbClr val="272A38"/>
            </a:solidFill>
            <a:prstDash val="solid"/>
          </a:ln>
        </p:spPr>
        <p:txBody>
          <a:bodyPr/>
          <a:p/>
        </p:txBody>
      </p:sp>
      <p:sp>
        <p:nvSpPr>
          <p:cNvPr id="5" name="Text 3"/>
          <p:cNvSpPr/>
          <p:nvPr/>
        </p:nvSpPr>
        <p:spPr>
          <a:xfrm>
            <a:off x="594360" y="2406701"/>
            <a:ext cx="1417320" cy="384048"/>
          </a:xfrm>
          <a:prstGeom prst="rect">
            <a:avLst/>
          </a:prstGeom>
          <a:noFill/>
          <a:ln/>
        </p:spPr>
        <p:txBody>
          <a:bodyPr wrap="square" lIns="0" tIns="0" rIns="0" bIns="0" rtlCol="0" anchor="t"/>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24,6%</a:t>
            </a:r>
            <a:endParaRPr lang="en-US" sz="1700" dirty="0"/>
          </a:p>
        </p:txBody>
      </p:sp>
      <p:sp>
        <p:nvSpPr>
          <p:cNvPr id="6" name="Text 4"/>
          <p:cNvSpPr/>
          <p:nvPr/>
        </p:nvSpPr>
        <p:spPr>
          <a:xfrm>
            <a:off x="594360" y="5468112"/>
            <a:ext cx="1417320" cy="347472"/>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2015</a:t>
            </a:r>
            <a:endParaRPr lang="en-US" sz="1400" dirty="0"/>
          </a:p>
        </p:txBody>
      </p:sp>
      <p:sp>
        <p:nvSpPr>
          <p:cNvPr id="7" name="Shape 5"/>
          <p:cNvSpPr/>
          <p:nvPr/>
        </p:nvSpPr>
        <p:spPr>
          <a:xfrm>
            <a:off x="2240280" y="2545080"/>
            <a:ext cx="960120" cy="2849880"/>
          </a:xfrm>
          <a:prstGeom prst="rect">
            <a:avLst/>
          </a:prstGeom>
          <a:solidFill>
            <a:srgbClr val="B02532"/>
          </a:solidFill>
          <a:ln w="12700">
            <a:solidFill>
              <a:srgbClr val="B02532"/>
            </a:solidFill>
            <a:prstDash val="solid"/>
          </a:ln>
        </p:spPr>
        <p:txBody>
          <a:bodyPr/>
          <a:p/>
        </p:txBody>
      </p:sp>
      <p:sp>
        <p:nvSpPr>
          <p:cNvPr id="8" name="Text 6"/>
          <p:cNvSpPr/>
          <p:nvPr/>
        </p:nvSpPr>
        <p:spPr>
          <a:xfrm>
            <a:off x="2011680" y="2106168"/>
            <a:ext cx="1417320" cy="384048"/>
          </a:xfrm>
          <a:prstGeom prst="rect">
            <a:avLst/>
          </a:prstGeom>
          <a:noFill/>
          <a:ln/>
        </p:spPr>
        <p:txBody>
          <a:bodyPr wrap="square" lIns="0" tIns="0" rIns="0" bIns="0" rtlCol="0" anchor="t"/>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27,5%</a:t>
            </a:r>
            <a:endParaRPr lang="en-US" sz="1700" dirty="0"/>
          </a:p>
        </p:txBody>
      </p:sp>
      <p:sp>
        <p:nvSpPr>
          <p:cNvPr id="9" name="Text 7"/>
          <p:cNvSpPr/>
          <p:nvPr/>
        </p:nvSpPr>
        <p:spPr>
          <a:xfrm>
            <a:off x="2011680" y="5468112"/>
            <a:ext cx="1417320" cy="347472"/>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2021</a:t>
            </a:r>
            <a:endParaRPr lang="en-US" sz="1400" dirty="0"/>
          </a:p>
        </p:txBody>
      </p:sp>
      <p:sp>
        <p:nvSpPr>
          <p:cNvPr id="10" name="Shape 8"/>
          <p:cNvSpPr/>
          <p:nvPr/>
        </p:nvSpPr>
        <p:spPr>
          <a:xfrm>
            <a:off x="3657600" y="2721254"/>
            <a:ext cx="960120" cy="2673706"/>
          </a:xfrm>
          <a:prstGeom prst="rect">
            <a:avLst/>
          </a:prstGeom>
          <a:solidFill>
            <a:srgbClr val="B02532"/>
          </a:solidFill>
          <a:ln w="12700">
            <a:solidFill>
              <a:srgbClr val="B02532"/>
            </a:solidFill>
            <a:prstDash val="solid"/>
          </a:ln>
        </p:spPr>
        <p:txBody>
          <a:bodyPr/>
          <a:p/>
        </p:txBody>
      </p:sp>
      <p:sp>
        <p:nvSpPr>
          <p:cNvPr id="11" name="Text 9"/>
          <p:cNvSpPr/>
          <p:nvPr/>
        </p:nvSpPr>
        <p:spPr>
          <a:xfrm>
            <a:off x="3429000" y="2282342"/>
            <a:ext cx="1417320" cy="384048"/>
          </a:xfrm>
          <a:prstGeom prst="rect">
            <a:avLst/>
          </a:prstGeom>
          <a:noFill/>
          <a:ln/>
        </p:spPr>
        <p:txBody>
          <a:bodyPr wrap="square" lIns="0" tIns="0" rIns="0" bIns="0" rtlCol="0" anchor="t"/>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25,8%</a:t>
            </a:r>
            <a:endParaRPr lang="en-US" sz="1700" dirty="0"/>
          </a:p>
        </p:txBody>
      </p:sp>
      <p:sp>
        <p:nvSpPr>
          <p:cNvPr id="12" name="Text 10"/>
          <p:cNvSpPr/>
          <p:nvPr/>
        </p:nvSpPr>
        <p:spPr>
          <a:xfrm>
            <a:off x="3429000" y="5468112"/>
            <a:ext cx="1417320" cy="347472"/>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2022</a:t>
            </a:r>
            <a:endParaRPr lang="en-US" sz="1400" dirty="0"/>
          </a:p>
        </p:txBody>
      </p:sp>
      <p:sp>
        <p:nvSpPr>
          <p:cNvPr id="13" name="Shape 11"/>
          <p:cNvSpPr/>
          <p:nvPr/>
        </p:nvSpPr>
        <p:spPr>
          <a:xfrm>
            <a:off x="5074920" y="2638349"/>
            <a:ext cx="960120" cy="2756611"/>
          </a:xfrm>
          <a:prstGeom prst="rect">
            <a:avLst/>
          </a:prstGeom>
          <a:solidFill>
            <a:srgbClr val="272A38"/>
          </a:solidFill>
          <a:ln w="12700">
            <a:solidFill>
              <a:srgbClr val="272A38"/>
            </a:solidFill>
            <a:prstDash val="solid"/>
          </a:ln>
        </p:spPr>
        <p:txBody>
          <a:bodyPr/>
          <a:p/>
        </p:txBody>
      </p:sp>
      <p:sp>
        <p:nvSpPr>
          <p:cNvPr id="14" name="Text 12"/>
          <p:cNvSpPr/>
          <p:nvPr/>
        </p:nvSpPr>
        <p:spPr>
          <a:xfrm>
            <a:off x="4846320" y="2199437"/>
            <a:ext cx="1417320" cy="384048"/>
          </a:xfrm>
          <a:prstGeom prst="rect">
            <a:avLst/>
          </a:prstGeom>
          <a:noFill/>
          <a:ln/>
        </p:spPr>
        <p:txBody>
          <a:bodyPr wrap="square" lIns="0" tIns="0" rIns="0" bIns="0" rtlCol="0" anchor="t"/>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26,6%</a:t>
            </a:r>
            <a:endParaRPr lang="en-US" sz="1700" dirty="0"/>
          </a:p>
        </p:txBody>
      </p:sp>
      <p:sp>
        <p:nvSpPr>
          <p:cNvPr id="15" name="Text 13"/>
          <p:cNvSpPr/>
          <p:nvPr/>
        </p:nvSpPr>
        <p:spPr>
          <a:xfrm>
            <a:off x="4846320" y="5468112"/>
            <a:ext cx="1417320" cy="347472"/>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2025</a:t>
            </a:r>
            <a:endParaRPr lang="en-US" sz="1400" dirty="0"/>
          </a:p>
        </p:txBody>
      </p:sp>
      <p:sp>
        <p:nvSpPr>
          <p:cNvPr id="16" name="Shape 14"/>
          <p:cNvSpPr/>
          <p:nvPr/>
        </p:nvSpPr>
        <p:spPr>
          <a:xfrm>
            <a:off x="640080" y="5394960"/>
            <a:ext cx="5669280" cy="18288"/>
          </a:xfrm>
          <a:prstGeom prst="rect">
            <a:avLst/>
          </a:prstGeom>
          <a:solidFill>
            <a:srgbClr val="11121A"/>
          </a:solidFill>
          <a:ln/>
        </p:spPr>
        <p:txBody>
          <a:bodyPr/>
          <a:p/>
        </p:txBody>
      </p:sp>
      <p:sp>
        <p:nvSpPr>
          <p:cNvPr id="17" name="Text 15"/>
          <p:cNvSpPr/>
          <p:nvPr/>
        </p:nvSpPr>
        <p:spPr>
          <a:xfrm>
            <a:off x="594360" y="1691640"/>
            <a:ext cx="566928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Teleorman, 65 de ani și peste</a:t>
            </a:r>
            <a:endParaRPr lang="en-US" sz="1400" dirty="0"/>
          </a:p>
        </p:txBody>
      </p:sp>
      <p:sp>
        <p:nvSpPr>
          <p:cNvPr id="18" name="Shape 16"/>
          <p:cNvSpPr/>
          <p:nvPr/>
        </p:nvSpPr>
        <p:spPr>
          <a:xfrm>
            <a:off x="6766560" y="1783080"/>
            <a:ext cx="4800600" cy="4023360"/>
          </a:xfrm>
          <a:prstGeom prst="roundRect">
            <a:avLst>
              <a:gd name="adj" fmla="val 2045"/>
            </a:avLst>
          </a:prstGeom>
          <a:solidFill>
            <a:srgbClr val="ECEAE4"/>
          </a:solidFill>
          <a:ln w="12700">
            <a:solidFill>
              <a:srgbClr val="ECEAE4"/>
            </a:solidFill>
            <a:prstDash val="solid"/>
          </a:ln>
        </p:spPr>
        <p:txBody>
          <a:bodyPr/>
          <a:p/>
        </p:txBody>
      </p:sp>
      <p:sp>
        <p:nvSpPr>
          <p:cNvPr id="19" name="Text 17"/>
          <p:cNvSpPr/>
          <p:nvPr/>
        </p:nvSpPr>
        <p:spPr>
          <a:xfrm>
            <a:off x="7040880" y="1783080"/>
            <a:ext cx="4343400" cy="4023360"/>
          </a:xfrm>
          <a:prstGeom prst="rect">
            <a:avLst/>
          </a:prstGeom>
          <a:noFill/>
          <a:ln/>
        </p:spPr>
        <p:txBody>
          <a:bodyPr wrap="square" lIns="0" tIns="0" rIns="0" bIns="0" rtlCol="0" anchor="ctr"/>
          <a:lstStyle/>
          <a:p>
            <a:pPr indent="0" marL="0">
              <a:spcAft>
                <a:spcPts val="800"/>
              </a:spcAft>
              <a:buNone/>
            </a:pPr>
            <a:r>
              <a:rPr lang="en-US" sz="1600" dirty="0">
                <a:solidFill>
                  <a:srgbClr val="11121A"/>
                </a:solidFill>
                <a:latin typeface="Palatino Linotype" pitchFamily="34" charset="0"/>
                <a:ea typeface="Palatino Linotype" pitchFamily="34" charset="-122"/>
                <a:cs typeface="Palatino Linotype" pitchFamily="34" charset="-120"/>
              </a:rPr>
              <a:t>Cifrele privesc județul, nu aria de servicii. Pentru Zimnicea: datele pe localități, în baza TEMPO.</a:t>
            </a:r>
            <a:endParaRPr lang="en-US" sz="1600" dirty="0"/>
          </a:p>
          <a:p>
            <a:pPr indent="0" marL="0">
              <a:spcAft>
                <a:spcPts val="800"/>
              </a:spcAft>
              <a:buNone/>
            </a:pPr>
            <a:r>
              <a:rPr lang="en-US" sz="1600" dirty="0">
                <a:solidFill>
                  <a:srgbClr val="11121A"/>
                </a:solidFill>
                <a:latin typeface="Palatino Linotype" pitchFamily="34" charset="0"/>
                <a:ea typeface="Palatino Linotype" pitchFamily="34" charset="-122"/>
                <a:cs typeface="Palatino Linotype" pitchFamily="34" charset="-120"/>
              </a:rPr>
              <a:t>Eurostat nu spune de ce a apărut ruptura.</a:t>
            </a:r>
            <a:endParaRPr lang="en-US" sz="1600" dirty="0"/>
          </a:p>
          <a:p>
            <a:pPr indent="0" marL="0">
              <a:spcAft>
                <a:spcPts val="800"/>
              </a:spcAft>
              <a:buNone/>
            </a:pPr>
            <a:r>
              <a:rPr lang="en-US" sz="1600" b="1" dirty="0">
                <a:solidFill>
                  <a:srgbClr val="B02532"/>
                </a:solidFill>
                <a:latin typeface="Palatino Linotype" pitchFamily="34" charset="0"/>
                <a:ea typeface="Palatino Linotype" pitchFamily="34" charset="-122"/>
                <a:cs typeface="Palatino Linotype" pitchFamily="34" charset="-120"/>
              </a:rPr>
              <a:t>Comparați cu țara pe aceiași ani, spuneți ruptura, precizați estimările.</a:t>
            </a:r>
            <a:endParaRPr lang="en-US" sz="16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valorile recente sunt estimări.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TERMENUL 1 DIN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Analiza PESTEL: o listă de verificare</a:t>
            </a:r>
            <a:endParaRPr lang="en-US" sz="3200" dirty="0"/>
          </a:p>
        </p:txBody>
      </p:sp>
      <p:sp>
        <p:nvSpPr>
          <p:cNvPr id="4" name="Shape 2"/>
          <p:cNvSpPr/>
          <p:nvPr/>
        </p:nvSpPr>
        <p:spPr>
          <a:xfrm>
            <a:off x="594360" y="1783080"/>
            <a:ext cx="2057400" cy="1188720"/>
          </a:xfrm>
          <a:prstGeom prst="roundRect">
            <a:avLst>
              <a:gd name="adj" fmla="val 6923"/>
            </a:avLst>
          </a:prstGeom>
          <a:solidFill>
            <a:srgbClr val="FF4757"/>
          </a:solidFill>
          <a:ln w="12700">
            <a:solidFill>
              <a:srgbClr val="FF4757"/>
            </a:solidFill>
            <a:prstDash val="solid"/>
          </a:ln>
        </p:spPr>
        <p:txBody>
          <a:bodyPr/>
          <a:p/>
        </p:txBody>
      </p:sp>
      <p:sp>
        <p:nvSpPr>
          <p:cNvPr id="5" name="Text 3"/>
          <p:cNvSpPr/>
          <p:nvPr/>
        </p:nvSpPr>
        <p:spPr>
          <a:xfrm>
            <a:off x="731520" y="1783080"/>
            <a:ext cx="1783080" cy="1188720"/>
          </a:xfrm>
          <a:prstGeom prst="rect">
            <a:avLst/>
          </a:prstGeom>
          <a:noFill/>
          <a:ln/>
        </p:spPr>
        <p:txBody>
          <a:bodyPr wrap="square" lIns="0" tIns="0" rIns="0" bIns="0" rtlCol="0" anchor="ctr"/>
          <a:lstStyle/>
          <a:p>
            <a:pPr algn="ctr" indent="0" marL="0">
              <a:buNone/>
            </a:pPr>
            <a:r>
              <a:rPr lang="en-US" sz="1600" b="1" dirty="0">
                <a:solidFill>
                  <a:srgbClr val="2E060B"/>
                </a:solidFill>
                <a:latin typeface="Palatino Linotype" pitchFamily="34" charset="0"/>
                <a:ea typeface="Palatino Linotype" pitchFamily="34" charset="-122"/>
                <a:cs typeface="Palatino Linotype" pitchFamily="34" charset="-120"/>
              </a:rPr>
              <a:t>Economică</a:t>
            </a:r>
            <a:endParaRPr lang="en-US" sz="1600" dirty="0"/>
          </a:p>
        </p:txBody>
      </p:sp>
      <p:sp>
        <p:nvSpPr>
          <p:cNvPr id="6" name="Shape 4"/>
          <p:cNvSpPr/>
          <p:nvPr/>
        </p:nvSpPr>
        <p:spPr>
          <a:xfrm>
            <a:off x="2834640" y="1783080"/>
            <a:ext cx="2057400" cy="1188720"/>
          </a:xfrm>
          <a:prstGeom prst="roundRect">
            <a:avLst>
              <a:gd name="adj" fmla="val 6923"/>
            </a:avLst>
          </a:prstGeom>
          <a:solidFill>
            <a:srgbClr val="FFC24B"/>
          </a:solidFill>
          <a:ln w="12700">
            <a:solidFill>
              <a:srgbClr val="FFC24B"/>
            </a:solidFill>
            <a:prstDash val="solid"/>
          </a:ln>
        </p:spPr>
        <p:txBody>
          <a:bodyPr/>
          <a:p/>
        </p:txBody>
      </p:sp>
      <p:sp>
        <p:nvSpPr>
          <p:cNvPr id="7" name="Text 5"/>
          <p:cNvSpPr/>
          <p:nvPr/>
        </p:nvSpPr>
        <p:spPr>
          <a:xfrm>
            <a:off x="2971800" y="1783080"/>
            <a:ext cx="1783080" cy="1188720"/>
          </a:xfrm>
          <a:prstGeom prst="rect">
            <a:avLst/>
          </a:prstGeom>
          <a:noFill/>
          <a:ln/>
        </p:spPr>
        <p:txBody>
          <a:bodyPr wrap="square" lIns="0" tIns="0" rIns="0" bIns="0" rtlCol="0" anchor="ctr"/>
          <a:lstStyle/>
          <a:p>
            <a:pPr algn="ctr" indent="0" marL="0">
              <a:buNone/>
            </a:pPr>
            <a:r>
              <a:rPr lang="en-US" sz="1600" b="1" dirty="0">
                <a:solidFill>
                  <a:srgbClr val="3D2A00"/>
                </a:solidFill>
                <a:latin typeface="Palatino Linotype" pitchFamily="34" charset="0"/>
                <a:ea typeface="Palatino Linotype" pitchFamily="34" charset="-122"/>
                <a:cs typeface="Palatino Linotype" pitchFamily="34" charset="-120"/>
              </a:rPr>
              <a:t>Socială și demografică</a:t>
            </a:r>
            <a:endParaRPr lang="en-US" sz="1600" dirty="0"/>
          </a:p>
        </p:txBody>
      </p:sp>
      <p:sp>
        <p:nvSpPr>
          <p:cNvPr id="8" name="Shape 6"/>
          <p:cNvSpPr/>
          <p:nvPr/>
        </p:nvSpPr>
        <p:spPr>
          <a:xfrm>
            <a:off x="5074920" y="1783080"/>
            <a:ext cx="2057400" cy="1188720"/>
          </a:xfrm>
          <a:prstGeom prst="roundRect">
            <a:avLst>
              <a:gd name="adj" fmla="val 6923"/>
            </a:avLst>
          </a:prstGeom>
          <a:solidFill>
            <a:srgbClr val="27D3BE"/>
          </a:solidFill>
          <a:ln w="12700">
            <a:solidFill>
              <a:srgbClr val="27D3BE"/>
            </a:solidFill>
            <a:prstDash val="solid"/>
          </a:ln>
        </p:spPr>
        <p:txBody>
          <a:bodyPr/>
          <a:p/>
        </p:txBody>
      </p:sp>
      <p:sp>
        <p:nvSpPr>
          <p:cNvPr id="9" name="Text 7"/>
          <p:cNvSpPr/>
          <p:nvPr/>
        </p:nvSpPr>
        <p:spPr>
          <a:xfrm>
            <a:off x="5212080" y="1783080"/>
            <a:ext cx="1783080" cy="1188720"/>
          </a:xfrm>
          <a:prstGeom prst="rect">
            <a:avLst/>
          </a:prstGeom>
          <a:noFill/>
          <a:ln/>
        </p:spPr>
        <p:txBody>
          <a:bodyPr wrap="square" lIns="0" tIns="0" rIns="0" bIns="0" rtlCol="0" anchor="ctr"/>
          <a:lstStyle/>
          <a:p>
            <a:pPr algn="ctr" indent="0" marL="0">
              <a:buNone/>
            </a:pPr>
            <a:r>
              <a:rPr lang="en-US" sz="1600" b="1" dirty="0">
                <a:solidFill>
                  <a:srgbClr val="073B34"/>
                </a:solidFill>
                <a:latin typeface="Palatino Linotype" pitchFamily="34" charset="0"/>
                <a:ea typeface="Palatino Linotype" pitchFamily="34" charset="-122"/>
                <a:cs typeface="Palatino Linotype" pitchFamily="34" charset="-120"/>
              </a:rPr>
              <a:t>Legislativă și politică</a:t>
            </a:r>
            <a:endParaRPr lang="en-US" sz="1600" dirty="0"/>
          </a:p>
        </p:txBody>
      </p:sp>
      <p:sp>
        <p:nvSpPr>
          <p:cNvPr id="10" name="Shape 8"/>
          <p:cNvSpPr/>
          <p:nvPr/>
        </p:nvSpPr>
        <p:spPr>
          <a:xfrm>
            <a:off x="7315200" y="1783080"/>
            <a:ext cx="2057400" cy="1188720"/>
          </a:xfrm>
          <a:prstGeom prst="roundRect">
            <a:avLst>
              <a:gd name="adj" fmla="val 6923"/>
            </a:avLst>
          </a:prstGeom>
          <a:solidFill>
            <a:srgbClr val="9B7EF7"/>
          </a:solidFill>
          <a:ln w="12700">
            <a:solidFill>
              <a:srgbClr val="9B7EF7"/>
            </a:solidFill>
            <a:prstDash val="solid"/>
          </a:ln>
        </p:spPr>
        <p:txBody>
          <a:bodyPr/>
          <a:p/>
        </p:txBody>
      </p:sp>
      <p:sp>
        <p:nvSpPr>
          <p:cNvPr id="11" name="Text 9"/>
          <p:cNvSpPr/>
          <p:nvPr/>
        </p:nvSpPr>
        <p:spPr>
          <a:xfrm>
            <a:off x="7452360" y="1783080"/>
            <a:ext cx="1783080" cy="1188720"/>
          </a:xfrm>
          <a:prstGeom prst="rect">
            <a:avLst/>
          </a:prstGeom>
          <a:noFill/>
          <a:ln/>
        </p:spPr>
        <p:txBody>
          <a:bodyPr wrap="square" lIns="0" tIns="0" rIns="0" bIns="0" rtlCol="0" anchor="ctr"/>
          <a:lstStyle/>
          <a:p>
            <a:pPr algn="ctr" indent="0" marL="0">
              <a:buNone/>
            </a:pPr>
            <a:r>
              <a:rPr lang="en-US" sz="1600" b="1" dirty="0">
                <a:solidFill>
                  <a:srgbClr val="1F1040"/>
                </a:solidFill>
                <a:latin typeface="Palatino Linotype" pitchFamily="34" charset="0"/>
                <a:ea typeface="Palatino Linotype" pitchFamily="34" charset="-122"/>
                <a:cs typeface="Palatino Linotype" pitchFamily="34" charset="-120"/>
              </a:rPr>
              <a:t>Tehnologică</a:t>
            </a:r>
            <a:endParaRPr lang="en-US" sz="1600" dirty="0"/>
          </a:p>
        </p:txBody>
      </p:sp>
      <p:sp>
        <p:nvSpPr>
          <p:cNvPr id="12" name="Shape 10"/>
          <p:cNvSpPr/>
          <p:nvPr/>
        </p:nvSpPr>
        <p:spPr>
          <a:xfrm>
            <a:off x="9555480" y="1783080"/>
            <a:ext cx="2057400" cy="1188720"/>
          </a:xfrm>
          <a:prstGeom prst="roundRect">
            <a:avLst>
              <a:gd name="adj" fmla="val 6923"/>
            </a:avLst>
          </a:prstGeom>
          <a:solidFill>
            <a:srgbClr val="FF8A3D"/>
          </a:solidFill>
          <a:ln w="12700">
            <a:solidFill>
              <a:srgbClr val="FF8A3D"/>
            </a:solidFill>
            <a:prstDash val="solid"/>
          </a:ln>
        </p:spPr>
        <p:txBody>
          <a:bodyPr/>
          <a:p/>
        </p:txBody>
      </p:sp>
      <p:sp>
        <p:nvSpPr>
          <p:cNvPr id="13" name="Text 11"/>
          <p:cNvSpPr/>
          <p:nvPr/>
        </p:nvSpPr>
        <p:spPr>
          <a:xfrm>
            <a:off x="9692640" y="1783080"/>
            <a:ext cx="1783080" cy="1188720"/>
          </a:xfrm>
          <a:prstGeom prst="rect">
            <a:avLst/>
          </a:prstGeom>
          <a:noFill/>
          <a:ln/>
        </p:spPr>
        <p:txBody>
          <a:bodyPr wrap="square" lIns="0" tIns="0" rIns="0" bIns="0" rtlCol="0" anchor="ctr"/>
          <a:lstStyle/>
          <a:p>
            <a:pPr algn="ctr" indent="0" marL="0">
              <a:buNone/>
            </a:pPr>
            <a:r>
              <a:rPr lang="en-US" sz="1600" b="1" dirty="0">
                <a:solidFill>
                  <a:srgbClr val="3D1A00"/>
                </a:solidFill>
                <a:latin typeface="Palatino Linotype" pitchFamily="34" charset="0"/>
                <a:ea typeface="Palatino Linotype" pitchFamily="34" charset="-122"/>
                <a:cs typeface="Palatino Linotype" pitchFamily="34" charset="-120"/>
              </a:rPr>
              <a:t>Concurențială</a:t>
            </a:r>
            <a:endParaRPr lang="en-US" sz="1600" dirty="0"/>
          </a:p>
        </p:txBody>
      </p:sp>
      <p:sp>
        <p:nvSpPr>
          <p:cNvPr id="14" name="Text 12"/>
          <p:cNvSpPr/>
          <p:nvPr/>
        </p:nvSpPr>
        <p:spPr>
          <a:xfrm>
            <a:off x="594360" y="3246120"/>
            <a:ext cx="10972800" cy="82296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O listă de verificare, ca să nu uitați nicio parte a lumii din jurul organizației.</a:t>
            </a:r>
            <a:endParaRPr lang="en-US" sz="1900" dirty="0"/>
          </a:p>
        </p:txBody>
      </p:sp>
      <p:sp>
        <p:nvSpPr>
          <p:cNvPr id="15" name="Shape 13"/>
          <p:cNvSpPr/>
          <p:nvPr/>
        </p:nvSpPr>
        <p:spPr>
          <a:xfrm>
            <a:off x="594360" y="420624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16" name="Text 14"/>
          <p:cNvSpPr/>
          <p:nvPr/>
        </p:nvSpPr>
        <p:spPr>
          <a:xfrm>
            <a:off x="868680" y="4206240"/>
            <a:ext cx="4846320" cy="1783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Cinci, nu șase litere: politica și legislația sunt una; concurența are categoria ei.</a:t>
            </a:r>
            <a:endParaRPr lang="en-US" sz="1600" dirty="0"/>
          </a:p>
        </p:txBody>
      </p:sp>
      <p:sp>
        <p:nvSpPr>
          <p:cNvPr id="17" name="Shape 15"/>
          <p:cNvSpPr/>
          <p:nvPr/>
        </p:nvSpPr>
        <p:spPr>
          <a:xfrm>
            <a:off x="6217920" y="4206240"/>
            <a:ext cx="5349240" cy="1783080"/>
          </a:xfrm>
          <a:prstGeom prst="roundRect">
            <a:avLst>
              <a:gd name="adj" fmla="val 4615"/>
            </a:avLst>
          </a:prstGeom>
          <a:solidFill>
            <a:srgbClr val="1D1F2B"/>
          </a:solidFill>
          <a:ln w="12700">
            <a:solidFill>
              <a:srgbClr val="1D1F2B"/>
            </a:solidFill>
            <a:prstDash val="solid"/>
          </a:ln>
        </p:spPr>
        <p:txBody>
          <a:bodyPr/>
          <a:p/>
        </p:txBody>
      </p:sp>
      <p:sp>
        <p:nvSpPr>
          <p:cNvPr id="18" name="Text 16"/>
          <p:cNvSpPr/>
          <p:nvPr/>
        </p:nvSpPr>
        <p:spPr>
          <a:xfrm>
            <a:off x="6492240" y="4206240"/>
            <a:ext cx="4846320" cy="17830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 problemă poate ține de două categorii: spuneți de ce ați ales-o pe una.</a:t>
            </a:r>
            <a:endParaRPr lang="en-US" sz="16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Ginter, Duncan și Swayne, 2018.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VOT PE TELEFON</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DOILEA VOT · PATRU RUNDE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În ce categorie puneți fiecare semnal?</a:t>
            </a:r>
            <a:endParaRPr lang="en-US" sz="3000" dirty="0"/>
          </a:p>
        </p:txBody>
      </p:sp>
      <p:sp>
        <p:nvSpPr>
          <p:cNvPr id="6" name="Shape 4"/>
          <p:cNvSpPr/>
          <p:nvPr/>
        </p:nvSpPr>
        <p:spPr>
          <a:xfrm>
            <a:off x="594360" y="169164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868680" y="1869948"/>
            <a:ext cx="420624" cy="420624"/>
          </a:xfrm>
          <a:prstGeom prst="ellipse">
            <a:avLst/>
          </a:prstGeom>
          <a:solidFill>
            <a:srgbClr val="FFC24B"/>
          </a:solidFill>
          <a:ln/>
        </p:spPr>
        <p:txBody>
          <a:bodyPr/>
          <a:p/>
        </p:txBody>
      </p:sp>
      <p:sp>
        <p:nvSpPr>
          <p:cNvPr id="8" name="Text 6"/>
          <p:cNvSpPr/>
          <p:nvPr/>
        </p:nvSpPr>
        <p:spPr>
          <a:xfrm>
            <a:off x="868680" y="1869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91640"/>
            <a:ext cx="5943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Internările absorb cea mai mare parte a cheltuielilor (OCDE)</a:t>
            </a:r>
            <a:endParaRPr lang="en-US" sz="1500" dirty="0"/>
          </a:p>
        </p:txBody>
      </p:sp>
      <p:sp>
        <p:nvSpPr>
          <p:cNvPr id="10" name="Shape 8"/>
          <p:cNvSpPr/>
          <p:nvPr/>
        </p:nvSpPr>
        <p:spPr>
          <a:xfrm>
            <a:off x="594360" y="2587752"/>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868680" y="2766060"/>
            <a:ext cx="420624" cy="420624"/>
          </a:xfrm>
          <a:prstGeom prst="ellipse">
            <a:avLst/>
          </a:prstGeom>
          <a:solidFill>
            <a:srgbClr val="FFC24B"/>
          </a:solidFill>
          <a:ln/>
        </p:spPr>
        <p:txBody>
          <a:bodyPr/>
          <a:p/>
        </p:txBody>
      </p:sp>
      <p:sp>
        <p:nvSpPr>
          <p:cNvPr id="12" name="Text 10"/>
          <p:cNvSpPr/>
          <p:nvPr/>
        </p:nvSpPr>
        <p:spPr>
          <a:xfrm>
            <a:off x="868680" y="27660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587752"/>
            <a:ext cx="5943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Planul de dezvoltare pornește de la nevoile populației (ordin al ministrului)</a:t>
            </a:r>
            <a:endParaRPr lang="en-US" sz="1500" dirty="0"/>
          </a:p>
        </p:txBody>
      </p:sp>
      <p:sp>
        <p:nvSpPr>
          <p:cNvPr id="14" name="Shape 12"/>
          <p:cNvSpPr/>
          <p:nvPr/>
        </p:nvSpPr>
        <p:spPr>
          <a:xfrm>
            <a:off x="594360" y="3483864"/>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868680" y="3662172"/>
            <a:ext cx="420624" cy="420624"/>
          </a:xfrm>
          <a:prstGeom prst="ellipse">
            <a:avLst/>
          </a:prstGeom>
          <a:solidFill>
            <a:srgbClr val="FFC24B"/>
          </a:solidFill>
          <a:ln/>
        </p:spPr>
        <p:txBody>
          <a:bodyPr/>
          <a:p/>
        </p:txBody>
      </p:sp>
      <p:sp>
        <p:nvSpPr>
          <p:cNvPr id="16" name="Text 14"/>
          <p:cNvSpPr/>
          <p:nvPr/>
        </p:nvSpPr>
        <p:spPr>
          <a:xfrm>
            <a:off x="868680" y="36621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483864"/>
            <a:ext cx="5943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Strategia națională își propune telemedicina</a:t>
            </a:r>
            <a:endParaRPr lang="en-US" sz="1500" dirty="0"/>
          </a:p>
        </p:txBody>
      </p:sp>
      <p:sp>
        <p:nvSpPr>
          <p:cNvPr id="18" name="Shape 16"/>
          <p:cNvSpPr/>
          <p:nvPr/>
        </p:nvSpPr>
        <p:spPr>
          <a:xfrm>
            <a:off x="594360" y="4379976"/>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9" name="Shape 17"/>
          <p:cNvSpPr/>
          <p:nvPr/>
        </p:nvSpPr>
        <p:spPr>
          <a:xfrm>
            <a:off x="868680" y="4558284"/>
            <a:ext cx="420624" cy="420624"/>
          </a:xfrm>
          <a:prstGeom prst="ellipse">
            <a:avLst/>
          </a:prstGeom>
          <a:solidFill>
            <a:srgbClr val="FFC24B"/>
          </a:solidFill>
          <a:ln/>
        </p:spPr>
        <p:txBody>
          <a:bodyPr/>
          <a:p/>
        </p:txBody>
      </p:sp>
      <p:sp>
        <p:nvSpPr>
          <p:cNvPr id="20" name="Text 18"/>
          <p:cNvSpPr/>
          <p:nvPr/>
        </p:nvSpPr>
        <p:spPr>
          <a:xfrm>
            <a:off x="868680" y="45582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379976"/>
            <a:ext cx="594360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Patru spitale publice de acuți în județ (CNAS)</a:t>
            </a:r>
            <a:endParaRPr lang="en-US" sz="1500" dirty="0"/>
          </a:p>
        </p:txBody>
      </p:sp>
      <p:sp>
        <p:nvSpPr>
          <p:cNvPr id="22" name="Shape 20"/>
          <p:cNvSpPr/>
          <p:nvPr/>
        </p:nvSpPr>
        <p:spPr>
          <a:xfrm>
            <a:off x="8001000" y="1691640"/>
            <a:ext cx="3566160" cy="3017520"/>
          </a:xfrm>
          <a:prstGeom prst="roundRect">
            <a:avLst>
              <a:gd name="adj" fmla="val 3030"/>
            </a:avLst>
          </a:prstGeom>
          <a:solidFill>
            <a:srgbClr val="FFFFFF"/>
          </a:solidFill>
          <a:ln w="19050">
            <a:solidFill>
              <a:srgbClr val="8E94A8"/>
            </a:solidFill>
            <a:prstDash val="dash"/>
          </a:ln>
        </p:spPr>
        <p:txBody>
          <a:bodyPr/>
          <a:p/>
        </p:txBody>
      </p:sp>
      <p:sp>
        <p:nvSpPr>
          <p:cNvPr id="24" name="Text 22"/>
          <p:cNvSpPr/>
          <p:nvPr/>
        </p:nvSpPr>
        <p:spPr>
          <a:xfrm>
            <a:off x="8001000" y="4800600"/>
            <a:ext cx="3566160" cy="10058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Cinci variante: cele cinci categorii</a:t>
            </a:r>
            <a:endParaRPr lang="en-US" sz="1250" dirty="0"/>
          </a:p>
        </p:txBody>
      </p:sp>
      <p:sp>
        <p:nvSpPr>
          <p:cNvPr id="25" name="Text 23"/>
          <p:cNvSpPr/>
          <p:nvPr/>
        </p:nvSpPr>
        <p:spPr>
          <a:xfrm>
            <a:off x="594360" y="5349240"/>
            <a:ext cx="73152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
        <p:nvSpPr>
          <p:cNvPr id="26" name="Text 24"/>
          <p:cNvSpPr/>
          <p:nvPr/>
        </p:nvSpPr>
        <p:spPr>
          <a:xfrm>
            <a:off x="594360" y="5760720"/>
            <a:ext cx="7315200" cy="45720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După fiecare vot: un voluntar, o jumătate de minut.</a:t>
            </a:r>
            <a:endParaRPr lang="en-US" sz="1500" dirty="0"/>
          </a:p>
        </p:txBody>
      </p:sp>
      <p:pic>
        <p:nvPicPr>
          <p:cNvPr id="27" name="Picture 26" descr="Mentimeter_UB_MSSS_LP02.png"/>
          <p:cNvPicPr>
            <a:picLocks noChangeAspect="1"/>
          </p:cNvPicPr>
          <p:nvPr/>
        </p:nvPicPr>
        <p:blipFill>
          <a:blip r:embed="rId3"/>
          <a:stretch>
            <a:fillRect/>
          </a:stretch>
        </p:blipFill>
        <p:spPr>
          <a:xfrm>
            <a:off x="8589010" y="1691640"/>
            <a:ext cx="2390140" cy="2390140"/>
          </a:xfrm>
          <a:prstGeom prst="rect">
            <a:avLst/>
          </a:prstGeom>
        </p:spPr>
      </p:pic>
      <p:sp>
        <p:nvSpPr>
          <p:cNvPr id="28" name="TextBox 27"/>
          <p:cNvSpPr txBox="1"/>
          <p:nvPr/>
        </p:nvSpPr>
        <p:spPr>
          <a:xfrm>
            <a:off x="8183880" y="4119880"/>
            <a:ext cx="32004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votul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SEMNALUL 1 · ECONOMIC · SISTEMUL DE SĂNĂTATE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Unde se duc banii sănătății</a:t>
            </a:r>
            <a:endParaRPr lang="en-US" sz="3200" dirty="0"/>
          </a:p>
        </p:txBody>
      </p:sp>
      <p:sp>
        <p:nvSpPr>
          <p:cNvPr id="4" name="Shape 2"/>
          <p:cNvSpPr/>
          <p:nvPr/>
        </p:nvSpPr>
        <p:spPr>
          <a:xfrm>
            <a:off x="914400" y="3091688"/>
            <a:ext cx="1554480" cy="2166112"/>
          </a:xfrm>
          <a:prstGeom prst="rect">
            <a:avLst/>
          </a:prstGeom>
          <a:solidFill>
            <a:srgbClr val="B02532"/>
          </a:solidFill>
          <a:ln w="12700">
            <a:solidFill>
              <a:srgbClr val="B02532"/>
            </a:solidFill>
            <a:prstDash val="solid"/>
          </a:ln>
        </p:spPr>
        <p:txBody>
          <a:bodyPr/>
          <a:p/>
        </p:txBody>
      </p:sp>
      <p:sp>
        <p:nvSpPr>
          <p:cNvPr id="5" name="Text 3"/>
          <p:cNvSpPr/>
          <p:nvPr/>
        </p:nvSpPr>
        <p:spPr>
          <a:xfrm>
            <a:off x="640080" y="2405888"/>
            <a:ext cx="2103120" cy="640080"/>
          </a:xfrm>
          <a:prstGeom prst="rect">
            <a:avLst/>
          </a:prstGeom>
          <a:noFill/>
          <a:ln/>
        </p:spPr>
        <p:txBody>
          <a:bodyPr wrap="square" lIns="0" tIns="0" rIns="0" bIns="0" rtlCol="0" anchor="t"/>
          <a:lstStyle/>
          <a:p>
            <a:pPr algn="ctr" indent="0" marL="0">
              <a:buNone/>
            </a:pPr>
            <a:r>
              <a:rPr lang="en-US" sz="3600" b="1" dirty="0">
                <a:solidFill>
                  <a:srgbClr val="11121A"/>
                </a:solidFill>
                <a:latin typeface="Palatino Linotype" pitchFamily="34" charset="0"/>
                <a:ea typeface="Palatino Linotype" pitchFamily="34" charset="-122"/>
                <a:cs typeface="Palatino Linotype" pitchFamily="34" charset="-120"/>
              </a:rPr>
              <a:t>41%</a:t>
            </a:r>
            <a:endParaRPr lang="en-US" sz="3600" dirty="0"/>
          </a:p>
        </p:txBody>
      </p:sp>
      <p:sp>
        <p:nvSpPr>
          <p:cNvPr id="6" name="Text 4"/>
          <p:cNvSpPr/>
          <p:nvPr/>
        </p:nvSpPr>
        <p:spPr>
          <a:xfrm>
            <a:off x="502920" y="5330952"/>
            <a:ext cx="2377440" cy="54864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Îngrijirile cu internare</a:t>
            </a:r>
            <a:endParaRPr lang="en-US" sz="1400" dirty="0"/>
          </a:p>
        </p:txBody>
      </p:sp>
      <p:sp>
        <p:nvSpPr>
          <p:cNvPr id="7" name="Shape 5"/>
          <p:cNvSpPr/>
          <p:nvPr/>
        </p:nvSpPr>
        <p:spPr>
          <a:xfrm>
            <a:off x="3291840" y="4201160"/>
            <a:ext cx="1554480" cy="1056640"/>
          </a:xfrm>
          <a:prstGeom prst="rect">
            <a:avLst/>
          </a:prstGeom>
          <a:solidFill>
            <a:srgbClr val="0E7C6B"/>
          </a:solidFill>
          <a:ln w="12700">
            <a:solidFill>
              <a:srgbClr val="0E7C6B"/>
            </a:solidFill>
            <a:prstDash val="solid"/>
          </a:ln>
        </p:spPr>
        <p:txBody>
          <a:bodyPr/>
          <a:p/>
        </p:txBody>
      </p:sp>
      <p:sp>
        <p:nvSpPr>
          <p:cNvPr id="8" name="Text 6"/>
          <p:cNvSpPr/>
          <p:nvPr/>
        </p:nvSpPr>
        <p:spPr>
          <a:xfrm>
            <a:off x="3017520" y="3515360"/>
            <a:ext cx="2103120" cy="640080"/>
          </a:xfrm>
          <a:prstGeom prst="rect">
            <a:avLst/>
          </a:prstGeom>
          <a:noFill/>
          <a:ln/>
        </p:spPr>
        <p:txBody>
          <a:bodyPr wrap="square" lIns="0" tIns="0" rIns="0" bIns="0" rtlCol="0" anchor="t"/>
          <a:lstStyle/>
          <a:p>
            <a:pPr algn="ctr" indent="0" marL="0">
              <a:buNone/>
            </a:pPr>
            <a:r>
              <a:rPr lang="en-US" sz="3600" b="1" dirty="0">
                <a:solidFill>
                  <a:srgbClr val="11121A"/>
                </a:solidFill>
                <a:latin typeface="Palatino Linotype" pitchFamily="34" charset="0"/>
                <a:ea typeface="Palatino Linotype" pitchFamily="34" charset="-122"/>
                <a:cs typeface="Palatino Linotype" pitchFamily="34" charset="-120"/>
              </a:rPr>
              <a:t>20%</a:t>
            </a:r>
            <a:endParaRPr lang="en-US" sz="3600" dirty="0"/>
          </a:p>
        </p:txBody>
      </p:sp>
      <p:sp>
        <p:nvSpPr>
          <p:cNvPr id="9" name="Text 7"/>
          <p:cNvSpPr/>
          <p:nvPr/>
        </p:nvSpPr>
        <p:spPr>
          <a:xfrm>
            <a:off x="2880360" y="5330952"/>
            <a:ext cx="2377440" cy="54864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Îngrijirile ambulatorii</a:t>
            </a:r>
            <a:endParaRPr lang="en-US" sz="1400" dirty="0"/>
          </a:p>
        </p:txBody>
      </p:sp>
      <p:sp>
        <p:nvSpPr>
          <p:cNvPr id="10" name="Shape 8"/>
          <p:cNvSpPr/>
          <p:nvPr/>
        </p:nvSpPr>
        <p:spPr>
          <a:xfrm>
            <a:off x="640080" y="5257800"/>
            <a:ext cx="4937760" cy="18288"/>
          </a:xfrm>
          <a:prstGeom prst="rect">
            <a:avLst/>
          </a:prstGeom>
          <a:solidFill>
            <a:srgbClr val="11121A"/>
          </a:solidFill>
          <a:ln/>
        </p:spPr>
        <p:txBody>
          <a:bodyPr/>
          <a:p/>
        </p:txBody>
      </p:sp>
      <p:sp>
        <p:nvSpPr>
          <p:cNvPr id="11" name="Text 9"/>
          <p:cNvSpPr/>
          <p:nvPr/>
        </p:nvSpPr>
        <p:spPr>
          <a:xfrm>
            <a:off x="594360" y="1691640"/>
            <a:ext cx="512064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din cheltuielile de sănătate ale României, în 2023</a:t>
            </a:r>
            <a:endParaRPr lang="en-US" sz="1400" dirty="0"/>
          </a:p>
        </p:txBody>
      </p:sp>
      <p:sp>
        <p:nvSpPr>
          <p:cNvPr id="12" name="Shape 10"/>
          <p:cNvSpPr/>
          <p:nvPr/>
        </p:nvSpPr>
        <p:spPr>
          <a:xfrm>
            <a:off x="6217920" y="1783080"/>
            <a:ext cx="5349240" cy="4023360"/>
          </a:xfrm>
          <a:prstGeom prst="roundRect">
            <a:avLst>
              <a:gd name="adj" fmla="val 2045"/>
            </a:avLst>
          </a:prstGeom>
          <a:solidFill>
            <a:srgbClr val="ECEAE4"/>
          </a:solidFill>
          <a:ln w="12700">
            <a:solidFill>
              <a:srgbClr val="ECEAE4"/>
            </a:solidFill>
            <a:prstDash val="solid"/>
          </a:ln>
        </p:spPr>
        <p:txBody>
          <a:bodyPr/>
          <a:p/>
        </p:txBody>
      </p:sp>
      <p:sp>
        <p:nvSpPr>
          <p:cNvPr id="13" name="Text 11"/>
          <p:cNvSpPr/>
          <p:nvPr/>
        </p:nvSpPr>
        <p:spPr>
          <a:xfrm>
            <a:off x="6492240" y="1783080"/>
            <a:ext cx="4846320" cy="4023360"/>
          </a:xfrm>
          <a:prstGeom prst="rect">
            <a:avLst/>
          </a:prstGeom>
          <a:noFill/>
          <a:ln/>
        </p:spPr>
        <p:txBody>
          <a:bodyPr wrap="square" lIns="0" tIns="0" rIns="0" bIns="0" rtlCol="0" anchor="ctr"/>
          <a:lstStyle/>
          <a:p>
            <a:pPr indent="0" marL="0">
              <a:spcAft>
                <a:spcPts val="800"/>
              </a:spcAft>
              <a:buNone/>
            </a:pPr>
            <a:r>
              <a:rPr lang="en-US" sz="1700" dirty="0">
                <a:solidFill>
                  <a:srgbClr val="11121A"/>
                </a:solidFill>
                <a:latin typeface="Palatino Linotype" pitchFamily="34" charset="0"/>
                <a:ea typeface="Palatino Linotype" pitchFamily="34" charset="-122"/>
                <a:cs typeface="Palatino Linotype" pitchFamily="34" charset="-120"/>
              </a:rPr>
              <a:t>A doua pondere a internărilor din Uniune; a doua cea mai mică a ambulatoriului.</a:t>
            </a:r>
            <a:endParaRPr lang="en-US" sz="1700" dirty="0"/>
          </a:p>
          <a:p>
            <a:pPr indent="0" marL="0">
              <a:spcAft>
                <a:spcPts val="800"/>
              </a:spcAft>
              <a:buNone/>
            </a:pPr>
            <a:r>
              <a:rPr lang="en-US" sz="1700" dirty="0">
                <a:solidFill>
                  <a:srgbClr val="11121A"/>
                </a:solidFill>
                <a:latin typeface="Palatino Linotype" pitchFamily="34" charset="0"/>
                <a:ea typeface="Palatino Linotype" pitchFamily="34" charset="-122"/>
                <a:cs typeface="Palatino Linotype" pitchFamily="34" charset="-120"/>
              </a:rPr>
              <a:t>Asistența primară: pe agendă din anii 1990, cu progrese limitate.</a:t>
            </a:r>
            <a:endParaRPr lang="en-US" sz="1700" dirty="0"/>
          </a:p>
          <a:p>
            <a:pPr indent="0" marL="0">
              <a:spcAft>
                <a:spcPts val="800"/>
              </a:spcAft>
              <a:buNone/>
            </a:pPr>
            <a:r>
              <a:rPr lang="en-US" sz="1700" b="1" dirty="0">
                <a:solidFill>
                  <a:srgbClr val="B02532"/>
                </a:solidFill>
                <a:latin typeface="Palatino Linotype" pitchFamily="34" charset="0"/>
                <a:ea typeface="Palatino Linotype" pitchFamily="34" charset="-122"/>
                <a:cs typeface="Palatino Linotype" pitchFamily="34" charset="-120"/>
              </a:rPr>
              <a:t>Pentru Zimnicea: mutarea spre ambulatoriu merge în direcția declarată.</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profilul de țară OCDE și al Observatorului European.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SEMNALUL 2 · LEGISLATIV ȘI POLITIC · SISTEMUL DE SĂNĂTATE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îi cere ordinul managerului</a:t>
            </a:r>
            <a:endParaRPr lang="en-US" sz="3200" dirty="0"/>
          </a:p>
        </p:txBody>
      </p:sp>
      <p:sp>
        <p:nvSpPr>
          <p:cNvPr id="4" name="Shape 2"/>
          <p:cNvSpPr/>
          <p:nvPr/>
        </p:nvSpPr>
        <p:spPr>
          <a:xfrm>
            <a:off x="822960" y="1783080"/>
            <a:ext cx="6035040" cy="3931920"/>
          </a:xfrm>
          <a:prstGeom prst="rect">
            <a:avLst/>
          </a:prstGeom>
          <a:solidFill>
            <a:srgbClr val="FBF8F1"/>
          </a:solidFill>
          <a:ln w="9525">
            <a:solidFill>
              <a:srgbClr val="E4DFD2"/>
            </a:solidFill>
            <a:prstDash val="solid"/>
          </a:ln>
        </p:spPr>
        <p:txBody>
          <a:bodyPr/>
          <a:p/>
        </p:txBody>
      </p:sp>
      <p:sp>
        <p:nvSpPr>
          <p:cNvPr id="5" name="Text 3"/>
          <p:cNvSpPr/>
          <p:nvPr/>
        </p:nvSpPr>
        <p:spPr>
          <a:xfrm>
            <a:off x="1143000" y="2011680"/>
            <a:ext cx="5486400" cy="320040"/>
          </a:xfrm>
          <a:prstGeom prst="rect">
            <a:avLst/>
          </a:prstGeom>
          <a:noFill/>
          <a:ln/>
        </p:spPr>
        <p:txBody>
          <a:bodyPr wrap="square" lIns="0" tIns="0" rIns="0" bIns="0" rtlCol="0" anchor="t"/>
          <a:lstStyle/>
          <a:p>
            <a:pPr indent="0" marL="0">
              <a:buNone/>
            </a:pPr>
            <a:r>
              <a:rPr lang="en-US" sz="1200" b="1" spc="100" kern="0" dirty="0">
                <a:solidFill>
                  <a:srgbClr val="B02532"/>
                </a:solidFill>
                <a:latin typeface="Palatino Linotype" pitchFamily="34" charset="0"/>
                <a:ea typeface="Palatino Linotype" pitchFamily="34" charset="-122"/>
                <a:cs typeface="Palatino Linotype" pitchFamily="34" charset="-120"/>
              </a:rPr>
              <a:t>MODELUL-CADRU AL CONTRACTULUI DE MANAGEMENT · EXTRAS</a:t>
            </a:r>
            <a:endParaRPr lang="en-US" sz="1200" dirty="0"/>
          </a:p>
        </p:txBody>
      </p:sp>
      <p:sp>
        <p:nvSpPr>
          <p:cNvPr id="6" name="Shape 4"/>
          <p:cNvSpPr/>
          <p:nvPr/>
        </p:nvSpPr>
        <p:spPr>
          <a:xfrm>
            <a:off x="1143000" y="2423160"/>
            <a:ext cx="5394960" cy="18288"/>
          </a:xfrm>
          <a:prstGeom prst="rect">
            <a:avLst/>
          </a:prstGeom>
          <a:solidFill>
            <a:srgbClr val="11121A"/>
          </a:solidFill>
          <a:ln/>
        </p:spPr>
        <p:txBody>
          <a:bodyPr/>
          <a:p/>
        </p:txBody>
      </p:sp>
      <p:sp>
        <p:nvSpPr>
          <p:cNvPr id="7" name="Text 5"/>
          <p:cNvSpPr/>
          <p:nvPr/>
        </p:nvSpPr>
        <p:spPr>
          <a:xfrm>
            <a:off x="1143000" y="2651760"/>
            <a:ext cx="5394960" cy="2194560"/>
          </a:xfrm>
          <a:prstGeom prst="rect">
            <a:avLst/>
          </a:prstGeom>
          <a:noFill/>
          <a:ln/>
        </p:spPr>
        <p:txBody>
          <a:bodyPr wrap="square" lIns="0" tIns="0" rIns="0" bIns="0" rtlCol="0" anchor="t"/>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Planul de dezvoltare pornește de la nevoile de servicii medicale ale populației din zona deservită.</a:t>
            </a:r>
            <a:endParaRPr lang="en-US" sz="2200" dirty="0"/>
          </a:p>
        </p:txBody>
      </p:sp>
      <p:sp>
        <p:nvSpPr>
          <p:cNvPr id="8" name="Text 6"/>
          <p:cNvSpPr/>
          <p:nvPr/>
        </p:nvSpPr>
        <p:spPr>
          <a:xfrm>
            <a:off x="1143000" y="5074920"/>
            <a:ext cx="5394960" cy="365760"/>
          </a:xfrm>
          <a:prstGeom prst="rect">
            <a:avLst/>
          </a:prstGeom>
          <a:noFill/>
          <a:ln/>
        </p:spPr>
        <p:txBody>
          <a:bodyPr wrap="square" lIns="0" tIns="0" rIns="0" bIns="0" rtlCol="0" anchor="t"/>
          <a:lstStyle/>
          <a:p>
            <a:pPr indent="0" marL="0">
              <a:buNone/>
            </a:pPr>
            <a:r>
              <a:rPr lang="en-US" sz="1250" i="1" dirty="0">
                <a:solidFill>
                  <a:srgbClr val="585A64"/>
                </a:solidFill>
                <a:latin typeface="Palatino Linotype" pitchFamily="34" charset="0"/>
                <a:ea typeface="Palatino Linotype" pitchFamily="34" charset="-122"/>
                <a:cs typeface="Palatino Linotype" pitchFamily="34" charset="-120"/>
              </a:rPr>
              <a:t>parafrază după ordinul ministrului sănătății</a:t>
            </a:r>
            <a:endParaRPr lang="en-US" sz="1250" dirty="0"/>
          </a:p>
        </p:txBody>
      </p:sp>
      <p:sp>
        <p:nvSpPr>
          <p:cNvPr id="9" name="Shape 7"/>
          <p:cNvSpPr/>
          <p:nvPr/>
        </p:nvSpPr>
        <p:spPr>
          <a:xfrm>
            <a:off x="7315200" y="1783080"/>
            <a:ext cx="4251960" cy="3931920"/>
          </a:xfrm>
          <a:prstGeom prst="roundRect">
            <a:avLst>
              <a:gd name="adj" fmla="val 2093"/>
            </a:avLst>
          </a:prstGeom>
          <a:solidFill>
            <a:srgbClr val="1D1F2B"/>
          </a:solidFill>
          <a:ln w="12700">
            <a:solidFill>
              <a:srgbClr val="1D1F2B"/>
            </a:solidFill>
            <a:prstDash val="solid"/>
          </a:ln>
        </p:spPr>
        <p:txBody>
          <a:bodyPr/>
          <a:p/>
        </p:txBody>
      </p:sp>
      <p:sp>
        <p:nvSpPr>
          <p:cNvPr id="10" name="Text 8"/>
          <p:cNvSpPr/>
          <p:nvPr/>
        </p:nvSpPr>
        <p:spPr>
          <a:xfrm>
            <a:off x="7589520" y="1783080"/>
            <a:ext cx="3749040" cy="3931920"/>
          </a:xfrm>
          <a:prstGeom prst="rect">
            <a:avLst/>
          </a:prstGeom>
          <a:noFill/>
          <a:ln/>
        </p:spPr>
        <p:txBody>
          <a:bodyPr wrap="square" lIns="0" tIns="0" rIns="0" bIns="0" rtlCol="0" anchor="ctr"/>
          <a:lstStyle/>
          <a:p>
            <a:pPr indent="0" marL="0">
              <a:spcAft>
                <a:spcPts val="800"/>
              </a:spcAft>
              <a:buNone/>
            </a:pPr>
            <a:r>
              <a:rPr lang="en-US" sz="1600" b="1" dirty="0">
                <a:solidFill>
                  <a:srgbClr val="FFC24B"/>
                </a:solidFill>
                <a:latin typeface="Palatino Linotype" pitchFamily="34" charset="0"/>
                <a:ea typeface="Palatino Linotype" pitchFamily="34" charset="-122"/>
                <a:cs typeface="Palatino Linotype" pitchFamily="34" charset="-120"/>
              </a:rPr>
              <a:t>De ce legislativ și politic?</a:t>
            </a:r>
            <a:endParaRPr lang="en-US" sz="1600" dirty="0"/>
          </a:p>
          <a:p>
            <a:pPr indent="0" marL="0">
              <a:spcAft>
                <a:spcPts val="800"/>
              </a:spcAft>
              <a:buNone/>
            </a:pPr>
            <a:r>
              <a:rPr lang="en-US" sz="1700" dirty="0">
                <a:solidFill>
                  <a:srgbClr val="FFFFFF"/>
                </a:solidFill>
                <a:latin typeface="Palatino Linotype" pitchFamily="34" charset="0"/>
                <a:ea typeface="Palatino Linotype" pitchFamily="34" charset="-122"/>
                <a:cs typeface="Palatino Linotype" pitchFamily="34" charset="-120"/>
              </a:rPr>
              <a:t>Vine dintr-un ordin al ministrului.</a:t>
            </a:r>
            <a:endParaRPr lang="en-US" sz="1600" dirty="0"/>
          </a:p>
          <a:p>
            <a:pPr indent="0" marL="0">
              <a:spcAft>
                <a:spcPts val="800"/>
              </a:spcAft>
              <a:buNone/>
            </a:pPr>
            <a:r>
              <a:rPr lang="en-US" sz="1600" b="1" dirty="0">
                <a:solidFill>
                  <a:srgbClr val="FFC24B"/>
                </a:solidFill>
                <a:latin typeface="Palatino Linotype" pitchFamily="34" charset="0"/>
                <a:ea typeface="Palatino Linotype" pitchFamily="34" charset="-122"/>
                <a:cs typeface="Palatino Linotype" pitchFamily="34" charset="-120"/>
              </a:rPr>
              <a:t>Pentru Zimnicea</a:t>
            </a:r>
            <a:endParaRPr lang="en-US" sz="1600" dirty="0"/>
          </a:p>
          <a:p>
            <a:pPr indent="0" marL="0">
              <a:spcAft>
                <a:spcPts val="800"/>
              </a:spcAft>
              <a:buNone/>
            </a:pPr>
            <a:r>
              <a:rPr lang="en-US" sz="1700" dirty="0">
                <a:solidFill>
                  <a:srgbClr val="FFFFFF"/>
                </a:solidFill>
                <a:latin typeface="Palatino Linotype" pitchFamily="34" charset="0"/>
                <a:ea typeface="Palatino Linotype" pitchFamily="34" charset="-122"/>
                <a:cs typeface="Palatino Linotype" pitchFamily="34" charset="-120"/>
              </a:rPr>
              <a:t>Leagă populația de documentul pe care conducerea trebuie să îl scrie.</a:t>
            </a:r>
            <a:endParaRPr lang="en-US" sz="16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modelul-cadru al contractului de management.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SEMNALUL 3 · TEHNOLOGIC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Telemedicina: propusă, încă puțin folosită</a:t>
            </a:r>
            <a:endParaRPr lang="en-US" sz="3000" dirty="0"/>
          </a:p>
        </p:txBody>
      </p:sp>
      <p:sp>
        <p:nvSpPr>
          <p:cNvPr id="4" name="Shape 2"/>
          <p:cNvSpPr/>
          <p:nvPr/>
        </p:nvSpPr>
        <p:spPr>
          <a:xfrm>
            <a:off x="594360" y="1783080"/>
            <a:ext cx="82296" cy="2377440"/>
          </a:xfrm>
          <a:prstGeom prst="rect">
            <a:avLst/>
          </a:prstGeom>
          <a:solidFill>
            <a:srgbClr val="B02532"/>
          </a:solidFill>
          <a:ln/>
        </p:spPr>
        <p:txBody>
          <a:bodyPr/>
          <a:p/>
        </p:txBody>
      </p:sp>
      <p:sp>
        <p:nvSpPr>
          <p:cNvPr id="5" name="Text 3"/>
          <p:cNvSpPr/>
          <p:nvPr/>
        </p:nvSpPr>
        <p:spPr>
          <a:xfrm>
            <a:off x="868680" y="1783080"/>
            <a:ext cx="6035040" cy="2377440"/>
          </a:xfrm>
          <a:prstGeom prst="rect">
            <a:avLst/>
          </a:prstGeom>
          <a:noFill/>
          <a:ln/>
        </p:spPr>
        <p:txBody>
          <a:bodyPr wrap="square" lIns="0" tIns="0" rIns="0" bIns="0" rtlCol="0" anchor="ctr"/>
          <a:lstStyle/>
          <a:p>
            <a:pPr indent="0" marL="0">
              <a:spcAft>
                <a:spcPts val="600"/>
              </a:spcAft>
              <a:buNone/>
            </a:pPr>
            <a:r>
              <a:rPr lang="en-US" sz="1400" b="1" dirty="0">
                <a:solidFill>
                  <a:srgbClr val="585A64"/>
                </a:solidFill>
                <a:latin typeface="Palatino Linotype" pitchFamily="34" charset="0"/>
                <a:ea typeface="Palatino Linotype" pitchFamily="34" charset="-122"/>
                <a:cs typeface="Palatino Linotype" pitchFamily="34" charset="-120"/>
              </a:rPr>
              <a:t>Strategia națională de sănătate 2023–2030</a:t>
            </a:r>
            <a:endParaRPr lang="en-US" sz="1400" dirty="0"/>
          </a:p>
          <a:p>
            <a:pPr indent="0" marL="0">
              <a:spcAft>
                <a:spcPts val="600"/>
              </a:spcAft>
              <a:buNone/>
            </a:pPr>
            <a:r>
              <a:rPr lang="en-US" sz="2200" i="1" dirty="0">
                <a:solidFill>
                  <a:srgbClr val="11121A"/>
                </a:solidFill>
                <a:latin typeface="Palatino Linotype" pitchFamily="34" charset="0"/>
                <a:ea typeface="Palatino Linotype" pitchFamily="34" charset="-122"/>
                <a:cs typeface="Palatino Linotype" pitchFamily="34" charset="-120"/>
              </a:rPr>
              <a:t>„Dezvoltarea suboptimală a serviciilor de telemedicină”</a:t>
            </a:r>
            <a:endParaRPr lang="en-US" sz="14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Obiectivul: acces mai bun la servicii, prin telemedicină.</a:t>
            </a:r>
            <a:endParaRPr lang="en-US" sz="1400" dirty="0"/>
          </a:p>
        </p:txBody>
      </p:sp>
      <p:sp>
        <p:nvSpPr>
          <p:cNvPr id="6" name="Shape 4"/>
          <p:cNvSpPr/>
          <p:nvPr/>
        </p:nvSpPr>
        <p:spPr>
          <a:xfrm>
            <a:off x="594360" y="4389120"/>
            <a:ext cx="6309360" cy="1463040"/>
          </a:xfrm>
          <a:prstGeom prst="roundRect">
            <a:avLst>
              <a:gd name="adj" fmla="val 5625"/>
            </a:avLst>
          </a:prstGeom>
          <a:solidFill>
            <a:srgbClr val="ECEAE4"/>
          </a:solidFill>
          <a:ln w="12700">
            <a:solidFill>
              <a:srgbClr val="ECEAE4"/>
            </a:solidFill>
            <a:prstDash val="solid"/>
          </a:ln>
        </p:spPr>
        <p:txBody>
          <a:bodyPr/>
          <a:p/>
        </p:txBody>
      </p:sp>
      <p:sp>
        <p:nvSpPr>
          <p:cNvPr id="7" name="Text 5"/>
          <p:cNvSpPr/>
          <p:nvPr/>
        </p:nvSpPr>
        <p:spPr>
          <a:xfrm>
            <a:off x="868680" y="4389120"/>
            <a:ext cx="5852160" cy="146304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Teleconsultațiile rămân puțin folosite în România.</a:t>
            </a:r>
            <a:endParaRPr lang="en-US" sz="1700" dirty="0"/>
          </a:p>
        </p:txBody>
      </p:sp>
      <p:sp>
        <p:nvSpPr>
          <p:cNvPr id="8" name="Shape 6"/>
          <p:cNvSpPr/>
          <p:nvPr/>
        </p:nvSpPr>
        <p:spPr>
          <a:xfrm>
            <a:off x="7269480" y="1783080"/>
            <a:ext cx="4297680" cy="4069080"/>
          </a:xfrm>
          <a:prstGeom prst="roundRect">
            <a:avLst>
              <a:gd name="adj" fmla="val 2022"/>
            </a:avLst>
          </a:prstGeom>
          <a:solidFill>
            <a:srgbClr val="ECEAE4"/>
          </a:solidFill>
          <a:ln w="12700">
            <a:solidFill>
              <a:srgbClr val="ECEAE4"/>
            </a:solidFill>
            <a:prstDash val="solid"/>
          </a:ln>
        </p:spPr>
        <p:txBody>
          <a:bodyPr/>
          <a:p/>
        </p:txBody>
      </p:sp>
      <p:sp>
        <p:nvSpPr>
          <p:cNvPr id="9" name="Text 7"/>
          <p:cNvSpPr/>
          <p:nvPr/>
        </p:nvSpPr>
        <p:spPr>
          <a:xfrm>
            <a:off x="7543800" y="1783080"/>
            <a:ext cx="3794760" cy="4069080"/>
          </a:xfrm>
          <a:prstGeom prst="rect">
            <a:avLst/>
          </a:prstGeom>
          <a:noFill/>
          <a:ln/>
        </p:spPr>
        <p:txBody>
          <a:bodyPr wrap="square" lIns="0" tIns="0" rIns="0" bIns="0" rtlCol="0" anchor="ctr"/>
          <a:lstStyle/>
          <a:p>
            <a:pPr indent="0" marL="0">
              <a:spcAft>
                <a:spcPts val="800"/>
              </a:spcAft>
              <a:buNone/>
            </a:pPr>
            <a:r>
              <a:rPr lang="en-US" sz="1600" b="1" dirty="0">
                <a:solidFill>
                  <a:srgbClr val="B02532"/>
                </a:solidFill>
                <a:latin typeface="Palatino Linotype" pitchFamily="34" charset="0"/>
                <a:ea typeface="Palatino Linotype" pitchFamily="34" charset="-122"/>
                <a:cs typeface="Palatino Linotype" pitchFamily="34" charset="-120"/>
              </a:rPr>
              <a:t>Pentru Zimnicea</a:t>
            </a:r>
            <a:endParaRPr lang="en-US" sz="1600" dirty="0"/>
          </a:p>
          <a:p>
            <a:pPr indent="0" marL="0">
              <a:spcAft>
                <a:spcPts val="800"/>
              </a:spcAft>
              <a:buNone/>
            </a:pPr>
            <a:r>
              <a:rPr lang="en-US" sz="1700" dirty="0">
                <a:solidFill>
                  <a:srgbClr val="11121A"/>
                </a:solidFill>
                <a:latin typeface="Palatino Linotype" pitchFamily="34" charset="0"/>
                <a:ea typeface="Palatino Linotype" pitchFamily="34" charset="-122"/>
                <a:cs typeface="Palatino Linotype" pitchFamily="34" charset="-120"/>
              </a:rPr>
              <a:t>Controlul la distanță ajunge la pacienții care nu mai pot face drumul.</a:t>
            </a:r>
            <a:endParaRPr lang="en-US" sz="1600" dirty="0"/>
          </a:p>
          <a:p>
            <a:pPr indent="0" marL="0">
              <a:spcAft>
                <a:spcPts val="800"/>
              </a:spcAft>
              <a:buNone/>
            </a:pPr>
            <a:r>
              <a:rPr lang="en-US" sz="1500" i="1" dirty="0">
                <a:solidFill>
                  <a:srgbClr val="585A64"/>
                </a:solidFill>
                <a:latin typeface="Palatino Linotype" pitchFamily="34" charset="0"/>
                <a:ea typeface="Palatino Linotype" pitchFamily="34" charset="-122"/>
                <a:cs typeface="Palatino Linotype" pitchFamily="34" charset="-120"/>
              </a:rPr>
              <a:t>Și „legislativă și politică”: strategia e a Guvernului.</a:t>
            </a:r>
            <a:endParaRPr lang="en-US" sz="16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Surse: Strategia națională de sănătate; profilul de țară OCDE.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SEMNALUL 4 · CONCURENȚIAL · ARIA DE SERVICII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Patru spitale publice în județ</a:t>
            </a:r>
            <a:endParaRPr lang="en-US" sz="3200" dirty="0"/>
          </a:p>
        </p:txBody>
      </p:sp>
      <p:sp>
        <p:nvSpPr>
          <p:cNvPr id="4" name="Shape 2"/>
          <p:cNvSpPr/>
          <p:nvPr/>
        </p:nvSpPr>
        <p:spPr>
          <a:xfrm>
            <a:off x="594360" y="1783080"/>
            <a:ext cx="3383280" cy="2377440"/>
          </a:xfrm>
          <a:prstGeom prst="roundRect">
            <a:avLst>
              <a:gd name="adj" fmla="val 3462"/>
            </a:avLst>
          </a:prstGeom>
          <a:solidFill>
            <a:srgbClr val="1D1F2B"/>
          </a:solidFill>
          <a:ln w="12700">
            <a:solidFill>
              <a:srgbClr val="1D1F2B"/>
            </a:solidFill>
            <a:prstDash val="solid"/>
          </a:ln>
        </p:spPr>
        <p:txBody>
          <a:bodyPr/>
          <a:p/>
        </p:txBody>
      </p:sp>
      <p:sp>
        <p:nvSpPr>
          <p:cNvPr id="5" name="Text 3"/>
          <p:cNvSpPr/>
          <p:nvPr/>
        </p:nvSpPr>
        <p:spPr>
          <a:xfrm>
            <a:off x="868680" y="1892808"/>
            <a:ext cx="2834640" cy="1188720"/>
          </a:xfrm>
          <a:prstGeom prst="rect">
            <a:avLst/>
          </a:prstGeom>
          <a:noFill/>
          <a:ln/>
        </p:spPr>
        <p:txBody>
          <a:bodyPr wrap="square" lIns="0" tIns="0" rIns="0" bIns="0" rtlCol="0" anchor="ctr"/>
          <a:lstStyle/>
          <a:p>
            <a:pPr indent="0" marL="0">
              <a:buNone/>
            </a:pPr>
            <a:r>
              <a:rPr lang="en-US" sz="6600" b="1" dirty="0">
                <a:solidFill>
                  <a:srgbClr val="FF4757"/>
                </a:solidFill>
                <a:latin typeface="Palatino Linotype" pitchFamily="34" charset="0"/>
                <a:ea typeface="Palatino Linotype" pitchFamily="34" charset="-122"/>
                <a:cs typeface="Palatino Linotype" pitchFamily="34" charset="-120"/>
              </a:rPr>
              <a:t>0,93</a:t>
            </a:r>
            <a:endParaRPr lang="en-US" sz="6600" dirty="0"/>
          </a:p>
        </p:txBody>
      </p:sp>
      <p:sp>
        <p:nvSpPr>
          <p:cNvPr id="6" name="Text 4"/>
          <p:cNvSpPr/>
          <p:nvPr/>
        </p:nvSpPr>
        <p:spPr>
          <a:xfrm>
            <a:off x="868680" y="2990088"/>
            <a:ext cx="2834640" cy="1093622"/>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Zimnicea</a:t>
            </a:r>
            <a:endParaRPr lang="en-US" sz="1200" dirty="0"/>
          </a:p>
        </p:txBody>
      </p:sp>
      <p:sp>
        <p:nvSpPr>
          <p:cNvPr id="7" name="Shape 5"/>
          <p:cNvSpPr/>
          <p:nvPr/>
        </p:nvSpPr>
        <p:spPr>
          <a:xfrm>
            <a:off x="4206240" y="1783080"/>
            <a:ext cx="3383280" cy="2377440"/>
          </a:xfrm>
          <a:prstGeom prst="roundRect">
            <a:avLst>
              <a:gd name="adj" fmla="val 3462"/>
            </a:avLst>
          </a:prstGeom>
          <a:solidFill>
            <a:srgbClr val="1D1F2B"/>
          </a:solidFill>
          <a:ln w="12700">
            <a:solidFill>
              <a:srgbClr val="1D1F2B"/>
            </a:solidFill>
            <a:prstDash val="solid"/>
          </a:ln>
        </p:spPr>
        <p:txBody>
          <a:bodyPr/>
          <a:p/>
        </p:txBody>
      </p:sp>
      <p:sp>
        <p:nvSpPr>
          <p:cNvPr id="8" name="Text 6"/>
          <p:cNvSpPr/>
          <p:nvPr/>
        </p:nvSpPr>
        <p:spPr>
          <a:xfrm>
            <a:off x="4480560" y="1892808"/>
            <a:ext cx="2834640" cy="1188720"/>
          </a:xfrm>
          <a:prstGeom prst="rect">
            <a:avLst/>
          </a:prstGeom>
          <a:noFill/>
          <a:ln/>
        </p:spPr>
        <p:txBody>
          <a:bodyPr wrap="square" lIns="0" tIns="0" rIns="0" bIns="0" rtlCol="0" anchor="ctr"/>
          <a:lstStyle/>
          <a:p>
            <a:pPr indent="0" marL="0">
              <a:buNone/>
            </a:pPr>
            <a:r>
              <a:rPr lang="en-US" sz="6600" b="1" dirty="0">
                <a:solidFill>
                  <a:srgbClr val="27D3BE"/>
                </a:solidFill>
                <a:latin typeface="Palatino Linotype" pitchFamily="34" charset="0"/>
                <a:ea typeface="Palatino Linotype" pitchFamily="34" charset="-122"/>
                <a:cs typeface="Palatino Linotype" pitchFamily="34" charset="-120"/>
              </a:rPr>
              <a:t>1,34</a:t>
            </a:r>
            <a:endParaRPr lang="en-US" sz="6600" dirty="0"/>
          </a:p>
        </p:txBody>
      </p:sp>
      <p:sp>
        <p:nvSpPr>
          <p:cNvPr id="9" name="Text 7"/>
          <p:cNvSpPr/>
          <p:nvPr/>
        </p:nvSpPr>
        <p:spPr>
          <a:xfrm>
            <a:off x="4480560" y="2990088"/>
            <a:ext cx="2834640" cy="1093622"/>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spitalul județean din Alexandria</a:t>
            </a:r>
            <a:endParaRPr lang="en-US" sz="1200" dirty="0"/>
          </a:p>
        </p:txBody>
      </p:sp>
      <p:sp>
        <p:nvSpPr>
          <p:cNvPr id="10" name="Text 8"/>
          <p:cNvSpPr/>
          <p:nvPr/>
        </p:nvSpPr>
        <p:spPr>
          <a:xfrm>
            <a:off x="594360" y="4343400"/>
            <a:ext cx="6995160" cy="8229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indicele de complexitate a cazurilor, față de o valoare de referință</a:t>
            </a:r>
            <a:endParaRPr lang="en-US" sz="1500" dirty="0"/>
          </a:p>
        </p:txBody>
      </p:sp>
      <p:sp>
        <p:nvSpPr>
          <p:cNvPr id="11" name="Shape 9"/>
          <p:cNvSpPr/>
          <p:nvPr/>
        </p:nvSpPr>
        <p:spPr>
          <a:xfrm>
            <a:off x="7955280" y="1783080"/>
            <a:ext cx="3611880" cy="4023360"/>
          </a:xfrm>
          <a:prstGeom prst="roundRect">
            <a:avLst>
              <a:gd name="adj" fmla="val 2278"/>
            </a:avLst>
          </a:prstGeom>
          <a:solidFill>
            <a:srgbClr val="272A38"/>
          </a:solidFill>
          <a:ln w="12700">
            <a:solidFill>
              <a:srgbClr val="272A38"/>
            </a:solidFill>
            <a:prstDash val="solid"/>
          </a:ln>
        </p:spPr>
        <p:txBody>
          <a:bodyPr/>
          <a:p/>
        </p:txBody>
      </p:sp>
      <p:sp>
        <p:nvSpPr>
          <p:cNvPr id="12" name="Text 10"/>
          <p:cNvSpPr/>
          <p:nvPr/>
        </p:nvSpPr>
        <p:spPr>
          <a:xfrm>
            <a:off x="8229600" y="1783080"/>
            <a:ext cx="3154680" cy="4023360"/>
          </a:xfrm>
          <a:prstGeom prst="rect">
            <a:avLst/>
          </a:prstGeom>
          <a:noFill/>
          <a:ln/>
        </p:spPr>
        <p:txBody>
          <a:bodyPr wrap="square" lIns="0" tIns="0" rIns="0" bIns="0" rtlCol="0" anchor="ctr"/>
          <a:lstStyle/>
          <a:p>
            <a:pPr indent="0" marL="0">
              <a:spcAft>
                <a:spcPts val="800"/>
              </a:spcAft>
              <a:buNone/>
            </a:pPr>
            <a:r>
              <a:rPr lang="en-US" sz="1600" b="1" dirty="0">
                <a:solidFill>
                  <a:srgbClr val="FFC24B"/>
                </a:solidFill>
                <a:latin typeface="Palatino Linotype" pitchFamily="34" charset="0"/>
                <a:ea typeface="Palatino Linotype" pitchFamily="34" charset="-122"/>
                <a:cs typeface="Palatino Linotype" pitchFamily="34" charset="-120"/>
              </a:rPr>
              <a:t>Ce arată</a:t>
            </a:r>
            <a:endParaRPr lang="en-US" sz="1600" dirty="0"/>
          </a:p>
          <a:p>
            <a:pPr indent="0" marL="0">
              <a:spcAft>
                <a:spcPts val="800"/>
              </a:spcAft>
              <a:buNone/>
            </a:pPr>
            <a:r>
              <a:rPr lang="en-US" sz="1600" dirty="0">
                <a:solidFill>
                  <a:srgbClr val="FFFFFF"/>
                </a:solidFill>
                <a:latin typeface="Palatino Linotype" pitchFamily="34" charset="0"/>
                <a:ea typeface="Palatino Linotype" pitchFamily="34" charset="-122"/>
                <a:cs typeface="Palatino Linotype" pitchFamily="34" charset="-120"/>
              </a:rPr>
              <a:t>Zimnicea: complexitatea cea mai mică.</a:t>
            </a:r>
            <a:endParaRPr lang="en-US" sz="1600" dirty="0"/>
          </a:p>
          <a:p>
            <a:pPr indent="0" marL="0">
              <a:spcAft>
                <a:spcPts val="800"/>
              </a:spcAft>
              <a:buNone/>
            </a:pPr>
            <a:r>
              <a:rPr lang="en-US" sz="1600" b="1" dirty="0">
                <a:solidFill>
                  <a:srgbClr val="FFC24B"/>
                </a:solidFill>
                <a:latin typeface="Palatino Linotype" pitchFamily="34" charset="0"/>
                <a:ea typeface="Palatino Linotype" pitchFamily="34" charset="-122"/>
                <a:cs typeface="Palatino Linotype" pitchFamily="34" charset="-120"/>
              </a:rPr>
              <a:t>De ce concurențial</a:t>
            </a:r>
            <a:endParaRPr lang="en-US" sz="1600" dirty="0"/>
          </a:p>
          <a:p>
            <a:pPr indent="0" marL="0">
              <a:spcAft>
                <a:spcPts val="800"/>
              </a:spcAft>
              <a:buNone/>
            </a:pPr>
            <a:r>
              <a:rPr lang="en-US" sz="1600" dirty="0">
                <a:solidFill>
                  <a:srgbClr val="FFFFFF"/>
                </a:solidFill>
                <a:latin typeface="Palatino Linotype" pitchFamily="34" charset="0"/>
                <a:ea typeface="Palatino Linotype" pitchFamily="34" charset="-122"/>
                <a:cs typeface="Palatino Linotype" pitchFamily="34" charset="-120"/>
              </a:rPr>
              <a:t>Pacienții pot alege alt spital.</a:t>
            </a:r>
            <a:endParaRPr lang="en-US" sz="1600" dirty="0"/>
          </a:p>
        </p:txBody>
      </p:sp>
      <p:sp>
        <p:nvSpPr>
          <p:cNvPr id="13" name="Text 11"/>
          <p:cNvSpPr/>
          <p:nvPr/>
        </p:nvSpPr>
        <p:spPr>
          <a:xfrm>
            <a:off x="594360" y="5303520"/>
            <a:ext cx="704088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În detaliu, la seminarul al treilea.</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CNAS, aplicația „Performanță Spitale Publice”, date pentru 2025.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ZIMNICEA, PE SCURT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Cinci categorii, cinci semnale verificate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737360"/>
          <a:ext cx="10972800" cy="914400"/>
        </p:xfrm>
        <a:graphic>
          <a:graphicData uri="http://schemas.openxmlformats.org/drawingml/2006/table">
            <a:tbl>
              <a:tblPr/>
              <a:tblGrid>
                <a:gridCol w="2468880"/>
                <a:gridCol w="6035040"/>
                <a:gridCol w="2468880"/>
              </a:tblGrid>
              <a:tr h="566928">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Categoria</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11121A"/>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Semnalul</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11121A"/>
                    </a:solidFill>
                  </a:tcPr>
                </a:tc>
                <a:tc>
                  <a:txBody>
                    <a:bodyPr/>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Stratul</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11121A"/>
                    </a:solidFill>
                  </a:tcPr>
                </a:tc>
              </a:tr>
              <a:tr h="566928">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Socială și demografică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populația: 13,4% mai puțin; vârstnicii: 26,6%</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aria de servicii</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566928">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Economică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internările: 41%; ambulatoriul: 20%</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sistemul</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566928">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Legislativă și politică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planul pornește de la nevoile populației</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sistemul</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r h="566928">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Tehnologică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telemedicina, propusă, puțin folosită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sistemul</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F9F8F5"/>
                    </a:solidFill>
                  </a:tcPr>
                </a:tc>
              </a:tr>
              <a:tr h="566928">
                <a:tc>
                  <a:txBody>
                    <a:bodyP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Concurențială</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patru spitale; Zimnicea, cazurile cele mai simple</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c>
                  <a:txBody>
                    <a:bodyP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aria de servicii</a:t>
                      </a:r>
                      <a:endParaRPr lang="en-US" sz="1400" dirty="0">
                        <a:latin typeface="Palatino Linotype" charset="0"/>
                        <a:ea typeface="Palatino Linotype" charset="0"/>
                        <a:cs typeface="Palatino Linotype" charset="0"/>
                      </a:endParaRPr>
                    </a:p>
                  </a:txBody>
                  <a:tcPr marL="76200" marR="76200" marT="38100" marB="38100" anchor="ctr">
                    <a:lnL w="9525" cap="flat" cmpd="sng" algn="ctr">
                      <a:solidFill>
                        <a:srgbClr val="C9C6BE"/>
                      </a:solidFill>
                      <a:prstDash val="solid"/>
                      <a:round/>
                      <a:headEnd type="none" w="med" len="med"/>
                      <a:tailEnd type="none" w="med" len="med"/>
                    </a:lnL>
                    <a:lnR w="9525" cap="flat" cmpd="sng" algn="ctr">
                      <a:solidFill>
                        <a:srgbClr val="C9C6BE"/>
                      </a:solidFill>
                      <a:prstDash val="solid"/>
                      <a:round/>
                      <a:headEnd type="none" w="med" len="med"/>
                      <a:tailEnd type="none" w="med" len="med"/>
                    </a:lnR>
                    <a:lnT w="9525" cap="flat" cmpd="sng" algn="ctr">
                      <a:solidFill>
                        <a:srgbClr val="C9C6BE"/>
                      </a:solidFill>
                      <a:prstDash val="solid"/>
                      <a:round/>
                      <a:headEnd type="none" w="med" len="med"/>
                      <a:tailEnd type="none" w="med" len="med"/>
                    </a:lnT>
                    <a:lnB w="9525" cap="flat" cmpd="sng" algn="ctr">
                      <a:solidFill>
                        <a:srgbClr val="C9C6BE"/>
                      </a:solidFill>
                      <a:prstDash val="solid"/>
                      <a:round/>
                      <a:headEnd type="none" w="med" len="med"/>
                      <a:tailEnd type="none" w="med" len="med"/>
                    </a:lnB>
                    <a:solidFill>
                      <a:srgbClr val="ECEAE4"/>
                    </a:solidFill>
                  </a:tcPr>
                </a:tc>
              </a:tr>
            </a:tbl>
          </a:graphicData>
        </a:graphic>
      </p:graphicFrame>
      <p:sp>
        <p:nvSpPr>
          <p:cNvPr id="5" name="Text 2"/>
          <p:cNvSpPr/>
          <p:nvPr/>
        </p:nvSpPr>
        <p:spPr>
          <a:xfrm>
            <a:off x="594360" y="5257800"/>
            <a:ext cx="10972800" cy="7315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Tabelul nu este încă o analiză: o listă de semnale verificate.</a:t>
            </a:r>
            <a:endParaRPr lang="en-US" sz="1700" dirty="0"/>
          </a:p>
        </p:txBody>
      </p:sp>
      <p:sp>
        <p:nvSpPr>
          <p:cNvPr id="6" name="Text 3"/>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Surse: Eurostat; OCDE; ordinul ministrului; Strategia națională; CNAS.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TERMENUL 2 DIN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Fișa problemei externe: cinci elemente</a:t>
            </a:r>
            <a:endParaRPr lang="en-US" sz="3200" dirty="0"/>
          </a:p>
        </p:txBody>
      </p:sp>
      <p:sp>
        <p:nvSpPr>
          <p:cNvPr id="4" name="Shape 2"/>
          <p:cNvSpPr/>
          <p:nvPr/>
        </p:nvSpPr>
        <p:spPr>
          <a:xfrm>
            <a:off x="594360" y="1691640"/>
            <a:ext cx="6949440" cy="640080"/>
          </a:xfrm>
          <a:prstGeom prst="roundRect">
            <a:avLst>
              <a:gd name="adj" fmla="val 12857"/>
            </a:avLst>
          </a:prstGeom>
          <a:solidFill>
            <a:srgbClr val="1D1F2B"/>
          </a:solidFill>
          <a:ln w="12700">
            <a:solidFill>
              <a:srgbClr val="1D1F2B"/>
            </a:solidFill>
            <a:prstDash val="solid"/>
          </a:ln>
        </p:spPr>
        <p:txBody>
          <a:bodyPr/>
          <a:p/>
        </p:txBody>
      </p:sp>
      <p:sp>
        <p:nvSpPr>
          <p:cNvPr id="5" name="Shape 3"/>
          <p:cNvSpPr/>
          <p:nvPr/>
        </p:nvSpPr>
        <p:spPr>
          <a:xfrm>
            <a:off x="868680" y="1801368"/>
            <a:ext cx="420624" cy="420624"/>
          </a:xfrm>
          <a:prstGeom prst="ellipse">
            <a:avLst/>
          </a:prstGeom>
          <a:solidFill>
            <a:srgbClr val="FFC24B"/>
          </a:solidFill>
          <a:ln/>
        </p:spPr>
        <p:txBody>
          <a:bodyPr/>
          <a:p/>
        </p:txBody>
      </p:sp>
      <p:sp>
        <p:nvSpPr>
          <p:cNvPr id="6" name="Text 4"/>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91640"/>
            <a:ext cx="580644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Formularea, într-una sau două propoziții, fără soluție</a:t>
            </a:r>
            <a:endParaRPr lang="en-US" sz="1700" dirty="0"/>
          </a:p>
        </p:txBody>
      </p:sp>
      <p:sp>
        <p:nvSpPr>
          <p:cNvPr id="8" name="Shape 6"/>
          <p:cNvSpPr/>
          <p:nvPr/>
        </p:nvSpPr>
        <p:spPr>
          <a:xfrm>
            <a:off x="594360" y="2441448"/>
            <a:ext cx="6949440" cy="640080"/>
          </a:xfrm>
          <a:prstGeom prst="roundRect">
            <a:avLst>
              <a:gd name="adj" fmla="val 12857"/>
            </a:avLst>
          </a:prstGeom>
          <a:solidFill>
            <a:srgbClr val="1D1F2B"/>
          </a:solidFill>
          <a:ln w="12700">
            <a:solidFill>
              <a:srgbClr val="1D1F2B"/>
            </a:solidFill>
            <a:prstDash val="solid"/>
          </a:ln>
        </p:spPr>
        <p:txBody>
          <a:bodyPr/>
          <a:p/>
        </p:txBody>
      </p:sp>
      <p:sp>
        <p:nvSpPr>
          <p:cNvPr id="9" name="Shape 7"/>
          <p:cNvSpPr/>
          <p:nvPr/>
        </p:nvSpPr>
        <p:spPr>
          <a:xfrm>
            <a:off x="868680" y="2551176"/>
            <a:ext cx="420624" cy="420624"/>
          </a:xfrm>
          <a:prstGeom prst="ellipse">
            <a:avLst/>
          </a:prstGeom>
          <a:solidFill>
            <a:srgbClr val="FFC24B"/>
          </a:solidFill>
          <a:ln/>
        </p:spPr>
        <p:txBody>
          <a:bodyPr/>
          <a:p/>
        </p:txBody>
      </p:sp>
      <p:sp>
        <p:nvSpPr>
          <p:cNvPr id="10" name="Text 8"/>
          <p:cNvSpPr/>
          <p:nvPr/>
        </p:nvSpPr>
        <p:spPr>
          <a:xfrm>
            <a:off x="868680" y="25511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41448"/>
            <a:ext cx="580644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Dovezile, cu sursa și anul de referință</a:t>
            </a:r>
            <a:endParaRPr lang="en-US" sz="1700" dirty="0"/>
          </a:p>
        </p:txBody>
      </p:sp>
      <p:sp>
        <p:nvSpPr>
          <p:cNvPr id="12" name="Shape 10"/>
          <p:cNvSpPr/>
          <p:nvPr/>
        </p:nvSpPr>
        <p:spPr>
          <a:xfrm>
            <a:off x="594360" y="3191256"/>
            <a:ext cx="6949440" cy="640080"/>
          </a:xfrm>
          <a:prstGeom prst="roundRect">
            <a:avLst>
              <a:gd name="adj" fmla="val 12857"/>
            </a:avLst>
          </a:prstGeom>
          <a:solidFill>
            <a:srgbClr val="1D1F2B"/>
          </a:solidFill>
          <a:ln w="12700">
            <a:solidFill>
              <a:srgbClr val="1D1F2B"/>
            </a:solidFill>
            <a:prstDash val="solid"/>
          </a:ln>
        </p:spPr>
        <p:txBody>
          <a:bodyPr/>
          <a:p/>
        </p:txBody>
      </p:sp>
      <p:sp>
        <p:nvSpPr>
          <p:cNvPr id="13" name="Shape 11"/>
          <p:cNvSpPr/>
          <p:nvPr/>
        </p:nvSpPr>
        <p:spPr>
          <a:xfrm>
            <a:off x="868680" y="3300984"/>
            <a:ext cx="420624" cy="420624"/>
          </a:xfrm>
          <a:prstGeom prst="ellipse">
            <a:avLst/>
          </a:prstGeom>
          <a:solidFill>
            <a:srgbClr val="FFC24B"/>
          </a:solidFill>
          <a:ln/>
        </p:spPr>
        <p:txBody>
          <a:bodyPr/>
          <a:p/>
        </p:txBody>
      </p:sp>
      <p:sp>
        <p:nvSpPr>
          <p:cNvPr id="14" name="Text 12"/>
          <p:cNvSpPr/>
          <p:nvPr/>
        </p:nvSpPr>
        <p:spPr>
          <a:xfrm>
            <a:off x="868680" y="33009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191256"/>
            <a:ext cx="580644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Implicațiile pentru organizație, nu pentru lume în general</a:t>
            </a:r>
            <a:endParaRPr lang="en-US" sz="1700" dirty="0"/>
          </a:p>
        </p:txBody>
      </p:sp>
      <p:sp>
        <p:nvSpPr>
          <p:cNvPr id="16" name="Shape 14"/>
          <p:cNvSpPr/>
          <p:nvPr/>
        </p:nvSpPr>
        <p:spPr>
          <a:xfrm>
            <a:off x="594360" y="3941064"/>
            <a:ext cx="6949440" cy="640080"/>
          </a:xfrm>
          <a:prstGeom prst="roundRect">
            <a:avLst>
              <a:gd name="adj" fmla="val 12857"/>
            </a:avLst>
          </a:prstGeom>
          <a:solidFill>
            <a:srgbClr val="1D1F2B"/>
          </a:solidFill>
          <a:ln w="12700">
            <a:solidFill>
              <a:srgbClr val="1D1F2B"/>
            </a:solidFill>
            <a:prstDash val="solid"/>
          </a:ln>
        </p:spPr>
        <p:txBody>
          <a:bodyPr/>
          <a:p/>
        </p:txBody>
      </p:sp>
      <p:sp>
        <p:nvSpPr>
          <p:cNvPr id="17" name="Shape 15"/>
          <p:cNvSpPr/>
          <p:nvPr/>
        </p:nvSpPr>
        <p:spPr>
          <a:xfrm>
            <a:off x="868680" y="4050792"/>
            <a:ext cx="420624" cy="420624"/>
          </a:xfrm>
          <a:prstGeom prst="ellipse">
            <a:avLst/>
          </a:prstGeom>
          <a:solidFill>
            <a:srgbClr val="FFC24B"/>
          </a:solidFill>
          <a:ln/>
        </p:spPr>
        <p:txBody>
          <a:bodyPr/>
          <a:p/>
        </p:txBody>
      </p:sp>
      <p:sp>
        <p:nvSpPr>
          <p:cNvPr id="18" name="Text 16"/>
          <p:cNvSpPr/>
          <p:nvPr/>
        </p:nvSpPr>
        <p:spPr>
          <a:xfrm>
            <a:off x="868680" y="4050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941064"/>
            <a:ext cx="580644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Aprecierea impactului și a probabilității</a:t>
            </a:r>
            <a:endParaRPr lang="en-US" sz="1700" dirty="0"/>
          </a:p>
        </p:txBody>
      </p:sp>
      <p:sp>
        <p:nvSpPr>
          <p:cNvPr id="20" name="Shape 18"/>
          <p:cNvSpPr/>
          <p:nvPr/>
        </p:nvSpPr>
        <p:spPr>
          <a:xfrm>
            <a:off x="594360" y="4690872"/>
            <a:ext cx="6949440" cy="640080"/>
          </a:xfrm>
          <a:prstGeom prst="roundRect">
            <a:avLst>
              <a:gd name="adj" fmla="val 12857"/>
            </a:avLst>
          </a:prstGeom>
          <a:solidFill>
            <a:srgbClr val="1D1F2B"/>
          </a:solidFill>
          <a:ln w="12700">
            <a:solidFill>
              <a:srgbClr val="1D1F2B"/>
            </a:solidFill>
            <a:prstDash val="solid"/>
          </a:ln>
        </p:spPr>
        <p:txBody>
          <a:bodyPr/>
          <a:p/>
        </p:txBody>
      </p:sp>
      <p:sp>
        <p:nvSpPr>
          <p:cNvPr id="21" name="Shape 19"/>
          <p:cNvSpPr/>
          <p:nvPr/>
        </p:nvSpPr>
        <p:spPr>
          <a:xfrm>
            <a:off x="868680" y="4800600"/>
            <a:ext cx="420624" cy="420624"/>
          </a:xfrm>
          <a:prstGeom prst="ellipse">
            <a:avLst/>
          </a:prstGeom>
          <a:solidFill>
            <a:srgbClr val="FFC24B"/>
          </a:solidFill>
          <a:ln/>
        </p:spPr>
        <p:txBody>
          <a:bodyPr/>
          <a:p/>
        </p:txBody>
      </p:sp>
      <p:sp>
        <p:nvSpPr>
          <p:cNvPr id="22" name="Text 20"/>
          <p:cNvSpPr/>
          <p:nvPr/>
        </p:nvSpPr>
        <p:spPr>
          <a:xfrm>
            <a:off x="86868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690872"/>
            <a:ext cx="580644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Semnul după care v-ați schimba concluzia</a:t>
            </a:r>
            <a:endParaRPr lang="en-US" sz="1700" dirty="0"/>
          </a:p>
        </p:txBody>
      </p:sp>
      <p:sp>
        <p:nvSpPr>
          <p:cNvPr id="24" name="Shape 22"/>
          <p:cNvSpPr/>
          <p:nvPr/>
        </p:nvSpPr>
        <p:spPr>
          <a:xfrm>
            <a:off x="7863840" y="1691640"/>
            <a:ext cx="3703320" cy="3657600"/>
          </a:xfrm>
          <a:prstGeom prst="roundRect">
            <a:avLst>
              <a:gd name="adj" fmla="val 2250"/>
            </a:avLst>
          </a:prstGeom>
          <a:solidFill>
            <a:srgbClr val="272A38"/>
          </a:solidFill>
          <a:ln w="12700">
            <a:solidFill>
              <a:srgbClr val="272A38"/>
            </a:solidFill>
            <a:prstDash val="solid"/>
          </a:ln>
        </p:spPr>
        <p:txBody>
          <a:bodyPr/>
          <a:p/>
        </p:txBody>
      </p:sp>
      <p:sp>
        <p:nvSpPr>
          <p:cNvPr id="25" name="Text 23"/>
          <p:cNvSpPr/>
          <p:nvPr/>
        </p:nvSpPr>
        <p:spPr>
          <a:xfrm>
            <a:off x="8138160" y="1691640"/>
            <a:ext cx="3200400" cy="3657600"/>
          </a:xfrm>
          <a:prstGeom prst="rect">
            <a:avLst/>
          </a:prstGeom>
          <a:noFill/>
          <a:ln/>
        </p:spPr>
        <p:txBody>
          <a:bodyPr wrap="square" lIns="0" tIns="0" rIns="0" bIns="0" rtlCol="0" anchor="ctr"/>
          <a:lstStyle/>
          <a:p>
            <a:pPr indent="0" marL="0">
              <a:spcAft>
                <a:spcPts val="800"/>
              </a:spcAft>
              <a:buNone/>
            </a:pPr>
            <a:r>
              <a:rPr lang="en-US" sz="1500" b="1" dirty="0">
                <a:solidFill>
                  <a:srgbClr val="FFC24B"/>
                </a:solidFill>
                <a:latin typeface="Palatino Linotype" pitchFamily="34" charset="0"/>
                <a:ea typeface="Palatino Linotype" pitchFamily="34" charset="-122"/>
                <a:cs typeface="Palatino Linotype" pitchFamily="34" charset="-120"/>
              </a:rPr>
              <a:t>În limbaj de zi cu zi</a:t>
            </a:r>
            <a:endParaRPr lang="en-US" sz="1500" dirty="0"/>
          </a:p>
          <a:p>
            <a:pPr indent="0" marL="0">
              <a:spcAft>
                <a:spcPts val="800"/>
              </a:spcAft>
              <a:buNone/>
            </a:pPr>
            <a:r>
              <a:rPr lang="en-US" sz="1900" dirty="0">
                <a:solidFill>
                  <a:srgbClr val="FFFFFF"/>
                </a:solidFill>
                <a:latin typeface="Palatino Linotype" pitchFamily="34" charset="0"/>
                <a:ea typeface="Palatino Linotype" pitchFamily="34" charset="-122"/>
                <a:cs typeface="Palatino Linotype" pitchFamily="34" charset="-120"/>
              </a:rPr>
              <a:t>o pagină pe care un coleg o poate verifica singur</a:t>
            </a:r>
            <a:endParaRPr lang="en-US" sz="1500" dirty="0"/>
          </a:p>
        </p:txBody>
      </p:sp>
      <p:sp>
        <p:nvSpPr>
          <p:cNvPr id="26" name="Text 24"/>
          <p:cNvSpPr/>
          <p:nvPr/>
        </p:nvSpPr>
        <p:spPr>
          <a:xfrm>
            <a:off x="594360" y="5532120"/>
            <a:ext cx="10972800" cy="54864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„Populația scade” este o problemă. „Închidem o secție” este o soluție.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EXEMPLU CU VALORI REALE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Fișa problemei: populația din jurul spitalului</a:t>
            </a:r>
            <a:endParaRPr lang="en-US" sz="3000" dirty="0"/>
          </a:p>
        </p:txBody>
      </p:sp>
      <p:sp>
        <p:nvSpPr>
          <p:cNvPr id="4" name="Shape 2"/>
          <p:cNvSpPr/>
          <p:nvPr/>
        </p:nvSpPr>
        <p:spPr>
          <a:xfrm>
            <a:off x="594360" y="169164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5" name="Text 3"/>
          <p:cNvSpPr/>
          <p:nvPr/>
        </p:nvSpPr>
        <p:spPr>
          <a:xfrm>
            <a:off x="822960" y="1691640"/>
            <a:ext cx="1920240" cy="804672"/>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Formularea</a:t>
            </a:r>
            <a:endParaRPr lang="en-US" sz="1500" dirty="0"/>
          </a:p>
        </p:txBody>
      </p:sp>
      <p:sp>
        <p:nvSpPr>
          <p:cNvPr id="6" name="Text 4"/>
          <p:cNvSpPr/>
          <p:nvPr/>
        </p:nvSpPr>
        <p:spPr>
          <a:xfrm>
            <a:off x="2788920" y="1691640"/>
            <a:ext cx="8595360" cy="804672"/>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Populația scade în fiecare an; vârstnicii, mult peste media țării, deși cresc mai încet.</a:t>
            </a:r>
            <a:endParaRPr lang="en-US" sz="1400" dirty="0"/>
          </a:p>
        </p:txBody>
      </p:sp>
      <p:sp>
        <p:nvSpPr>
          <p:cNvPr id="7" name="Shape 5"/>
          <p:cNvSpPr/>
          <p:nvPr/>
        </p:nvSpPr>
        <p:spPr>
          <a:xfrm>
            <a:off x="594360" y="2578608"/>
            <a:ext cx="10972800" cy="804672"/>
          </a:xfrm>
          <a:prstGeom prst="roundRect">
            <a:avLst>
              <a:gd name="adj" fmla="val 10227"/>
            </a:avLst>
          </a:prstGeom>
          <a:solidFill>
            <a:srgbClr val="F9F8F5"/>
          </a:solidFill>
          <a:ln w="12700">
            <a:solidFill>
              <a:srgbClr val="F9F8F5"/>
            </a:solidFill>
            <a:prstDash val="solid"/>
          </a:ln>
        </p:spPr>
        <p:txBody>
          <a:bodyPr/>
          <a:p/>
        </p:txBody>
      </p:sp>
      <p:sp>
        <p:nvSpPr>
          <p:cNvPr id="8" name="Text 6"/>
          <p:cNvSpPr/>
          <p:nvPr/>
        </p:nvSpPr>
        <p:spPr>
          <a:xfrm>
            <a:off x="822960" y="2578608"/>
            <a:ext cx="1920240" cy="804672"/>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Dovezile</a:t>
            </a:r>
            <a:endParaRPr lang="en-US" sz="1500" dirty="0"/>
          </a:p>
        </p:txBody>
      </p:sp>
      <p:sp>
        <p:nvSpPr>
          <p:cNvPr id="9" name="Text 7"/>
          <p:cNvSpPr/>
          <p:nvPr/>
        </p:nvSpPr>
        <p:spPr>
          <a:xfrm>
            <a:off x="2788920" y="2578608"/>
            <a:ext cx="8595360" cy="804672"/>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361 479 → 313 033 de locuitori; vârstnicii 24,6% → 26,6% (+2,0 puncte; țara: +3,3).</a:t>
            </a:r>
            <a:endParaRPr lang="en-US" sz="1400" dirty="0"/>
          </a:p>
        </p:txBody>
      </p:sp>
      <p:sp>
        <p:nvSpPr>
          <p:cNvPr id="10" name="Shape 8"/>
          <p:cNvSpPr/>
          <p:nvPr/>
        </p:nvSpPr>
        <p:spPr>
          <a:xfrm>
            <a:off x="594360" y="3465576"/>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1" name="Text 9"/>
          <p:cNvSpPr/>
          <p:nvPr/>
        </p:nvSpPr>
        <p:spPr>
          <a:xfrm>
            <a:off x="822960" y="3465576"/>
            <a:ext cx="1920240" cy="804672"/>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Implicațiile</a:t>
            </a:r>
            <a:endParaRPr lang="en-US" sz="1500" dirty="0"/>
          </a:p>
        </p:txBody>
      </p:sp>
      <p:sp>
        <p:nvSpPr>
          <p:cNvPr id="12" name="Text 10"/>
          <p:cNvSpPr/>
          <p:nvPr/>
        </p:nvSpPr>
        <p:spPr>
          <a:xfrm>
            <a:off x="2788920" y="3465576"/>
            <a:ext cx="8595360" cy="804672"/>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Probabil mai mulți vârstnici cu boli cronice; serviciile pentru copii, dacă există, mai puțini pacienți.</a:t>
            </a:r>
            <a:endParaRPr lang="en-US" sz="1400" dirty="0"/>
          </a:p>
        </p:txBody>
      </p:sp>
      <p:sp>
        <p:nvSpPr>
          <p:cNvPr id="13" name="Shape 11"/>
          <p:cNvSpPr/>
          <p:nvPr/>
        </p:nvSpPr>
        <p:spPr>
          <a:xfrm>
            <a:off x="594360" y="4352544"/>
            <a:ext cx="10972800" cy="804672"/>
          </a:xfrm>
          <a:prstGeom prst="roundRect">
            <a:avLst>
              <a:gd name="adj" fmla="val 10227"/>
            </a:avLst>
          </a:prstGeom>
          <a:solidFill>
            <a:srgbClr val="F9F8F5"/>
          </a:solidFill>
          <a:ln w="12700">
            <a:solidFill>
              <a:srgbClr val="F9F8F5"/>
            </a:solidFill>
            <a:prstDash val="solid"/>
          </a:ln>
        </p:spPr>
        <p:txBody>
          <a:bodyPr/>
          <a:p/>
        </p:txBody>
      </p:sp>
      <p:sp>
        <p:nvSpPr>
          <p:cNvPr id="14" name="Text 12"/>
          <p:cNvSpPr/>
          <p:nvPr/>
        </p:nvSpPr>
        <p:spPr>
          <a:xfrm>
            <a:off x="822960" y="4352544"/>
            <a:ext cx="1920240" cy="804672"/>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Aprecierea</a:t>
            </a:r>
            <a:endParaRPr lang="en-US" sz="1500" dirty="0"/>
          </a:p>
        </p:txBody>
      </p:sp>
      <p:sp>
        <p:nvSpPr>
          <p:cNvPr id="15" name="Text 13"/>
          <p:cNvSpPr/>
          <p:nvPr/>
        </p:nvSpPr>
        <p:spPr>
          <a:xfrm>
            <a:off x="2788920" y="4352544"/>
            <a:ext cx="8595360" cy="804672"/>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Impact mare; probabilitate mare.</a:t>
            </a:r>
            <a:endParaRPr lang="en-US" sz="1400" dirty="0"/>
          </a:p>
        </p:txBody>
      </p:sp>
      <p:sp>
        <p:nvSpPr>
          <p:cNvPr id="16" name="Shape 14"/>
          <p:cNvSpPr/>
          <p:nvPr/>
        </p:nvSpPr>
        <p:spPr>
          <a:xfrm>
            <a:off x="594360" y="5239512"/>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7" name="Text 15"/>
          <p:cNvSpPr/>
          <p:nvPr/>
        </p:nvSpPr>
        <p:spPr>
          <a:xfrm>
            <a:off x="822960" y="5239512"/>
            <a:ext cx="1920240" cy="804672"/>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Semnul</a:t>
            </a:r>
            <a:endParaRPr lang="en-US" sz="1500" dirty="0"/>
          </a:p>
        </p:txBody>
      </p:sp>
      <p:sp>
        <p:nvSpPr>
          <p:cNvPr id="18" name="Text 16"/>
          <p:cNvSpPr/>
          <p:nvPr/>
        </p:nvSpPr>
        <p:spPr>
          <a:xfrm>
            <a:off x="2788920" y="5239512"/>
            <a:ext cx="8595360" cy="804672"/>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Localitățile nu urmează județul sau cazurile spitalului cresc.</a:t>
            </a:r>
            <a:endParaRPr lang="en-US" sz="14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valorile recente sunt estimări.</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ÎN ECHIPĂ · FORMULAR</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PRIMA PROBLEMĂ, ÎN SALĂ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Scrieți prima fișă a echipei</a:t>
            </a:r>
            <a:endParaRPr lang="en-US" sz="3200" dirty="0"/>
          </a:p>
        </p:txBody>
      </p:sp>
      <p:sp>
        <p:nvSpPr>
          <p:cNvPr id="6" name="Shape 4"/>
          <p:cNvSpPr/>
          <p:nvPr/>
        </p:nvSpPr>
        <p:spPr>
          <a:xfrm>
            <a:off x="594360" y="169164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68680" y="1856232"/>
            <a:ext cx="420624" cy="420624"/>
          </a:xfrm>
          <a:prstGeom prst="ellipse">
            <a:avLst/>
          </a:prstGeom>
          <a:solidFill>
            <a:srgbClr val="27D3BE"/>
          </a:solidFill>
          <a:ln/>
        </p:spPr>
        <p:txBody>
          <a:bodyPr/>
          <a:p/>
        </p:txBody>
      </p:sp>
      <p:sp>
        <p:nvSpPr>
          <p:cNvPr id="8" name="Text 6"/>
          <p:cNvSpPr/>
          <p:nvPr/>
        </p:nvSpPr>
        <p:spPr>
          <a:xfrm>
            <a:off x="868680" y="1856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91640"/>
            <a:ext cx="5943600" cy="74980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Fiecare membru spune schimbarea găsită înainte de seminar, cu sursa ei.</a:t>
            </a:r>
            <a:endParaRPr lang="en-US" sz="1600" dirty="0"/>
          </a:p>
        </p:txBody>
      </p:sp>
      <p:sp>
        <p:nvSpPr>
          <p:cNvPr id="10" name="Shape 8"/>
          <p:cNvSpPr/>
          <p:nvPr/>
        </p:nvSpPr>
        <p:spPr>
          <a:xfrm>
            <a:off x="594360" y="256032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68680" y="2724912"/>
            <a:ext cx="420624" cy="420624"/>
          </a:xfrm>
          <a:prstGeom prst="ellipse">
            <a:avLst/>
          </a:prstGeom>
          <a:solidFill>
            <a:srgbClr val="27D3BE"/>
          </a:solidFill>
          <a:ln/>
        </p:spPr>
        <p:txBody>
          <a:bodyPr/>
          <a:p/>
        </p:txBody>
      </p:sp>
      <p:sp>
        <p:nvSpPr>
          <p:cNvPr id="12" name="Text 10"/>
          <p:cNvSpPr/>
          <p:nvPr/>
        </p:nvSpPr>
        <p:spPr>
          <a:xfrm>
            <a:off x="868680" y="2724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560320"/>
            <a:ext cx="5943600" cy="74980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Echipa alege una singură, cea mai bine documentată.</a:t>
            </a:r>
            <a:endParaRPr lang="en-US" sz="1600" dirty="0"/>
          </a:p>
        </p:txBody>
      </p:sp>
      <p:sp>
        <p:nvSpPr>
          <p:cNvPr id="14" name="Shape 12"/>
          <p:cNvSpPr/>
          <p:nvPr/>
        </p:nvSpPr>
        <p:spPr>
          <a:xfrm>
            <a:off x="594360" y="342900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68680" y="3593592"/>
            <a:ext cx="420624" cy="420624"/>
          </a:xfrm>
          <a:prstGeom prst="ellipse">
            <a:avLst/>
          </a:prstGeom>
          <a:solidFill>
            <a:srgbClr val="27D3BE"/>
          </a:solidFill>
          <a:ln/>
        </p:spPr>
        <p:txBody>
          <a:bodyPr/>
          <a:p/>
        </p:txBody>
      </p:sp>
      <p:sp>
        <p:nvSpPr>
          <p:cNvPr id="16" name="Text 14"/>
          <p:cNvSpPr/>
          <p:nvPr/>
        </p:nvSpPr>
        <p:spPr>
          <a:xfrm>
            <a:off x="868680" y="35935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429000"/>
            <a:ext cx="5943600" cy="74980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Coordonatorul deschide formularul „Analiza externă” și alege „Prima problemă, în sală”.</a:t>
            </a:r>
            <a:endParaRPr lang="en-US" sz="1600" dirty="0"/>
          </a:p>
        </p:txBody>
      </p:sp>
      <p:sp>
        <p:nvSpPr>
          <p:cNvPr id="18" name="Shape 16"/>
          <p:cNvSpPr/>
          <p:nvPr/>
        </p:nvSpPr>
        <p:spPr>
          <a:xfrm>
            <a:off x="594360" y="4297680"/>
            <a:ext cx="708660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868680" y="4462272"/>
            <a:ext cx="420624" cy="420624"/>
          </a:xfrm>
          <a:prstGeom prst="ellipse">
            <a:avLst/>
          </a:prstGeom>
          <a:solidFill>
            <a:srgbClr val="27D3BE"/>
          </a:solidFill>
          <a:ln/>
        </p:spPr>
        <p:txBody>
          <a:bodyPr/>
          <a:p/>
        </p:txBody>
      </p:sp>
      <p:sp>
        <p:nvSpPr>
          <p:cNvPr id="20" name="Text 18"/>
          <p:cNvSpPr/>
          <p:nvPr/>
        </p:nvSpPr>
        <p:spPr>
          <a:xfrm>
            <a:off x="868680" y="4462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297680"/>
            <a:ext cx="5943600" cy="74980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Trece fișa, în cele cinci elemente.</a:t>
            </a:r>
            <a:endParaRPr lang="en-US" sz="1600" dirty="0"/>
          </a:p>
        </p:txBody>
      </p:sp>
      <p:sp>
        <p:nvSpPr>
          <p:cNvPr id="22" name="Shape 20"/>
          <p:cNvSpPr/>
          <p:nvPr/>
        </p:nvSpPr>
        <p:spPr>
          <a:xfrm>
            <a:off x="8001000" y="1691640"/>
            <a:ext cx="3566160" cy="3200400"/>
          </a:xfrm>
          <a:prstGeom prst="roundRect">
            <a:avLst>
              <a:gd name="adj" fmla="val 2857"/>
            </a:avLst>
          </a:prstGeom>
          <a:solidFill>
            <a:srgbClr val="FFFFFF"/>
          </a:solidFill>
          <a:ln w="19050">
            <a:solidFill>
              <a:srgbClr val="8E94A8"/>
            </a:solidFill>
            <a:prstDash val="dash"/>
          </a:ln>
        </p:spPr>
        <p:txBody>
          <a:bodyPr/>
          <a:p/>
        </p:txBody>
      </p:sp>
      <p:sp>
        <p:nvSpPr>
          <p:cNvPr id="23" name="Text 21"/>
          <p:cNvSpPr/>
          <p:nvPr/>
        </p:nvSpPr>
        <p:spPr>
          <a:xfrm>
            <a:off x="8183880" y="1691640"/>
            <a:ext cx="3200400" cy="3200400"/>
          </a:xfrm>
          <a:prstGeom prst="rect">
            <a:avLst/>
          </a:prstGeom>
          <a:noFill/>
          <a:ln/>
        </p:spPr>
        <p:txBody>
          <a:bodyPr wrap="square" lIns="0" tIns="0" rIns="0" bIns="0" rtlCol="0" anchor="ct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[cod QR]</a:t>
            </a:r>
            <a:endParaRPr lang="en-US" sz="2200" dirty="0"/>
          </a:p>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Analiza externă</a:t>
            </a:r>
            <a:endParaRPr lang="en-US" sz="2200" dirty="0"/>
          </a:p>
        </p:txBody>
      </p:sp>
      <p:sp>
        <p:nvSpPr>
          <p:cNvPr id="24" name="Text 22"/>
          <p:cNvSpPr/>
          <p:nvPr/>
        </p:nvSpPr>
        <p:spPr>
          <a:xfrm>
            <a:off x="594360" y="5257800"/>
            <a:ext cx="73152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
        <p:nvSpPr>
          <p:cNvPr id="25" name="Text 23"/>
          <p:cNvSpPr/>
          <p:nvPr/>
        </p:nvSpPr>
        <p:spPr>
          <a:xfrm>
            <a:off x="594360" y="5669280"/>
            <a:ext cx="10972800" cy="4572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Pe ecran apar categoriile alese de echipe; două fișe se discută cu sala.</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TESTUL FIȘEI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greșeli fac o fișă greu de folosit</a:t>
            </a:r>
            <a:endParaRPr lang="en-US" sz="3000" dirty="0"/>
          </a:p>
        </p:txBody>
      </p:sp>
      <p:sp>
        <p:nvSpPr>
          <p:cNvPr id="4" name="Shape 2"/>
          <p:cNvSpPr/>
          <p:nvPr/>
        </p:nvSpPr>
        <p:spPr>
          <a:xfrm>
            <a:off x="594360" y="1783080"/>
            <a:ext cx="3474720" cy="3108960"/>
          </a:xfrm>
          <a:prstGeom prst="roundRect">
            <a:avLst>
              <a:gd name="adj" fmla="val 2647"/>
            </a:avLst>
          </a:prstGeom>
          <a:solidFill>
            <a:srgbClr val="ECEAE4"/>
          </a:solidFill>
          <a:ln w="12700">
            <a:solidFill>
              <a:srgbClr val="ECEAE4"/>
            </a:solidFill>
            <a:prstDash val="solid"/>
          </a:ln>
        </p:spPr>
        <p:txBody>
          <a:bodyPr/>
          <a:p/>
        </p:txBody>
      </p:sp>
      <p:sp>
        <p:nvSpPr>
          <p:cNvPr id="5" name="Shape 3"/>
          <p:cNvSpPr/>
          <p:nvPr/>
        </p:nvSpPr>
        <p:spPr>
          <a:xfrm>
            <a:off x="594360" y="17830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011680"/>
            <a:ext cx="2926080" cy="73152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Soluția în formulare</a:t>
            </a:r>
            <a:endParaRPr lang="en-US" sz="2000" dirty="0"/>
          </a:p>
        </p:txBody>
      </p:sp>
      <p:sp>
        <p:nvSpPr>
          <p:cNvPr id="7" name="Text 5"/>
          <p:cNvSpPr/>
          <p:nvPr/>
        </p:nvSpPr>
        <p:spPr>
          <a:xfrm>
            <a:off x="868680" y="2788920"/>
            <a:ext cx="2926080" cy="914400"/>
          </a:xfrm>
          <a:prstGeom prst="rect">
            <a:avLst/>
          </a:prstGeom>
          <a:noFill/>
          <a:ln/>
        </p:spPr>
        <p:txBody>
          <a:bodyPr wrap="square" lIns="0" tIns="0" rIns="0" bIns="0" rtlCol="0" anchor="t"/>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„lipsa unui ambulatoriu de geriatrie”</a:t>
            </a:r>
            <a:endParaRPr lang="en-US" sz="1700" dirty="0"/>
          </a:p>
        </p:txBody>
      </p:sp>
      <p:sp>
        <p:nvSpPr>
          <p:cNvPr id="8" name="Text 6"/>
          <p:cNvSpPr/>
          <p:nvPr/>
        </p:nvSpPr>
        <p:spPr>
          <a:xfrm>
            <a:off x="868680" y="3794760"/>
            <a:ext cx="2926080" cy="91440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închide discuția înainte de analiza internă</a:t>
            </a:r>
            <a:endParaRPr lang="en-US" sz="1500" dirty="0"/>
          </a:p>
        </p:txBody>
      </p:sp>
      <p:sp>
        <p:nvSpPr>
          <p:cNvPr id="9" name="Shape 7"/>
          <p:cNvSpPr/>
          <p:nvPr/>
        </p:nvSpPr>
        <p:spPr>
          <a:xfrm>
            <a:off x="4343400" y="1783080"/>
            <a:ext cx="3474720" cy="3108960"/>
          </a:xfrm>
          <a:prstGeom prst="roundRect">
            <a:avLst>
              <a:gd name="adj" fmla="val 2647"/>
            </a:avLst>
          </a:prstGeom>
          <a:solidFill>
            <a:srgbClr val="ECEAE4"/>
          </a:solidFill>
          <a:ln w="12700">
            <a:solidFill>
              <a:srgbClr val="ECEAE4"/>
            </a:solidFill>
            <a:prstDash val="solid"/>
          </a:ln>
        </p:spPr>
        <p:txBody>
          <a:bodyPr/>
          <a:p/>
        </p:txBody>
      </p:sp>
      <p:sp>
        <p:nvSpPr>
          <p:cNvPr id="10" name="Shape 8"/>
          <p:cNvSpPr/>
          <p:nvPr/>
        </p:nvSpPr>
        <p:spPr>
          <a:xfrm>
            <a:off x="4343400" y="1783080"/>
            <a:ext cx="3474720" cy="82296"/>
          </a:xfrm>
          <a:prstGeom prst="rect">
            <a:avLst/>
          </a:prstGeom>
          <a:solidFill>
            <a:srgbClr val="8A6100"/>
          </a:solidFill>
          <a:ln w="12700">
            <a:solidFill>
              <a:srgbClr val="8A6100"/>
            </a:solidFill>
            <a:prstDash val="solid"/>
          </a:ln>
        </p:spPr>
        <p:txBody>
          <a:bodyPr/>
          <a:p/>
        </p:txBody>
      </p:sp>
      <p:sp>
        <p:nvSpPr>
          <p:cNvPr id="11" name="Text 9"/>
          <p:cNvSpPr/>
          <p:nvPr/>
        </p:nvSpPr>
        <p:spPr>
          <a:xfrm>
            <a:off x="4617720" y="2011680"/>
            <a:ext cx="2926080" cy="731520"/>
          </a:xfrm>
          <a:prstGeom prst="rect">
            <a:avLst/>
          </a:prstGeom>
          <a:noFill/>
          <a:ln/>
        </p:spPr>
        <p:txBody>
          <a:bodyPr wrap="square" lIns="0" tIns="0" rIns="0" bIns="0" rtlCol="0" anchor="t"/>
          <a:lstStyle/>
          <a:p>
            <a:pPr indent="0" marL="0">
              <a:buNone/>
            </a:pPr>
            <a:r>
              <a:rPr lang="en-US" sz="2000" b="1" dirty="0">
                <a:solidFill>
                  <a:srgbClr val="8A6100"/>
                </a:solidFill>
                <a:latin typeface="Palatino Linotype" pitchFamily="34" charset="0"/>
                <a:ea typeface="Palatino Linotype" pitchFamily="34" charset="-122"/>
                <a:cs typeface="Palatino Linotype" pitchFamily="34" charset="-120"/>
              </a:rPr>
              <a:t>Dovada fără an sau fără sursă</a:t>
            </a:r>
            <a:endParaRPr lang="en-US" sz="2000" dirty="0"/>
          </a:p>
        </p:txBody>
      </p:sp>
      <p:sp>
        <p:nvSpPr>
          <p:cNvPr id="12" name="Text 10"/>
          <p:cNvSpPr/>
          <p:nvPr/>
        </p:nvSpPr>
        <p:spPr>
          <a:xfrm>
            <a:off x="4617720" y="2788920"/>
            <a:ext cx="2926080" cy="914400"/>
          </a:xfrm>
          <a:prstGeom prst="rect">
            <a:avLst/>
          </a:prstGeom>
          <a:noFill/>
          <a:ln/>
        </p:spPr>
        <p:txBody>
          <a:bodyPr wrap="square" lIns="0" tIns="0" rIns="0" bIns="0" rtlCol="0" anchor="t"/>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„statisticile arată”</a:t>
            </a:r>
            <a:endParaRPr lang="en-US" sz="1700" dirty="0"/>
          </a:p>
        </p:txBody>
      </p:sp>
      <p:sp>
        <p:nvSpPr>
          <p:cNvPr id="13" name="Text 11"/>
          <p:cNvSpPr/>
          <p:nvPr/>
        </p:nvSpPr>
        <p:spPr>
          <a:xfrm>
            <a:off x="4617720" y="3794760"/>
            <a:ext cx="2926080" cy="91440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nimeni nu o poate găsi și verifica</a:t>
            </a:r>
            <a:endParaRPr lang="en-US" sz="1500" dirty="0"/>
          </a:p>
        </p:txBody>
      </p:sp>
      <p:sp>
        <p:nvSpPr>
          <p:cNvPr id="14" name="Shape 12"/>
          <p:cNvSpPr/>
          <p:nvPr/>
        </p:nvSpPr>
        <p:spPr>
          <a:xfrm>
            <a:off x="8092440" y="1783080"/>
            <a:ext cx="3474720" cy="3108960"/>
          </a:xfrm>
          <a:prstGeom prst="roundRect">
            <a:avLst>
              <a:gd name="adj" fmla="val 2647"/>
            </a:avLst>
          </a:prstGeom>
          <a:solidFill>
            <a:srgbClr val="ECEAE4"/>
          </a:solidFill>
          <a:ln w="12700">
            <a:solidFill>
              <a:srgbClr val="ECEAE4"/>
            </a:solidFill>
            <a:prstDash val="solid"/>
          </a:ln>
        </p:spPr>
        <p:txBody>
          <a:bodyPr/>
          <a:p/>
        </p:txBody>
      </p:sp>
      <p:sp>
        <p:nvSpPr>
          <p:cNvPr id="15" name="Shape 13"/>
          <p:cNvSpPr/>
          <p:nvPr/>
        </p:nvSpPr>
        <p:spPr>
          <a:xfrm>
            <a:off x="8092440" y="1783080"/>
            <a:ext cx="3474720" cy="82296"/>
          </a:xfrm>
          <a:prstGeom prst="rect">
            <a:avLst/>
          </a:prstGeom>
          <a:solidFill>
            <a:srgbClr val="0E7C6B"/>
          </a:solidFill>
          <a:ln w="12700">
            <a:solidFill>
              <a:srgbClr val="0E7C6B"/>
            </a:solidFill>
            <a:prstDash val="solid"/>
          </a:ln>
        </p:spPr>
        <p:txBody>
          <a:bodyPr/>
          <a:p/>
        </p:txBody>
      </p:sp>
      <p:sp>
        <p:nvSpPr>
          <p:cNvPr id="16" name="Text 14"/>
          <p:cNvSpPr/>
          <p:nvPr/>
        </p:nvSpPr>
        <p:spPr>
          <a:xfrm>
            <a:off x="8366760" y="2011680"/>
            <a:ext cx="2926080" cy="73152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Implicația pentru țară</a:t>
            </a:r>
            <a:endParaRPr lang="en-US" sz="2000" dirty="0"/>
          </a:p>
        </p:txBody>
      </p:sp>
      <p:sp>
        <p:nvSpPr>
          <p:cNvPr id="17" name="Text 15"/>
          <p:cNvSpPr/>
          <p:nvPr/>
        </p:nvSpPr>
        <p:spPr>
          <a:xfrm>
            <a:off x="8366760" y="2788920"/>
            <a:ext cx="2926080" cy="914400"/>
          </a:xfrm>
          <a:prstGeom prst="rect">
            <a:avLst/>
          </a:prstGeom>
          <a:noFill/>
          <a:ln/>
        </p:spPr>
        <p:txBody>
          <a:bodyPr wrap="square" lIns="0" tIns="0" rIns="0" bIns="0" rtlCol="0" anchor="t"/>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„sistemul va avea nevoie de mai mulți medici”</a:t>
            </a:r>
            <a:endParaRPr lang="en-US" sz="1700" dirty="0"/>
          </a:p>
        </p:txBody>
      </p:sp>
      <p:sp>
        <p:nvSpPr>
          <p:cNvPr id="18" name="Text 16"/>
          <p:cNvSpPr/>
          <p:nvPr/>
        </p:nvSpPr>
        <p:spPr>
          <a:xfrm>
            <a:off x="8366760" y="3794760"/>
            <a:ext cx="2926080" cy="91440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nu spune ce înseamnă pentru organizație</a:t>
            </a:r>
            <a:endParaRPr lang="en-US" sz="1500" dirty="0"/>
          </a:p>
        </p:txBody>
      </p:sp>
      <p:sp>
        <p:nvSpPr>
          <p:cNvPr id="19" name="Text 17"/>
          <p:cNvSpPr/>
          <p:nvPr/>
        </p:nvSpPr>
        <p:spPr>
          <a:xfrm>
            <a:off x="594360" y="5212080"/>
            <a:ext cx="10972800" cy="7315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Fișa trece testul dacă un coleg din altă echipă o poate verifica fără să vă întrebe nimic.</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TERMENUL 3 DIN 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contează primul: impact × probabilitate</a:t>
            </a:r>
            <a:endParaRPr lang="en-US" sz="3000" dirty="0"/>
          </a:p>
        </p:txBody>
      </p:sp>
      <p:sp>
        <p:nvSpPr>
          <p:cNvPr id="4" name="Shape 2"/>
          <p:cNvSpPr/>
          <p:nvPr/>
        </p:nvSpPr>
        <p:spPr>
          <a:xfrm>
            <a:off x="594360" y="178308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5" name="Text 3"/>
          <p:cNvSpPr/>
          <p:nvPr/>
        </p:nvSpPr>
        <p:spPr>
          <a:xfrm>
            <a:off x="868680" y="1783080"/>
            <a:ext cx="4846320" cy="1828800"/>
          </a:xfrm>
          <a:prstGeom prst="rect">
            <a:avLst/>
          </a:prstGeom>
          <a:noFill/>
          <a:ln/>
        </p:spPr>
        <p:txBody>
          <a:bodyPr wrap="square" lIns="0" tIns="0" rIns="0" bIns="0" rtlCol="0" anchor="ctr"/>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Impactul</a:t>
            </a:r>
            <a:endParaRPr lang="en-US" sz="2200" dirty="0"/>
          </a:p>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cât de mult ne-ar afecta schimbarea</a:t>
            </a:r>
            <a:endParaRPr lang="en-US" sz="2200" dirty="0"/>
          </a:p>
        </p:txBody>
      </p:sp>
      <p:sp>
        <p:nvSpPr>
          <p:cNvPr id="6" name="Shape 4"/>
          <p:cNvSpPr/>
          <p:nvPr/>
        </p:nvSpPr>
        <p:spPr>
          <a:xfrm>
            <a:off x="6217920" y="178308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7" name="Text 5"/>
          <p:cNvSpPr/>
          <p:nvPr/>
        </p:nvSpPr>
        <p:spPr>
          <a:xfrm>
            <a:off x="6492240" y="1783080"/>
            <a:ext cx="4846320" cy="182880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Probabilitatea</a:t>
            </a:r>
            <a:endParaRPr lang="en-US" sz="2200" dirty="0"/>
          </a:p>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cât de sigur e că va continua</a:t>
            </a:r>
            <a:endParaRPr lang="en-US" sz="2200" dirty="0"/>
          </a:p>
        </p:txBody>
      </p:sp>
      <p:sp>
        <p:nvSpPr>
          <p:cNvPr id="8" name="Text 6"/>
          <p:cNvSpPr/>
          <p:nvPr/>
        </p:nvSpPr>
        <p:spPr>
          <a:xfrm>
            <a:off x="594360" y="3840480"/>
            <a:ext cx="10972800" cy="13716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Câte o notă de la 1 la 10 pentru fiecare. Pe grafic, problemele cu impact mare și probabilitate mare intră în planul strategic.</a:t>
            </a:r>
            <a:endParaRPr lang="en-US" sz="1900" dirty="0"/>
          </a:p>
        </p:txBody>
      </p:sp>
      <p:sp>
        <p:nvSpPr>
          <p:cNvPr id="9" name="Text 7"/>
          <p:cNvSpPr/>
          <p:nvPr/>
        </p:nvSpPr>
        <p:spPr>
          <a:xfrm>
            <a:off x="594360" y="5349240"/>
            <a:ext cx="10972800" cy="64008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Exemplul din manual: un cămin de bătrâni și trei probleme.</a:t>
            </a:r>
            <a:endParaRPr lang="en-US" sz="16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Ginter, Duncan și Swayne, 2018.</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JUDECĂȚI ARGUMENTATE, NU MĂSURĂTORI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Metoda pare exactă, dar nu este</a:t>
            </a:r>
            <a:endParaRPr lang="en-US" sz="3200" dirty="0"/>
          </a:p>
        </p:txBody>
      </p:sp>
      <p:sp>
        <p:nvSpPr>
          <p:cNvPr id="4" name="Text 2"/>
          <p:cNvSpPr/>
          <p:nvPr/>
        </p:nvSpPr>
        <p:spPr>
          <a:xfrm>
            <a:off x="594360" y="1645920"/>
            <a:ext cx="3108960" cy="3108960"/>
          </a:xfrm>
          <a:prstGeom prst="rect">
            <a:avLst/>
          </a:prstGeom>
          <a:noFill/>
          <a:ln/>
        </p:spPr>
        <p:txBody>
          <a:bodyPr wrap="square" lIns="0" tIns="0" rIns="0" bIns="0" rtlCol="0" anchor="ctr"/>
          <a:lstStyle/>
          <a:p>
            <a:pPr algn="ctr" indent="0" marL="0">
              <a:buNone/>
            </a:pPr>
            <a:r>
              <a:rPr lang="en-US" sz="20000" b="1" dirty="0">
                <a:solidFill>
                  <a:srgbClr val="B02532"/>
                </a:solidFill>
                <a:latin typeface="Palatino Linotype" pitchFamily="34" charset="0"/>
                <a:ea typeface="Palatino Linotype" pitchFamily="34" charset="-122"/>
                <a:cs typeface="Palatino Linotype" pitchFamily="34" charset="-120"/>
              </a:rPr>
              <a:t>×</a:t>
            </a:r>
            <a:endParaRPr lang="en-US" sz="20000" dirty="0"/>
          </a:p>
        </p:txBody>
      </p:sp>
      <p:sp>
        <p:nvSpPr>
          <p:cNvPr id="5" name="Text 3"/>
          <p:cNvSpPr/>
          <p:nvPr/>
        </p:nvSpPr>
        <p:spPr>
          <a:xfrm>
            <a:off x="594360" y="4709160"/>
            <a:ext cx="3291840" cy="822960"/>
          </a:xfrm>
          <a:prstGeom prst="rect">
            <a:avLst/>
          </a:prstGeom>
          <a:noFill/>
          <a:ln/>
        </p:spPr>
        <p:txBody>
          <a:bodyPr wrap="square" lIns="0" tIns="0" rIns="0" bIns="0" rtlCol="0" anchor="t"/>
          <a:lstStyle/>
          <a:p>
            <a:pPr algn="ctr" indent="0" marL="0">
              <a:buNone/>
            </a:pPr>
            <a:r>
              <a:rPr lang="en-US" sz="1500" i="1" dirty="0">
                <a:solidFill>
                  <a:srgbClr val="585A64"/>
                </a:solidFill>
                <a:latin typeface="Palatino Linotype" pitchFamily="34" charset="0"/>
                <a:ea typeface="Palatino Linotype" pitchFamily="34" charset="-122"/>
                <a:cs typeface="Palatino Linotype" pitchFamily="34" charset="-120"/>
              </a:rPr>
              <a:t>semnul arată cele două axe ale graficului, nu o înmulțire</a:t>
            </a:r>
            <a:endParaRPr lang="en-US" sz="1500" dirty="0"/>
          </a:p>
        </p:txBody>
      </p:sp>
      <p:sp>
        <p:nvSpPr>
          <p:cNvPr id="6" name="Shape 4"/>
          <p:cNvSpPr/>
          <p:nvPr/>
        </p:nvSpPr>
        <p:spPr>
          <a:xfrm>
            <a:off x="4206240" y="1783080"/>
            <a:ext cx="7360920" cy="1143000"/>
          </a:xfrm>
          <a:prstGeom prst="roundRect">
            <a:avLst>
              <a:gd name="adj" fmla="val 7200"/>
            </a:avLst>
          </a:prstGeom>
          <a:solidFill>
            <a:srgbClr val="ECEAE4"/>
          </a:solidFill>
          <a:ln w="12700">
            <a:solidFill>
              <a:srgbClr val="ECEAE4"/>
            </a:solidFill>
            <a:prstDash val="solid"/>
          </a:ln>
        </p:spPr>
        <p:txBody>
          <a:bodyPr/>
          <a:p/>
        </p:txBody>
      </p:sp>
      <p:sp>
        <p:nvSpPr>
          <p:cNvPr id="7" name="Shape 5"/>
          <p:cNvSpPr/>
          <p:nvPr/>
        </p:nvSpPr>
        <p:spPr>
          <a:xfrm>
            <a:off x="4480560" y="2144268"/>
            <a:ext cx="420624" cy="420624"/>
          </a:xfrm>
          <a:prstGeom prst="ellipse">
            <a:avLst/>
          </a:prstGeom>
          <a:solidFill>
            <a:srgbClr val="B02532"/>
          </a:solidFill>
          <a:ln/>
        </p:spPr>
        <p:txBody>
          <a:bodyPr/>
          <a:p/>
        </p:txBody>
      </p:sp>
      <p:sp>
        <p:nvSpPr>
          <p:cNvPr id="8" name="Text 6"/>
          <p:cNvSpPr/>
          <p:nvPr/>
        </p:nvSpPr>
        <p:spPr>
          <a:xfrm>
            <a:off x="4480560" y="21442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5120640" y="1783080"/>
            <a:ext cx="6217920" cy="11430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Problemele externe vin rareori ca date care se pot număra.</a:t>
            </a:r>
            <a:endParaRPr lang="en-US" sz="1600" dirty="0"/>
          </a:p>
        </p:txBody>
      </p:sp>
      <p:sp>
        <p:nvSpPr>
          <p:cNvPr id="10" name="Shape 8"/>
          <p:cNvSpPr/>
          <p:nvPr/>
        </p:nvSpPr>
        <p:spPr>
          <a:xfrm>
            <a:off x="4206240" y="3063240"/>
            <a:ext cx="7360920" cy="1143000"/>
          </a:xfrm>
          <a:prstGeom prst="roundRect">
            <a:avLst>
              <a:gd name="adj" fmla="val 7200"/>
            </a:avLst>
          </a:prstGeom>
          <a:solidFill>
            <a:srgbClr val="ECEAE4"/>
          </a:solidFill>
          <a:ln w="12700">
            <a:solidFill>
              <a:srgbClr val="ECEAE4"/>
            </a:solidFill>
            <a:prstDash val="solid"/>
          </a:ln>
        </p:spPr>
        <p:txBody>
          <a:bodyPr/>
          <a:p/>
        </p:txBody>
      </p:sp>
      <p:sp>
        <p:nvSpPr>
          <p:cNvPr id="11" name="Shape 9"/>
          <p:cNvSpPr/>
          <p:nvPr/>
        </p:nvSpPr>
        <p:spPr>
          <a:xfrm>
            <a:off x="4480560" y="3424428"/>
            <a:ext cx="420624" cy="420624"/>
          </a:xfrm>
          <a:prstGeom prst="ellipse">
            <a:avLst/>
          </a:prstGeom>
          <a:solidFill>
            <a:srgbClr val="B02532"/>
          </a:solidFill>
          <a:ln/>
        </p:spPr>
        <p:txBody>
          <a:bodyPr/>
          <a:p/>
        </p:txBody>
      </p:sp>
      <p:sp>
        <p:nvSpPr>
          <p:cNvPr id="12" name="Text 10"/>
          <p:cNvSpPr/>
          <p:nvPr/>
        </p:nvSpPr>
        <p:spPr>
          <a:xfrm>
            <a:off x="4480560" y="34244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5120640" y="3063240"/>
            <a:ext cx="6217920" cy="11430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Notele nu se adună și nu se înmulțesc într-un scor.</a:t>
            </a:r>
            <a:endParaRPr lang="en-US" sz="1600" dirty="0"/>
          </a:p>
        </p:txBody>
      </p:sp>
      <p:sp>
        <p:nvSpPr>
          <p:cNvPr id="14" name="Shape 12"/>
          <p:cNvSpPr/>
          <p:nvPr/>
        </p:nvSpPr>
        <p:spPr>
          <a:xfrm>
            <a:off x="4206240" y="4343400"/>
            <a:ext cx="7360920" cy="1143000"/>
          </a:xfrm>
          <a:prstGeom prst="roundRect">
            <a:avLst>
              <a:gd name="adj" fmla="val 7200"/>
            </a:avLst>
          </a:prstGeom>
          <a:solidFill>
            <a:srgbClr val="ECEAE4"/>
          </a:solidFill>
          <a:ln w="12700">
            <a:solidFill>
              <a:srgbClr val="ECEAE4"/>
            </a:solidFill>
            <a:prstDash val="solid"/>
          </a:ln>
        </p:spPr>
        <p:txBody>
          <a:bodyPr/>
          <a:p/>
        </p:txBody>
      </p:sp>
      <p:sp>
        <p:nvSpPr>
          <p:cNvPr id="15" name="Shape 13"/>
          <p:cNvSpPr/>
          <p:nvPr/>
        </p:nvSpPr>
        <p:spPr>
          <a:xfrm>
            <a:off x="4480560" y="4704588"/>
            <a:ext cx="420624" cy="420624"/>
          </a:xfrm>
          <a:prstGeom prst="ellipse">
            <a:avLst/>
          </a:prstGeom>
          <a:solidFill>
            <a:srgbClr val="B02532"/>
          </a:solidFill>
          <a:ln/>
        </p:spPr>
        <p:txBody>
          <a:bodyPr/>
          <a:p/>
        </p:txBody>
      </p:sp>
      <p:sp>
        <p:nvSpPr>
          <p:cNvPr id="16" name="Text 14"/>
          <p:cNvSpPr/>
          <p:nvPr/>
        </p:nvSpPr>
        <p:spPr>
          <a:xfrm>
            <a:off x="4480560" y="47045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5120640" y="4343400"/>
            <a:ext cx="6217920" cy="11430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Folosul lor: vă spuneți argumentele și vedeți unde nu sunteți de acord.</a:t>
            </a:r>
            <a:endParaRPr lang="en-US" sz="16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VOT PE TELEFON</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notă dați impactului și probabilității?</a:t>
            </a:r>
            <a:endParaRPr lang="en-US" sz="3000" dirty="0"/>
          </a:p>
        </p:txBody>
      </p:sp>
      <p:sp>
        <p:nvSpPr>
          <p:cNvPr id="6" name="Shape 4"/>
          <p:cNvSpPr/>
          <p:nvPr/>
        </p:nvSpPr>
        <p:spPr>
          <a:xfrm>
            <a:off x="594360" y="173736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868680" y="1915668"/>
            <a:ext cx="420624" cy="420624"/>
          </a:xfrm>
          <a:prstGeom prst="ellipse">
            <a:avLst/>
          </a:prstGeom>
          <a:solidFill>
            <a:srgbClr val="FFC24B"/>
          </a:solidFill>
          <a:ln/>
        </p:spPr>
        <p:txBody>
          <a:bodyPr/>
          <a:p/>
        </p:txBody>
      </p:sp>
      <p:sp>
        <p:nvSpPr>
          <p:cNvPr id="8" name="Text 6"/>
          <p:cNvSpPr/>
          <p:nvPr/>
        </p:nvSpPr>
        <p:spPr>
          <a:xfrm>
            <a:off x="868680" y="19156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737360"/>
            <a:ext cx="594360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Populația care scade și îmbătrânește</a:t>
            </a:r>
            <a:endParaRPr lang="en-US" sz="1900" dirty="0"/>
          </a:p>
        </p:txBody>
      </p:sp>
      <p:sp>
        <p:nvSpPr>
          <p:cNvPr id="10" name="Shape 8"/>
          <p:cNvSpPr/>
          <p:nvPr/>
        </p:nvSpPr>
        <p:spPr>
          <a:xfrm>
            <a:off x="594360" y="265176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868680" y="2830068"/>
            <a:ext cx="420624" cy="420624"/>
          </a:xfrm>
          <a:prstGeom prst="ellipse">
            <a:avLst/>
          </a:prstGeom>
          <a:solidFill>
            <a:srgbClr val="FFC24B"/>
          </a:solidFill>
          <a:ln/>
        </p:spPr>
        <p:txBody>
          <a:bodyPr/>
          <a:p/>
        </p:txBody>
      </p:sp>
      <p:sp>
        <p:nvSpPr>
          <p:cNvPr id="12" name="Text 10"/>
          <p:cNvSpPr/>
          <p:nvPr/>
        </p:nvSpPr>
        <p:spPr>
          <a:xfrm>
            <a:off x="868680" y="28300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651760"/>
            <a:ext cx="594360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Telemedicina</a:t>
            </a:r>
            <a:endParaRPr lang="en-US" sz="1900" dirty="0"/>
          </a:p>
        </p:txBody>
      </p:sp>
      <p:sp>
        <p:nvSpPr>
          <p:cNvPr id="14" name="Shape 12"/>
          <p:cNvSpPr/>
          <p:nvPr/>
        </p:nvSpPr>
        <p:spPr>
          <a:xfrm>
            <a:off x="594360" y="3566160"/>
            <a:ext cx="70866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868680" y="3744468"/>
            <a:ext cx="420624" cy="420624"/>
          </a:xfrm>
          <a:prstGeom prst="ellipse">
            <a:avLst/>
          </a:prstGeom>
          <a:solidFill>
            <a:srgbClr val="FFC24B"/>
          </a:solidFill>
          <a:ln/>
        </p:spPr>
        <p:txBody>
          <a:bodyPr/>
          <a:p/>
        </p:txBody>
      </p:sp>
      <p:sp>
        <p:nvSpPr>
          <p:cNvPr id="16" name="Text 14"/>
          <p:cNvSpPr/>
          <p:nvPr/>
        </p:nvSpPr>
        <p:spPr>
          <a:xfrm>
            <a:off x="868680" y="37444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566160"/>
            <a:ext cx="5943600" cy="77724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Concurența spitalelor din jur</a:t>
            </a:r>
            <a:endParaRPr lang="en-US" sz="1900" dirty="0"/>
          </a:p>
        </p:txBody>
      </p:sp>
      <p:sp>
        <p:nvSpPr>
          <p:cNvPr id="18" name="Text 16"/>
          <p:cNvSpPr/>
          <p:nvPr/>
        </p:nvSpPr>
        <p:spPr>
          <a:xfrm>
            <a:off x="594360" y="4526280"/>
            <a:ext cx="7086600" cy="8229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Pentru fiecare: impactul asupra spitalului, de la 1 la 10, și probabilitatea ca schimbarea să continue, de la 1 la 10.</a:t>
            </a:r>
            <a:endParaRPr lang="en-US" sz="1600" dirty="0"/>
          </a:p>
        </p:txBody>
      </p:sp>
      <p:sp>
        <p:nvSpPr>
          <p:cNvPr id="19" name="Shape 17"/>
          <p:cNvSpPr/>
          <p:nvPr/>
        </p:nvSpPr>
        <p:spPr>
          <a:xfrm>
            <a:off x="8001000" y="1737360"/>
            <a:ext cx="3566160" cy="3017520"/>
          </a:xfrm>
          <a:prstGeom prst="roundRect">
            <a:avLst>
              <a:gd name="adj" fmla="val 3030"/>
            </a:avLst>
          </a:prstGeom>
          <a:solidFill>
            <a:srgbClr val="FFFFFF"/>
          </a:solidFill>
          <a:ln w="19050">
            <a:solidFill>
              <a:srgbClr val="8E94A8"/>
            </a:solidFill>
            <a:prstDash val="dash"/>
          </a:ln>
        </p:spPr>
        <p:txBody>
          <a:bodyPr/>
          <a:p/>
        </p:txBody>
      </p:sp>
      <p:sp>
        <p:nvSpPr>
          <p:cNvPr id="21" name="Text 19"/>
          <p:cNvSpPr/>
          <p:nvPr/>
        </p:nvSpPr>
        <p:spPr>
          <a:xfrm>
            <a:off x="8001000" y="4846320"/>
            <a:ext cx="3566160" cy="914400"/>
          </a:xfrm>
          <a:prstGeom prst="rect">
            <a:avLst/>
          </a:prstGeom>
          <a:noFill/>
          <a:ln/>
        </p:spPr>
        <p:txBody>
          <a:bodyPr wrap="square" lIns="0" tIns="0" rIns="0" bIns="0" rtlCol="0" anchor="t"/>
          <a:lstStyle/>
          <a:p>
            <a:pPr indent="0" marL="0">
              <a:buNone/>
            </a:pPr>
            <a:r>
              <a:rPr lang="en-US" sz="1350" i="1" dirty="0">
                <a:solidFill>
                  <a:srgbClr val="959BB0"/>
                </a:solidFill>
                <a:latin typeface="Palatino Linotype" pitchFamily="34" charset="0"/>
                <a:ea typeface="Palatino Linotype" pitchFamily="34" charset="-122"/>
                <a:cs typeface="Palatino Linotype" pitchFamily="34" charset="-120"/>
              </a:rPr>
              <a:t>Pe ecran: fiecare semnal este un punct, la nota medie a sălii. Media sălii, nu un scor.</a:t>
            </a:r>
            <a:endParaRPr lang="en-US" sz="1350" dirty="0"/>
          </a:p>
        </p:txBody>
      </p:sp>
      <p:sp>
        <p:nvSpPr>
          <p:cNvPr id="22" name="Text 20"/>
          <p:cNvSpPr/>
          <p:nvPr/>
        </p:nvSpPr>
        <p:spPr>
          <a:xfrm>
            <a:off x="594360" y="5532120"/>
            <a:ext cx="731520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pic>
        <p:nvPicPr>
          <p:cNvPr id="23" name="Picture 22" descr="Mentimeter_UB_MSSS_LP02.png"/>
          <p:cNvPicPr>
            <a:picLocks noChangeAspect="1"/>
          </p:cNvPicPr>
          <p:nvPr/>
        </p:nvPicPr>
        <p:blipFill>
          <a:blip r:embed="rId3"/>
          <a:stretch>
            <a:fillRect/>
          </a:stretch>
        </p:blipFill>
        <p:spPr>
          <a:xfrm>
            <a:off x="8589010" y="1737360"/>
            <a:ext cx="2390140" cy="2390140"/>
          </a:xfrm>
          <a:prstGeom prst="rect">
            <a:avLst/>
          </a:prstGeom>
        </p:spPr>
      </p:pic>
      <p:sp>
        <p:nvSpPr>
          <p:cNvPr id="24" name="TextBox 23"/>
          <p:cNvSpPr txBox="1"/>
          <p:nvPr/>
        </p:nvSpPr>
        <p:spPr>
          <a:xfrm>
            <a:off x="8183880" y="4165600"/>
            <a:ext cx="32004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votul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CONSTRUITE PENTRU EXEMPLU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Cum poate arăta graficul</a:t>
            </a:r>
            <a:endParaRPr lang="en-US" sz="3200" dirty="0"/>
          </a:p>
        </p:txBody>
      </p:sp>
      <p:sp>
        <p:nvSpPr>
          <p:cNvPr id="4" name="Shape 2"/>
          <p:cNvSpPr/>
          <p:nvPr/>
        </p:nvSpPr>
        <p:spPr>
          <a:xfrm>
            <a:off x="3653028" y="1737360"/>
            <a:ext cx="1376172" cy="1376172"/>
          </a:xfrm>
          <a:prstGeom prst="rect">
            <a:avLst/>
          </a:prstGeom>
          <a:solidFill>
            <a:srgbClr val="F3D9DB"/>
          </a:solidFill>
          <a:ln w="12700">
            <a:solidFill>
              <a:srgbClr val="F3D9DB"/>
            </a:solidFill>
            <a:prstDash val="solid"/>
          </a:ln>
        </p:spPr>
        <p:txBody>
          <a:bodyPr/>
          <a:p/>
        </p:txBody>
      </p:sp>
      <p:sp>
        <p:nvSpPr>
          <p:cNvPr id="5" name="Shape 3"/>
          <p:cNvSpPr/>
          <p:nvPr/>
        </p:nvSpPr>
        <p:spPr>
          <a:xfrm>
            <a:off x="1097280" y="5669280"/>
            <a:ext cx="3931920" cy="18288"/>
          </a:xfrm>
          <a:prstGeom prst="rect">
            <a:avLst/>
          </a:prstGeom>
          <a:solidFill>
            <a:srgbClr val="11121A"/>
          </a:solidFill>
          <a:ln/>
        </p:spPr>
        <p:txBody>
          <a:bodyPr/>
          <a:p/>
        </p:txBody>
      </p:sp>
      <p:sp>
        <p:nvSpPr>
          <p:cNvPr id="6" name="Shape 4"/>
          <p:cNvSpPr/>
          <p:nvPr/>
        </p:nvSpPr>
        <p:spPr>
          <a:xfrm>
            <a:off x="1097280" y="1737360"/>
            <a:ext cx="18288" cy="3931920"/>
          </a:xfrm>
          <a:prstGeom prst="rect">
            <a:avLst/>
          </a:prstGeom>
          <a:solidFill>
            <a:srgbClr val="11121A"/>
          </a:solidFill>
          <a:ln/>
        </p:spPr>
        <p:txBody>
          <a:bodyPr/>
          <a:p/>
        </p:txBody>
      </p:sp>
      <p:sp>
        <p:nvSpPr>
          <p:cNvPr id="7" name="Text 5"/>
          <p:cNvSpPr/>
          <p:nvPr/>
        </p:nvSpPr>
        <p:spPr>
          <a:xfrm>
            <a:off x="3017520" y="5715000"/>
            <a:ext cx="2011680" cy="320040"/>
          </a:xfrm>
          <a:prstGeom prst="rect">
            <a:avLst/>
          </a:prstGeom>
          <a:noFill/>
          <a:ln/>
        </p:spPr>
        <p:txBody>
          <a:bodyPr wrap="square" lIns="0" tIns="0" rIns="0" bIns="0" rtlCol="0" anchor="t"/>
          <a:lstStyle/>
          <a:p>
            <a:pPr algn="r" indent="0" marL="0">
              <a:buNone/>
            </a:pPr>
            <a:r>
              <a:rPr lang="en-US" sz="1300" i="1" dirty="0">
                <a:solidFill>
                  <a:srgbClr val="585A64"/>
                </a:solidFill>
                <a:latin typeface="Palatino Linotype" pitchFamily="34" charset="0"/>
                <a:ea typeface="Palatino Linotype" pitchFamily="34" charset="-122"/>
                <a:cs typeface="Palatino Linotype" pitchFamily="34" charset="-120"/>
              </a:rPr>
              <a:t>probabilitatea →</a:t>
            </a:r>
            <a:endParaRPr lang="en-US" sz="1300" dirty="0"/>
          </a:p>
        </p:txBody>
      </p:sp>
      <p:sp>
        <p:nvSpPr>
          <p:cNvPr id="8" name="Text 6"/>
          <p:cNvSpPr/>
          <p:nvPr/>
        </p:nvSpPr>
        <p:spPr>
          <a:xfrm>
            <a:off x="1051560" y="1353312"/>
            <a:ext cx="1828800" cy="3200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impactul ↑</a:t>
            </a:r>
            <a:endParaRPr lang="en-US" sz="1300" dirty="0"/>
          </a:p>
        </p:txBody>
      </p:sp>
      <p:sp>
        <p:nvSpPr>
          <p:cNvPr id="9" name="Text 7"/>
          <p:cNvSpPr/>
          <p:nvPr/>
        </p:nvSpPr>
        <p:spPr>
          <a:xfrm>
            <a:off x="3698748" y="1828800"/>
            <a:ext cx="1828800" cy="320040"/>
          </a:xfrm>
          <a:prstGeom prst="rect">
            <a:avLst/>
          </a:prstGeom>
          <a:noFill/>
          <a:ln/>
        </p:spPr>
        <p:txBody>
          <a:bodyPr wrap="square" lIns="0" tIns="0" rIns="0" bIns="0" rtlCol="0" anchor="t"/>
          <a:lstStyle/>
          <a:p>
            <a:pPr indent="0" marL="0">
              <a:buNone/>
            </a:pPr>
            <a:r>
              <a:rPr lang="en-US" sz="1250" b="1" dirty="0">
                <a:solidFill>
                  <a:srgbClr val="B02532"/>
                </a:solidFill>
                <a:latin typeface="Palatino Linotype" pitchFamily="34" charset="0"/>
                <a:ea typeface="Palatino Linotype" pitchFamily="34" charset="-122"/>
                <a:cs typeface="Palatino Linotype" pitchFamily="34" charset="-120"/>
              </a:rPr>
              <a:t>zona critică</a:t>
            </a:r>
            <a:endParaRPr lang="en-US" sz="1250" dirty="0"/>
          </a:p>
        </p:txBody>
      </p:sp>
      <p:sp>
        <p:nvSpPr>
          <p:cNvPr id="10" name="Shape 8"/>
          <p:cNvSpPr/>
          <p:nvPr/>
        </p:nvSpPr>
        <p:spPr>
          <a:xfrm>
            <a:off x="4480560" y="2368296"/>
            <a:ext cx="310896" cy="310896"/>
          </a:xfrm>
          <a:prstGeom prst="ellipse">
            <a:avLst/>
          </a:prstGeom>
          <a:solidFill>
            <a:srgbClr val="B02532"/>
          </a:solidFill>
          <a:ln w="19050">
            <a:solidFill>
              <a:srgbClr val="FFFFFF"/>
            </a:solidFill>
            <a:prstDash val="solid"/>
          </a:ln>
        </p:spPr>
        <p:txBody>
          <a:bodyPr/>
          <a:p/>
        </p:txBody>
      </p:sp>
      <p:sp>
        <p:nvSpPr>
          <p:cNvPr id="11" name="Text 9"/>
          <p:cNvSpPr/>
          <p:nvPr/>
        </p:nvSpPr>
        <p:spPr>
          <a:xfrm>
            <a:off x="4837176" y="2340864"/>
            <a:ext cx="1645920" cy="36576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populația</a:t>
            </a:r>
            <a:endParaRPr lang="en-US" sz="1400" dirty="0"/>
          </a:p>
        </p:txBody>
      </p:sp>
      <p:sp>
        <p:nvSpPr>
          <p:cNvPr id="12" name="Shape 10"/>
          <p:cNvSpPr/>
          <p:nvPr/>
        </p:nvSpPr>
        <p:spPr>
          <a:xfrm>
            <a:off x="4087368" y="2761488"/>
            <a:ext cx="310896" cy="310896"/>
          </a:xfrm>
          <a:prstGeom prst="ellipse">
            <a:avLst/>
          </a:prstGeom>
          <a:solidFill>
            <a:srgbClr val="8A6100"/>
          </a:solidFill>
          <a:ln w="19050">
            <a:solidFill>
              <a:srgbClr val="FFFFFF"/>
            </a:solidFill>
            <a:prstDash val="solid"/>
          </a:ln>
        </p:spPr>
        <p:txBody>
          <a:bodyPr/>
          <a:p/>
        </p:txBody>
      </p:sp>
      <p:sp>
        <p:nvSpPr>
          <p:cNvPr id="13" name="Text 11"/>
          <p:cNvSpPr/>
          <p:nvPr/>
        </p:nvSpPr>
        <p:spPr>
          <a:xfrm>
            <a:off x="4443984" y="2734056"/>
            <a:ext cx="1645920" cy="36576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concurența</a:t>
            </a:r>
            <a:endParaRPr lang="en-US" sz="1400" dirty="0"/>
          </a:p>
        </p:txBody>
      </p:sp>
      <p:sp>
        <p:nvSpPr>
          <p:cNvPr id="14" name="Shape 12"/>
          <p:cNvSpPr/>
          <p:nvPr/>
        </p:nvSpPr>
        <p:spPr>
          <a:xfrm>
            <a:off x="2907792" y="3154680"/>
            <a:ext cx="310896" cy="310896"/>
          </a:xfrm>
          <a:prstGeom prst="ellipse">
            <a:avLst/>
          </a:prstGeom>
          <a:solidFill>
            <a:srgbClr val="0E7C6B"/>
          </a:solidFill>
          <a:ln w="19050">
            <a:solidFill>
              <a:srgbClr val="FFFFFF"/>
            </a:solidFill>
            <a:prstDash val="solid"/>
          </a:ln>
        </p:spPr>
        <p:txBody>
          <a:bodyPr/>
          <a:p/>
        </p:txBody>
      </p:sp>
      <p:sp>
        <p:nvSpPr>
          <p:cNvPr id="15" name="Text 13"/>
          <p:cNvSpPr/>
          <p:nvPr/>
        </p:nvSpPr>
        <p:spPr>
          <a:xfrm>
            <a:off x="3264408" y="3127248"/>
            <a:ext cx="1645920" cy="36576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telemedicina</a:t>
            </a:r>
            <a:endParaRPr lang="en-US" sz="1400" dirty="0"/>
          </a:p>
        </p:txBody>
      </p:sp>
      <p:sp>
        <p:nvSpPr>
          <p:cNvPr id="16" name="Shape 14"/>
          <p:cNvSpPr/>
          <p:nvPr/>
        </p:nvSpPr>
        <p:spPr>
          <a:xfrm>
            <a:off x="6035040" y="1783080"/>
            <a:ext cx="5532120" cy="4023360"/>
          </a:xfrm>
          <a:prstGeom prst="roundRect">
            <a:avLst>
              <a:gd name="adj" fmla="val 2045"/>
            </a:avLst>
          </a:prstGeom>
          <a:solidFill>
            <a:srgbClr val="ECEAE4"/>
          </a:solidFill>
          <a:ln w="12700">
            <a:solidFill>
              <a:srgbClr val="ECEAE4"/>
            </a:solidFill>
            <a:prstDash val="solid"/>
          </a:ln>
        </p:spPr>
        <p:txBody>
          <a:bodyPr/>
          <a:p/>
        </p:txBody>
      </p:sp>
      <p:sp>
        <p:nvSpPr>
          <p:cNvPr id="17" name="Text 15"/>
          <p:cNvSpPr/>
          <p:nvPr/>
        </p:nvSpPr>
        <p:spPr>
          <a:xfrm>
            <a:off x="6309360" y="1783080"/>
            <a:ext cx="5029200" cy="4023360"/>
          </a:xfrm>
          <a:prstGeom prst="rect">
            <a:avLst/>
          </a:prstGeom>
          <a:noFill/>
          <a:ln/>
        </p:spPr>
        <p:txBody>
          <a:bodyPr wrap="square" lIns="0" tIns="0" rIns="0" bIns="0" rtlCol="0" anchor="ctr"/>
          <a:lstStyle/>
          <a:p>
            <a:pPr indent="0" marL="0">
              <a:spcAft>
                <a:spcPts val="800"/>
              </a:spcAft>
              <a:buNone/>
            </a:pPr>
            <a:r>
              <a:rPr lang="en-US" sz="1650" dirty="0">
                <a:solidFill>
                  <a:srgbClr val="11121A"/>
                </a:solidFill>
                <a:latin typeface="Palatino Linotype" pitchFamily="34" charset="0"/>
                <a:ea typeface="Palatino Linotype" pitchFamily="34" charset="-122"/>
                <a:cs typeface="Palatino Linotype" pitchFamily="34" charset="-120"/>
              </a:rPr>
              <a:t>Populația: impact 8, probabilitate 9. Concurența: impact 7, probabilitate 8. Ambele intră în planul strategic.</a:t>
            </a:r>
            <a:endParaRPr lang="en-US" sz="1650" dirty="0"/>
          </a:p>
          <a:p>
            <a:pPr indent="0" marL="0">
              <a:spcAft>
                <a:spcPts val="800"/>
              </a:spcAft>
              <a:buNone/>
            </a:pPr>
            <a:r>
              <a:rPr lang="en-US" sz="1650" dirty="0">
                <a:solidFill>
                  <a:srgbClr val="11121A"/>
                </a:solidFill>
                <a:latin typeface="Palatino Linotype" pitchFamily="34" charset="0"/>
                <a:ea typeface="Palatino Linotype" pitchFamily="34" charset="-122"/>
                <a:cs typeface="Palatino Linotype" pitchFamily="34" charset="-120"/>
              </a:rPr>
              <a:t>Telemedicina: impact 6, probabilitate 5. Rămâne la mijloc: echipa o urmărește și caută date.</a:t>
            </a:r>
            <a:endParaRPr lang="en-US" sz="1650" dirty="0"/>
          </a:p>
          <a:p>
            <a:pPr indent="0" marL="0">
              <a:spcAft>
                <a:spcPts val="800"/>
              </a:spcAft>
              <a:buNone/>
            </a:pPr>
            <a:r>
              <a:rPr lang="en-US" sz="1650" b="1" dirty="0">
                <a:solidFill>
                  <a:srgbClr val="B02532"/>
                </a:solidFill>
                <a:latin typeface="Palatino Linotype" pitchFamily="34" charset="0"/>
                <a:ea typeface="Palatino Linotype" pitchFamily="34" charset="-122"/>
                <a:cs typeface="Palatino Linotype" pitchFamily="34" charset="-120"/>
              </a:rPr>
              <a:t>Graficul nu are un răspuns corect, dar discuția are: un dezacord mare se rezolvă prin date, nu prin medie.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250" b="1" dirty="0">
                <a:solidFill>
                  <a:srgbClr val="11121A"/>
                </a:solidFill>
                <a:latin typeface="Palatino Linotype" pitchFamily="34" charset="0"/>
                <a:ea typeface="Palatino Linotype" pitchFamily="34" charset="-122"/>
                <a:cs typeface="Palatino Linotype" pitchFamily="34" charset="-120"/>
              </a:rPr>
              <a:t>DOUĂ TABERE</a:t>
            </a:r>
            <a:endParaRPr lang="en-US" sz="125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120000">
            <a:off x="822960" y="1234440"/>
            <a:ext cx="603504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6" name="Text 4"/>
          <p:cNvSpPr/>
          <p:nvPr/>
        </p:nvSpPr>
        <p:spPr>
          <a:xfrm rot="-120000">
            <a:off x="1188720" y="1508760"/>
            <a:ext cx="5303520" cy="27432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TITLU INVENTAT PENTRU EXERCIȚIU</a:t>
            </a:r>
            <a:endParaRPr lang="en-US" sz="1200" dirty="0"/>
          </a:p>
        </p:txBody>
      </p:sp>
      <p:sp>
        <p:nvSpPr>
          <p:cNvPr id="7" name="Shape 5"/>
          <p:cNvSpPr/>
          <p:nvPr/>
        </p:nvSpPr>
        <p:spPr>
          <a:xfrm rot="-120000">
            <a:off x="1188720" y="1874520"/>
            <a:ext cx="5303520" cy="18288"/>
          </a:xfrm>
          <a:prstGeom prst="rect">
            <a:avLst/>
          </a:prstGeom>
          <a:solidFill>
            <a:srgbClr val="11121A"/>
          </a:solidFill>
          <a:ln/>
        </p:spPr>
        <p:txBody>
          <a:bodyPr/>
          <a:p/>
        </p:txBody>
      </p:sp>
      <p:sp>
        <p:nvSpPr>
          <p:cNvPr id="8" name="Text 6"/>
          <p:cNvSpPr/>
          <p:nvPr/>
        </p:nvSpPr>
        <p:spPr>
          <a:xfrm rot="-120000">
            <a:off x="1188720" y="2057400"/>
            <a:ext cx="5303520" cy="19202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Teleormanul s-a golit: județul a pierdut un sfert din locuitori în zece ani</a:t>
            </a:r>
            <a:endParaRPr lang="en-US" sz="3000" dirty="0"/>
          </a:p>
        </p:txBody>
      </p:sp>
      <p:sp>
        <p:nvSpPr>
          <p:cNvPr id="9" name="Shape 7"/>
          <p:cNvSpPr/>
          <p:nvPr/>
        </p:nvSpPr>
        <p:spPr>
          <a:xfrm rot="-120000">
            <a:off x="1188720" y="4114800"/>
            <a:ext cx="5303520" cy="91440"/>
          </a:xfrm>
          <a:prstGeom prst="rect">
            <a:avLst/>
          </a:prstGeom>
          <a:solidFill>
            <a:srgbClr val="D9D5CA"/>
          </a:solidFill>
          <a:ln/>
        </p:spPr>
        <p:txBody>
          <a:bodyPr/>
          <a:p/>
        </p:txBody>
      </p:sp>
      <p:sp>
        <p:nvSpPr>
          <p:cNvPr id="10" name="Shape 8"/>
          <p:cNvSpPr/>
          <p:nvPr/>
        </p:nvSpPr>
        <p:spPr>
          <a:xfrm rot="-120000">
            <a:off x="1188720" y="4434840"/>
            <a:ext cx="5303520" cy="91440"/>
          </a:xfrm>
          <a:prstGeom prst="rect">
            <a:avLst/>
          </a:prstGeom>
          <a:solidFill>
            <a:srgbClr val="D9D5CA"/>
          </a:solidFill>
          <a:ln/>
        </p:spPr>
        <p:txBody>
          <a:bodyPr/>
          <a:p/>
        </p:txBody>
      </p:sp>
      <p:sp>
        <p:nvSpPr>
          <p:cNvPr id="11" name="Shape 9"/>
          <p:cNvSpPr/>
          <p:nvPr/>
        </p:nvSpPr>
        <p:spPr>
          <a:xfrm rot="-120000">
            <a:off x="1188720" y="4754880"/>
            <a:ext cx="5303520" cy="91440"/>
          </a:xfrm>
          <a:prstGeom prst="rect">
            <a:avLst/>
          </a:prstGeom>
          <a:solidFill>
            <a:srgbClr val="D9D5CA"/>
          </a:solidFill>
          <a:ln/>
        </p:spPr>
        <p:txBody>
          <a:bodyPr/>
          <a:p/>
        </p:txBody>
      </p:sp>
      <p:sp>
        <p:nvSpPr>
          <p:cNvPr id="12" name="Shape 10"/>
          <p:cNvSpPr/>
          <p:nvPr/>
        </p:nvSpPr>
        <p:spPr>
          <a:xfrm rot="-120000">
            <a:off x="1188720" y="5074920"/>
            <a:ext cx="2743200" cy="91440"/>
          </a:xfrm>
          <a:prstGeom prst="rect">
            <a:avLst/>
          </a:prstGeom>
          <a:solidFill>
            <a:srgbClr val="D9D5CA"/>
          </a:solidFill>
          <a:ln/>
        </p:spPr>
        <p:txBody>
          <a:bodyPr/>
          <a:p/>
        </p:txBody>
      </p:sp>
      <p:sp>
        <p:nvSpPr>
          <p:cNvPr id="13" name="Text 11"/>
          <p:cNvSpPr/>
          <p:nvPr/>
        </p:nvSpPr>
        <p:spPr>
          <a:xfrm>
            <a:off x="822960" y="5669280"/>
            <a:ext cx="6217920" cy="457200"/>
          </a:xfrm>
          <a:prstGeom prst="rect">
            <a:avLst/>
          </a:prstGeom>
          <a:noFill/>
          <a:ln/>
        </p:spPr>
        <p:txBody>
          <a:bodyPr wrap="square" lIns="0" tIns="0" rIns="0" bIns="0" rtlCol="0" anchor="t"/>
          <a:lstStyle/>
          <a:p>
            <a:pPr indent="0" marL="0">
              <a:buNone/>
            </a:pPr>
            <a:r>
              <a:rPr lang="en-US" sz="1300" i="1" dirty="0">
                <a:solidFill>
                  <a:srgbClr val="B8BDCC"/>
                </a:solidFill>
                <a:latin typeface="Palatino Linotype" pitchFamily="34" charset="0"/>
                <a:ea typeface="Palatino Linotype" pitchFamily="34" charset="-122"/>
                <a:cs typeface="Palatino Linotype" pitchFamily="34" charset="-120"/>
              </a:rPr>
              <a:t>Titlu inventat pentru exercițiu, nu un articol real.</a:t>
            </a:r>
            <a:endParaRPr lang="en-US" sz="1300" dirty="0"/>
          </a:p>
        </p:txBody>
      </p:sp>
      <p:sp>
        <p:nvSpPr>
          <p:cNvPr id="14" name="Shape 12"/>
          <p:cNvSpPr/>
          <p:nvPr/>
        </p:nvSpPr>
        <p:spPr>
          <a:xfrm>
            <a:off x="7498080" y="1325880"/>
            <a:ext cx="4069080" cy="2011680"/>
          </a:xfrm>
          <a:prstGeom prst="roundRect">
            <a:avLst>
              <a:gd name="adj" fmla="val 4091"/>
            </a:avLst>
          </a:prstGeom>
          <a:solidFill>
            <a:srgbClr val="1D1F2B"/>
          </a:solidFill>
          <a:ln w="12700">
            <a:solidFill>
              <a:srgbClr val="1D1F2B"/>
            </a:solidFill>
            <a:prstDash val="solid"/>
          </a:ln>
        </p:spPr>
        <p:txBody>
          <a:bodyPr/>
          <a:p/>
        </p:txBody>
      </p:sp>
      <p:sp>
        <p:nvSpPr>
          <p:cNvPr id="15" name="Text 13"/>
          <p:cNvSpPr/>
          <p:nvPr/>
        </p:nvSpPr>
        <p:spPr>
          <a:xfrm>
            <a:off x="7772400" y="1325880"/>
            <a:ext cx="3611880" cy="20116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Ați crede acest titlu? Ce ați verifica întâi?</a:t>
            </a:r>
            <a:endParaRPr lang="en-US" sz="1900" dirty="0"/>
          </a:p>
        </p:txBody>
      </p:sp>
      <p:sp>
        <p:nvSpPr>
          <p:cNvPr id="16" name="Shape 14"/>
          <p:cNvSpPr/>
          <p:nvPr/>
        </p:nvSpPr>
        <p:spPr>
          <a:xfrm>
            <a:off x="7498080" y="3520440"/>
            <a:ext cx="1965960" cy="1828800"/>
          </a:xfrm>
          <a:prstGeom prst="roundRect">
            <a:avLst>
              <a:gd name="adj" fmla="val 4500"/>
            </a:avLst>
          </a:prstGeom>
          <a:solidFill>
            <a:srgbClr val="07564B"/>
          </a:solidFill>
          <a:ln w="12700">
            <a:solidFill>
              <a:srgbClr val="07564B"/>
            </a:solidFill>
            <a:prstDash val="solid"/>
          </a:ln>
        </p:spPr>
        <p:txBody>
          <a:bodyPr/>
          <a:p/>
        </p:txBody>
      </p:sp>
      <p:sp>
        <p:nvSpPr>
          <p:cNvPr id="17" name="Shape 15"/>
          <p:cNvSpPr/>
          <p:nvPr/>
        </p:nvSpPr>
        <p:spPr>
          <a:xfrm>
            <a:off x="9601200" y="3520440"/>
            <a:ext cx="1965960" cy="1828800"/>
          </a:xfrm>
          <a:prstGeom prst="roundRect">
            <a:avLst>
              <a:gd name="adj" fmla="val 4500"/>
            </a:avLst>
          </a:prstGeom>
          <a:solidFill>
            <a:srgbClr val="7A2230"/>
          </a:solidFill>
          <a:ln w="12700">
            <a:solidFill>
              <a:srgbClr val="7A2230"/>
            </a:solidFill>
            <a:prstDash val="solid"/>
          </a:ln>
        </p:spPr>
        <p:txBody>
          <a:bodyPr/>
          <a:p/>
        </p:txBody>
      </p:sp>
      <p:sp>
        <p:nvSpPr>
          <p:cNvPr id="18" name="Text 16"/>
          <p:cNvSpPr/>
          <p:nvPr/>
        </p:nvSpPr>
        <p:spPr>
          <a:xfrm>
            <a:off x="7680960" y="352044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1</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L-ați crede</a:t>
            </a:r>
            <a:endParaRPr lang="en-US" sz="1400" dirty="0"/>
          </a:p>
        </p:txBody>
      </p:sp>
      <p:sp>
        <p:nvSpPr>
          <p:cNvPr id="19" name="Text 17"/>
          <p:cNvSpPr/>
          <p:nvPr/>
        </p:nvSpPr>
        <p:spPr>
          <a:xfrm>
            <a:off x="9784080" y="352044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2</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l-ați crede</a:t>
            </a:r>
            <a:endParaRPr lang="en-US" sz="1400" dirty="0"/>
          </a:p>
        </p:txBody>
      </p:sp>
      <p:sp>
        <p:nvSpPr>
          <p:cNvPr id="20" name="Text 18"/>
          <p:cNvSpPr/>
          <p:nvPr/>
        </p:nvSpPr>
        <p:spPr>
          <a:xfrm>
            <a:off x="7498080" y="5486400"/>
            <a:ext cx="406908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Câte un voluntar din fiecare tabără: un minut pentru argument.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O șeptime, nu un sfert</a:t>
            </a:r>
            <a:endParaRPr lang="en-US" sz="3400" dirty="0"/>
          </a:p>
        </p:txBody>
      </p:sp>
      <p:sp>
        <p:nvSpPr>
          <p:cNvPr id="4" name="Shape 2"/>
          <p:cNvSpPr/>
          <p:nvPr/>
        </p:nvSpPr>
        <p:spPr>
          <a:xfrm>
            <a:off x="594360" y="1783080"/>
            <a:ext cx="3474720" cy="2286000"/>
          </a:xfrm>
          <a:prstGeom prst="roundRect">
            <a:avLst>
              <a:gd name="adj" fmla="val 3600"/>
            </a:avLst>
          </a:prstGeom>
          <a:solidFill>
            <a:srgbClr val="ECEAE4"/>
          </a:solidFill>
          <a:ln w="12700">
            <a:solidFill>
              <a:srgbClr val="ECEAE4"/>
            </a:solidFill>
            <a:prstDash val="solid"/>
          </a:ln>
        </p:spPr>
        <p:txBody>
          <a:bodyPr/>
          <a:p/>
        </p:txBody>
      </p:sp>
      <p:sp>
        <p:nvSpPr>
          <p:cNvPr id="5" name="Text 3"/>
          <p:cNvSpPr/>
          <p:nvPr/>
        </p:nvSpPr>
        <p:spPr>
          <a:xfrm>
            <a:off x="868680" y="1892808"/>
            <a:ext cx="2926080" cy="1143000"/>
          </a:xfrm>
          <a:prstGeom prst="rect">
            <a:avLst/>
          </a:prstGeom>
          <a:noFill/>
          <a:ln/>
        </p:spPr>
        <p:txBody>
          <a:bodyPr wrap="square" lIns="0" tIns="0" rIns="0" bIns="0" rtlCol="0" anchor="ctr"/>
          <a:lstStyle/>
          <a:p>
            <a:pPr indent="0" marL="0">
              <a:buNone/>
            </a:pPr>
            <a:r>
              <a:rPr lang="en-US" sz="6000" b="1" dirty="0">
                <a:solidFill>
                  <a:srgbClr val="0E7C6B"/>
                </a:solidFill>
                <a:latin typeface="Palatino Linotype" pitchFamily="34" charset="0"/>
                <a:ea typeface="Palatino Linotype" pitchFamily="34" charset="-122"/>
                <a:cs typeface="Palatino Linotype" pitchFamily="34" charset="-120"/>
              </a:rPr>
              <a:t>13,4%</a:t>
            </a:r>
            <a:endParaRPr lang="en-US" sz="6000" dirty="0"/>
          </a:p>
        </p:txBody>
      </p:sp>
      <p:sp>
        <p:nvSpPr>
          <p:cNvPr id="6" name="Text 4"/>
          <p:cNvSpPr/>
          <p:nvPr/>
        </p:nvSpPr>
        <p:spPr>
          <a:xfrm>
            <a:off x="868680" y="2944368"/>
            <a:ext cx="2926080" cy="105156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scăderea reală, 2015–2025</a:t>
            </a:r>
            <a:endParaRPr lang="en-US" sz="1200" dirty="0"/>
          </a:p>
        </p:txBody>
      </p:sp>
      <p:sp>
        <p:nvSpPr>
          <p:cNvPr id="7" name="Shape 5"/>
          <p:cNvSpPr/>
          <p:nvPr/>
        </p:nvSpPr>
        <p:spPr>
          <a:xfrm>
            <a:off x="4297680" y="1783080"/>
            <a:ext cx="3474720" cy="2286000"/>
          </a:xfrm>
          <a:prstGeom prst="roundRect">
            <a:avLst>
              <a:gd name="adj" fmla="val 3600"/>
            </a:avLst>
          </a:prstGeom>
          <a:solidFill>
            <a:srgbClr val="ECEAE4"/>
          </a:solidFill>
          <a:ln w="12700">
            <a:solidFill>
              <a:srgbClr val="ECEAE4"/>
            </a:solidFill>
            <a:prstDash val="solid"/>
          </a:ln>
        </p:spPr>
        <p:txBody>
          <a:bodyPr/>
          <a:p/>
        </p:txBody>
      </p:sp>
      <p:sp>
        <p:nvSpPr>
          <p:cNvPr id="8" name="Text 6"/>
          <p:cNvSpPr/>
          <p:nvPr/>
        </p:nvSpPr>
        <p:spPr>
          <a:xfrm>
            <a:off x="4572000" y="1892808"/>
            <a:ext cx="2926080" cy="1143000"/>
          </a:xfrm>
          <a:prstGeom prst="rect">
            <a:avLst/>
          </a:prstGeom>
          <a:noFill/>
          <a:ln/>
        </p:spPr>
        <p:txBody>
          <a:bodyPr wrap="square" lIns="0" tIns="0" rIns="0" bIns="0" rtlCol="0" anchor="ctr"/>
          <a:lstStyle/>
          <a:p>
            <a:pPr indent="0" marL="0">
              <a:buNone/>
            </a:pPr>
            <a:r>
              <a:rPr lang="en-US" sz="4800" b="1" dirty="0">
                <a:solidFill>
                  <a:srgbClr val="B02532"/>
                </a:solidFill>
                <a:latin typeface="Palatino Linotype" pitchFamily="34" charset="0"/>
                <a:ea typeface="Palatino Linotype" pitchFamily="34" charset="-122"/>
                <a:cs typeface="Palatino Linotype" pitchFamily="34" charset="-120"/>
              </a:rPr>
              <a:t>un sfert</a:t>
            </a:r>
            <a:endParaRPr lang="en-US" sz="4800" dirty="0"/>
          </a:p>
        </p:txBody>
      </p:sp>
      <p:sp>
        <p:nvSpPr>
          <p:cNvPr id="9" name="Text 7"/>
          <p:cNvSpPr/>
          <p:nvPr/>
        </p:nvSpPr>
        <p:spPr>
          <a:xfrm>
            <a:off x="4572000" y="2944368"/>
            <a:ext cx="2926080" cy="105156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cât spune titlul</a:t>
            </a:r>
            <a:endParaRPr lang="en-US" sz="1200" dirty="0"/>
          </a:p>
        </p:txBody>
      </p:sp>
      <p:sp>
        <p:nvSpPr>
          <p:cNvPr id="10" name="Shape 8"/>
          <p:cNvSpPr/>
          <p:nvPr/>
        </p:nvSpPr>
        <p:spPr>
          <a:xfrm>
            <a:off x="8001000" y="1783080"/>
            <a:ext cx="3566160" cy="2286000"/>
          </a:xfrm>
          <a:prstGeom prst="roundRect">
            <a:avLst>
              <a:gd name="adj" fmla="val 3600"/>
            </a:avLst>
          </a:prstGeom>
          <a:solidFill>
            <a:srgbClr val="ECEAE4"/>
          </a:solidFill>
          <a:ln w="12700">
            <a:solidFill>
              <a:srgbClr val="ECEAE4"/>
            </a:solidFill>
            <a:prstDash val="solid"/>
          </a:ln>
        </p:spPr>
        <p:txBody>
          <a:bodyPr/>
          <a:p/>
        </p:txBody>
      </p:sp>
      <p:sp>
        <p:nvSpPr>
          <p:cNvPr id="11" name="Text 9"/>
          <p:cNvSpPr/>
          <p:nvPr/>
        </p:nvSpPr>
        <p:spPr>
          <a:xfrm>
            <a:off x="8229600" y="1783080"/>
            <a:ext cx="3154680" cy="228600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Direcția e corectă; mărimea, exagerată aproape de două ori.</a:t>
            </a:r>
            <a:endParaRPr lang="en-US" sz="1450" dirty="0"/>
          </a:p>
        </p:txBody>
      </p:sp>
      <p:sp>
        <p:nvSpPr>
          <p:cNvPr id="12" name="Text 10"/>
          <p:cNvSpPr/>
          <p:nvPr/>
        </p:nvSpPr>
        <p:spPr>
          <a:xfrm>
            <a:off x="594360" y="4343400"/>
            <a:ext cx="10972800" cy="8229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O scădere cu o șeptime poate cere adaptarea serviciilor, nu neapărat închiderea lor.</a:t>
            </a:r>
            <a:endParaRPr lang="en-US" sz="1900" dirty="0"/>
          </a:p>
        </p:txBody>
      </p:sp>
      <p:sp>
        <p:nvSpPr>
          <p:cNvPr id="13" name="Text 11"/>
          <p:cNvSpPr/>
          <p:nvPr/>
        </p:nvSpPr>
        <p:spPr>
          <a:xfrm>
            <a:off x="594360" y="5257800"/>
            <a:ext cx="10972800" cy="6400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Înainte să scrieți un semnal pe fișă, căutați cifra la sursa ei și scrieți-o exact.</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ORA ECHIPEI, ACASĂ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Analiza externă a organizației voastre</a:t>
            </a:r>
            <a:endParaRPr lang="en-US" sz="3000" dirty="0"/>
          </a:p>
        </p:txBody>
      </p:sp>
      <p:sp>
        <p:nvSpPr>
          <p:cNvPr id="4" name="Shape 2"/>
          <p:cNvSpPr/>
          <p:nvPr/>
        </p:nvSpPr>
        <p:spPr>
          <a:xfrm>
            <a:off x="594360" y="1600200"/>
            <a:ext cx="7223760" cy="640080"/>
          </a:xfrm>
          <a:prstGeom prst="roundRect">
            <a:avLst>
              <a:gd name="adj" fmla="val 12857"/>
            </a:avLst>
          </a:prstGeom>
          <a:solidFill>
            <a:srgbClr val="1D1F2B"/>
          </a:solidFill>
          <a:ln w="12700">
            <a:solidFill>
              <a:srgbClr val="1D1F2B"/>
            </a:solidFill>
            <a:prstDash val="solid"/>
          </a:ln>
        </p:spPr>
        <p:txBody>
          <a:bodyPr/>
          <a:p/>
        </p:txBody>
      </p:sp>
      <p:sp>
        <p:nvSpPr>
          <p:cNvPr id="5" name="Shape 3"/>
          <p:cNvSpPr/>
          <p:nvPr/>
        </p:nvSpPr>
        <p:spPr>
          <a:xfrm>
            <a:off x="777240" y="1709928"/>
            <a:ext cx="420624" cy="420624"/>
          </a:xfrm>
          <a:prstGeom prst="ellipse">
            <a:avLst/>
          </a:prstGeom>
          <a:solidFill>
            <a:srgbClr val="27D3BE"/>
          </a:solidFill>
          <a:ln/>
        </p:spPr>
        <p:txBody>
          <a:bodyPr/>
          <a:p/>
        </p:txBody>
      </p:sp>
      <p:sp>
        <p:nvSpPr>
          <p:cNvPr id="6" name="Text 4"/>
          <p:cNvSpPr/>
          <p:nvPr/>
        </p:nvSpPr>
        <p:spPr>
          <a:xfrm>
            <a:off x="777240" y="1709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00200"/>
            <a:ext cx="6309360" cy="6400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Porniți de la fișa organizației.</a:t>
            </a:r>
            <a:endParaRPr lang="en-US" sz="1400" dirty="0"/>
          </a:p>
        </p:txBody>
      </p:sp>
      <p:sp>
        <p:nvSpPr>
          <p:cNvPr id="8" name="Shape 6"/>
          <p:cNvSpPr/>
          <p:nvPr/>
        </p:nvSpPr>
        <p:spPr>
          <a:xfrm>
            <a:off x="594360" y="2331720"/>
            <a:ext cx="7223760" cy="640080"/>
          </a:xfrm>
          <a:prstGeom prst="roundRect">
            <a:avLst>
              <a:gd name="adj" fmla="val 12857"/>
            </a:avLst>
          </a:prstGeom>
          <a:solidFill>
            <a:srgbClr val="1D1F2B"/>
          </a:solidFill>
          <a:ln w="12700">
            <a:solidFill>
              <a:srgbClr val="1D1F2B"/>
            </a:solidFill>
            <a:prstDash val="solid"/>
          </a:ln>
        </p:spPr>
        <p:txBody>
          <a:bodyPr/>
          <a:p/>
        </p:txBody>
      </p:sp>
      <p:sp>
        <p:nvSpPr>
          <p:cNvPr id="9" name="Shape 7"/>
          <p:cNvSpPr/>
          <p:nvPr/>
        </p:nvSpPr>
        <p:spPr>
          <a:xfrm>
            <a:off x="777240" y="2441448"/>
            <a:ext cx="420624" cy="420624"/>
          </a:xfrm>
          <a:prstGeom prst="ellipse">
            <a:avLst/>
          </a:prstGeom>
          <a:solidFill>
            <a:srgbClr val="27D3BE"/>
          </a:solidFill>
          <a:ln/>
        </p:spPr>
        <p:txBody>
          <a:bodyPr/>
          <a:p/>
        </p:txBody>
      </p:sp>
      <p:sp>
        <p:nvSpPr>
          <p:cNvPr id="10" name="Text 8"/>
          <p:cNvSpPr/>
          <p:nvPr/>
        </p:nvSpPr>
        <p:spPr>
          <a:xfrm>
            <a:off x="777240" y="2441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71600" y="2331720"/>
            <a:ext cx="6309360" cy="6400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Analiza PESTEL: un semnal pe categorie.</a:t>
            </a:r>
            <a:endParaRPr lang="en-US" sz="1400" dirty="0"/>
          </a:p>
        </p:txBody>
      </p:sp>
      <p:sp>
        <p:nvSpPr>
          <p:cNvPr id="12" name="Shape 10"/>
          <p:cNvSpPr/>
          <p:nvPr/>
        </p:nvSpPr>
        <p:spPr>
          <a:xfrm>
            <a:off x="594360" y="3063240"/>
            <a:ext cx="7223760" cy="640080"/>
          </a:xfrm>
          <a:prstGeom prst="roundRect">
            <a:avLst>
              <a:gd name="adj" fmla="val 12857"/>
            </a:avLst>
          </a:prstGeom>
          <a:solidFill>
            <a:srgbClr val="1D1F2B"/>
          </a:solidFill>
          <a:ln w="12700">
            <a:solidFill>
              <a:srgbClr val="1D1F2B"/>
            </a:solidFill>
            <a:prstDash val="solid"/>
          </a:ln>
        </p:spPr>
        <p:txBody>
          <a:bodyPr/>
          <a:p/>
        </p:txBody>
      </p:sp>
      <p:sp>
        <p:nvSpPr>
          <p:cNvPr id="13" name="Shape 11"/>
          <p:cNvSpPr/>
          <p:nvPr/>
        </p:nvSpPr>
        <p:spPr>
          <a:xfrm>
            <a:off x="777240" y="3172968"/>
            <a:ext cx="420624" cy="420624"/>
          </a:xfrm>
          <a:prstGeom prst="ellipse">
            <a:avLst/>
          </a:prstGeom>
          <a:solidFill>
            <a:srgbClr val="27D3BE"/>
          </a:solidFill>
          <a:ln/>
        </p:spPr>
        <p:txBody>
          <a:bodyPr/>
          <a:p/>
        </p:txBody>
      </p:sp>
      <p:sp>
        <p:nvSpPr>
          <p:cNvPr id="14" name="Text 12"/>
          <p:cNvSpPr/>
          <p:nvPr/>
        </p:nvSpPr>
        <p:spPr>
          <a:xfrm>
            <a:off x="777240" y="31729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71600" y="3063240"/>
            <a:ext cx="6309360" cy="6400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Trei fișe ale problemelor externe.</a:t>
            </a:r>
            <a:endParaRPr lang="en-US" sz="1400" dirty="0"/>
          </a:p>
        </p:txBody>
      </p:sp>
      <p:sp>
        <p:nvSpPr>
          <p:cNvPr id="16" name="Shape 14"/>
          <p:cNvSpPr/>
          <p:nvPr/>
        </p:nvSpPr>
        <p:spPr>
          <a:xfrm>
            <a:off x="594360" y="3794760"/>
            <a:ext cx="7223760" cy="640080"/>
          </a:xfrm>
          <a:prstGeom prst="roundRect">
            <a:avLst>
              <a:gd name="adj" fmla="val 12857"/>
            </a:avLst>
          </a:prstGeom>
          <a:solidFill>
            <a:srgbClr val="1D1F2B"/>
          </a:solidFill>
          <a:ln w="12700">
            <a:solidFill>
              <a:srgbClr val="1D1F2B"/>
            </a:solidFill>
            <a:prstDash val="solid"/>
          </a:ln>
        </p:spPr>
        <p:txBody>
          <a:bodyPr/>
          <a:p/>
        </p:txBody>
      </p:sp>
      <p:sp>
        <p:nvSpPr>
          <p:cNvPr id="17" name="Shape 15"/>
          <p:cNvSpPr/>
          <p:nvPr/>
        </p:nvSpPr>
        <p:spPr>
          <a:xfrm>
            <a:off x="777240" y="3904488"/>
            <a:ext cx="420624" cy="420624"/>
          </a:xfrm>
          <a:prstGeom prst="ellipse">
            <a:avLst/>
          </a:prstGeom>
          <a:solidFill>
            <a:srgbClr val="27D3BE"/>
          </a:solidFill>
          <a:ln/>
        </p:spPr>
        <p:txBody>
          <a:bodyPr/>
          <a:p/>
        </p:txBody>
      </p:sp>
      <p:sp>
        <p:nvSpPr>
          <p:cNvPr id="18" name="Text 16"/>
          <p:cNvSpPr/>
          <p:nvPr/>
        </p:nvSpPr>
        <p:spPr>
          <a:xfrm>
            <a:off x="777240" y="3904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71600" y="3794760"/>
            <a:ext cx="6309360" cy="6400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Note de impact și probabilitate, cu argument și orizont de timp.</a:t>
            </a:r>
            <a:endParaRPr lang="en-US" sz="1400" dirty="0"/>
          </a:p>
        </p:txBody>
      </p:sp>
      <p:sp>
        <p:nvSpPr>
          <p:cNvPr id="20" name="Shape 18"/>
          <p:cNvSpPr/>
          <p:nvPr/>
        </p:nvSpPr>
        <p:spPr>
          <a:xfrm>
            <a:off x="594360" y="4526280"/>
            <a:ext cx="7223760" cy="640080"/>
          </a:xfrm>
          <a:prstGeom prst="roundRect">
            <a:avLst>
              <a:gd name="adj" fmla="val 12857"/>
            </a:avLst>
          </a:prstGeom>
          <a:solidFill>
            <a:srgbClr val="1D1F2B"/>
          </a:solidFill>
          <a:ln w="12700">
            <a:solidFill>
              <a:srgbClr val="1D1F2B"/>
            </a:solidFill>
            <a:prstDash val="solid"/>
          </a:ln>
        </p:spPr>
        <p:txBody>
          <a:bodyPr/>
          <a:p/>
        </p:txBody>
      </p:sp>
      <p:sp>
        <p:nvSpPr>
          <p:cNvPr id="21" name="Shape 19"/>
          <p:cNvSpPr/>
          <p:nvPr/>
        </p:nvSpPr>
        <p:spPr>
          <a:xfrm>
            <a:off x="777240" y="4636008"/>
            <a:ext cx="420624" cy="420624"/>
          </a:xfrm>
          <a:prstGeom prst="ellipse">
            <a:avLst/>
          </a:prstGeom>
          <a:solidFill>
            <a:srgbClr val="27D3BE"/>
          </a:solidFill>
          <a:ln/>
        </p:spPr>
        <p:txBody>
          <a:bodyPr/>
          <a:p/>
        </p:txBody>
      </p:sp>
      <p:sp>
        <p:nvSpPr>
          <p:cNvPr id="22" name="Text 20"/>
          <p:cNvSpPr/>
          <p:nvPr/>
        </p:nvSpPr>
        <p:spPr>
          <a:xfrm>
            <a:off x="777240" y="46360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71600" y="4526280"/>
            <a:ext cx="6309360" cy="64008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Lista surselor; trimite coordonatorul.</a:t>
            </a:r>
            <a:endParaRPr lang="en-US" sz="1400" dirty="0"/>
          </a:p>
        </p:txBody>
      </p:sp>
      <p:sp>
        <p:nvSpPr>
          <p:cNvPr id="24" name="Shape 22"/>
          <p:cNvSpPr/>
          <p:nvPr/>
        </p:nvSpPr>
        <p:spPr>
          <a:xfrm>
            <a:off x="8046720" y="1600200"/>
            <a:ext cx="3520440" cy="1600200"/>
          </a:xfrm>
          <a:prstGeom prst="roundRect">
            <a:avLst>
              <a:gd name="adj" fmla="val 5143"/>
            </a:avLst>
          </a:prstGeom>
          <a:solidFill>
            <a:srgbClr val="FF4757"/>
          </a:solidFill>
          <a:ln w="12700">
            <a:solidFill>
              <a:srgbClr val="FF4757"/>
            </a:solidFill>
            <a:prstDash val="solid"/>
          </a:ln>
        </p:spPr>
        <p:txBody>
          <a:bodyPr/>
          <a:p/>
        </p:txBody>
      </p:sp>
      <p:sp>
        <p:nvSpPr>
          <p:cNvPr id="25" name="Text 23"/>
          <p:cNvSpPr/>
          <p:nvPr/>
        </p:nvSpPr>
        <p:spPr>
          <a:xfrm>
            <a:off x="8321040" y="1737360"/>
            <a:ext cx="3017520" cy="320040"/>
          </a:xfrm>
          <a:prstGeom prst="rect">
            <a:avLst/>
          </a:prstGeom>
          <a:noFill/>
          <a:ln/>
        </p:spPr>
        <p:txBody>
          <a:bodyPr wrap="square" lIns="0" tIns="0" rIns="0" bIns="0" rtlCol="0" anchor="t"/>
          <a:lstStyle/>
          <a:p>
            <a:pPr indent="0" marL="0">
              <a:buNone/>
            </a:pPr>
            <a:r>
              <a:rPr lang="en-US" sz="1300" b="1" spc="300" kern="0" dirty="0">
                <a:solidFill>
                  <a:srgbClr val="2E060B"/>
                </a:solidFill>
                <a:latin typeface="Palatino Linotype" pitchFamily="34" charset="0"/>
                <a:ea typeface="Palatino Linotype" pitchFamily="34" charset="-122"/>
                <a:cs typeface="Palatino Linotype" pitchFamily="34" charset="-120"/>
              </a:rPr>
              <a:t>TERMENUL</a:t>
            </a:r>
            <a:endParaRPr lang="en-US" sz="1300" dirty="0"/>
          </a:p>
        </p:txBody>
      </p:sp>
      <p:sp>
        <p:nvSpPr>
          <p:cNvPr id="26" name="Text 24"/>
          <p:cNvSpPr/>
          <p:nvPr/>
        </p:nvSpPr>
        <p:spPr>
          <a:xfrm>
            <a:off x="8321040" y="2103120"/>
            <a:ext cx="3154680" cy="731520"/>
          </a:xfrm>
          <a:prstGeom prst="rect">
            <a:avLst/>
          </a:prstGeom>
          <a:noFill/>
          <a:ln/>
        </p:spPr>
        <p:txBody>
          <a:bodyPr wrap="square" lIns="0" tIns="0" rIns="0" bIns="0" rtlCol="0" anchor="t"/>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duminică 25.10.2026, ora 22:00</a:t>
            </a:r>
            <a:endParaRPr lang="en-US" sz="1700" dirty="0"/>
          </a:p>
        </p:txBody>
      </p:sp>
      <p:sp>
        <p:nvSpPr>
          <p:cNvPr id="27" name="Text 25"/>
          <p:cNvSpPr/>
          <p:nvPr/>
        </p:nvSpPr>
        <p:spPr>
          <a:xfrm>
            <a:off x="8321040" y="2788920"/>
            <a:ext cx="3108960" cy="365760"/>
          </a:xfrm>
          <a:prstGeom prst="rect">
            <a:avLst/>
          </a:prstGeom>
          <a:noFill/>
          <a:ln/>
        </p:spPr>
        <p:txBody>
          <a:bodyPr wrap="square" lIns="0" tIns="0" rIns="0" bIns="0" rtlCol="0" anchor="t"/>
          <a:lstStyle/>
          <a:p>
            <a:pPr indent="0" marL="0">
              <a:buNone/>
            </a:pPr>
            <a:r>
              <a:rPr lang="en-US" sz="1300" dirty="0">
                <a:solidFill>
                  <a:srgbClr val="2E060B"/>
                </a:solidFill>
                <a:latin typeface="Palatino Linotype" pitchFamily="34" charset="0"/>
                <a:ea typeface="Palatino Linotype" pitchFamily="34" charset="-122"/>
                <a:cs typeface="Palatino Linotype" pitchFamily="34" charset="-120"/>
              </a:rPr>
              <a:t>un formular pe echipă</a:t>
            </a:r>
            <a:endParaRPr lang="en-US" sz="1300" dirty="0"/>
          </a:p>
        </p:txBody>
      </p:sp>
      <p:sp>
        <p:nvSpPr>
          <p:cNvPr id="28" name="Shape 26"/>
          <p:cNvSpPr/>
          <p:nvPr/>
        </p:nvSpPr>
        <p:spPr>
          <a:xfrm>
            <a:off x="8046720" y="3337560"/>
            <a:ext cx="3520440" cy="2606040"/>
          </a:xfrm>
          <a:prstGeom prst="roundRect">
            <a:avLst>
              <a:gd name="adj" fmla="val 3158"/>
            </a:avLst>
          </a:prstGeom>
          <a:solidFill>
            <a:srgbClr val="272A38"/>
          </a:solidFill>
          <a:ln w="12700">
            <a:solidFill>
              <a:srgbClr val="272A38"/>
            </a:solidFill>
            <a:prstDash val="solid"/>
          </a:ln>
        </p:spPr>
        <p:txBody>
          <a:bodyPr/>
          <a:p/>
        </p:txBody>
      </p:sp>
      <p:sp>
        <p:nvSpPr>
          <p:cNvPr id="29" name="Text 27"/>
          <p:cNvSpPr/>
          <p:nvPr/>
        </p:nvSpPr>
        <p:spPr>
          <a:xfrm>
            <a:off x="8275320" y="3337560"/>
            <a:ext cx="3108960" cy="2606040"/>
          </a:xfrm>
          <a:prstGeom prst="rect">
            <a:avLst/>
          </a:prstGeom>
          <a:noFill/>
          <a:ln/>
        </p:spPr>
        <p:txBody>
          <a:bodyPr wrap="square" lIns="0" tIns="0" rIns="0" bIns="0" rtlCol="0" anchor="ctr"/>
          <a:lstStyle/>
          <a:p>
            <a:pPr indent="0" marL="0">
              <a:spcAft>
                <a:spcPts val="400"/>
              </a:spcAft>
              <a:buNone/>
            </a:pPr>
            <a:r>
              <a:rPr lang="en-US" sz="1700" b="1" dirty="0">
                <a:solidFill>
                  <a:srgbClr val="FFC24B"/>
                </a:solidFill>
                <a:latin typeface="Palatino Linotype" pitchFamily="34" charset="0"/>
                <a:ea typeface="Palatino Linotype" pitchFamily="34" charset="-122"/>
                <a:cs typeface="Palatino Linotype" pitchFamily="34" charset="-120"/>
              </a:rPr>
              <a:t>0, 1 sau 2 puncte</a:t>
            </a:r>
            <a:endParaRPr lang="en-US" sz="1300" dirty="0"/>
          </a:p>
          <a:p>
            <a:pPr indent="0" marL="0">
              <a:spcAft>
                <a:spcPts val="400"/>
              </a:spcAft>
              <a:buNone/>
            </a:pPr>
            <a:r>
              <a:rPr lang="en-US" sz="1300" dirty="0">
                <a:solidFill>
                  <a:srgbClr val="FFFFFF"/>
                </a:solidFill>
                <a:latin typeface="Palatino Linotype" pitchFamily="34" charset="0"/>
                <a:ea typeface="Palatino Linotype" pitchFamily="34" charset="-122"/>
                <a:cs typeface="Palatino Linotype" pitchFamily="34" charset="-120"/>
              </a:rPr>
              <a:t>2: cinci categorii acoperite, trei fișe complete, surse cu anul.</a:t>
            </a:r>
            <a:endParaRPr lang="en-US" sz="1300" dirty="0"/>
          </a:p>
          <a:p>
            <a:pPr indent="0" marL="0">
              <a:spcAft>
                <a:spcPts val="400"/>
              </a:spcAft>
              <a:buNone/>
            </a:pPr>
            <a:r>
              <a:rPr lang="en-US" sz="1300" dirty="0">
                <a:solidFill>
                  <a:srgbClr val="FFFFFF"/>
                </a:solidFill>
                <a:latin typeface="Palatino Linotype" pitchFamily="34" charset="0"/>
                <a:ea typeface="Palatino Linotype" pitchFamily="34" charset="-122"/>
                <a:cs typeface="Palatino Linotype" pitchFamily="34" charset="-120"/>
              </a:rPr>
              <a:t>1: o categorie lipsă sau fișe incomplete.</a:t>
            </a:r>
            <a:endParaRPr lang="en-US" sz="1300" dirty="0"/>
          </a:p>
          <a:p>
            <a:pPr indent="0" marL="0">
              <a:spcAft>
                <a:spcPts val="400"/>
              </a:spcAft>
              <a:buNone/>
            </a:pPr>
            <a:r>
              <a:rPr lang="en-US" sz="1300" dirty="0">
                <a:solidFill>
                  <a:srgbClr val="FFFFFF"/>
                </a:solidFill>
                <a:latin typeface="Palatino Linotype" pitchFamily="34" charset="0"/>
                <a:ea typeface="Palatino Linotype" pitchFamily="34" charset="-122"/>
                <a:cs typeface="Palatino Linotype" pitchFamily="34" charset="-120"/>
              </a:rPr>
              <a:t>0: nepredată sau fără surse.</a:t>
            </a:r>
            <a:endParaRPr lang="en-US" sz="1300" dirty="0"/>
          </a:p>
        </p:txBody>
      </p:sp>
      <p:sp>
        <p:nvSpPr>
          <p:cNvPr id="30" name="Text 28"/>
          <p:cNvSpPr/>
          <p:nvPr/>
        </p:nvSpPr>
        <p:spPr>
          <a:xfrm>
            <a:off x="594360" y="5440680"/>
            <a:ext cx="7223760" cy="45720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Obligatoriu: „Ce a făcut fiecare membru al echipei”.</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UNDE ÎNCEPEȚI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Unde găsiți date publice</a:t>
            </a:r>
            <a:endParaRPr lang="en-US" sz="3200" dirty="0"/>
          </a:p>
        </p:txBody>
      </p:sp>
      <p:sp>
        <p:nvSpPr>
          <p:cNvPr id="4" name="Shape 2"/>
          <p:cNvSpPr/>
          <p:nvPr/>
        </p:nvSpPr>
        <p:spPr>
          <a:xfrm>
            <a:off x="594360" y="169164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5" name="Text 3"/>
          <p:cNvSpPr/>
          <p:nvPr/>
        </p:nvSpPr>
        <p:spPr>
          <a:xfrm>
            <a:off x="822960" y="1691640"/>
            <a:ext cx="2926080" cy="6400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Socială și demografică</a:t>
            </a:r>
            <a:endParaRPr lang="en-US" sz="1500" dirty="0"/>
          </a:p>
        </p:txBody>
      </p:sp>
      <p:sp>
        <p:nvSpPr>
          <p:cNvPr id="6" name="Text 4"/>
          <p:cNvSpPr/>
          <p:nvPr/>
        </p:nvSpPr>
        <p:spPr>
          <a:xfrm>
            <a:off x="3840480" y="1691640"/>
            <a:ext cx="754380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INS, baza TEMPO; Eurostat</a:t>
            </a:r>
            <a:endParaRPr lang="en-US" sz="1500" dirty="0"/>
          </a:p>
        </p:txBody>
      </p:sp>
      <p:sp>
        <p:nvSpPr>
          <p:cNvPr id="7" name="Shape 5"/>
          <p:cNvSpPr/>
          <p:nvPr/>
        </p:nvSpPr>
        <p:spPr>
          <a:xfrm>
            <a:off x="594360" y="242316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8" name="Text 6"/>
          <p:cNvSpPr/>
          <p:nvPr/>
        </p:nvSpPr>
        <p:spPr>
          <a:xfrm>
            <a:off x="822960" y="2423160"/>
            <a:ext cx="2926080" cy="6400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Economică</a:t>
            </a:r>
            <a:endParaRPr lang="en-US" sz="1500" dirty="0"/>
          </a:p>
        </p:txBody>
      </p:sp>
      <p:sp>
        <p:nvSpPr>
          <p:cNvPr id="9" name="Text 7"/>
          <p:cNvSpPr/>
          <p:nvPr/>
        </p:nvSpPr>
        <p:spPr>
          <a:xfrm>
            <a:off x="3840480" y="2423160"/>
            <a:ext cx="754380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profilul de țară OCDE; casa județeană; bugetul organizației</a:t>
            </a:r>
            <a:endParaRPr lang="en-US" sz="1500" dirty="0"/>
          </a:p>
        </p:txBody>
      </p:sp>
      <p:sp>
        <p:nvSpPr>
          <p:cNvPr id="10" name="Shape 8"/>
          <p:cNvSpPr/>
          <p:nvPr/>
        </p:nvSpPr>
        <p:spPr>
          <a:xfrm>
            <a:off x="594360" y="315468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1" name="Text 9"/>
          <p:cNvSpPr/>
          <p:nvPr/>
        </p:nvSpPr>
        <p:spPr>
          <a:xfrm>
            <a:off x="822960" y="3154680"/>
            <a:ext cx="2926080" cy="6400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Legislativă și politică</a:t>
            </a:r>
            <a:endParaRPr lang="en-US" sz="1500" dirty="0"/>
          </a:p>
        </p:txBody>
      </p:sp>
      <p:sp>
        <p:nvSpPr>
          <p:cNvPr id="12" name="Text 10"/>
          <p:cNvSpPr/>
          <p:nvPr/>
        </p:nvSpPr>
        <p:spPr>
          <a:xfrm>
            <a:off x="3840480" y="3154680"/>
            <a:ext cx="754380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portalul legislativ; Strategia națională de sănătate</a:t>
            </a:r>
            <a:endParaRPr lang="en-US" sz="1500" dirty="0"/>
          </a:p>
        </p:txBody>
      </p:sp>
      <p:sp>
        <p:nvSpPr>
          <p:cNvPr id="13" name="Shape 11"/>
          <p:cNvSpPr/>
          <p:nvPr/>
        </p:nvSpPr>
        <p:spPr>
          <a:xfrm>
            <a:off x="594360" y="3886200"/>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4" name="Text 12"/>
          <p:cNvSpPr/>
          <p:nvPr/>
        </p:nvSpPr>
        <p:spPr>
          <a:xfrm>
            <a:off x="822960" y="3886200"/>
            <a:ext cx="2926080" cy="6400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Tehnologică</a:t>
            </a:r>
            <a:endParaRPr lang="en-US" sz="1500" dirty="0"/>
          </a:p>
        </p:txBody>
      </p:sp>
      <p:sp>
        <p:nvSpPr>
          <p:cNvPr id="15" name="Text 13"/>
          <p:cNvSpPr/>
          <p:nvPr/>
        </p:nvSpPr>
        <p:spPr>
          <a:xfrm>
            <a:off x="3840480" y="3886200"/>
            <a:ext cx="754380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Strategia națională; site-ul organizației</a:t>
            </a:r>
            <a:endParaRPr lang="en-US" sz="1500" dirty="0"/>
          </a:p>
        </p:txBody>
      </p:sp>
      <p:sp>
        <p:nvSpPr>
          <p:cNvPr id="16" name="Shape 14"/>
          <p:cNvSpPr/>
          <p:nvPr/>
        </p:nvSpPr>
        <p:spPr>
          <a:xfrm>
            <a:off x="594360" y="461772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7" name="Text 15"/>
          <p:cNvSpPr/>
          <p:nvPr/>
        </p:nvSpPr>
        <p:spPr>
          <a:xfrm>
            <a:off x="822960" y="4617720"/>
            <a:ext cx="2926080" cy="64008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Concurențială</a:t>
            </a:r>
            <a:endParaRPr lang="en-US" sz="1500" dirty="0"/>
          </a:p>
        </p:txBody>
      </p:sp>
      <p:sp>
        <p:nvSpPr>
          <p:cNvPr id="18" name="Text 16"/>
          <p:cNvSpPr/>
          <p:nvPr/>
        </p:nvSpPr>
        <p:spPr>
          <a:xfrm>
            <a:off x="3840480" y="4617720"/>
            <a:ext cx="7543800" cy="64008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CNAS, „Performanță Spitale Publice”</a:t>
            </a:r>
            <a:endParaRPr lang="en-US" sz="1500" dirty="0"/>
          </a:p>
        </p:txBody>
      </p:sp>
      <p:sp>
        <p:nvSpPr>
          <p:cNvPr id="19" name="Text 17"/>
          <p:cNvSpPr/>
          <p:nvPr/>
        </p:nvSpPr>
        <p:spPr>
          <a:xfrm>
            <a:off x="594360" y="5440680"/>
            <a:ext cx="10972800" cy="6400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Orice cifră: sursa și anul. Inteligența artificială nu este o sursă de cifre.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REȚINUT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luați cu voi</a:t>
            </a:r>
            <a:endParaRPr lang="en-US" sz="3200" dirty="0"/>
          </a:p>
        </p:txBody>
      </p:sp>
      <p:sp>
        <p:nvSpPr>
          <p:cNvPr id="4" name="Shape 2"/>
          <p:cNvSpPr/>
          <p:nvPr/>
        </p:nvSpPr>
        <p:spPr>
          <a:xfrm>
            <a:off x="594360" y="169164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5" name="Shape 3"/>
          <p:cNvSpPr/>
          <p:nvPr/>
        </p:nvSpPr>
        <p:spPr>
          <a:xfrm>
            <a:off x="868680" y="1847088"/>
            <a:ext cx="420624" cy="420624"/>
          </a:xfrm>
          <a:prstGeom prst="ellipse">
            <a:avLst/>
          </a:prstGeom>
          <a:solidFill>
            <a:srgbClr val="27D3BE"/>
          </a:solidFill>
          <a:ln/>
        </p:spPr>
        <p:txBody>
          <a:bodyPr/>
          <a:p/>
        </p:txBody>
      </p:sp>
      <p:sp>
        <p:nvSpPr>
          <p:cNvPr id="6" name="Text 4"/>
          <p:cNvSpPr/>
          <p:nvPr/>
        </p:nvSpPr>
        <p:spPr>
          <a:xfrm>
            <a:off x="868680" y="1847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91640"/>
            <a:ext cx="982980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 semnal se verifică în date publice înainte de a fi folosit; neverificat, rămâne o întrebare.</a:t>
            </a:r>
            <a:endParaRPr lang="en-US" sz="1700" dirty="0"/>
          </a:p>
        </p:txBody>
      </p:sp>
      <p:sp>
        <p:nvSpPr>
          <p:cNvPr id="8" name="Shape 6"/>
          <p:cNvSpPr/>
          <p:nvPr/>
        </p:nvSpPr>
        <p:spPr>
          <a:xfrm>
            <a:off x="594360" y="2532888"/>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9" name="Shape 7"/>
          <p:cNvSpPr/>
          <p:nvPr/>
        </p:nvSpPr>
        <p:spPr>
          <a:xfrm>
            <a:off x="868680" y="2688336"/>
            <a:ext cx="420624" cy="420624"/>
          </a:xfrm>
          <a:prstGeom prst="ellipse">
            <a:avLst/>
          </a:prstGeom>
          <a:solidFill>
            <a:srgbClr val="27D3BE"/>
          </a:solidFill>
          <a:ln/>
        </p:spPr>
        <p:txBody>
          <a:bodyPr/>
          <a:p/>
        </p:txBody>
      </p:sp>
      <p:sp>
        <p:nvSpPr>
          <p:cNvPr id="10" name="Text 8"/>
          <p:cNvSpPr/>
          <p:nvPr/>
        </p:nvSpPr>
        <p:spPr>
          <a:xfrm>
            <a:off x="868680" y="26883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532888"/>
            <a:ext cx="982980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Cele cinci categorii adună informația la un loc, ca să se vadă tiparele.</a:t>
            </a:r>
            <a:endParaRPr lang="en-US" sz="1700" dirty="0"/>
          </a:p>
        </p:txBody>
      </p:sp>
      <p:sp>
        <p:nvSpPr>
          <p:cNvPr id="12" name="Shape 10"/>
          <p:cNvSpPr/>
          <p:nvPr/>
        </p:nvSpPr>
        <p:spPr>
          <a:xfrm>
            <a:off x="594360" y="3374136"/>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3" name="Shape 11"/>
          <p:cNvSpPr/>
          <p:nvPr/>
        </p:nvSpPr>
        <p:spPr>
          <a:xfrm>
            <a:off x="868680" y="3529584"/>
            <a:ext cx="420624" cy="420624"/>
          </a:xfrm>
          <a:prstGeom prst="ellipse">
            <a:avLst/>
          </a:prstGeom>
          <a:solidFill>
            <a:srgbClr val="27D3BE"/>
          </a:solidFill>
          <a:ln/>
        </p:spPr>
        <p:txBody>
          <a:bodyPr/>
          <a:p/>
        </p:txBody>
      </p:sp>
      <p:sp>
        <p:nvSpPr>
          <p:cNvPr id="14" name="Text 12"/>
          <p:cNvSpPr/>
          <p:nvPr/>
        </p:nvSpPr>
        <p:spPr>
          <a:xfrm>
            <a:off x="868680" y="3529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74136"/>
            <a:ext cx="982980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 problemă se scrie pe o fișă cu cinci elemente, fără soluție.</a:t>
            </a:r>
            <a:endParaRPr lang="en-US" sz="1700" dirty="0"/>
          </a:p>
        </p:txBody>
      </p:sp>
      <p:sp>
        <p:nvSpPr>
          <p:cNvPr id="16" name="Shape 14"/>
          <p:cNvSpPr/>
          <p:nvPr/>
        </p:nvSpPr>
        <p:spPr>
          <a:xfrm>
            <a:off x="594360" y="4215384"/>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7" name="Shape 15"/>
          <p:cNvSpPr/>
          <p:nvPr/>
        </p:nvSpPr>
        <p:spPr>
          <a:xfrm>
            <a:off x="868680" y="4370832"/>
            <a:ext cx="420624" cy="420624"/>
          </a:xfrm>
          <a:prstGeom prst="ellipse">
            <a:avLst/>
          </a:prstGeom>
          <a:solidFill>
            <a:srgbClr val="27D3BE"/>
          </a:solidFill>
          <a:ln/>
        </p:spPr>
        <p:txBody>
          <a:bodyPr/>
          <a:p/>
        </p:txBody>
      </p:sp>
      <p:sp>
        <p:nvSpPr>
          <p:cNvPr id="18" name="Text 16"/>
          <p:cNvSpPr/>
          <p:nvPr/>
        </p:nvSpPr>
        <p:spPr>
          <a:xfrm>
            <a:off x="868680" y="43708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215384"/>
            <a:ext cx="982980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Impactul mare și probabilitatea mare decid ce intră în planul strategic.</a:t>
            </a:r>
            <a:endParaRPr lang="en-US" sz="1700" dirty="0"/>
          </a:p>
        </p:txBody>
      </p:sp>
      <p:sp>
        <p:nvSpPr>
          <p:cNvPr id="20" name="Shape 18"/>
          <p:cNvSpPr/>
          <p:nvPr/>
        </p:nvSpPr>
        <p:spPr>
          <a:xfrm>
            <a:off x="594360" y="5056632"/>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21" name="Shape 19"/>
          <p:cNvSpPr/>
          <p:nvPr/>
        </p:nvSpPr>
        <p:spPr>
          <a:xfrm>
            <a:off x="868680" y="5212080"/>
            <a:ext cx="420624" cy="420624"/>
          </a:xfrm>
          <a:prstGeom prst="ellipse">
            <a:avLst/>
          </a:prstGeom>
          <a:solidFill>
            <a:srgbClr val="27D3BE"/>
          </a:solidFill>
          <a:ln/>
        </p:spPr>
        <p:txBody>
          <a:bodyPr/>
          <a:p/>
        </p:txBody>
      </p:sp>
      <p:sp>
        <p:nvSpPr>
          <p:cNvPr id="22" name="Text 20"/>
          <p:cNvSpPr/>
          <p:nvPr/>
        </p:nvSpPr>
        <p:spPr>
          <a:xfrm>
            <a:off x="868680" y="5212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056632"/>
            <a:ext cx="982980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Notele sunt judecăți ale echipei, nu măsurători.</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758952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77440"/>
            <a:ext cx="3017520" cy="2606040"/>
          </a:xfrm>
          <a:prstGeom prst="roundRect">
            <a:avLst>
              <a:gd name="adj" fmla="val 3509"/>
            </a:avLst>
          </a:prstGeom>
          <a:solidFill>
            <a:srgbClr val="FFFFFF"/>
          </a:solidFill>
          <a:ln w="19050">
            <a:solidFill>
              <a:srgbClr val="8E94A8"/>
            </a:solidFill>
            <a:prstDash val="dash"/>
          </a:ln>
        </p:spPr>
        <p:txBody>
          <a:bodyPr/>
          <a:p/>
        </p:txBody>
      </p:sp>
      <p:sp>
        <p:nvSpPr>
          <p:cNvPr id="16" name="Text 14"/>
          <p:cNvSpPr/>
          <p:nvPr/>
        </p:nvSpPr>
        <p:spPr>
          <a:xfrm>
            <a:off x="8229600" y="5074920"/>
            <a:ext cx="3566160" cy="411480"/>
          </a:xfrm>
          <a:prstGeom prst="rect">
            <a:avLst/>
          </a:prstGeom>
          <a:noFill/>
          <a:ln/>
        </p:spPr>
        <p:txBody>
          <a:bodyPr wrap="square" lIns="0" tIns="0" rIns="0" bIns="0" rtlCol="0" anchor="t"/>
          <a:lstStyle/>
          <a:p>
            <a:pPr algn="ctr" indent="0" marL="0">
              <a:buNone/>
            </a:pPr>
            <a:r>
              <a:rPr lang="en-US" sz="13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300" dirty="0"/>
          </a:p>
        </p:txBody>
      </p:sp>
      <p:sp>
        <p:nvSpPr>
          <p:cNvPr id="17" name="Text 15"/>
          <p:cNvSpPr/>
          <p:nvPr/>
        </p:nvSpPr>
        <p:spPr>
          <a:xfrm>
            <a:off x="594360" y="5257800"/>
            <a:ext cx="7498080" cy="9144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De mâine: când auziți că „populația scade, deci spitalul nu mai are rost”, întrebați cu cât a scăzut și după ce sursă, ce s-a schimbat în structura populației și ce servicii cer cei care au rămas.</a:t>
            </a:r>
            <a:endParaRPr lang="en-US" sz="1600" dirty="0"/>
          </a:p>
        </p:txBody>
      </p:sp>
      <p:pic>
        <p:nvPicPr>
          <p:cNvPr id="18" name="Picture 17" descr="Mentimeter_UB_MSSS_LP02.png"/>
          <p:cNvPicPr>
            <a:picLocks noChangeAspect="1"/>
          </p:cNvPicPr>
          <p:nvPr/>
        </p:nvPicPr>
        <p:blipFill>
          <a:blip r:embed="rId3"/>
          <a:stretch>
            <a:fillRect/>
          </a:stretch>
        </p:blipFill>
        <p:spPr>
          <a:xfrm>
            <a:off x="9069070" y="2377440"/>
            <a:ext cx="1978660" cy="1978660"/>
          </a:xfrm>
          <a:prstGeom prst="rect">
            <a:avLst/>
          </a:prstGeom>
        </p:spPr>
      </p:pic>
      <p:sp>
        <p:nvSpPr>
          <p:cNvPr id="19" name="TextBox 18"/>
          <p:cNvSpPr txBox="1"/>
          <p:nvPr/>
        </p:nvSpPr>
        <p:spPr>
          <a:xfrm>
            <a:off x="8686800" y="4394200"/>
            <a:ext cx="27432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MSSS · Seminarul 2 · Analiza mediului extern</dc:title>
  <dc:subject>PptxGenJS Presentation</dc:subject>
  <dc:creator>Conf. Univ. Dr. Adrian Pana</dc:creator>
  <cp:lastModifiedBy>Conf. Univ. Dr. Adrian Pana</cp:lastModifiedBy>
  <cp:revision>1</cp:revision>
  <dcterms:created xsi:type="dcterms:W3CDTF">2026-10-17T07:54:00Z</dcterms:created>
  <dcterms:modified xsi:type="dcterms:W3CDTF">2026-10-17T07:54:00Z</dcterms:modified>
  <cp:keywords>sursa_amprenta=2b2b781cf7a651a8; proiectie</cp:keywords>
</cp:coreProperties>
</file>