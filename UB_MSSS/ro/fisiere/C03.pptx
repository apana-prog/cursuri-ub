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Întrebarea ședinței este: ce intră, din toată harta problemelor, în planul unei organizații de sănătate?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Săptămâna trecută ați construit harta problemelor: un tabel cu straturile mediului pe o latură și cele cinci categorii de schimbare pe cealaltă. Harta avea însă multe căsuțe goale și nu spunea ce face managerul cu ea. Azi răspundem la două întrebări: cum se umple harta cu date despre România și cum se alege, din tot ce este pe ea, ceea ce intră în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Gândiți-vă la ultima analiză sau la ultima consultație pentru care voi sau cineva din familia voastră ați ales între două locuri. De ce ați ales unul și nu celălalt? Drumul, programul, așteptarea, un medic recomandat? Răspunsul vostru este punctul de plecare al ședinței.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Situația este construită pentru acest curs. Spitalul județean are un aparat de rezonanță magnetică (RMN), care lucrează în zilele lucrătoare, dimineața și la prânz. Anul trecut, în același oraș s-a deschis un centru privat de imagistică, care lucrează în fiecare zi până seara târziu.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După câteva luni, șeful laboratorului de radiologie al spitalului observă trei lucruri. Managerul pregătește planul spitalului și are pe birou harta problemelor din cursul trecut. Întrebarea lui este a voastră: ce trebuie să intre în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 anonim pe telefon: ce explică cel mai bine de ce pacienții din oraș merg la centrul privat? O singură variantă.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Cazul nu spune nimic despre calitatea investigațiilor și nici despre recomandările medicilor. El spune, în schimb, că centrul lucrează seara și că la spital se așteaptă săptămâni. Varianta cu programul și așteptarea este, așadar, singura susținută de ce știm.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Întrebarea ședinței, ce intră din toată harta în plan, are deja un răspuns provizoriu: nu tot. Managerul din caz trebuie deci să facă trei lucruri, în ordine: să umple harta cu date, nu cu impresii; să înțeleagă de unde vin și unde pleacă pacienții fiecărui serviciu; să ordoneze problemele și să aleagă puține.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Mentimeter, un singur cuvânt: ce v-a făcut ultima dată să alegeți un anumit loc pentru o analiză sau o consultație? Cuvintele apar pe ecran sub forma unui nor.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 sarcină a managerului este să umple harta. Pentru fiecare categorie, el caută ce s-a schimbat în ultimii ani în țară, în sistemul de sănătate și în aria spitalului lui. Fiecare categorie are întrebarea ei, datele publice care o lămuresc și ce înseamnă ele pentru un 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România cheltuie pe sănătate mai puțin decât orice altă țară din Uniunea Europeană, dacă socotim pe locuitor. În 2023, cheltuiala a fost de 1 800 de euro pe locuitor, ajustată la diferențele de putere de cumpărare, adică mai puțin de jumătate din media europeană de 3 832 de euro.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 cheltuiala totală din 2023, sursele publice au acoperit 77%, iar restul de 23% a venit din bani privați, aproape în întregime plătiți direct de pacienți. Felul în care se plătește contează la fel de mult ca suma. Un spital plătit pe caz câștigă din cazurile pentru care tariful acoperă costul și pierde din celelalte.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vârstnic revine astăzi la aproximativ trei adulți de vârstă activă, iar proiecțiile Eurostat arată un raport de aproximativ un vârstnic la doi adulți în 2050. Pentru un spital, îmbătrânirea înseamnă mai multe boli cronice, mai multă recuperare și mai multă îngrijire de lungă durată, deci alt amestec de servicii.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spitalul din caz, cele trei fapte se leagă. Prezentarea cursului vorbește aici despre un cerc vicios: plecarea personalului lungește așteptarea, așteptarea crește costurile pentru pacienți, iar nevoile nesatisfăcute cresc tocmai la grupurile vulnerabile.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un furnizor de servicii medicale din România, cele mai importante sunt două documente care se schimbă des: Contractul-cadru, aprobat împreună cu pachetele de servicii prin Hotărârea Guvernului nr. 521 din 2023, și Normele metodologice de aplicare. Pachetele definesc ce servicii sunt decontate și pe ce traseu ajunge pacientul la 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spitale, accesul la banii publici depinde și de acreditare. Un spital care nu obține acreditarea în 5 ani de la autorizația de funcționare nu poate încheia contract cu casele de asigurări de sănătate. Acreditarea este, astfel, una dintre barierele pe care le întâlnește un spital nou care vrea să intre pe piață.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Regulamentul (UE) 2025/327 referitor la spațiul european al datelor privind sănătatea a fost adoptat la 11 februarie 2025 și se aplică de la 26 martie 2027. Drepturile pacienților asupra datelor lor și schimbul acestor date se aplică eșalonat, pe categorii de date, de la 26 martie 2029 și de la 26 martie 2031.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Profilul de țară din 2025 arată că Planul național de redresare și reziliență alocă 300 de milioane de euro pentru digitalizarea sistemului de sănătate. Același profil arată însă că folosirea consultațiilor la distanță rămâne limitată în România. Pentru spitalul din caz, tehnologia este și o problemă, și o oportunitate.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Plățile directe ale pacienților sunt mari: aproape toată cheltuiala privată, adică 23% din total în 2023, este plătită din buzunar, în mare parte pentru medicamente. Concluzia practică a prezentării cursului este că piața se definește pe fiecare linie de servicii, nu pe tot spitalul.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Tabăra din stânga susține că problema cea mai importantă a spitalului din caz este banii. Tabăra din dreapta susține că problema cea mai importantă sunt oamenii. Un argument cântărește mai mult când folosește o cifră cu sursa 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titlu real, publicat de Puterea.ro la 20 noiembrie 2025: „România, ultima din UE la cheltuielile pentru sănătate. Cât se cheltuie pentru fiecare cetățean”. Ați crede acest titlu?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Titlul se verifică cu profilul de țară. Pe locuitor, cheltuiala României este cea mai mică din Uniunea Europeană. Ca pondere în economie, cheltuiala este cu mult sub media europeană, dar profilul nu spune că ar fi cea mai mică. Pe hartă se scrie, de aceea, fraza verificată, nu titlul.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Manualul pornește de la un exemplu din pediatrie. Aria de servicii a hematologiei-oncologiei pediatrice este mult mai mare decât cea a îngrijirii copilului sănătos. Într-un spital mare, aria serviciilor cardiace poate cuprinde o regiune întreagă, iar a camerei de gardă doar câteva străzi. De aceea, o organizație cu mai multe categorii de servicii poate avea nevoie de mai multe analize ale ariei.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 anonim pe telefon, pentru spitalul județean din caz: care dintre aceste servicii are aria cea mai mare? Al doilea vot, imediat după: care are aria cea mai mică?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primul vot, radioterapia are, de obicei, aria cea mai mare: aparatele de radioterapie sunt puține, iar oamenii acceptă drumuri lungi pentru tratament. La al doilea vot, răspunsul sprijinit de manual este urgențele: în exemplul lui, aria camerei de gardă cuprinde doar câteva străzi.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Votul din prima parte și norul de cuvinte au arătat deja ce îi face pe pacienți să aleagă. Manualul ordonează aceste motive în două grupe. În cuvinte de zi cu zi, determinanții ariei de servicii sunt motivele pentru care un pacient alege un loc și nu altul: unele țin de el, altele țin de ce i se oferă.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Prezentarea cursului atrage atenția asupra a trei greșeli. Prima este să puneți pe seama prețului sau a calității ceea ce ține, de fapt, de program sau de așteptare; de aceea, determinanții consumatorului și cei ai pieței se scriu separat. A doua este să analizați aria pentru tot spitalul. A treia este să credeți în reputația unui serviciu fără date de preferință care s-o confirme.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Indicatorii sunt simpli și se calculează în cuvinte înainte de a se calcula în cifre. Primul arată de unde vin pacienții. Al doilea arată cât de mult vin la spital locuitorii unei localități: câți pacienți ai serviciului vin la mia de locuitori ai localității. Al treilea arată pierderile. Al patrulea arată câștigurile.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 ipotetice. Într-un an, serviciul RMN al spitalului județean are 4 000 de pacienți. Partea care vine din municipiu și din localitățile din jur, împreună, este 3 000 din 4 000, adică 75 din 100: acestea formează aria principală. Investigațiile plătite direct la centrul privat nu apar în datele casei, deci pierderile reale pot fi mai mari.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perechi, cu datele din exemplu: dacă centrul privat mai atrage cinci sute de pacienți din aria principală, iar spitalul îi pierde pe toți, cât devin pierderile spitalului? Și ce credeți că s-ar întâmpla cu pacienții din județul vecin dacă centrul privat ar deschide și acolo un punct de lucru?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Calculul se face păstrând numărul total al locuitorilor ariei principale care au nevoie de investigație. Dacă spitalul mai pierde cinci sute dintre ei, pierderile urcă la o mie cinci sute din patru mii, adică puțin peste o treime. Întrebarea a doua nu are un răspuns de calculat: câștigurile spitalului din județul vecin sunt fragile.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Harta este acum plină. Managerul din caz are pe ea cel puțin o duzină de probleme: tariful care nu acoperă costul, inflația, îmbătrânirea, radiologii care pleacă, regulamentul european, centrul privat, pacienții din județul vecin. Nu le poate trece pe toate în plan. Trebuie să aleagă.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cuvinte de zi cu zi, prioritizarea după impact și probabilitate, pe scurt „impact × probabilitate”, înseamnă a pune două întrebări fiecărei probleme: cât de tare ne lovește și cât de sigur este că se întâmplă. Manualul presupune că metoda este folosită larg probabil pentru că este relativ simplă.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 ipotetice. Prezentarea cursului adaugă patru reguli de notare. Impactul se judecă după câte servicii sunt atinse, după costuri, după calitate și după riscul pentru reputație, într-un orizont de timp precizat. Probabilitatea se judecă din serii de date și din judecata unor oameni informați. Notele se dau în grup, nu de o singură persoană, pentru a reduce părtinirea.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fiecare problemă, o notă pentru impact și una pentru probabilitate. Diferența dintre notele voastre și cele ale echipei nu arată cine are dreptate. Ea arată unde trebuie căutate mai multe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Manualul numește opinia experților perspectiva unor oameni bine informați asupra unei probleme, folosită pentru a identifica, urmări, prognoza și evalua tendințele externe. Alegerea metodei depinde de mărimea organizației, de cât de diverse îi sunt serviciile și de cât de complicată îi este piața.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Experții nu sunt singurii oameni a căror părere contează. O strategie poate fi blocată de cine nu a fost întrebat. În cuvinte de zi cu zi, părțile interesate sunt toți cei care câștigă sau pierd din ce face organizația și care, de aceea, o pot ajuta sau încurca.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Actorii cu putere mare și interes mare se implică activ în decizii. Cei cu putere mare și interes mic se informează periodic. Cei cu putere mică și interes mare se consultă. Cei cu putere mică și interes mic se urmăresc.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Unul dintre voluntari este managerul spitalului județean, care vrea să prelungească programul serviciului RMN până seara. Celălalt este medicul-șef al laboratorului de radiologie, care spune că oamenii lui nu mai pot lucra mai mult.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Medicul-șef este o parte interesată de interfață: lucrează în spital, dar reprezintă și corpul medical, iar fără el programul de seară nu există. Are putere mare și interes mare, deci trebuie implicat în decizie, nu informat după 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Prezentarea cursului transformă verificarea presupunerilor într-un ciclu trimestrial. Semnalele slabe, adică indiciile timpurii ale unei tendințe care abia începe, se interpretează adesea pe puține date sigure; de aceea merită urmărite din timp. Când viitorul este foarte nesigur, manualul recomandă scenariile.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Managerul spitalului județean a scris în plan presupunerea: programul prelungit al centrului privat nu va mări pierderile spitalului. Un semnal fără sursă, de tipul „am auzit că…”, este un început de urmărire, nu o dovadă.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formativ pe Kahoot, zece întrebări despre ideile ședinței. Testul nu se notează. Rezultatele arată ce idei trebuie reluate la începutul cursului următor.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Managerul spitalului județean poate răspunde acum la întrebarea de la început. În plan nu intră toată harta, ci câteva probleme. Soluția nu se alege încă: prelungirea programului, un parteneriat cu centrul privat sau locuri rezervate pentru oncologie sunt opțiuni care vin după analiza concurenților și după analiza internă.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Când aveți de ales între mai multe probleme, notați pentru fiecare cât de tare vă afectează și cât de sigur este că se întâmplă, apoi lucrați întâi la cele cu ambele note mari. Săptămâna viitoare, cursul trece de la aria de servicii la cei care o împart cu voi: analiza concurenților din aria de servicii de sănătate.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pentru titular, anonim, pe Mentimeter, prin codul QR de pe ultimul diapozitiv. Răspunsurile stau la baza a două modificări, anunțate la începutul ședinței următoare.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UB_MSSS/active/img/C01_harta_busola.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80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Harta și busola</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foto Yx teine · CC BY-SA 4.0 · Wikimedia Commons</a:t>
            </a:r>
            <a:endParaRPr lang="en-US" sz="850" dirty="0"/>
          </a:p>
        </p:txBody>
      </p:sp>
      <p:sp>
        <p:nvSpPr>
          <p:cNvPr id="6" name="Shape 3"/>
          <p:cNvSpPr/>
          <p:nvPr/>
        </p:nvSpPr>
        <p:spPr>
          <a:xfrm>
            <a:off x="640080" y="777240"/>
            <a:ext cx="3108960" cy="329184"/>
          </a:xfrm>
          <a:prstGeom prst="roundRect">
            <a:avLst>
              <a:gd name="adj" fmla="val 50000"/>
            </a:avLst>
          </a:prstGeom>
          <a:solidFill>
            <a:srgbClr val="FF4757"/>
          </a:solidFill>
          <a:ln w="12700">
            <a:solidFill>
              <a:srgbClr val="FF4757"/>
            </a:solidFill>
            <a:prstDash val="solid"/>
          </a:ln>
        </p:spPr>
        <p:txBody>
          <a:bodyPr/>
          <a:p/>
        </p:txBody>
      </p:sp>
      <p:sp>
        <p:nvSpPr>
          <p:cNvPr id="7" name="Text 4"/>
          <p:cNvSpPr/>
          <p:nvPr/>
        </p:nvSpPr>
        <p:spPr>
          <a:xfrm>
            <a:off x="640080" y="777240"/>
            <a:ext cx="31089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TREIA</a:t>
            </a:r>
            <a:endParaRPr lang="en-US" sz="1300" dirty="0"/>
          </a:p>
        </p:txBody>
      </p:sp>
      <p:sp>
        <p:nvSpPr>
          <p:cNvPr id="8" name="Text 5"/>
          <p:cNvSpPr/>
          <p:nvPr/>
        </p:nvSpPr>
        <p:spPr>
          <a:xfrm>
            <a:off x="640080" y="1325880"/>
            <a:ext cx="5760720" cy="155448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Analiza mediului extern (II)</a:t>
            </a:r>
            <a:endParaRPr lang="en-US" sz="4000" dirty="0"/>
          </a:p>
        </p:txBody>
      </p:sp>
      <p:sp>
        <p:nvSpPr>
          <p:cNvPr id="9" name="Shape 6"/>
          <p:cNvSpPr/>
          <p:nvPr/>
        </p:nvSpPr>
        <p:spPr>
          <a:xfrm>
            <a:off x="667512" y="3017520"/>
            <a:ext cx="1280160" cy="27432"/>
          </a:xfrm>
          <a:prstGeom prst="rect">
            <a:avLst/>
          </a:prstGeom>
          <a:solidFill>
            <a:srgbClr val="FF4757"/>
          </a:solidFill>
          <a:ln/>
        </p:spPr>
        <p:txBody>
          <a:bodyPr/>
          <a:p/>
        </p:txBody>
      </p:sp>
      <p:sp>
        <p:nvSpPr>
          <p:cNvPr id="10" name="Text 7"/>
          <p:cNvSpPr/>
          <p:nvPr/>
        </p:nvSpPr>
        <p:spPr>
          <a:xfrm>
            <a:off x="640080" y="3200400"/>
            <a:ext cx="5760720" cy="1097280"/>
          </a:xfrm>
          <a:prstGeom prst="rect">
            <a:avLst/>
          </a:prstGeom>
          <a:noFill/>
          <a:ln/>
        </p:spPr>
        <p:txBody>
          <a:bodyPr wrap="square" lIns="0" tIns="0" rIns="0" bIns="0" rtlCol="0" anchor="t"/>
          <a:lstStyle/>
          <a:p>
            <a:pPr indent="0" marL="0">
              <a:buNone/>
            </a:pPr>
            <a:r>
              <a:rPr lang="en-US" sz="2400" i="1" dirty="0">
                <a:solidFill>
                  <a:srgbClr val="27D3BE"/>
                </a:solidFill>
                <a:latin typeface="Palatino Linotype" pitchFamily="34" charset="0"/>
                <a:ea typeface="Palatino Linotype" pitchFamily="34" charset="-122"/>
                <a:cs typeface="Palatino Linotype" pitchFamily="34" charset="-120"/>
              </a:rPr>
              <a:t>Ce intră, din toată harta problemelor, în plan?</a:t>
            </a:r>
            <a:endParaRPr lang="en-US" sz="2400" dirty="0"/>
          </a:p>
        </p:txBody>
      </p:sp>
      <p:sp>
        <p:nvSpPr>
          <p:cNvPr id="11" name="Text 8"/>
          <p:cNvSpPr/>
          <p:nvPr/>
        </p:nvSpPr>
        <p:spPr>
          <a:xfrm>
            <a:off x="640080" y="4572000"/>
            <a:ext cx="5760720" cy="100584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Management strategic în sănătate</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Servicii și politici de sănătate publică, anul II</a:t>
            </a:r>
            <a:endParaRPr lang="en-US" sz="1400" dirty="0"/>
          </a:p>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Conf. univ. dr. Adrian Pană</a:t>
            </a:r>
            <a:endParaRPr lang="en-US" sz="1400" dirty="0"/>
          </a:p>
        </p:txBody>
      </p:sp>
      <p:sp>
        <p:nvSpPr>
          <p:cNvPr id="12" name="Text 9"/>
          <p:cNvSpPr/>
          <p:nvPr/>
        </p:nvSpPr>
        <p:spPr>
          <a:xfrm>
            <a:off x="640080" y="5852160"/>
            <a:ext cx="5760720" cy="36576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DESCHIDERE · CE AM CONSTRUIT SĂPTĂMÂNA TRECUTĂ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Harta avea multe căsuțe goale</a:t>
            </a:r>
            <a:endParaRPr lang="en-US" sz="3200" dirty="0"/>
          </a:p>
        </p:txBody>
      </p:sp>
      <p:sp>
        <p:nvSpPr>
          <p:cNvPr id="4" name="Shape 2"/>
          <p:cNvSpPr/>
          <p:nvPr/>
        </p:nvSpPr>
        <p:spPr>
          <a:xfrm>
            <a:off x="594360" y="1691640"/>
            <a:ext cx="1600200" cy="713232"/>
          </a:xfrm>
          <a:prstGeom prst="roundRect">
            <a:avLst>
              <a:gd name="adj" fmla="val 11538"/>
            </a:avLst>
          </a:prstGeom>
          <a:solidFill>
            <a:srgbClr val="F9F8F5"/>
          </a:solidFill>
          <a:ln w="9525">
            <a:solidFill>
              <a:srgbClr val="C9C6BE"/>
            </a:solidFill>
            <a:prstDash val="solid"/>
          </a:ln>
        </p:spPr>
        <p:txBody>
          <a:bodyPr/>
          <a:p/>
        </p:txBody>
      </p:sp>
      <p:sp>
        <p:nvSpPr>
          <p:cNvPr id="5" name="Shape 3"/>
          <p:cNvSpPr/>
          <p:nvPr/>
        </p:nvSpPr>
        <p:spPr>
          <a:xfrm>
            <a:off x="2267712" y="1691640"/>
            <a:ext cx="1600200" cy="713232"/>
          </a:xfrm>
          <a:prstGeom prst="roundRect">
            <a:avLst>
              <a:gd name="adj" fmla="val 11538"/>
            </a:avLst>
          </a:prstGeom>
          <a:solidFill>
            <a:srgbClr val="FF4757"/>
          </a:solidFill>
          <a:ln w="12700">
            <a:solidFill>
              <a:srgbClr val="FF4757"/>
            </a:solidFill>
            <a:prstDash val="solid"/>
          </a:ln>
        </p:spPr>
        <p:txBody>
          <a:bodyPr/>
          <a:p/>
        </p:txBody>
      </p:sp>
      <p:sp>
        <p:nvSpPr>
          <p:cNvPr id="6" name="Text 4"/>
          <p:cNvSpPr/>
          <p:nvPr/>
        </p:nvSpPr>
        <p:spPr>
          <a:xfrm>
            <a:off x="2377440" y="1691640"/>
            <a:ext cx="1380744" cy="713232"/>
          </a:xfrm>
          <a:prstGeom prst="rect">
            <a:avLst/>
          </a:prstGeom>
          <a:noFill/>
          <a:ln/>
        </p:spPr>
        <p:txBody>
          <a:bodyPr wrap="square" lIns="0" tIns="0" rIns="0" bIns="0" rtlCol="0" anchor="ctr"/>
          <a:lstStyle/>
          <a:p>
            <a:pPr indent="0" marL="0">
              <a:buNone/>
            </a:pPr>
            <a:r>
              <a:rPr lang="en-US" sz="1250" b="1" dirty="0">
                <a:solidFill>
                  <a:srgbClr val="2E060B"/>
                </a:solidFill>
                <a:latin typeface="Palatino Linotype" pitchFamily="34" charset="0"/>
                <a:ea typeface="Palatino Linotype" pitchFamily="34" charset="-122"/>
                <a:cs typeface="Palatino Linotype" pitchFamily="34" charset="-120"/>
              </a:rPr>
              <a:t>medicii care pleacă</a:t>
            </a:r>
            <a:endParaRPr lang="en-US" sz="1250" dirty="0"/>
          </a:p>
        </p:txBody>
      </p:sp>
      <p:sp>
        <p:nvSpPr>
          <p:cNvPr id="7" name="Shape 5"/>
          <p:cNvSpPr/>
          <p:nvPr/>
        </p:nvSpPr>
        <p:spPr>
          <a:xfrm>
            <a:off x="3941064" y="1691640"/>
            <a:ext cx="1600200" cy="713232"/>
          </a:xfrm>
          <a:prstGeom prst="roundRect">
            <a:avLst>
              <a:gd name="adj" fmla="val 11538"/>
            </a:avLst>
          </a:prstGeom>
          <a:solidFill>
            <a:srgbClr val="F9F8F5"/>
          </a:solidFill>
          <a:ln w="9525">
            <a:solidFill>
              <a:srgbClr val="C9C6BE"/>
            </a:solidFill>
            <a:prstDash val="solid"/>
          </a:ln>
        </p:spPr>
        <p:txBody>
          <a:bodyPr/>
          <a:p/>
        </p:txBody>
      </p:sp>
      <p:sp>
        <p:nvSpPr>
          <p:cNvPr id="8" name="Shape 6"/>
          <p:cNvSpPr/>
          <p:nvPr/>
        </p:nvSpPr>
        <p:spPr>
          <a:xfrm>
            <a:off x="594360" y="2459736"/>
            <a:ext cx="1600200" cy="713232"/>
          </a:xfrm>
          <a:prstGeom prst="roundRect">
            <a:avLst>
              <a:gd name="adj" fmla="val 11538"/>
            </a:avLst>
          </a:prstGeom>
          <a:solidFill>
            <a:srgbClr val="27D3BE"/>
          </a:solidFill>
          <a:ln w="12700">
            <a:solidFill>
              <a:srgbClr val="27D3BE"/>
            </a:solidFill>
            <a:prstDash val="solid"/>
          </a:ln>
        </p:spPr>
        <p:txBody>
          <a:bodyPr/>
          <a:p/>
        </p:txBody>
      </p:sp>
      <p:sp>
        <p:nvSpPr>
          <p:cNvPr id="9" name="Text 7"/>
          <p:cNvSpPr/>
          <p:nvPr/>
        </p:nvSpPr>
        <p:spPr>
          <a:xfrm>
            <a:off x="704088" y="2459736"/>
            <a:ext cx="1380744" cy="713232"/>
          </a:xfrm>
          <a:prstGeom prst="rect">
            <a:avLst/>
          </a:prstGeom>
          <a:noFill/>
          <a:ln/>
        </p:spPr>
        <p:txBody>
          <a:bodyPr wrap="square" lIns="0" tIns="0" rIns="0" bIns="0" rtlCol="0" anchor="ctr"/>
          <a:lstStyle/>
          <a:p>
            <a:pPr indent="0" marL="0">
              <a:buNone/>
            </a:pPr>
            <a:r>
              <a:rPr lang="en-US" sz="1250" b="1" dirty="0">
                <a:solidFill>
                  <a:srgbClr val="073B34"/>
                </a:solidFill>
                <a:latin typeface="Palatino Linotype" pitchFamily="34" charset="0"/>
                <a:ea typeface="Palatino Linotype" pitchFamily="34" charset="-122"/>
                <a:cs typeface="Palatino Linotype" pitchFamily="34" charset="-120"/>
              </a:rPr>
              <a:t>pacienții tot mai vârstnici</a:t>
            </a:r>
            <a:endParaRPr lang="en-US" sz="1250" dirty="0"/>
          </a:p>
        </p:txBody>
      </p:sp>
      <p:sp>
        <p:nvSpPr>
          <p:cNvPr id="10" name="Shape 8"/>
          <p:cNvSpPr/>
          <p:nvPr/>
        </p:nvSpPr>
        <p:spPr>
          <a:xfrm>
            <a:off x="2267712" y="2459736"/>
            <a:ext cx="1600200" cy="713232"/>
          </a:xfrm>
          <a:prstGeom prst="roundRect">
            <a:avLst>
              <a:gd name="adj" fmla="val 11538"/>
            </a:avLst>
          </a:prstGeom>
          <a:solidFill>
            <a:srgbClr val="F9F8F5"/>
          </a:solidFill>
          <a:ln w="9525">
            <a:solidFill>
              <a:srgbClr val="C9C6BE"/>
            </a:solidFill>
            <a:prstDash val="solid"/>
          </a:ln>
        </p:spPr>
        <p:txBody>
          <a:bodyPr/>
          <a:p/>
        </p:txBody>
      </p:sp>
      <p:sp>
        <p:nvSpPr>
          <p:cNvPr id="11" name="Shape 9"/>
          <p:cNvSpPr/>
          <p:nvPr/>
        </p:nvSpPr>
        <p:spPr>
          <a:xfrm>
            <a:off x="3941064" y="2459736"/>
            <a:ext cx="1600200" cy="713232"/>
          </a:xfrm>
          <a:prstGeom prst="roundRect">
            <a:avLst>
              <a:gd name="adj" fmla="val 11538"/>
            </a:avLst>
          </a:prstGeom>
          <a:solidFill>
            <a:srgbClr val="FFC24B"/>
          </a:solidFill>
          <a:ln w="12700">
            <a:solidFill>
              <a:srgbClr val="FFC24B"/>
            </a:solidFill>
            <a:prstDash val="solid"/>
          </a:ln>
        </p:spPr>
        <p:txBody>
          <a:bodyPr/>
          <a:p/>
        </p:txBody>
      </p:sp>
      <p:sp>
        <p:nvSpPr>
          <p:cNvPr id="12" name="Text 10"/>
          <p:cNvSpPr/>
          <p:nvPr/>
        </p:nvSpPr>
        <p:spPr>
          <a:xfrm>
            <a:off x="4050792" y="2459736"/>
            <a:ext cx="1380744" cy="713232"/>
          </a:xfrm>
          <a:prstGeom prst="rect">
            <a:avLst/>
          </a:prstGeom>
          <a:noFill/>
          <a:ln/>
        </p:spPr>
        <p:txBody>
          <a:bodyPr wrap="square" lIns="0" tIns="0" rIns="0" bIns="0" rtlCol="0" anchor="ctr"/>
          <a:lstStyle/>
          <a:p>
            <a:pPr indent="0" marL="0">
              <a:buNone/>
            </a:pPr>
            <a:r>
              <a:rPr lang="en-US" sz="1250" b="1" dirty="0">
                <a:solidFill>
                  <a:srgbClr val="3D2A00"/>
                </a:solidFill>
                <a:latin typeface="Palatino Linotype" pitchFamily="34" charset="0"/>
                <a:ea typeface="Palatino Linotype" pitchFamily="34" charset="-122"/>
                <a:cs typeface="Palatino Linotype" pitchFamily="34" charset="-120"/>
              </a:rPr>
              <a:t>drumul până la consultație</a:t>
            </a:r>
            <a:endParaRPr lang="en-US" sz="1250" dirty="0"/>
          </a:p>
        </p:txBody>
      </p:sp>
      <p:sp>
        <p:nvSpPr>
          <p:cNvPr id="13" name="Shape 11"/>
          <p:cNvSpPr/>
          <p:nvPr/>
        </p:nvSpPr>
        <p:spPr>
          <a:xfrm>
            <a:off x="594360" y="3227832"/>
            <a:ext cx="1600200" cy="713232"/>
          </a:xfrm>
          <a:prstGeom prst="roundRect">
            <a:avLst>
              <a:gd name="adj" fmla="val 11538"/>
            </a:avLst>
          </a:prstGeom>
          <a:solidFill>
            <a:srgbClr val="F9F8F5"/>
          </a:solidFill>
          <a:ln w="9525">
            <a:solidFill>
              <a:srgbClr val="C9C6BE"/>
            </a:solidFill>
            <a:prstDash val="solid"/>
          </a:ln>
        </p:spPr>
        <p:txBody>
          <a:bodyPr/>
          <a:p/>
        </p:txBody>
      </p:sp>
      <p:sp>
        <p:nvSpPr>
          <p:cNvPr id="14" name="Shape 12"/>
          <p:cNvSpPr/>
          <p:nvPr/>
        </p:nvSpPr>
        <p:spPr>
          <a:xfrm>
            <a:off x="2267712" y="3227832"/>
            <a:ext cx="1600200" cy="713232"/>
          </a:xfrm>
          <a:prstGeom prst="roundRect">
            <a:avLst>
              <a:gd name="adj" fmla="val 11538"/>
            </a:avLst>
          </a:prstGeom>
          <a:solidFill>
            <a:srgbClr val="F9F8F5"/>
          </a:solidFill>
          <a:ln w="9525">
            <a:solidFill>
              <a:srgbClr val="C9C6BE"/>
            </a:solidFill>
            <a:prstDash val="solid"/>
          </a:ln>
        </p:spPr>
        <p:txBody>
          <a:bodyPr/>
          <a:p/>
        </p:txBody>
      </p:sp>
      <p:sp>
        <p:nvSpPr>
          <p:cNvPr id="15" name="Shape 13"/>
          <p:cNvSpPr/>
          <p:nvPr/>
        </p:nvSpPr>
        <p:spPr>
          <a:xfrm>
            <a:off x="3941064" y="3227832"/>
            <a:ext cx="1600200" cy="713232"/>
          </a:xfrm>
          <a:prstGeom prst="roundRect">
            <a:avLst>
              <a:gd name="adj" fmla="val 11538"/>
            </a:avLst>
          </a:prstGeom>
          <a:solidFill>
            <a:srgbClr val="F9F8F5"/>
          </a:solidFill>
          <a:ln w="9525">
            <a:solidFill>
              <a:srgbClr val="C9C6BE"/>
            </a:solidFill>
            <a:prstDash val="solid"/>
          </a:ln>
        </p:spPr>
        <p:txBody>
          <a:bodyPr/>
          <a:p/>
        </p:txBody>
      </p:sp>
      <p:sp>
        <p:nvSpPr>
          <p:cNvPr id="16" name="Shape 14"/>
          <p:cNvSpPr/>
          <p:nvPr/>
        </p:nvSpPr>
        <p:spPr>
          <a:xfrm>
            <a:off x="594360" y="3995928"/>
            <a:ext cx="1600200" cy="713232"/>
          </a:xfrm>
          <a:prstGeom prst="roundRect">
            <a:avLst>
              <a:gd name="adj" fmla="val 11538"/>
            </a:avLst>
          </a:prstGeom>
          <a:solidFill>
            <a:srgbClr val="F9F8F5"/>
          </a:solidFill>
          <a:ln w="9525">
            <a:solidFill>
              <a:srgbClr val="C9C6BE"/>
            </a:solidFill>
            <a:prstDash val="solid"/>
          </a:ln>
        </p:spPr>
        <p:txBody>
          <a:bodyPr/>
          <a:p/>
        </p:txBody>
      </p:sp>
      <p:sp>
        <p:nvSpPr>
          <p:cNvPr id="17" name="Shape 15"/>
          <p:cNvSpPr/>
          <p:nvPr/>
        </p:nvSpPr>
        <p:spPr>
          <a:xfrm>
            <a:off x="2267712" y="3995928"/>
            <a:ext cx="1600200" cy="713232"/>
          </a:xfrm>
          <a:prstGeom prst="roundRect">
            <a:avLst>
              <a:gd name="adj" fmla="val 11538"/>
            </a:avLst>
          </a:prstGeom>
          <a:solidFill>
            <a:srgbClr val="F9F8F5"/>
          </a:solidFill>
          <a:ln w="9525">
            <a:solidFill>
              <a:srgbClr val="C9C6BE"/>
            </a:solidFill>
            <a:prstDash val="solid"/>
          </a:ln>
        </p:spPr>
        <p:txBody>
          <a:bodyPr/>
          <a:p/>
        </p:txBody>
      </p:sp>
      <p:sp>
        <p:nvSpPr>
          <p:cNvPr id="18" name="Shape 16"/>
          <p:cNvSpPr/>
          <p:nvPr/>
        </p:nvSpPr>
        <p:spPr>
          <a:xfrm>
            <a:off x="3941064" y="3995928"/>
            <a:ext cx="1600200" cy="713232"/>
          </a:xfrm>
          <a:prstGeom prst="roundRect">
            <a:avLst>
              <a:gd name="adj" fmla="val 11538"/>
            </a:avLst>
          </a:prstGeom>
          <a:solidFill>
            <a:srgbClr val="F9F8F5"/>
          </a:solidFill>
          <a:ln w="9525">
            <a:solidFill>
              <a:srgbClr val="C9C6BE"/>
            </a:solidFill>
            <a:prstDash val="solid"/>
          </a:ln>
        </p:spPr>
        <p:txBody>
          <a:bodyPr/>
          <a:p/>
        </p:txBody>
      </p:sp>
      <p:sp>
        <p:nvSpPr>
          <p:cNvPr id="19" name="Shape 17"/>
          <p:cNvSpPr/>
          <p:nvPr/>
        </p:nvSpPr>
        <p:spPr>
          <a:xfrm>
            <a:off x="594360" y="4764024"/>
            <a:ext cx="1600200" cy="713232"/>
          </a:xfrm>
          <a:prstGeom prst="roundRect">
            <a:avLst>
              <a:gd name="adj" fmla="val 11538"/>
            </a:avLst>
          </a:prstGeom>
          <a:solidFill>
            <a:srgbClr val="F9F8F5"/>
          </a:solidFill>
          <a:ln w="9525">
            <a:solidFill>
              <a:srgbClr val="C9C6BE"/>
            </a:solidFill>
            <a:prstDash val="solid"/>
          </a:ln>
        </p:spPr>
        <p:txBody>
          <a:bodyPr/>
          <a:p/>
        </p:txBody>
      </p:sp>
      <p:sp>
        <p:nvSpPr>
          <p:cNvPr id="20" name="Shape 18"/>
          <p:cNvSpPr/>
          <p:nvPr/>
        </p:nvSpPr>
        <p:spPr>
          <a:xfrm>
            <a:off x="2267712" y="4764024"/>
            <a:ext cx="1600200" cy="713232"/>
          </a:xfrm>
          <a:prstGeom prst="roundRect">
            <a:avLst>
              <a:gd name="adj" fmla="val 11538"/>
            </a:avLst>
          </a:prstGeom>
          <a:solidFill>
            <a:srgbClr val="F9F8F5"/>
          </a:solidFill>
          <a:ln w="9525">
            <a:solidFill>
              <a:srgbClr val="C9C6BE"/>
            </a:solidFill>
            <a:prstDash val="solid"/>
          </a:ln>
        </p:spPr>
        <p:txBody>
          <a:bodyPr/>
          <a:p/>
        </p:txBody>
      </p:sp>
      <p:sp>
        <p:nvSpPr>
          <p:cNvPr id="21" name="Shape 19"/>
          <p:cNvSpPr/>
          <p:nvPr/>
        </p:nvSpPr>
        <p:spPr>
          <a:xfrm>
            <a:off x="3941064" y="4764024"/>
            <a:ext cx="1600200" cy="713232"/>
          </a:xfrm>
          <a:prstGeom prst="roundRect">
            <a:avLst>
              <a:gd name="adj" fmla="val 11538"/>
            </a:avLst>
          </a:prstGeom>
          <a:solidFill>
            <a:srgbClr val="F9F8F5"/>
          </a:solidFill>
          <a:ln w="9525">
            <a:solidFill>
              <a:srgbClr val="C9C6BE"/>
            </a:solidFill>
            <a:prstDash val="solid"/>
          </a:ln>
        </p:spPr>
        <p:txBody>
          <a:bodyPr/>
          <a:p/>
        </p:txBody>
      </p:sp>
      <p:sp>
        <p:nvSpPr>
          <p:cNvPr id="22" name="Text 20"/>
          <p:cNvSpPr/>
          <p:nvPr/>
        </p:nvSpPr>
        <p:spPr>
          <a:xfrm>
            <a:off x="594360" y="5623560"/>
            <a:ext cx="5120640" cy="54864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Straturile mediului pe o latură, cele cinci categorii de schimbare pe cealaltă.</a:t>
            </a:r>
            <a:endParaRPr lang="en-US" sz="1300" dirty="0"/>
          </a:p>
        </p:txBody>
      </p:sp>
      <p:sp>
        <p:nvSpPr>
          <p:cNvPr id="23" name="Shape 21"/>
          <p:cNvSpPr/>
          <p:nvPr/>
        </p:nvSpPr>
        <p:spPr>
          <a:xfrm>
            <a:off x="5989320" y="1691640"/>
            <a:ext cx="5577840" cy="4434840"/>
          </a:xfrm>
          <a:prstGeom prst="roundRect">
            <a:avLst>
              <a:gd name="adj" fmla="val 1856"/>
            </a:avLst>
          </a:prstGeom>
          <a:solidFill>
            <a:srgbClr val="07564B"/>
          </a:solidFill>
          <a:ln w="12700">
            <a:solidFill>
              <a:srgbClr val="07564B"/>
            </a:solidFill>
            <a:prstDash val="solid"/>
          </a:ln>
        </p:spPr>
        <p:txBody>
          <a:bodyPr/>
          <a:p/>
        </p:txBody>
      </p:sp>
      <p:sp>
        <p:nvSpPr>
          <p:cNvPr id="24" name="Text 22"/>
          <p:cNvSpPr/>
          <p:nvPr/>
        </p:nvSpPr>
        <p:spPr>
          <a:xfrm>
            <a:off x="6263640" y="1874520"/>
            <a:ext cx="5120640" cy="365760"/>
          </a:xfrm>
          <a:prstGeom prst="rect">
            <a:avLst/>
          </a:prstGeom>
          <a:noFill/>
          <a:ln/>
        </p:spPr>
        <p:txBody>
          <a:bodyPr wrap="square" lIns="0" tIns="0" rIns="0" bIns="0" rtlCol="0" anchor="t"/>
          <a:lstStyle/>
          <a:p>
            <a:pPr indent="0" marL="0">
              <a:buNone/>
            </a:pPr>
            <a:r>
              <a:rPr lang="en-US" sz="1300" b="1" spc="200" kern="0" dirty="0">
                <a:solidFill>
                  <a:srgbClr val="FFFFFF"/>
                </a:solidFill>
                <a:latin typeface="Palatino Linotype" pitchFamily="34" charset="0"/>
                <a:ea typeface="Palatino Linotype" pitchFamily="34" charset="-122"/>
                <a:cs typeface="Palatino Linotype" pitchFamily="34" charset="-120"/>
              </a:rPr>
              <a:t>AZI, DOUĂ ÎNTREBĂRI</a:t>
            </a:r>
            <a:endParaRPr lang="en-US" sz="1300" dirty="0"/>
          </a:p>
        </p:txBody>
      </p:sp>
      <p:sp>
        <p:nvSpPr>
          <p:cNvPr id="25" name="Shape 23"/>
          <p:cNvSpPr/>
          <p:nvPr/>
        </p:nvSpPr>
        <p:spPr>
          <a:xfrm>
            <a:off x="6263640" y="2560320"/>
            <a:ext cx="420624" cy="420624"/>
          </a:xfrm>
          <a:prstGeom prst="ellipse">
            <a:avLst/>
          </a:prstGeom>
          <a:solidFill>
            <a:srgbClr val="FFC24B"/>
          </a:solidFill>
          <a:ln/>
        </p:spPr>
        <p:txBody>
          <a:bodyPr/>
          <a:p/>
        </p:txBody>
      </p:sp>
      <p:sp>
        <p:nvSpPr>
          <p:cNvPr id="26" name="Text 24"/>
          <p:cNvSpPr/>
          <p:nvPr/>
        </p:nvSpPr>
        <p:spPr>
          <a:xfrm>
            <a:off x="6263640" y="25603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27" name="Text 25"/>
          <p:cNvSpPr/>
          <p:nvPr/>
        </p:nvSpPr>
        <p:spPr>
          <a:xfrm>
            <a:off x="6858000" y="2468880"/>
            <a:ext cx="4480560" cy="123444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Cum se umple harta cu date despre România?</a:t>
            </a:r>
            <a:endParaRPr lang="en-US" sz="2000" dirty="0"/>
          </a:p>
        </p:txBody>
      </p:sp>
      <p:sp>
        <p:nvSpPr>
          <p:cNvPr id="28" name="Shape 26"/>
          <p:cNvSpPr/>
          <p:nvPr/>
        </p:nvSpPr>
        <p:spPr>
          <a:xfrm>
            <a:off x="6263640" y="3977640"/>
            <a:ext cx="420624" cy="420624"/>
          </a:xfrm>
          <a:prstGeom prst="ellipse">
            <a:avLst/>
          </a:prstGeom>
          <a:solidFill>
            <a:srgbClr val="FFC24B"/>
          </a:solidFill>
          <a:ln/>
        </p:spPr>
        <p:txBody>
          <a:bodyPr/>
          <a:p/>
        </p:txBody>
      </p:sp>
      <p:sp>
        <p:nvSpPr>
          <p:cNvPr id="29" name="Text 27"/>
          <p:cNvSpPr/>
          <p:nvPr/>
        </p:nvSpPr>
        <p:spPr>
          <a:xfrm>
            <a:off x="6263640" y="39776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30" name="Text 28"/>
          <p:cNvSpPr/>
          <p:nvPr/>
        </p:nvSpPr>
        <p:spPr>
          <a:xfrm>
            <a:off x="6858000" y="3886200"/>
            <a:ext cx="4480560" cy="123444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Cum se alege, din tot ce este pe ea, ceea ce intră în plan?</a:t>
            </a:r>
            <a:endParaRPr lang="en-US" sz="2000" dirty="0"/>
          </a:p>
        </p:txBody>
      </p:sp>
      <p:sp>
        <p:nvSpPr>
          <p:cNvPr id="31" name="Text 29"/>
          <p:cNvSpPr/>
          <p:nvPr/>
        </p:nvSpPr>
        <p:spPr>
          <a:xfrm>
            <a:off x="6263640" y="5349240"/>
            <a:ext cx="5120640" cy="548640"/>
          </a:xfrm>
          <a:prstGeom prst="rect">
            <a:avLst/>
          </a:prstGeom>
          <a:noFill/>
          <a:ln/>
        </p:spPr>
        <p:txBody>
          <a:bodyPr wrap="square" lIns="0" tIns="0" rIns="0" bIns="0" rtlCol="0" anchor="t"/>
          <a:lstStyle/>
          <a:p>
            <a:pPr indent="0" marL="0">
              <a:buNone/>
            </a:pPr>
            <a:r>
              <a:rPr lang="en-US" sz="1600" i="1" dirty="0">
                <a:solidFill>
                  <a:srgbClr val="D5D8E2"/>
                </a:solidFill>
                <a:latin typeface="Palatino Linotype" pitchFamily="34" charset="0"/>
                <a:ea typeface="Palatino Linotype" pitchFamily="34" charset="-122"/>
                <a:cs typeface="Palatino Linotype" pitchFamily="34" charset="-120"/>
              </a:rPr>
              <a:t>Harta nu spunea ce face managerul cu ea.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ÎNTREBAREA ȘEDINȚEI</a:t>
            </a:r>
            <a:endParaRPr lang="en-US" sz="1300" dirty="0"/>
          </a:p>
        </p:txBody>
      </p:sp>
      <p:sp>
        <p:nvSpPr>
          <p:cNvPr id="3" name="Text 1"/>
          <p:cNvSpPr/>
          <p:nvPr/>
        </p:nvSpPr>
        <p:spPr>
          <a:xfrm>
            <a:off x="594360" y="1097280"/>
            <a:ext cx="10789920" cy="2377440"/>
          </a:xfrm>
          <a:prstGeom prst="rect">
            <a:avLst/>
          </a:prstGeom>
          <a:noFill/>
          <a:ln/>
        </p:spPr>
        <p:txBody>
          <a:bodyPr wrap="square" lIns="0" tIns="0" rIns="0" bIns="0" rtlCol="0" anchor="ctr"/>
          <a:lstStyle/>
          <a:p>
            <a:pPr indent="0" marL="0">
              <a:buNone/>
            </a:pPr>
            <a:r>
              <a:rPr lang="en-US" sz="5000" b="1" dirty="0">
                <a:solidFill>
                  <a:srgbClr val="FFFFFF"/>
                </a:solidFill>
                <a:latin typeface="Palatino Linotype" pitchFamily="34" charset="0"/>
                <a:ea typeface="Palatino Linotype" pitchFamily="34" charset="-122"/>
                <a:cs typeface="Palatino Linotype" pitchFamily="34" charset="-120"/>
              </a:rPr>
              <a:t>Ce intră, din toată harta, în plan?</a:t>
            </a:r>
            <a:endParaRPr lang="en-US" sz="5000" dirty="0"/>
          </a:p>
        </p:txBody>
      </p:sp>
      <p:sp>
        <p:nvSpPr>
          <p:cNvPr id="4" name="Shape 2"/>
          <p:cNvSpPr/>
          <p:nvPr/>
        </p:nvSpPr>
        <p:spPr>
          <a:xfrm>
            <a:off x="594360" y="3749040"/>
            <a:ext cx="1280160" cy="36576"/>
          </a:xfrm>
          <a:prstGeom prst="rect">
            <a:avLst/>
          </a:prstGeom>
          <a:solidFill>
            <a:srgbClr val="27D3BE"/>
          </a:solidFill>
          <a:ln/>
        </p:spPr>
        <p:txBody>
          <a:bodyPr/>
          <a:p/>
        </p:txBody>
      </p:sp>
      <p:sp>
        <p:nvSpPr>
          <p:cNvPr id="5" name="Text 3"/>
          <p:cNvSpPr/>
          <p:nvPr/>
        </p:nvSpPr>
        <p:spPr>
          <a:xfrm>
            <a:off x="594360" y="4069080"/>
            <a:ext cx="10424160" cy="14630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Răspunsul începe cu o alegere pe care ați făcut-o deja: unde v-ați făcut ultima analiză sau ultima consultație. De ce acolo și nu în altă parte?</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 CONSTRUIT PENTRU CURS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Un aparat, două programe</a:t>
            </a:r>
            <a:endParaRPr lang="en-US" sz="3400" dirty="0"/>
          </a:p>
        </p:txBody>
      </p:sp>
      <p:sp>
        <p:nvSpPr>
          <p:cNvPr id="4" name="Shape 2"/>
          <p:cNvSpPr/>
          <p:nvPr/>
        </p:nvSpPr>
        <p:spPr>
          <a:xfrm>
            <a:off x="594360" y="1554480"/>
            <a:ext cx="5349240" cy="406908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txBody>
          <a:bodyPr/>
          <a:p/>
        </p:txBody>
      </p:sp>
      <p:sp>
        <p:nvSpPr>
          <p:cNvPr id="5" name="Shape 3"/>
          <p:cNvSpPr/>
          <p:nvPr/>
        </p:nvSpPr>
        <p:spPr>
          <a:xfrm>
            <a:off x="594360" y="1554480"/>
            <a:ext cx="5349240" cy="91440"/>
          </a:xfrm>
          <a:prstGeom prst="rect">
            <a:avLst/>
          </a:prstGeom>
          <a:solidFill>
            <a:srgbClr val="0E7C6B"/>
          </a:solidFill>
          <a:ln w="12700">
            <a:solidFill>
              <a:srgbClr val="0E7C6B"/>
            </a:solidFill>
            <a:prstDash val="solid"/>
          </a:ln>
        </p:spPr>
        <p:txBody>
          <a:bodyPr/>
          <a:p/>
        </p:txBody>
      </p:sp>
      <p:sp>
        <p:nvSpPr>
          <p:cNvPr id="6" name="Text 4"/>
          <p:cNvSpPr/>
          <p:nvPr/>
        </p:nvSpPr>
        <p:spPr>
          <a:xfrm>
            <a:off x="868680" y="1783080"/>
            <a:ext cx="4846320" cy="320040"/>
          </a:xfrm>
          <a:prstGeom prst="rect">
            <a:avLst/>
          </a:prstGeom>
          <a:noFill/>
          <a:ln/>
        </p:spPr>
        <p:txBody>
          <a:bodyPr wrap="square" lIns="0" tIns="0" rIns="0" bIns="0" rtlCol="0" anchor="t"/>
          <a:lstStyle/>
          <a:p>
            <a:pPr indent="0" marL="0">
              <a:buNone/>
            </a:pPr>
            <a:r>
              <a:rPr lang="en-US" sz="1300" b="1" spc="100" kern="0" dirty="0">
                <a:solidFill>
                  <a:srgbClr val="0E7C6B"/>
                </a:solidFill>
                <a:latin typeface="Palatino Linotype" pitchFamily="34" charset="0"/>
                <a:ea typeface="Palatino Linotype" pitchFamily="34" charset="-122"/>
                <a:cs typeface="Palatino Linotype" pitchFamily="34" charset="-120"/>
              </a:rPr>
              <a:t>SPITALUL JUDEȚEAN · SERVICIUL RMN</a:t>
            </a:r>
            <a:endParaRPr lang="en-US" sz="1300" dirty="0"/>
          </a:p>
        </p:txBody>
      </p:sp>
      <p:sp>
        <p:nvSpPr>
          <p:cNvPr id="7" name="Text 5"/>
          <p:cNvSpPr/>
          <p:nvPr/>
        </p:nvSpPr>
        <p:spPr>
          <a:xfrm>
            <a:off x="868680" y="2240280"/>
            <a:ext cx="1828800" cy="274320"/>
          </a:xfrm>
          <a:prstGeom prst="rect">
            <a:avLst/>
          </a:prstGeom>
          <a:noFill/>
          <a:ln/>
        </p:spPr>
        <p:txBody>
          <a:bodyPr wrap="square" lIns="0" tIns="0" rIns="0" bIns="0" rtlCol="0" anchor="t"/>
          <a:lstStyle/>
          <a:p>
            <a:pPr indent="0" marL="0">
              <a:buNone/>
            </a:pPr>
            <a:r>
              <a:rPr lang="en-US" sz="1050" b="1" spc="200" kern="0" dirty="0">
                <a:solidFill>
                  <a:srgbClr val="585A64"/>
                </a:solidFill>
                <a:latin typeface="Palatino Linotype" pitchFamily="34" charset="0"/>
                <a:ea typeface="Palatino Linotype" pitchFamily="34" charset="-122"/>
                <a:cs typeface="Palatino Linotype" pitchFamily="34" charset="-120"/>
              </a:rPr>
              <a:t>PROGRAMUL</a:t>
            </a:r>
            <a:endParaRPr lang="en-US" sz="1050" dirty="0"/>
          </a:p>
        </p:txBody>
      </p:sp>
      <p:sp>
        <p:nvSpPr>
          <p:cNvPr id="8" name="Shape 6"/>
          <p:cNvSpPr/>
          <p:nvPr/>
        </p:nvSpPr>
        <p:spPr>
          <a:xfrm>
            <a:off x="868680" y="2560320"/>
            <a:ext cx="4800600" cy="292608"/>
          </a:xfrm>
          <a:prstGeom prst="rect">
            <a:avLst/>
          </a:prstGeom>
          <a:solidFill>
            <a:srgbClr val="ECEAE4"/>
          </a:solidFill>
          <a:ln w="12700">
            <a:solidFill>
              <a:srgbClr val="ECEAE4"/>
            </a:solidFill>
            <a:prstDash val="solid"/>
          </a:ln>
        </p:spPr>
        <p:txBody>
          <a:bodyPr/>
          <a:p/>
        </p:txBody>
      </p:sp>
      <p:sp>
        <p:nvSpPr>
          <p:cNvPr id="9" name="Shape 7"/>
          <p:cNvSpPr/>
          <p:nvPr/>
        </p:nvSpPr>
        <p:spPr>
          <a:xfrm>
            <a:off x="868680" y="2560320"/>
            <a:ext cx="1824228" cy="292608"/>
          </a:xfrm>
          <a:prstGeom prst="rect">
            <a:avLst/>
          </a:prstGeom>
          <a:solidFill>
            <a:srgbClr val="0E7C6B"/>
          </a:solidFill>
          <a:ln w="12700">
            <a:solidFill>
              <a:srgbClr val="0E7C6B"/>
            </a:solidFill>
            <a:prstDash val="solid"/>
          </a:ln>
        </p:spPr>
        <p:txBody>
          <a:bodyPr/>
          <a:p/>
        </p:txBody>
      </p:sp>
      <p:sp>
        <p:nvSpPr>
          <p:cNvPr id="10" name="Text 8"/>
          <p:cNvSpPr/>
          <p:nvPr/>
        </p:nvSpPr>
        <p:spPr>
          <a:xfrm>
            <a:off x="868680" y="3063240"/>
            <a:ext cx="4846320" cy="7772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 Lucrează în zilele lucrătoare, dimineața și la prânz.</a:t>
            </a:r>
            <a:endParaRPr lang="en-US" sz="1600" dirty="0"/>
          </a:p>
        </p:txBody>
      </p:sp>
      <p:sp>
        <p:nvSpPr>
          <p:cNvPr id="11" name="Text 9"/>
          <p:cNvSpPr/>
          <p:nvPr/>
        </p:nvSpPr>
        <p:spPr>
          <a:xfrm>
            <a:off x="868680" y="3867912"/>
            <a:ext cx="4846320" cy="7772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 Pacienții trimiși de medici așteaptă câteva săptămâni pentru o programare decontată.</a:t>
            </a:r>
            <a:endParaRPr lang="en-US" sz="1600" dirty="0"/>
          </a:p>
        </p:txBody>
      </p:sp>
      <p:sp>
        <p:nvSpPr>
          <p:cNvPr id="12" name="Shape 10"/>
          <p:cNvSpPr/>
          <p:nvPr/>
        </p:nvSpPr>
        <p:spPr>
          <a:xfrm>
            <a:off x="6217920" y="1554480"/>
            <a:ext cx="5349240" cy="406908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txBody>
          <a:bodyPr/>
          <a:p/>
        </p:txBody>
      </p:sp>
      <p:sp>
        <p:nvSpPr>
          <p:cNvPr id="13" name="Shape 11"/>
          <p:cNvSpPr/>
          <p:nvPr/>
        </p:nvSpPr>
        <p:spPr>
          <a:xfrm>
            <a:off x="6217920" y="1554480"/>
            <a:ext cx="5349240" cy="91440"/>
          </a:xfrm>
          <a:prstGeom prst="rect">
            <a:avLst/>
          </a:prstGeom>
          <a:solidFill>
            <a:srgbClr val="B02532"/>
          </a:solidFill>
          <a:ln w="12700">
            <a:solidFill>
              <a:srgbClr val="B02532"/>
            </a:solidFill>
            <a:prstDash val="solid"/>
          </a:ln>
        </p:spPr>
        <p:txBody>
          <a:bodyPr/>
          <a:p/>
        </p:txBody>
      </p:sp>
      <p:sp>
        <p:nvSpPr>
          <p:cNvPr id="14" name="Text 12"/>
          <p:cNvSpPr/>
          <p:nvPr/>
        </p:nvSpPr>
        <p:spPr>
          <a:xfrm>
            <a:off x="6492240" y="1783080"/>
            <a:ext cx="4846320" cy="320040"/>
          </a:xfrm>
          <a:prstGeom prst="rect">
            <a:avLst/>
          </a:prstGeom>
          <a:noFill/>
          <a:ln/>
        </p:spPr>
        <p:txBody>
          <a:bodyPr wrap="square" lIns="0" tIns="0" rIns="0" bIns="0" rtlCol="0" anchor="t"/>
          <a:lstStyle/>
          <a:p>
            <a:pPr indent="0" marL="0">
              <a:buNone/>
            </a:pPr>
            <a:r>
              <a:rPr lang="en-US" sz="1300" b="1" spc="100" kern="0" dirty="0">
                <a:solidFill>
                  <a:srgbClr val="B02532"/>
                </a:solidFill>
                <a:latin typeface="Palatino Linotype" pitchFamily="34" charset="0"/>
                <a:ea typeface="Palatino Linotype" pitchFamily="34" charset="-122"/>
                <a:cs typeface="Palatino Linotype" pitchFamily="34" charset="-120"/>
              </a:rPr>
              <a:t>CENTRUL PRIVAT · DESCHIS ANUL TRECUT</a:t>
            </a:r>
            <a:endParaRPr lang="en-US" sz="1300" dirty="0"/>
          </a:p>
        </p:txBody>
      </p:sp>
      <p:sp>
        <p:nvSpPr>
          <p:cNvPr id="15" name="Text 13"/>
          <p:cNvSpPr/>
          <p:nvPr/>
        </p:nvSpPr>
        <p:spPr>
          <a:xfrm>
            <a:off x="6492240" y="2240280"/>
            <a:ext cx="1828800" cy="274320"/>
          </a:xfrm>
          <a:prstGeom prst="rect">
            <a:avLst/>
          </a:prstGeom>
          <a:noFill/>
          <a:ln/>
        </p:spPr>
        <p:txBody>
          <a:bodyPr wrap="square" lIns="0" tIns="0" rIns="0" bIns="0" rtlCol="0" anchor="t"/>
          <a:lstStyle/>
          <a:p>
            <a:pPr indent="0" marL="0">
              <a:buNone/>
            </a:pPr>
            <a:r>
              <a:rPr lang="en-US" sz="1050" b="1" spc="200" kern="0" dirty="0">
                <a:solidFill>
                  <a:srgbClr val="585A64"/>
                </a:solidFill>
                <a:latin typeface="Palatino Linotype" pitchFamily="34" charset="0"/>
                <a:ea typeface="Palatino Linotype" pitchFamily="34" charset="-122"/>
                <a:cs typeface="Palatino Linotype" pitchFamily="34" charset="-120"/>
              </a:rPr>
              <a:t>PROGRAMUL</a:t>
            </a:r>
            <a:endParaRPr lang="en-US" sz="1050" dirty="0"/>
          </a:p>
        </p:txBody>
      </p:sp>
      <p:sp>
        <p:nvSpPr>
          <p:cNvPr id="16" name="Shape 14"/>
          <p:cNvSpPr/>
          <p:nvPr/>
        </p:nvSpPr>
        <p:spPr>
          <a:xfrm>
            <a:off x="6492240" y="2560320"/>
            <a:ext cx="4800600" cy="292608"/>
          </a:xfrm>
          <a:prstGeom prst="rect">
            <a:avLst/>
          </a:prstGeom>
          <a:solidFill>
            <a:srgbClr val="ECEAE4"/>
          </a:solidFill>
          <a:ln w="12700">
            <a:solidFill>
              <a:srgbClr val="ECEAE4"/>
            </a:solidFill>
            <a:prstDash val="solid"/>
          </a:ln>
        </p:spPr>
        <p:txBody>
          <a:bodyPr/>
          <a:p/>
        </p:txBody>
      </p:sp>
      <p:sp>
        <p:nvSpPr>
          <p:cNvPr id="17" name="Shape 15"/>
          <p:cNvSpPr/>
          <p:nvPr/>
        </p:nvSpPr>
        <p:spPr>
          <a:xfrm>
            <a:off x="6492240" y="2560320"/>
            <a:ext cx="4416552" cy="292608"/>
          </a:xfrm>
          <a:prstGeom prst="rect">
            <a:avLst/>
          </a:prstGeom>
          <a:solidFill>
            <a:srgbClr val="B02532"/>
          </a:solidFill>
          <a:ln w="12700">
            <a:solidFill>
              <a:srgbClr val="B02532"/>
            </a:solidFill>
            <a:prstDash val="solid"/>
          </a:ln>
        </p:spPr>
        <p:txBody>
          <a:bodyPr/>
          <a:p/>
        </p:txBody>
      </p:sp>
      <p:sp>
        <p:nvSpPr>
          <p:cNvPr id="18" name="Text 16"/>
          <p:cNvSpPr/>
          <p:nvPr/>
        </p:nvSpPr>
        <p:spPr>
          <a:xfrm>
            <a:off x="6492240" y="3063240"/>
            <a:ext cx="4846320" cy="7772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 Contract cu casa județeană pentru o parte din investigații.</a:t>
            </a:r>
            <a:endParaRPr lang="en-US" sz="1600" dirty="0"/>
          </a:p>
        </p:txBody>
      </p:sp>
      <p:sp>
        <p:nvSpPr>
          <p:cNvPr id="19" name="Text 17"/>
          <p:cNvSpPr/>
          <p:nvPr/>
        </p:nvSpPr>
        <p:spPr>
          <a:xfrm>
            <a:off x="6492240" y="3867912"/>
            <a:ext cx="4846320" cy="7772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 Lucrează în fiecare zi, până seara târziu.</a:t>
            </a:r>
            <a:endParaRPr lang="en-US" sz="1600" dirty="0"/>
          </a:p>
        </p:txBody>
      </p:sp>
      <p:sp>
        <p:nvSpPr>
          <p:cNvPr id="20" name="Text 18"/>
          <p:cNvSpPr/>
          <p:nvPr/>
        </p:nvSpPr>
        <p:spPr>
          <a:xfrm>
            <a:off x="6492240" y="4672584"/>
            <a:ext cx="4846320" cy="7772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 Investigații plătite direct, pentru cine nu vrea să aștepte.</a:t>
            </a:r>
            <a:endParaRPr lang="en-US" sz="1600" dirty="0"/>
          </a:p>
        </p:txBody>
      </p:sp>
      <p:sp>
        <p:nvSpPr>
          <p:cNvPr id="21" name="Text 19"/>
          <p:cNvSpPr/>
          <p:nvPr/>
        </p:nvSpPr>
        <p:spPr>
          <a:xfrm>
            <a:off x="594360" y="5806440"/>
            <a:ext cx="10972800" cy="41148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Spitalul și centrul nu există. Regulile și datele despre România folosite mai departe sunt reale.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5486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DUPĂ CÂTEVA LUNI</a:t>
            </a:r>
            <a:endParaRPr lang="en-US" sz="1300" dirty="0"/>
          </a:p>
        </p:txBody>
      </p:sp>
      <p:sp>
        <p:nvSpPr>
          <p:cNvPr id="3" name="Text 1"/>
          <p:cNvSpPr/>
          <p:nvPr/>
        </p:nvSpPr>
        <p:spPr>
          <a:xfrm>
            <a:off x="594360" y="731520"/>
            <a:ext cx="5120640" cy="146304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observă șeful laboratorului de radiologie</a:t>
            </a:r>
            <a:endParaRPr lang="en-US" sz="3000" dirty="0"/>
          </a:p>
        </p:txBody>
      </p:sp>
      <p:sp>
        <p:nvSpPr>
          <p:cNvPr id="4" name="Text 2"/>
          <p:cNvSpPr/>
          <p:nvPr/>
        </p:nvSpPr>
        <p:spPr>
          <a:xfrm>
            <a:off x="594360" y="2377440"/>
            <a:ext cx="4937760" cy="128016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Managerul pregătește planul spitalului și are pe birou harta problemelor din cursul trecut.</a:t>
            </a:r>
            <a:endParaRPr lang="en-US" sz="1800" dirty="0"/>
          </a:p>
        </p:txBody>
      </p:sp>
      <p:sp>
        <p:nvSpPr>
          <p:cNvPr id="5" name="Text 3"/>
          <p:cNvSpPr/>
          <p:nvPr/>
        </p:nvSpPr>
        <p:spPr>
          <a:xfrm>
            <a:off x="594360" y="4023360"/>
            <a:ext cx="4937760" cy="73152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Ce trebuie să intre în plan?</a:t>
            </a:r>
            <a:endParaRPr lang="en-US" sz="2400" dirty="0"/>
          </a:p>
        </p:txBody>
      </p:sp>
      <p:sp>
        <p:nvSpPr>
          <p:cNvPr id="6" name="Shape 4"/>
          <p:cNvSpPr/>
          <p:nvPr/>
        </p:nvSpPr>
        <p:spPr>
          <a:xfrm>
            <a:off x="5989320" y="685800"/>
            <a:ext cx="5486400" cy="160020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7" name="Shape 5"/>
          <p:cNvSpPr/>
          <p:nvPr/>
        </p:nvSpPr>
        <p:spPr>
          <a:xfrm>
            <a:off x="5989320" y="685800"/>
            <a:ext cx="91440" cy="1600200"/>
          </a:xfrm>
          <a:prstGeom prst="rect">
            <a:avLst/>
          </a:prstGeom>
          <a:solidFill>
            <a:srgbClr val="FF4757"/>
          </a:solidFill>
          <a:ln w="12700">
            <a:solidFill>
              <a:srgbClr val="FF4757"/>
            </a:solidFill>
            <a:prstDash val="solid"/>
          </a:ln>
        </p:spPr>
        <p:txBody>
          <a:bodyPr/>
          <a:p/>
        </p:txBody>
      </p:sp>
      <p:sp>
        <p:nvSpPr>
          <p:cNvPr id="8" name="Text 6"/>
          <p:cNvSpPr/>
          <p:nvPr/>
        </p:nvSpPr>
        <p:spPr>
          <a:xfrm>
            <a:off x="6309360" y="822960"/>
            <a:ext cx="502920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OBSERVAȚIA 1 · ORAȘUL</a:t>
            </a:r>
            <a:endParaRPr lang="en-US" sz="1300" dirty="0"/>
          </a:p>
        </p:txBody>
      </p:sp>
      <p:sp>
        <p:nvSpPr>
          <p:cNvPr id="9" name="Text 7"/>
          <p:cNvSpPr/>
          <p:nvPr/>
        </p:nvSpPr>
        <p:spPr>
          <a:xfrm>
            <a:off x="6309360" y="1188720"/>
            <a:ext cx="498348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Mai puțini pacienți din oraș își fac investigația la spital.</a:t>
            </a:r>
            <a:endParaRPr lang="en-US" sz="1600" dirty="0"/>
          </a:p>
        </p:txBody>
      </p:sp>
      <p:sp>
        <p:nvSpPr>
          <p:cNvPr id="10" name="Shape 8"/>
          <p:cNvSpPr/>
          <p:nvPr/>
        </p:nvSpPr>
        <p:spPr>
          <a:xfrm>
            <a:off x="6099048" y="2468880"/>
            <a:ext cx="5486400" cy="160020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11" name="Shape 9"/>
          <p:cNvSpPr/>
          <p:nvPr/>
        </p:nvSpPr>
        <p:spPr>
          <a:xfrm>
            <a:off x="6099048" y="2468880"/>
            <a:ext cx="91440" cy="1600200"/>
          </a:xfrm>
          <a:prstGeom prst="rect">
            <a:avLst/>
          </a:prstGeom>
          <a:solidFill>
            <a:srgbClr val="FFC24B"/>
          </a:solidFill>
          <a:ln w="12700">
            <a:solidFill>
              <a:srgbClr val="FFC24B"/>
            </a:solidFill>
            <a:prstDash val="solid"/>
          </a:ln>
        </p:spPr>
        <p:txBody>
          <a:bodyPr/>
          <a:p/>
        </p:txBody>
      </p:sp>
      <p:sp>
        <p:nvSpPr>
          <p:cNvPr id="12" name="Text 10"/>
          <p:cNvSpPr/>
          <p:nvPr/>
        </p:nvSpPr>
        <p:spPr>
          <a:xfrm>
            <a:off x="6419088" y="2606040"/>
            <a:ext cx="502920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OBSERVAȚIA 2 · JUDEȚUL VECIN</a:t>
            </a:r>
            <a:endParaRPr lang="en-US" sz="1300" dirty="0"/>
          </a:p>
        </p:txBody>
      </p:sp>
      <p:sp>
        <p:nvSpPr>
          <p:cNvPr id="13" name="Text 11"/>
          <p:cNvSpPr/>
          <p:nvPr/>
        </p:nvSpPr>
        <p:spPr>
          <a:xfrm>
            <a:off x="6419088" y="2971800"/>
            <a:ext cx="498348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Pacienții din județul vecin, unde nu există aparat, continuă să vină.</a:t>
            </a:r>
            <a:endParaRPr lang="en-US" sz="1600" dirty="0"/>
          </a:p>
        </p:txBody>
      </p:sp>
      <p:sp>
        <p:nvSpPr>
          <p:cNvPr id="14" name="Shape 12"/>
          <p:cNvSpPr/>
          <p:nvPr/>
        </p:nvSpPr>
        <p:spPr>
          <a:xfrm>
            <a:off x="6208776" y="4251960"/>
            <a:ext cx="5486400" cy="160020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15" name="Shape 13"/>
          <p:cNvSpPr/>
          <p:nvPr/>
        </p:nvSpPr>
        <p:spPr>
          <a:xfrm>
            <a:off x="6208776" y="4251960"/>
            <a:ext cx="91440" cy="1600200"/>
          </a:xfrm>
          <a:prstGeom prst="rect">
            <a:avLst/>
          </a:prstGeom>
          <a:solidFill>
            <a:srgbClr val="27D3BE"/>
          </a:solidFill>
          <a:ln w="12700">
            <a:solidFill>
              <a:srgbClr val="27D3BE"/>
            </a:solidFill>
            <a:prstDash val="solid"/>
          </a:ln>
        </p:spPr>
        <p:txBody>
          <a:bodyPr/>
          <a:p/>
        </p:txBody>
      </p:sp>
      <p:sp>
        <p:nvSpPr>
          <p:cNvPr id="16" name="Text 14"/>
          <p:cNvSpPr/>
          <p:nvPr/>
        </p:nvSpPr>
        <p:spPr>
          <a:xfrm>
            <a:off x="6528816" y="4389120"/>
            <a:ext cx="502920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OBSERVAȚIA 3 · ONCOLOGIA</a:t>
            </a:r>
            <a:endParaRPr lang="en-US" sz="1300" dirty="0"/>
          </a:p>
        </p:txBody>
      </p:sp>
      <p:sp>
        <p:nvSpPr>
          <p:cNvPr id="17" name="Text 15"/>
          <p:cNvSpPr/>
          <p:nvPr/>
        </p:nvSpPr>
        <p:spPr>
          <a:xfrm>
            <a:off x="6528816" y="4754880"/>
            <a:ext cx="4983480" cy="10058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Pacienții care au nevoie de investigație repede ajung la rând după cazuri mai puțin urgente.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ÎNTREBAREA 1</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De ce merg pacienții din oraș la centrul privat?</a:t>
            </a:r>
            <a:endParaRPr lang="en-US" sz="3100" dirty="0"/>
          </a:p>
        </p:txBody>
      </p:sp>
      <p:sp>
        <p:nvSpPr>
          <p:cNvPr id="6" name="Shape 4"/>
          <p:cNvSpPr/>
          <p:nvPr/>
        </p:nvSpPr>
        <p:spPr>
          <a:xfrm>
            <a:off x="594360" y="182880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7" name="Shape 5"/>
          <p:cNvSpPr/>
          <p:nvPr/>
        </p:nvSpPr>
        <p:spPr>
          <a:xfrm>
            <a:off x="868680" y="1975104"/>
            <a:ext cx="420624" cy="420624"/>
          </a:xfrm>
          <a:prstGeom prst="ellipse">
            <a:avLst/>
          </a:prstGeom>
          <a:solidFill>
            <a:srgbClr val="FFC24B"/>
          </a:solidFill>
          <a:ln/>
        </p:spPr>
        <p:txBody>
          <a:bodyPr/>
          <a:p/>
        </p:txBody>
      </p:sp>
      <p:sp>
        <p:nvSpPr>
          <p:cNvPr id="8" name="Text 6"/>
          <p:cNvSpPr/>
          <p:nvPr/>
        </p:nvSpPr>
        <p:spPr>
          <a:xfrm>
            <a:off x="86868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828800"/>
            <a:ext cx="9784080" cy="71323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Calitatea mai bună a investigației</a:t>
            </a:r>
            <a:endParaRPr lang="en-US" sz="2000" dirty="0"/>
          </a:p>
        </p:txBody>
      </p:sp>
      <p:sp>
        <p:nvSpPr>
          <p:cNvPr id="10" name="Shape 8"/>
          <p:cNvSpPr/>
          <p:nvPr/>
        </p:nvSpPr>
        <p:spPr>
          <a:xfrm>
            <a:off x="594360" y="2670048"/>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1" name="Shape 9"/>
          <p:cNvSpPr/>
          <p:nvPr/>
        </p:nvSpPr>
        <p:spPr>
          <a:xfrm>
            <a:off x="868680" y="2816352"/>
            <a:ext cx="420624" cy="420624"/>
          </a:xfrm>
          <a:prstGeom prst="ellipse">
            <a:avLst/>
          </a:prstGeom>
          <a:solidFill>
            <a:srgbClr val="FFC24B"/>
          </a:solidFill>
          <a:ln/>
        </p:spPr>
        <p:txBody>
          <a:bodyPr/>
          <a:p/>
        </p:txBody>
      </p:sp>
      <p:sp>
        <p:nvSpPr>
          <p:cNvPr id="12" name="Text 10"/>
          <p:cNvSpPr/>
          <p:nvPr/>
        </p:nvSpPr>
        <p:spPr>
          <a:xfrm>
            <a:off x="868680" y="28163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670048"/>
            <a:ext cx="9784080" cy="71323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Programul de seară și așteptarea mai scurtă</a:t>
            </a:r>
            <a:endParaRPr lang="en-US" sz="2000" dirty="0"/>
          </a:p>
        </p:txBody>
      </p:sp>
      <p:sp>
        <p:nvSpPr>
          <p:cNvPr id="14" name="Shape 12"/>
          <p:cNvSpPr/>
          <p:nvPr/>
        </p:nvSpPr>
        <p:spPr>
          <a:xfrm>
            <a:off x="594360" y="3511296"/>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5" name="Shape 13"/>
          <p:cNvSpPr/>
          <p:nvPr/>
        </p:nvSpPr>
        <p:spPr>
          <a:xfrm>
            <a:off x="868680" y="3657600"/>
            <a:ext cx="420624" cy="420624"/>
          </a:xfrm>
          <a:prstGeom prst="ellipse">
            <a:avLst/>
          </a:prstGeom>
          <a:solidFill>
            <a:srgbClr val="FFC24B"/>
          </a:solidFill>
          <a:ln/>
        </p:spPr>
        <p:txBody>
          <a:bodyPr/>
          <a:p/>
        </p:txBody>
      </p:sp>
      <p:sp>
        <p:nvSpPr>
          <p:cNvPr id="16" name="Text 14"/>
          <p:cNvSpPr/>
          <p:nvPr/>
        </p:nvSpPr>
        <p:spPr>
          <a:xfrm>
            <a:off x="868680" y="3657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511296"/>
            <a:ext cx="9784080" cy="71323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Prețul</a:t>
            </a:r>
            <a:endParaRPr lang="en-US" sz="2000" dirty="0"/>
          </a:p>
        </p:txBody>
      </p:sp>
      <p:sp>
        <p:nvSpPr>
          <p:cNvPr id="18" name="Shape 16"/>
          <p:cNvSpPr/>
          <p:nvPr/>
        </p:nvSpPr>
        <p:spPr>
          <a:xfrm>
            <a:off x="594360" y="4352544"/>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9" name="Shape 17"/>
          <p:cNvSpPr/>
          <p:nvPr/>
        </p:nvSpPr>
        <p:spPr>
          <a:xfrm>
            <a:off x="868680" y="4498848"/>
            <a:ext cx="420624" cy="420624"/>
          </a:xfrm>
          <a:prstGeom prst="ellipse">
            <a:avLst/>
          </a:prstGeom>
          <a:solidFill>
            <a:srgbClr val="FFC24B"/>
          </a:solidFill>
          <a:ln/>
        </p:spPr>
        <p:txBody>
          <a:bodyPr/>
          <a:p/>
        </p:txBody>
      </p:sp>
      <p:sp>
        <p:nvSpPr>
          <p:cNvPr id="20" name="Text 18"/>
          <p:cNvSpPr/>
          <p:nvPr/>
        </p:nvSpPr>
        <p:spPr>
          <a:xfrm>
            <a:off x="868680" y="4498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352544"/>
            <a:ext cx="9784080" cy="71323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Recomandarea medicului</a:t>
            </a:r>
            <a:endParaRPr lang="en-US" sz="2000" dirty="0"/>
          </a:p>
        </p:txBody>
      </p:sp>
      <p:sp>
        <p:nvSpPr>
          <p:cNvPr id="22" name="Text 20"/>
          <p:cNvSpPr/>
          <p:nvPr/>
        </p:nvSpPr>
        <p:spPr>
          <a:xfrm>
            <a:off x="594360" y="5376672"/>
            <a:ext cx="10972800" cy="457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O singură variantă. Rezultatele apar după închiderea votului.</a:t>
            </a:r>
            <a:endParaRPr lang="en-US" sz="1700" dirty="0"/>
          </a:p>
        </p:txBody>
      </p:sp>
      <p:sp>
        <p:nvSpPr>
          <p:cNvPr id="23" name="Text 21"/>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SPUNE CAZUL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Programul și așteptarea, nu calitatea</a:t>
            </a:r>
            <a:endParaRPr lang="en-US" sz="3200" dirty="0"/>
          </a:p>
        </p:txBody>
      </p:sp>
      <p:sp>
        <p:nvSpPr>
          <p:cNvPr id="4" name="Shape 2"/>
          <p:cNvSpPr/>
          <p:nvPr/>
        </p:nvSpPr>
        <p:spPr>
          <a:xfrm>
            <a:off x="594360" y="1600200"/>
            <a:ext cx="5349240" cy="2651760"/>
          </a:xfrm>
          <a:prstGeom prst="roundRect">
            <a:avLst>
              <a:gd name="adj" fmla="val 3103"/>
            </a:avLst>
          </a:prstGeom>
          <a:solidFill>
            <a:srgbClr val="ECEAE4"/>
          </a:solidFill>
          <a:ln w="12700">
            <a:solidFill>
              <a:srgbClr val="ECEAE4"/>
            </a:solidFill>
            <a:prstDash val="solid"/>
          </a:ln>
        </p:spPr>
        <p:txBody>
          <a:bodyPr/>
          <a:p/>
        </p:txBody>
      </p:sp>
      <p:sp>
        <p:nvSpPr>
          <p:cNvPr id="5" name="Text 3"/>
          <p:cNvSpPr/>
          <p:nvPr/>
        </p:nvSpPr>
        <p:spPr>
          <a:xfrm>
            <a:off x="868680" y="1783080"/>
            <a:ext cx="484632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NU SPUNE CAZUL</a:t>
            </a:r>
            <a:endParaRPr lang="en-US" sz="1300" dirty="0"/>
          </a:p>
        </p:txBody>
      </p:sp>
      <p:sp>
        <p:nvSpPr>
          <p:cNvPr id="6" name="Shape 4"/>
          <p:cNvSpPr/>
          <p:nvPr/>
        </p:nvSpPr>
        <p:spPr>
          <a:xfrm>
            <a:off x="868680" y="2286000"/>
            <a:ext cx="54864" cy="457200"/>
          </a:xfrm>
          <a:prstGeom prst="rect">
            <a:avLst/>
          </a:prstGeom>
          <a:solidFill>
            <a:srgbClr val="B02532"/>
          </a:solidFill>
          <a:ln w="12700">
            <a:solidFill>
              <a:srgbClr val="B02532"/>
            </a:solidFill>
            <a:prstDash val="solid"/>
          </a:ln>
        </p:spPr>
        <p:txBody>
          <a:bodyPr/>
          <a:p/>
        </p:txBody>
      </p:sp>
      <p:sp>
        <p:nvSpPr>
          <p:cNvPr id="7" name="Text 5"/>
          <p:cNvSpPr/>
          <p:nvPr/>
        </p:nvSpPr>
        <p:spPr>
          <a:xfrm>
            <a:off x="1097280" y="2286000"/>
            <a:ext cx="4663440" cy="4572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Nimic despre calitatea investigațiilor.</a:t>
            </a:r>
            <a:endParaRPr lang="en-US" sz="1700" dirty="0"/>
          </a:p>
        </p:txBody>
      </p:sp>
      <p:sp>
        <p:nvSpPr>
          <p:cNvPr id="8" name="Shape 6"/>
          <p:cNvSpPr/>
          <p:nvPr/>
        </p:nvSpPr>
        <p:spPr>
          <a:xfrm>
            <a:off x="868680" y="2907792"/>
            <a:ext cx="54864" cy="457200"/>
          </a:xfrm>
          <a:prstGeom prst="rect">
            <a:avLst/>
          </a:prstGeom>
          <a:solidFill>
            <a:srgbClr val="B02532"/>
          </a:solidFill>
          <a:ln w="12700">
            <a:solidFill>
              <a:srgbClr val="B02532"/>
            </a:solidFill>
            <a:prstDash val="solid"/>
          </a:ln>
        </p:spPr>
        <p:txBody>
          <a:bodyPr/>
          <a:p/>
        </p:txBody>
      </p:sp>
      <p:sp>
        <p:nvSpPr>
          <p:cNvPr id="9" name="Text 7"/>
          <p:cNvSpPr/>
          <p:nvPr/>
        </p:nvSpPr>
        <p:spPr>
          <a:xfrm>
            <a:off x="1097280" y="2907792"/>
            <a:ext cx="4663440" cy="4572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Nimic despre recomandările medicilor.</a:t>
            </a:r>
            <a:endParaRPr lang="en-US" sz="1700" dirty="0"/>
          </a:p>
        </p:txBody>
      </p:sp>
      <p:sp>
        <p:nvSpPr>
          <p:cNvPr id="10" name="Shape 8"/>
          <p:cNvSpPr/>
          <p:nvPr/>
        </p:nvSpPr>
        <p:spPr>
          <a:xfrm>
            <a:off x="868680" y="3529584"/>
            <a:ext cx="54864" cy="457200"/>
          </a:xfrm>
          <a:prstGeom prst="rect">
            <a:avLst/>
          </a:prstGeom>
          <a:solidFill>
            <a:srgbClr val="B02532"/>
          </a:solidFill>
          <a:ln w="12700">
            <a:solidFill>
              <a:srgbClr val="B02532"/>
            </a:solidFill>
            <a:prstDash val="solid"/>
          </a:ln>
        </p:spPr>
        <p:txBody>
          <a:bodyPr/>
          <a:p/>
        </p:txBody>
      </p:sp>
      <p:sp>
        <p:nvSpPr>
          <p:cNvPr id="11" name="Text 9"/>
          <p:cNvSpPr/>
          <p:nvPr/>
        </p:nvSpPr>
        <p:spPr>
          <a:xfrm>
            <a:off x="1097280" y="3529584"/>
            <a:ext cx="4663440" cy="4572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Nici cât plătesc pacienții fără contract.</a:t>
            </a:r>
            <a:endParaRPr lang="en-US" sz="1700" dirty="0"/>
          </a:p>
        </p:txBody>
      </p:sp>
      <p:sp>
        <p:nvSpPr>
          <p:cNvPr id="12" name="Shape 10"/>
          <p:cNvSpPr/>
          <p:nvPr/>
        </p:nvSpPr>
        <p:spPr>
          <a:xfrm>
            <a:off x="6217920" y="1600200"/>
            <a:ext cx="5349240" cy="2651760"/>
          </a:xfrm>
          <a:prstGeom prst="roundRect">
            <a:avLst>
              <a:gd name="adj" fmla="val 3103"/>
            </a:avLst>
          </a:prstGeom>
          <a:solidFill>
            <a:srgbClr val="ECEAE4"/>
          </a:solidFill>
          <a:ln w="12700">
            <a:solidFill>
              <a:srgbClr val="ECEAE4"/>
            </a:solidFill>
            <a:prstDash val="solid"/>
          </a:ln>
        </p:spPr>
        <p:txBody>
          <a:bodyPr/>
          <a:p/>
        </p:txBody>
      </p:sp>
      <p:sp>
        <p:nvSpPr>
          <p:cNvPr id="13" name="Text 11"/>
          <p:cNvSpPr/>
          <p:nvPr/>
        </p:nvSpPr>
        <p:spPr>
          <a:xfrm>
            <a:off x="6492240" y="1783080"/>
            <a:ext cx="484632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CE SPUNE CAZUL</a:t>
            </a:r>
            <a:endParaRPr lang="en-US" sz="1300" dirty="0"/>
          </a:p>
        </p:txBody>
      </p:sp>
      <p:sp>
        <p:nvSpPr>
          <p:cNvPr id="14" name="Shape 12"/>
          <p:cNvSpPr/>
          <p:nvPr/>
        </p:nvSpPr>
        <p:spPr>
          <a:xfrm>
            <a:off x="6492240" y="2286000"/>
            <a:ext cx="54864" cy="457200"/>
          </a:xfrm>
          <a:prstGeom prst="rect">
            <a:avLst/>
          </a:prstGeom>
          <a:solidFill>
            <a:srgbClr val="0E7C6B"/>
          </a:solidFill>
          <a:ln w="12700">
            <a:solidFill>
              <a:srgbClr val="0E7C6B"/>
            </a:solidFill>
            <a:prstDash val="solid"/>
          </a:ln>
        </p:spPr>
        <p:txBody>
          <a:bodyPr/>
          <a:p/>
        </p:txBody>
      </p:sp>
      <p:sp>
        <p:nvSpPr>
          <p:cNvPr id="15" name="Text 13"/>
          <p:cNvSpPr/>
          <p:nvPr/>
        </p:nvSpPr>
        <p:spPr>
          <a:xfrm>
            <a:off x="6720840" y="2286000"/>
            <a:ext cx="4663440" cy="4572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Centrul lucrează seara.</a:t>
            </a:r>
            <a:endParaRPr lang="en-US" sz="1700" dirty="0"/>
          </a:p>
        </p:txBody>
      </p:sp>
      <p:sp>
        <p:nvSpPr>
          <p:cNvPr id="16" name="Shape 14"/>
          <p:cNvSpPr/>
          <p:nvPr/>
        </p:nvSpPr>
        <p:spPr>
          <a:xfrm>
            <a:off x="6492240" y="2907792"/>
            <a:ext cx="54864" cy="457200"/>
          </a:xfrm>
          <a:prstGeom prst="rect">
            <a:avLst/>
          </a:prstGeom>
          <a:solidFill>
            <a:srgbClr val="0E7C6B"/>
          </a:solidFill>
          <a:ln w="12700">
            <a:solidFill>
              <a:srgbClr val="0E7C6B"/>
            </a:solidFill>
            <a:prstDash val="solid"/>
          </a:ln>
        </p:spPr>
        <p:txBody>
          <a:bodyPr/>
          <a:p/>
        </p:txBody>
      </p:sp>
      <p:sp>
        <p:nvSpPr>
          <p:cNvPr id="17" name="Text 15"/>
          <p:cNvSpPr/>
          <p:nvPr/>
        </p:nvSpPr>
        <p:spPr>
          <a:xfrm>
            <a:off x="6720840" y="2907792"/>
            <a:ext cx="4663440" cy="45720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spital se așteaptă săptămâni.</a:t>
            </a:r>
            <a:endParaRPr lang="en-US" sz="1700" dirty="0"/>
          </a:p>
        </p:txBody>
      </p:sp>
      <p:sp>
        <p:nvSpPr>
          <p:cNvPr id="18" name="Text 16"/>
          <p:cNvSpPr/>
          <p:nvPr/>
        </p:nvSpPr>
        <p:spPr>
          <a:xfrm>
            <a:off x="594360" y="4526280"/>
            <a:ext cx="10972800" cy="50292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Singura variantă susținută de ce știm: programul și așteptarea.</a:t>
            </a:r>
            <a:endParaRPr lang="en-US" sz="2100" dirty="0"/>
          </a:p>
        </p:txBody>
      </p:sp>
      <p:sp>
        <p:nvSpPr>
          <p:cNvPr id="19" name="Text 17"/>
          <p:cNvSpPr/>
          <p:nvPr/>
        </p:nvSpPr>
        <p:spPr>
          <a:xfrm>
            <a:off x="594360" y="5120640"/>
            <a:ext cx="10972800" cy="8229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 greșeală frecventă: explicăm plecarea pacienților prin calitatea serviciului, când motivul real poate fi programul sau timpul de așteptare.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PRIM RĂSPUNS LA ÎNTREBAREA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Nu tot ce e pe hartă intră în plan</a:t>
            </a:r>
            <a:endParaRPr lang="en-US" sz="3100" dirty="0"/>
          </a:p>
        </p:txBody>
      </p:sp>
      <p:sp>
        <p:nvSpPr>
          <p:cNvPr id="4" name="Shape 2"/>
          <p:cNvSpPr/>
          <p:nvPr/>
        </p:nvSpPr>
        <p:spPr>
          <a:xfrm>
            <a:off x="594360" y="1600200"/>
            <a:ext cx="10972800" cy="1325880"/>
          </a:xfrm>
          <a:prstGeom prst="roundRect">
            <a:avLst>
              <a:gd name="adj" fmla="val 6207"/>
            </a:avLst>
          </a:prstGeom>
          <a:solidFill>
            <a:srgbClr val="ECEAE4"/>
          </a:solidFill>
          <a:ln w="12700">
            <a:solidFill>
              <a:srgbClr val="ECEAE4"/>
            </a:solidFill>
            <a:prstDash val="solid"/>
          </a:ln>
        </p:spPr>
        <p:txBody>
          <a:bodyPr/>
          <a:p/>
        </p:txBody>
      </p:sp>
      <p:sp>
        <p:nvSpPr>
          <p:cNvPr id="5" name="Text 3"/>
          <p:cNvSpPr/>
          <p:nvPr/>
        </p:nvSpPr>
        <p:spPr>
          <a:xfrm>
            <a:off x="868680" y="1600200"/>
            <a:ext cx="10424160" cy="132588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Problemele externe sunt rareori cifre ordonate: de obicei sunt prost structurate și țin de presupuneri.</a:t>
            </a:r>
            <a:endParaRPr lang="en-US" sz="2000" dirty="0"/>
          </a:p>
        </p:txBody>
      </p:sp>
      <p:sp>
        <p:nvSpPr>
          <p:cNvPr id="6" name="Text 4"/>
          <p:cNvSpPr/>
          <p:nvPr/>
        </p:nvSpPr>
        <p:spPr>
          <a:xfrm>
            <a:off x="594360" y="3154680"/>
            <a:ext cx="10972800" cy="411480"/>
          </a:xfrm>
          <a:prstGeom prst="rect">
            <a:avLst/>
          </a:prstGeom>
          <a:noFill/>
          <a:ln/>
        </p:spPr>
        <p:txBody>
          <a:bodyPr wrap="square" lIns="0" tIns="0" rIns="0" bIns="0" rtlCol="0" anchor="t"/>
          <a:lstStyle/>
          <a:p>
            <a:pPr indent="0" marL="0">
              <a:buNone/>
            </a:pPr>
            <a:r>
              <a:rPr lang="en-US" sz="1700" dirty="0">
                <a:solidFill>
                  <a:srgbClr val="585A64"/>
                </a:solidFill>
                <a:latin typeface="Palatino Linotype" pitchFamily="34" charset="0"/>
                <a:ea typeface="Palatino Linotype" pitchFamily="34" charset="-122"/>
                <a:cs typeface="Palatino Linotype" pitchFamily="34" charset="-120"/>
              </a:rPr>
              <a:t>Managerul face trei lucruri, în ordine:</a:t>
            </a:r>
            <a:endParaRPr lang="en-US" sz="1700" dirty="0"/>
          </a:p>
        </p:txBody>
      </p:sp>
      <p:sp>
        <p:nvSpPr>
          <p:cNvPr id="7" name="Shape 5"/>
          <p:cNvSpPr/>
          <p:nvPr/>
        </p:nvSpPr>
        <p:spPr>
          <a:xfrm>
            <a:off x="594360" y="3657600"/>
            <a:ext cx="3520440" cy="1920240"/>
          </a:xfrm>
          <a:prstGeom prst="roundRect">
            <a:avLst>
              <a:gd name="adj" fmla="val 4286"/>
            </a:avLst>
          </a:prstGeom>
          <a:solidFill>
            <a:srgbClr val="FF4757"/>
          </a:solidFill>
          <a:ln w="12700">
            <a:solidFill>
              <a:srgbClr val="FF4757"/>
            </a:solidFill>
            <a:prstDash val="solid"/>
          </a:ln>
        </p:spPr>
        <p:txBody>
          <a:bodyPr/>
          <a:p/>
        </p:txBody>
      </p:sp>
      <p:sp>
        <p:nvSpPr>
          <p:cNvPr id="8" name="Shape 6"/>
          <p:cNvSpPr/>
          <p:nvPr/>
        </p:nvSpPr>
        <p:spPr>
          <a:xfrm>
            <a:off x="822960" y="3840480"/>
            <a:ext cx="420624" cy="420624"/>
          </a:xfrm>
          <a:prstGeom prst="ellipse">
            <a:avLst/>
          </a:prstGeom>
          <a:solidFill>
            <a:srgbClr val="FFFFFF"/>
          </a:solidFill>
          <a:ln/>
        </p:spPr>
        <p:txBody>
          <a:bodyPr/>
          <a:p/>
        </p:txBody>
      </p:sp>
      <p:sp>
        <p:nvSpPr>
          <p:cNvPr id="9" name="Text 7"/>
          <p:cNvSpPr/>
          <p:nvPr/>
        </p:nvSpPr>
        <p:spPr>
          <a:xfrm>
            <a:off x="822960" y="3840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822960" y="4389120"/>
            <a:ext cx="3108960" cy="1097280"/>
          </a:xfrm>
          <a:prstGeom prst="rect">
            <a:avLst/>
          </a:prstGeom>
          <a:noFill/>
          <a:ln/>
        </p:spPr>
        <p:txBody>
          <a:bodyPr wrap="square" lIns="0" tIns="0" rIns="0" bIns="0" rtlCol="0" anchor="t"/>
          <a:lstStyle/>
          <a:p>
            <a:pPr indent="0" marL="0">
              <a:buNone/>
            </a:pPr>
            <a:r>
              <a:rPr lang="en-US" sz="1700" b="1" dirty="0">
                <a:solidFill>
                  <a:srgbClr val="2E060B"/>
                </a:solidFill>
                <a:latin typeface="Palatino Linotype" pitchFamily="34" charset="0"/>
                <a:ea typeface="Palatino Linotype" pitchFamily="34" charset="-122"/>
                <a:cs typeface="Palatino Linotype" pitchFamily="34" charset="-120"/>
              </a:rPr>
              <a:t>Umple harta cu date, nu cu impresii.</a:t>
            </a:r>
            <a:endParaRPr lang="en-US" sz="1700" dirty="0"/>
          </a:p>
        </p:txBody>
      </p:sp>
      <p:sp>
        <p:nvSpPr>
          <p:cNvPr id="11" name="Shape 9"/>
          <p:cNvSpPr/>
          <p:nvPr/>
        </p:nvSpPr>
        <p:spPr>
          <a:xfrm>
            <a:off x="4343400" y="3657600"/>
            <a:ext cx="3520440" cy="1920240"/>
          </a:xfrm>
          <a:prstGeom prst="roundRect">
            <a:avLst>
              <a:gd name="adj" fmla="val 4286"/>
            </a:avLst>
          </a:prstGeom>
          <a:solidFill>
            <a:srgbClr val="FFC24B"/>
          </a:solidFill>
          <a:ln w="12700">
            <a:solidFill>
              <a:srgbClr val="FFC24B"/>
            </a:solidFill>
            <a:prstDash val="solid"/>
          </a:ln>
        </p:spPr>
        <p:txBody>
          <a:bodyPr/>
          <a:p/>
        </p:txBody>
      </p:sp>
      <p:sp>
        <p:nvSpPr>
          <p:cNvPr id="12" name="Shape 10"/>
          <p:cNvSpPr/>
          <p:nvPr/>
        </p:nvSpPr>
        <p:spPr>
          <a:xfrm>
            <a:off x="4572000" y="3840480"/>
            <a:ext cx="420624" cy="420624"/>
          </a:xfrm>
          <a:prstGeom prst="ellipse">
            <a:avLst/>
          </a:prstGeom>
          <a:solidFill>
            <a:srgbClr val="FFFFFF"/>
          </a:solidFill>
          <a:ln/>
        </p:spPr>
        <p:txBody>
          <a:bodyPr/>
          <a:p/>
        </p:txBody>
      </p:sp>
      <p:sp>
        <p:nvSpPr>
          <p:cNvPr id="13" name="Text 11"/>
          <p:cNvSpPr/>
          <p:nvPr/>
        </p:nvSpPr>
        <p:spPr>
          <a:xfrm>
            <a:off x="4572000" y="3840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4572000" y="4389120"/>
            <a:ext cx="3108960" cy="1097280"/>
          </a:xfrm>
          <a:prstGeom prst="rect">
            <a:avLst/>
          </a:prstGeom>
          <a:noFill/>
          <a:ln/>
        </p:spPr>
        <p:txBody>
          <a:bodyPr wrap="square" lIns="0" tIns="0" rIns="0" bIns="0" rtlCol="0" anchor="t"/>
          <a:lstStyle/>
          <a:p>
            <a:pPr indent="0" marL="0">
              <a:buNone/>
            </a:pPr>
            <a:r>
              <a:rPr lang="en-US" sz="1700" b="1" dirty="0">
                <a:solidFill>
                  <a:srgbClr val="3D2A00"/>
                </a:solidFill>
                <a:latin typeface="Palatino Linotype" pitchFamily="34" charset="0"/>
                <a:ea typeface="Palatino Linotype" pitchFamily="34" charset="-122"/>
                <a:cs typeface="Palatino Linotype" pitchFamily="34" charset="-120"/>
              </a:rPr>
              <a:t>Află de unde vin și unde pleacă pacienții fiecărui serviciu.</a:t>
            </a:r>
            <a:endParaRPr lang="en-US" sz="1700" dirty="0"/>
          </a:p>
        </p:txBody>
      </p:sp>
      <p:sp>
        <p:nvSpPr>
          <p:cNvPr id="15" name="Shape 13"/>
          <p:cNvSpPr/>
          <p:nvPr/>
        </p:nvSpPr>
        <p:spPr>
          <a:xfrm>
            <a:off x="8092440" y="3657600"/>
            <a:ext cx="3520440" cy="1920240"/>
          </a:xfrm>
          <a:prstGeom prst="roundRect">
            <a:avLst>
              <a:gd name="adj" fmla="val 4286"/>
            </a:avLst>
          </a:prstGeom>
          <a:solidFill>
            <a:srgbClr val="27D3BE"/>
          </a:solidFill>
          <a:ln w="12700">
            <a:solidFill>
              <a:srgbClr val="27D3BE"/>
            </a:solidFill>
            <a:prstDash val="solid"/>
          </a:ln>
        </p:spPr>
        <p:txBody>
          <a:bodyPr/>
          <a:p/>
        </p:txBody>
      </p:sp>
      <p:sp>
        <p:nvSpPr>
          <p:cNvPr id="16" name="Shape 14"/>
          <p:cNvSpPr/>
          <p:nvPr/>
        </p:nvSpPr>
        <p:spPr>
          <a:xfrm>
            <a:off x="8321040" y="3840480"/>
            <a:ext cx="420624" cy="420624"/>
          </a:xfrm>
          <a:prstGeom prst="ellipse">
            <a:avLst/>
          </a:prstGeom>
          <a:solidFill>
            <a:srgbClr val="FFFFFF"/>
          </a:solidFill>
          <a:ln/>
        </p:spPr>
        <p:txBody>
          <a:bodyPr/>
          <a:p/>
        </p:txBody>
      </p:sp>
      <p:sp>
        <p:nvSpPr>
          <p:cNvPr id="17" name="Text 15"/>
          <p:cNvSpPr/>
          <p:nvPr/>
        </p:nvSpPr>
        <p:spPr>
          <a:xfrm>
            <a:off x="8321040" y="3840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8321040" y="4389120"/>
            <a:ext cx="3108960" cy="1097280"/>
          </a:xfrm>
          <a:prstGeom prst="rect">
            <a:avLst/>
          </a:prstGeom>
          <a:noFill/>
          <a:ln/>
        </p:spPr>
        <p:txBody>
          <a:bodyPr wrap="square" lIns="0" tIns="0" rIns="0" bIns="0" rtlCol="0" anchor="t"/>
          <a:lstStyle/>
          <a:p>
            <a:pPr indent="0" marL="0">
              <a:buNone/>
            </a:pPr>
            <a:r>
              <a:rPr lang="en-US" sz="1700" b="1" dirty="0">
                <a:solidFill>
                  <a:srgbClr val="073B34"/>
                </a:solidFill>
                <a:latin typeface="Palatino Linotype" pitchFamily="34" charset="0"/>
                <a:ea typeface="Palatino Linotype" pitchFamily="34" charset="-122"/>
                <a:cs typeface="Palatino Linotype" pitchFamily="34" charset="-120"/>
              </a:rPr>
              <a:t>Ordonează problemele și alege puține.</a:t>
            </a:r>
            <a:endParaRPr lang="en-US" sz="1700" dirty="0"/>
          </a:p>
        </p:txBody>
      </p:sp>
      <p:sp>
        <p:nvSpPr>
          <p:cNvPr id="19" name="Text 17"/>
          <p:cNvSpPr/>
          <p:nvPr/>
        </p:nvSpPr>
        <p:spPr>
          <a:xfrm>
            <a:off x="594360" y="5806440"/>
            <a:ext cx="10972800" cy="41148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Fiecare este o parte a ședinței.</a:t>
            </a:r>
            <a:endParaRPr lang="en-US" sz="15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manualul cursului, capitolul 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 DE CUVINTE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ÎNTREBAREA 2 · UN SINGUR CUVÂNT</a:t>
            </a:r>
            <a:endParaRPr lang="en-US" sz="1300" dirty="0"/>
          </a:p>
        </p:txBody>
      </p:sp>
      <p:sp>
        <p:nvSpPr>
          <p:cNvPr id="5" name="Text 3"/>
          <p:cNvSpPr/>
          <p:nvPr/>
        </p:nvSpPr>
        <p:spPr>
          <a:xfrm>
            <a:off x="594360" y="1097280"/>
            <a:ext cx="10789920" cy="2468880"/>
          </a:xfrm>
          <a:prstGeom prst="rect">
            <a:avLst/>
          </a:prstGeom>
          <a:noFill/>
          <a:ln/>
        </p:spPr>
        <p:txBody>
          <a:bodyPr wrap="square" lIns="0" tIns="0" rIns="0" bIns="0" rtlCol="0" anchor="ctr"/>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Ce v-a făcut ultima dată să alegeți un anumit loc pentru o analiză sau o consultație?</a:t>
            </a:r>
            <a:endParaRPr lang="en-US" sz="3800" dirty="0"/>
          </a:p>
        </p:txBody>
      </p:sp>
      <p:sp>
        <p:nvSpPr>
          <p:cNvPr id="6" name="Shape 4"/>
          <p:cNvSpPr/>
          <p:nvPr/>
        </p:nvSpPr>
        <p:spPr>
          <a:xfrm>
            <a:off x="594360" y="3794760"/>
            <a:ext cx="1280160" cy="36576"/>
          </a:xfrm>
          <a:prstGeom prst="rect">
            <a:avLst/>
          </a:prstGeom>
          <a:solidFill>
            <a:srgbClr val="FF4757"/>
          </a:solidFill>
          <a:ln/>
        </p:spPr>
        <p:txBody>
          <a:bodyPr/>
          <a:p/>
        </p:txBody>
      </p:sp>
      <p:sp>
        <p:nvSpPr>
          <p:cNvPr id="7" name="Text 5"/>
          <p:cNvSpPr/>
          <p:nvPr/>
        </p:nvSpPr>
        <p:spPr>
          <a:xfrm>
            <a:off x="594360" y="4114800"/>
            <a:ext cx="10424160" cy="91440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Cuvintele apar pe ecran sub forma unui nor. Îl folosim din nou în partea a treia.</a:t>
            </a:r>
            <a:endParaRPr lang="en-US" sz="2000" dirty="0"/>
          </a:p>
        </p:txBody>
      </p:sp>
      <p:sp>
        <p:nvSpPr>
          <p:cNvPr id="8" name="Text 6"/>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PRIMA SARCINĂ A MANAGERULUI: SĂ UMPLE HARTA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Cinci lentile pe România</a:t>
            </a:r>
            <a:endParaRPr lang="en-US" sz="3400" dirty="0"/>
          </a:p>
        </p:txBody>
      </p:sp>
      <p:sp>
        <p:nvSpPr>
          <p:cNvPr id="4" name="Shape 2"/>
          <p:cNvSpPr/>
          <p:nvPr/>
        </p:nvSpPr>
        <p:spPr>
          <a:xfrm>
            <a:off x="594360" y="1783080"/>
            <a:ext cx="2103120" cy="3383280"/>
          </a:xfrm>
          <a:prstGeom prst="roundRect">
            <a:avLst>
              <a:gd name="adj" fmla="val 3913"/>
            </a:avLst>
          </a:prstGeom>
          <a:solidFill>
            <a:srgbClr val="1D1F2B"/>
          </a:solidFill>
          <a:ln w="12700">
            <a:solidFill>
              <a:srgbClr val="1D1F2B"/>
            </a:solidFill>
            <a:prstDash val="solid"/>
          </a:ln>
        </p:spPr>
        <p:txBody>
          <a:bodyPr/>
          <a:p/>
        </p:txBody>
      </p:sp>
      <p:sp>
        <p:nvSpPr>
          <p:cNvPr id="5" name="Shape 3"/>
          <p:cNvSpPr/>
          <p:nvPr/>
        </p:nvSpPr>
        <p:spPr>
          <a:xfrm>
            <a:off x="594360" y="1783080"/>
            <a:ext cx="2103120" cy="91440"/>
          </a:xfrm>
          <a:prstGeom prst="rect">
            <a:avLst/>
          </a:prstGeom>
          <a:solidFill>
            <a:srgbClr val="FF4757"/>
          </a:solidFill>
          <a:ln w="12700">
            <a:solidFill>
              <a:srgbClr val="FF4757"/>
            </a:solidFill>
            <a:prstDash val="solid"/>
          </a:ln>
        </p:spPr>
        <p:txBody>
          <a:bodyPr/>
          <a:p/>
        </p:txBody>
      </p:sp>
      <p:sp>
        <p:nvSpPr>
          <p:cNvPr id="6" name="Text 4"/>
          <p:cNvSpPr/>
          <p:nvPr/>
        </p:nvSpPr>
        <p:spPr>
          <a:xfrm>
            <a:off x="777240" y="2057400"/>
            <a:ext cx="1783080" cy="411480"/>
          </a:xfrm>
          <a:prstGeom prst="rect">
            <a:avLst/>
          </a:prstGeom>
          <a:noFill/>
          <a:ln/>
        </p:spPr>
        <p:txBody>
          <a:bodyPr wrap="square" lIns="0" tIns="0" rIns="0" bIns="0" rtlCol="0" anchor="t"/>
          <a:lstStyle/>
          <a:p>
            <a:pPr indent="0" marL="0">
              <a:buNone/>
            </a:pPr>
            <a:r>
              <a:rPr lang="en-US" sz="1700" b="1" dirty="0">
                <a:solidFill>
                  <a:srgbClr val="FF4757"/>
                </a:solidFill>
                <a:latin typeface="Palatino Linotype" pitchFamily="34" charset="0"/>
                <a:ea typeface="Palatino Linotype" pitchFamily="34" charset="-122"/>
                <a:cs typeface="Palatino Linotype" pitchFamily="34" charset="-120"/>
              </a:rPr>
              <a:t>BANII</a:t>
            </a:r>
            <a:endParaRPr lang="en-US" sz="1700" dirty="0"/>
          </a:p>
        </p:txBody>
      </p:sp>
      <p:sp>
        <p:nvSpPr>
          <p:cNvPr id="7" name="Text 5"/>
          <p:cNvSpPr/>
          <p:nvPr/>
        </p:nvSpPr>
        <p:spPr>
          <a:xfrm>
            <a:off x="777240" y="2514600"/>
            <a:ext cx="1783080" cy="548640"/>
          </a:xfrm>
          <a:prstGeom prst="rect">
            <a:avLst/>
          </a:prstGeom>
          <a:noFill/>
          <a:ln/>
        </p:spPr>
        <p:txBody>
          <a:bodyPr wrap="square" lIns="0" tIns="0" rIns="0" bIns="0" rtlCol="0" anchor="t"/>
          <a:lstStyle/>
          <a:p>
            <a:pPr indent="0" marL="0">
              <a:buNone/>
            </a:pPr>
            <a:r>
              <a:rPr lang="en-US" sz="1250" i="1" dirty="0">
                <a:solidFill>
                  <a:srgbClr val="959BB0"/>
                </a:solidFill>
                <a:latin typeface="Palatino Linotype" pitchFamily="34" charset="0"/>
                <a:ea typeface="Palatino Linotype" pitchFamily="34" charset="-122"/>
                <a:cs typeface="Palatino Linotype" pitchFamily="34" charset="-120"/>
              </a:rPr>
              <a:t>economică</a:t>
            </a:r>
            <a:endParaRPr lang="en-US" sz="1250" dirty="0"/>
          </a:p>
        </p:txBody>
      </p:sp>
      <p:sp>
        <p:nvSpPr>
          <p:cNvPr id="8" name="Text 6"/>
          <p:cNvSpPr/>
          <p:nvPr/>
        </p:nvSpPr>
        <p:spPr>
          <a:xfrm>
            <a:off x="777240" y="3200400"/>
            <a:ext cx="1783080" cy="18288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Cât se cheltuie și cum se plătește?</a:t>
            </a:r>
            <a:endParaRPr lang="en-US" sz="1600" dirty="0"/>
          </a:p>
        </p:txBody>
      </p:sp>
      <p:sp>
        <p:nvSpPr>
          <p:cNvPr id="9" name="Shape 7"/>
          <p:cNvSpPr/>
          <p:nvPr/>
        </p:nvSpPr>
        <p:spPr>
          <a:xfrm>
            <a:off x="2834640" y="1783080"/>
            <a:ext cx="2103120" cy="3383280"/>
          </a:xfrm>
          <a:prstGeom prst="roundRect">
            <a:avLst>
              <a:gd name="adj" fmla="val 3913"/>
            </a:avLst>
          </a:prstGeom>
          <a:solidFill>
            <a:srgbClr val="1D1F2B"/>
          </a:solidFill>
          <a:ln w="12700">
            <a:solidFill>
              <a:srgbClr val="1D1F2B"/>
            </a:solidFill>
            <a:prstDash val="solid"/>
          </a:ln>
        </p:spPr>
        <p:txBody>
          <a:bodyPr/>
          <a:p/>
        </p:txBody>
      </p:sp>
      <p:sp>
        <p:nvSpPr>
          <p:cNvPr id="10" name="Shape 8"/>
          <p:cNvSpPr/>
          <p:nvPr/>
        </p:nvSpPr>
        <p:spPr>
          <a:xfrm>
            <a:off x="2834640" y="1783080"/>
            <a:ext cx="2103120" cy="91440"/>
          </a:xfrm>
          <a:prstGeom prst="rect">
            <a:avLst/>
          </a:prstGeom>
          <a:solidFill>
            <a:srgbClr val="FFC24B"/>
          </a:solidFill>
          <a:ln w="12700">
            <a:solidFill>
              <a:srgbClr val="FFC24B"/>
            </a:solidFill>
            <a:prstDash val="solid"/>
          </a:ln>
        </p:spPr>
        <p:txBody>
          <a:bodyPr/>
          <a:p/>
        </p:txBody>
      </p:sp>
      <p:sp>
        <p:nvSpPr>
          <p:cNvPr id="11" name="Text 9"/>
          <p:cNvSpPr/>
          <p:nvPr/>
        </p:nvSpPr>
        <p:spPr>
          <a:xfrm>
            <a:off x="3017520" y="2057400"/>
            <a:ext cx="1783080" cy="4114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OAMENII</a:t>
            </a:r>
            <a:endParaRPr lang="en-US" sz="1700" dirty="0"/>
          </a:p>
        </p:txBody>
      </p:sp>
      <p:sp>
        <p:nvSpPr>
          <p:cNvPr id="12" name="Text 10"/>
          <p:cNvSpPr/>
          <p:nvPr/>
        </p:nvSpPr>
        <p:spPr>
          <a:xfrm>
            <a:off x="3017520" y="2514600"/>
            <a:ext cx="1783080" cy="548640"/>
          </a:xfrm>
          <a:prstGeom prst="rect">
            <a:avLst/>
          </a:prstGeom>
          <a:noFill/>
          <a:ln/>
        </p:spPr>
        <p:txBody>
          <a:bodyPr wrap="square" lIns="0" tIns="0" rIns="0" bIns="0" rtlCol="0" anchor="t"/>
          <a:lstStyle/>
          <a:p>
            <a:pPr indent="0" marL="0">
              <a:buNone/>
            </a:pPr>
            <a:r>
              <a:rPr lang="en-US" sz="1250" i="1" dirty="0">
                <a:solidFill>
                  <a:srgbClr val="959BB0"/>
                </a:solidFill>
                <a:latin typeface="Palatino Linotype" pitchFamily="34" charset="0"/>
                <a:ea typeface="Palatino Linotype" pitchFamily="34" charset="-122"/>
                <a:cs typeface="Palatino Linotype" pitchFamily="34" charset="-120"/>
              </a:rPr>
              <a:t>socială și demografică</a:t>
            </a:r>
            <a:endParaRPr lang="en-US" sz="1250" dirty="0"/>
          </a:p>
        </p:txBody>
      </p:sp>
      <p:sp>
        <p:nvSpPr>
          <p:cNvPr id="13" name="Text 11"/>
          <p:cNvSpPr/>
          <p:nvPr/>
        </p:nvSpPr>
        <p:spPr>
          <a:xfrm>
            <a:off x="3017520" y="3200400"/>
            <a:ext cx="1783080" cy="18288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Cine are nevoie de îngrijire și cine o dă?</a:t>
            </a:r>
            <a:endParaRPr lang="en-US" sz="1600" dirty="0"/>
          </a:p>
        </p:txBody>
      </p:sp>
      <p:sp>
        <p:nvSpPr>
          <p:cNvPr id="14" name="Shape 12"/>
          <p:cNvSpPr/>
          <p:nvPr/>
        </p:nvSpPr>
        <p:spPr>
          <a:xfrm>
            <a:off x="5074920" y="1783080"/>
            <a:ext cx="2103120" cy="3383280"/>
          </a:xfrm>
          <a:prstGeom prst="roundRect">
            <a:avLst>
              <a:gd name="adj" fmla="val 3913"/>
            </a:avLst>
          </a:prstGeom>
          <a:solidFill>
            <a:srgbClr val="1D1F2B"/>
          </a:solidFill>
          <a:ln w="12700">
            <a:solidFill>
              <a:srgbClr val="1D1F2B"/>
            </a:solidFill>
            <a:prstDash val="solid"/>
          </a:ln>
        </p:spPr>
        <p:txBody>
          <a:bodyPr/>
          <a:p/>
        </p:txBody>
      </p:sp>
      <p:sp>
        <p:nvSpPr>
          <p:cNvPr id="15" name="Shape 13"/>
          <p:cNvSpPr/>
          <p:nvPr/>
        </p:nvSpPr>
        <p:spPr>
          <a:xfrm>
            <a:off x="5074920" y="1783080"/>
            <a:ext cx="2103120" cy="91440"/>
          </a:xfrm>
          <a:prstGeom prst="rect">
            <a:avLst/>
          </a:prstGeom>
          <a:solidFill>
            <a:srgbClr val="27D3BE"/>
          </a:solidFill>
          <a:ln w="12700">
            <a:solidFill>
              <a:srgbClr val="27D3BE"/>
            </a:solidFill>
            <a:prstDash val="solid"/>
          </a:ln>
        </p:spPr>
        <p:txBody>
          <a:bodyPr/>
          <a:p/>
        </p:txBody>
      </p:sp>
      <p:sp>
        <p:nvSpPr>
          <p:cNvPr id="16" name="Text 14"/>
          <p:cNvSpPr/>
          <p:nvPr/>
        </p:nvSpPr>
        <p:spPr>
          <a:xfrm>
            <a:off x="5257800" y="2057400"/>
            <a:ext cx="1783080" cy="4114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REGULILE</a:t>
            </a:r>
            <a:endParaRPr lang="en-US" sz="1700" dirty="0"/>
          </a:p>
        </p:txBody>
      </p:sp>
      <p:sp>
        <p:nvSpPr>
          <p:cNvPr id="17" name="Text 15"/>
          <p:cNvSpPr/>
          <p:nvPr/>
        </p:nvSpPr>
        <p:spPr>
          <a:xfrm>
            <a:off x="5257800" y="2514600"/>
            <a:ext cx="1783080" cy="548640"/>
          </a:xfrm>
          <a:prstGeom prst="rect">
            <a:avLst/>
          </a:prstGeom>
          <a:noFill/>
          <a:ln/>
        </p:spPr>
        <p:txBody>
          <a:bodyPr wrap="square" lIns="0" tIns="0" rIns="0" bIns="0" rtlCol="0" anchor="t"/>
          <a:lstStyle/>
          <a:p>
            <a:pPr indent="0" marL="0">
              <a:buNone/>
            </a:pPr>
            <a:r>
              <a:rPr lang="en-US" sz="1250" i="1" dirty="0">
                <a:solidFill>
                  <a:srgbClr val="959BB0"/>
                </a:solidFill>
                <a:latin typeface="Palatino Linotype" pitchFamily="34" charset="0"/>
                <a:ea typeface="Palatino Linotype" pitchFamily="34" charset="-122"/>
                <a:cs typeface="Palatino Linotype" pitchFamily="34" charset="-120"/>
              </a:rPr>
              <a:t>legislativă și politică</a:t>
            </a:r>
            <a:endParaRPr lang="en-US" sz="1250" dirty="0"/>
          </a:p>
        </p:txBody>
      </p:sp>
      <p:sp>
        <p:nvSpPr>
          <p:cNvPr id="18" name="Text 16"/>
          <p:cNvSpPr/>
          <p:nvPr/>
        </p:nvSpPr>
        <p:spPr>
          <a:xfrm>
            <a:off x="5257800" y="3200400"/>
            <a:ext cx="1783080" cy="18288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Ce se decontează și în ce condiții?</a:t>
            </a:r>
            <a:endParaRPr lang="en-US" sz="1600" dirty="0"/>
          </a:p>
        </p:txBody>
      </p:sp>
      <p:sp>
        <p:nvSpPr>
          <p:cNvPr id="19" name="Shape 17"/>
          <p:cNvSpPr/>
          <p:nvPr/>
        </p:nvSpPr>
        <p:spPr>
          <a:xfrm>
            <a:off x="7315200" y="1783080"/>
            <a:ext cx="2103120" cy="3383280"/>
          </a:xfrm>
          <a:prstGeom prst="roundRect">
            <a:avLst>
              <a:gd name="adj" fmla="val 3913"/>
            </a:avLst>
          </a:prstGeom>
          <a:solidFill>
            <a:srgbClr val="1D1F2B"/>
          </a:solidFill>
          <a:ln w="12700">
            <a:solidFill>
              <a:srgbClr val="1D1F2B"/>
            </a:solidFill>
            <a:prstDash val="solid"/>
          </a:ln>
        </p:spPr>
        <p:txBody>
          <a:bodyPr/>
          <a:p/>
        </p:txBody>
      </p:sp>
      <p:sp>
        <p:nvSpPr>
          <p:cNvPr id="20" name="Shape 18"/>
          <p:cNvSpPr/>
          <p:nvPr/>
        </p:nvSpPr>
        <p:spPr>
          <a:xfrm>
            <a:off x="7315200" y="1783080"/>
            <a:ext cx="2103120" cy="91440"/>
          </a:xfrm>
          <a:prstGeom prst="rect">
            <a:avLst/>
          </a:prstGeom>
          <a:solidFill>
            <a:srgbClr val="9B7EF7"/>
          </a:solidFill>
          <a:ln w="12700">
            <a:solidFill>
              <a:srgbClr val="9B7EF7"/>
            </a:solidFill>
            <a:prstDash val="solid"/>
          </a:ln>
        </p:spPr>
        <p:txBody>
          <a:bodyPr/>
          <a:p/>
        </p:txBody>
      </p:sp>
      <p:sp>
        <p:nvSpPr>
          <p:cNvPr id="21" name="Text 19"/>
          <p:cNvSpPr/>
          <p:nvPr/>
        </p:nvSpPr>
        <p:spPr>
          <a:xfrm>
            <a:off x="7498080" y="2057400"/>
            <a:ext cx="1783080" cy="411480"/>
          </a:xfrm>
          <a:prstGeom prst="rect">
            <a:avLst/>
          </a:prstGeom>
          <a:noFill/>
          <a:ln/>
        </p:spPr>
        <p:txBody>
          <a:bodyPr wrap="square" lIns="0" tIns="0" rIns="0" bIns="0" rtlCol="0" anchor="t"/>
          <a:lstStyle/>
          <a:p>
            <a:pPr indent="0" marL="0">
              <a:buNone/>
            </a:pPr>
            <a:r>
              <a:rPr lang="en-US" sz="1700" b="1" dirty="0">
                <a:solidFill>
                  <a:srgbClr val="9B7EF7"/>
                </a:solidFill>
                <a:latin typeface="Palatino Linotype" pitchFamily="34" charset="0"/>
                <a:ea typeface="Palatino Linotype" pitchFamily="34" charset="-122"/>
                <a:cs typeface="Palatino Linotype" pitchFamily="34" charset="-120"/>
              </a:rPr>
              <a:t>TEHNOLOGIA</a:t>
            </a:r>
            <a:endParaRPr lang="en-US" sz="1700" dirty="0"/>
          </a:p>
        </p:txBody>
      </p:sp>
      <p:sp>
        <p:nvSpPr>
          <p:cNvPr id="22" name="Text 20"/>
          <p:cNvSpPr/>
          <p:nvPr/>
        </p:nvSpPr>
        <p:spPr>
          <a:xfrm>
            <a:off x="7498080" y="2514600"/>
            <a:ext cx="1783080" cy="548640"/>
          </a:xfrm>
          <a:prstGeom prst="rect">
            <a:avLst/>
          </a:prstGeom>
          <a:noFill/>
          <a:ln/>
        </p:spPr>
        <p:txBody>
          <a:bodyPr wrap="square" lIns="0" tIns="0" rIns="0" bIns="0" rtlCol="0" anchor="t"/>
          <a:lstStyle/>
          <a:p>
            <a:pPr indent="0" marL="0">
              <a:buNone/>
            </a:pPr>
            <a:r>
              <a:rPr lang="en-US" sz="1250" i="1" dirty="0">
                <a:solidFill>
                  <a:srgbClr val="959BB0"/>
                </a:solidFill>
                <a:latin typeface="Palatino Linotype" pitchFamily="34" charset="0"/>
                <a:ea typeface="Palatino Linotype" pitchFamily="34" charset="-122"/>
                <a:cs typeface="Palatino Linotype" pitchFamily="34" charset="-120"/>
              </a:rPr>
              <a:t>tehnologică</a:t>
            </a:r>
            <a:endParaRPr lang="en-US" sz="1250" dirty="0"/>
          </a:p>
        </p:txBody>
      </p:sp>
      <p:sp>
        <p:nvSpPr>
          <p:cNvPr id="23" name="Text 21"/>
          <p:cNvSpPr/>
          <p:nvPr/>
        </p:nvSpPr>
        <p:spPr>
          <a:xfrm>
            <a:off x="7498080" y="3200400"/>
            <a:ext cx="1783080" cy="18288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Cum circulă datele despre pacienți?</a:t>
            </a:r>
            <a:endParaRPr lang="en-US" sz="1600" dirty="0"/>
          </a:p>
        </p:txBody>
      </p:sp>
      <p:sp>
        <p:nvSpPr>
          <p:cNvPr id="24" name="Shape 22"/>
          <p:cNvSpPr/>
          <p:nvPr/>
        </p:nvSpPr>
        <p:spPr>
          <a:xfrm>
            <a:off x="9555480" y="1783080"/>
            <a:ext cx="2103120" cy="3383280"/>
          </a:xfrm>
          <a:prstGeom prst="roundRect">
            <a:avLst>
              <a:gd name="adj" fmla="val 3913"/>
            </a:avLst>
          </a:prstGeom>
          <a:solidFill>
            <a:srgbClr val="1D1F2B"/>
          </a:solidFill>
          <a:ln w="12700">
            <a:solidFill>
              <a:srgbClr val="1D1F2B"/>
            </a:solidFill>
            <a:prstDash val="solid"/>
          </a:ln>
        </p:spPr>
        <p:txBody>
          <a:bodyPr/>
          <a:p/>
        </p:txBody>
      </p:sp>
      <p:sp>
        <p:nvSpPr>
          <p:cNvPr id="25" name="Shape 23"/>
          <p:cNvSpPr/>
          <p:nvPr/>
        </p:nvSpPr>
        <p:spPr>
          <a:xfrm>
            <a:off x="9555480" y="1783080"/>
            <a:ext cx="2103120" cy="91440"/>
          </a:xfrm>
          <a:prstGeom prst="rect">
            <a:avLst/>
          </a:prstGeom>
          <a:solidFill>
            <a:srgbClr val="FF8A3D"/>
          </a:solidFill>
          <a:ln w="12700">
            <a:solidFill>
              <a:srgbClr val="FF8A3D"/>
            </a:solidFill>
            <a:prstDash val="solid"/>
          </a:ln>
        </p:spPr>
        <p:txBody>
          <a:bodyPr/>
          <a:p/>
        </p:txBody>
      </p:sp>
      <p:sp>
        <p:nvSpPr>
          <p:cNvPr id="26" name="Text 24"/>
          <p:cNvSpPr/>
          <p:nvPr/>
        </p:nvSpPr>
        <p:spPr>
          <a:xfrm>
            <a:off x="9738360" y="2057400"/>
            <a:ext cx="1783080" cy="411480"/>
          </a:xfrm>
          <a:prstGeom prst="rect">
            <a:avLst/>
          </a:prstGeom>
          <a:noFill/>
          <a:ln/>
        </p:spPr>
        <p:txBody>
          <a:bodyPr wrap="square" lIns="0" tIns="0" rIns="0" bIns="0" rtlCol="0" anchor="t"/>
          <a:lstStyle/>
          <a:p>
            <a:pPr indent="0" marL="0">
              <a:buNone/>
            </a:pPr>
            <a:r>
              <a:rPr lang="en-US" sz="1700" b="1" dirty="0">
                <a:solidFill>
                  <a:srgbClr val="FF8A3D"/>
                </a:solidFill>
                <a:latin typeface="Palatino Linotype" pitchFamily="34" charset="0"/>
                <a:ea typeface="Palatino Linotype" pitchFamily="34" charset="-122"/>
                <a:cs typeface="Palatino Linotype" pitchFamily="34" charset="-120"/>
              </a:rPr>
              <a:t>CONCURENȚA</a:t>
            </a:r>
            <a:endParaRPr lang="en-US" sz="1700" dirty="0"/>
          </a:p>
        </p:txBody>
      </p:sp>
      <p:sp>
        <p:nvSpPr>
          <p:cNvPr id="27" name="Text 25"/>
          <p:cNvSpPr/>
          <p:nvPr/>
        </p:nvSpPr>
        <p:spPr>
          <a:xfrm>
            <a:off x="9738360" y="2514600"/>
            <a:ext cx="1783080" cy="548640"/>
          </a:xfrm>
          <a:prstGeom prst="rect">
            <a:avLst/>
          </a:prstGeom>
          <a:noFill/>
          <a:ln/>
        </p:spPr>
        <p:txBody>
          <a:bodyPr wrap="square" lIns="0" tIns="0" rIns="0" bIns="0" rtlCol="0" anchor="t"/>
          <a:lstStyle/>
          <a:p>
            <a:pPr indent="0" marL="0">
              <a:buNone/>
            </a:pPr>
            <a:r>
              <a:rPr lang="en-US" sz="1250" i="1" dirty="0">
                <a:solidFill>
                  <a:srgbClr val="959BB0"/>
                </a:solidFill>
                <a:latin typeface="Palatino Linotype" pitchFamily="34" charset="0"/>
                <a:ea typeface="Palatino Linotype" pitchFamily="34" charset="-122"/>
                <a:cs typeface="Palatino Linotype" pitchFamily="34" charset="-120"/>
              </a:rPr>
              <a:t>concurențială</a:t>
            </a:r>
            <a:endParaRPr lang="en-US" sz="1250" dirty="0"/>
          </a:p>
        </p:txBody>
      </p:sp>
      <p:sp>
        <p:nvSpPr>
          <p:cNvPr id="28" name="Text 26"/>
          <p:cNvSpPr/>
          <p:nvPr/>
        </p:nvSpPr>
        <p:spPr>
          <a:xfrm>
            <a:off x="9738360" y="3200400"/>
            <a:ext cx="1783080" cy="18288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Cine mai oferă același serviciu?</a:t>
            </a:r>
            <a:endParaRPr lang="en-US" sz="1600" dirty="0"/>
          </a:p>
        </p:txBody>
      </p:sp>
      <p:sp>
        <p:nvSpPr>
          <p:cNvPr id="29" name="Text 27"/>
          <p:cNvSpPr/>
          <p:nvPr/>
        </p:nvSpPr>
        <p:spPr>
          <a:xfrm>
            <a:off x="594360" y="5440680"/>
            <a:ext cx="10972800" cy="45720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În manualele de management, cele cinci categorii apar des sub inițialele PESTEL.</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BANII · CÂT SE CHELTUIE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Mai puțin de jumătate din media europeană</a:t>
            </a:r>
            <a:endParaRPr lang="en-US" sz="3000" dirty="0"/>
          </a:p>
        </p:txBody>
      </p:sp>
      <p:sp>
        <p:nvSpPr>
          <p:cNvPr id="4" name="Text 2"/>
          <p:cNvSpPr/>
          <p:nvPr/>
        </p:nvSpPr>
        <p:spPr>
          <a:xfrm>
            <a:off x="594360" y="1600200"/>
            <a:ext cx="676656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Cheltuiala cu sănătatea pe locuitor, 2023 (euro, ajustați la puterea de cumpărare)</a:t>
            </a:r>
            <a:endParaRPr lang="en-US" sz="1400" dirty="0"/>
          </a:p>
        </p:txBody>
      </p:sp>
      <p:sp>
        <p:nvSpPr>
          <p:cNvPr id="5" name="Text 3"/>
          <p:cNvSpPr/>
          <p:nvPr/>
        </p:nvSpPr>
        <p:spPr>
          <a:xfrm>
            <a:off x="594360" y="2194560"/>
            <a:ext cx="1463040" cy="82296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România</a:t>
            </a:r>
            <a:endParaRPr lang="en-US" sz="1700" dirty="0"/>
          </a:p>
        </p:txBody>
      </p:sp>
      <p:sp>
        <p:nvSpPr>
          <p:cNvPr id="6" name="Shape 4"/>
          <p:cNvSpPr/>
          <p:nvPr/>
        </p:nvSpPr>
        <p:spPr>
          <a:xfrm>
            <a:off x="2103120" y="2304288"/>
            <a:ext cx="1975791" cy="603504"/>
          </a:xfrm>
          <a:prstGeom prst="rect">
            <a:avLst/>
          </a:prstGeom>
          <a:solidFill>
            <a:srgbClr val="FF4757"/>
          </a:solidFill>
          <a:ln w="12700">
            <a:solidFill>
              <a:srgbClr val="FF4757"/>
            </a:solidFill>
            <a:prstDash val="solid"/>
          </a:ln>
        </p:spPr>
        <p:txBody>
          <a:bodyPr/>
          <a:p/>
        </p:txBody>
      </p:sp>
      <p:sp>
        <p:nvSpPr>
          <p:cNvPr id="7" name="Text 5"/>
          <p:cNvSpPr/>
          <p:nvPr/>
        </p:nvSpPr>
        <p:spPr>
          <a:xfrm>
            <a:off x="4170351" y="2194560"/>
            <a:ext cx="1097280" cy="822960"/>
          </a:xfrm>
          <a:prstGeom prst="rect">
            <a:avLst/>
          </a:prstGeom>
          <a:noFill/>
          <a:ln/>
        </p:spPr>
        <p:txBody>
          <a:bodyPr wrap="square" lIns="0" tIns="0" rIns="0" bIns="0" rtlCol="0" anchor="ctr"/>
          <a:lstStyle/>
          <a:p>
            <a:pPr indent="0" marL="0">
              <a:buNone/>
            </a:pPr>
            <a:r>
              <a:rPr lang="en-US" sz="2400" b="1" dirty="0">
                <a:solidFill>
                  <a:srgbClr val="FF4757"/>
                </a:solidFill>
                <a:latin typeface="Palatino Linotype" pitchFamily="34" charset="0"/>
                <a:ea typeface="Palatino Linotype" pitchFamily="34" charset="-122"/>
                <a:cs typeface="Palatino Linotype" pitchFamily="34" charset="-120"/>
              </a:rPr>
              <a:t>1 800</a:t>
            </a:r>
            <a:endParaRPr lang="en-US" sz="2400" dirty="0"/>
          </a:p>
        </p:txBody>
      </p:sp>
      <p:sp>
        <p:nvSpPr>
          <p:cNvPr id="8" name="Text 6"/>
          <p:cNvSpPr/>
          <p:nvPr/>
        </p:nvSpPr>
        <p:spPr>
          <a:xfrm>
            <a:off x="594360" y="3337560"/>
            <a:ext cx="1463040" cy="82296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Media UE</a:t>
            </a:r>
            <a:endParaRPr lang="en-US" sz="1700" dirty="0"/>
          </a:p>
        </p:txBody>
      </p:sp>
      <p:sp>
        <p:nvSpPr>
          <p:cNvPr id="9" name="Shape 7"/>
          <p:cNvSpPr/>
          <p:nvPr/>
        </p:nvSpPr>
        <p:spPr>
          <a:xfrm>
            <a:off x="2103120" y="3447288"/>
            <a:ext cx="4206240" cy="603504"/>
          </a:xfrm>
          <a:prstGeom prst="rect">
            <a:avLst/>
          </a:prstGeom>
          <a:solidFill>
            <a:srgbClr val="0E7C6B"/>
          </a:solidFill>
          <a:ln w="12700">
            <a:solidFill>
              <a:srgbClr val="0E7C6B"/>
            </a:solidFill>
            <a:prstDash val="solid"/>
          </a:ln>
        </p:spPr>
        <p:txBody>
          <a:bodyPr/>
          <a:p/>
        </p:txBody>
      </p:sp>
      <p:sp>
        <p:nvSpPr>
          <p:cNvPr id="10" name="Text 8"/>
          <p:cNvSpPr/>
          <p:nvPr/>
        </p:nvSpPr>
        <p:spPr>
          <a:xfrm>
            <a:off x="6400800" y="3337560"/>
            <a:ext cx="1097280" cy="82296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3 832</a:t>
            </a:r>
            <a:endParaRPr lang="en-US" sz="2400" dirty="0"/>
          </a:p>
        </p:txBody>
      </p:sp>
      <p:sp>
        <p:nvSpPr>
          <p:cNvPr id="11" name="Text 9"/>
          <p:cNvSpPr/>
          <p:nvPr/>
        </p:nvSpPr>
        <p:spPr>
          <a:xfrm>
            <a:off x="594360" y="4572000"/>
            <a:ext cx="6675120" cy="82296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Pe locuitor, cea mai mică cheltuială din Uniunea Europeană.</a:t>
            </a:r>
            <a:endParaRPr lang="en-US" sz="1900" dirty="0"/>
          </a:p>
        </p:txBody>
      </p:sp>
      <p:sp>
        <p:nvSpPr>
          <p:cNvPr id="12" name="Shape 10"/>
          <p:cNvSpPr/>
          <p:nvPr/>
        </p:nvSpPr>
        <p:spPr>
          <a:xfrm>
            <a:off x="7726680" y="1600200"/>
            <a:ext cx="3840480" cy="2103120"/>
          </a:xfrm>
          <a:prstGeom prst="roundRect">
            <a:avLst>
              <a:gd name="adj" fmla="val 3913"/>
            </a:avLst>
          </a:prstGeom>
          <a:solidFill>
            <a:srgbClr val="ECEAE4"/>
          </a:solidFill>
          <a:ln w="12700">
            <a:solidFill>
              <a:srgbClr val="ECEAE4"/>
            </a:solidFill>
            <a:prstDash val="solid"/>
          </a:ln>
        </p:spPr>
        <p:txBody>
          <a:bodyPr/>
          <a:p/>
        </p:txBody>
      </p:sp>
      <p:sp>
        <p:nvSpPr>
          <p:cNvPr id="13" name="Text 11"/>
          <p:cNvSpPr/>
          <p:nvPr/>
        </p:nvSpPr>
        <p:spPr>
          <a:xfrm>
            <a:off x="8001000" y="1709928"/>
            <a:ext cx="3291840" cy="1051560"/>
          </a:xfrm>
          <a:prstGeom prst="rect">
            <a:avLst/>
          </a:prstGeom>
          <a:noFill/>
          <a:ln/>
        </p:spPr>
        <p:txBody>
          <a:bodyPr wrap="square" lIns="0" tIns="0" rIns="0" bIns="0" rtlCol="0" anchor="ctr"/>
          <a:lstStyle/>
          <a:p>
            <a:pPr indent="0" marL="0">
              <a:buNone/>
            </a:pPr>
            <a:r>
              <a:rPr lang="en-US" sz="4400" b="1" dirty="0">
                <a:solidFill>
                  <a:srgbClr val="B02532"/>
                </a:solidFill>
                <a:latin typeface="Palatino Linotype" pitchFamily="34" charset="0"/>
                <a:ea typeface="Palatino Linotype" pitchFamily="34" charset="-122"/>
                <a:cs typeface="Palatino Linotype" pitchFamily="34" charset="-120"/>
              </a:rPr>
              <a:t>5,8%</a:t>
            </a:r>
            <a:endParaRPr lang="en-US" sz="4400" dirty="0"/>
          </a:p>
        </p:txBody>
      </p:sp>
      <p:sp>
        <p:nvSpPr>
          <p:cNvPr id="14" name="Text 12"/>
          <p:cNvSpPr/>
          <p:nvPr/>
        </p:nvSpPr>
        <p:spPr>
          <a:xfrm>
            <a:off x="8001000" y="2670048"/>
            <a:ext cx="3291840" cy="967435"/>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din produsul intern brut, față de 10,0% în medie în Uniune</a:t>
            </a:r>
            <a:endParaRPr lang="en-US" sz="1200" dirty="0"/>
          </a:p>
        </p:txBody>
      </p:sp>
      <p:sp>
        <p:nvSpPr>
          <p:cNvPr id="15" name="Text 13"/>
          <p:cNvSpPr/>
          <p:nvPr/>
        </p:nvSpPr>
        <p:spPr>
          <a:xfrm>
            <a:off x="7726680" y="3931920"/>
            <a:ext cx="3840480" cy="20116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Guvernele au promis de mai multe ori creșteri, dar partea bugetului public alocată sănătății a scăzut.</a:t>
            </a:r>
            <a:endParaRPr lang="en-US" sz="15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OCDE și Observatorul European, profilul de țară România, 2025.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BANII · CINE PLĂTEȘTE ȘI CUM</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Banii publici, banii din buzunar și tariful</a:t>
            </a:r>
            <a:endParaRPr lang="en-US" sz="3000" dirty="0"/>
          </a:p>
        </p:txBody>
      </p:sp>
      <p:sp>
        <p:nvSpPr>
          <p:cNvPr id="4" name="Text 2"/>
          <p:cNvSpPr/>
          <p:nvPr/>
        </p:nvSpPr>
        <p:spPr>
          <a:xfrm>
            <a:off x="594360" y="1600200"/>
            <a:ext cx="54864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Din 100 de euro cheltuiți pe sănătate, 2023</a:t>
            </a:r>
            <a:endParaRPr lang="en-US" sz="1400" dirty="0"/>
          </a:p>
        </p:txBody>
      </p:sp>
      <p:sp>
        <p:nvSpPr>
          <p:cNvPr id="5" name="Shape 3"/>
          <p:cNvSpPr/>
          <p:nvPr/>
        </p:nvSpPr>
        <p:spPr>
          <a:xfrm>
            <a:off x="594360" y="2057400"/>
            <a:ext cx="4154119" cy="731520"/>
          </a:xfrm>
          <a:prstGeom prst="rect">
            <a:avLst/>
          </a:prstGeom>
          <a:solidFill>
            <a:srgbClr val="0E7C6B"/>
          </a:solidFill>
          <a:ln w="12700">
            <a:solidFill>
              <a:srgbClr val="0E7C6B"/>
            </a:solidFill>
            <a:prstDash val="solid"/>
          </a:ln>
        </p:spPr>
        <p:txBody>
          <a:bodyPr/>
          <a:p/>
        </p:txBody>
      </p:sp>
      <p:sp>
        <p:nvSpPr>
          <p:cNvPr id="6" name="Shape 4"/>
          <p:cNvSpPr/>
          <p:nvPr/>
        </p:nvSpPr>
        <p:spPr>
          <a:xfrm>
            <a:off x="4748479" y="2057400"/>
            <a:ext cx="1240841" cy="731520"/>
          </a:xfrm>
          <a:prstGeom prst="rect">
            <a:avLst/>
          </a:prstGeom>
          <a:solidFill>
            <a:srgbClr val="FF4757"/>
          </a:solidFill>
          <a:ln w="12700">
            <a:solidFill>
              <a:srgbClr val="FF4757"/>
            </a:solidFill>
            <a:prstDash val="solid"/>
          </a:ln>
        </p:spPr>
        <p:txBody>
          <a:bodyPr/>
          <a:p/>
        </p:txBody>
      </p:sp>
      <p:sp>
        <p:nvSpPr>
          <p:cNvPr id="7" name="Text 5"/>
          <p:cNvSpPr/>
          <p:nvPr/>
        </p:nvSpPr>
        <p:spPr>
          <a:xfrm>
            <a:off x="777240" y="2057400"/>
            <a:ext cx="3200400" cy="73152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77 publici</a:t>
            </a:r>
            <a:endParaRPr lang="en-US" sz="2000" dirty="0"/>
          </a:p>
        </p:txBody>
      </p:sp>
      <p:sp>
        <p:nvSpPr>
          <p:cNvPr id="8" name="Text 6"/>
          <p:cNvSpPr/>
          <p:nvPr/>
        </p:nvSpPr>
        <p:spPr>
          <a:xfrm>
            <a:off x="4748479" y="2057400"/>
            <a:ext cx="1240841" cy="731520"/>
          </a:xfrm>
          <a:prstGeom prst="rect">
            <a:avLst/>
          </a:prstGeom>
          <a:noFill/>
          <a:ln/>
        </p:spPr>
        <p:txBody>
          <a:bodyPr wrap="square" lIns="0" tIns="0" rIns="0" bIns="0" rtlCol="0" anchor="ctr"/>
          <a:lstStyle/>
          <a:p>
            <a:pPr algn="ctr" indent="0" marL="0">
              <a:buNone/>
            </a:pPr>
            <a:r>
              <a:rPr lang="en-US" sz="2000" b="1" dirty="0">
                <a:solidFill>
                  <a:srgbClr val="2E060B"/>
                </a:solidFill>
                <a:latin typeface="Palatino Linotype" pitchFamily="34" charset="0"/>
                <a:ea typeface="Palatino Linotype" pitchFamily="34" charset="-122"/>
                <a:cs typeface="Palatino Linotype" pitchFamily="34" charset="-120"/>
              </a:rPr>
              <a:t>23</a:t>
            </a:r>
            <a:endParaRPr lang="en-US" sz="2000" dirty="0"/>
          </a:p>
        </p:txBody>
      </p:sp>
      <p:sp>
        <p:nvSpPr>
          <p:cNvPr id="9" name="Text 7"/>
          <p:cNvSpPr/>
          <p:nvPr/>
        </p:nvSpPr>
        <p:spPr>
          <a:xfrm>
            <a:off x="594360" y="2926080"/>
            <a:ext cx="539496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Banii privați: aproape toți plătiți direct de pacienți.</a:t>
            </a:r>
            <a:endParaRPr lang="en-US" sz="1600" dirty="0"/>
          </a:p>
        </p:txBody>
      </p:sp>
      <p:sp>
        <p:nvSpPr>
          <p:cNvPr id="10" name="Shape 8"/>
          <p:cNvSpPr/>
          <p:nvPr/>
        </p:nvSpPr>
        <p:spPr>
          <a:xfrm>
            <a:off x="594360" y="3840480"/>
            <a:ext cx="5394960" cy="2103120"/>
          </a:xfrm>
          <a:prstGeom prst="roundRect">
            <a:avLst>
              <a:gd name="adj" fmla="val 3913"/>
            </a:avLst>
          </a:prstGeom>
          <a:solidFill>
            <a:srgbClr val="ECEAE4"/>
          </a:solidFill>
          <a:ln w="12700">
            <a:solidFill>
              <a:srgbClr val="ECEAE4"/>
            </a:solidFill>
            <a:prstDash val="solid"/>
          </a:ln>
        </p:spPr>
        <p:txBody>
          <a:bodyPr/>
          <a:p/>
        </p:txBody>
      </p:sp>
      <p:sp>
        <p:nvSpPr>
          <p:cNvPr id="11" name="Text 9"/>
          <p:cNvSpPr/>
          <p:nvPr/>
        </p:nvSpPr>
        <p:spPr>
          <a:xfrm>
            <a:off x="868680" y="3977640"/>
            <a:ext cx="4846320" cy="32004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INFLAȚIA MEDIE ANUALĂ</a:t>
            </a:r>
            <a:endParaRPr lang="en-US" sz="1200" dirty="0"/>
          </a:p>
        </p:txBody>
      </p:sp>
      <p:sp>
        <p:nvSpPr>
          <p:cNvPr id="12" name="Text 10"/>
          <p:cNvSpPr/>
          <p:nvPr/>
        </p:nvSpPr>
        <p:spPr>
          <a:xfrm>
            <a:off x="868680" y="4389120"/>
            <a:ext cx="4846320" cy="14630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5,8% în 2024, 6,8% în 2025; media Uniunii: 2,5%. Costurile cresc mai repede decât tarifele.</a:t>
            </a:r>
            <a:endParaRPr lang="en-US" sz="1500" dirty="0"/>
          </a:p>
        </p:txBody>
      </p:sp>
      <p:sp>
        <p:nvSpPr>
          <p:cNvPr id="13" name="Shape 11"/>
          <p:cNvSpPr/>
          <p:nvPr/>
        </p:nvSpPr>
        <p:spPr>
          <a:xfrm>
            <a:off x="6263640" y="1600200"/>
            <a:ext cx="5303520" cy="4343400"/>
          </a:xfrm>
          <a:prstGeom prst="roundRect">
            <a:avLst>
              <a:gd name="adj" fmla="val 1895"/>
            </a:avLst>
          </a:prstGeom>
          <a:solidFill>
            <a:srgbClr val="1D1F2B"/>
          </a:solidFill>
          <a:ln w="12700">
            <a:solidFill>
              <a:srgbClr val="1D1F2B"/>
            </a:solidFill>
            <a:prstDash val="solid"/>
          </a:ln>
        </p:spPr>
        <p:txBody>
          <a:bodyPr/>
          <a:p/>
        </p:txBody>
      </p:sp>
      <p:sp>
        <p:nvSpPr>
          <p:cNvPr id="14" name="Text 12"/>
          <p:cNvSpPr/>
          <p:nvPr/>
        </p:nvSpPr>
        <p:spPr>
          <a:xfrm>
            <a:off x="6537960" y="1783080"/>
            <a:ext cx="4754880" cy="320040"/>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CUM AJUNG BANII LA SPITAL</a:t>
            </a:r>
            <a:endParaRPr lang="en-US" sz="1200" dirty="0"/>
          </a:p>
        </p:txBody>
      </p:sp>
      <p:sp>
        <p:nvSpPr>
          <p:cNvPr id="15" name="Text 13"/>
          <p:cNvSpPr/>
          <p:nvPr/>
        </p:nvSpPr>
        <p:spPr>
          <a:xfrm>
            <a:off x="6537960" y="2240280"/>
            <a:ext cx="4754880" cy="155448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Plata pe caz: spitalul câștigă unde tariful acoperă costul și pierde în rest.</a:t>
            </a:r>
            <a:endParaRPr lang="en-US" sz="1700" dirty="0"/>
          </a:p>
        </p:txBody>
      </p:sp>
      <p:sp>
        <p:nvSpPr>
          <p:cNvPr id="16" name="Text 14"/>
          <p:cNvSpPr/>
          <p:nvPr/>
        </p:nvSpPr>
        <p:spPr>
          <a:xfrm>
            <a:off x="6537960" y="4023360"/>
            <a:ext cx="4754880" cy="14630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Pe hartă: diferența dintre cost și tarif, urmărită periodic.</a:t>
            </a:r>
            <a:endParaRPr lang="en-US" sz="17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OCDE și Observatorul European, profilul de țară România, 2025; Eurostat.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OAMENII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Mai mulți vârstnici, acces inegal</a:t>
            </a:r>
            <a:endParaRPr lang="en-US" sz="3200" dirty="0"/>
          </a:p>
        </p:txBody>
      </p:sp>
      <p:sp>
        <p:nvSpPr>
          <p:cNvPr id="4" name="Shape 2"/>
          <p:cNvSpPr/>
          <p:nvPr/>
        </p:nvSpPr>
        <p:spPr>
          <a:xfrm>
            <a:off x="594360" y="1600200"/>
            <a:ext cx="5394960" cy="1783080"/>
          </a:xfrm>
          <a:prstGeom prst="roundRect">
            <a:avLst>
              <a:gd name="adj" fmla="val 4615"/>
            </a:avLst>
          </a:prstGeom>
          <a:solidFill>
            <a:srgbClr val="ECEAE4"/>
          </a:solidFill>
          <a:ln w="12700">
            <a:solidFill>
              <a:srgbClr val="ECEAE4"/>
            </a:solidFill>
            <a:prstDash val="solid"/>
          </a:ln>
        </p:spPr>
        <p:txBody>
          <a:bodyPr/>
          <a:p/>
        </p:txBody>
      </p:sp>
      <p:sp>
        <p:nvSpPr>
          <p:cNvPr id="5" name="Text 3"/>
          <p:cNvSpPr/>
          <p:nvPr/>
        </p:nvSpPr>
        <p:spPr>
          <a:xfrm>
            <a:off x="868680" y="1709928"/>
            <a:ext cx="4846320" cy="891540"/>
          </a:xfrm>
          <a:prstGeom prst="rect">
            <a:avLst/>
          </a:prstGeom>
          <a:noFill/>
          <a:ln/>
        </p:spPr>
        <p:txBody>
          <a:bodyPr wrap="square" lIns="0" tIns="0" rIns="0" bIns="0" rtlCol="0" anchor="ctr"/>
          <a:lstStyle/>
          <a:p>
            <a:pPr indent="0" marL="0">
              <a:buNone/>
            </a:pPr>
            <a:r>
              <a:rPr lang="en-US" sz="3200" b="1" dirty="0">
                <a:solidFill>
                  <a:srgbClr val="0E7C6B"/>
                </a:solidFill>
                <a:latin typeface="Palatino Linotype" pitchFamily="34" charset="0"/>
                <a:ea typeface="Palatino Linotype" pitchFamily="34" charset="-122"/>
                <a:cs typeface="Palatino Linotype" pitchFamily="34" charset="-120"/>
              </a:rPr>
              <a:t>peste 1 din 5</a:t>
            </a:r>
            <a:endParaRPr lang="en-US" sz="3200" dirty="0"/>
          </a:p>
        </p:txBody>
      </p:sp>
      <p:sp>
        <p:nvSpPr>
          <p:cNvPr id="6" name="Text 4"/>
          <p:cNvSpPr/>
          <p:nvPr/>
        </p:nvSpPr>
        <p:spPr>
          <a:xfrm>
            <a:off x="868680" y="2510028"/>
            <a:ext cx="4846320" cy="820217"/>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români are 65 de ani și peste (2025)</a:t>
            </a:r>
            <a:endParaRPr lang="en-US" sz="1200" dirty="0"/>
          </a:p>
        </p:txBody>
      </p:sp>
      <p:sp>
        <p:nvSpPr>
          <p:cNvPr id="7" name="Shape 5"/>
          <p:cNvSpPr/>
          <p:nvPr/>
        </p:nvSpPr>
        <p:spPr>
          <a:xfrm>
            <a:off x="6172200" y="1600200"/>
            <a:ext cx="5394960" cy="1783080"/>
          </a:xfrm>
          <a:prstGeom prst="roundRect">
            <a:avLst>
              <a:gd name="adj" fmla="val 4615"/>
            </a:avLst>
          </a:prstGeom>
          <a:solidFill>
            <a:srgbClr val="ECEAE4"/>
          </a:solidFill>
          <a:ln w="12700">
            <a:solidFill>
              <a:srgbClr val="ECEAE4"/>
            </a:solidFill>
            <a:prstDash val="solid"/>
          </a:ln>
        </p:spPr>
        <p:txBody>
          <a:bodyPr/>
          <a:p/>
        </p:txBody>
      </p:sp>
      <p:sp>
        <p:nvSpPr>
          <p:cNvPr id="8" name="Text 6"/>
          <p:cNvSpPr/>
          <p:nvPr/>
        </p:nvSpPr>
        <p:spPr>
          <a:xfrm>
            <a:off x="6446520" y="1709928"/>
            <a:ext cx="4846320" cy="891540"/>
          </a:xfrm>
          <a:prstGeom prst="rect">
            <a:avLst/>
          </a:prstGeom>
          <a:noFill/>
          <a:ln/>
        </p:spPr>
        <p:txBody>
          <a:bodyPr wrap="square" lIns="0" tIns="0" rIns="0" bIns="0" rtlCol="0" anchor="ctr"/>
          <a:lstStyle/>
          <a:p>
            <a:pPr indent="0" marL="0">
              <a:buNone/>
            </a:pPr>
            <a:r>
              <a:rPr lang="en-US" sz="3200" b="1" dirty="0">
                <a:solidFill>
                  <a:srgbClr val="0E7C6B"/>
                </a:solidFill>
                <a:latin typeface="Palatino Linotype" pitchFamily="34" charset="0"/>
                <a:ea typeface="Palatino Linotype" pitchFamily="34" charset="-122"/>
                <a:cs typeface="Palatino Linotype" pitchFamily="34" charset="-120"/>
              </a:rPr>
              <a:t>1 la 3 → 1 la 2</a:t>
            </a:r>
            <a:endParaRPr lang="en-US" sz="3200" dirty="0"/>
          </a:p>
        </p:txBody>
      </p:sp>
      <p:sp>
        <p:nvSpPr>
          <p:cNvPr id="9" name="Text 7"/>
          <p:cNvSpPr/>
          <p:nvPr/>
        </p:nvSpPr>
        <p:spPr>
          <a:xfrm>
            <a:off x="6446520" y="2510028"/>
            <a:ext cx="4846320" cy="820217"/>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vârstnici la adulți activi: azi și în 2050</a:t>
            </a:r>
            <a:endParaRPr lang="en-US" sz="1200" dirty="0"/>
          </a:p>
        </p:txBody>
      </p:sp>
      <p:sp>
        <p:nvSpPr>
          <p:cNvPr id="10" name="Shape 8"/>
          <p:cNvSpPr/>
          <p:nvPr/>
        </p:nvSpPr>
        <p:spPr>
          <a:xfrm>
            <a:off x="594360" y="3566160"/>
            <a:ext cx="5394960" cy="1783080"/>
          </a:xfrm>
          <a:prstGeom prst="roundRect">
            <a:avLst>
              <a:gd name="adj" fmla="val 4615"/>
            </a:avLst>
          </a:prstGeom>
          <a:solidFill>
            <a:srgbClr val="ECEAE4"/>
          </a:solidFill>
          <a:ln w="12700">
            <a:solidFill>
              <a:srgbClr val="ECEAE4"/>
            </a:solidFill>
            <a:prstDash val="solid"/>
          </a:ln>
        </p:spPr>
        <p:txBody>
          <a:bodyPr/>
          <a:p/>
        </p:txBody>
      </p:sp>
      <p:sp>
        <p:nvSpPr>
          <p:cNvPr id="11" name="Text 9"/>
          <p:cNvSpPr/>
          <p:nvPr/>
        </p:nvSpPr>
        <p:spPr>
          <a:xfrm>
            <a:off x="868680" y="3675888"/>
            <a:ext cx="4846320" cy="891540"/>
          </a:xfrm>
          <a:prstGeom prst="rect">
            <a:avLst/>
          </a:prstGeom>
          <a:noFill/>
          <a:ln/>
        </p:spPr>
        <p:txBody>
          <a:bodyPr wrap="square" lIns="0" tIns="0" rIns="0" bIns="0" rtlCol="0" anchor="ctr"/>
          <a:lstStyle/>
          <a:p>
            <a:pPr indent="0" marL="0">
              <a:buNone/>
            </a:pPr>
            <a:r>
              <a:rPr lang="en-US" sz="3200" b="1" dirty="0">
                <a:solidFill>
                  <a:srgbClr val="B02532"/>
                </a:solidFill>
                <a:latin typeface="Palatino Linotype" pitchFamily="34" charset="0"/>
                <a:ea typeface="Palatino Linotype" pitchFamily="34" charset="-122"/>
                <a:cs typeface="Palatino Linotype" pitchFamily="34" charset="-120"/>
              </a:rPr>
              <a:t>29 din 100</a:t>
            </a:r>
            <a:endParaRPr lang="en-US" sz="3200" dirty="0"/>
          </a:p>
        </p:txBody>
      </p:sp>
      <p:sp>
        <p:nvSpPr>
          <p:cNvPr id="12" name="Text 10"/>
          <p:cNvSpPr/>
          <p:nvPr/>
        </p:nvSpPr>
        <p:spPr>
          <a:xfrm>
            <a:off x="868680" y="4475988"/>
            <a:ext cx="4846320" cy="820217"/>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de decese (2021): fumat, alimentație, alcool, lipsa de mișcare</a:t>
            </a:r>
            <a:endParaRPr lang="en-US" sz="1200" dirty="0"/>
          </a:p>
        </p:txBody>
      </p:sp>
      <p:sp>
        <p:nvSpPr>
          <p:cNvPr id="13" name="Shape 11"/>
          <p:cNvSpPr/>
          <p:nvPr/>
        </p:nvSpPr>
        <p:spPr>
          <a:xfrm>
            <a:off x="6172200" y="3566160"/>
            <a:ext cx="5394960" cy="1783080"/>
          </a:xfrm>
          <a:prstGeom prst="roundRect">
            <a:avLst>
              <a:gd name="adj" fmla="val 4615"/>
            </a:avLst>
          </a:prstGeom>
          <a:solidFill>
            <a:srgbClr val="ECEAE4"/>
          </a:solidFill>
          <a:ln w="12700">
            <a:solidFill>
              <a:srgbClr val="ECEAE4"/>
            </a:solidFill>
            <a:prstDash val="solid"/>
          </a:ln>
        </p:spPr>
        <p:txBody>
          <a:bodyPr/>
          <a:p/>
        </p:txBody>
      </p:sp>
      <p:sp>
        <p:nvSpPr>
          <p:cNvPr id="14" name="Text 12"/>
          <p:cNvSpPr/>
          <p:nvPr/>
        </p:nvSpPr>
        <p:spPr>
          <a:xfrm>
            <a:off x="6446520" y="3675888"/>
            <a:ext cx="4846320" cy="891540"/>
          </a:xfrm>
          <a:prstGeom prst="rect">
            <a:avLst/>
          </a:prstGeom>
          <a:noFill/>
          <a:ln/>
        </p:spPr>
        <p:txBody>
          <a:bodyPr wrap="square" lIns="0" tIns="0" rIns="0" bIns="0" rtlCol="0" anchor="ctr"/>
          <a:lstStyle/>
          <a:p>
            <a:pPr indent="0" marL="0">
              <a:buNone/>
            </a:pPr>
            <a:r>
              <a:rPr lang="en-US" sz="3200" b="1" dirty="0">
                <a:solidFill>
                  <a:srgbClr val="B02532"/>
                </a:solidFill>
                <a:latin typeface="Palatino Linotype" pitchFamily="34" charset="0"/>
                <a:ea typeface="Palatino Linotype" pitchFamily="34" charset="-122"/>
                <a:cs typeface="Palatino Linotype" pitchFamily="34" charset="-120"/>
              </a:rPr>
              <a:t>6 din 100</a:t>
            </a:r>
            <a:endParaRPr lang="en-US" sz="3200" dirty="0"/>
          </a:p>
        </p:txBody>
      </p:sp>
      <p:sp>
        <p:nvSpPr>
          <p:cNvPr id="15" name="Text 13"/>
          <p:cNvSpPr/>
          <p:nvPr/>
        </p:nvSpPr>
        <p:spPr>
          <a:xfrm>
            <a:off x="6446520" y="4475988"/>
            <a:ext cx="4846320" cy="820217"/>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cu nevoi de îngrijire au rămas fără ele (2024)</a:t>
            </a:r>
            <a:endParaRPr lang="en-US" sz="1200" dirty="0"/>
          </a:p>
        </p:txBody>
      </p:sp>
      <p:sp>
        <p:nvSpPr>
          <p:cNvPr id="16" name="Text 14"/>
          <p:cNvSpPr/>
          <p:nvPr/>
        </p:nvSpPr>
        <p:spPr>
          <a:xfrm>
            <a:off x="594360" y="5623560"/>
            <a:ext cx="10972800" cy="54864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Aproximativ 11 din 100 de români nu aveau asigurare de sănătate în 2024.</a:t>
            </a:r>
            <a:endParaRPr lang="en-US" sz="15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Eurostat (populația și proiecțiile); OCDE și Observatorul European, profilul de țară România, 2025.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5486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OAMENII · CINE DĂ ÎNGRIJIREA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Un cerc vicios</a:t>
            </a:r>
            <a:endParaRPr lang="en-US" sz="3400" dirty="0"/>
          </a:p>
        </p:txBody>
      </p:sp>
      <p:sp>
        <p:nvSpPr>
          <p:cNvPr id="4" name="Text 2"/>
          <p:cNvSpPr/>
          <p:nvPr/>
        </p:nvSpPr>
        <p:spPr>
          <a:xfrm>
            <a:off x="594360" y="1600200"/>
            <a:ext cx="4754880" cy="109728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Emigrarea și distribuția inegală a medicilor pe teritoriu rămân o problemă.</a:t>
            </a:r>
            <a:endParaRPr lang="en-US" sz="1800" dirty="0"/>
          </a:p>
        </p:txBody>
      </p:sp>
      <p:sp>
        <p:nvSpPr>
          <p:cNvPr id="5" name="Text 3"/>
          <p:cNvSpPr/>
          <p:nvPr/>
        </p:nvSpPr>
        <p:spPr>
          <a:xfrm>
            <a:off x="594360" y="2880360"/>
            <a:ext cx="4754880" cy="237744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În caz: vârstnicii din comune vin mai greu la oraș, cei care pot plăti merg la privat, iar spitalul are tot mai puțini oameni care să lucreze și seara.</a:t>
            </a:r>
            <a:endParaRPr lang="en-US" sz="1800" dirty="0"/>
          </a:p>
        </p:txBody>
      </p:sp>
      <p:sp>
        <p:nvSpPr>
          <p:cNvPr id="6" name="Shape 4"/>
          <p:cNvSpPr/>
          <p:nvPr/>
        </p:nvSpPr>
        <p:spPr>
          <a:xfrm>
            <a:off x="7360920" y="731520"/>
            <a:ext cx="2194560" cy="1005840"/>
          </a:xfrm>
          <a:prstGeom prst="roundRect">
            <a:avLst>
              <a:gd name="adj" fmla="val 8182"/>
            </a:avLst>
          </a:prstGeom>
          <a:solidFill>
            <a:srgbClr val="FF4757"/>
          </a:solidFill>
          <a:ln w="12700">
            <a:solidFill>
              <a:srgbClr val="FF4757"/>
            </a:solidFill>
            <a:prstDash val="solid"/>
          </a:ln>
        </p:spPr>
        <p:txBody>
          <a:bodyPr/>
          <a:p/>
        </p:txBody>
      </p:sp>
      <p:sp>
        <p:nvSpPr>
          <p:cNvPr id="7" name="Text 5"/>
          <p:cNvSpPr/>
          <p:nvPr/>
        </p:nvSpPr>
        <p:spPr>
          <a:xfrm>
            <a:off x="7452360" y="731520"/>
            <a:ext cx="2011680" cy="100584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Personalul pleacă</a:t>
            </a:r>
            <a:endParaRPr lang="en-US" sz="1400" dirty="0"/>
          </a:p>
        </p:txBody>
      </p:sp>
      <p:sp>
        <p:nvSpPr>
          <p:cNvPr id="8" name="Shape 6"/>
          <p:cNvSpPr/>
          <p:nvPr/>
        </p:nvSpPr>
        <p:spPr>
          <a:xfrm>
            <a:off x="8961120" y="2560320"/>
            <a:ext cx="2194560" cy="1005840"/>
          </a:xfrm>
          <a:prstGeom prst="roundRect">
            <a:avLst>
              <a:gd name="adj" fmla="val 8182"/>
            </a:avLst>
          </a:prstGeom>
          <a:solidFill>
            <a:srgbClr val="FFC24B"/>
          </a:solidFill>
          <a:ln w="12700">
            <a:solidFill>
              <a:srgbClr val="FFC24B"/>
            </a:solidFill>
            <a:prstDash val="solid"/>
          </a:ln>
        </p:spPr>
        <p:txBody>
          <a:bodyPr/>
          <a:p/>
        </p:txBody>
      </p:sp>
      <p:sp>
        <p:nvSpPr>
          <p:cNvPr id="9" name="Text 7"/>
          <p:cNvSpPr/>
          <p:nvPr/>
        </p:nvSpPr>
        <p:spPr>
          <a:xfrm>
            <a:off x="9052560" y="2560320"/>
            <a:ext cx="2011680" cy="1005840"/>
          </a:xfrm>
          <a:prstGeom prst="rect">
            <a:avLst/>
          </a:prstGeom>
          <a:noFill/>
          <a:ln/>
        </p:spPr>
        <p:txBody>
          <a:bodyPr wrap="square" lIns="0" tIns="0" rIns="0" bIns="0" rtlCol="0" anchor="ctr"/>
          <a:lstStyle/>
          <a:p>
            <a:pPr algn="ctr" indent="0" marL="0">
              <a:buNone/>
            </a:pPr>
            <a:r>
              <a:rPr lang="en-US" sz="1400" b="1" dirty="0">
                <a:solidFill>
                  <a:srgbClr val="3D2A00"/>
                </a:solidFill>
                <a:latin typeface="Palatino Linotype" pitchFamily="34" charset="0"/>
                <a:ea typeface="Palatino Linotype" pitchFamily="34" charset="-122"/>
                <a:cs typeface="Palatino Linotype" pitchFamily="34" charset="-120"/>
              </a:rPr>
              <a:t>Așteptarea se lungește</a:t>
            </a:r>
            <a:endParaRPr lang="en-US" sz="1400" dirty="0"/>
          </a:p>
        </p:txBody>
      </p:sp>
      <p:sp>
        <p:nvSpPr>
          <p:cNvPr id="10" name="Shape 8"/>
          <p:cNvSpPr/>
          <p:nvPr/>
        </p:nvSpPr>
        <p:spPr>
          <a:xfrm>
            <a:off x="7360920" y="4389120"/>
            <a:ext cx="2194560" cy="1005840"/>
          </a:xfrm>
          <a:prstGeom prst="roundRect">
            <a:avLst>
              <a:gd name="adj" fmla="val 8182"/>
            </a:avLst>
          </a:prstGeom>
          <a:solidFill>
            <a:srgbClr val="27D3BE"/>
          </a:solidFill>
          <a:ln w="12700">
            <a:solidFill>
              <a:srgbClr val="27D3BE"/>
            </a:solidFill>
            <a:prstDash val="solid"/>
          </a:ln>
        </p:spPr>
        <p:txBody>
          <a:bodyPr/>
          <a:p/>
        </p:txBody>
      </p:sp>
      <p:sp>
        <p:nvSpPr>
          <p:cNvPr id="11" name="Text 9"/>
          <p:cNvSpPr/>
          <p:nvPr/>
        </p:nvSpPr>
        <p:spPr>
          <a:xfrm>
            <a:off x="7452360" y="4389120"/>
            <a:ext cx="2011680" cy="1005840"/>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Costurile pentru pacienți cresc</a:t>
            </a:r>
            <a:endParaRPr lang="en-US" sz="1400" dirty="0"/>
          </a:p>
        </p:txBody>
      </p:sp>
      <p:sp>
        <p:nvSpPr>
          <p:cNvPr id="12" name="Shape 10"/>
          <p:cNvSpPr/>
          <p:nvPr/>
        </p:nvSpPr>
        <p:spPr>
          <a:xfrm>
            <a:off x="5760720" y="2560320"/>
            <a:ext cx="2194560" cy="1005840"/>
          </a:xfrm>
          <a:prstGeom prst="roundRect">
            <a:avLst>
              <a:gd name="adj" fmla="val 8182"/>
            </a:avLst>
          </a:prstGeom>
          <a:solidFill>
            <a:srgbClr val="9B7EF7"/>
          </a:solidFill>
          <a:ln w="12700">
            <a:solidFill>
              <a:srgbClr val="9B7EF7"/>
            </a:solidFill>
            <a:prstDash val="solid"/>
          </a:ln>
        </p:spPr>
        <p:txBody>
          <a:bodyPr/>
          <a:p/>
        </p:txBody>
      </p:sp>
      <p:sp>
        <p:nvSpPr>
          <p:cNvPr id="13" name="Text 11"/>
          <p:cNvSpPr/>
          <p:nvPr/>
        </p:nvSpPr>
        <p:spPr>
          <a:xfrm>
            <a:off x="5852160" y="2560320"/>
            <a:ext cx="2011680" cy="1005840"/>
          </a:xfrm>
          <a:prstGeom prst="rect">
            <a:avLst/>
          </a:prstGeom>
          <a:noFill/>
          <a:ln/>
        </p:spPr>
        <p:txBody>
          <a:bodyPr wrap="square" lIns="0" tIns="0" rIns="0" bIns="0" rtlCol="0" anchor="ctr"/>
          <a:lstStyle/>
          <a:p>
            <a:pPr algn="ctr" indent="0" marL="0">
              <a:buNone/>
            </a:pPr>
            <a:r>
              <a:rPr lang="en-US" sz="1400" b="1" dirty="0">
                <a:solidFill>
                  <a:srgbClr val="1F1040"/>
                </a:solidFill>
                <a:latin typeface="Palatino Linotype" pitchFamily="34" charset="0"/>
                <a:ea typeface="Palatino Linotype" pitchFamily="34" charset="-122"/>
                <a:cs typeface="Palatino Linotype" pitchFamily="34" charset="-120"/>
              </a:rPr>
              <a:t>Nevoile nesatisfăcute cresc la grupurile vulnerabile</a:t>
            </a:r>
            <a:endParaRPr lang="en-US" sz="1400" dirty="0"/>
          </a:p>
        </p:txBody>
      </p:sp>
      <p:sp>
        <p:nvSpPr>
          <p:cNvPr id="14" name="Shape 12"/>
          <p:cNvSpPr/>
          <p:nvPr/>
        </p:nvSpPr>
        <p:spPr>
          <a:xfrm>
            <a:off x="9555480" y="1417320"/>
            <a:ext cx="685800" cy="1097280"/>
          </a:xfrm>
          <a:prstGeom prst="line">
            <a:avLst/>
          </a:prstGeom>
          <a:noFill/>
          <a:ln w="31750">
            <a:solidFill>
              <a:srgbClr val="959BB0"/>
            </a:solidFill>
            <a:prstDash val="solid"/>
            <a:tailEnd type="triangle"/>
          </a:ln>
        </p:spPr>
        <p:txBody>
          <a:bodyPr/>
          <a:p/>
        </p:txBody>
      </p:sp>
      <p:sp>
        <p:nvSpPr>
          <p:cNvPr id="15" name="Shape 13"/>
          <p:cNvSpPr/>
          <p:nvPr/>
        </p:nvSpPr>
        <p:spPr>
          <a:xfrm flipH="1">
            <a:off x="9555480" y="3611880"/>
            <a:ext cx="685800" cy="1097280"/>
          </a:xfrm>
          <a:prstGeom prst="line">
            <a:avLst/>
          </a:prstGeom>
          <a:noFill/>
          <a:ln w="31750">
            <a:solidFill>
              <a:srgbClr val="959BB0"/>
            </a:solidFill>
            <a:prstDash val="solid"/>
            <a:tailEnd type="triangle"/>
          </a:ln>
        </p:spPr>
        <p:txBody>
          <a:bodyPr/>
          <a:p/>
        </p:txBody>
      </p:sp>
      <p:sp>
        <p:nvSpPr>
          <p:cNvPr id="16" name="Shape 14"/>
          <p:cNvSpPr/>
          <p:nvPr/>
        </p:nvSpPr>
        <p:spPr>
          <a:xfrm flipH="1" flipV="1">
            <a:off x="6858000" y="3611880"/>
            <a:ext cx="502920" cy="1097280"/>
          </a:xfrm>
          <a:prstGeom prst="line">
            <a:avLst/>
          </a:prstGeom>
          <a:noFill/>
          <a:ln w="31750">
            <a:solidFill>
              <a:srgbClr val="959BB0"/>
            </a:solidFill>
            <a:prstDash val="solid"/>
            <a:tailEnd type="triangle"/>
          </a:ln>
        </p:spPr>
        <p:txBody>
          <a:bodyPr/>
          <a:p/>
        </p:txBody>
      </p:sp>
      <p:sp>
        <p:nvSpPr>
          <p:cNvPr id="17" name="Shape 15"/>
          <p:cNvSpPr/>
          <p:nvPr/>
        </p:nvSpPr>
        <p:spPr>
          <a:xfrm flipV="1">
            <a:off x="7040880" y="1417320"/>
            <a:ext cx="320040" cy="1097280"/>
          </a:xfrm>
          <a:prstGeom prst="line">
            <a:avLst/>
          </a:prstGeom>
          <a:noFill/>
          <a:ln w="31750">
            <a:solidFill>
              <a:srgbClr val="959BB0"/>
            </a:solidFill>
            <a:prstDash val="solid"/>
            <a:tailEnd type="triangle"/>
          </a:ln>
        </p:spPr>
        <p:txBody>
          <a:body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REGULILE · CE SE DECONTEAZĂ ȘI ÎN CE CONDIȚII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Două documente care se schimbă des</a:t>
            </a:r>
            <a:endParaRPr lang="en-US" sz="3100" dirty="0"/>
          </a:p>
        </p:txBody>
      </p:sp>
      <p:sp>
        <p:nvSpPr>
          <p:cNvPr id="4" name="Shape 2"/>
          <p:cNvSpPr/>
          <p:nvPr/>
        </p:nvSpPr>
        <p:spPr>
          <a:xfrm>
            <a:off x="594360" y="1600200"/>
            <a:ext cx="5212080" cy="434340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txBody>
          <a:bodyPr/>
          <a:p/>
        </p:txBody>
      </p:sp>
      <p:sp>
        <p:nvSpPr>
          <p:cNvPr id="5" name="Shape 3"/>
          <p:cNvSpPr/>
          <p:nvPr/>
        </p:nvSpPr>
        <p:spPr>
          <a:xfrm>
            <a:off x="594360" y="1600200"/>
            <a:ext cx="5212080" cy="91440"/>
          </a:xfrm>
          <a:prstGeom prst="rect">
            <a:avLst/>
          </a:prstGeom>
          <a:solidFill>
            <a:srgbClr val="B02532"/>
          </a:solidFill>
          <a:ln w="12700">
            <a:solidFill>
              <a:srgbClr val="B02532"/>
            </a:solidFill>
            <a:prstDash val="solid"/>
          </a:ln>
        </p:spPr>
        <p:txBody>
          <a:bodyPr/>
          <a:p/>
        </p:txBody>
      </p:sp>
      <p:sp>
        <p:nvSpPr>
          <p:cNvPr id="6" name="Text 4"/>
          <p:cNvSpPr/>
          <p:nvPr/>
        </p:nvSpPr>
        <p:spPr>
          <a:xfrm>
            <a:off x="868680" y="1828800"/>
            <a:ext cx="4754880" cy="320040"/>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HOTĂRÂREA GUVERNULUI NR. 521 DIN 2023</a:t>
            </a:r>
            <a:endParaRPr lang="en-US" sz="1250" dirty="0"/>
          </a:p>
        </p:txBody>
      </p:sp>
      <p:sp>
        <p:nvSpPr>
          <p:cNvPr id="7" name="Text 5"/>
          <p:cNvSpPr/>
          <p:nvPr/>
        </p:nvSpPr>
        <p:spPr>
          <a:xfrm>
            <a:off x="868680" y="2240280"/>
            <a:ext cx="4754880" cy="14630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Contractul-cadru și pachetele de servicii; forma actualizată, publicată de CNAS în ianuarie 2026.</a:t>
            </a:r>
            <a:endParaRPr lang="en-US" sz="1500" dirty="0"/>
          </a:p>
        </p:txBody>
      </p:sp>
      <p:sp>
        <p:nvSpPr>
          <p:cNvPr id="8" name="Shape 6"/>
          <p:cNvSpPr/>
          <p:nvPr/>
        </p:nvSpPr>
        <p:spPr>
          <a:xfrm>
            <a:off x="868680" y="3794760"/>
            <a:ext cx="4663440" cy="18288"/>
          </a:xfrm>
          <a:prstGeom prst="rect">
            <a:avLst/>
          </a:prstGeom>
          <a:solidFill>
            <a:srgbClr val="C9C6BE"/>
          </a:solidFill>
          <a:ln w="12700">
            <a:solidFill>
              <a:srgbClr val="C9C6BE"/>
            </a:solidFill>
            <a:prstDash val="solid"/>
          </a:ln>
        </p:spPr>
        <p:txBody>
          <a:bodyPr/>
          <a:p/>
        </p:txBody>
      </p:sp>
      <p:sp>
        <p:nvSpPr>
          <p:cNvPr id="9" name="Text 7"/>
          <p:cNvSpPr/>
          <p:nvPr/>
        </p:nvSpPr>
        <p:spPr>
          <a:xfrm>
            <a:off x="868680" y="3931920"/>
            <a:ext cx="4754880" cy="320040"/>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NORMELE METODOLOGICE DE APLICARE</a:t>
            </a:r>
            <a:endParaRPr lang="en-US" sz="1250" dirty="0"/>
          </a:p>
        </p:txBody>
      </p:sp>
      <p:sp>
        <p:nvSpPr>
          <p:cNvPr id="10" name="Text 8"/>
          <p:cNvSpPr/>
          <p:nvPr/>
        </p:nvSpPr>
        <p:spPr>
          <a:xfrm>
            <a:off x="868680" y="4343400"/>
            <a:ext cx="4754880" cy="13716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Ordin comun al Ministerului Sănătății și al CNAS: cum se contractează serviciile.</a:t>
            </a:r>
            <a:endParaRPr lang="en-US" sz="1500" dirty="0"/>
          </a:p>
        </p:txBody>
      </p:sp>
      <p:sp>
        <p:nvSpPr>
          <p:cNvPr id="11" name="Text 9"/>
          <p:cNvSpPr/>
          <p:nvPr/>
        </p:nvSpPr>
        <p:spPr>
          <a:xfrm>
            <a:off x="6172200" y="1645920"/>
            <a:ext cx="5394960" cy="320040"/>
          </a:xfrm>
          <a:prstGeom prst="rect">
            <a:avLst/>
          </a:prstGeom>
          <a:noFill/>
          <a:ln/>
        </p:spPr>
        <p:txBody>
          <a:bodyPr wrap="square" lIns="0" tIns="0" rIns="0" bIns="0" rtlCol="0" anchor="t"/>
          <a:lstStyle/>
          <a:p>
            <a:pPr indent="0" marL="0">
              <a:buNone/>
            </a:pPr>
            <a:r>
              <a:rPr lang="en-US" sz="1250" b="1" spc="200" kern="0" dirty="0">
                <a:solidFill>
                  <a:srgbClr val="0E7C6B"/>
                </a:solidFill>
                <a:latin typeface="Palatino Linotype" pitchFamily="34" charset="0"/>
                <a:ea typeface="Palatino Linotype" pitchFamily="34" charset="-122"/>
                <a:cs typeface="Palatino Linotype" pitchFamily="34" charset="-120"/>
              </a:rPr>
              <a:t>TREI CONSECINȚE PENTRU UN SPITAL</a:t>
            </a:r>
            <a:endParaRPr lang="en-US" sz="1250" dirty="0"/>
          </a:p>
        </p:txBody>
      </p:sp>
      <p:sp>
        <p:nvSpPr>
          <p:cNvPr id="12" name="Shape 10"/>
          <p:cNvSpPr/>
          <p:nvPr/>
        </p:nvSpPr>
        <p:spPr>
          <a:xfrm>
            <a:off x="6172200" y="2240280"/>
            <a:ext cx="420624" cy="420624"/>
          </a:xfrm>
          <a:prstGeom prst="ellipse">
            <a:avLst/>
          </a:prstGeom>
          <a:solidFill>
            <a:srgbClr val="FF4757"/>
          </a:solidFill>
          <a:ln/>
        </p:spPr>
        <p:txBody>
          <a:bodyPr/>
          <a:p/>
        </p:txBody>
      </p:sp>
      <p:sp>
        <p:nvSpPr>
          <p:cNvPr id="13" name="Text 11"/>
          <p:cNvSpPr/>
          <p:nvPr/>
        </p:nvSpPr>
        <p:spPr>
          <a:xfrm>
            <a:off x="6172200" y="224028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14" name="Text 12"/>
          <p:cNvSpPr/>
          <p:nvPr/>
        </p:nvSpPr>
        <p:spPr>
          <a:xfrm>
            <a:off x="6766560" y="2148840"/>
            <a:ext cx="4800600" cy="114300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Calendarul: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presupunerile se revăd în fiecare trimestru.</a:t>
            </a:r>
            <a:endParaRPr lang="en-US" sz="1600" dirty="0"/>
          </a:p>
        </p:txBody>
      </p:sp>
      <p:sp>
        <p:nvSpPr>
          <p:cNvPr id="15" name="Shape 13"/>
          <p:cNvSpPr/>
          <p:nvPr/>
        </p:nvSpPr>
        <p:spPr>
          <a:xfrm>
            <a:off x="6172200" y="3520440"/>
            <a:ext cx="420624" cy="420624"/>
          </a:xfrm>
          <a:prstGeom prst="ellipse">
            <a:avLst/>
          </a:prstGeom>
          <a:solidFill>
            <a:srgbClr val="FF4757"/>
          </a:solidFill>
          <a:ln/>
        </p:spPr>
        <p:txBody>
          <a:bodyPr/>
          <a:p/>
        </p:txBody>
      </p:sp>
      <p:sp>
        <p:nvSpPr>
          <p:cNvPr id="16" name="Text 14"/>
          <p:cNvSpPr/>
          <p:nvPr/>
        </p:nvSpPr>
        <p:spPr>
          <a:xfrm>
            <a:off x="6172200" y="35204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7" name="Text 15"/>
          <p:cNvSpPr/>
          <p:nvPr/>
        </p:nvSpPr>
        <p:spPr>
          <a:xfrm>
            <a:off x="6766560" y="3429000"/>
            <a:ext cx="4800600" cy="114300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Stimulentele: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o procedură decontată în spitalizarea de zi mută cazurile.</a:t>
            </a:r>
            <a:endParaRPr lang="en-US" sz="1600" dirty="0"/>
          </a:p>
        </p:txBody>
      </p:sp>
      <p:sp>
        <p:nvSpPr>
          <p:cNvPr id="18" name="Shape 16"/>
          <p:cNvSpPr/>
          <p:nvPr/>
        </p:nvSpPr>
        <p:spPr>
          <a:xfrm>
            <a:off x="6172200" y="4800600"/>
            <a:ext cx="420624" cy="420624"/>
          </a:xfrm>
          <a:prstGeom prst="ellipse">
            <a:avLst/>
          </a:prstGeom>
          <a:solidFill>
            <a:srgbClr val="FF4757"/>
          </a:solidFill>
          <a:ln/>
        </p:spPr>
        <p:txBody>
          <a:bodyPr/>
          <a:p/>
        </p:txBody>
      </p:sp>
      <p:sp>
        <p:nvSpPr>
          <p:cNvPr id="19" name="Text 17"/>
          <p:cNvSpPr/>
          <p:nvPr/>
        </p:nvSpPr>
        <p:spPr>
          <a:xfrm>
            <a:off x="6172200" y="480060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6766560" y="4709160"/>
            <a:ext cx="4800600" cy="114300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Conformitatea: </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fără respectarea Normelor, fără contract.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REGULILE · ACREDITAREA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Fără acreditare, fără contract</a:t>
            </a:r>
            <a:endParaRPr lang="en-US" sz="3400" dirty="0"/>
          </a:p>
        </p:txBody>
      </p:sp>
      <p:sp>
        <p:nvSpPr>
          <p:cNvPr id="4" name="Shape 2"/>
          <p:cNvSpPr/>
          <p:nvPr/>
        </p:nvSpPr>
        <p:spPr>
          <a:xfrm>
            <a:off x="594360" y="1645920"/>
            <a:ext cx="10972800" cy="283464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0000"/>
              </a:srgbClr>
            </a:outerShdw>
          </a:effectLst>
        </p:spPr>
        <p:txBody>
          <a:bodyPr/>
          <a:p/>
        </p:txBody>
      </p:sp>
      <p:sp>
        <p:nvSpPr>
          <p:cNvPr id="5" name="Shape 3"/>
          <p:cNvSpPr/>
          <p:nvPr/>
        </p:nvSpPr>
        <p:spPr>
          <a:xfrm>
            <a:off x="594360" y="1645920"/>
            <a:ext cx="10972800" cy="91440"/>
          </a:xfrm>
          <a:prstGeom prst="rect">
            <a:avLst/>
          </a:prstGeom>
          <a:solidFill>
            <a:srgbClr val="B02532"/>
          </a:solidFill>
          <a:ln w="12700">
            <a:solidFill>
              <a:srgbClr val="B02532"/>
            </a:solidFill>
            <a:prstDash val="solid"/>
          </a:ln>
        </p:spPr>
        <p:txBody>
          <a:bodyPr/>
          <a:p/>
        </p:txBody>
      </p:sp>
      <p:sp>
        <p:nvSpPr>
          <p:cNvPr id="6" name="Text 4"/>
          <p:cNvSpPr/>
          <p:nvPr/>
        </p:nvSpPr>
        <p:spPr>
          <a:xfrm>
            <a:off x="914400" y="1874520"/>
            <a:ext cx="10332720" cy="320040"/>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LEGEA NR. 95 DIN 2006 · ART. 173 ALIN. (1) · EXTRAS</a:t>
            </a:r>
            <a:endParaRPr lang="en-US" sz="1250" dirty="0"/>
          </a:p>
        </p:txBody>
      </p:sp>
      <p:sp>
        <p:nvSpPr>
          <p:cNvPr id="7" name="Text 5"/>
          <p:cNvSpPr/>
          <p:nvPr/>
        </p:nvSpPr>
        <p:spPr>
          <a:xfrm>
            <a:off x="914400" y="2286000"/>
            <a:ext cx="10332720" cy="2011680"/>
          </a:xfrm>
          <a:prstGeom prst="rect">
            <a:avLst/>
          </a:prstGeom>
          <a:noFill/>
          <a:ln/>
        </p:spPr>
        <p:txBody>
          <a:bodyPr wrap="square" lIns="0" tIns="0" rIns="0" bIns="0" rtlCol="0" anchor="ctr"/>
          <a:lstStyle/>
          <a:p>
            <a:pPr indent="0" marL="0">
              <a:buNone/>
            </a:pPr>
            <a:r>
              <a:rPr lang="en-US" sz="2100" i="1" dirty="0">
                <a:solidFill>
                  <a:srgbClr val="11121A"/>
                </a:solidFill>
                <a:latin typeface="Palatino Linotype" pitchFamily="34" charset="0"/>
                <a:ea typeface="Palatino Linotype" pitchFamily="34" charset="-122"/>
                <a:cs typeface="Palatino Linotype" pitchFamily="34" charset="-120"/>
              </a:rPr>
              <a:t>„Neobținerea acreditării în termen de 5 ani de la emiterea autorizației de funcționare conduce la imposibilitatea încheierii contractului de furnizare servicii medicale cu casele de asigurări de sănătate”</a:t>
            </a:r>
            <a:endParaRPr lang="en-US" sz="2100" dirty="0"/>
          </a:p>
        </p:txBody>
      </p:sp>
      <p:sp>
        <p:nvSpPr>
          <p:cNvPr id="8" name="Text 6"/>
          <p:cNvSpPr/>
          <p:nvPr/>
        </p:nvSpPr>
        <p:spPr>
          <a:xfrm>
            <a:off x="594360" y="4800600"/>
            <a:ext cx="10972800" cy="82296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Acreditarea este una dintre barierele pe care le întâlnește un spital nou care vrea să intre pe piață.</a:t>
            </a:r>
            <a:endParaRPr lang="en-US" sz="20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Legea nr. 95 din 2006 privind reforma în domeniul sănătății, art. 173 alin. (1), ultima frază.</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TEHNOLOGIA · DATELE DESPRE PACIENȚI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Termene fixate în textul european</a:t>
            </a:r>
            <a:endParaRPr lang="en-US" sz="3200" dirty="0"/>
          </a:p>
        </p:txBody>
      </p:sp>
      <p:sp>
        <p:nvSpPr>
          <p:cNvPr id="4" name="Text 2"/>
          <p:cNvSpPr/>
          <p:nvPr/>
        </p:nvSpPr>
        <p:spPr>
          <a:xfrm>
            <a:off x="594360" y="1554480"/>
            <a:ext cx="10972800" cy="45720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Regulamentul (UE) 2025/327 referitor la spațiul european al datelor privind sănătatea (SEDS)</a:t>
            </a:r>
            <a:endParaRPr lang="en-US" sz="1600" dirty="0"/>
          </a:p>
        </p:txBody>
      </p:sp>
      <p:sp>
        <p:nvSpPr>
          <p:cNvPr id="5" name="Shape 3"/>
          <p:cNvSpPr/>
          <p:nvPr/>
        </p:nvSpPr>
        <p:spPr>
          <a:xfrm>
            <a:off x="822960" y="2788920"/>
            <a:ext cx="10515600" cy="45720"/>
          </a:xfrm>
          <a:prstGeom prst="rect">
            <a:avLst/>
          </a:prstGeom>
          <a:solidFill>
            <a:srgbClr val="C9C6BE"/>
          </a:solidFill>
          <a:ln w="12700">
            <a:solidFill>
              <a:srgbClr val="C9C6BE"/>
            </a:solidFill>
            <a:prstDash val="solid"/>
          </a:ln>
        </p:spPr>
        <p:txBody>
          <a:bodyPr/>
          <a:p/>
        </p:txBody>
      </p:sp>
      <p:sp>
        <p:nvSpPr>
          <p:cNvPr id="6" name="Shape 4"/>
          <p:cNvSpPr/>
          <p:nvPr/>
        </p:nvSpPr>
        <p:spPr>
          <a:xfrm>
            <a:off x="822960" y="2606040"/>
            <a:ext cx="411480" cy="411480"/>
          </a:xfrm>
          <a:prstGeom prst="ellipse">
            <a:avLst/>
          </a:prstGeom>
          <a:solidFill>
            <a:srgbClr val="585A64"/>
          </a:solidFill>
          <a:ln w="25400">
            <a:solidFill>
              <a:srgbClr val="F6F5F2"/>
            </a:solidFill>
            <a:prstDash val="solid"/>
          </a:ln>
        </p:spPr>
        <p:txBody>
          <a:bodyPr/>
          <a:p/>
        </p:txBody>
      </p:sp>
      <p:sp>
        <p:nvSpPr>
          <p:cNvPr id="7" name="Text 5"/>
          <p:cNvSpPr/>
          <p:nvPr/>
        </p:nvSpPr>
        <p:spPr>
          <a:xfrm>
            <a:off x="822960" y="2103120"/>
            <a:ext cx="2651760" cy="411480"/>
          </a:xfrm>
          <a:prstGeom prst="rect">
            <a:avLst/>
          </a:prstGeom>
          <a:noFill/>
          <a:ln/>
        </p:spPr>
        <p:txBody>
          <a:bodyPr wrap="square" lIns="0" tIns="0" rIns="0" bIns="0" rtlCol="0" anchor="t"/>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11 februarie 2025</a:t>
            </a:r>
            <a:endParaRPr lang="en-US" sz="1600" dirty="0"/>
          </a:p>
        </p:txBody>
      </p:sp>
      <p:sp>
        <p:nvSpPr>
          <p:cNvPr id="8" name="Text 6"/>
          <p:cNvSpPr/>
          <p:nvPr/>
        </p:nvSpPr>
        <p:spPr>
          <a:xfrm>
            <a:off x="822960" y="3200400"/>
            <a:ext cx="2606040" cy="137160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adoptat</a:t>
            </a:r>
            <a:endParaRPr lang="en-US" sz="1450" dirty="0"/>
          </a:p>
        </p:txBody>
      </p:sp>
      <p:sp>
        <p:nvSpPr>
          <p:cNvPr id="9" name="Shape 7"/>
          <p:cNvSpPr/>
          <p:nvPr/>
        </p:nvSpPr>
        <p:spPr>
          <a:xfrm>
            <a:off x="3611880" y="2606040"/>
            <a:ext cx="411480" cy="411480"/>
          </a:xfrm>
          <a:prstGeom prst="ellipse">
            <a:avLst/>
          </a:prstGeom>
          <a:solidFill>
            <a:srgbClr val="B02532"/>
          </a:solidFill>
          <a:ln w="25400">
            <a:solidFill>
              <a:srgbClr val="F6F5F2"/>
            </a:solidFill>
            <a:prstDash val="solid"/>
          </a:ln>
        </p:spPr>
        <p:txBody>
          <a:bodyPr/>
          <a:p/>
        </p:txBody>
      </p:sp>
      <p:sp>
        <p:nvSpPr>
          <p:cNvPr id="10" name="Text 8"/>
          <p:cNvSpPr/>
          <p:nvPr/>
        </p:nvSpPr>
        <p:spPr>
          <a:xfrm>
            <a:off x="3611880" y="2103120"/>
            <a:ext cx="2651760" cy="4114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26 martie 2027</a:t>
            </a:r>
            <a:endParaRPr lang="en-US" sz="1600" dirty="0"/>
          </a:p>
        </p:txBody>
      </p:sp>
      <p:sp>
        <p:nvSpPr>
          <p:cNvPr id="11" name="Text 9"/>
          <p:cNvSpPr/>
          <p:nvPr/>
        </p:nvSpPr>
        <p:spPr>
          <a:xfrm>
            <a:off x="3611880" y="3200400"/>
            <a:ext cx="2606040" cy="137160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se aplică</a:t>
            </a:r>
            <a:endParaRPr lang="en-US" sz="1450" dirty="0"/>
          </a:p>
        </p:txBody>
      </p:sp>
      <p:sp>
        <p:nvSpPr>
          <p:cNvPr id="12" name="Shape 10"/>
          <p:cNvSpPr/>
          <p:nvPr/>
        </p:nvSpPr>
        <p:spPr>
          <a:xfrm>
            <a:off x="6400800" y="2606040"/>
            <a:ext cx="411480" cy="411480"/>
          </a:xfrm>
          <a:prstGeom prst="ellipse">
            <a:avLst/>
          </a:prstGeom>
          <a:solidFill>
            <a:srgbClr val="0E7C6B"/>
          </a:solidFill>
          <a:ln w="25400">
            <a:solidFill>
              <a:srgbClr val="F6F5F2"/>
            </a:solidFill>
            <a:prstDash val="solid"/>
          </a:ln>
        </p:spPr>
        <p:txBody>
          <a:bodyPr/>
          <a:p/>
        </p:txBody>
      </p:sp>
      <p:sp>
        <p:nvSpPr>
          <p:cNvPr id="13" name="Text 11"/>
          <p:cNvSpPr/>
          <p:nvPr/>
        </p:nvSpPr>
        <p:spPr>
          <a:xfrm>
            <a:off x="6400800" y="2103120"/>
            <a:ext cx="2651760" cy="41148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26 martie 2029</a:t>
            </a:r>
            <a:endParaRPr lang="en-US" sz="1600" dirty="0"/>
          </a:p>
        </p:txBody>
      </p:sp>
      <p:sp>
        <p:nvSpPr>
          <p:cNvPr id="14" name="Text 12"/>
          <p:cNvSpPr/>
          <p:nvPr/>
        </p:nvSpPr>
        <p:spPr>
          <a:xfrm>
            <a:off x="6400800" y="3200400"/>
            <a:ext cx="2606040" cy="137160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o parte din drepturile pacienților asupra datelor; folosirea datelor în cercetare, cu câteva excepții</a:t>
            </a:r>
            <a:endParaRPr lang="en-US" sz="1450" dirty="0"/>
          </a:p>
        </p:txBody>
      </p:sp>
      <p:sp>
        <p:nvSpPr>
          <p:cNvPr id="15" name="Shape 13"/>
          <p:cNvSpPr/>
          <p:nvPr/>
        </p:nvSpPr>
        <p:spPr>
          <a:xfrm>
            <a:off x="9189720" y="2606040"/>
            <a:ext cx="411480" cy="411480"/>
          </a:xfrm>
          <a:prstGeom prst="ellipse">
            <a:avLst/>
          </a:prstGeom>
          <a:solidFill>
            <a:srgbClr val="0E7C6B"/>
          </a:solidFill>
          <a:ln w="25400">
            <a:solidFill>
              <a:srgbClr val="F6F5F2"/>
            </a:solidFill>
            <a:prstDash val="solid"/>
          </a:ln>
        </p:spPr>
        <p:txBody>
          <a:bodyPr/>
          <a:p/>
        </p:txBody>
      </p:sp>
      <p:sp>
        <p:nvSpPr>
          <p:cNvPr id="16" name="Text 14"/>
          <p:cNvSpPr/>
          <p:nvPr/>
        </p:nvSpPr>
        <p:spPr>
          <a:xfrm>
            <a:off x="9189720" y="2103120"/>
            <a:ext cx="2651760" cy="41148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26 martie 2031</a:t>
            </a:r>
            <a:endParaRPr lang="en-US" sz="1600" dirty="0"/>
          </a:p>
        </p:txBody>
      </p:sp>
      <p:sp>
        <p:nvSpPr>
          <p:cNvPr id="17" name="Text 15"/>
          <p:cNvSpPr/>
          <p:nvPr/>
        </p:nvSpPr>
        <p:spPr>
          <a:xfrm>
            <a:off x="9189720" y="3200400"/>
            <a:ext cx="2606040" cy="137160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restul categoriilor de date</a:t>
            </a:r>
            <a:endParaRPr lang="en-US" sz="1450" dirty="0"/>
          </a:p>
        </p:txBody>
      </p:sp>
      <p:sp>
        <p:nvSpPr>
          <p:cNvPr id="18" name="Shape 16"/>
          <p:cNvSpPr/>
          <p:nvPr/>
        </p:nvSpPr>
        <p:spPr>
          <a:xfrm>
            <a:off x="594360" y="4709160"/>
            <a:ext cx="10972800" cy="1234440"/>
          </a:xfrm>
          <a:prstGeom prst="roundRect">
            <a:avLst>
              <a:gd name="adj" fmla="val 6667"/>
            </a:avLst>
          </a:prstGeom>
          <a:solidFill>
            <a:srgbClr val="ECEAE4"/>
          </a:solidFill>
          <a:ln w="12700">
            <a:solidFill>
              <a:srgbClr val="ECEAE4"/>
            </a:solidFill>
            <a:prstDash val="solid"/>
          </a:ln>
        </p:spPr>
        <p:txBody>
          <a:bodyPr/>
          <a:p/>
        </p:txBody>
      </p:sp>
      <p:sp>
        <p:nvSpPr>
          <p:cNvPr id="19" name="Text 17"/>
          <p:cNvSpPr/>
          <p:nvPr/>
        </p:nvSpPr>
        <p:spPr>
          <a:xfrm>
            <a:off x="868680" y="4709160"/>
            <a:ext cx="10424160" cy="123444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Norme și infrastructuri comune pentru datele de sănătate. Pentru un spital: sisteme informatice compatibile.</a:t>
            </a:r>
            <a:endParaRPr lang="en-US" sz="16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Regulamentul (UE) 2025/327, textul în limba română.</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TEHNOLOGIA · ÎN CAZUL NOSTRU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Și problemă, și oportunitate</a:t>
            </a:r>
            <a:endParaRPr lang="en-US" sz="3200" dirty="0"/>
          </a:p>
        </p:txBody>
      </p:sp>
      <p:sp>
        <p:nvSpPr>
          <p:cNvPr id="4" name="Shape 2"/>
          <p:cNvSpPr/>
          <p:nvPr/>
        </p:nvSpPr>
        <p:spPr>
          <a:xfrm>
            <a:off x="594360" y="1600200"/>
            <a:ext cx="4023360" cy="2148840"/>
          </a:xfrm>
          <a:prstGeom prst="roundRect">
            <a:avLst>
              <a:gd name="adj" fmla="val 3830"/>
            </a:avLst>
          </a:prstGeom>
          <a:solidFill>
            <a:srgbClr val="1D1F2B"/>
          </a:solidFill>
          <a:ln w="12700">
            <a:solidFill>
              <a:srgbClr val="1D1F2B"/>
            </a:solidFill>
            <a:prstDash val="solid"/>
          </a:ln>
        </p:spPr>
        <p:txBody>
          <a:bodyPr/>
          <a:p/>
        </p:txBody>
      </p:sp>
      <p:sp>
        <p:nvSpPr>
          <p:cNvPr id="5" name="Text 3"/>
          <p:cNvSpPr/>
          <p:nvPr/>
        </p:nvSpPr>
        <p:spPr>
          <a:xfrm>
            <a:off x="868680" y="1709928"/>
            <a:ext cx="3474720" cy="1074420"/>
          </a:xfrm>
          <a:prstGeom prst="rect">
            <a:avLst/>
          </a:prstGeom>
          <a:noFill/>
          <a:ln/>
        </p:spPr>
        <p:txBody>
          <a:bodyPr wrap="square" lIns="0" tIns="0" rIns="0" bIns="0" rtlCol="0" anchor="ctr"/>
          <a:lstStyle/>
          <a:p>
            <a:pPr indent="0" marL="0">
              <a:buNone/>
            </a:pPr>
            <a:r>
              <a:rPr lang="en-US" sz="3600" b="1" dirty="0">
                <a:solidFill>
                  <a:srgbClr val="FFC24B"/>
                </a:solidFill>
                <a:latin typeface="Palatino Linotype" pitchFamily="34" charset="0"/>
                <a:ea typeface="Palatino Linotype" pitchFamily="34" charset="-122"/>
                <a:cs typeface="Palatino Linotype" pitchFamily="34" charset="-120"/>
              </a:rPr>
              <a:t>300 mil. €</a:t>
            </a:r>
            <a:endParaRPr lang="en-US" sz="3600" dirty="0"/>
          </a:p>
        </p:txBody>
      </p:sp>
      <p:sp>
        <p:nvSpPr>
          <p:cNvPr id="6" name="Text 4"/>
          <p:cNvSpPr/>
          <p:nvPr/>
        </p:nvSpPr>
        <p:spPr>
          <a:xfrm>
            <a:off x="868680" y="2692908"/>
            <a:ext cx="3474720" cy="988466"/>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din PNRR pentru digitalizarea sistemului de sănătate</a:t>
            </a:r>
            <a:endParaRPr lang="en-US" sz="1200" dirty="0"/>
          </a:p>
        </p:txBody>
      </p:sp>
      <p:sp>
        <p:nvSpPr>
          <p:cNvPr id="7" name="Text 5"/>
          <p:cNvSpPr/>
          <p:nvPr/>
        </p:nvSpPr>
        <p:spPr>
          <a:xfrm>
            <a:off x="594360" y="3977640"/>
            <a:ext cx="4023360" cy="128016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Consultațiile la distanță rămân, totuși, puțin folosite în România.</a:t>
            </a:r>
            <a:endParaRPr lang="en-US" sz="1600" dirty="0"/>
          </a:p>
        </p:txBody>
      </p:sp>
      <p:sp>
        <p:nvSpPr>
          <p:cNvPr id="8" name="Shape 6"/>
          <p:cNvSpPr/>
          <p:nvPr/>
        </p:nvSpPr>
        <p:spPr>
          <a:xfrm>
            <a:off x="4937760" y="1600200"/>
            <a:ext cx="6629400" cy="1965960"/>
          </a:xfrm>
          <a:prstGeom prst="roundRect">
            <a:avLst>
              <a:gd name="adj" fmla="val 4186"/>
            </a:avLst>
          </a:prstGeom>
          <a:solidFill>
            <a:srgbClr val="272A38"/>
          </a:solidFill>
          <a:ln w="12700">
            <a:solidFill>
              <a:srgbClr val="272A38"/>
            </a:solidFill>
            <a:prstDash val="solid"/>
          </a:ln>
        </p:spPr>
        <p:txBody>
          <a:bodyPr/>
          <a:p/>
        </p:txBody>
      </p:sp>
      <p:sp>
        <p:nvSpPr>
          <p:cNvPr id="9" name="Shape 7"/>
          <p:cNvSpPr/>
          <p:nvPr/>
        </p:nvSpPr>
        <p:spPr>
          <a:xfrm>
            <a:off x="4937760" y="1600200"/>
            <a:ext cx="54864" cy="1965960"/>
          </a:xfrm>
          <a:prstGeom prst="rect">
            <a:avLst/>
          </a:prstGeom>
          <a:solidFill>
            <a:srgbClr val="FF4757"/>
          </a:solidFill>
          <a:ln w="12700">
            <a:solidFill>
              <a:srgbClr val="FF4757"/>
            </a:solidFill>
            <a:prstDash val="solid"/>
          </a:ln>
        </p:spPr>
        <p:txBody>
          <a:bodyPr/>
          <a:p/>
        </p:txBody>
      </p:sp>
      <p:sp>
        <p:nvSpPr>
          <p:cNvPr id="10" name="Text 8"/>
          <p:cNvSpPr/>
          <p:nvPr/>
        </p:nvSpPr>
        <p:spPr>
          <a:xfrm>
            <a:off x="5257800" y="1783080"/>
            <a:ext cx="6126480" cy="320040"/>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PROBLEMA</a:t>
            </a:r>
            <a:endParaRPr lang="en-US" sz="1300" dirty="0"/>
          </a:p>
        </p:txBody>
      </p:sp>
      <p:sp>
        <p:nvSpPr>
          <p:cNvPr id="11" name="Text 9"/>
          <p:cNvSpPr/>
          <p:nvPr/>
        </p:nvSpPr>
        <p:spPr>
          <a:xfrm>
            <a:off x="5257800" y="2194560"/>
            <a:ext cx="6126480" cy="12801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Programele spitalului nu comunică bine cu cele ale caselor de asigurări și ale altor furnizori; conformarea cere timp și oameni.</a:t>
            </a:r>
            <a:endParaRPr lang="en-US" sz="1700" dirty="0"/>
          </a:p>
        </p:txBody>
      </p:sp>
      <p:sp>
        <p:nvSpPr>
          <p:cNvPr id="12" name="Shape 10"/>
          <p:cNvSpPr/>
          <p:nvPr/>
        </p:nvSpPr>
        <p:spPr>
          <a:xfrm>
            <a:off x="4937760" y="3794760"/>
            <a:ext cx="6629400" cy="1965960"/>
          </a:xfrm>
          <a:prstGeom prst="roundRect">
            <a:avLst>
              <a:gd name="adj" fmla="val 4186"/>
            </a:avLst>
          </a:prstGeom>
          <a:solidFill>
            <a:srgbClr val="272A38"/>
          </a:solidFill>
          <a:ln w="12700">
            <a:solidFill>
              <a:srgbClr val="272A38"/>
            </a:solidFill>
            <a:prstDash val="solid"/>
          </a:ln>
        </p:spPr>
        <p:txBody>
          <a:bodyPr/>
          <a:p/>
        </p:txBody>
      </p:sp>
      <p:sp>
        <p:nvSpPr>
          <p:cNvPr id="13" name="Shape 11"/>
          <p:cNvSpPr/>
          <p:nvPr/>
        </p:nvSpPr>
        <p:spPr>
          <a:xfrm>
            <a:off x="4937760" y="3794760"/>
            <a:ext cx="54864" cy="1965960"/>
          </a:xfrm>
          <a:prstGeom prst="rect">
            <a:avLst/>
          </a:prstGeom>
          <a:solidFill>
            <a:srgbClr val="27D3BE"/>
          </a:solidFill>
          <a:ln w="12700">
            <a:solidFill>
              <a:srgbClr val="27D3BE"/>
            </a:solidFill>
            <a:prstDash val="solid"/>
          </a:ln>
        </p:spPr>
        <p:txBody>
          <a:bodyPr/>
          <a:p/>
        </p:txBody>
      </p:sp>
      <p:sp>
        <p:nvSpPr>
          <p:cNvPr id="14" name="Text 12"/>
          <p:cNvSpPr/>
          <p:nvPr/>
        </p:nvSpPr>
        <p:spPr>
          <a:xfrm>
            <a:off x="5257800" y="3977640"/>
            <a:ext cx="6126480" cy="32004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OPORTUNITATEA</a:t>
            </a:r>
            <a:endParaRPr lang="en-US" sz="1300" dirty="0"/>
          </a:p>
        </p:txBody>
      </p:sp>
      <p:sp>
        <p:nvSpPr>
          <p:cNvPr id="15" name="Text 13"/>
          <p:cNvSpPr/>
          <p:nvPr/>
        </p:nvSpPr>
        <p:spPr>
          <a:xfrm>
            <a:off x="5257800" y="4389120"/>
            <a:ext cx="6126480" cy="12801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Controale la distanță pentru pacienții din comune; programări online pentru examenul RMN, cu reamintiri care reduc neprezentările.</a:t>
            </a:r>
            <a:endParaRPr lang="en-US" sz="17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OCDE și Observatorul European, profilul de țară România, 2025.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CONCURENȚA · CINE MAI OFERĂ ACELAȘI SERVICIU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Piața se definește pe fiecare serviciu</a:t>
            </a:r>
            <a:endParaRPr lang="en-US" sz="3100" dirty="0"/>
          </a:p>
        </p:txBody>
      </p:sp>
      <p:sp>
        <p:nvSpPr>
          <p:cNvPr id="4" name="Shape 2"/>
          <p:cNvSpPr/>
          <p:nvPr/>
        </p:nvSpPr>
        <p:spPr>
          <a:xfrm>
            <a:off x="594360" y="1600200"/>
            <a:ext cx="4572000" cy="2011680"/>
          </a:xfrm>
          <a:prstGeom prst="roundRect">
            <a:avLst>
              <a:gd name="adj" fmla="val 4091"/>
            </a:avLst>
          </a:prstGeom>
          <a:solidFill>
            <a:srgbClr val="ECEAE4"/>
          </a:solidFill>
          <a:ln w="12700">
            <a:solidFill>
              <a:srgbClr val="ECEAE4"/>
            </a:solidFill>
            <a:prstDash val="solid"/>
          </a:ln>
        </p:spPr>
        <p:txBody>
          <a:bodyPr/>
          <a:p/>
        </p:txBody>
      </p:sp>
      <p:sp>
        <p:nvSpPr>
          <p:cNvPr id="5" name="Text 3"/>
          <p:cNvSpPr/>
          <p:nvPr/>
        </p:nvSpPr>
        <p:spPr>
          <a:xfrm>
            <a:off x="868680" y="1709928"/>
            <a:ext cx="4023360" cy="1005840"/>
          </a:xfrm>
          <a:prstGeom prst="rect">
            <a:avLst/>
          </a:prstGeom>
          <a:noFill/>
          <a:ln/>
        </p:spPr>
        <p:txBody>
          <a:bodyPr wrap="square" lIns="0" tIns="0" rIns="0" bIns="0" rtlCol="0" anchor="ctr"/>
          <a:lstStyle/>
          <a:p>
            <a:pPr indent="0" marL="0">
              <a:buNone/>
            </a:pPr>
            <a:r>
              <a:rPr lang="en-US" sz="3600" b="1" dirty="0">
                <a:solidFill>
                  <a:srgbClr val="B02532"/>
                </a:solidFill>
                <a:latin typeface="Palatino Linotype" pitchFamily="34" charset="0"/>
                <a:ea typeface="Palatino Linotype" pitchFamily="34" charset="-122"/>
                <a:cs typeface="Palatino Linotype" pitchFamily="34" charset="-120"/>
              </a:rPr>
              <a:t>23 din 100</a:t>
            </a:r>
            <a:endParaRPr lang="en-US" sz="3600" dirty="0"/>
          </a:p>
        </p:txBody>
      </p:sp>
      <p:sp>
        <p:nvSpPr>
          <p:cNvPr id="6" name="Text 4"/>
          <p:cNvSpPr/>
          <p:nvPr/>
        </p:nvSpPr>
        <p:spPr>
          <a:xfrm>
            <a:off x="868680" y="2624328"/>
            <a:ext cx="4023360" cy="925373"/>
          </a:xfrm>
          <a:prstGeom prst="rect">
            <a:avLst/>
          </a:prstGeom>
          <a:noFill/>
          <a:ln/>
        </p:spPr>
        <p:txBody>
          <a:bodyPr wrap="square" lIns="0" tIns="0" rIns="0" bIns="0" rtlCol="0" anchor="t"/>
          <a:lstStyle/>
          <a:p>
            <a:pPr indent="0" marL="0">
              <a:buNone/>
            </a:pPr>
            <a:r>
              <a:rPr lang="en-US" sz="1200" dirty="0">
                <a:solidFill>
                  <a:srgbClr val="11121A"/>
                </a:solidFill>
                <a:latin typeface="Palatino Linotype" pitchFamily="34" charset="0"/>
                <a:ea typeface="Palatino Linotype" pitchFamily="34" charset="-122"/>
                <a:cs typeface="Palatino Linotype" pitchFamily="34" charset="-120"/>
              </a:rPr>
              <a:t>de euro (2023), plătiți direct, mai ales pe medicamente</a:t>
            </a:r>
            <a:endParaRPr lang="en-US" sz="1200" dirty="0"/>
          </a:p>
        </p:txBody>
      </p:sp>
      <p:sp>
        <p:nvSpPr>
          <p:cNvPr id="7" name="Text 5"/>
          <p:cNvSpPr/>
          <p:nvPr/>
        </p:nvSpPr>
        <p:spPr>
          <a:xfrm>
            <a:off x="594360" y="3840480"/>
            <a:ext cx="4572000" cy="109728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Cererea pentru imagistica privată: o presupunere de verificat.</a:t>
            </a:r>
            <a:endParaRPr lang="en-US" sz="1500" dirty="0"/>
          </a:p>
        </p:txBody>
      </p:sp>
      <p:sp>
        <p:nvSpPr>
          <p:cNvPr id="8" name="Text 6"/>
          <p:cNvSpPr/>
          <p:nvPr/>
        </p:nvSpPr>
        <p:spPr>
          <a:xfrm>
            <a:off x="5486400" y="1645920"/>
            <a:ext cx="6035040" cy="320040"/>
          </a:xfrm>
          <a:prstGeom prst="rect">
            <a:avLst/>
          </a:prstGeom>
          <a:noFill/>
          <a:ln/>
        </p:spPr>
        <p:txBody>
          <a:bodyPr wrap="square" lIns="0" tIns="0" rIns="0" bIns="0" rtlCol="0" anchor="t"/>
          <a:lstStyle/>
          <a:p>
            <a:pPr indent="0" marL="0">
              <a:buNone/>
            </a:pPr>
            <a:r>
              <a:rPr lang="en-US" sz="1250" b="1" spc="200" kern="0" dirty="0">
                <a:solidFill>
                  <a:srgbClr val="0E7C6B"/>
                </a:solidFill>
                <a:latin typeface="Palatino Linotype" pitchFamily="34" charset="0"/>
                <a:ea typeface="Palatino Linotype" pitchFamily="34" charset="-122"/>
                <a:cs typeface="Palatino Linotype" pitchFamily="34" charset="-120"/>
              </a:rPr>
              <a:t>CE SE URMĂREȘTE</a:t>
            </a:r>
            <a:endParaRPr lang="en-US" sz="1250" dirty="0"/>
          </a:p>
        </p:txBody>
      </p:sp>
      <p:sp>
        <p:nvSpPr>
          <p:cNvPr id="9" name="Shape 7"/>
          <p:cNvSpPr/>
          <p:nvPr/>
        </p:nvSpPr>
        <p:spPr>
          <a:xfrm>
            <a:off x="5486400" y="2167128"/>
            <a:ext cx="384048" cy="384048"/>
          </a:xfrm>
          <a:prstGeom prst="ellipse">
            <a:avLst/>
          </a:prstGeom>
          <a:solidFill>
            <a:srgbClr val="27D3BE"/>
          </a:solidFill>
          <a:ln/>
        </p:spPr>
        <p:txBody>
          <a:bodyPr/>
          <a:p/>
        </p:txBody>
      </p:sp>
      <p:sp>
        <p:nvSpPr>
          <p:cNvPr id="10" name="Text 8"/>
          <p:cNvSpPr/>
          <p:nvPr/>
        </p:nvSpPr>
        <p:spPr>
          <a:xfrm>
            <a:off x="5486400" y="2167128"/>
            <a:ext cx="384048" cy="384048"/>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6035040" y="2103120"/>
            <a:ext cx="5532120" cy="54864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Jucătorii: spitale, ambulatorii, imagistică, clinici</a:t>
            </a:r>
            <a:endParaRPr lang="en-US" sz="1500" dirty="0"/>
          </a:p>
        </p:txBody>
      </p:sp>
      <p:sp>
        <p:nvSpPr>
          <p:cNvPr id="12" name="Shape 10"/>
          <p:cNvSpPr/>
          <p:nvPr/>
        </p:nvSpPr>
        <p:spPr>
          <a:xfrm>
            <a:off x="5486400" y="2880360"/>
            <a:ext cx="384048" cy="384048"/>
          </a:xfrm>
          <a:prstGeom prst="ellipse">
            <a:avLst/>
          </a:prstGeom>
          <a:solidFill>
            <a:srgbClr val="27D3BE"/>
          </a:solidFill>
          <a:ln/>
        </p:spPr>
        <p:txBody>
          <a:bodyPr/>
          <a:p/>
        </p:txBody>
      </p:sp>
      <p:sp>
        <p:nvSpPr>
          <p:cNvPr id="13" name="Text 11"/>
          <p:cNvSpPr/>
          <p:nvPr/>
        </p:nvSpPr>
        <p:spPr>
          <a:xfrm>
            <a:off x="5486400" y="2880360"/>
            <a:ext cx="384048" cy="384048"/>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6035040" y="2816352"/>
            <a:ext cx="5532120" cy="54864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Barierele: acreditarea, personalul, investițiile</a:t>
            </a:r>
            <a:endParaRPr lang="en-US" sz="1500" dirty="0"/>
          </a:p>
        </p:txBody>
      </p:sp>
      <p:sp>
        <p:nvSpPr>
          <p:cNvPr id="15" name="Shape 13"/>
          <p:cNvSpPr/>
          <p:nvPr/>
        </p:nvSpPr>
        <p:spPr>
          <a:xfrm>
            <a:off x="5486400" y="3593592"/>
            <a:ext cx="384048" cy="384048"/>
          </a:xfrm>
          <a:prstGeom prst="ellipse">
            <a:avLst/>
          </a:prstGeom>
          <a:solidFill>
            <a:srgbClr val="27D3BE"/>
          </a:solidFill>
          <a:ln/>
        </p:spPr>
        <p:txBody>
          <a:bodyPr/>
          <a:p/>
        </p:txBody>
      </p:sp>
      <p:sp>
        <p:nvSpPr>
          <p:cNvPr id="16" name="Text 14"/>
          <p:cNvSpPr/>
          <p:nvPr/>
        </p:nvSpPr>
        <p:spPr>
          <a:xfrm>
            <a:off x="5486400" y="3593592"/>
            <a:ext cx="384048" cy="384048"/>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6035040" y="3529584"/>
            <a:ext cx="5532120" cy="54864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Înlocuirea unui serviciu cu altul</a:t>
            </a:r>
            <a:endParaRPr lang="en-US" sz="1500" dirty="0"/>
          </a:p>
        </p:txBody>
      </p:sp>
      <p:sp>
        <p:nvSpPr>
          <p:cNvPr id="18" name="Shape 16"/>
          <p:cNvSpPr/>
          <p:nvPr/>
        </p:nvSpPr>
        <p:spPr>
          <a:xfrm>
            <a:off x="5486400" y="4306824"/>
            <a:ext cx="384048" cy="384048"/>
          </a:xfrm>
          <a:prstGeom prst="ellipse">
            <a:avLst/>
          </a:prstGeom>
          <a:solidFill>
            <a:srgbClr val="27D3BE"/>
          </a:solidFill>
          <a:ln/>
        </p:spPr>
        <p:txBody>
          <a:bodyPr/>
          <a:p/>
        </p:txBody>
      </p:sp>
      <p:sp>
        <p:nvSpPr>
          <p:cNvPr id="19" name="Text 17"/>
          <p:cNvSpPr/>
          <p:nvPr/>
        </p:nvSpPr>
        <p:spPr>
          <a:xfrm>
            <a:off x="5486400" y="4306824"/>
            <a:ext cx="384048" cy="384048"/>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4</a:t>
            </a:r>
            <a:endParaRPr lang="en-US" sz="1400" dirty="0"/>
          </a:p>
        </p:txBody>
      </p:sp>
      <p:sp>
        <p:nvSpPr>
          <p:cNvPr id="20" name="Text 18"/>
          <p:cNvSpPr/>
          <p:nvPr/>
        </p:nvSpPr>
        <p:spPr>
          <a:xfrm>
            <a:off x="6035040" y="4242816"/>
            <a:ext cx="5532120" cy="54864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Furnizorii care leagă consultația de procedură</a:t>
            </a:r>
            <a:endParaRPr lang="en-US" sz="1500" dirty="0"/>
          </a:p>
        </p:txBody>
      </p:sp>
      <p:sp>
        <p:nvSpPr>
          <p:cNvPr id="21" name="Shape 19"/>
          <p:cNvSpPr/>
          <p:nvPr/>
        </p:nvSpPr>
        <p:spPr>
          <a:xfrm>
            <a:off x="594360" y="5120640"/>
            <a:ext cx="10972800" cy="868680"/>
          </a:xfrm>
          <a:prstGeom prst="roundRect">
            <a:avLst>
              <a:gd name="adj" fmla="val 9474"/>
            </a:avLst>
          </a:prstGeom>
          <a:solidFill>
            <a:srgbClr val="1D1F2B"/>
          </a:solidFill>
          <a:ln w="12700">
            <a:solidFill>
              <a:srgbClr val="1D1F2B"/>
            </a:solidFill>
            <a:prstDash val="solid"/>
          </a:ln>
        </p:spPr>
        <p:txBody>
          <a:bodyPr/>
          <a:p/>
        </p:txBody>
      </p:sp>
      <p:sp>
        <p:nvSpPr>
          <p:cNvPr id="22" name="Text 20"/>
          <p:cNvSpPr/>
          <p:nvPr/>
        </p:nvSpPr>
        <p:spPr>
          <a:xfrm>
            <a:off x="868680" y="5120640"/>
            <a:ext cx="10424160" cy="86868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Spitalul din caz concurează cu centrul privat numai în imagistică.</a:t>
            </a:r>
            <a:endParaRPr lang="en-US" sz="18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OCDE și Observatorul European, profilul de țară România, 2025.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 · APOI VOT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ÎNTREBAREA 3 · SALA ÎN DOUĂ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Care este problema cea mai importantă a spitalului?</a:t>
            </a:r>
            <a:endParaRPr lang="en-US" sz="3000" dirty="0"/>
          </a:p>
        </p:txBody>
      </p:sp>
      <p:sp>
        <p:nvSpPr>
          <p:cNvPr id="6" name="Shape 4"/>
          <p:cNvSpPr/>
          <p:nvPr/>
        </p:nvSpPr>
        <p:spPr>
          <a:xfrm>
            <a:off x="594360" y="1828800"/>
            <a:ext cx="5349240" cy="2011680"/>
          </a:xfrm>
          <a:prstGeom prst="roundRect">
            <a:avLst>
              <a:gd name="adj" fmla="val 4091"/>
            </a:avLst>
          </a:prstGeom>
          <a:solidFill>
            <a:srgbClr val="1D1F2B"/>
          </a:solidFill>
          <a:ln w="12700">
            <a:solidFill>
              <a:srgbClr val="1D1F2B"/>
            </a:solidFill>
            <a:prstDash val="solid"/>
          </a:ln>
        </p:spPr>
        <p:txBody>
          <a:bodyPr/>
          <a:p/>
        </p:txBody>
      </p:sp>
      <p:sp>
        <p:nvSpPr>
          <p:cNvPr id="7" name="Shape 5"/>
          <p:cNvSpPr/>
          <p:nvPr/>
        </p:nvSpPr>
        <p:spPr>
          <a:xfrm>
            <a:off x="594360" y="1828800"/>
            <a:ext cx="5349240" cy="91440"/>
          </a:xfrm>
          <a:prstGeom prst="rect">
            <a:avLst/>
          </a:prstGeom>
          <a:solidFill>
            <a:srgbClr val="FF4757"/>
          </a:solidFill>
          <a:ln w="12700">
            <a:solidFill>
              <a:srgbClr val="FF4757"/>
            </a:solidFill>
            <a:prstDash val="solid"/>
          </a:ln>
        </p:spPr>
        <p:txBody>
          <a:bodyPr/>
          <a:p/>
        </p:txBody>
      </p:sp>
      <p:sp>
        <p:nvSpPr>
          <p:cNvPr id="8" name="Text 6"/>
          <p:cNvSpPr/>
          <p:nvPr/>
        </p:nvSpPr>
        <p:spPr>
          <a:xfrm>
            <a:off x="868680" y="2057400"/>
            <a:ext cx="4846320" cy="320040"/>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TABĂRA DIN STÂNGA · BANII</a:t>
            </a:r>
            <a:endParaRPr lang="en-US" sz="1300" dirty="0"/>
          </a:p>
        </p:txBody>
      </p:sp>
      <p:sp>
        <p:nvSpPr>
          <p:cNvPr id="9" name="Text 7"/>
          <p:cNvSpPr/>
          <p:nvPr/>
        </p:nvSpPr>
        <p:spPr>
          <a:xfrm>
            <a:off x="868680" y="2514600"/>
            <a:ext cx="4846320" cy="118872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Tariful nu acoperă costul investigațiilor de seară.</a:t>
            </a:r>
            <a:endParaRPr lang="en-US" sz="2000" dirty="0"/>
          </a:p>
        </p:txBody>
      </p:sp>
      <p:sp>
        <p:nvSpPr>
          <p:cNvPr id="10" name="Shape 8"/>
          <p:cNvSpPr/>
          <p:nvPr/>
        </p:nvSpPr>
        <p:spPr>
          <a:xfrm>
            <a:off x="6217920" y="1828800"/>
            <a:ext cx="5349240" cy="2011680"/>
          </a:xfrm>
          <a:prstGeom prst="roundRect">
            <a:avLst>
              <a:gd name="adj" fmla="val 4091"/>
            </a:avLst>
          </a:prstGeom>
          <a:solidFill>
            <a:srgbClr val="1D1F2B"/>
          </a:solidFill>
          <a:ln w="12700">
            <a:solidFill>
              <a:srgbClr val="1D1F2B"/>
            </a:solidFill>
            <a:prstDash val="solid"/>
          </a:ln>
        </p:spPr>
        <p:txBody>
          <a:bodyPr/>
          <a:p/>
        </p:txBody>
      </p:sp>
      <p:sp>
        <p:nvSpPr>
          <p:cNvPr id="11" name="Shape 9"/>
          <p:cNvSpPr/>
          <p:nvPr/>
        </p:nvSpPr>
        <p:spPr>
          <a:xfrm>
            <a:off x="6217920" y="1828800"/>
            <a:ext cx="5349240" cy="91440"/>
          </a:xfrm>
          <a:prstGeom prst="rect">
            <a:avLst/>
          </a:prstGeom>
          <a:solidFill>
            <a:srgbClr val="27D3BE"/>
          </a:solidFill>
          <a:ln w="12700">
            <a:solidFill>
              <a:srgbClr val="27D3BE"/>
            </a:solidFill>
            <a:prstDash val="solid"/>
          </a:ln>
        </p:spPr>
        <p:txBody>
          <a:bodyPr/>
          <a:p/>
        </p:txBody>
      </p:sp>
      <p:sp>
        <p:nvSpPr>
          <p:cNvPr id="12" name="Text 10"/>
          <p:cNvSpPr/>
          <p:nvPr/>
        </p:nvSpPr>
        <p:spPr>
          <a:xfrm>
            <a:off x="6492240" y="2057400"/>
            <a:ext cx="4846320" cy="32004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TABĂRA DIN DREAPTA · OAMENII</a:t>
            </a:r>
            <a:endParaRPr lang="en-US" sz="1300" dirty="0"/>
          </a:p>
        </p:txBody>
      </p:sp>
      <p:sp>
        <p:nvSpPr>
          <p:cNvPr id="13" name="Text 11"/>
          <p:cNvSpPr/>
          <p:nvPr/>
        </p:nvSpPr>
        <p:spPr>
          <a:xfrm>
            <a:off x="6492240" y="2514600"/>
            <a:ext cx="4846320" cy="118872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Radiologii și asistenții nu pot acoperi încă un program.</a:t>
            </a:r>
            <a:endParaRPr lang="en-US" sz="2000" dirty="0"/>
          </a:p>
        </p:txBody>
      </p:sp>
      <p:sp>
        <p:nvSpPr>
          <p:cNvPr id="14" name="Text 12"/>
          <p:cNvSpPr/>
          <p:nvPr/>
        </p:nvSpPr>
        <p:spPr>
          <a:xfrm>
            <a:off x="594360" y="4114800"/>
            <a:ext cx="10972800" cy="118872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Trei minute: alegeți cele mai bune două argumente, cu datele din această parte. Un minut: le prezentați. Apoi votați care argument a fost mai bine susținut de date.</a:t>
            </a:r>
            <a:endParaRPr lang="en-US" sz="1800" dirty="0"/>
          </a:p>
        </p:txBody>
      </p:sp>
      <p:sp>
        <p:nvSpPr>
          <p:cNvPr id="15" name="Text 13"/>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ÎNTREBAREA 4 · UN TITLU REAL DE PRESĂ</a:t>
            </a:r>
            <a:endParaRPr lang="en-US" sz="1300" dirty="0"/>
          </a:p>
        </p:txBody>
      </p:sp>
      <p:sp>
        <p:nvSpPr>
          <p:cNvPr id="5" name="Shape 3"/>
          <p:cNvSpPr/>
          <p:nvPr/>
        </p:nvSpPr>
        <p:spPr>
          <a:xfrm>
            <a:off x="594360" y="1097280"/>
            <a:ext cx="10972800" cy="2514600"/>
          </a:xfrm>
          <a:prstGeom prst="rect">
            <a:avLst/>
          </a:prstGeom>
          <a:solidFill>
            <a:srgbClr val="FBF8F1"/>
          </a:solidFill>
          <a:ln w="9525">
            <a:solidFill>
              <a:srgbClr val="C9C6BE"/>
            </a:solidFill>
            <a:prstDash val="solid"/>
          </a:ln>
          <a:effectLst>
            <a:outerShdw sx="100000" sy="100000" kx="0" ky="0" algn="bl" rotWithShape="0" blurRad="63500" dist="25400" dir="5400000">
              <a:srgbClr val="000000">
                <a:alpha val="40000"/>
              </a:srgbClr>
            </a:outerShdw>
          </a:effectLst>
        </p:spPr>
        <p:txBody>
          <a:bodyPr/>
          <a:p/>
        </p:txBody>
      </p:sp>
      <p:sp>
        <p:nvSpPr>
          <p:cNvPr id="6" name="Text 4"/>
          <p:cNvSpPr/>
          <p:nvPr/>
        </p:nvSpPr>
        <p:spPr>
          <a:xfrm>
            <a:off x="914400" y="1280160"/>
            <a:ext cx="10332720" cy="32004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PUTEREA.RO · 20 NOIEMBRIE 2025</a:t>
            </a:r>
            <a:endParaRPr lang="en-US" sz="1200" dirty="0"/>
          </a:p>
        </p:txBody>
      </p:sp>
      <p:sp>
        <p:nvSpPr>
          <p:cNvPr id="7" name="Text 5"/>
          <p:cNvSpPr/>
          <p:nvPr/>
        </p:nvSpPr>
        <p:spPr>
          <a:xfrm>
            <a:off x="914400" y="1691640"/>
            <a:ext cx="10332720" cy="1783080"/>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„România, ultima din UE la cheltuielile pentru sănătate. Cât se cheltuie pentru fiecare cetățean”</a:t>
            </a:r>
            <a:endParaRPr lang="en-US" sz="3000" dirty="0"/>
          </a:p>
        </p:txBody>
      </p:sp>
      <p:sp>
        <p:nvSpPr>
          <p:cNvPr id="8" name="Shape 6"/>
          <p:cNvSpPr/>
          <p:nvPr/>
        </p:nvSpPr>
        <p:spPr>
          <a:xfrm>
            <a:off x="594360" y="3840480"/>
            <a:ext cx="5394960" cy="713232"/>
          </a:xfrm>
          <a:prstGeom prst="roundRect">
            <a:avLst>
              <a:gd name="adj" fmla="val 11538"/>
            </a:avLst>
          </a:prstGeom>
          <a:solidFill>
            <a:srgbClr val="1D1F2B"/>
          </a:solidFill>
          <a:ln w="12700">
            <a:solidFill>
              <a:srgbClr val="1D1F2B"/>
            </a:solidFill>
            <a:prstDash val="solid"/>
          </a:ln>
        </p:spPr>
        <p:txBody>
          <a:bodyPr/>
          <a:p/>
        </p:txBody>
      </p:sp>
      <p:sp>
        <p:nvSpPr>
          <p:cNvPr id="9" name="Shape 7"/>
          <p:cNvSpPr/>
          <p:nvPr/>
        </p:nvSpPr>
        <p:spPr>
          <a:xfrm>
            <a:off x="822960" y="3986784"/>
            <a:ext cx="420624" cy="420624"/>
          </a:xfrm>
          <a:prstGeom prst="ellipse">
            <a:avLst/>
          </a:prstGeom>
          <a:solidFill>
            <a:srgbClr val="FFC24B"/>
          </a:solidFill>
          <a:ln/>
        </p:spPr>
        <p:txBody>
          <a:bodyPr/>
          <a:p/>
        </p:txBody>
      </p:sp>
      <p:sp>
        <p:nvSpPr>
          <p:cNvPr id="10" name="Text 8"/>
          <p:cNvSpPr/>
          <p:nvPr/>
        </p:nvSpPr>
        <p:spPr>
          <a:xfrm>
            <a:off x="822960" y="3986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417320" y="3840480"/>
            <a:ext cx="4480560" cy="713232"/>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Da, este adevărat</a:t>
            </a:r>
            <a:endParaRPr lang="en-US" sz="1800" dirty="0"/>
          </a:p>
        </p:txBody>
      </p:sp>
      <p:sp>
        <p:nvSpPr>
          <p:cNvPr id="12" name="Shape 10"/>
          <p:cNvSpPr/>
          <p:nvPr/>
        </p:nvSpPr>
        <p:spPr>
          <a:xfrm>
            <a:off x="6172200" y="3840480"/>
            <a:ext cx="5394960" cy="713232"/>
          </a:xfrm>
          <a:prstGeom prst="roundRect">
            <a:avLst>
              <a:gd name="adj" fmla="val 11538"/>
            </a:avLst>
          </a:prstGeom>
          <a:solidFill>
            <a:srgbClr val="1D1F2B"/>
          </a:solidFill>
          <a:ln w="12700">
            <a:solidFill>
              <a:srgbClr val="1D1F2B"/>
            </a:solidFill>
            <a:prstDash val="solid"/>
          </a:ln>
        </p:spPr>
        <p:txBody>
          <a:bodyPr/>
          <a:p/>
        </p:txBody>
      </p:sp>
      <p:sp>
        <p:nvSpPr>
          <p:cNvPr id="13" name="Shape 11"/>
          <p:cNvSpPr/>
          <p:nvPr/>
        </p:nvSpPr>
        <p:spPr>
          <a:xfrm>
            <a:off x="6400800" y="3986784"/>
            <a:ext cx="420624" cy="420624"/>
          </a:xfrm>
          <a:prstGeom prst="ellipse">
            <a:avLst/>
          </a:prstGeom>
          <a:solidFill>
            <a:srgbClr val="FFC24B"/>
          </a:solidFill>
          <a:ln/>
        </p:spPr>
        <p:txBody>
          <a:bodyPr/>
          <a:p/>
        </p:txBody>
      </p:sp>
      <p:sp>
        <p:nvSpPr>
          <p:cNvPr id="14" name="Text 12"/>
          <p:cNvSpPr/>
          <p:nvPr/>
        </p:nvSpPr>
        <p:spPr>
          <a:xfrm>
            <a:off x="6400800" y="3986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6995160" y="3840480"/>
            <a:ext cx="4480560" cy="713232"/>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Adevărat numai pe o măsură</a:t>
            </a:r>
            <a:endParaRPr lang="en-US" sz="1800" dirty="0"/>
          </a:p>
        </p:txBody>
      </p:sp>
      <p:sp>
        <p:nvSpPr>
          <p:cNvPr id="16" name="Shape 14"/>
          <p:cNvSpPr/>
          <p:nvPr/>
        </p:nvSpPr>
        <p:spPr>
          <a:xfrm>
            <a:off x="594360" y="4681728"/>
            <a:ext cx="5394960" cy="713232"/>
          </a:xfrm>
          <a:prstGeom prst="roundRect">
            <a:avLst>
              <a:gd name="adj" fmla="val 11538"/>
            </a:avLst>
          </a:prstGeom>
          <a:solidFill>
            <a:srgbClr val="1D1F2B"/>
          </a:solidFill>
          <a:ln w="12700">
            <a:solidFill>
              <a:srgbClr val="1D1F2B"/>
            </a:solidFill>
            <a:prstDash val="solid"/>
          </a:ln>
        </p:spPr>
        <p:txBody>
          <a:bodyPr/>
          <a:p/>
        </p:txBody>
      </p:sp>
      <p:sp>
        <p:nvSpPr>
          <p:cNvPr id="17" name="Shape 15"/>
          <p:cNvSpPr/>
          <p:nvPr/>
        </p:nvSpPr>
        <p:spPr>
          <a:xfrm>
            <a:off x="822960" y="4828032"/>
            <a:ext cx="420624" cy="420624"/>
          </a:xfrm>
          <a:prstGeom prst="ellipse">
            <a:avLst/>
          </a:prstGeom>
          <a:solidFill>
            <a:srgbClr val="FFC24B"/>
          </a:solidFill>
          <a:ln/>
        </p:spPr>
        <p:txBody>
          <a:bodyPr/>
          <a:p/>
        </p:txBody>
      </p:sp>
      <p:sp>
        <p:nvSpPr>
          <p:cNvPr id="18" name="Text 16"/>
          <p:cNvSpPr/>
          <p:nvPr/>
        </p:nvSpPr>
        <p:spPr>
          <a:xfrm>
            <a:off x="822960" y="48280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1417320" y="4681728"/>
            <a:ext cx="4480560" cy="713232"/>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Fals</a:t>
            </a:r>
            <a:endParaRPr lang="en-US" sz="1800" dirty="0"/>
          </a:p>
        </p:txBody>
      </p:sp>
      <p:sp>
        <p:nvSpPr>
          <p:cNvPr id="20" name="Shape 18"/>
          <p:cNvSpPr/>
          <p:nvPr/>
        </p:nvSpPr>
        <p:spPr>
          <a:xfrm>
            <a:off x="6172200" y="4681728"/>
            <a:ext cx="5394960" cy="713232"/>
          </a:xfrm>
          <a:prstGeom prst="roundRect">
            <a:avLst>
              <a:gd name="adj" fmla="val 11538"/>
            </a:avLst>
          </a:prstGeom>
          <a:solidFill>
            <a:srgbClr val="1D1F2B"/>
          </a:solidFill>
          <a:ln w="12700">
            <a:solidFill>
              <a:srgbClr val="1D1F2B"/>
            </a:solidFill>
            <a:prstDash val="solid"/>
          </a:ln>
        </p:spPr>
        <p:txBody>
          <a:bodyPr/>
          <a:p/>
        </p:txBody>
      </p:sp>
      <p:sp>
        <p:nvSpPr>
          <p:cNvPr id="21" name="Shape 19"/>
          <p:cNvSpPr/>
          <p:nvPr/>
        </p:nvSpPr>
        <p:spPr>
          <a:xfrm>
            <a:off x="6400800" y="4828032"/>
            <a:ext cx="420624" cy="420624"/>
          </a:xfrm>
          <a:prstGeom prst="ellipse">
            <a:avLst/>
          </a:prstGeom>
          <a:solidFill>
            <a:srgbClr val="FFC24B"/>
          </a:solidFill>
          <a:ln/>
        </p:spPr>
        <p:txBody>
          <a:bodyPr/>
          <a:p/>
        </p:txBody>
      </p:sp>
      <p:sp>
        <p:nvSpPr>
          <p:cNvPr id="22" name="Text 20"/>
          <p:cNvSpPr/>
          <p:nvPr/>
        </p:nvSpPr>
        <p:spPr>
          <a:xfrm>
            <a:off x="6400800" y="48280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3" name="Text 21"/>
          <p:cNvSpPr/>
          <p:nvPr/>
        </p:nvSpPr>
        <p:spPr>
          <a:xfrm>
            <a:off x="6995160" y="4681728"/>
            <a:ext cx="4480560" cy="713232"/>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Nu se poate spune fără sursă</a:t>
            </a:r>
            <a:endParaRPr lang="en-US" sz="1800" dirty="0"/>
          </a:p>
        </p:txBody>
      </p:sp>
      <p:sp>
        <p:nvSpPr>
          <p:cNvPr id="24" name="Text 22"/>
          <p:cNvSpPr/>
          <p:nvPr/>
        </p:nvSpPr>
        <p:spPr>
          <a:xfrm>
            <a:off x="594360" y="5577840"/>
            <a:ext cx="1097280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Ați crede acest titlu? Răspundeți pe telefon, la codul afișat.</a:t>
            </a:r>
            <a:endParaRPr lang="en-US" sz="1500" dirty="0"/>
          </a:p>
        </p:txBody>
      </p:sp>
      <p:sp>
        <p:nvSpPr>
          <p:cNvPr id="25" name="Text 23"/>
          <p:cNvSpPr/>
          <p:nvPr/>
        </p:nvSpPr>
        <p:spPr>
          <a:xfrm>
            <a:off x="594360" y="6172200"/>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Sursa: Puterea.ro, 20 noiembrie 2025 (registrul sursei: S092). Titlul este reprodus întocmai.</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TITLUL, VERIFICAT CU PROFILUL DE ȚARĂ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Adevărat pe o măsură, nu pe toate</a:t>
            </a:r>
            <a:endParaRPr lang="en-US" sz="3200" dirty="0"/>
          </a:p>
        </p:txBody>
      </p:sp>
      <p:sp>
        <p:nvSpPr>
          <p:cNvPr id="4" name="Shape 2"/>
          <p:cNvSpPr/>
          <p:nvPr/>
        </p:nvSpPr>
        <p:spPr>
          <a:xfrm>
            <a:off x="594360" y="1600200"/>
            <a:ext cx="3520440" cy="3337560"/>
          </a:xfrm>
          <a:prstGeom prst="roundRect">
            <a:avLst>
              <a:gd name="adj" fmla="val 2466"/>
            </a:avLst>
          </a:prstGeom>
          <a:solidFill>
            <a:srgbClr val="ECEAE4"/>
          </a:solidFill>
          <a:ln w="12700">
            <a:solidFill>
              <a:srgbClr val="ECEAE4"/>
            </a:solidFill>
            <a:prstDash val="solid"/>
          </a:ln>
        </p:spPr>
        <p:txBody>
          <a:bodyPr/>
          <a:p/>
        </p:txBody>
      </p:sp>
      <p:sp>
        <p:nvSpPr>
          <p:cNvPr id="5" name="Shape 3"/>
          <p:cNvSpPr/>
          <p:nvPr/>
        </p:nvSpPr>
        <p:spPr>
          <a:xfrm>
            <a:off x="777240" y="1783080"/>
            <a:ext cx="3154680" cy="329184"/>
          </a:xfrm>
          <a:prstGeom prst="roundRect">
            <a:avLst>
              <a:gd name="adj" fmla="val 50000"/>
            </a:avLst>
          </a:prstGeom>
          <a:solidFill>
            <a:srgbClr val="27D3BE"/>
          </a:solidFill>
          <a:ln w="12700">
            <a:solidFill>
              <a:srgbClr val="27D3BE"/>
            </a:solidFill>
            <a:prstDash val="solid"/>
          </a:ln>
        </p:spPr>
        <p:txBody>
          <a:bodyPr/>
          <a:p/>
        </p:txBody>
      </p:sp>
      <p:sp>
        <p:nvSpPr>
          <p:cNvPr id="6" name="Text 4"/>
          <p:cNvSpPr/>
          <p:nvPr/>
        </p:nvSpPr>
        <p:spPr>
          <a:xfrm>
            <a:off x="777240" y="1783080"/>
            <a:ext cx="3154680" cy="329184"/>
          </a:xfrm>
          <a:prstGeom prst="rect">
            <a:avLst/>
          </a:prstGeom>
          <a:noFill/>
          <a:ln/>
        </p:spPr>
        <p:txBody>
          <a:bodyPr wrap="square" lIns="0" tIns="0" rIns="0" bIns="0" rtlCol="0" anchor="ctr"/>
          <a:lstStyle/>
          <a:p>
            <a:pPr algn="ctr" indent="0" marL="0">
              <a:buNone/>
            </a:pPr>
            <a:r>
              <a:rPr lang="en-US" sz="1050" b="1" dirty="0">
                <a:solidFill>
                  <a:srgbClr val="073B34"/>
                </a:solidFill>
                <a:latin typeface="Palatino Linotype" pitchFamily="34" charset="0"/>
                <a:ea typeface="Palatino Linotype" pitchFamily="34" charset="-122"/>
                <a:cs typeface="Palatino Linotype" pitchFamily="34" charset="-120"/>
              </a:rPr>
              <a:t>PE LOCUITOR · ADEVĂRAT</a:t>
            </a:r>
            <a:endParaRPr lang="en-US" sz="1050" dirty="0"/>
          </a:p>
        </p:txBody>
      </p:sp>
      <p:sp>
        <p:nvSpPr>
          <p:cNvPr id="7" name="Text 5"/>
          <p:cNvSpPr/>
          <p:nvPr/>
        </p:nvSpPr>
        <p:spPr>
          <a:xfrm>
            <a:off x="822960" y="2331720"/>
            <a:ext cx="3063240" cy="24688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1 800 de euro (2023): cea mai mică cheltuială din Uniune.</a:t>
            </a:r>
            <a:endParaRPr lang="en-US" sz="1600" dirty="0"/>
          </a:p>
        </p:txBody>
      </p:sp>
      <p:sp>
        <p:nvSpPr>
          <p:cNvPr id="8" name="Shape 6"/>
          <p:cNvSpPr/>
          <p:nvPr/>
        </p:nvSpPr>
        <p:spPr>
          <a:xfrm>
            <a:off x="4343400" y="1600200"/>
            <a:ext cx="3520440" cy="3337560"/>
          </a:xfrm>
          <a:prstGeom prst="roundRect">
            <a:avLst>
              <a:gd name="adj" fmla="val 2466"/>
            </a:avLst>
          </a:prstGeom>
          <a:solidFill>
            <a:srgbClr val="ECEAE4"/>
          </a:solidFill>
          <a:ln w="12700">
            <a:solidFill>
              <a:srgbClr val="ECEAE4"/>
            </a:solidFill>
            <a:prstDash val="solid"/>
          </a:ln>
        </p:spPr>
        <p:txBody>
          <a:bodyPr/>
          <a:p/>
        </p:txBody>
      </p:sp>
      <p:sp>
        <p:nvSpPr>
          <p:cNvPr id="9" name="Shape 7"/>
          <p:cNvSpPr/>
          <p:nvPr/>
        </p:nvSpPr>
        <p:spPr>
          <a:xfrm>
            <a:off x="4526280" y="1783080"/>
            <a:ext cx="3154680" cy="329184"/>
          </a:xfrm>
          <a:prstGeom prst="roundRect">
            <a:avLst>
              <a:gd name="adj" fmla="val 50000"/>
            </a:avLst>
          </a:prstGeom>
          <a:solidFill>
            <a:srgbClr val="FFC24B"/>
          </a:solidFill>
          <a:ln w="12700">
            <a:solidFill>
              <a:srgbClr val="FFC24B"/>
            </a:solidFill>
            <a:prstDash val="solid"/>
          </a:ln>
        </p:spPr>
        <p:txBody>
          <a:bodyPr/>
          <a:p/>
        </p:txBody>
      </p:sp>
      <p:sp>
        <p:nvSpPr>
          <p:cNvPr id="10" name="Text 8"/>
          <p:cNvSpPr/>
          <p:nvPr/>
        </p:nvSpPr>
        <p:spPr>
          <a:xfrm>
            <a:off x="4526280" y="1783080"/>
            <a:ext cx="3154680" cy="329184"/>
          </a:xfrm>
          <a:prstGeom prst="rect">
            <a:avLst/>
          </a:prstGeom>
          <a:noFill/>
          <a:ln/>
        </p:spPr>
        <p:txBody>
          <a:bodyPr wrap="square" lIns="0" tIns="0" rIns="0" bIns="0" rtlCol="0" anchor="ctr"/>
          <a:lstStyle/>
          <a:p>
            <a:pPr algn="ctr" indent="0" marL="0">
              <a:buNone/>
            </a:pPr>
            <a:r>
              <a:rPr lang="en-US" sz="1050" b="1" dirty="0">
                <a:solidFill>
                  <a:srgbClr val="3D2A00"/>
                </a:solidFill>
                <a:latin typeface="Palatino Linotype" pitchFamily="34" charset="0"/>
                <a:ea typeface="Palatino Linotype" pitchFamily="34" charset="-122"/>
                <a:cs typeface="Palatino Linotype" pitchFamily="34" charset="-120"/>
              </a:rPr>
              <a:t>CA PONDERE DIN PIB · NESUSȚINUT</a:t>
            </a:r>
            <a:endParaRPr lang="en-US" sz="1050" dirty="0"/>
          </a:p>
        </p:txBody>
      </p:sp>
      <p:sp>
        <p:nvSpPr>
          <p:cNvPr id="11" name="Text 9"/>
          <p:cNvSpPr/>
          <p:nvPr/>
        </p:nvSpPr>
        <p:spPr>
          <a:xfrm>
            <a:off x="4572000" y="2331720"/>
            <a:ext cx="3063240" cy="24688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Mult sub media europeană, dar profilul nu spune „ultima”.</a:t>
            </a:r>
            <a:endParaRPr lang="en-US" sz="1600" dirty="0"/>
          </a:p>
        </p:txBody>
      </p:sp>
      <p:sp>
        <p:nvSpPr>
          <p:cNvPr id="12" name="Shape 10"/>
          <p:cNvSpPr/>
          <p:nvPr/>
        </p:nvSpPr>
        <p:spPr>
          <a:xfrm>
            <a:off x="8092440" y="1600200"/>
            <a:ext cx="3520440" cy="3337560"/>
          </a:xfrm>
          <a:prstGeom prst="roundRect">
            <a:avLst>
              <a:gd name="adj" fmla="val 2466"/>
            </a:avLst>
          </a:prstGeom>
          <a:solidFill>
            <a:srgbClr val="ECEAE4"/>
          </a:solidFill>
          <a:ln w="12700">
            <a:solidFill>
              <a:srgbClr val="ECEAE4"/>
            </a:solidFill>
            <a:prstDash val="solid"/>
          </a:ln>
        </p:spPr>
        <p:txBody>
          <a:bodyPr/>
          <a:p/>
        </p:txBody>
      </p:sp>
      <p:sp>
        <p:nvSpPr>
          <p:cNvPr id="13" name="Shape 11"/>
          <p:cNvSpPr/>
          <p:nvPr/>
        </p:nvSpPr>
        <p:spPr>
          <a:xfrm>
            <a:off x="8275320" y="1783080"/>
            <a:ext cx="3154680" cy="329184"/>
          </a:xfrm>
          <a:prstGeom prst="roundRect">
            <a:avLst>
              <a:gd name="adj" fmla="val 50000"/>
            </a:avLst>
          </a:prstGeom>
          <a:solidFill>
            <a:srgbClr val="FF4757"/>
          </a:solidFill>
          <a:ln w="12700">
            <a:solidFill>
              <a:srgbClr val="FF4757"/>
            </a:solidFill>
            <a:prstDash val="solid"/>
          </a:ln>
        </p:spPr>
        <p:txBody>
          <a:bodyPr/>
          <a:p/>
        </p:txBody>
      </p:sp>
      <p:sp>
        <p:nvSpPr>
          <p:cNvPr id="14" name="Text 12"/>
          <p:cNvSpPr/>
          <p:nvPr/>
        </p:nvSpPr>
        <p:spPr>
          <a:xfrm>
            <a:off x="8275320" y="1783080"/>
            <a:ext cx="3154680" cy="329184"/>
          </a:xfrm>
          <a:prstGeom prst="rect">
            <a:avLst/>
          </a:prstGeom>
          <a:noFill/>
          <a:ln/>
        </p:spPr>
        <p:txBody>
          <a:bodyPr wrap="square" lIns="0" tIns="0" rIns="0" bIns="0" rtlCol="0" anchor="ctr"/>
          <a:lstStyle/>
          <a:p>
            <a:pPr algn="ctr" indent="0" marL="0">
              <a:buNone/>
            </a:pPr>
            <a:r>
              <a:rPr lang="en-US" sz="1050" b="1" dirty="0">
                <a:solidFill>
                  <a:srgbClr val="2E060B"/>
                </a:solidFill>
                <a:latin typeface="Palatino Linotype" pitchFamily="34" charset="0"/>
                <a:ea typeface="Palatino Linotype" pitchFamily="34" charset="-122"/>
                <a:cs typeface="Palatino Linotype" pitchFamily="34" charset="-120"/>
              </a:rPr>
              <a:t>CIFRELE ARTICOLULUI · NECOMPARABILE</a:t>
            </a:r>
            <a:endParaRPr lang="en-US" sz="1050" dirty="0"/>
          </a:p>
        </p:txBody>
      </p:sp>
      <p:sp>
        <p:nvSpPr>
          <p:cNvPr id="15" name="Text 13"/>
          <p:cNvSpPr/>
          <p:nvPr/>
        </p:nvSpPr>
        <p:spPr>
          <a:xfrm>
            <a:off x="8321040" y="2331720"/>
            <a:ext cx="3063240" cy="24688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971 de euro, față de peste 3 800: fără an, fără ajustare.</a:t>
            </a:r>
            <a:endParaRPr lang="en-US" sz="1600" dirty="0"/>
          </a:p>
        </p:txBody>
      </p:sp>
      <p:sp>
        <p:nvSpPr>
          <p:cNvPr id="16" name="Text 14"/>
          <p:cNvSpPr/>
          <p:nvPr/>
        </p:nvSpPr>
        <p:spPr>
          <a:xfrm>
            <a:off x="594360" y="5212080"/>
            <a:ext cx="10972800" cy="54864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Pe hartă se scrie fraza verificată, cu sursa, nu titlul.</a:t>
            </a:r>
            <a:endParaRPr lang="en-US" sz="21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Puterea.ro (S092); OCDE și Observatorul European, profilul de țară România, 2025.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2011680"/>
            <a:ext cx="10972800" cy="1188720"/>
          </a:xfrm>
          <a:prstGeom prst="rect">
            <a:avLst/>
          </a:prstGeom>
          <a:noFill/>
          <a:ln/>
        </p:spPr>
        <p:txBody>
          <a:bodyPr wrap="square" lIns="0" tIns="0" rIns="0" bIns="0" rtlCol="0" anchor="ctr"/>
          <a:lstStyle/>
          <a:p>
            <a:pPr indent="0" marL="0">
              <a:buNone/>
            </a:pPr>
            <a:r>
              <a:rPr lang="en-US" sz="5400" b="1" dirty="0">
                <a:solidFill>
                  <a:srgbClr val="073B34"/>
                </a:solidFill>
                <a:latin typeface="Palatino Linotype" pitchFamily="34" charset="0"/>
                <a:ea typeface="Palatino Linotype" pitchFamily="34" charset="-122"/>
                <a:cs typeface="Palatino Linotype" pitchFamily="34" charset="-120"/>
              </a:rPr>
              <a:t>Zece minute de pauză</a:t>
            </a:r>
            <a:endParaRPr lang="en-US" sz="5400" dirty="0"/>
          </a:p>
        </p:txBody>
      </p:sp>
      <p:sp>
        <p:nvSpPr>
          <p:cNvPr id="3" name="Text 1"/>
          <p:cNvSpPr/>
          <p:nvPr/>
        </p:nvSpPr>
        <p:spPr>
          <a:xfrm>
            <a:off x="594360" y="3383280"/>
            <a:ext cx="10972800" cy="731520"/>
          </a:xfrm>
          <a:prstGeom prst="rect">
            <a:avLst/>
          </a:prstGeom>
          <a:noFill/>
          <a:ln/>
        </p:spPr>
        <p:txBody>
          <a:bodyPr wrap="square" lIns="0" tIns="0" rIns="0" bIns="0" rtlCol="0" anchor="t"/>
          <a:lstStyle/>
          <a:p>
            <a:pPr indent="0" marL="0">
              <a:buNone/>
            </a:pPr>
            <a:r>
              <a:rPr lang="en-US" sz="2400" dirty="0">
                <a:solidFill>
                  <a:srgbClr val="073B34"/>
                </a:solidFill>
                <a:latin typeface="Palatino Linotype" pitchFamily="34" charset="0"/>
                <a:ea typeface="Palatino Linotype" pitchFamily="34" charset="-122"/>
                <a:cs typeface="Palatino Linotype" pitchFamily="34" charset="-120"/>
              </a:rPr>
              <a:t>Urmează: de unde vin pacienții.</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UNDE VIN PACIENȚII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spital, mai multe arii</a:t>
            </a:r>
            <a:endParaRPr lang="en-US" sz="3200" dirty="0"/>
          </a:p>
        </p:txBody>
      </p:sp>
      <p:sp>
        <p:nvSpPr>
          <p:cNvPr id="4" name="Text 2"/>
          <p:cNvSpPr/>
          <p:nvPr/>
        </p:nvSpPr>
        <p:spPr>
          <a:xfrm>
            <a:off x="594360" y="1508760"/>
            <a:ext cx="10972800" cy="7772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Pentru un copil cu cancer, părinții călătoresc oricât; controlul copilului sănătos se face aproape de casă.</a:t>
            </a:r>
            <a:endParaRPr lang="en-US" sz="1700" dirty="0"/>
          </a:p>
        </p:txBody>
      </p:sp>
      <p:sp>
        <p:nvSpPr>
          <p:cNvPr id="5" name="Shape 3"/>
          <p:cNvSpPr/>
          <p:nvPr/>
        </p:nvSpPr>
        <p:spPr>
          <a:xfrm>
            <a:off x="594360" y="2468880"/>
            <a:ext cx="2834640" cy="640080"/>
          </a:xfrm>
          <a:prstGeom prst="roundRect">
            <a:avLst>
              <a:gd name="adj" fmla="val 12857"/>
            </a:avLst>
          </a:prstGeom>
          <a:solidFill>
            <a:srgbClr val="1D1F2B"/>
          </a:solidFill>
          <a:ln w="12700">
            <a:solidFill>
              <a:srgbClr val="1D1F2B"/>
            </a:solidFill>
            <a:prstDash val="solid"/>
          </a:ln>
        </p:spPr>
        <p:txBody>
          <a:bodyPr/>
          <a:p/>
        </p:txBody>
      </p:sp>
      <p:sp>
        <p:nvSpPr>
          <p:cNvPr id="6" name="Text 4"/>
          <p:cNvSpPr/>
          <p:nvPr/>
        </p:nvSpPr>
        <p:spPr>
          <a:xfrm>
            <a:off x="777240" y="2468880"/>
            <a:ext cx="2514600" cy="640080"/>
          </a:xfrm>
          <a:prstGeom prst="rect">
            <a:avLst/>
          </a:prstGeom>
          <a:noFill/>
          <a:ln/>
        </p:spPr>
        <p:txBody>
          <a:bodyPr wrap="square" lIns="0" tIns="0" rIns="0" bIns="0" rtlCol="0" anchor="ctr"/>
          <a:lstStyle/>
          <a:p>
            <a:pPr indent="0" marL="0">
              <a:buNone/>
            </a:pPr>
            <a:r>
              <a:rPr lang="en-US" sz="1350" b="1" dirty="0">
                <a:solidFill>
                  <a:srgbClr val="FFFFFF"/>
                </a:solidFill>
                <a:latin typeface="Palatino Linotype" pitchFamily="34" charset="0"/>
                <a:ea typeface="Palatino Linotype" pitchFamily="34" charset="-122"/>
                <a:cs typeface="Palatino Linotype" pitchFamily="34" charset="-120"/>
              </a:rPr>
              <a:t>Linia de servicii</a:t>
            </a:r>
            <a:endParaRPr lang="en-US" sz="1350" dirty="0"/>
          </a:p>
        </p:txBody>
      </p:sp>
      <p:sp>
        <p:nvSpPr>
          <p:cNvPr id="7" name="Shape 5"/>
          <p:cNvSpPr/>
          <p:nvPr/>
        </p:nvSpPr>
        <p:spPr>
          <a:xfrm>
            <a:off x="3520440" y="2468880"/>
            <a:ext cx="3977640" cy="640080"/>
          </a:xfrm>
          <a:prstGeom prst="roundRect">
            <a:avLst>
              <a:gd name="adj" fmla="val 12857"/>
            </a:avLst>
          </a:prstGeom>
          <a:solidFill>
            <a:srgbClr val="1D1F2B"/>
          </a:solidFill>
          <a:ln w="12700">
            <a:solidFill>
              <a:srgbClr val="1D1F2B"/>
            </a:solidFill>
            <a:prstDash val="solid"/>
          </a:ln>
        </p:spPr>
        <p:txBody>
          <a:bodyPr/>
          <a:p/>
        </p:txBody>
      </p:sp>
      <p:sp>
        <p:nvSpPr>
          <p:cNvPr id="8" name="Text 6"/>
          <p:cNvSpPr/>
          <p:nvPr/>
        </p:nvSpPr>
        <p:spPr>
          <a:xfrm>
            <a:off x="3703320" y="2468880"/>
            <a:ext cx="3657600" cy="640080"/>
          </a:xfrm>
          <a:prstGeom prst="rect">
            <a:avLst/>
          </a:prstGeom>
          <a:noFill/>
          <a:ln/>
        </p:spPr>
        <p:txBody>
          <a:bodyPr wrap="square" lIns="0" tIns="0" rIns="0" bIns="0" rtlCol="0" anchor="ctr"/>
          <a:lstStyle/>
          <a:p>
            <a:pPr indent="0" marL="0">
              <a:buNone/>
            </a:pPr>
            <a:r>
              <a:rPr lang="en-US" sz="1350" b="1" dirty="0">
                <a:solidFill>
                  <a:srgbClr val="FFFFFF"/>
                </a:solidFill>
                <a:latin typeface="Palatino Linotype" pitchFamily="34" charset="0"/>
                <a:ea typeface="Palatino Linotype" pitchFamily="34" charset="-122"/>
                <a:cs typeface="Palatino Linotype" pitchFamily="34" charset="-120"/>
              </a:rPr>
              <a:t>Ce mărește aria</a:t>
            </a:r>
            <a:endParaRPr lang="en-US" sz="1350" dirty="0"/>
          </a:p>
        </p:txBody>
      </p:sp>
      <p:sp>
        <p:nvSpPr>
          <p:cNvPr id="9" name="Shape 7"/>
          <p:cNvSpPr/>
          <p:nvPr/>
        </p:nvSpPr>
        <p:spPr>
          <a:xfrm>
            <a:off x="7589520" y="2468880"/>
            <a:ext cx="3977640" cy="640080"/>
          </a:xfrm>
          <a:prstGeom prst="roundRect">
            <a:avLst>
              <a:gd name="adj" fmla="val 12857"/>
            </a:avLst>
          </a:prstGeom>
          <a:solidFill>
            <a:srgbClr val="1D1F2B"/>
          </a:solidFill>
          <a:ln w="12700">
            <a:solidFill>
              <a:srgbClr val="1D1F2B"/>
            </a:solidFill>
            <a:prstDash val="solid"/>
          </a:ln>
        </p:spPr>
        <p:txBody>
          <a:bodyPr/>
          <a:p/>
        </p:txBody>
      </p:sp>
      <p:sp>
        <p:nvSpPr>
          <p:cNvPr id="10" name="Text 8"/>
          <p:cNvSpPr/>
          <p:nvPr/>
        </p:nvSpPr>
        <p:spPr>
          <a:xfrm>
            <a:off x="7772400" y="2468880"/>
            <a:ext cx="3657600" cy="640080"/>
          </a:xfrm>
          <a:prstGeom prst="rect">
            <a:avLst/>
          </a:prstGeom>
          <a:noFill/>
          <a:ln/>
        </p:spPr>
        <p:txBody>
          <a:bodyPr wrap="square" lIns="0" tIns="0" rIns="0" bIns="0" rtlCol="0" anchor="ctr"/>
          <a:lstStyle/>
          <a:p>
            <a:pPr indent="0" marL="0">
              <a:buNone/>
            </a:pPr>
            <a:r>
              <a:rPr lang="en-US" sz="1350" b="1" dirty="0">
                <a:solidFill>
                  <a:srgbClr val="FFFFFF"/>
                </a:solidFill>
                <a:latin typeface="Palatino Linotype" pitchFamily="34" charset="0"/>
                <a:ea typeface="Palatino Linotype" pitchFamily="34" charset="-122"/>
                <a:cs typeface="Palatino Linotype" pitchFamily="34" charset="-120"/>
              </a:rPr>
              <a:t>Ce micșorează aria</a:t>
            </a:r>
            <a:endParaRPr lang="en-US" sz="1350" dirty="0"/>
          </a:p>
        </p:txBody>
      </p:sp>
      <p:sp>
        <p:nvSpPr>
          <p:cNvPr id="11" name="Shape 9"/>
          <p:cNvSpPr/>
          <p:nvPr/>
        </p:nvSpPr>
        <p:spPr>
          <a:xfrm>
            <a:off x="594360" y="3182112"/>
            <a:ext cx="2834640" cy="640080"/>
          </a:xfrm>
          <a:prstGeom prst="roundRect">
            <a:avLst>
              <a:gd name="adj" fmla="val 12857"/>
            </a:avLst>
          </a:prstGeom>
          <a:solidFill>
            <a:srgbClr val="ECEAE4"/>
          </a:solidFill>
          <a:ln w="12700">
            <a:solidFill>
              <a:srgbClr val="ECEAE4"/>
            </a:solidFill>
            <a:prstDash val="solid"/>
          </a:ln>
        </p:spPr>
        <p:txBody>
          <a:bodyPr/>
          <a:p/>
        </p:txBody>
      </p:sp>
      <p:sp>
        <p:nvSpPr>
          <p:cNvPr id="12" name="Text 10"/>
          <p:cNvSpPr/>
          <p:nvPr/>
        </p:nvSpPr>
        <p:spPr>
          <a:xfrm>
            <a:off x="777240" y="3182112"/>
            <a:ext cx="2514600" cy="64008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Urgențele</a:t>
            </a:r>
            <a:endParaRPr lang="en-US" sz="1550" dirty="0"/>
          </a:p>
        </p:txBody>
      </p:sp>
      <p:sp>
        <p:nvSpPr>
          <p:cNvPr id="13" name="Shape 11"/>
          <p:cNvSpPr/>
          <p:nvPr/>
        </p:nvSpPr>
        <p:spPr>
          <a:xfrm>
            <a:off x="3520440" y="3182112"/>
            <a:ext cx="3977640" cy="640080"/>
          </a:xfrm>
          <a:prstGeom prst="roundRect">
            <a:avLst>
              <a:gd name="adj" fmla="val 12857"/>
            </a:avLst>
          </a:prstGeom>
          <a:solidFill>
            <a:srgbClr val="ECEAE4"/>
          </a:solidFill>
          <a:ln w="12700">
            <a:solidFill>
              <a:srgbClr val="ECEAE4"/>
            </a:solidFill>
            <a:prstDash val="solid"/>
          </a:ln>
        </p:spPr>
        <p:txBody>
          <a:bodyPr/>
          <a:p/>
        </p:txBody>
      </p:sp>
      <p:sp>
        <p:nvSpPr>
          <p:cNvPr id="14" name="Text 12"/>
          <p:cNvSpPr/>
          <p:nvPr/>
        </p:nvSpPr>
        <p:spPr>
          <a:xfrm>
            <a:off x="3703320" y="3182112"/>
            <a:ext cx="3657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dotările critice, reputația</a:t>
            </a:r>
            <a:endParaRPr lang="en-US" sz="1550" dirty="0"/>
          </a:p>
        </p:txBody>
      </p:sp>
      <p:sp>
        <p:nvSpPr>
          <p:cNvPr id="15" name="Shape 13"/>
          <p:cNvSpPr/>
          <p:nvPr/>
        </p:nvSpPr>
        <p:spPr>
          <a:xfrm>
            <a:off x="7589520" y="3182112"/>
            <a:ext cx="3977640" cy="640080"/>
          </a:xfrm>
          <a:prstGeom prst="roundRect">
            <a:avLst>
              <a:gd name="adj" fmla="val 12857"/>
            </a:avLst>
          </a:prstGeom>
          <a:solidFill>
            <a:srgbClr val="ECEAE4"/>
          </a:solidFill>
          <a:ln w="12700">
            <a:solidFill>
              <a:srgbClr val="ECEAE4"/>
            </a:solidFill>
            <a:prstDash val="solid"/>
          </a:ln>
        </p:spPr>
        <p:txBody>
          <a:bodyPr/>
          <a:p/>
        </p:txBody>
      </p:sp>
      <p:sp>
        <p:nvSpPr>
          <p:cNvPr id="16" name="Text 14"/>
          <p:cNvSpPr/>
          <p:nvPr/>
        </p:nvSpPr>
        <p:spPr>
          <a:xfrm>
            <a:off x="7772400" y="3182112"/>
            <a:ext cx="3657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durata drumului, barierele rutiere</a:t>
            </a:r>
            <a:endParaRPr lang="en-US" sz="1550" dirty="0"/>
          </a:p>
        </p:txBody>
      </p:sp>
      <p:sp>
        <p:nvSpPr>
          <p:cNvPr id="17" name="Shape 15"/>
          <p:cNvSpPr/>
          <p:nvPr/>
        </p:nvSpPr>
        <p:spPr>
          <a:xfrm>
            <a:off x="594360" y="3895344"/>
            <a:ext cx="2834640" cy="640080"/>
          </a:xfrm>
          <a:prstGeom prst="roundRect">
            <a:avLst>
              <a:gd name="adj" fmla="val 12857"/>
            </a:avLst>
          </a:prstGeom>
          <a:solidFill>
            <a:srgbClr val="F9F8F5"/>
          </a:solidFill>
          <a:ln w="12700">
            <a:solidFill>
              <a:srgbClr val="F9F8F5"/>
            </a:solidFill>
            <a:prstDash val="solid"/>
          </a:ln>
        </p:spPr>
        <p:txBody>
          <a:bodyPr/>
          <a:p/>
        </p:txBody>
      </p:sp>
      <p:sp>
        <p:nvSpPr>
          <p:cNvPr id="18" name="Text 16"/>
          <p:cNvSpPr/>
          <p:nvPr/>
        </p:nvSpPr>
        <p:spPr>
          <a:xfrm>
            <a:off x="777240" y="3895344"/>
            <a:ext cx="2514600" cy="64008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Chirurgia de o zi</a:t>
            </a:r>
            <a:endParaRPr lang="en-US" sz="1550" dirty="0"/>
          </a:p>
        </p:txBody>
      </p:sp>
      <p:sp>
        <p:nvSpPr>
          <p:cNvPr id="19" name="Shape 17"/>
          <p:cNvSpPr/>
          <p:nvPr/>
        </p:nvSpPr>
        <p:spPr>
          <a:xfrm>
            <a:off x="3520440" y="3895344"/>
            <a:ext cx="3977640" cy="640080"/>
          </a:xfrm>
          <a:prstGeom prst="roundRect">
            <a:avLst>
              <a:gd name="adj" fmla="val 12857"/>
            </a:avLst>
          </a:prstGeom>
          <a:solidFill>
            <a:srgbClr val="F9F8F5"/>
          </a:solidFill>
          <a:ln w="12700">
            <a:solidFill>
              <a:srgbClr val="F9F8F5"/>
            </a:solidFill>
            <a:prstDash val="solid"/>
          </a:ln>
        </p:spPr>
        <p:txBody>
          <a:bodyPr/>
          <a:p/>
        </p:txBody>
      </p:sp>
      <p:sp>
        <p:nvSpPr>
          <p:cNvPr id="20" name="Text 18"/>
          <p:cNvSpPr/>
          <p:nvPr/>
        </p:nvSpPr>
        <p:spPr>
          <a:xfrm>
            <a:off x="3703320" y="3895344"/>
            <a:ext cx="3657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programul prelungit, așteptarea scurtă</a:t>
            </a:r>
            <a:endParaRPr lang="en-US" sz="1550" dirty="0"/>
          </a:p>
        </p:txBody>
      </p:sp>
      <p:sp>
        <p:nvSpPr>
          <p:cNvPr id="21" name="Shape 19"/>
          <p:cNvSpPr/>
          <p:nvPr/>
        </p:nvSpPr>
        <p:spPr>
          <a:xfrm>
            <a:off x="7589520" y="3895344"/>
            <a:ext cx="3977640" cy="640080"/>
          </a:xfrm>
          <a:prstGeom prst="roundRect">
            <a:avLst>
              <a:gd name="adj" fmla="val 12857"/>
            </a:avLst>
          </a:prstGeom>
          <a:solidFill>
            <a:srgbClr val="F9F8F5"/>
          </a:solidFill>
          <a:ln w="12700">
            <a:solidFill>
              <a:srgbClr val="F9F8F5"/>
            </a:solidFill>
            <a:prstDash val="solid"/>
          </a:ln>
        </p:spPr>
        <p:txBody>
          <a:bodyPr/>
          <a:p/>
        </p:txBody>
      </p:sp>
      <p:sp>
        <p:nvSpPr>
          <p:cNvPr id="22" name="Text 20"/>
          <p:cNvSpPr/>
          <p:nvPr/>
        </p:nvSpPr>
        <p:spPr>
          <a:xfrm>
            <a:off x="7772400" y="3895344"/>
            <a:ext cx="3657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programul limitat, așteptarea lungă</a:t>
            </a:r>
            <a:endParaRPr lang="en-US" sz="1550" dirty="0"/>
          </a:p>
        </p:txBody>
      </p:sp>
      <p:sp>
        <p:nvSpPr>
          <p:cNvPr id="23" name="Shape 21"/>
          <p:cNvSpPr/>
          <p:nvPr/>
        </p:nvSpPr>
        <p:spPr>
          <a:xfrm>
            <a:off x="594360" y="4608576"/>
            <a:ext cx="2834640" cy="640080"/>
          </a:xfrm>
          <a:prstGeom prst="roundRect">
            <a:avLst>
              <a:gd name="adj" fmla="val 12857"/>
            </a:avLst>
          </a:prstGeom>
          <a:solidFill>
            <a:srgbClr val="ECEAE4"/>
          </a:solidFill>
          <a:ln w="12700">
            <a:solidFill>
              <a:srgbClr val="ECEAE4"/>
            </a:solidFill>
            <a:prstDash val="solid"/>
          </a:ln>
        </p:spPr>
        <p:txBody>
          <a:bodyPr/>
          <a:p/>
        </p:txBody>
      </p:sp>
      <p:sp>
        <p:nvSpPr>
          <p:cNvPr id="24" name="Text 22"/>
          <p:cNvSpPr/>
          <p:nvPr/>
        </p:nvSpPr>
        <p:spPr>
          <a:xfrm>
            <a:off x="777240" y="4608576"/>
            <a:ext cx="2514600" cy="64008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Oncologia</a:t>
            </a:r>
            <a:endParaRPr lang="en-US" sz="1550" dirty="0"/>
          </a:p>
        </p:txBody>
      </p:sp>
      <p:sp>
        <p:nvSpPr>
          <p:cNvPr id="25" name="Shape 23"/>
          <p:cNvSpPr/>
          <p:nvPr/>
        </p:nvSpPr>
        <p:spPr>
          <a:xfrm>
            <a:off x="3520440" y="4608576"/>
            <a:ext cx="3977640" cy="640080"/>
          </a:xfrm>
          <a:prstGeom prst="roundRect">
            <a:avLst>
              <a:gd name="adj" fmla="val 12857"/>
            </a:avLst>
          </a:prstGeom>
          <a:solidFill>
            <a:srgbClr val="ECEAE4"/>
          </a:solidFill>
          <a:ln w="12700">
            <a:solidFill>
              <a:srgbClr val="ECEAE4"/>
            </a:solidFill>
            <a:prstDash val="solid"/>
          </a:ln>
        </p:spPr>
        <p:txBody>
          <a:bodyPr/>
          <a:p/>
        </p:txBody>
      </p:sp>
      <p:sp>
        <p:nvSpPr>
          <p:cNvPr id="26" name="Text 24"/>
          <p:cNvSpPr/>
          <p:nvPr/>
        </p:nvSpPr>
        <p:spPr>
          <a:xfrm>
            <a:off x="3703320" y="4608576"/>
            <a:ext cx="3657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tehnologia rară, echipa cunoscută</a:t>
            </a:r>
            <a:endParaRPr lang="en-US" sz="1550" dirty="0"/>
          </a:p>
        </p:txBody>
      </p:sp>
      <p:sp>
        <p:nvSpPr>
          <p:cNvPr id="27" name="Shape 25"/>
          <p:cNvSpPr/>
          <p:nvPr/>
        </p:nvSpPr>
        <p:spPr>
          <a:xfrm>
            <a:off x="7589520" y="4608576"/>
            <a:ext cx="3977640" cy="640080"/>
          </a:xfrm>
          <a:prstGeom prst="roundRect">
            <a:avLst>
              <a:gd name="adj" fmla="val 12857"/>
            </a:avLst>
          </a:prstGeom>
          <a:solidFill>
            <a:srgbClr val="ECEAE4"/>
          </a:solidFill>
          <a:ln w="12700">
            <a:solidFill>
              <a:srgbClr val="ECEAE4"/>
            </a:solidFill>
            <a:prstDash val="solid"/>
          </a:ln>
        </p:spPr>
        <p:txBody>
          <a:bodyPr/>
          <a:p/>
        </p:txBody>
      </p:sp>
      <p:sp>
        <p:nvSpPr>
          <p:cNvPr id="28" name="Text 26"/>
          <p:cNvSpPr/>
          <p:nvPr/>
        </p:nvSpPr>
        <p:spPr>
          <a:xfrm>
            <a:off x="7772400" y="4608576"/>
            <a:ext cx="3657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rar ceva</a:t>
            </a:r>
            <a:endParaRPr lang="en-US" sz="1550" dirty="0"/>
          </a:p>
        </p:txBody>
      </p:sp>
      <p:sp>
        <p:nvSpPr>
          <p:cNvPr id="29" name="Shape 27"/>
          <p:cNvSpPr/>
          <p:nvPr/>
        </p:nvSpPr>
        <p:spPr>
          <a:xfrm>
            <a:off x="594360" y="5321808"/>
            <a:ext cx="2834640" cy="640080"/>
          </a:xfrm>
          <a:prstGeom prst="roundRect">
            <a:avLst>
              <a:gd name="adj" fmla="val 12857"/>
            </a:avLst>
          </a:prstGeom>
          <a:solidFill>
            <a:srgbClr val="F9F8F5"/>
          </a:solidFill>
          <a:ln w="12700">
            <a:solidFill>
              <a:srgbClr val="F9F8F5"/>
            </a:solidFill>
            <a:prstDash val="solid"/>
          </a:ln>
        </p:spPr>
        <p:txBody>
          <a:bodyPr/>
          <a:p/>
        </p:txBody>
      </p:sp>
      <p:sp>
        <p:nvSpPr>
          <p:cNvPr id="30" name="Text 28"/>
          <p:cNvSpPr/>
          <p:nvPr/>
        </p:nvSpPr>
        <p:spPr>
          <a:xfrm>
            <a:off x="777240" y="5321808"/>
            <a:ext cx="2514600" cy="64008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Recuperarea</a:t>
            </a:r>
            <a:endParaRPr lang="en-US" sz="1550" dirty="0"/>
          </a:p>
        </p:txBody>
      </p:sp>
      <p:sp>
        <p:nvSpPr>
          <p:cNvPr id="31" name="Shape 29"/>
          <p:cNvSpPr/>
          <p:nvPr/>
        </p:nvSpPr>
        <p:spPr>
          <a:xfrm>
            <a:off x="3520440" y="5321808"/>
            <a:ext cx="3977640" cy="640080"/>
          </a:xfrm>
          <a:prstGeom prst="roundRect">
            <a:avLst>
              <a:gd name="adj" fmla="val 12857"/>
            </a:avLst>
          </a:prstGeom>
          <a:solidFill>
            <a:srgbClr val="F9F8F5"/>
          </a:solidFill>
          <a:ln w="12700">
            <a:solidFill>
              <a:srgbClr val="F9F8F5"/>
            </a:solidFill>
            <a:prstDash val="solid"/>
          </a:ln>
        </p:spPr>
        <p:txBody>
          <a:bodyPr/>
          <a:p/>
        </p:txBody>
      </p:sp>
      <p:sp>
        <p:nvSpPr>
          <p:cNvPr id="32" name="Text 30"/>
          <p:cNvSpPr/>
          <p:nvPr/>
        </p:nvSpPr>
        <p:spPr>
          <a:xfrm>
            <a:off x="3703320" y="5321808"/>
            <a:ext cx="3657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calitatea, apropierea de casă</a:t>
            </a:r>
            <a:endParaRPr lang="en-US" sz="1550" dirty="0"/>
          </a:p>
        </p:txBody>
      </p:sp>
      <p:sp>
        <p:nvSpPr>
          <p:cNvPr id="33" name="Shape 31"/>
          <p:cNvSpPr/>
          <p:nvPr/>
        </p:nvSpPr>
        <p:spPr>
          <a:xfrm>
            <a:off x="7589520" y="5321808"/>
            <a:ext cx="3977640" cy="640080"/>
          </a:xfrm>
          <a:prstGeom prst="roundRect">
            <a:avLst>
              <a:gd name="adj" fmla="val 12857"/>
            </a:avLst>
          </a:prstGeom>
          <a:solidFill>
            <a:srgbClr val="F9F8F5"/>
          </a:solidFill>
          <a:ln w="12700">
            <a:solidFill>
              <a:srgbClr val="F9F8F5"/>
            </a:solidFill>
            <a:prstDash val="solid"/>
          </a:ln>
        </p:spPr>
        <p:txBody>
          <a:bodyPr/>
          <a:p/>
        </p:txBody>
      </p:sp>
      <p:sp>
        <p:nvSpPr>
          <p:cNvPr id="34" name="Text 32"/>
          <p:cNvSpPr/>
          <p:nvPr/>
        </p:nvSpPr>
        <p:spPr>
          <a:xfrm>
            <a:off x="7772400" y="5321808"/>
            <a:ext cx="3657600" cy="6400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vizitele dese</a:t>
            </a:r>
            <a:endParaRPr lang="en-US" sz="1550" dirty="0"/>
          </a:p>
        </p:txBody>
      </p:sp>
      <p:sp>
        <p:nvSpPr>
          <p:cNvPr id="35" name="Text 3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manualul cursului, capitolul 2; prezentarea cursului.</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ÎNTREBAREA 5</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Care serviciu al spitalului județean are aria cea mai mare?</a:t>
            </a:r>
            <a:endParaRPr lang="en-US" sz="3100" dirty="0"/>
          </a:p>
        </p:txBody>
      </p:sp>
      <p:sp>
        <p:nvSpPr>
          <p:cNvPr id="6" name="Shape 4"/>
          <p:cNvSpPr/>
          <p:nvPr/>
        </p:nvSpPr>
        <p:spPr>
          <a:xfrm>
            <a:off x="594360" y="182880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7" name="Shape 5"/>
          <p:cNvSpPr/>
          <p:nvPr/>
        </p:nvSpPr>
        <p:spPr>
          <a:xfrm>
            <a:off x="868680" y="1975104"/>
            <a:ext cx="420624" cy="420624"/>
          </a:xfrm>
          <a:prstGeom prst="ellipse">
            <a:avLst/>
          </a:prstGeom>
          <a:solidFill>
            <a:srgbClr val="FFC24B"/>
          </a:solidFill>
          <a:ln/>
        </p:spPr>
        <p:txBody>
          <a:bodyPr/>
          <a:p/>
        </p:txBody>
      </p:sp>
      <p:sp>
        <p:nvSpPr>
          <p:cNvPr id="8" name="Text 6"/>
          <p:cNvSpPr/>
          <p:nvPr/>
        </p:nvSpPr>
        <p:spPr>
          <a:xfrm>
            <a:off x="86868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828800"/>
            <a:ext cx="9784080" cy="71323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Urgențele</a:t>
            </a:r>
            <a:endParaRPr lang="en-US" sz="2000" dirty="0"/>
          </a:p>
        </p:txBody>
      </p:sp>
      <p:sp>
        <p:nvSpPr>
          <p:cNvPr id="10" name="Shape 8"/>
          <p:cNvSpPr/>
          <p:nvPr/>
        </p:nvSpPr>
        <p:spPr>
          <a:xfrm>
            <a:off x="594360" y="2670048"/>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1" name="Shape 9"/>
          <p:cNvSpPr/>
          <p:nvPr/>
        </p:nvSpPr>
        <p:spPr>
          <a:xfrm>
            <a:off x="868680" y="2816352"/>
            <a:ext cx="420624" cy="420624"/>
          </a:xfrm>
          <a:prstGeom prst="ellipse">
            <a:avLst/>
          </a:prstGeom>
          <a:solidFill>
            <a:srgbClr val="FFC24B"/>
          </a:solidFill>
          <a:ln/>
        </p:spPr>
        <p:txBody>
          <a:bodyPr/>
          <a:p/>
        </p:txBody>
      </p:sp>
      <p:sp>
        <p:nvSpPr>
          <p:cNvPr id="12" name="Text 10"/>
          <p:cNvSpPr/>
          <p:nvPr/>
        </p:nvSpPr>
        <p:spPr>
          <a:xfrm>
            <a:off x="868680" y="28163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670048"/>
            <a:ext cx="9784080" cy="71323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Examenele RMN</a:t>
            </a:r>
            <a:endParaRPr lang="en-US" sz="2000" dirty="0"/>
          </a:p>
        </p:txBody>
      </p:sp>
      <p:sp>
        <p:nvSpPr>
          <p:cNvPr id="14" name="Shape 12"/>
          <p:cNvSpPr/>
          <p:nvPr/>
        </p:nvSpPr>
        <p:spPr>
          <a:xfrm>
            <a:off x="594360" y="3511296"/>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5" name="Shape 13"/>
          <p:cNvSpPr/>
          <p:nvPr/>
        </p:nvSpPr>
        <p:spPr>
          <a:xfrm>
            <a:off x="868680" y="3657600"/>
            <a:ext cx="420624" cy="420624"/>
          </a:xfrm>
          <a:prstGeom prst="ellipse">
            <a:avLst/>
          </a:prstGeom>
          <a:solidFill>
            <a:srgbClr val="FFC24B"/>
          </a:solidFill>
          <a:ln/>
        </p:spPr>
        <p:txBody>
          <a:bodyPr/>
          <a:p/>
        </p:txBody>
      </p:sp>
      <p:sp>
        <p:nvSpPr>
          <p:cNvPr id="16" name="Text 14"/>
          <p:cNvSpPr/>
          <p:nvPr/>
        </p:nvSpPr>
        <p:spPr>
          <a:xfrm>
            <a:off x="868680" y="36576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511296"/>
            <a:ext cx="9784080" cy="71323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Radioterapia</a:t>
            </a:r>
            <a:endParaRPr lang="en-US" sz="2000" dirty="0"/>
          </a:p>
        </p:txBody>
      </p:sp>
      <p:sp>
        <p:nvSpPr>
          <p:cNvPr id="18" name="Shape 16"/>
          <p:cNvSpPr/>
          <p:nvPr/>
        </p:nvSpPr>
        <p:spPr>
          <a:xfrm>
            <a:off x="594360" y="4352544"/>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9" name="Shape 17"/>
          <p:cNvSpPr/>
          <p:nvPr/>
        </p:nvSpPr>
        <p:spPr>
          <a:xfrm>
            <a:off x="868680" y="4498848"/>
            <a:ext cx="420624" cy="420624"/>
          </a:xfrm>
          <a:prstGeom prst="ellipse">
            <a:avLst/>
          </a:prstGeom>
          <a:solidFill>
            <a:srgbClr val="FFC24B"/>
          </a:solidFill>
          <a:ln/>
        </p:spPr>
        <p:txBody>
          <a:bodyPr/>
          <a:p/>
        </p:txBody>
      </p:sp>
      <p:sp>
        <p:nvSpPr>
          <p:cNvPr id="20" name="Text 18"/>
          <p:cNvSpPr/>
          <p:nvPr/>
        </p:nvSpPr>
        <p:spPr>
          <a:xfrm>
            <a:off x="868680" y="4498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352544"/>
            <a:ext cx="9784080" cy="71323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Recuperarea după un accident vascular</a:t>
            </a:r>
            <a:endParaRPr lang="en-US" sz="2000" dirty="0"/>
          </a:p>
        </p:txBody>
      </p:sp>
      <p:sp>
        <p:nvSpPr>
          <p:cNvPr id="22" name="Text 20"/>
          <p:cNvSpPr/>
          <p:nvPr/>
        </p:nvSpPr>
        <p:spPr>
          <a:xfrm>
            <a:off x="594360" y="5376672"/>
            <a:ext cx="10972800" cy="457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O singură variantă. Al doilea vot, imediat după: care are aria cea mai mică?</a:t>
            </a:r>
            <a:endParaRPr lang="en-US" sz="1700" dirty="0"/>
          </a:p>
        </p:txBody>
      </p:sp>
      <p:sp>
        <p:nvSpPr>
          <p:cNvPr id="23" name="Text 21"/>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LA CÂTEVA STRĂZI LA O REGIUNE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Aria cea mai mică, aria cea mai mare</a:t>
            </a:r>
            <a:endParaRPr lang="en-US" sz="3200" dirty="0"/>
          </a:p>
        </p:txBody>
      </p:sp>
      <p:sp>
        <p:nvSpPr>
          <p:cNvPr id="4" name="Shape 2"/>
          <p:cNvSpPr/>
          <p:nvPr/>
        </p:nvSpPr>
        <p:spPr>
          <a:xfrm>
            <a:off x="822960" y="2331720"/>
            <a:ext cx="10515600" cy="54864"/>
          </a:xfrm>
          <a:prstGeom prst="rect">
            <a:avLst/>
          </a:prstGeom>
          <a:solidFill>
            <a:srgbClr val="C9C6BE"/>
          </a:solidFill>
          <a:ln w="12700">
            <a:solidFill>
              <a:srgbClr val="C9C6BE"/>
            </a:solidFill>
            <a:prstDash val="solid"/>
          </a:ln>
        </p:spPr>
        <p:txBody>
          <a:bodyPr/>
          <a:p/>
        </p:txBody>
      </p:sp>
      <p:sp>
        <p:nvSpPr>
          <p:cNvPr id="5" name="Shape 3"/>
          <p:cNvSpPr/>
          <p:nvPr/>
        </p:nvSpPr>
        <p:spPr>
          <a:xfrm>
            <a:off x="10881360" y="2359152"/>
            <a:ext cx="548640" cy="9144"/>
          </a:xfrm>
          <a:prstGeom prst="line">
            <a:avLst/>
          </a:prstGeom>
          <a:noFill/>
          <a:ln w="31750">
            <a:solidFill>
              <a:srgbClr val="585A64"/>
            </a:solidFill>
            <a:prstDash val="solid"/>
            <a:tailEnd type="triangle"/>
          </a:ln>
        </p:spPr>
        <p:txBody>
          <a:bodyPr/>
          <a:p/>
        </p:txBody>
      </p:sp>
      <p:sp>
        <p:nvSpPr>
          <p:cNvPr id="6" name="Shape 4"/>
          <p:cNvSpPr/>
          <p:nvPr/>
        </p:nvSpPr>
        <p:spPr>
          <a:xfrm>
            <a:off x="822960" y="2130552"/>
            <a:ext cx="457200" cy="457200"/>
          </a:xfrm>
          <a:prstGeom prst="ellipse">
            <a:avLst/>
          </a:prstGeom>
          <a:solidFill>
            <a:srgbClr val="FF4757"/>
          </a:solidFill>
          <a:ln w="25400">
            <a:solidFill>
              <a:srgbClr val="F6F5F2"/>
            </a:solidFill>
            <a:prstDash val="solid"/>
          </a:ln>
        </p:spPr>
        <p:txBody>
          <a:bodyPr/>
          <a:p/>
        </p:txBody>
      </p:sp>
      <p:sp>
        <p:nvSpPr>
          <p:cNvPr id="7" name="Text 5"/>
          <p:cNvSpPr/>
          <p:nvPr/>
        </p:nvSpPr>
        <p:spPr>
          <a:xfrm>
            <a:off x="822960" y="2788920"/>
            <a:ext cx="2560320" cy="411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Urgențele</a:t>
            </a:r>
            <a:endParaRPr lang="en-US" sz="1700" dirty="0"/>
          </a:p>
        </p:txBody>
      </p:sp>
      <p:sp>
        <p:nvSpPr>
          <p:cNvPr id="8" name="Text 6"/>
          <p:cNvSpPr/>
          <p:nvPr/>
        </p:nvSpPr>
        <p:spPr>
          <a:xfrm>
            <a:off x="822960" y="3246120"/>
            <a:ext cx="2514600" cy="11887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câteva străzi</a:t>
            </a:r>
            <a:endParaRPr lang="en-US" sz="1450" dirty="0"/>
          </a:p>
        </p:txBody>
      </p:sp>
      <p:sp>
        <p:nvSpPr>
          <p:cNvPr id="9" name="Shape 7"/>
          <p:cNvSpPr/>
          <p:nvPr/>
        </p:nvSpPr>
        <p:spPr>
          <a:xfrm>
            <a:off x="3520440" y="2130552"/>
            <a:ext cx="457200" cy="457200"/>
          </a:xfrm>
          <a:prstGeom prst="ellipse">
            <a:avLst/>
          </a:prstGeom>
          <a:solidFill>
            <a:srgbClr val="FFC24B"/>
          </a:solidFill>
          <a:ln w="25400">
            <a:solidFill>
              <a:srgbClr val="F6F5F2"/>
            </a:solidFill>
            <a:prstDash val="solid"/>
          </a:ln>
        </p:spPr>
        <p:txBody>
          <a:bodyPr/>
          <a:p/>
        </p:txBody>
      </p:sp>
      <p:sp>
        <p:nvSpPr>
          <p:cNvPr id="10" name="Text 8"/>
          <p:cNvSpPr/>
          <p:nvPr/>
        </p:nvSpPr>
        <p:spPr>
          <a:xfrm>
            <a:off x="3520440" y="2788920"/>
            <a:ext cx="2560320" cy="411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Recuperarea</a:t>
            </a:r>
            <a:endParaRPr lang="en-US" sz="1700" dirty="0"/>
          </a:p>
        </p:txBody>
      </p:sp>
      <p:sp>
        <p:nvSpPr>
          <p:cNvPr id="11" name="Text 9"/>
          <p:cNvSpPr/>
          <p:nvPr/>
        </p:nvSpPr>
        <p:spPr>
          <a:xfrm>
            <a:off x="3520440" y="3246120"/>
            <a:ext cx="2514600" cy="11887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vizite dese, drumuri scurte</a:t>
            </a:r>
            <a:endParaRPr lang="en-US" sz="1450" dirty="0"/>
          </a:p>
        </p:txBody>
      </p:sp>
      <p:sp>
        <p:nvSpPr>
          <p:cNvPr id="12" name="Shape 10"/>
          <p:cNvSpPr/>
          <p:nvPr/>
        </p:nvSpPr>
        <p:spPr>
          <a:xfrm>
            <a:off x="6217920" y="2130552"/>
            <a:ext cx="457200" cy="457200"/>
          </a:xfrm>
          <a:prstGeom prst="ellipse">
            <a:avLst/>
          </a:prstGeom>
          <a:solidFill>
            <a:srgbClr val="9B7EF7"/>
          </a:solidFill>
          <a:ln w="25400">
            <a:solidFill>
              <a:srgbClr val="F6F5F2"/>
            </a:solidFill>
            <a:prstDash val="solid"/>
          </a:ln>
        </p:spPr>
        <p:txBody>
          <a:bodyPr/>
          <a:p/>
        </p:txBody>
      </p:sp>
      <p:sp>
        <p:nvSpPr>
          <p:cNvPr id="13" name="Text 11"/>
          <p:cNvSpPr/>
          <p:nvPr/>
        </p:nvSpPr>
        <p:spPr>
          <a:xfrm>
            <a:off x="6217920" y="2788920"/>
            <a:ext cx="2560320" cy="411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Serviciul RMN din caz</a:t>
            </a:r>
            <a:endParaRPr lang="en-US" sz="1700" dirty="0"/>
          </a:p>
        </p:txBody>
      </p:sp>
      <p:sp>
        <p:nvSpPr>
          <p:cNvPr id="14" name="Text 12"/>
          <p:cNvSpPr/>
          <p:nvPr/>
        </p:nvSpPr>
        <p:spPr>
          <a:xfrm>
            <a:off x="6217920" y="3246120"/>
            <a:ext cx="2514600" cy="11887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orașul alege după program</a:t>
            </a:r>
            <a:endParaRPr lang="en-US" sz="1450" dirty="0"/>
          </a:p>
        </p:txBody>
      </p:sp>
      <p:sp>
        <p:nvSpPr>
          <p:cNvPr id="15" name="Shape 13"/>
          <p:cNvSpPr/>
          <p:nvPr/>
        </p:nvSpPr>
        <p:spPr>
          <a:xfrm>
            <a:off x="8915400" y="2130552"/>
            <a:ext cx="457200" cy="457200"/>
          </a:xfrm>
          <a:prstGeom prst="ellipse">
            <a:avLst/>
          </a:prstGeom>
          <a:solidFill>
            <a:srgbClr val="0E7C6B"/>
          </a:solidFill>
          <a:ln w="25400">
            <a:solidFill>
              <a:srgbClr val="F6F5F2"/>
            </a:solidFill>
            <a:prstDash val="solid"/>
          </a:ln>
        </p:spPr>
        <p:txBody>
          <a:bodyPr/>
          <a:p/>
        </p:txBody>
      </p:sp>
      <p:sp>
        <p:nvSpPr>
          <p:cNvPr id="16" name="Text 14"/>
          <p:cNvSpPr/>
          <p:nvPr/>
        </p:nvSpPr>
        <p:spPr>
          <a:xfrm>
            <a:off x="8915400" y="2788920"/>
            <a:ext cx="2560320" cy="411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Radioterapia</a:t>
            </a:r>
            <a:endParaRPr lang="en-US" sz="1700" dirty="0"/>
          </a:p>
        </p:txBody>
      </p:sp>
      <p:sp>
        <p:nvSpPr>
          <p:cNvPr id="17" name="Text 15"/>
          <p:cNvSpPr/>
          <p:nvPr/>
        </p:nvSpPr>
        <p:spPr>
          <a:xfrm>
            <a:off x="8915400" y="3246120"/>
            <a:ext cx="2514600" cy="118872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aparate puține, drumuri lungi</a:t>
            </a:r>
            <a:endParaRPr lang="en-US" sz="1450" dirty="0"/>
          </a:p>
        </p:txBody>
      </p:sp>
      <p:sp>
        <p:nvSpPr>
          <p:cNvPr id="18" name="Text 16"/>
          <p:cNvSpPr/>
          <p:nvPr/>
        </p:nvSpPr>
        <p:spPr>
          <a:xfrm>
            <a:off x="594360" y="1691640"/>
            <a:ext cx="3657600" cy="32004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ARIA CEA MAI MICĂ</a:t>
            </a:r>
            <a:endParaRPr lang="en-US" sz="1200" dirty="0"/>
          </a:p>
        </p:txBody>
      </p:sp>
      <p:sp>
        <p:nvSpPr>
          <p:cNvPr id="19" name="Text 17"/>
          <p:cNvSpPr/>
          <p:nvPr/>
        </p:nvSpPr>
        <p:spPr>
          <a:xfrm>
            <a:off x="7909560" y="1691640"/>
            <a:ext cx="3657600" cy="320040"/>
          </a:xfrm>
          <a:prstGeom prst="rect">
            <a:avLst/>
          </a:prstGeom>
          <a:noFill/>
          <a:ln/>
        </p:spPr>
        <p:txBody>
          <a:bodyPr wrap="square" lIns="0" tIns="0" rIns="0" bIns="0" rtlCol="0" anchor="t"/>
          <a:lstStyle/>
          <a:p>
            <a:pPr algn="r" indent="0" marL="0">
              <a:buNone/>
            </a:pPr>
            <a:r>
              <a:rPr lang="en-US" sz="1200" b="1" spc="200" kern="0" dirty="0">
                <a:solidFill>
                  <a:srgbClr val="0E7C6B"/>
                </a:solidFill>
                <a:latin typeface="Palatino Linotype" pitchFamily="34" charset="0"/>
                <a:ea typeface="Palatino Linotype" pitchFamily="34" charset="-122"/>
                <a:cs typeface="Palatino Linotype" pitchFamily="34" charset="-120"/>
              </a:rPr>
              <a:t>ARIA CEA MAI MARE</a:t>
            </a:r>
            <a:endParaRPr lang="en-US" sz="1200" dirty="0"/>
          </a:p>
        </p:txBody>
      </p:sp>
      <p:sp>
        <p:nvSpPr>
          <p:cNvPr id="20" name="Shape 18"/>
          <p:cNvSpPr/>
          <p:nvPr/>
        </p:nvSpPr>
        <p:spPr>
          <a:xfrm>
            <a:off x="594360" y="4663440"/>
            <a:ext cx="10972800" cy="1234440"/>
          </a:xfrm>
          <a:prstGeom prst="roundRect">
            <a:avLst>
              <a:gd name="adj" fmla="val 6667"/>
            </a:avLst>
          </a:prstGeom>
          <a:solidFill>
            <a:srgbClr val="1D1F2B"/>
          </a:solidFill>
          <a:ln w="12700">
            <a:solidFill>
              <a:srgbClr val="1D1F2B"/>
            </a:solidFill>
            <a:prstDash val="solid"/>
          </a:ln>
        </p:spPr>
        <p:txBody>
          <a:bodyPr/>
          <a:p/>
        </p:txBody>
      </p:sp>
      <p:sp>
        <p:nvSpPr>
          <p:cNvPr id="21" name="Text 19"/>
          <p:cNvSpPr/>
          <p:nvPr/>
        </p:nvSpPr>
        <p:spPr>
          <a:xfrm>
            <a:off x="868680" y="4663440"/>
            <a:ext cx="10424160" cy="12344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Aria cea mai mare: de obicei radioterapia. Aria cea mai mică, după manual: urgențele.</a:t>
            </a:r>
            <a:endParaRPr lang="en-US" sz="1700" dirty="0"/>
          </a:p>
        </p:txBody>
      </p:sp>
      <p:sp>
        <p:nvSpPr>
          <p:cNvPr id="22" name="Text 2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manualul cursului, capitolul 2.</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Determinanții ariei de servicii</a:t>
            </a:r>
            <a:endParaRPr lang="en-US" sz="3400" dirty="0"/>
          </a:p>
        </p:txBody>
      </p:sp>
      <p:sp>
        <p:nvSpPr>
          <p:cNvPr id="4" name="Text 2"/>
          <p:cNvSpPr/>
          <p:nvPr/>
        </p:nvSpPr>
        <p:spPr>
          <a:xfrm>
            <a:off x="594360" y="1463040"/>
            <a:ext cx="10972800" cy="7772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 cuvinte de zi cu zi: de ce alege un pacient un loc și nu altul.</a:t>
            </a:r>
            <a:endParaRPr lang="en-US" sz="1700" dirty="0"/>
          </a:p>
        </p:txBody>
      </p:sp>
      <p:sp>
        <p:nvSpPr>
          <p:cNvPr id="5" name="Shape 3"/>
          <p:cNvSpPr/>
          <p:nvPr/>
        </p:nvSpPr>
        <p:spPr>
          <a:xfrm>
            <a:off x="594360" y="2423160"/>
            <a:ext cx="5349240" cy="3017520"/>
          </a:xfrm>
          <a:prstGeom prst="roundRect">
            <a:avLst>
              <a:gd name="adj" fmla="val 2727"/>
            </a:avLst>
          </a:prstGeom>
          <a:solidFill>
            <a:srgbClr val="ECEAE4"/>
          </a:solidFill>
          <a:ln w="12700">
            <a:solidFill>
              <a:srgbClr val="ECEAE4"/>
            </a:solidFill>
            <a:prstDash val="solid"/>
          </a:ln>
        </p:spPr>
        <p:txBody>
          <a:bodyPr/>
          <a:p/>
        </p:txBody>
      </p:sp>
      <p:sp>
        <p:nvSpPr>
          <p:cNvPr id="6" name="Text 4"/>
          <p:cNvSpPr/>
          <p:nvPr/>
        </p:nvSpPr>
        <p:spPr>
          <a:xfrm>
            <a:off x="868680" y="2606040"/>
            <a:ext cx="484632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DE PARTEA PACIENTULUI</a:t>
            </a:r>
            <a:endParaRPr lang="en-US" sz="1300" dirty="0"/>
          </a:p>
        </p:txBody>
      </p:sp>
      <p:sp>
        <p:nvSpPr>
          <p:cNvPr id="7" name="Shape 5"/>
          <p:cNvSpPr/>
          <p:nvPr/>
        </p:nvSpPr>
        <p:spPr>
          <a:xfrm>
            <a:off x="868680" y="3063240"/>
            <a:ext cx="54864" cy="411480"/>
          </a:xfrm>
          <a:prstGeom prst="rect">
            <a:avLst/>
          </a:prstGeom>
          <a:solidFill>
            <a:srgbClr val="0E7C6B"/>
          </a:solidFill>
          <a:ln w="12700">
            <a:solidFill>
              <a:srgbClr val="0E7C6B"/>
            </a:solidFill>
            <a:prstDash val="solid"/>
          </a:ln>
        </p:spPr>
        <p:txBody>
          <a:bodyPr/>
          <a:p/>
        </p:txBody>
      </p:sp>
      <p:sp>
        <p:nvSpPr>
          <p:cNvPr id="8" name="Text 6"/>
          <p:cNvSpPr/>
          <p:nvPr/>
        </p:nvSpPr>
        <p:spPr>
          <a:xfrm>
            <a:off x="1097280" y="3063240"/>
            <a:ext cx="4663440" cy="4114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tipul serviciului de care are nevoie</a:t>
            </a:r>
            <a:endParaRPr lang="en-US" sz="1600" dirty="0"/>
          </a:p>
        </p:txBody>
      </p:sp>
      <p:sp>
        <p:nvSpPr>
          <p:cNvPr id="9" name="Shape 7"/>
          <p:cNvSpPr/>
          <p:nvPr/>
        </p:nvSpPr>
        <p:spPr>
          <a:xfrm>
            <a:off x="868680" y="3630168"/>
            <a:ext cx="54864" cy="411480"/>
          </a:xfrm>
          <a:prstGeom prst="rect">
            <a:avLst/>
          </a:prstGeom>
          <a:solidFill>
            <a:srgbClr val="0E7C6B"/>
          </a:solidFill>
          <a:ln w="12700">
            <a:solidFill>
              <a:srgbClr val="0E7C6B"/>
            </a:solidFill>
            <a:prstDash val="solid"/>
          </a:ln>
        </p:spPr>
        <p:txBody>
          <a:bodyPr/>
          <a:p/>
        </p:txBody>
      </p:sp>
      <p:sp>
        <p:nvSpPr>
          <p:cNvPr id="10" name="Text 8"/>
          <p:cNvSpPr/>
          <p:nvPr/>
        </p:nvSpPr>
        <p:spPr>
          <a:xfrm>
            <a:off x="1097280" y="3630168"/>
            <a:ext cx="4663440" cy="4114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cât de des îl folosește</a:t>
            </a:r>
            <a:endParaRPr lang="en-US" sz="1600" dirty="0"/>
          </a:p>
        </p:txBody>
      </p:sp>
      <p:sp>
        <p:nvSpPr>
          <p:cNvPr id="11" name="Shape 9"/>
          <p:cNvSpPr/>
          <p:nvPr/>
        </p:nvSpPr>
        <p:spPr>
          <a:xfrm>
            <a:off x="868680" y="4197096"/>
            <a:ext cx="54864" cy="411480"/>
          </a:xfrm>
          <a:prstGeom prst="rect">
            <a:avLst/>
          </a:prstGeom>
          <a:solidFill>
            <a:srgbClr val="0E7C6B"/>
          </a:solidFill>
          <a:ln w="12700">
            <a:solidFill>
              <a:srgbClr val="0E7C6B"/>
            </a:solidFill>
            <a:prstDash val="solid"/>
          </a:ln>
        </p:spPr>
        <p:txBody>
          <a:bodyPr/>
          <a:p/>
        </p:txBody>
      </p:sp>
      <p:sp>
        <p:nvSpPr>
          <p:cNvPr id="12" name="Text 10"/>
          <p:cNvSpPr/>
          <p:nvPr/>
        </p:nvSpPr>
        <p:spPr>
          <a:xfrm>
            <a:off x="1097280" y="4197096"/>
            <a:ext cx="4663440" cy="4114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preferința pentru un furnizor</a:t>
            </a:r>
            <a:endParaRPr lang="en-US" sz="1600" dirty="0"/>
          </a:p>
        </p:txBody>
      </p:sp>
      <p:sp>
        <p:nvSpPr>
          <p:cNvPr id="13" name="Shape 11"/>
          <p:cNvSpPr/>
          <p:nvPr/>
        </p:nvSpPr>
        <p:spPr>
          <a:xfrm>
            <a:off x="868680" y="4764024"/>
            <a:ext cx="54864" cy="411480"/>
          </a:xfrm>
          <a:prstGeom prst="rect">
            <a:avLst/>
          </a:prstGeom>
          <a:solidFill>
            <a:srgbClr val="0E7C6B"/>
          </a:solidFill>
          <a:ln w="12700">
            <a:solidFill>
              <a:srgbClr val="0E7C6B"/>
            </a:solidFill>
            <a:prstDash val="solid"/>
          </a:ln>
        </p:spPr>
        <p:txBody>
          <a:bodyPr/>
          <a:p/>
        </p:txBody>
      </p:sp>
      <p:sp>
        <p:nvSpPr>
          <p:cNvPr id="14" name="Text 12"/>
          <p:cNvSpPr/>
          <p:nvPr/>
        </p:nvSpPr>
        <p:spPr>
          <a:xfrm>
            <a:off x="1097280" y="4764024"/>
            <a:ext cx="4663440" cy="4114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valorile, experiențele, starea de sănătate</a:t>
            </a:r>
            <a:endParaRPr lang="en-US" sz="1600" dirty="0"/>
          </a:p>
        </p:txBody>
      </p:sp>
      <p:sp>
        <p:nvSpPr>
          <p:cNvPr id="15" name="Shape 13"/>
          <p:cNvSpPr/>
          <p:nvPr/>
        </p:nvSpPr>
        <p:spPr>
          <a:xfrm>
            <a:off x="6217920" y="2423160"/>
            <a:ext cx="5349240" cy="3017520"/>
          </a:xfrm>
          <a:prstGeom prst="roundRect">
            <a:avLst>
              <a:gd name="adj" fmla="val 2727"/>
            </a:avLst>
          </a:prstGeom>
          <a:solidFill>
            <a:srgbClr val="ECEAE4"/>
          </a:solidFill>
          <a:ln w="12700">
            <a:solidFill>
              <a:srgbClr val="ECEAE4"/>
            </a:solidFill>
            <a:prstDash val="solid"/>
          </a:ln>
        </p:spPr>
        <p:txBody>
          <a:bodyPr/>
          <a:p/>
        </p:txBody>
      </p:sp>
      <p:sp>
        <p:nvSpPr>
          <p:cNvPr id="16" name="Text 14"/>
          <p:cNvSpPr/>
          <p:nvPr/>
        </p:nvSpPr>
        <p:spPr>
          <a:xfrm>
            <a:off x="6492240" y="2606040"/>
            <a:ext cx="484632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PARTEA PIEȚEI</a:t>
            </a:r>
            <a:endParaRPr lang="en-US" sz="1300" dirty="0"/>
          </a:p>
        </p:txBody>
      </p:sp>
      <p:sp>
        <p:nvSpPr>
          <p:cNvPr id="17" name="Shape 15"/>
          <p:cNvSpPr/>
          <p:nvPr/>
        </p:nvSpPr>
        <p:spPr>
          <a:xfrm>
            <a:off x="6492240" y="3063240"/>
            <a:ext cx="54864" cy="411480"/>
          </a:xfrm>
          <a:prstGeom prst="rect">
            <a:avLst/>
          </a:prstGeom>
          <a:solidFill>
            <a:srgbClr val="B02532"/>
          </a:solidFill>
          <a:ln w="12700">
            <a:solidFill>
              <a:srgbClr val="B02532"/>
            </a:solidFill>
            <a:prstDash val="solid"/>
          </a:ln>
        </p:spPr>
        <p:txBody>
          <a:bodyPr/>
          <a:p/>
        </p:txBody>
      </p:sp>
      <p:sp>
        <p:nvSpPr>
          <p:cNvPr id="18" name="Text 16"/>
          <p:cNvSpPr/>
          <p:nvPr/>
        </p:nvSpPr>
        <p:spPr>
          <a:xfrm>
            <a:off x="6720840" y="3063240"/>
            <a:ext cx="4663440" cy="4114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drumul, transportul, parcarea</a:t>
            </a:r>
            <a:endParaRPr lang="en-US" sz="1600" dirty="0"/>
          </a:p>
        </p:txBody>
      </p:sp>
      <p:sp>
        <p:nvSpPr>
          <p:cNvPr id="19" name="Shape 17"/>
          <p:cNvSpPr/>
          <p:nvPr/>
        </p:nvSpPr>
        <p:spPr>
          <a:xfrm>
            <a:off x="6492240" y="3630168"/>
            <a:ext cx="54864" cy="411480"/>
          </a:xfrm>
          <a:prstGeom prst="rect">
            <a:avLst/>
          </a:prstGeom>
          <a:solidFill>
            <a:srgbClr val="B02532"/>
          </a:solidFill>
          <a:ln w="12700">
            <a:solidFill>
              <a:srgbClr val="B02532"/>
            </a:solidFill>
            <a:prstDash val="solid"/>
          </a:ln>
        </p:spPr>
        <p:txBody>
          <a:bodyPr/>
          <a:p/>
        </p:txBody>
      </p:sp>
      <p:sp>
        <p:nvSpPr>
          <p:cNvPr id="20" name="Text 18"/>
          <p:cNvSpPr/>
          <p:nvPr/>
        </p:nvSpPr>
        <p:spPr>
          <a:xfrm>
            <a:off x="6720840" y="3630168"/>
            <a:ext cx="4663440" cy="4114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programul, prețul, imaginea</a:t>
            </a:r>
            <a:endParaRPr lang="en-US" sz="1600" dirty="0"/>
          </a:p>
        </p:txBody>
      </p:sp>
      <p:sp>
        <p:nvSpPr>
          <p:cNvPr id="21" name="Shape 19"/>
          <p:cNvSpPr/>
          <p:nvPr/>
        </p:nvSpPr>
        <p:spPr>
          <a:xfrm>
            <a:off x="6492240" y="4197096"/>
            <a:ext cx="54864" cy="411480"/>
          </a:xfrm>
          <a:prstGeom prst="rect">
            <a:avLst/>
          </a:prstGeom>
          <a:solidFill>
            <a:srgbClr val="B02532"/>
          </a:solidFill>
          <a:ln w="12700">
            <a:solidFill>
              <a:srgbClr val="B02532"/>
            </a:solidFill>
            <a:prstDash val="solid"/>
          </a:ln>
        </p:spPr>
        <p:txBody>
          <a:bodyPr/>
          <a:p/>
        </p:txBody>
      </p:sp>
      <p:sp>
        <p:nvSpPr>
          <p:cNvPr id="22" name="Text 20"/>
          <p:cNvSpPr/>
          <p:nvPr/>
        </p:nvSpPr>
        <p:spPr>
          <a:xfrm>
            <a:off x="6720840" y="4197096"/>
            <a:ext cx="4663440" cy="4114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așteptarea, felul în care e tratat</a:t>
            </a:r>
            <a:endParaRPr lang="en-US" sz="1600" dirty="0"/>
          </a:p>
        </p:txBody>
      </p:sp>
      <p:sp>
        <p:nvSpPr>
          <p:cNvPr id="23" name="Shape 21"/>
          <p:cNvSpPr/>
          <p:nvPr/>
        </p:nvSpPr>
        <p:spPr>
          <a:xfrm>
            <a:off x="6492240" y="4764024"/>
            <a:ext cx="54864" cy="411480"/>
          </a:xfrm>
          <a:prstGeom prst="rect">
            <a:avLst/>
          </a:prstGeom>
          <a:solidFill>
            <a:srgbClr val="B02532"/>
          </a:solidFill>
          <a:ln w="12700">
            <a:solidFill>
              <a:srgbClr val="B02532"/>
            </a:solidFill>
            <a:prstDash val="solid"/>
          </a:ln>
        </p:spPr>
        <p:txBody>
          <a:bodyPr/>
          <a:p/>
        </p:txBody>
      </p:sp>
      <p:sp>
        <p:nvSpPr>
          <p:cNvPr id="24" name="Text 22"/>
          <p:cNvSpPr/>
          <p:nvPr/>
        </p:nvSpPr>
        <p:spPr>
          <a:xfrm>
            <a:off x="6720840" y="4764024"/>
            <a:ext cx="4663440" cy="4114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calitatea informației</a:t>
            </a:r>
            <a:endParaRPr lang="en-US" sz="1600" dirty="0"/>
          </a:p>
        </p:txBody>
      </p:sp>
      <p:sp>
        <p:nvSpPr>
          <p:cNvPr id="25" name="Text 23"/>
          <p:cNvSpPr/>
          <p:nvPr/>
        </p:nvSpPr>
        <p:spPr>
          <a:xfrm>
            <a:off x="594360" y="5669280"/>
            <a:ext cx="10972800"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Comparați cu norul vostru de cuvinte.</a:t>
            </a:r>
            <a:endParaRPr lang="en-US" sz="17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manualul cursului, capitolul 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3152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DETERMINANȚII · CUM NU SE CITESC</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Trei greșeli de evitat</a:t>
            </a:r>
            <a:endParaRPr lang="en-US" sz="3400" dirty="0"/>
          </a:p>
        </p:txBody>
      </p:sp>
      <p:sp>
        <p:nvSpPr>
          <p:cNvPr id="4" name="Shape 2"/>
          <p:cNvSpPr/>
          <p:nvPr/>
        </p:nvSpPr>
        <p:spPr>
          <a:xfrm>
            <a:off x="594360" y="1691640"/>
            <a:ext cx="6766560" cy="822960"/>
          </a:xfrm>
          <a:prstGeom prst="roundRect">
            <a:avLst>
              <a:gd name="adj" fmla="val 10000"/>
            </a:avLst>
          </a:prstGeom>
          <a:solidFill>
            <a:srgbClr val="1D1F2B"/>
          </a:solidFill>
          <a:ln w="12700">
            <a:solidFill>
              <a:srgbClr val="1D1F2B"/>
            </a:solidFill>
            <a:prstDash val="solid"/>
          </a:ln>
        </p:spPr>
        <p:txBody>
          <a:bodyPr/>
          <a:p/>
        </p:txBody>
      </p:sp>
      <p:sp>
        <p:nvSpPr>
          <p:cNvPr id="5" name="Shape 3"/>
          <p:cNvSpPr/>
          <p:nvPr/>
        </p:nvSpPr>
        <p:spPr>
          <a:xfrm>
            <a:off x="822960" y="1892808"/>
            <a:ext cx="420624" cy="420624"/>
          </a:xfrm>
          <a:prstGeom prst="ellipse">
            <a:avLst/>
          </a:prstGeom>
          <a:solidFill>
            <a:srgbClr val="FF4757"/>
          </a:solidFill>
          <a:ln/>
        </p:spPr>
        <p:txBody>
          <a:bodyPr/>
          <a:p/>
        </p:txBody>
      </p:sp>
      <p:sp>
        <p:nvSpPr>
          <p:cNvPr id="6" name="Text 4"/>
          <p:cNvSpPr/>
          <p:nvPr/>
        </p:nvSpPr>
        <p:spPr>
          <a:xfrm>
            <a:off x="822960" y="189280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17320" y="1691640"/>
            <a:ext cx="5806440" cy="82296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Puneți pe seama prețului sau a calității ce ține de program sau de așteptare.</a:t>
            </a:r>
            <a:endParaRPr lang="en-US" sz="1600" dirty="0"/>
          </a:p>
        </p:txBody>
      </p:sp>
      <p:sp>
        <p:nvSpPr>
          <p:cNvPr id="8" name="Shape 6"/>
          <p:cNvSpPr/>
          <p:nvPr/>
        </p:nvSpPr>
        <p:spPr>
          <a:xfrm>
            <a:off x="594360" y="2651760"/>
            <a:ext cx="6766560" cy="822960"/>
          </a:xfrm>
          <a:prstGeom prst="roundRect">
            <a:avLst>
              <a:gd name="adj" fmla="val 10000"/>
            </a:avLst>
          </a:prstGeom>
          <a:solidFill>
            <a:srgbClr val="1D1F2B"/>
          </a:solidFill>
          <a:ln w="12700">
            <a:solidFill>
              <a:srgbClr val="1D1F2B"/>
            </a:solidFill>
            <a:prstDash val="solid"/>
          </a:ln>
        </p:spPr>
        <p:txBody>
          <a:bodyPr/>
          <a:p/>
        </p:txBody>
      </p:sp>
      <p:sp>
        <p:nvSpPr>
          <p:cNvPr id="9" name="Shape 7"/>
          <p:cNvSpPr/>
          <p:nvPr/>
        </p:nvSpPr>
        <p:spPr>
          <a:xfrm>
            <a:off x="822960" y="2852928"/>
            <a:ext cx="420624" cy="420624"/>
          </a:xfrm>
          <a:prstGeom prst="ellipse">
            <a:avLst/>
          </a:prstGeom>
          <a:solidFill>
            <a:srgbClr val="FF4757"/>
          </a:solidFill>
          <a:ln/>
        </p:spPr>
        <p:txBody>
          <a:bodyPr/>
          <a:p/>
        </p:txBody>
      </p:sp>
      <p:sp>
        <p:nvSpPr>
          <p:cNvPr id="10" name="Text 8"/>
          <p:cNvSpPr/>
          <p:nvPr/>
        </p:nvSpPr>
        <p:spPr>
          <a:xfrm>
            <a:off x="822960" y="28529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17320" y="2651760"/>
            <a:ext cx="5806440" cy="82296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Analizați aria pentru tot spitalul, când ea diferă de la un serviciu la altul.</a:t>
            </a:r>
            <a:endParaRPr lang="en-US" sz="1600" dirty="0"/>
          </a:p>
        </p:txBody>
      </p:sp>
      <p:sp>
        <p:nvSpPr>
          <p:cNvPr id="12" name="Shape 10"/>
          <p:cNvSpPr/>
          <p:nvPr/>
        </p:nvSpPr>
        <p:spPr>
          <a:xfrm>
            <a:off x="594360" y="3611880"/>
            <a:ext cx="6766560" cy="822960"/>
          </a:xfrm>
          <a:prstGeom prst="roundRect">
            <a:avLst>
              <a:gd name="adj" fmla="val 10000"/>
            </a:avLst>
          </a:prstGeom>
          <a:solidFill>
            <a:srgbClr val="1D1F2B"/>
          </a:solidFill>
          <a:ln w="12700">
            <a:solidFill>
              <a:srgbClr val="1D1F2B"/>
            </a:solidFill>
            <a:prstDash val="solid"/>
          </a:ln>
        </p:spPr>
        <p:txBody>
          <a:bodyPr/>
          <a:p/>
        </p:txBody>
      </p:sp>
      <p:sp>
        <p:nvSpPr>
          <p:cNvPr id="13" name="Shape 11"/>
          <p:cNvSpPr/>
          <p:nvPr/>
        </p:nvSpPr>
        <p:spPr>
          <a:xfrm>
            <a:off x="822960" y="3813048"/>
            <a:ext cx="420624" cy="420624"/>
          </a:xfrm>
          <a:prstGeom prst="ellipse">
            <a:avLst/>
          </a:prstGeom>
          <a:solidFill>
            <a:srgbClr val="FF4757"/>
          </a:solidFill>
          <a:ln/>
        </p:spPr>
        <p:txBody>
          <a:bodyPr/>
          <a:p/>
        </p:txBody>
      </p:sp>
      <p:sp>
        <p:nvSpPr>
          <p:cNvPr id="14" name="Text 12"/>
          <p:cNvSpPr/>
          <p:nvPr/>
        </p:nvSpPr>
        <p:spPr>
          <a:xfrm>
            <a:off x="822960" y="38130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17320" y="3611880"/>
            <a:ext cx="5806440" cy="82296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Credeți în reputația unui serviciu fără date de preferință care s-o confirme.</a:t>
            </a:r>
            <a:endParaRPr lang="en-US" sz="1600" dirty="0"/>
          </a:p>
        </p:txBody>
      </p:sp>
      <p:sp>
        <p:nvSpPr>
          <p:cNvPr id="16" name="Shape 14"/>
          <p:cNvSpPr/>
          <p:nvPr/>
        </p:nvSpPr>
        <p:spPr>
          <a:xfrm>
            <a:off x="7680960" y="1691640"/>
            <a:ext cx="3886200" cy="2743200"/>
          </a:xfrm>
          <a:prstGeom prst="roundRect">
            <a:avLst>
              <a:gd name="adj" fmla="val 3000"/>
            </a:avLst>
          </a:prstGeom>
          <a:solidFill>
            <a:srgbClr val="272A38"/>
          </a:solidFill>
          <a:ln w="12700">
            <a:solidFill>
              <a:srgbClr val="272A38"/>
            </a:solidFill>
            <a:prstDash val="solid"/>
          </a:ln>
        </p:spPr>
        <p:txBody>
          <a:bodyPr/>
          <a:p/>
        </p:txBody>
      </p:sp>
      <p:sp>
        <p:nvSpPr>
          <p:cNvPr id="17" name="Text 15"/>
          <p:cNvSpPr/>
          <p:nvPr/>
        </p:nvSpPr>
        <p:spPr>
          <a:xfrm>
            <a:off x="7909560" y="1828800"/>
            <a:ext cx="3474720" cy="320040"/>
          </a:xfrm>
          <a:prstGeom prst="rect">
            <a:avLst/>
          </a:prstGeom>
          <a:noFill/>
          <a:ln/>
        </p:spPr>
        <p:txBody>
          <a:bodyPr wrap="square" lIns="0" tIns="0" rIns="0" bIns="0" rtlCol="0" anchor="t"/>
          <a:lstStyle/>
          <a:p>
            <a:pPr indent="0" marL="0">
              <a:buNone/>
            </a:pPr>
            <a:r>
              <a:rPr lang="en-US" sz="1200" b="1" spc="200" kern="0" dirty="0">
                <a:solidFill>
                  <a:srgbClr val="27D3BE"/>
                </a:solidFill>
                <a:latin typeface="Palatino Linotype" pitchFamily="34" charset="0"/>
                <a:ea typeface="Palatino Linotype" pitchFamily="34" charset="-122"/>
                <a:cs typeface="Palatino Linotype" pitchFamily="34" charset="-120"/>
              </a:rPr>
              <a:t>DOUĂ PRECIZĂRI</a:t>
            </a:r>
            <a:endParaRPr lang="en-US" sz="1200" dirty="0"/>
          </a:p>
        </p:txBody>
      </p:sp>
      <p:sp>
        <p:nvSpPr>
          <p:cNvPr id="18" name="Text 16"/>
          <p:cNvSpPr/>
          <p:nvPr/>
        </p:nvSpPr>
        <p:spPr>
          <a:xfrm>
            <a:off x="7909560" y="2240280"/>
            <a:ext cx="3474720" cy="21031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Preferințele contează doar dacă există de unde alege.</a:t>
            </a:r>
            <a:endParaRPr lang="en-US" sz="1500" dirty="0"/>
          </a:p>
        </p:txBody>
      </p:sp>
      <p:sp>
        <p:nvSpPr>
          <p:cNvPr id="19" name="Text 17"/>
          <p:cNvSpPr/>
          <p:nvPr/>
        </p:nvSpPr>
        <p:spPr>
          <a:xfrm>
            <a:off x="594360" y="4846320"/>
            <a:ext cx="10972800" cy="64008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De aceea, determinanții pacientului și cei ai pieței se scriu separat.</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ARIA PRINCIPALĂ ȘI ARIA SECUNDARĂ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Patru întrebări pentru fiecare serviciu</a:t>
            </a:r>
            <a:endParaRPr lang="en-US" sz="3100" dirty="0"/>
          </a:p>
        </p:txBody>
      </p:sp>
      <p:sp>
        <p:nvSpPr>
          <p:cNvPr id="4" name="Text 2"/>
          <p:cNvSpPr/>
          <p:nvPr/>
        </p:nvSpPr>
        <p:spPr>
          <a:xfrm>
            <a:off x="594360" y="1463040"/>
            <a:ext cx="10972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Aria principală: localitățile din care vin circa trei sferturi dintre pacienți. Aria secundară: următoarele.</a:t>
            </a:r>
            <a:endParaRPr lang="en-US" sz="1600" dirty="0"/>
          </a:p>
        </p:txBody>
      </p:sp>
      <p:sp>
        <p:nvSpPr>
          <p:cNvPr id="5" name="Shape 3"/>
          <p:cNvSpPr/>
          <p:nvPr/>
        </p:nvSpPr>
        <p:spPr>
          <a:xfrm>
            <a:off x="594360" y="2468880"/>
            <a:ext cx="5349240" cy="1600200"/>
          </a:xfrm>
          <a:prstGeom prst="roundRect">
            <a:avLst>
              <a:gd name="adj" fmla="val 5143"/>
            </a:avLst>
          </a:prstGeom>
          <a:solidFill>
            <a:srgbClr val="ECEAE4"/>
          </a:solidFill>
          <a:ln w="12700">
            <a:solidFill>
              <a:srgbClr val="ECEAE4"/>
            </a:solidFill>
            <a:prstDash val="solid"/>
          </a:ln>
        </p:spPr>
        <p:txBody>
          <a:bodyPr/>
          <a:p/>
        </p:txBody>
      </p:sp>
      <p:sp>
        <p:nvSpPr>
          <p:cNvPr id="6" name="Shape 4"/>
          <p:cNvSpPr/>
          <p:nvPr/>
        </p:nvSpPr>
        <p:spPr>
          <a:xfrm>
            <a:off x="822960" y="2697480"/>
            <a:ext cx="420624" cy="420624"/>
          </a:xfrm>
          <a:prstGeom prst="ellipse">
            <a:avLst/>
          </a:prstGeom>
          <a:solidFill>
            <a:srgbClr val="0E7C6B"/>
          </a:solidFill>
          <a:ln/>
        </p:spPr>
        <p:txBody>
          <a:bodyPr/>
          <a:p/>
        </p:txBody>
      </p:sp>
      <p:sp>
        <p:nvSpPr>
          <p:cNvPr id="7" name="Text 5"/>
          <p:cNvSpPr/>
          <p:nvPr/>
        </p:nvSpPr>
        <p:spPr>
          <a:xfrm>
            <a:off x="822960" y="26974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417320" y="2697480"/>
            <a:ext cx="4297680" cy="41148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DE UNDE VIN</a:t>
            </a:r>
            <a:endParaRPr lang="en-US" sz="1400" dirty="0"/>
          </a:p>
        </p:txBody>
      </p:sp>
      <p:sp>
        <p:nvSpPr>
          <p:cNvPr id="9" name="Text 7"/>
          <p:cNvSpPr/>
          <p:nvPr/>
        </p:nvSpPr>
        <p:spPr>
          <a:xfrm>
            <a:off x="1417320" y="3108960"/>
            <a:ext cx="434340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partea din pacienți venită din fiecare localitate</a:t>
            </a:r>
            <a:endParaRPr lang="en-US" sz="1550" dirty="0"/>
          </a:p>
        </p:txBody>
      </p:sp>
      <p:sp>
        <p:nvSpPr>
          <p:cNvPr id="10" name="Shape 8"/>
          <p:cNvSpPr/>
          <p:nvPr/>
        </p:nvSpPr>
        <p:spPr>
          <a:xfrm>
            <a:off x="6217920" y="2468880"/>
            <a:ext cx="5349240" cy="1600200"/>
          </a:xfrm>
          <a:prstGeom prst="roundRect">
            <a:avLst>
              <a:gd name="adj" fmla="val 5143"/>
            </a:avLst>
          </a:prstGeom>
          <a:solidFill>
            <a:srgbClr val="ECEAE4"/>
          </a:solidFill>
          <a:ln w="12700">
            <a:solidFill>
              <a:srgbClr val="ECEAE4"/>
            </a:solidFill>
            <a:prstDash val="solid"/>
          </a:ln>
        </p:spPr>
        <p:txBody>
          <a:bodyPr/>
          <a:p/>
        </p:txBody>
      </p:sp>
      <p:sp>
        <p:nvSpPr>
          <p:cNvPr id="11" name="Shape 9"/>
          <p:cNvSpPr/>
          <p:nvPr/>
        </p:nvSpPr>
        <p:spPr>
          <a:xfrm>
            <a:off x="6446520" y="2697480"/>
            <a:ext cx="420624" cy="420624"/>
          </a:xfrm>
          <a:prstGeom prst="ellipse">
            <a:avLst/>
          </a:prstGeom>
          <a:solidFill>
            <a:srgbClr val="0E7C6B"/>
          </a:solidFill>
          <a:ln/>
        </p:spPr>
        <p:txBody>
          <a:bodyPr/>
          <a:p/>
        </p:txBody>
      </p:sp>
      <p:sp>
        <p:nvSpPr>
          <p:cNvPr id="12" name="Text 10"/>
          <p:cNvSpPr/>
          <p:nvPr/>
        </p:nvSpPr>
        <p:spPr>
          <a:xfrm>
            <a:off x="6446520" y="26974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7040880" y="2697480"/>
            <a:ext cx="4297680" cy="41148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CÂT DE MULT VIN</a:t>
            </a:r>
            <a:endParaRPr lang="en-US" sz="1400" dirty="0"/>
          </a:p>
        </p:txBody>
      </p:sp>
      <p:sp>
        <p:nvSpPr>
          <p:cNvPr id="14" name="Text 12"/>
          <p:cNvSpPr/>
          <p:nvPr/>
        </p:nvSpPr>
        <p:spPr>
          <a:xfrm>
            <a:off x="7040880" y="3108960"/>
            <a:ext cx="434340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pacienți ai spitalului la mia de locuitori</a:t>
            </a:r>
            <a:endParaRPr lang="en-US" sz="1550" dirty="0"/>
          </a:p>
        </p:txBody>
      </p:sp>
      <p:sp>
        <p:nvSpPr>
          <p:cNvPr id="15" name="Shape 13"/>
          <p:cNvSpPr/>
          <p:nvPr/>
        </p:nvSpPr>
        <p:spPr>
          <a:xfrm>
            <a:off x="594360" y="4251960"/>
            <a:ext cx="5349240" cy="1600200"/>
          </a:xfrm>
          <a:prstGeom prst="roundRect">
            <a:avLst>
              <a:gd name="adj" fmla="val 5143"/>
            </a:avLst>
          </a:prstGeom>
          <a:solidFill>
            <a:srgbClr val="ECEAE4"/>
          </a:solidFill>
          <a:ln w="12700">
            <a:solidFill>
              <a:srgbClr val="ECEAE4"/>
            </a:solidFill>
            <a:prstDash val="solid"/>
          </a:ln>
        </p:spPr>
        <p:txBody>
          <a:bodyPr/>
          <a:p/>
        </p:txBody>
      </p:sp>
      <p:sp>
        <p:nvSpPr>
          <p:cNvPr id="16" name="Shape 14"/>
          <p:cNvSpPr/>
          <p:nvPr/>
        </p:nvSpPr>
        <p:spPr>
          <a:xfrm>
            <a:off x="822960" y="4480560"/>
            <a:ext cx="420624" cy="420624"/>
          </a:xfrm>
          <a:prstGeom prst="ellipse">
            <a:avLst/>
          </a:prstGeom>
          <a:solidFill>
            <a:srgbClr val="B02532"/>
          </a:solidFill>
          <a:ln/>
        </p:spPr>
        <p:txBody>
          <a:bodyPr/>
          <a:p/>
        </p:txBody>
      </p:sp>
      <p:sp>
        <p:nvSpPr>
          <p:cNvPr id="17" name="Text 15"/>
          <p:cNvSpPr/>
          <p:nvPr/>
        </p:nvSpPr>
        <p:spPr>
          <a:xfrm>
            <a:off x="822960" y="44805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1417320" y="4480560"/>
            <a:ext cx="4297680" cy="41148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PIERDERILE</a:t>
            </a:r>
            <a:endParaRPr lang="en-US" sz="1400" dirty="0"/>
          </a:p>
        </p:txBody>
      </p:sp>
      <p:sp>
        <p:nvSpPr>
          <p:cNvPr id="19" name="Text 17"/>
          <p:cNvSpPr/>
          <p:nvPr/>
        </p:nvSpPr>
        <p:spPr>
          <a:xfrm>
            <a:off x="1417320" y="4892040"/>
            <a:ext cx="434340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locuitori ai ariei principale investigați în altă parte</a:t>
            </a:r>
            <a:endParaRPr lang="en-US" sz="1550" dirty="0"/>
          </a:p>
        </p:txBody>
      </p:sp>
      <p:sp>
        <p:nvSpPr>
          <p:cNvPr id="20" name="Shape 18"/>
          <p:cNvSpPr/>
          <p:nvPr/>
        </p:nvSpPr>
        <p:spPr>
          <a:xfrm>
            <a:off x="6217920" y="4251960"/>
            <a:ext cx="5349240" cy="1600200"/>
          </a:xfrm>
          <a:prstGeom prst="roundRect">
            <a:avLst>
              <a:gd name="adj" fmla="val 5143"/>
            </a:avLst>
          </a:prstGeom>
          <a:solidFill>
            <a:srgbClr val="ECEAE4"/>
          </a:solidFill>
          <a:ln w="12700">
            <a:solidFill>
              <a:srgbClr val="ECEAE4"/>
            </a:solidFill>
            <a:prstDash val="solid"/>
          </a:ln>
        </p:spPr>
        <p:txBody>
          <a:bodyPr/>
          <a:p/>
        </p:txBody>
      </p:sp>
      <p:sp>
        <p:nvSpPr>
          <p:cNvPr id="21" name="Shape 19"/>
          <p:cNvSpPr/>
          <p:nvPr/>
        </p:nvSpPr>
        <p:spPr>
          <a:xfrm>
            <a:off x="6446520" y="4480560"/>
            <a:ext cx="420624" cy="420624"/>
          </a:xfrm>
          <a:prstGeom prst="ellipse">
            <a:avLst/>
          </a:prstGeom>
          <a:solidFill>
            <a:srgbClr val="B02532"/>
          </a:solidFill>
          <a:ln/>
        </p:spPr>
        <p:txBody>
          <a:bodyPr/>
          <a:p/>
        </p:txBody>
      </p:sp>
      <p:sp>
        <p:nvSpPr>
          <p:cNvPr id="22" name="Text 20"/>
          <p:cNvSpPr/>
          <p:nvPr/>
        </p:nvSpPr>
        <p:spPr>
          <a:xfrm>
            <a:off x="6446520" y="44805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3" name="Text 21"/>
          <p:cNvSpPr/>
          <p:nvPr/>
        </p:nvSpPr>
        <p:spPr>
          <a:xfrm>
            <a:off x="7040880" y="4480560"/>
            <a:ext cx="4297680" cy="41148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CÂȘTIGURILE</a:t>
            </a:r>
            <a:endParaRPr lang="en-US" sz="1400" dirty="0"/>
          </a:p>
        </p:txBody>
      </p:sp>
      <p:sp>
        <p:nvSpPr>
          <p:cNvPr id="24" name="Text 22"/>
          <p:cNvSpPr/>
          <p:nvPr/>
        </p:nvSpPr>
        <p:spPr>
          <a:xfrm>
            <a:off x="7040880" y="4892040"/>
            <a:ext cx="434340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pacienți veniți din afara ariei principale</a:t>
            </a:r>
            <a:endParaRPr lang="en-US" sz="1550" dirty="0"/>
          </a:p>
        </p:txBody>
      </p:sp>
      <p:sp>
        <p:nvSpPr>
          <p:cNvPr id="25" name="Text 2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prezentarea cursului.</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EXEMPLU CU VALORI IPOTETICE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Serviciul RMN al spitalului județean, în cifre</a:t>
            </a:r>
            <a:endParaRPr lang="en-US" sz="3100" dirty="0"/>
          </a:p>
        </p:txBody>
      </p:sp>
      <p:sp>
        <p:nvSpPr>
          <p:cNvPr id="4" name="Text 2"/>
          <p:cNvSpPr/>
          <p:nvPr/>
        </p:nvSpPr>
        <p:spPr>
          <a:xfrm>
            <a:off x="594360" y="1508760"/>
            <a:ext cx="1097280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4 000 de pacienți într-un an, după domiciliu</a:t>
            </a:r>
            <a:endParaRPr lang="en-US" sz="1400" dirty="0"/>
          </a:p>
        </p:txBody>
      </p:sp>
      <p:sp>
        <p:nvSpPr>
          <p:cNvPr id="5" name="Shape 3"/>
          <p:cNvSpPr/>
          <p:nvPr/>
        </p:nvSpPr>
        <p:spPr>
          <a:xfrm>
            <a:off x="594360" y="1965960"/>
            <a:ext cx="4937760" cy="777240"/>
          </a:xfrm>
          <a:prstGeom prst="rect">
            <a:avLst/>
          </a:prstGeom>
          <a:solidFill>
            <a:srgbClr val="0E7C6B"/>
          </a:solidFill>
          <a:ln w="19050">
            <a:solidFill>
              <a:srgbClr val="F6F5F2"/>
            </a:solidFill>
            <a:prstDash val="solid"/>
          </a:ln>
        </p:spPr>
        <p:txBody>
          <a:bodyPr/>
          <a:p/>
        </p:txBody>
      </p:sp>
      <p:sp>
        <p:nvSpPr>
          <p:cNvPr id="6" name="Text 4"/>
          <p:cNvSpPr/>
          <p:nvPr/>
        </p:nvSpPr>
        <p:spPr>
          <a:xfrm>
            <a:off x="731520" y="1965960"/>
            <a:ext cx="4663440" cy="777240"/>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municipiul: 1 800</a:t>
            </a:r>
            <a:endParaRPr lang="en-US" sz="1500" dirty="0"/>
          </a:p>
        </p:txBody>
      </p:sp>
      <p:sp>
        <p:nvSpPr>
          <p:cNvPr id="7" name="Shape 5"/>
          <p:cNvSpPr/>
          <p:nvPr/>
        </p:nvSpPr>
        <p:spPr>
          <a:xfrm>
            <a:off x="5532120" y="1965960"/>
            <a:ext cx="3291840" cy="777240"/>
          </a:xfrm>
          <a:prstGeom prst="rect">
            <a:avLst/>
          </a:prstGeom>
          <a:solidFill>
            <a:srgbClr val="27D3BE"/>
          </a:solidFill>
          <a:ln w="19050">
            <a:solidFill>
              <a:srgbClr val="F6F5F2"/>
            </a:solidFill>
            <a:prstDash val="solid"/>
          </a:ln>
        </p:spPr>
        <p:txBody>
          <a:bodyPr/>
          <a:p/>
        </p:txBody>
      </p:sp>
      <p:sp>
        <p:nvSpPr>
          <p:cNvPr id="8" name="Text 6"/>
          <p:cNvSpPr/>
          <p:nvPr/>
        </p:nvSpPr>
        <p:spPr>
          <a:xfrm>
            <a:off x="5669280" y="1965960"/>
            <a:ext cx="3017520" cy="777240"/>
          </a:xfrm>
          <a:prstGeom prst="rect">
            <a:avLst/>
          </a:prstGeom>
          <a:noFill/>
          <a:ln/>
        </p:spPr>
        <p:txBody>
          <a:bodyPr wrap="square" lIns="0" tIns="0" rIns="0" bIns="0" rtlCol="0" anchor="ctr"/>
          <a:lstStyle/>
          <a:p>
            <a:pPr indent="0" marL="0">
              <a:buNone/>
            </a:pPr>
            <a:r>
              <a:rPr lang="en-US" sz="1500" b="1" dirty="0">
                <a:solidFill>
                  <a:srgbClr val="073B34"/>
                </a:solidFill>
                <a:latin typeface="Palatino Linotype" pitchFamily="34" charset="0"/>
                <a:ea typeface="Palatino Linotype" pitchFamily="34" charset="-122"/>
                <a:cs typeface="Palatino Linotype" pitchFamily="34" charset="-120"/>
              </a:rPr>
              <a:t>localitățile din jur: 1 200</a:t>
            </a:r>
            <a:endParaRPr lang="en-US" sz="1500" dirty="0"/>
          </a:p>
        </p:txBody>
      </p:sp>
      <p:sp>
        <p:nvSpPr>
          <p:cNvPr id="9" name="Shape 7"/>
          <p:cNvSpPr/>
          <p:nvPr/>
        </p:nvSpPr>
        <p:spPr>
          <a:xfrm>
            <a:off x="8823960" y="1965960"/>
            <a:ext cx="2743200" cy="777240"/>
          </a:xfrm>
          <a:prstGeom prst="rect">
            <a:avLst/>
          </a:prstGeom>
          <a:solidFill>
            <a:srgbClr val="FFC24B"/>
          </a:solidFill>
          <a:ln w="19050">
            <a:solidFill>
              <a:srgbClr val="F6F5F2"/>
            </a:solidFill>
            <a:prstDash val="solid"/>
          </a:ln>
        </p:spPr>
        <p:txBody>
          <a:bodyPr/>
          <a:p/>
        </p:txBody>
      </p:sp>
      <p:sp>
        <p:nvSpPr>
          <p:cNvPr id="10" name="Text 8"/>
          <p:cNvSpPr/>
          <p:nvPr/>
        </p:nvSpPr>
        <p:spPr>
          <a:xfrm>
            <a:off x="8961120" y="1965960"/>
            <a:ext cx="2468880" cy="777240"/>
          </a:xfrm>
          <a:prstGeom prst="rect">
            <a:avLst/>
          </a:prstGeom>
          <a:noFill/>
          <a:ln/>
        </p:spPr>
        <p:txBody>
          <a:bodyPr wrap="square" lIns="0" tIns="0" rIns="0" bIns="0" rtlCol="0" anchor="ctr"/>
          <a:lstStyle/>
          <a:p>
            <a:pPr indent="0" marL="0">
              <a:buNone/>
            </a:pPr>
            <a:r>
              <a:rPr lang="en-US" sz="1500" b="1" dirty="0">
                <a:solidFill>
                  <a:srgbClr val="3D2A00"/>
                </a:solidFill>
                <a:latin typeface="Palatino Linotype" pitchFamily="34" charset="0"/>
                <a:ea typeface="Palatino Linotype" pitchFamily="34" charset="-122"/>
                <a:cs typeface="Palatino Linotype" pitchFamily="34" charset="-120"/>
              </a:rPr>
              <a:t>județul vecin: 1 000</a:t>
            </a:r>
            <a:endParaRPr lang="en-US" sz="1500" dirty="0"/>
          </a:p>
        </p:txBody>
      </p:sp>
      <p:sp>
        <p:nvSpPr>
          <p:cNvPr id="11" name="Shape 9"/>
          <p:cNvSpPr/>
          <p:nvPr/>
        </p:nvSpPr>
        <p:spPr>
          <a:xfrm>
            <a:off x="594360" y="2852928"/>
            <a:ext cx="8229600" cy="36576"/>
          </a:xfrm>
          <a:prstGeom prst="rect">
            <a:avLst/>
          </a:prstGeom>
          <a:solidFill>
            <a:srgbClr val="0E7C6B"/>
          </a:solidFill>
          <a:ln w="12700">
            <a:solidFill>
              <a:srgbClr val="0E7C6B"/>
            </a:solidFill>
            <a:prstDash val="solid"/>
          </a:ln>
        </p:spPr>
        <p:txBody>
          <a:bodyPr/>
          <a:p/>
        </p:txBody>
      </p:sp>
      <p:sp>
        <p:nvSpPr>
          <p:cNvPr id="12" name="Text 10"/>
          <p:cNvSpPr/>
          <p:nvPr/>
        </p:nvSpPr>
        <p:spPr>
          <a:xfrm>
            <a:off x="594360" y="2944368"/>
            <a:ext cx="8229600" cy="365760"/>
          </a:xfrm>
          <a:prstGeom prst="rect">
            <a:avLst/>
          </a:prstGeom>
          <a:noFill/>
          <a:ln/>
        </p:spPr>
        <p:txBody>
          <a:bodyPr wrap="square" lIns="0" tIns="0" rIns="0" bIns="0" rtlCol="0" anchor="t"/>
          <a:lstStyle/>
          <a:p>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aria principală: 75 din 100</a:t>
            </a:r>
            <a:endParaRPr lang="en-US" sz="1400" dirty="0"/>
          </a:p>
        </p:txBody>
      </p:sp>
      <p:sp>
        <p:nvSpPr>
          <p:cNvPr id="13" name="Text 11"/>
          <p:cNvSpPr/>
          <p:nvPr/>
        </p:nvSpPr>
        <p:spPr>
          <a:xfrm>
            <a:off x="8823960" y="2944368"/>
            <a:ext cx="2743200" cy="365760"/>
          </a:xfrm>
          <a:prstGeom prst="rect">
            <a:avLst/>
          </a:prstGeom>
          <a:noFill/>
          <a:ln/>
        </p:spPr>
        <p:txBody>
          <a:bodyPr wrap="square" lIns="0" tIns="0" rIns="0" bIns="0" rtlCol="0" anchor="t"/>
          <a:lstStyle/>
          <a:p>
            <a:pPr indent="0" marL="0">
              <a:buNone/>
            </a:pPr>
            <a:r>
              <a:rPr lang="en-US" sz="1400" b="1" dirty="0">
                <a:solidFill>
                  <a:srgbClr val="8A6100"/>
                </a:solidFill>
                <a:latin typeface="Palatino Linotype" pitchFamily="34" charset="0"/>
                <a:ea typeface="Palatino Linotype" pitchFamily="34" charset="-122"/>
                <a:cs typeface="Palatino Linotype" pitchFamily="34" charset="-120"/>
              </a:rPr>
              <a:t>aria secundară: 25 din 100</a:t>
            </a:r>
            <a:endParaRPr lang="en-US" sz="1400" dirty="0"/>
          </a:p>
        </p:txBody>
      </p:sp>
      <p:sp>
        <p:nvSpPr>
          <p:cNvPr id="14" name="Shape 12"/>
          <p:cNvSpPr/>
          <p:nvPr/>
        </p:nvSpPr>
        <p:spPr>
          <a:xfrm>
            <a:off x="594360" y="3520440"/>
            <a:ext cx="5349240" cy="2468880"/>
          </a:xfrm>
          <a:prstGeom prst="roundRect">
            <a:avLst>
              <a:gd name="adj" fmla="val 3333"/>
            </a:avLst>
          </a:prstGeom>
          <a:solidFill>
            <a:srgbClr val="ECEAE4"/>
          </a:solidFill>
          <a:ln w="12700">
            <a:solidFill>
              <a:srgbClr val="ECEAE4"/>
            </a:solidFill>
            <a:prstDash val="solid"/>
          </a:ln>
        </p:spPr>
        <p:txBody>
          <a:bodyPr/>
          <a:p/>
        </p:txBody>
      </p:sp>
      <p:sp>
        <p:nvSpPr>
          <p:cNvPr id="15" name="Text 13"/>
          <p:cNvSpPr/>
          <p:nvPr/>
        </p:nvSpPr>
        <p:spPr>
          <a:xfrm>
            <a:off x="868680" y="3657600"/>
            <a:ext cx="4846320" cy="320040"/>
          </a:xfrm>
          <a:prstGeom prst="rect">
            <a:avLst/>
          </a:prstGeom>
          <a:noFill/>
          <a:ln/>
        </p:spPr>
        <p:txBody>
          <a:bodyPr wrap="square" lIns="0" tIns="0" rIns="0" bIns="0" rtlCol="0" anchor="t"/>
          <a:lstStyle/>
          <a:p>
            <a:pPr indent="0" marL="0">
              <a:buNone/>
            </a:pPr>
            <a:r>
              <a:rPr lang="en-US" sz="1250" b="1" spc="200" kern="0" dirty="0">
                <a:solidFill>
                  <a:srgbClr val="0E7C6B"/>
                </a:solidFill>
                <a:latin typeface="Palatino Linotype" pitchFamily="34" charset="0"/>
                <a:ea typeface="Palatino Linotype" pitchFamily="34" charset="-122"/>
                <a:cs typeface="Palatino Linotype" pitchFamily="34" charset="-120"/>
              </a:rPr>
              <a:t>CÂT DE MULT VIN</a:t>
            </a:r>
            <a:endParaRPr lang="en-US" sz="1250" dirty="0"/>
          </a:p>
        </p:txBody>
      </p:sp>
      <p:sp>
        <p:nvSpPr>
          <p:cNvPr id="16" name="Text 14"/>
          <p:cNvSpPr/>
          <p:nvPr/>
        </p:nvSpPr>
        <p:spPr>
          <a:xfrm>
            <a:off x="868680" y="4069080"/>
            <a:ext cx="4846320" cy="18288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Din municipiu: 1 800 de pacienți la 200 000 de locuitori, adică 9 la mia de locuitori.</a:t>
            </a:r>
            <a:endParaRPr lang="en-US" sz="1550" dirty="0"/>
          </a:p>
        </p:txBody>
      </p:sp>
      <p:sp>
        <p:nvSpPr>
          <p:cNvPr id="17" name="Shape 15"/>
          <p:cNvSpPr/>
          <p:nvPr/>
        </p:nvSpPr>
        <p:spPr>
          <a:xfrm>
            <a:off x="6217920" y="3520440"/>
            <a:ext cx="5349240" cy="2468880"/>
          </a:xfrm>
          <a:prstGeom prst="roundRect">
            <a:avLst>
              <a:gd name="adj" fmla="val 3333"/>
            </a:avLst>
          </a:prstGeom>
          <a:solidFill>
            <a:srgbClr val="ECEAE4"/>
          </a:solidFill>
          <a:ln w="12700">
            <a:solidFill>
              <a:srgbClr val="ECEAE4"/>
            </a:solidFill>
            <a:prstDash val="solid"/>
          </a:ln>
        </p:spPr>
        <p:txBody>
          <a:bodyPr/>
          <a:p/>
        </p:txBody>
      </p:sp>
      <p:sp>
        <p:nvSpPr>
          <p:cNvPr id="18" name="Text 16"/>
          <p:cNvSpPr/>
          <p:nvPr/>
        </p:nvSpPr>
        <p:spPr>
          <a:xfrm>
            <a:off x="6492240" y="3657600"/>
            <a:ext cx="4846320" cy="320040"/>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PIERDERILE</a:t>
            </a:r>
            <a:endParaRPr lang="en-US" sz="1250" dirty="0"/>
          </a:p>
        </p:txBody>
      </p:sp>
      <p:sp>
        <p:nvSpPr>
          <p:cNvPr id="19" name="Text 17"/>
          <p:cNvSpPr/>
          <p:nvPr/>
        </p:nvSpPr>
        <p:spPr>
          <a:xfrm>
            <a:off x="6492240" y="4069080"/>
            <a:ext cx="4846320" cy="18288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Din 4 000 de examene RMN decontate ale ariei principale, 1 000 s-au făcut în altă parte: 25 din 100. Plățile directe nu apar.</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CALCUL SCURT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CU COLEGUL DE BANCĂ</a:t>
            </a:r>
            <a:endParaRPr lang="en-US" sz="1300" dirty="0"/>
          </a:p>
        </p:txBody>
      </p:sp>
      <p:sp>
        <p:nvSpPr>
          <p:cNvPr id="5" name="Text 3"/>
          <p:cNvSpPr/>
          <p:nvPr/>
        </p:nvSpPr>
        <p:spPr>
          <a:xfrm>
            <a:off x="594360" y="1097280"/>
            <a:ext cx="10789920" cy="246888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Centrul privat mai atrage cinci sute de pacienți din aria principală, iar spitalul îi pierde pe toți. Cât devin pierderile?</a:t>
            </a:r>
            <a:endParaRPr lang="en-US" sz="3400" dirty="0"/>
          </a:p>
        </p:txBody>
      </p:sp>
      <p:sp>
        <p:nvSpPr>
          <p:cNvPr id="6" name="Shape 4"/>
          <p:cNvSpPr/>
          <p:nvPr/>
        </p:nvSpPr>
        <p:spPr>
          <a:xfrm>
            <a:off x="594360" y="3794760"/>
            <a:ext cx="1280160" cy="36576"/>
          </a:xfrm>
          <a:prstGeom prst="rect">
            <a:avLst/>
          </a:prstGeom>
          <a:solidFill>
            <a:srgbClr val="27D3BE"/>
          </a:solidFill>
          <a:ln/>
        </p:spPr>
        <p:txBody>
          <a:bodyPr/>
          <a:p/>
        </p:txBody>
      </p:sp>
      <p:sp>
        <p:nvSpPr>
          <p:cNvPr id="7" name="Text 5"/>
          <p:cNvSpPr/>
          <p:nvPr/>
        </p:nvSpPr>
        <p:spPr>
          <a:xfrm>
            <a:off x="594360" y="4114800"/>
            <a:ext cx="10424160" cy="137160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Și ce s-ar întâmpla cu pacienții din județul vecin dacă centrul ar deschide și acolo un punct de lucru? Două minute de calcul, două minute de discuție.</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CALCULUL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Pierderile urcă la puțin peste o treime</a:t>
            </a:r>
            <a:endParaRPr lang="en-US" sz="3100" dirty="0"/>
          </a:p>
        </p:txBody>
      </p:sp>
      <p:sp>
        <p:nvSpPr>
          <p:cNvPr id="4" name="Shape 2"/>
          <p:cNvSpPr/>
          <p:nvPr/>
        </p:nvSpPr>
        <p:spPr>
          <a:xfrm>
            <a:off x="594360" y="1600200"/>
            <a:ext cx="5486400" cy="2377440"/>
          </a:xfrm>
          <a:prstGeom prst="roundRect">
            <a:avLst>
              <a:gd name="adj" fmla="val 3462"/>
            </a:avLst>
          </a:prstGeom>
          <a:solidFill>
            <a:srgbClr val="ECEAE4"/>
          </a:solidFill>
          <a:ln w="12700">
            <a:solidFill>
              <a:srgbClr val="ECEAE4"/>
            </a:solidFill>
            <a:prstDash val="solid"/>
          </a:ln>
        </p:spPr>
        <p:txBody>
          <a:bodyPr/>
          <a:p/>
        </p:txBody>
      </p:sp>
      <p:sp>
        <p:nvSpPr>
          <p:cNvPr id="5" name="Text 3"/>
          <p:cNvSpPr/>
          <p:nvPr/>
        </p:nvSpPr>
        <p:spPr>
          <a:xfrm>
            <a:off x="868680" y="1737360"/>
            <a:ext cx="4937760" cy="1097280"/>
          </a:xfrm>
          <a:prstGeom prst="rect">
            <a:avLst/>
          </a:prstGeom>
          <a:noFill/>
          <a:ln/>
        </p:spPr>
        <p:txBody>
          <a:bodyPr wrap="square" lIns="0" tIns="0" rIns="0" bIns="0" rtlCol="0" anchor="ctr"/>
          <a:lstStyle/>
          <a:p>
            <a:pPr indent="0" marL="0">
              <a:buNone/>
            </a:pPr>
            <a:r>
              <a:rPr lang="en-US" sz="2800" b="1" dirty="0">
                <a:solidFill>
                  <a:srgbClr val="B02532"/>
                </a:solidFill>
                <a:latin typeface="Palatino Linotype" pitchFamily="34" charset="0"/>
                <a:ea typeface="Palatino Linotype" pitchFamily="34" charset="-122"/>
                <a:cs typeface="Palatino Linotype" pitchFamily="34" charset="-120"/>
              </a:rPr>
              <a:t>o mie cinci sute din patru mii</a:t>
            </a:r>
            <a:endParaRPr lang="en-US" sz="2800" dirty="0"/>
          </a:p>
        </p:txBody>
      </p:sp>
      <p:sp>
        <p:nvSpPr>
          <p:cNvPr id="6" name="Text 4"/>
          <p:cNvSpPr/>
          <p:nvPr/>
        </p:nvSpPr>
        <p:spPr>
          <a:xfrm>
            <a:off x="868680" y="2834640"/>
            <a:ext cx="493776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Spitalul mai investighează două mii cinci sute dintre ei.</a:t>
            </a:r>
            <a:endParaRPr lang="en-US" sz="1500" dirty="0"/>
          </a:p>
        </p:txBody>
      </p:sp>
      <p:sp>
        <p:nvSpPr>
          <p:cNvPr id="7" name="Shape 5"/>
          <p:cNvSpPr/>
          <p:nvPr/>
        </p:nvSpPr>
        <p:spPr>
          <a:xfrm>
            <a:off x="6355080" y="1600200"/>
            <a:ext cx="5212080" cy="2377440"/>
          </a:xfrm>
          <a:prstGeom prst="roundRect">
            <a:avLst>
              <a:gd name="adj" fmla="val 3462"/>
            </a:avLst>
          </a:prstGeom>
          <a:solidFill>
            <a:srgbClr val="1D1F2B"/>
          </a:solidFill>
          <a:ln w="12700">
            <a:solidFill>
              <a:srgbClr val="1D1F2B"/>
            </a:solidFill>
            <a:prstDash val="solid"/>
          </a:ln>
        </p:spPr>
        <p:txBody>
          <a:bodyPr/>
          <a:p/>
        </p:txBody>
      </p:sp>
      <p:sp>
        <p:nvSpPr>
          <p:cNvPr id="8" name="Text 6"/>
          <p:cNvSpPr/>
          <p:nvPr/>
        </p:nvSpPr>
        <p:spPr>
          <a:xfrm>
            <a:off x="6629400" y="1737360"/>
            <a:ext cx="4663440" cy="320040"/>
          </a:xfrm>
          <a:prstGeom prst="rect">
            <a:avLst/>
          </a:prstGeom>
          <a:noFill/>
          <a:ln/>
        </p:spPr>
        <p:txBody>
          <a:bodyPr wrap="square" lIns="0" tIns="0" rIns="0" bIns="0" rtlCol="0" anchor="t"/>
          <a:lstStyle/>
          <a:p>
            <a:pPr indent="0" marL="0">
              <a:buNone/>
            </a:pPr>
            <a:r>
              <a:rPr lang="en-US" sz="1250" b="1" spc="200" kern="0" dirty="0">
                <a:solidFill>
                  <a:srgbClr val="FFC24B"/>
                </a:solidFill>
                <a:latin typeface="Palatino Linotype" pitchFamily="34" charset="0"/>
                <a:ea typeface="Palatino Linotype" pitchFamily="34" charset="-122"/>
                <a:cs typeface="Palatino Linotype" pitchFamily="34" charset="-120"/>
              </a:rPr>
              <a:t>JUDEȚUL VECIN</a:t>
            </a:r>
            <a:endParaRPr lang="en-US" sz="1250" dirty="0"/>
          </a:p>
        </p:txBody>
      </p:sp>
      <p:sp>
        <p:nvSpPr>
          <p:cNvPr id="9" name="Text 7"/>
          <p:cNvSpPr/>
          <p:nvPr/>
        </p:nvSpPr>
        <p:spPr>
          <a:xfrm>
            <a:off x="6629400" y="2148840"/>
            <a:ext cx="4663440" cy="173736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Câștigurile de acolo sunt fragile: un competitor mai aproape le poate lua repede.</a:t>
            </a:r>
            <a:endParaRPr lang="en-US" sz="1550" dirty="0"/>
          </a:p>
        </p:txBody>
      </p:sp>
      <p:sp>
        <p:nvSpPr>
          <p:cNvPr id="10" name="Text 8"/>
          <p:cNvSpPr/>
          <p:nvPr/>
        </p:nvSpPr>
        <p:spPr>
          <a:xfrm>
            <a:off x="594360" y="429768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Pierderile nu înseamnă neapărat calitate slabă: pot veni din program sau din așteptare, adică din determinanți ai pieței.</a:t>
            </a:r>
            <a:endParaRPr lang="en-US" sz="1800" dirty="0"/>
          </a:p>
        </p:txBody>
      </p:sp>
      <p:sp>
        <p:nvSpPr>
          <p:cNvPr id="11" name="Text 9"/>
          <p:cNvSpPr/>
          <p:nvPr/>
        </p:nvSpPr>
        <p:spPr>
          <a:xfrm>
            <a:off x="594360" y="5257800"/>
            <a:ext cx="10972800" cy="54864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Golurile de pe hartă le poate umple un furnizor.</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CE INTRĂ ÎN PLAN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O duzină de probleme, un singur plan</a:t>
            </a:r>
            <a:endParaRPr lang="en-US" sz="3200" dirty="0"/>
          </a:p>
        </p:txBody>
      </p:sp>
      <p:sp>
        <p:nvSpPr>
          <p:cNvPr id="4" name="Shape 2"/>
          <p:cNvSpPr/>
          <p:nvPr/>
        </p:nvSpPr>
        <p:spPr>
          <a:xfrm>
            <a:off x="594360" y="1691640"/>
            <a:ext cx="2560320" cy="118872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5" name="Shape 3"/>
          <p:cNvSpPr/>
          <p:nvPr/>
        </p:nvSpPr>
        <p:spPr>
          <a:xfrm>
            <a:off x="594360" y="1691640"/>
            <a:ext cx="2560320" cy="82296"/>
          </a:xfrm>
          <a:prstGeom prst="rect">
            <a:avLst/>
          </a:prstGeom>
          <a:solidFill>
            <a:srgbClr val="FF4757"/>
          </a:solidFill>
          <a:ln w="12700">
            <a:solidFill>
              <a:srgbClr val="FF4757"/>
            </a:solidFill>
            <a:prstDash val="solid"/>
          </a:ln>
        </p:spPr>
        <p:txBody>
          <a:bodyPr/>
          <a:p/>
        </p:txBody>
      </p:sp>
      <p:sp>
        <p:nvSpPr>
          <p:cNvPr id="6" name="Text 4"/>
          <p:cNvSpPr/>
          <p:nvPr/>
        </p:nvSpPr>
        <p:spPr>
          <a:xfrm>
            <a:off x="777240" y="1828800"/>
            <a:ext cx="2194560" cy="10058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tariful care nu acoperă costul</a:t>
            </a:r>
            <a:endParaRPr lang="en-US" sz="1600" dirty="0"/>
          </a:p>
        </p:txBody>
      </p:sp>
      <p:sp>
        <p:nvSpPr>
          <p:cNvPr id="7" name="Shape 5"/>
          <p:cNvSpPr/>
          <p:nvPr/>
        </p:nvSpPr>
        <p:spPr>
          <a:xfrm>
            <a:off x="3383280" y="1828800"/>
            <a:ext cx="2560320" cy="118872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8" name="Shape 6"/>
          <p:cNvSpPr/>
          <p:nvPr/>
        </p:nvSpPr>
        <p:spPr>
          <a:xfrm>
            <a:off x="3383280" y="1828800"/>
            <a:ext cx="2560320" cy="82296"/>
          </a:xfrm>
          <a:prstGeom prst="rect">
            <a:avLst/>
          </a:prstGeom>
          <a:solidFill>
            <a:srgbClr val="FFC24B"/>
          </a:solidFill>
          <a:ln w="12700">
            <a:solidFill>
              <a:srgbClr val="FFC24B"/>
            </a:solidFill>
            <a:prstDash val="solid"/>
          </a:ln>
        </p:spPr>
        <p:txBody>
          <a:bodyPr/>
          <a:p/>
        </p:txBody>
      </p:sp>
      <p:sp>
        <p:nvSpPr>
          <p:cNvPr id="9" name="Text 7"/>
          <p:cNvSpPr/>
          <p:nvPr/>
        </p:nvSpPr>
        <p:spPr>
          <a:xfrm>
            <a:off x="3566160" y="1965960"/>
            <a:ext cx="2194560" cy="10058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inflația</a:t>
            </a:r>
            <a:endParaRPr lang="en-US" sz="1600" dirty="0"/>
          </a:p>
        </p:txBody>
      </p:sp>
      <p:sp>
        <p:nvSpPr>
          <p:cNvPr id="10" name="Shape 8"/>
          <p:cNvSpPr/>
          <p:nvPr/>
        </p:nvSpPr>
        <p:spPr>
          <a:xfrm>
            <a:off x="6172200" y="1691640"/>
            <a:ext cx="2560320" cy="118872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11" name="Shape 9"/>
          <p:cNvSpPr/>
          <p:nvPr/>
        </p:nvSpPr>
        <p:spPr>
          <a:xfrm>
            <a:off x="6172200" y="1691640"/>
            <a:ext cx="2560320" cy="82296"/>
          </a:xfrm>
          <a:prstGeom prst="rect">
            <a:avLst/>
          </a:prstGeom>
          <a:solidFill>
            <a:srgbClr val="27D3BE"/>
          </a:solidFill>
          <a:ln w="12700">
            <a:solidFill>
              <a:srgbClr val="27D3BE"/>
            </a:solidFill>
            <a:prstDash val="solid"/>
          </a:ln>
        </p:spPr>
        <p:txBody>
          <a:bodyPr/>
          <a:p/>
        </p:txBody>
      </p:sp>
      <p:sp>
        <p:nvSpPr>
          <p:cNvPr id="12" name="Text 10"/>
          <p:cNvSpPr/>
          <p:nvPr/>
        </p:nvSpPr>
        <p:spPr>
          <a:xfrm>
            <a:off x="6355080" y="1828800"/>
            <a:ext cx="2194560" cy="10058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îmbătrânirea</a:t>
            </a:r>
            <a:endParaRPr lang="en-US" sz="1600" dirty="0"/>
          </a:p>
        </p:txBody>
      </p:sp>
      <p:sp>
        <p:nvSpPr>
          <p:cNvPr id="13" name="Shape 11"/>
          <p:cNvSpPr/>
          <p:nvPr/>
        </p:nvSpPr>
        <p:spPr>
          <a:xfrm>
            <a:off x="8961120" y="1828800"/>
            <a:ext cx="2560320" cy="118872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14" name="Shape 12"/>
          <p:cNvSpPr/>
          <p:nvPr/>
        </p:nvSpPr>
        <p:spPr>
          <a:xfrm>
            <a:off x="8961120" y="1828800"/>
            <a:ext cx="2560320" cy="82296"/>
          </a:xfrm>
          <a:prstGeom prst="rect">
            <a:avLst/>
          </a:prstGeom>
          <a:solidFill>
            <a:srgbClr val="FF4757"/>
          </a:solidFill>
          <a:ln w="12700">
            <a:solidFill>
              <a:srgbClr val="FF4757"/>
            </a:solidFill>
            <a:prstDash val="solid"/>
          </a:ln>
        </p:spPr>
        <p:txBody>
          <a:bodyPr/>
          <a:p/>
        </p:txBody>
      </p:sp>
      <p:sp>
        <p:nvSpPr>
          <p:cNvPr id="15" name="Text 13"/>
          <p:cNvSpPr/>
          <p:nvPr/>
        </p:nvSpPr>
        <p:spPr>
          <a:xfrm>
            <a:off x="9144000" y="1965960"/>
            <a:ext cx="2194560" cy="10058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radiologii care pleacă</a:t>
            </a:r>
            <a:endParaRPr lang="en-US" sz="1600" dirty="0"/>
          </a:p>
        </p:txBody>
      </p:sp>
      <p:sp>
        <p:nvSpPr>
          <p:cNvPr id="16" name="Shape 14"/>
          <p:cNvSpPr/>
          <p:nvPr/>
        </p:nvSpPr>
        <p:spPr>
          <a:xfrm>
            <a:off x="1965960" y="3200400"/>
            <a:ext cx="2560320" cy="118872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17" name="Shape 15"/>
          <p:cNvSpPr/>
          <p:nvPr/>
        </p:nvSpPr>
        <p:spPr>
          <a:xfrm>
            <a:off x="1965960" y="3200400"/>
            <a:ext cx="2560320" cy="82296"/>
          </a:xfrm>
          <a:prstGeom prst="rect">
            <a:avLst/>
          </a:prstGeom>
          <a:solidFill>
            <a:srgbClr val="9B7EF7"/>
          </a:solidFill>
          <a:ln w="12700">
            <a:solidFill>
              <a:srgbClr val="9B7EF7"/>
            </a:solidFill>
            <a:prstDash val="solid"/>
          </a:ln>
        </p:spPr>
        <p:txBody>
          <a:bodyPr/>
          <a:p/>
        </p:txBody>
      </p:sp>
      <p:sp>
        <p:nvSpPr>
          <p:cNvPr id="18" name="Text 16"/>
          <p:cNvSpPr/>
          <p:nvPr/>
        </p:nvSpPr>
        <p:spPr>
          <a:xfrm>
            <a:off x="2148840" y="3337560"/>
            <a:ext cx="2194560" cy="10058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regulamentul european</a:t>
            </a:r>
            <a:endParaRPr lang="en-US" sz="1600" dirty="0"/>
          </a:p>
        </p:txBody>
      </p:sp>
      <p:sp>
        <p:nvSpPr>
          <p:cNvPr id="19" name="Shape 17"/>
          <p:cNvSpPr/>
          <p:nvPr/>
        </p:nvSpPr>
        <p:spPr>
          <a:xfrm>
            <a:off x="4754880" y="3337560"/>
            <a:ext cx="2560320" cy="118872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20" name="Shape 18"/>
          <p:cNvSpPr/>
          <p:nvPr/>
        </p:nvSpPr>
        <p:spPr>
          <a:xfrm>
            <a:off x="4754880" y="3337560"/>
            <a:ext cx="2560320" cy="82296"/>
          </a:xfrm>
          <a:prstGeom prst="rect">
            <a:avLst/>
          </a:prstGeom>
          <a:solidFill>
            <a:srgbClr val="FF8A3D"/>
          </a:solidFill>
          <a:ln w="12700">
            <a:solidFill>
              <a:srgbClr val="FF8A3D"/>
            </a:solidFill>
            <a:prstDash val="solid"/>
          </a:ln>
        </p:spPr>
        <p:txBody>
          <a:bodyPr/>
          <a:p/>
        </p:txBody>
      </p:sp>
      <p:sp>
        <p:nvSpPr>
          <p:cNvPr id="21" name="Text 19"/>
          <p:cNvSpPr/>
          <p:nvPr/>
        </p:nvSpPr>
        <p:spPr>
          <a:xfrm>
            <a:off x="4937760" y="3474720"/>
            <a:ext cx="2194560" cy="10058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centrul privat</a:t>
            </a:r>
            <a:endParaRPr lang="en-US" sz="1600" dirty="0"/>
          </a:p>
        </p:txBody>
      </p:sp>
      <p:sp>
        <p:nvSpPr>
          <p:cNvPr id="22" name="Shape 20"/>
          <p:cNvSpPr/>
          <p:nvPr/>
        </p:nvSpPr>
        <p:spPr>
          <a:xfrm>
            <a:off x="7543800" y="3200400"/>
            <a:ext cx="2560320" cy="1188720"/>
          </a:xfrm>
          <a:prstGeom prst="rect">
            <a:avLst/>
          </a:prstGeom>
          <a:solidFill>
            <a:srgbClr val="FBF8F1"/>
          </a:solidFill>
          <a:ln w="9525">
            <a:solidFill>
              <a:srgbClr val="C9C6BE"/>
            </a:solidFill>
            <a:prstDash val="solid"/>
          </a:ln>
          <a:effectLst>
            <a:outerShdw sx="100000" sy="100000" kx="0" ky="0" algn="bl" rotWithShape="0" blurRad="50800" dist="25400" dir="5400000">
              <a:srgbClr val="000000">
                <a:alpha val="35000"/>
              </a:srgbClr>
            </a:outerShdw>
          </a:effectLst>
        </p:spPr>
        <p:txBody>
          <a:bodyPr/>
          <a:p/>
        </p:txBody>
      </p:sp>
      <p:sp>
        <p:nvSpPr>
          <p:cNvPr id="23" name="Shape 21"/>
          <p:cNvSpPr/>
          <p:nvPr/>
        </p:nvSpPr>
        <p:spPr>
          <a:xfrm>
            <a:off x="7543800" y="3200400"/>
            <a:ext cx="2560320" cy="82296"/>
          </a:xfrm>
          <a:prstGeom prst="rect">
            <a:avLst/>
          </a:prstGeom>
          <a:solidFill>
            <a:srgbClr val="FFC24B"/>
          </a:solidFill>
          <a:ln w="12700">
            <a:solidFill>
              <a:srgbClr val="FFC24B"/>
            </a:solidFill>
            <a:prstDash val="solid"/>
          </a:ln>
        </p:spPr>
        <p:txBody>
          <a:bodyPr/>
          <a:p/>
        </p:txBody>
      </p:sp>
      <p:sp>
        <p:nvSpPr>
          <p:cNvPr id="24" name="Text 22"/>
          <p:cNvSpPr/>
          <p:nvPr/>
        </p:nvSpPr>
        <p:spPr>
          <a:xfrm>
            <a:off x="7726680" y="3337560"/>
            <a:ext cx="2194560" cy="10058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pacienții din județul vecin</a:t>
            </a:r>
            <a:endParaRPr lang="en-US" sz="1600" dirty="0"/>
          </a:p>
        </p:txBody>
      </p:sp>
      <p:sp>
        <p:nvSpPr>
          <p:cNvPr id="25" name="Text 23"/>
          <p:cNvSpPr/>
          <p:nvPr/>
        </p:nvSpPr>
        <p:spPr>
          <a:xfrm>
            <a:off x="594360" y="5120640"/>
            <a:ext cx="10972800" cy="64008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Managerul nu le poate trece pe toate în plan. Trebuie să aleagă.</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Prioritizarea după impact și probabilitate</a:t>
            </a:r>
            <a:endParaRPr lang="en-US" sz="3000" dirty="0"/>
          </a:p>
        </p:txBody>
      </p:sp>
      <p:sp>
        <p:nvSpPr>
          <p:cNvPr id="4" name="Text 2"/>
          <p:cNvSpPr/>
          <p:nvPr/>
        </p:nvSpPr>
        <p:spPr>
          <a:xfrm>
            <a:off x="594360" y="1463040"/>
            <a:ext cx="10972800" cy="7772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Pe scurt, „impact × probabilitate”. În cuvinte de zi cu zi: cât de tare ne lovește și cât de sigur este că se întâmplă.</a:t>
            </a:r>
            <a:endParaRPr lang="en-US" sz="1700" dirty="0"/>
          </a:p>
        </p:txBody>
      </p:sp>
      <p:sp>
        <p:nvSpPr>
          <p:cNvPr id="5" name="Shape 3"/>
          <p:cNvSpPr/>
          <p:nvPr/>
        </p:nvSpPr>
        <p:spPr>
          <a:xfrm>
            <a:off x="1188720" y="2514600"/>
            <a:ext cx="36576" cy="3291840"/>
          </a:xfrm>
          <a:prstGeom prst="rect">
            <a:avLst/>
          </a:prstGeom>
          <a:solidFill>
            <a:srgbClr val="11121A"/>
          </a:solidFill>
          <a:ln w="12700">
            <a:solidFill>
              <a:srgbClr val="11121A"/>
            </a:solidFill>
            <a:prstDash val="solid"/>
          </a:ln>
        </p:spPr>
        <p:txBody>
          <a:bodyPr/>
          <a:p/>
        </p:txBody>
      </p:sp>
      <p:sp>
        <p:nvSpPr>
          <p:cNvPr id="6" name="Shape 4"/>
          <p:cNvSpPr/>
          <p:nvPr/>
        </p:nvSpPr>
        <p:spPr>
          <a:xfrm>
            <a:off x="1188720" y="5806440"/>
            <a:ext cx="4572000" cy="36576"/>
          </a:xfrm>
          <a:prstGeom prst="rect">
            <a:avLst/>
          </a:prstGeom>
          <a:solidFill>
            <a:srgbClr val="11121A"/>
          </a:solidFill>
          <a:ln w="12700">
            <a:solidFill>
              <a:srgbClr val="11121A"/>
            </a:solidFill>
            <a:prstDash val="solid"/>
          </a:ln>
        </p:spPr>
        <p:txBody>
          <a:bodyPr/>
          <a:p/>
        </p:txBody>
      </p:sp>
      <p:sp>
        <p:nvSpPr>
          <p:cNvPr id="7" name="Text 5"/>
          <p:cNvSpPr/>
          <p:nvPr/>
        </p:nvSpPr>
        <p:spPr>
          <a:xfrm>
            <a:off x="411480" y="2514600"/>
            <a:ext cx="731520" cy="32004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impactul</a:t>
            </a:r>
            <a:endParaRPr lang="en-US" sz="1200" dirty="0"/>
          </a:p>
        </p:txBody>
      </p:sp>
      <p:sp>
        <p:nvSpPr>
          <p:cNvPr id="8" name="Text 6"/>
          <p:cNvSpPr/>
          <p:nvPr/>
        </p:nvSpPr>
        <p:spPr>
          <a:xfrm>
            <a:off x="4297680" y="5879592"/>
            <a:ext cx="1463040" cy="274320"/>
          </a:xfrm>
          <a:prstGeom prst="rect">
            <a:avLst/>
          </a:prstGeom>
          <a:noFill/>
          <a:ln/>
        </p:spPr>
        <p:txBody>
          <a:bodyPr wrap="square" lIns="0" tIns="0" rIns="0" bIns="0" rtlCol="0" anchor="t"/>
          <a:lstStyle/>
          <a:p>
            <a:pPr algn="r" indent="0" marL="0">
              <a:buNone/>
            </a:pPr>
            <a:r>
              <a:rPr lang="en-US" sz="1200" i="1" dirty="0">
                <a:solidFill>
                  <a:srgbClr val="585A64"/>
                </a:solidFill>
                <a:latin typeface="Palatino Linotype" pitchFamily="34" charset="0"/>
                <a:ea typeface="Palatino Linotype" pitchFamily="34" charset="-122"/>
                <a:cs typeface="Palatino Linotype" pitchFamily="34" charset="-120"/>
              </a:rPr>
              <a:t>probabilitatea</a:t>
            </a:r>
            <a:endParaRPr lang="en-US" sz="1200" dirty="0"/>
          </a:p>
        </p:txBody>
      </p:sp>
      <p:sp>
        <p:nvSpPr>
          <p:cNvPr id="9" name="Shape 7"/>
          <p:cNvSpPr/>
          <p:nvPr/>
        </p:nvSpPr>
        <p:spPr>
          <a:xfrm>
            <a:off x="2971800" y="2468880"/>
            <a:ext cx="91440" cy="91440"/>
          </a:xfrm>
          <a:prstGeom prst="ellipse">
            <a:avLst/>
          </a:prstGeom>
          <a:solidFill>
            <a:srgbClr val="B02532"/>
          </a:solidFill>
          <a:ln w="12700">
            <a:solidFill>
              <a:srgbClr val="B02532"/>
            </a:solidFill>
            <a:prstDash val="solid"/>
          </a:ln>
        </p:spPr>
        <p:txBody>
          <a:bodyPr/>
          <a:p/>
        </p:txBody>
      </p:sp>
      <p:sp>
        <p:nvSpPr>
          <p:cNvPr id="10" name="Shape 8"/>
          <p:cNvSpPr/>
          <p:nvPr/>
        </p:nvSpPr>
        <p:spPr>
          <a:xfrm>
            <a:off x="2995268" y="2755328"/>
            <a:ext cx="91440" cy="91440"/>
          </a:xfrm>
          <a:prstGeom prst="ellipse">
            <a:avLst/>
          </a:prstGeom>
          <a:solidFill>
            <a:srgbClr val="B02532"/>
          </a:solidFill>
          <a:ln w="12700">
            <a:solidFill>
              <a:srgbClr val="B02532"/>
            </a:solidFill>
            <a:prstDash val="solid"/>
          </a:ln>
        </p:spPr>
        <p:txBody>
          <a:bodyPr/>
          <a:p/>
        </p:txBody>
      </p:sp>
      <p:sp>
        <p:nvSpPr>
          <p:cNvPr id="11" name="Shape 9"/>
          <p:cNvSpPr/>
          <p:nvPr/>
        </p:nvSpPr>
        <p:spPr>
          <a:xfrm>
            <a:off x="3065272" y="3036874"/>
            <a:ext cx="91440" cy="91440"/>
          </a:xfrm>
          <a:prstGeom prst="ellipse">
            <a:avLst/>
          </a:prstGeom>
          <a:solidFill>
            <a:srgbClr val="B02532"/>
          </a:solidFill>
          <a:ln w="12700">
            <a:solidFill>
              <a:srgbClr val="B02532"/>
            </a:solidFill>
            <a:prstDash val="solid"/>
          </a:ln>
        </p:spPr>
        <p:txBody>
          <a:bodyPr/>
          <a:p/>
        </p:txBody>
      </p:sp>
      <p:sp>
        <p:nvSpPr>
          <p:cNvPr id="12" name="Shape 10"/>
          <p:cNvSpPr/>
          <p:nvPr/>
        </p:nvSpPr>
        <p:spPr>
          <a:xfrm>
            <a:off x="3180614" y="3308702"/>
            <a:ext cx="91440" cy="91440"/>
          </a:xfrm>
          <a:prstGeom prst="ellipse">
            <a:avLst/>
          </a:prstGeom>
          <a:solidFill>
            <a:srgbClr val="B02532"/>
          </a:solidFill>
          <a:ln w="12700">
            <a:solidFill>
              <a:srgbClr val="B02532"/>
            </a:solidFill>
            <a:prstDash val="solid"/>
          </a:ln>
        </p:spPr>
        <p:txBody>
          <a:bodyPr/>
          <a:p/>
        </p:txBody>
      </p:sp>
      <p:sp>
        <p:nvSpPr>
          <p:cNvPr id="13" name="Shape 11"/>
          <p:cNvSpPr/>
          <p:nvPr/>
        </p:nvSpPr>
        <p:spPr>
          <a:xfrm>
            <a:off x="3339319" y="3566160"/>
            <a:ext cx="91440" cy="91440"/>
          </a:xfrm>
          <a:prstGeom prst="ellipse">
            <a:avLst/>
          </a:prstGeom>
          <a:solidFill>
            <a:srgbClr val="B02532"/>
          </a:solidFill>
          <a:ln w="12700">
            <a:solidFill>
              <a:srgbClr val="B02532"/>
            </a:solidFill>
            <a:prstDash val="solid"/>
          </a:ln>
        </p:spPr>
        <p:txBody>
          <a:bodyPr/>
          <a:p/>
        </p:txBody>
      </p:sp>
      <p:sp>
        <p:nvSpPr>
          <p:cNvPr id="14" name="Shape 12"/>
          <p:cNvSpPr/>
          <p:nvPr/>
        </p:nvSpPr>
        <p:spPr>
          <a:xfrm>
            <a:off x="3538673" y="3804843"/>
            <a:ext cx="91440" cy="91440"/>
          </a:xfrm>
          <a:prstGeom prst="ellipse">
            <a:avLst/>
          </a:prstGeom>
          <a:solidFill>
            <a:srgbClr val="B02532"/>
          </a:solidFill>
          <a:ln w="12700">
            <a:solidFill>
              <a:srgbClr val="B02532"/>
            </a:solidFill>
            <a:prstDash val="solid"/>
          </a:ln>
        </p:spPr>
        <p:txBody>
          <a:bodyPr/>
          <a:p/>
        </p:txBody>
      </p:sp>
      <p:sp>
        <p:nvSpPr>
          <p:cNvPr id="15" name="Shape 13"/>
          <p:cNvSpPr/>
          <p:nvPr/>
        </p:nvSpPr>
        <p:spPr>
          <a:xfrm>
            <a:off x="3775265" y="4020668"/>
            <a:ext cx="91440" cy="91440"/>
          </a:xfrm>
          <a:prstGeom prst="ellipse">
            <a:avLst/>
          </a:prstGeom>
          <a:solidFill>
            <a:srgbClr val="B02532"/>
          </a:solidFill>
          <a:ln w="12700">
            <a:solidFill>
              <a:srgbClr val="B02532"/>
            </a:solidFill>
            <a:prstDash val="solid"/>
          </a:ln>
        </p:spPr>
        <p:txBody>
          <a:bodyPr/>
          <a:p/>
        </p:txBody>
      </p:sp>
      <p:sp>
        <p:nvSpPr>
          <p:cNvPr id="16" name="Shape 14"/>
          <p:cNvSpPr/>
          <p:nvPr/>
        </p:nvSpPr>
        <p:spPr>
          <a:xfrm>
            <a:off x="4045046" y="4209942"/>
            <a:ext cx="91440" cy="91440"/>
          </a:xfrm>
          <a:prstGeom prst="ellipse">
            <a:avLst/>
          </a:prstGeom>
          <a:solidFill>
            <a:srgbClr val="B02532"/>
          </a:solidFill>
          <a:ln w="12700">
            <a:solidFill>
              <a:srgbClr val="B02532"/>
            </a:solidFill>
            <a:prstDash val="solid"/>
          </a:ln>
        </p:spPr>
        <p:txBody>
          <a:bodyPr/>
          <a:p/>
        </p:txBody>
      </p:sp>
      <p:sp>
        <p:nvSpPr>
          <p:cNvPr id="17" name="Shape 15"/>
          <p:cNvSpPr/>
          <p:nvPr/>
        </p:nvSpPr>
        <p:spPr>
          <a:xfrm>
            <a:off x="4343400" y="4369425"/>
            <a:ext cx="91440" cy="91440"/>
          </a:xfrm>
          <a:prstGeom prst="ellipse">
            <a:avLst/>
          </a:prstGeom>
          <a:solidFill>
            <a:srgbClr val="B02532"/>
          </a:solidFill>
          <a:ln w="12700">
            <a:solidFill>
              <a:srgbClr val="B02532"/>
            </a:solidFill>
            <a:prstDash val="solid"/>
          </a:ln>
        </p:spPr>
        <p:txBody>
          <a:bodyPr/>
          <a:p/>
        </p:txBody>
      </p:sp>
      <p:sp>
        <p:nvSpPr>
          <p:cNvPr id="18" name="Shape 16"/>
          <p:cNvSpPr/>
          <p:nvPr/>
        </p:nvSpPr>
        <p:spPr>
          <a:xfrm>
            <a:off x="4665223" y="4496389"/>
            <a:ext cx="91440" cy="91440"/>
          </a:xfrm>
          <a:prstGeom prst="ellipse">
            <a:avLst/>
          </a:prstGeom>
          <a:solidFill>
            <a:srgbClr val="B02532"/>
          </a:solidFill>
          <a:ln w="12700">
            <a:solidFill>
              <a:srgbClr val="B02532"/>
            </a:solidFill>
            <a:prstDash val="solid"/>
          </a:ln>
        </p:spPr>
        <p:txBody>
          <a:bodyPr/>
          <a:p/>
        </p:txBody>
      </p:sp>
      <p:sp>
        <p:nvSpPr>
          <p:cNvPr id="19" name="Shape 17"/>
          <p:cNvSpPr/>
          <p:nvPr/>
        </p:nvSpPr>
        <p:spPr>
          <a:xfrm>
            <a:off x="5005008" y="4588662"/>
            <a:ext cx="91440" cy="91440"/>
          </a:xfrm>
          <a:prstGeom prst="ellipse">
            <a:avLst/>
          </a:prstGeom>
          <a:solidFill>
            <a:srgbClr val="B02532"/>
          </a:solidFill>
          <a:ln w="12700">
            <a:solidFill>
              <a:srgbClr val="B02532"/>
            </a:solidFill>
            <a:prstDash val="solid"/>
          </a:ln>
        </p:spPr>
        <p:txBody>
          <a:bodyPr/>
          <a:p/>
        </p:txBody>
      </p:sp>
      <p:sp>
        <p:nvSpPr>
          <p:cNvPr id="20" name="Shape 18"/>
          <p:cNvSpPr/>
          <p:nvPr/>
        </p:nvSpPr>
        <p:spPr>
          <a:xfrm>
            <a:off x="5356941" y="4644665"/>
            <a:ext cx="91440" cy="91440"/>
          </a:xfrm>
          <a:prstGeom prst="ellipse">
            <a:avLst/>
          </a:prstGeom>
          <a:solidFill>
            <a:srgbClr val="B02532"/>
          </a:solidFill>
          <a:ln w="12700">
            <a:solidFill>
              <a:srgbClr val="B02532"/>
            </a:solidFill>
            <a:prstDash val="solid"/>
          </a:ln>
        </p:spPr>
        <p:txBody>
          <a:bodyPr/>
          <a:p/>
        </p:txBody>
      </p:sp>
      <p:sp>
        <p:nvSpPr>
          <p:cNvPr id="21" name="Shape 19"/>
          <p:cNvSpPr/>
          <p:nvPr/>
        </p:nvSpPr>
        <p:spPr>
          <a:xfrm>
            <a:off x="5715000" y="4663440"/>
            <a:ext cx="91440" cy="91440"/>
          </a:xfrm>
          <a:prstGeom prst="ellipse">
            <a:avLst/>
          </a:prstGeom>
          <a:solidFill>
            <a:srgbClr val="B02532"/>
          </a:solidFill>
          <a:ln w="12700">
            <a:solidFill>
              <a:srgbClr val="B02532"/>
            </a:solidFill>
            <a:prstDash val="solid"/>
          </a:ln>
        </p:spPr>
        <p:txBody>
          <a:bodyPr/>
          <a:p/>
        </p:txBody>
      </p:sp>
      <p:sp>
        <p:nvSpPr>
          <p:cNvPr id="22" name="Text 20"/>
          <p:cNvSpPr/>
          <p:nvPr/>
        </p:nvSpPr>
        <p:spPr>
          <a:xfrm>
            <a:off x="4160520" y="2743200"/>
            <a:ext cx="1463040" cy="457200"/>
          </a:xfrm>
          <a:prstGeom prst="rect">
            <a:avLst/>
          </a:prstGeom>
          <a:noFill/>
          <a:ln/>
        </p:spPr>
        <p:txBody>
          <a:bodyPr wrap="square" lIns="0" tIns="0" rIns="0" bIns="0" rtlCol="0" anchor="t"/>
          <a:lstStyle/>
          <a:p>
            <a:pPr algn="r" indent="0" marL="0">
              <a:buNone/>
            </a:pPr>
            <a:r>
              <a:rPr lang="en-US" sz="1500" b="1" dirty="0">
                <a:solidFill>
                  <a:srgbClr val="B02532"/>
                </a:solidFill>
                <a:latin typeface="Palatino Linotype" pitchFamily="34" charset="0"/>
                <a:ea typeface="Palatino Linotype" pitchFamily="34" charset="-122"/>
                <a:cs typeface="Palatino Linotype" pitchFamily="34" charset="-120"/>
              </a:rPr>
              <a:t>intră în plan</a:t>
            </a:r>
            <a:endParaRPr lang="en-US" sz="1500" dirty="0"/>
          </a:p>
        </p:txBody>
      </p:sp>
      <p:sp>
        <p:nvSpPr>
          <p:cNvPr id="23" name="Shape 21"/>
          <p:cNvSpPr/>
          <p:nvPr/>
        </p:nvSpPr>
        <p:spPr>
          <a:xfrm>
            <a:off x="6355080" y="2514600"/>
            <a:ext cx="5212080" cy="3291840"/>
          </a:xfrm>
          <a:prstGeom prst="roundRect">
            <a:avLst>
              <a:gd name="adj" fmla="val 2500"/>
            </a:avLst>
          </a:prstGeom>
          <a:solidFill>
            <a:srgbClr val="ECEAE4"/>
          </a:solidFill>
          <a:ln w="12700">
            <a:solidFill>
              <a:srgbClr val="ECEAE4"/>
            </a:solidFill>
            <a:prstDash val="solid"/>
          </a:ln>
        </p:spPr>
        <p:txBody>
          <a:bodyPr/>
          <a:p/>
        </p:txBody>
      </p:sp>
      <p:sp>
        <p:nvSpPr>
          <p:cNvPr id="24" name="Text 22"/>
          <p:cNvSpPr/>
          <p:nvPr/>
        </p:nvSpPr>
        <p:spPr>
          <a:xfrm>
            <a:off x="6629400" y="2651760"/>
            <a:ext cx="4663440" cy="320040"/>
          </a:xfrm>
          <a:prstGeom prst="rect">
            <a:avLst/>
          </a:prstGeom>
          <a:noFill/>
          <a:ln/>
        </p:spPr>
        <p:txBody>
          <a:bodyPr wrap="square" lIns="0" tIns="0" rIns="0" bIns="0" rtlCol="0" anchor="t"/>
          <a:lstStyle/>
          <a:p>
            <a:pPr indent="0" marL="0">
              <a:buNone/>
            </a:pPr>
            <a:r>
              <a:rPr lang="en-US" sz="1250" b="1" spc="200" kern="0" dirty="0">
                <a:solidFill>
                  <a:srgbClr val="0E7C6B"/>
                </a:solidFill>
                <a:latin typeface="Palatino Linotype" pitchFamily="34" charset="0"/>
                <a:ea typeface="Palatino Linotype" pitchFamily="34" charset="-122"/>
                <a:cs typeface="Palatino Linotype" pitchFamily="34" charset="-120"/>
              </a:rPr>
              <a:t>EXEMPLUL MANUALULUI</a:t>
            </a:r>
            <a:endParaRPr lang="en-US" sz="1250" dirty="0"/>
          </a:p>
        </p:txBody>
      </p:sp>
      <p:sp>
        <p:nvSpPr>
          <p:cNvPr id="25" name="Text 23"/>
          <p:cNvSpPr/>
          <p:nvPr/>
        </p:nvSpPr>
        <p:spPr>
          <a:xfrm>
            <a:off x="6629400" y="3063240"/>
            <a:ext cx="4663440" cy="26517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cămin de bătrâni notează fiecare problemă de la 1 la 10, cu sursele alături. Intră în plan colțul de dincolo de linia curbă.</a:t>
            </a:r>
            <a:endParaRPr lang="en-US" sz="155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manualul cursului, capitolul 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VALORI IPOTETICE · NOTELE ECHIPEI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Trei probleme ale spitalului, notate</a:t>
            </a:r>
            <a:endParaRPr lang="en-US" sz="3100" dirty="0"/>
          </a:p>
        </p:txBody>
      </p:sp>
      <p:sp>
        <p:nvSpPr>
          <p:cNvPr id="4" name="Shape 2"/>
          <p:cNvSpPr/>
          <p:nvPr/>
        </p:nvSpPr>
        <p:spPr>
          <a:xfrm>
            <a:off x="594360" y="1600200"/>
            <a:ext cx="6309360" cy="685800"/>
          </a:xfrm>
          <a:prstGeom prst="roundRect">
            <a:avLst>
              <a:gd name="adj" fmla="val 12000"/>
            </a:avLst>
          </a:prstGeom>
          <a:solidFill>
            <a:srgbClr val="1D1F2B"/>
          </a:solidFill>
          <a:ln w="12700">
            <a:solidFill>
              <a:srgbClr val="1D1F2B"/>
            </a:solidFill>
            <a:prstDash val="solid"/>
          </a:ln>
        </p:spPr>
        <p:txBody>
          <a:bodyPr/>
          <a:p/>
        </p:txBody>
      </p:sp>
      <p:sp>
        <p:nvSpPr>
          <p:cNvPr id="5" name="Text 3"/>
          <p:cNvSpPr/>
          <p:nvPr/>
        </p:nvSpPr>
        <p:spPr>
          <a:xfrm>
            <a:off x="777240" y="1600200"/>
            <a:ext cx="5989320" cy="685800"/>
          </a:xfrm>
          <a:prstGeom prst="rect">
            <a:avLst/>
          </a:prstGeom>
          <a:noFill/>
          <a:ln/>
        </p:spPr>
        <p:txBody>
          <a:bodyPr wrap="square" lIns="0" tIns="0" rIns="0" bIns="0" rtlCol="0" anchor="ctr"/>
          <a:lstStyle/>
          <a:p>
            <a:pPr algn="l" indent="0" marL="0">
              <a:buNone/>
            </a:pPr>
            <a:r>
              <a:rPr lang="en-US" sz="1350" b="1" dirty="0">
                <a:solidFill>
                  <a:srgbClr val="FFFFFF"/>
                </a:solidFill>
                <a:latin typeface="Palatino Linotype" pitchFamily="34" charset="0"/>
                <a:ea typeface="Palatino Linotype" pitchFamily="34" charset="-122"/>
                <a:cs typeface="Palatino Linotype" pitchFamily="34" charset="-120"/>
              </a:rPr>
              <a:t>Problema</a:t>
            </a:r>
            <a:endParaRPr lang="en-US" sz="1350" dirty="0"/>
          </a:p>
        </p:txBody>
      </p:sp>
      <p:sp>
        <p:nvSpPr>
          <p:cNvPr id="6" name="Shape 4"/>
          <p:cNvSpPr/>
          <p:nvPr/>
        </p:nvSpPr>
        <p:spPr>
          <a:xfrm>
            <a:off x="6995160" y="1600200"/>
            <a:ext cx="1645920" cy="685800"/>
          </a:xfrm>
          <a:prstGeom prst="roundRect">
            <a:avLst>
              <a:gd name="adj" fmla="val 12000"/>
            </a:avLst>
          </a:prstGeom>
          <a:solidFill>
            <a:srgbClr val="1D1F2B"/>
          </a:solidFill>
          <a:ln w="12700">
            <a:solidFill>
              <a:srgbClr val="1D1F2B"/>
            </a:solidFill>
            <a:prstDash val="solid"/>
          </a:ln>
        </p:spPr>
        <p:txBody>
          <a:bodyPr/>
          <a:p/>
        </p:txBody>
      </p:sp>
      <p:sp>
        <p:nvSpPr>
          <p:cNvPr id="7" name="Text 5"/>
          <p:cNvSpPr/>
          <p:nvPr/>
        </p:nvSpPr>
        <p:spPr>
          <a:xfrm>
            <a:off x="7178040" y="1600200"/>
            <a:ext cx="1325880"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Impactul</a:t>
            </a:r>
            <a:endParaRPr lang="en-US" sz="1350" dirty="0"/>
          </a:p>
        </p:txBody>
      </p:sp>
      <p:sp>
        <p:nvSpPr>
          <p:cNvPr id="8" name="Shape 6"/>
          <p:cNvSpPr/>
          <p:nvPr/>
        </p:nvSpPr>
        <p:spPr>
          <a:xfrm>
            <a:off x="8732520" y="1600200"/>
            <a:ext cx="2011680" cy="685800"/>
          </a:xfrm>
          <a:prstGeom prst="roundRect">
            <a:avLst>
              <a:gd name="adj" fmla="val 12000"/>
            </a:avLst>
          </a:prstGeom>
          <a:solidFill>
            <a:srgbClr val="1D1F2B"/>
          </a:solidFill>
          <a:ln w="12700">
            <a:solidFill>
              <a:srgbClr val="1D1F2B"/>
            </a:solidFill>
            <a:prstDash val="solid"/>
          </a:ln>
        </p:spPr>
        <p:txBody>
          <a:bodyPr/>
          <a:p/>
        </p:txBody>
      </p:sp>
      <p:sp>
        <p:nvSpPr>
          <p:cNvPr id="9" name="Text 7"/>
          <p:cNvSpPr/>
          <p:nvPr/>
        </p:nvSpPr>
        <p:spPr>
          <a:xfrm>
            <a:off x="8915400" y="1600200"/>
            <a:ext cx="1691640" cy="685800"/>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Probabilitatea</a:t>
            </a:r>
            <a:endParaRPr lang="en-US" sz="1350" dirty="0"/>
          </a:p>
        </p:txBody>
      </p:sp>
      <p:sp>
        <p:nvSpPr>
          <p:cNvPr id="10" name="Shape 8"/>
          <p:cNvSpPr/>
          <p:nvPr/>
        </p:nvSpPr>
        <p:spPr>
          <a:xfrm>
            <a:off x="594360" y="2377440"/>
            <a:ext cx="6309360" cy="685800"/>
          </a:xfrm>
          <a:prstGeom prst="roundRect">
            <a:avLst>
              <a:gd name="adj" fmla="val 12000"/>
            </a:avLst>
          </a:prstGeom>
          <a:solidFill>
            <a:srgbClr val="ECEAE4"/>
          </a:solidFill>
          <a:ln w="12700">
            <a:solidFill>
              <a:srgbClr val="ECEAE4"/>
            </a:solidFill>
            <a:prstDash val="solid"/>
          </a:ln>
        </p:spPr>
        <p:txBody>
          <a:bodyPr/>
          <a:p/>
        </p:txBody>
      </p:sp>
      <p:sp>
        <p:nvSpPr>
          <p:cNvPr id="11" name="Text 9"/>
          <p:cNvSpPr/>
          <p:nvPr/>
        </p:nvSpPr>
        <p:spPr>
          <a:xfrm>
            <a:off x="777240" y="2377440"/>
            <a:ext cx="5989320" cy="685800"/>
          </a:xfrm>
          <a:prstGeom prst="rect">
            <a:avLst/>
          </a:prstGeom>
          <a:noFill/>
          <a:ln/>
        </p:spPr>
        <p:txBody>
          <a:bodyPr wrap="square" lIns="0" tIns="0" rIns="0" bIns="0" rtlCol="0" anchor="ctr"/>
          <a:lstStyle/>
          <a:p>
            <a:pPr algn="l" indent="0" marL="0">
              <a:buNone/>
            </a:pPr>
            <a:r>
              <a:rPr lang="en-US" sz="1550" dirty="0">
                <a:solidFill>
                  <a:srgbClr val="11121A"/>
                </a:solidFill>
                <a:latin typeface="Palatino Linotype" pitchFamily="34" charset="0"/>
                <a:ea typeface="Palatino Linotype" pitchFamily="34" charset="-122"/>
                <a:cs typeface="Palatino Linotype" pitchFamily="34" charset="-120"/>
              </a:rPr>
              <a:t>Pacienții din oraș merg la centrul privat pentru examenul RMN</a:t>
            </a:r>
            <a:endParaRPr lang="en-US" sz="1550" dirty="0"/>
          </a:p>
        </p:txBody>
      </p:sp>
      <p:sp>
        <p:nvSpPr>
          <p:cNvPr id="12" name="Shape 10"/>
          <p:cNvSpPr/>
          <p:nvPr/>
        </p:nvSpPr>
        <p:spPr>
          <a:xfrm>
            <a:off x="6995160" y="2377440"/>
            <a:ext cx="1645920" cy="685800"/>
          </a:xfrm>
          <a:prstGeom prst="roundRect">
            <a:avLst>
              <a:gd name="adj" fmla="val 12000"/>
            </a:avLst>
          </a:prstGeom>
          <a:solidFill>
            <a:srgbClr val="ECEAE4"/>
          </a:solidFill>
          <a:ln w="12700">
            <a:solidFill>
              <a:srgbClr val="ECEAE4"/>
            </a:solidFill>
            <a:prstDash val="solid"/>
          </a:ln>
        </p:spPr>
        <p:txBody>
          <a:bodyPr/>
          <a:p/>
        </p:txBody>
      </p:sp>
      <p:sp>
        <p:nvSpPr>
          <p:cNvPr id="13" name="Text 11"/>
          <p:cNvSpPr/>
          <p:nvPr/>
        </p:nvSpPr>
        <p:spPr>
          <a:xfrm>
            <a:off x="7178040" y="2377440"/>
            <a:ext cx="1325880" cy="685800"/>
          </a:xfrm>
          <a:prstGeom prst="rect">
            <a:avLst/>
          </a:prstGeom>
          <a:noFill/>
          <a:ln/>
        </p:spPr>
        <p:txBody>
          <a:bodyPr wrap="square" lIns="0" tIns="0" rIns="0" bIns="0" rtlCol="0" anchor="ctr"/>
          <a:lstStyle/>
          <a:p>
            <a:pPr algn="ctr" indent="0" marL="0">
              <a:buNone/>
            </a:pPr>
            <a:r>
              <a:rPr lang="en-US" sz="2400" b="1" dirty="0">
                <a:solidFill>
                  <a:srgbClr val="B02532"/>
                </a:solidFill>
                <a:latin typeface="Palatino Linotype" pitchFamily="34" charset="0"/>
                <a:ea typeface="Palatino Linotype" pitchFamily="34" charset="-122"/>
                <a:cs typeface="Palatino Linotype" pitchFamily="34" charset="-120"/>
              </a:rPr>
              <a:t>8</a:t>
            </a:r>
            <a:endParaRPr lang="en-US" sz="2400" dirty="0"/>
          </a:p>
        </p:txBody>
      </p:sp>
      <p:sp>
        <p:nvSpPr>
          <p:cNvPr id="14" name="Shape 12"/>
          <p:cNvSpPr/>
          <p:nvPr/>
        </p:nvSpPr>
        <p:spPr>
          <a:xfrm>
            <a:off x="8732520" y="2377440"/>
            <a:ext cx="2011680" cy="685800"/>
          </a:xfrm>
          <a:prstGeom prst="roundRect">
            <a:avLst>
              <a:gd name="adj" fmla="val 12000"/>
            </a:avLst>
          </a:prstGeom>
          <a:solidFill>
            <a:srgbClr val="ECEAE4"/>
          </a:solidFill>
          <a:ln w="12700">
            <a:solidFill>
              <a:srgbClr val="ECEAE4"/>
            </a:solidFill>
            <a:prstDash val="solid"/>
          </a:ln>
        </p:spPr>
        <p:txBody>
          <a:bodyPr/>
          <a:p/>
        </p:txBody>
      </p:sp>
      <p:sp>
        <p:nvSpPr>
          <p:cNvPr id="15" name="Text 13"/>
          <p:cNvSpPr/>
          <p:nvPr/>
        </p:nvSpPr>
        <p:spPr>
          <a:xfrm>
            <a:off x="8915400" y="2377440"/>
            <a:ext cx="1691640" cy="685800"/>
          </a:xfrm>
          <a:prstGeom prst="rect">
            <a:avLst/>
          </a:prstGeom>
          <a:noFill/>
          <a:ln/>
        </p:spPr>
        <p:txBody>
          <a:bodyPr wrap="square" lIns="0" tIns="0" rIns="0" bIns="0" rtlCol="0" anchor="ctr"/>
          <a:lstStyle/>
          <a:p>
            <a:pPr algn="ctr" indent="0" marL="0">
              <a:buNone/>
            </a:pPr>
            <a:r>
              <a:rPr lang="en-US" sz="2400" b="1" dirty="0">
                <a:solidFill>
                  <a:srgbClr val="B02532"/>
                </a:solidFill>
                <a:latin typeface="Palatino Linotype" pitchFamily="34" charset="0"/>
                <a:ea typeface="Palatino Linotype" pitchFamily="34" charset="-122"/>
                <a:cs typeface="Palatino Linotype" pitchFamily="34" charset="-120"/>
              </a:rPr>
              <a:t>7</a:t>
            </a:r>
            <a:endParaRPr lang="en-US" sz="2400" dirty="0"/>
          </a:p>
        </p:txBody>
      </p:sp>
      <p:sp>
        <p:nvSpPr>
          <p:cNvPr id="16" name="Shape 14"/>
          <p:cNvSpPr/>
          <p:nvPr/>
        </p:nvSpPr>
        <p:spPr>
          <a:xfrm>
            <a:off x="594360" y="3154680"/>
            <a:ext cx="6309360" cy="685800"/>
          </a:xfrm>
          <a:prstGeom prst="roundRect">
            <a:avLst>
              <a:gd name="adj" fmla="val 12000"/>
            </a:avLst>
          </a:prstGeom>
          <a:solidFill>
            <a:srgbClr val="F9F8F5"/>
          </a:solidFill>
          <a:ln w="12700">
            <a:solidFill>
              <a:srgbClr val="F9F8F5"/>
            </a:solidFill>
            <a:prstDash val="solid"/>
          </a:ln>
        </p:spPr>
        <p:txBody>
          <a:bodyPr/>
          <a:p/>
        </p:txBody>
      </p:sp>
      <p:sp>
        <p:nvSpPr>
          <p:cNvPr id="17" name="Text 15"/>
          <p:cNvSpPr/>
          <p:nvPr/>
        </p:nvSpPr>
        <p:spPr>
          <a:xfrm>
            <a:off x="777240" y="3154680"/>
            <a:ext cx="5989320" cy="685800"/>
          </a:xfrm>
          <a:prstGeom prst="rect">
            <a:avLst/>
          </a:prstGeom>
          <a:noFill/>
          <a:ln/>
        </p:spPr>
        <p:txBody>
          <a:bodyPr wrap="square" lIns="0" tIns="0" rIns="0" bIns="0" rtlCol="0" anchor="ctr"/>
          <a:lstStyle/>
          <a:p>
            <a:pPr algn="l" indent="0" marL="0">
              <a:buNone/>
            </a:pPr>
            <a:r>
              <a:rPr lang="en-US" sz="1550" dirty="0">
                <a:solidFill>
                  <a:srgbClr val="11121A"/>
                </a:solidFill>
                <a:latin typeface="Palatino Linotype" pitchFamily="34" charset="0"/>
                <a:ea typeface="Palatino Linotype" pitchFamily="34" charset="-122"/>
                <a:cs typeface="Palatino Linotype" pitchFamily="34" charset="-120"/>
              </a:rPr>
              <a:t>Mai multe intervenții decontate în spitalizarea de zi</a:t>
            </a:r>
            <a:endParaRPr lang="en-US" sz="1550" dirty="0"/>
          </a:p>
        </p:txBody>
      </p:sp>
      <p:sp>
        <p:nvSpPr>
          <p:cNvPr id="18" name="Shape 16"/>
          <p:cNvSpPr/>
          <p:nvPr/>
        </p:nvSpPr>
        <p:spPr>
          <a:xfrm>
            <a:off x="6995160" y="3154680"/>
            <a:ext cx="1645920" cy="685800"/>
          </a:xfrm>
          <a:prstGeom prst="roundRect">
            <a:avLst>
              <a:gd name="adj" fmla="val 12000"/>
            </a:avLst>
          </a:prstGeom>
          <a:solidFill>
            <a:srgbClr val="F9F8F5"/>
          </a:solidFill>
          <a:ln w="12700">
            <a:solidFill>
              <a:srgbClr val="F9F8F5"/>
            </a:solidFill>
            <a:prstDash val="solid"/>
          </a:ln>
        </p:spPr>
        <p:txBody>
          <a:bodyPr/>
          <a:p/>
        </p:txBody>
      </p:sp>
      <p:sp>
        <p:nvSpPr>
          <p:cNvPr id="19" name="Text 17"/>
          <p:cNvSpPr/>
          <p:nvPr/>
        </p:nvSpPr>
        <p:spPr>
          <a:xfrm>
            <a:off x="7178040" y="3154680"/>
            <a:ext cx="1325880" cy="685800"/>
          </a:xfrm>
          <a:prstGeom prst="rect">
            <a:avLst/>
          </a:prstGeom>
          <a:noFill/>
          <a:ln/>
        </p:spPr>
        <p:txBody>
          <a:bodyPr wrap="square" lIns="0" tIns="0" rIns="0" bIns="0" rtlCol="0" anchor="ctr"/>
          <a:lstStyle/>
          <a:p>
            <a:pPr algn="ctr" indent="0" marL="0">
              <a:buNone/>
            </a:pPr>
            <a:r>
              <a:rPr lang="en-US" sz="2400" b="1" dirty="0">
                <a:solidFill>
                  <a:srgbClr val="B02532"/>
                </a:solidFill>
                <a:latin typeface="Palatino Linotype" pitchFamily="34" charset="0"/>
                <a:ea typeface="Palatino Linotype" pitchFamily="34" charset="-122"/>
                <a:cs typeface="Palatino Linotype" pitchFamily="34" charset="-120"/>
              </a:rPr>
              <a:t>7</a:t>
            </a:r>
            <a:endParaRPr lang="en-US" sz="2400" dirty="0"/>
          </a:p>
        </p:txBody>
      </p:sp>
      <p:sp>
        <p:nvSpPr>
          <p:cNvPr id="20" name="Shape 18"/>
          <p:cNvSpPr/>
          <p:nvPr/>
        </p:nvSpPr>
        <p:spPr>
          <a:xfrm>
            <a:off x="8732520" y="3154680"/>
            <a:ext cx="2011680" cy="685800"/>
          </a:xfrm>
          <a:prstGeom prst="roundRect">
            <a:avLst>
              <a:gd name="adj" fmla="val 12000"/>
            </a:avLst>
          </a:prstGeom>
          <a:solidFill>
            <a:srgbClr val="F9F8F5"/>
          </a:solidFill>
          <a:ln w="12700">
            <a:solidFill>
              <a:srgbClr val="F9F8F5"/>
            </a:solidFill>
            <a:prstDash val="solid"/>
          </a:ln>
        </p:spPr>
        <p:txBody>
          <a:bodyPr/>
          <a:p/>
        </p:txBody>
      </p:sp>
      <p:sp>
        <p:nvSpPr>
          <p:cNvPr id="21" name="Text 19"/>
          <p:cNvSpPr/>
          <p:nvPr/>
        </p:nvSpPr>
        <p:spPr>
          <a:xfrm>
            <a:off x="8915400" y="3154680"/>
            <a:ext cx="1691640" cy="685800"/>
          </a:xfrm>
          <a:prstGeom prst="rect">
            <a:avLst/>
          </a:prstGeom>
          <a:noFill/>
          <a:ln/>
        </p:spPr>
        <p:txBody>
          <a:bodyPr wrap="square" lIns="0" tIns="0" rIns="0" bIns="0" rtlCol="0" anchor="ctr"/>
          <a:lstStyle/>
          <a:p>
            <a:pPr algn="ctr" indent="0" marL="0">
              <a:buNone/>
            </a:pPr>
            <a:r>
              <a:rPr lang="en-US" sz="2400" b="1" dirty="0">
                <a:solidFill>
                  <a:srgbClr val="B02532"/>
                </a:solidFill>
                <a:latin typeface="Palatino Linotype" pitchFamily="34" charset="0"/>
                <a:ea typeface="Palatino Linotype" pitchFamily="34" charset="-122"/>
                <a:cs typeface="Palatino Linotype" pitchFamily="34" charset="-120"/>
              </a:rPr>
              <a:t>7</a:t>
            </a:r>
            <a:endParaRPr lang="en-US" sz="2400" dirty="0"/>
          </a:p>
        </p:txBody>
      </p:sp>
      <p:sp>
        <p:nvSpPr>
          <p:cNvPr id="22" name="Shape 20"/>
          <p:cNvSpPr/>
          <p:nvPr/>
        </p:nvSpPr>
        <p:spPr>
          <a:xfrm>
            <a:off x="594360" y="3931920"/>
            <a:ext cx="6309360" cy="685800"/>
          </a:xfrm>
          <a:prstGeom prst="roundRect">
            <a:avLst>
              <a:gd name="adj" fmla="val 12000"/>
            </a:avLst>
          </a:prstGeom>
          <a:solidFill>
            <a:srgbClr val="ECEAE4"/>
          </a:solidFill>
          <a:ln w="12700">
            <a:solidFill>
              <a:srgbClr val="ECEAE4"/>
            </a:solidFill>
            <a:prstDash val="solid"/>
          </a:ln>
        </p:spPr>
        <p:txBody>
          <a:bodyPr/>
          <a:p/>
        </p:txBody>
      </p:sp>
      <p:sp>
        <p:nvSpPr>
          <p:cNvPr id="23" name="Text 21"/>
          <p:cNvSpPr/>
          <p:nvPr/>
        </p:nvSpPr>
        <p:spPr>
          <a:xfrm>
            <a:off x="777240" y="3931920"/>
            <a:ext cx="5989320" cy="685800"/>
          </a:xfrm>
          <a:prstGeom prst="rect">
            <a:avLst/>
          </a:prstGeom>
          <a:noFill/>
          <a:ln/>
        </p:spPr>
        <p:txBody>
          <a:bodyPr wrap="square" lIns="0" tIns="0" rIns="0" bIns="0" rtlCol="0" anchor="ctr"/>
          <a:lstStyle/>
          <a:p>
            <a:pPr algn="l" indent="0" marL="0">
              <a:buNone/>
            </a:pPr>
            <a:r>
              <a:rPr lang="en-US" sz="1550" dirty="0">
                <a:solidFill>
                  <a:srgbClr val="11121A"/>
                </a:solidFill>
                <a:latin typeface="Palatino Linotype" pitchFamily="34" charset="0"/>
                <a:ea typeface="Palatino Linotype" pitchFamily="34" charset="-122"/>
                <a:cs typeface="Palatino Linotype" pitchFamily="34" charset="-120"/>
              </a:rPr>
              <a:t>Îmbătrânirea crește nevoia de recuperare</a:t>
            </a:r>
            <a:endParaRPr lang="en-US" sz="1550" dirty="0"/>
          </a:p>
        </p:txBody>
      </p:sp>
      <p:sp>
        <p:nvSpPr>
          <p:cNvPr id="24" name="Shape 22"/>
          <p:cNvSpPr/>
          <p:nvPr/>
        </p:nvSpPr>
        <p:spPr>
          <a:xfrm>
            <a:off x="6995160" y="3931920"/>
            <a:ext cx="1645920" cy="685800"/>
          </a:xfrm>
          <a:prstGeom prst="roundRect">
            <a:avLst>
              <a:gd name="adj" fmla="val 12000"/>
            </a:avLst>
          </a:prstGeom>
          <a:solidFill>
            <a:srgbClr val="ECEAE4"/>
          </a:solidFill>
          <a:ln w="12700">
            <a:solidFill>
              <a:srgbClr val="ECEAE4"/>
            </a:solidFill>
            <a:prstDash val="solid"/>
          </a:ln>
        </p:spPr>
        <p:txBody>
          <a:bodyPr/>
          <a:p/>
        </p:txBody>
      </p:sp>
      <p:sp>
        <p:nvSpPr>
          <p:cNvPr id="25" name="Text 23"/>
          <p:cNvSpPr/>
          <p:nvPr/>
        </p:nvSpPr>
        <p:spPr>
          <a:xfrm>
            <a:off x="7178040" y="3931920"/>
            <a:ext cx="1325880" cy="685800"/>
          </a:xfrm>
          <a:prstGeom prst="rect">
            <a:avLst/>
          </a:prstGeom>
          <a:noFill/>
          <a:ln/>
        </p:spPr>
        <p:txBody>
          <a:bodyPr wrap="square" lIns="0" tIns="0" rIns="0" bIns="0" rtlCol="0" anchor="ctr"/>
          <a:lstStyle/>
          <a:p>
            <a:pPr algn="ctr" indent="0" marL="0">
              <a:buNone/>
            </a:pPr>
            <a:r>
              <a:rPr lang="en-US" sz="2400" b="1" dirty="0">
                <a:solidFill>
                  <a:srgbClr val="B02532"/>
                </a:solidFill>
                <a:latin typeface="Palatino Linotype" pitchFamily="34" charset="0"/>
                <a:ea typeface="Palatino Linotype" pitchFamily="34" charset="-122"/>
                <a:cs typeface="Palatino Linotype" pitchFamily="34" charset="-120"/>
              </a:rPr>
              <a:t>8</a:t>
            </a:r>
            <a:endParaRPr lang="en-US" sz="2400" dirty="0"/>
          </a:p>
        </p:txBody>
      </p:sp>
      <p:sp>
        <p:nvSpPr>
          <p:cNvPr id="26" name="Shape 24"/>
          <p:cNvSpPr/>
          <p:nvPr/>
        </p:nvSpPr>
        <p:spPr>
          <a:xfrm>
            <a:off x="8732520" y="3931920"/>
            <a:ext cx="2011680" cy="685800"/>
          </a:xfrm>
          <a:prstGeom prst="roundRect">
            <a:avLst>
              <a:gd name="adj" fmla="val 12000"/>
            </a:avLst>
          </a:prstGeom>
          <a:solidFill>
            <a:srgbClr val="ECEAE4"/>
          </a:solidFill>
          <a:ln w="12700">
            <a:solidFill>
              <a:srgbClr val="ECEAE4"/>
            </a:solidFill>
            <a:prstDash val="solid"/>
          </a:ln>
        </p:spPr>
        <p:txBody>
          <a:bodyPr/>
          <a:p/>
        </p:txBody>
      </p:sp>
      <p:sp>
        <p:nvSpPr>
          <p:cNvPr id="27" name="Text 25"/>
          <p:cNvSpPr/>
          <p:nvPr/>
        </p:nvSpPr>
        <p:spPr>
          <a:xfrm>
            <a:off x="8915400" y="3931920"/>
            <a:ext cx="1691640" cy="685800"/>
          </a:xfrm>
          <a:prstGeom prst="rect">
            <a:avLst/>
          </a:prstGeom>
          <a:noFill/>
          <a:ln/>
        </p:spPr>
        <p:txBody>
          <a:bodyPr wrap="square" lIns="0" tIns="0" rIns="0" bIns="0" rtlCol="0" anchor="ctr"/>
          <a:lstStyle/>
          <a:p>
            <a:pPr algn="ctr" indent="0" marL="0">
              <a:buNone/>
            </a:pPr>
            <a:r>
              <a:rPr lang="en-US" sz="2400" b="1" dirty="0">
                <a:solidFill>
                  <a:srgbClr val="B02532"/>
                </a:solidFill>
                <a:latin typeface="Palatino Linotype" pitchFamily="34" charset="0"/>
                <a:ea typeface="Palatino Linotype" pitchFamily="34" charset="-122"/>
                <a:cs typeface="Palatino Linotype" pitchFamily="34" charset="-120"/>
              </a:rPr>
              <a:t>8</a:t>
            </a:r>
            <a:endParaRPr lang="en-US" sz="2400" dirty="0"/>
          </a:p>
        </p:txBody>
      </p:sp>
      <p:sp>
        <p:nvSpPr>
          <p:cNvPr id="28" name="Text 26"/>
          <p:cNvSpPr/>
          <p:nvPr/>
        </p:nvSpPr>
        <p:spPr>
          <a:xfrm>
            <a:off x="6995160" y="4754880"/>
            <a:ext cx="3154680" cy="274320"/>
          </a:xfrm>
          <a:prstGeom prst="rect">
            <a:avLst/>
          </a:prstGeom>
          <a:noFill/>
          <a:ln/>
        </p:spPr>
        <p:txBody>
          <a:bodyPr wrap="square" lIns="0" tIns="0" rIns="0" bIns="0" rtlCol="0" anchor="t"/>
          <a:lstStyle/>
          <a:p>
            <a:pPr algn="ctr" indent="0" marL="0">
              <a:buNone/>
            </a:pPr>
            <a:r>
              <a:rPr lang="en-US" sz="1150" i="1" dirty="0">
                <a:solidFill>
                  <a:srgbClr val="585A64"/>
                </a:solidFill>
                <a:latin typeface="Palatino Linotype" pitchFamily="34" charset="0"/>
                <a:ea typeface="Palatino Linotype" pitchFamily="34" charset="-122"/>
                <a:cs typeface="Palatino Linotype" pitchFamily="34" charset="-120"/>
              </a:rPr>
              <a:t>note de la 1 la 10</a:t>
            </a:r>
            <a:endParaRPr lang="en-US" sz="1150" dirty="0"/>
          </a:p>
        </p:txBody>
      </p:sp>
      <p:sp>
        <p:nvSpPr>
          <p:cNvPr id="29" name="Shape 27"/>
          <p:cNvSpPr/>
          <p:nvPr/>
        </p:nvSpPr>
        <p:spPr>
          <a:xfrm>
            <a:off x="594360" y="4754880"/>
            <a:ext cx="6309360" cy="1234440"/>
          </a:xfrm>
          <a:prstGeom prst="roundRect">
            <a:avLst>
              <a:gd name="adj" fmla="val 6667"/>
            </a:avLst>
          </a:prstGeom>
          <a:solidFill>
            <a:srgbClr val="1D1F2B"/>
          </a:solidFill>
          <a:ln w="12700">
            <a:solidFill>
              <a:srgbClr val="1D1F2B"/>
            </a:solidFill>
            <a:prstDash val="solid"/>
          </a:ln>
        </p:spPr>
        <p:txBody>
          <a:bodyPr/>
          <a:p/>
        </p:txBody>
      </p:sp>
      <p:sp>
        <p:nvSpPr>
          <p:cNvPr id="30" name="Text 28"/>
          <p:cNvSpPr/>
          <p:nvPr/>
        </p:nvSpPr>
        <p:spPr>
          <a:xfrm>
            <a:off x="868680" y="4754880"/>
            <a:ext cx="5852160" cy="1234440"/>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Fiecare notă are o justificare scurtă și o sursă. Notele se dau în grup, nu de o singură persoană.</a:t>
            </a:r>
            <a:endParaRPr lang="en-US" sz="1550" dirty="0"/>
          </a:p>
        </p:txBody>
      </p:sp>
      <p:sp>
        <p:nvSpPr>
          <p:cNvPr id="31" name="Text 2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tabelul este construit după modelul din prezentarea cursului.</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ÎNTREBĂRILE 6–8 · NOTELE SĂLII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Ce notă dați impactului și probabilității?</a:t>
            </a:r>
            <a:endParaRPr lang="en-US" sz="3100" dirty="0"/>
          </a:p>
        </p:txBody>
      </p:sp>
      <p:sp>
        <p:nvSpPr>
          <p:cNvPr id="6" name="Shape 4"/>
          <p:cNvSpPr/>
          <p:nvPr/>
        </p:nvSpPr>
        <p:spPr>
          <a:xfrm>
            <a:off x="594360" y="182880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7" name="Shape 5"/>
          <p:cNvSpPr/>
          <p:nvPr/>
        </p:nvSpPr>
        <p:spPr>
          <a:xfrm>
            <a:off x="868680" y="1984248"/>
            <a:ext cx="420624" cy="420624"/>
          </a:xfrm>
          <a:prstGeom prst="ellipse">
            <a:avLst/>
          </a:prstGeom>
          <a:solidFill>
            <a:srgbClr val="FFC24B"/>
          </a:solidFill>
          <a:ln/>
        </p:spPr>
        <p:txBody>
          <a:bodyPr/>
          <a:p/>
        </p:txBody>
      </p:sp>
      <p:sp>
        <p:nvSpPr>
          <p:cNvPr id="8" name="Text 6"/>
          <p:cNvSpPr/>
          <p:nvPr/>
        </p:nvSpPr>
        <p:spPr>
          <a:xfrm>
            <a:off x="868680" y="19842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508760" y="1828800"/>
            <a:ext cx="978408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Pacienții din oraș merg la centrul privat pentru examenul RMN</a:t>
            </a:r>
            <a:endParaRPr lang="en-US" sz="1900" dirty="0"/>
          </a:p>
        </p:txBody>
      </p:sp>
      <p:sp>
        <p:nvSpPr>
          <p:cNvPr id="10" name="Shape 8"/>
          <p:cNvSpPr/>
          <p:nvPr/>
        </p:nvSpPr>
        <p:spPr>
          <a:xfrm>
            <a:off x="594360" y="269748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1" name="Shape 9"/>
          <p:cNvSpPr/>
          <p:nvPr/>
        </p:nvSpPr>
        <p:spPr>
          <a:xfrm>
            <a:off x="868680" y="2852928"/>
            <a:ext cx="420624" cy="420624"/>
          </a:xfrm>
          <a:prstGeom prst="ellipse">
            <a:avLst/>
          </a:prstGeom>
          <a:solidFill>
            <a:srgbClr val="FFC24B"/>
          </a:solidFill>
          <a:ln/>
        </p:spPr>
        <p:txBody>
          <a:bodyPr/>
          <a:p/>
        </p:txBody>
      </p:sp>
      <p:sp>
        <p:nvSpPr>
          <p:cNvPr id="12" name="Text 10"/>
          <p:cNvSpPr/>
          <p:nvPr/>
        </p:nvSpPr>
        <p:spPr>
          <a:xfrm>
            <a:off x="86868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697480"/>
            <a:ext cx="978408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Mai multe intervenții decontate în spitalizarea de zi</a:t>
            </a:r>
            <a:endParaRPr lang="en-US" sz="1900" dirty="0"/>
          </a:p>
        </p:txBody>
      </p:sp>
      <p:sp>
        <p:nvSpPr>
          <p:cNvPr id="14" name="Shape 12"/>
          <p:cNvSpPr/>
          <p:nvPr/>
        </p:nvSpPr>
        <p:spPr>
          <a:xfrm>
            <a:off x="594360" y="3566160"/>
            <a:ext cx="10972800" cy="731520"/>
          </a:xfrm>
          <a:prstGeom prst="roundRect">
            <a:avLst>
              <a:gd name="adj" fmla="val 11250"/>
            </a:avLst>
          </a:prstGeom>
          <a:solidFill>
            <a:srgbClr val="1D1F2B"/>
          </a:solidFill>
          <a:ln w="12700">
            <a:solidFill>
              <a:srgbClr val="1D1F2B"/>
            </a:solidFill>
            <a:prstDash val="solid"/>
          </a:ln>
        </p:spPr>
        <p:txBody>
          <a:bodyPr/>
          <a:p/>
        </p:txBody>
      </p:sp>
      <p:sp>
        <p:nvSpPr>
          <p:cNvPr id="15" name="Shape 13"/>
          <p:cNvSpPr/>
          <p:nvPr/>
        </p:nvSpPr>
        <p:spPr>
          <a:xfrm>
            <a:off x="868680" y="3721608"/>
            <a:ext cx="420624" cy="420624"/>
          </a:xfrm>
          <a:prstGeom prst="ellipse">
            <a:avLst/>
          </a:prstGeom>
          <a:solidFill>
            <a:srgbClr val="FFC24B"/>
          </a:solidFill>
          <a:ln/>
        </p:spPr>
        <p:txBody>
          <a:bodyPr/>
          <a:p/>
        </p:txBody>
      </p:sp>
      <p:sp>
        <p:nvSpPr>
          <p:cNvPr id="16" name="Text 14"/>
          <p:cNvSpPr/>
          <p:nvPr/>
        </p:nvSpPr>
        <p:spPr>
          <a:xfrm>
            <a:off x="868680" y="3721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566160"/>
            <a:ext cx="9784080" cy="73152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Îmbătrânirea crește nevoia de recuperare</a:t>
            </a:r>
            <a:endParaRPr lang="en-US" sz="1900" dirty="0"/>
          </a:p>
        </p:txBody>
      </p:sp>
      <p:sp>
        <p:nvSpPr>
          <p:cNvPr id="18" name="Text 16"/>
          <p:cNvSpPr/>
          <p:nvPr/>
        </p:nvSpPr>
        <p:spPr>
          <a:xfrm>
            <a:off x="594360" y="4526280"/>
            <a:ext cx="10972800" cy="9144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Pe rând, pentru fiecare problemă: o notă de la 1 la 10 pentru impact și una pentru probabilitate. Media sălii apare lângă notele echipei.</a:t>
            </a:r>
            <a:endParaRPr lang="en-US" sz="1700" dirty="0"/>
          </a:p>
        </p:txBody>
      </p:sp>
      <p:sp>
        <p:nvSpPr>
          <p:cNvPr id="19" name="Text 17"/>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JUDECATA ALTORA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Cinci feluri de a cere judecata altora</a:t>
            </a:r>
            <a:endParaRPr lang="en-US" sz="3100" dirty="0"/>
          </a:p>
        </p:txBody>
      </p:sp>
      <p:sp>
        <p:nvSpPr>
          <p:cNvPr id="4" name="Shape 2"/>
          <p:cNvSpPr/>
          <p:nvPr/>
        </p:nvSpPr>
        <p:spPr>
          <a:xfrm>
            <a:off x="594360" y="1600200"/>
            <a:ext cx="6766560" cy="621792"/>
          </a:xfrm>
          <a:prstGeom prst="roundRect">
            <a:avLst>
              <a:gd name="adj" fmla="val 13235"/>
            </a:avLst>
          </a:prstGeom>
          <a:solidFill>
            <a:srgbClr val="ECEAE4"/>
          </a:solidFill>
          <a:ln w="12700">
            <a:solidFill>
              <a:srgbClr val="ECEAE4"/>
            </a:solidFill>
            <a:prstDash val="solid"/>
          </a:ln>
        </p:spPr>
        <p:txBody>
          <a:bodyPr/>
          <a:p/>
        </p:txBody>
      </p:sp>
      <p:sp>
        <p:nvSpPr>
          <p:cNvPr id="5" name="Shape 3"/>
          <p:cNvSpPr/>
          <p:nvPr/>
        </p:nvSpPr>
        <p:spPr>
          <a:xfrm>
            <a:off x="777240" y="1709928"/>
            <a:ext cx="402336" cy="402336"/>
          </a:xfrm>
          <a:prstGeom prst="ellipse">
            <a:avLst/>
          </a:prstGeom>
          <a:solidFill>
            <a:srgbClr val="FF4757"/>
          </a:solidFill>
          <a:ln/>
        </p:spPr>
        <p:txBody>
          <a:bodyPr/>
          <a:p/>
        </p:txBody>
      </p:sp>
      <p:sp>
        <p:nvSpPr>
          <p:cNvPr id="6" name="Text 4"/>
          <p:cNvSpPr/>
          <p:nvPr/>
        </p:nvSpPr>
        <p:spPr>
          <a:xfrm>
            <a:off x="777240" y="1709928"/>
            <a:ext cx="402336" cy="402336"/>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25880" y="1600200"/>
            <a:ext cx="5943600" cy="62179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Experți consultați pe rând, separat</a:t>
            </a:r>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  (metoda Delphi)</a:t>
            </a:r>
            <a:endParaRPr lang="en-US" sz="1500" dirty="0"/>
          </a:p>
        </p:txBody>
      </p:sp>
      <p:sp>
        <p:nvSpPr>
          <p:cNvPr id="8" name="Shape 6"/>
          <p:cNvSpPr/>
          <p:nvPr/>
        </p:nvSpPr>
        <p:spPr>
          <a:xfrm>
            <a:off x="594360" y="2331720"/>
            <a:ext cx="6766560" cy="621792"/>
          </a:xfrm>
          <a:prstGeom prst="roundRect">
            <a:avLst>
              <a:gd name="adj" fmla="val 13235"/>
            </a:avLst>
          </a:prstGeom>
          <a:solidFill>
            <a:srgbClr val="F9F8F5"/>
          </a:solidFill>
          <a:ln w="12700">
            <a:solidFill>
              <a:srgbClr val="F9F8F5"/>
            </a:solidFill>
            <a:prstDash val="solid"/>
          </a:ln>
        </p:spPr>
        <p:txBody>
          <a:bodyPr/>
          <a:p/>
        </p:txBody>
      </p:sp>
      <p:sp>
        <p:nvSpPr>
          <p:cNvPr id="9" name="Shape 7"/>
          <p:cNvSpPr/>
          <p:nvPr/>
        </p:nvSpPr>
        <p:spPr>
          <a:xfrm>
            <a:off x="777240" y="2441448"/>
            <a:ext cx="402336" cy="402336"/>
          </a:xfrm>
          <a:prstGeom prst="ellipse">
            <a:avLst/>
          </a:prstGeom>
          <a:solidFill>
            <a:srgbClr val="FF4757"/>
          </a:solidFill>
          <a:ln/>
        </p:spPr>
        <p:txBody>
          <a:bodyPr/>
          <a:p/>
        </p:txBody>
      </p:sp>
      <p:sp>
        <p:nvSpPr>
          <p:cNvPr id="10" name="Text 8"/>
          <p:cNvSpPr/>
          <p:nvPr/>
        </p:nvSpPr>
        <p:spPr>
          <a:xfrm>
            <a:off x="777240" y="2441448"/>
            <a:ext cx="402336" cy="402336"/>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325880" y="2331720"/>
            <a:ext cx="5943600" cy="62179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Idei scrise în tăcere, apoi votate</a:t>
            </a:r>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  (grupul nominal)</a:t>
            </a:r>
            <a:endParaRPr lang="en-US" sz="1500" dirty="0"/>
          </a:p>
        </p:txBody>
      </p:sp>
      <p:sp>
        <p:nvSpPr>
          <p:cNvPr id="12" name="Shape 10"/>
          <p:cNvSpPr/>
          <p:nvPr/>
        </p:nvSpPr>
        <p:spPr>
          <a:xfrm>
            <a:off x="594360" y="3063240"/>
            <a:ext cx="6766560" cy="621792"/>
          </a:xfrm>
          <a:prstGeom prst="roundRect">
            <a:avLst>
              <a:gd name="adj" fmla="val 13235"/>
            </a:avLst>
          </a:prstGeom>
          <a:solidFill>
            <a:srgbClr val="ECEAE4"/>
          </a:solidFill>
          <a:ln w="12700">
            <a:solidFill>
              <a:srgbClr val="ECEAE4"/>
            </a:solidFill>
            <a:prstDash val="solid"/>
          </a:ln>
        </p:spPr>
        <p:txBody>
          <a:bodyPr/>
          <a:p/>
        </p:txBody>
      </p:sp>
      <p:sp>
        <p:nvSpPr>
          <p:cNvPr id="13" name="Shape 11"/>
          <p:cNvSpPr/>
          <p:nvPr/>
        </p:nvSpPr>
        <p:spPr>
          <a:xfrm>
            <a:off x="777240" y="3172968"/>
            <a:ext cx="402336" cy="402336"/>
          </a:xfrm>
          <a:prstGeom prst="ellipse">
            <a:avLst/>
          </a:prstGeom>
          <a:solidFill>
            <a:srgbClr val="FF4757"/>
          </a:solidFill>
          <a:ln/>
        </p:spPr>
        <p:txBody>
          <a:bodyPr/>
          <a:p/>
        </p:txBody>
      </p:sp>
      <p:sp>
        <p:nvSpPr>
          <p:cNvPr id="14" name="Text 12"/>
          <p:cNvSpPr/>
          <p:nvPr/>
        </p:nvSpPr>
        <p:spPr>
          <a:xfrm>
            <a:off x="777240" y="3172968"/>
            <a:ext cx="402336" cy="402336"/>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325880" y="3063240"/>
            <a:ext cx="5943600" cy="62179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Idei spuse liber, fără judecată</a:t>
            </a:r>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  (brainstormingul)</a:t>
            </a:r>
            <a:endParaRPr lang="en-US" sz="1500" dirty="0"/>
          </a:p>
        </p:txBody>
      </p:sp>
      <p:sp>
        <p:nvSpPr>
          <p:cNvPr id="16" name="Shape 14"/>
          <p:cNvSpPr/>
          <p:nvPr/>
        </p:nvSpPr>
        <p:spPr>
          <a:xfrm>
            <a:off x="594360" y="3794760"/>
            <a:ext cx="6766560" cy="621792"/>
          </a:xfrm>
          <a:prstGeom prst="roundRect">
            <a:avLst>
              <a:gd name="adj" fmla="val 13235"/>
            </a:avLst>
          </a:prstGeom>
          <a:solidFill>
            <a:srgbClr val="F9F8F5"/>
          </a:solidFill>
          <a:ln w="12700">
            <a:solidFill>
              <a:srgbClr val="F9F8F5"/>
            </a:solidFill>
            <a:prstDash val="solid"/>
          </a:ln>
        </p:spPr>
        <p:txBody>
          <a:bodyPr/>
          <a:p/>
        </p:txBody>
      </p:sp>
      <p:sp>
        <p:nvSpPr>
          <p:cNvPr id="17" name="Shape 15"/>
          <p:cNvSpPr/>
          <p:nvPr/>
        </p:nvSpPr>
        <p:spPr>
          <a:xfrm>
            <a:off x="777240" y="3904488"/>
            <a:ext cx="402336" cy="402336"/>
          </a:xfrm>
          <a:prstGeom prst="ellipse">
            <a:avLst/>
          </a:prstGeom>
          <a:solidFill>
            <a:srgbClr val="FF4757"/>
          </a:solidFill>
          <a:ln/>
        </p:spPr>
        <p:txBody>
          <a:bodyPr/>
          <a:p/>
        </p:txBody>
      </p:sp>
      <p:sp>
        <p:nvSpPr>
          <p:cNvPr id="18" name="Text 16"/>
          <p:cNvSpPr/>
          <p:nvPr/>
        </p:nvSpPr>
        <p:spPr>
          <a:xfrm>
            <a:off x="777240" y="3904488"/>
            <a:ext cx="402336" cy="402336"/>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325880" y="3794760"/>
            <a:ext cx="5943600" cy="62179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grup mic, o singură temă</a:t>
            </a:r>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  (grupul focus)</a:t>
            </a:r>
            <a:endParaRPr lang="en-US" sz="1500" dirty="0"/>
          </a:p>
        </p:txBody>
      </p:sp>
      <p:sp>
        <p:nvSpPr>
          <p:cNvPr id="20" name="Shape 18"/>
          <p:cNvSpPr/>
          <p:nvPr/>
        </p:nvSpPr>
        <p:spPr>
          <a:xfrm>
            <a:off x="594360" y="4526280"/>
            <a:ext cx="6766560" cy="621792"/>
          </a:xfrm>
          <a:prstGeom prst="roundRect">
            <a:avLst>
              <a:gd name="adj" fmla="val 13235"/>
            </a:avLst>
          </a:prstGeom>
          <a:solidFill>
            <a:srgbClr val="ECEAE4"/>
          </a:solidFill>
          <a:ln w="12700">
            <a:solidFill>
              <a:srgbClr val="ECEAE4"/>
            </a:solidFill>
            <a:prstDash val="solid"/>
          </a:ln>
        </p:spPr>
        <p:txBody>
          <a:bodyPr/>
          <a:p/>
        </p:txBody>
      </p:sp>
      <p:sp>
        <p:nvSpPr>
          <p:cNvPr id="21" name="Shape 19"/>
          <p:cNvSpPr/>
          <p:nvPr/>
        </p:nvSpPr>
        <p:spPr>
          <a:xfrm>
            <a:off x="777240" y="4636008"/>
            <a:ext cx="402336" cy="402336"/>
          </a:xfrm>
          <a:prstGeom prst="ellipse">
            <a:avLst/>
          </a:prstGeom>
          <a:solidFill>
            <a:srgbClr val="FF4757"/>
          </a:solidFill>
          <a:ln/>
        </p:spPr>
        <p:txBody>
          <a:bodyPr/>
          <a:p/>
        </p:txBody>
      </p:sp>
      <p:sp>
        <p:nvSpPr>
          <p:cNvPr id="22" name="Text 20"/>
          <p:cNvSpPr/>
          <p:nvPr/>
        </p:nvSpPr>
        <p:spPr>
          <a:xfrm>
            <a:off x="777240" y="4636008"/>
            <a:ext cx="402336" cy="402336"/>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325880" y="4526280"/>
            <a:ext cx="5943600" cy="621792"/>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Două echipe care susțin opusul</a:t>
            </a:r>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  (ancheta dialectică)</a:t>
            </a:r>
            <a:endParaRPr lang="en-US" sz="1500" dirty="0"/>
          </a:p>
        </p:txBody>
      </p:sp>
      <p:sp>
        <p:nvSpPr>
          <p:cNvPr id="24" name="Shape 22"/>
          <p:cNvSpPr/>
          <p:nvPr/>
        </p:nvSpPr>
        <p:spPr>
          <a:xfrm>
            <a:off x="7635240" y="1600200"/>
            <a:ext cx="3931920" cy="3566160"/>
          </a:xfrm>
          <a:prstGeom prst="roundRect">
            <a:avLst>
              <a:gd name="adj" fmla="val 2308"/>
            </a:avLst>
          </a:prstGeom>
          <a:solidFill>
            <a:srgbClr val="1D1F2B"/>
          </a:solidFill>
          <a:ln w="12700">
            <a:solidFill>
              <a:srgbClr val="1D1F2B"/>
            </a:solidFill>
            <a:prstDash val="solid"/>
          </a:ln>
        </p:spPr>
        <p:txBody>
          <a:bodyPr/>
          <a:p/>
        </p:txBody>
      </p:sp>
      <p:sp>
        <p:nvSpPr>
          <p:cNvPr id="25" name="Text 23"/>
          <p:cNvSpPr/>
          <p:nvPr/>
        </p:nvSpPr>
        <p:spPr>
          <a:xfrm>
            <a:off x="7863840" y="1737360"/>
            <a:ext cx="3520440" cy="320040"/>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CE ALEGE ORGANIZAȚIA</a:t>
            </a:r>
            <a:endParaRPr lang="en-US" sz="1200" dirty="0"/>
          </a:p>
        </p:txBody>
      </p:sp>
      <p:sp>
        <p:nvSpPr>
          <p:cNvPr id="26" name="Text 24"/>
          <p:cNvSpPr/>
          <p:nvPr/>
        </p:nvSpPr>
        <p:spPr>
          <a:xfrm>
            <a:off x="7863840" y="2148840"/>
            <a:ext cx="3520440" cy="292608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Mică: propriii oameni, grup nominal, brainstorming. Mare: experți din afară, dezbateri, scenarii.</a:t>
            </a:r>
            <a:endParaRPr lang="en-US" sz="1500" dirty="0"/>
          </a:p>
        </p:txBody>
      </p:sp>
      <p:sp>
        <p:nvSpPr>
          <p:cNvPr id="27" name="Text 25"/>
          <p:cNvSpPr/>
          <p:nvPr/>
        </p:nvSpPr>
        <p:spPr>
          <a:xfrm>
            <a:off x="594360" y="5440680"/>
            <a:ext cx="10972800" cy="54864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Graficele sunt doar un punct de plecare; extrapolarea cere judecată.</a:t>
            </a:r>
            <a:endParaRPr lang="en-US" sz="1600" dirty="0"/>
          </a:p>
        </p:txBody>
      </p:sp>
      <p:sp>
        <p:nvSpPr>
          <p:cNvPr id="28" name="Text 2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manualul cursului, capitolul 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Părțile interesate</a:t>
            </a:r>
            <a:endParaRPr lang="en-US" sz="3400" dirty="0"/>
          </a:p>
        </p:txBody>
      </p:sp>
      <p:sp>
        <p:nvSpPr>
          <p:cNvPr id="4" name="Text 2"/>
          <p:cNvSpPr/>
          <p:nvPr/>
        </p:nvSpPr>
        <p:spPr>
          <a:xfrm>
            <a:off x="594360" y="1463040"/>
            <a:ext cx="10972800" cy="7772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 cuvinte de zi cu zi: cei care câștigă sau pierd din ce face organizația și care, de aceea, o pot ajuta sau încurca.</a:t>
            </a:r>
            <a:endParaRPr lang="en-US" sz="1700" dirty="0"/>
          </a:p>
        </p:txBody>
      </p:sp>
      <p:sp>
        <p:nvSpPr>
          <p:cNvPr id="5" name="Shape 3"/>
          <p:cNvSpPr/>
          <p:nvPr/>
        </p:nvSpPr>
        <p:spPr>
          <a:xfrm>
            <a:off x="594360" y="2423160"/>
            <a:ext cx="3520440" cy="2011680"/>
          </a:xfrm>
          <a:prstGeom prst="roundRect">
            <a:avLst>
              <a:gd name="adj" fmla="val 4091"/>
            </a:avLst>
          </a:prstGeom>
          <a:solidFill>
            <a:srgbClr val="ECEAE4"/>
          </a:solidFill>
          <a:ln w="12700">
            <a:solidFill>
              <a:srgbClr val="ECEAE4"/>
            </a:solidFill>
            <a:prstDash val="solid"/>
          </a:ln>
        </p:spPr>
        <p:txBody>
          <a:bodyPr/>
          <a:p/>
        </p:txBody>
      </p:sp>
      <p:sp>
        <p:nvSpPr>
          <p:cNvPr id="6" name="Shape 4"/>
          <p:cNvSpPr/>
          <p:nvPr/>
        </p:nvSpPr>
        <p:spPr>
          <a:xfrm>
            <a:off x="594360" y="2423160"/>
            <a:ext cx="3520440" cy="91440"/>
          </a:xfrm>
          <a:prstGeom prst="rect">
            <a:avLst/>
          </a:prstGeom>
          <a:solidFill>
            <a:srgbClr val="0E7C6B"/>
          </a:solidFill>
          <a:ln w="12700">
            <a:solidFill>
              <a:srgbClr val="0E7C6B"/>
            </a:solidFill>
            <a:prstDash val="solid"/>
          </a:ln>
        </p:spPr>
        <p:txBody>
          <a:bodyPr/>
          <a:p/>
        </p:txBody>
      </p:sp>
      <p:sp>
        <p:nvSpPr>
          <p:cNvPr id="7" name="Text 5"/>
          <p:cNvSpPr/>
          <p:nvPr/>
        </p:nvSpPr>
        <p:spPr>
          <a:xfrm>
            <a:off x="868680" y="2651760"/>
            <a:ext cx="301752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INTERNE</a:t>
            </a:r>
            <a:endParaRPr lang="en-US" sz="1300" dirty="0"/>
          </a:p>
        </p:txBody>
      </p:sp>
      <p:sp>
        <p:nvSpPr>
          <p:cNvPr id="8" name="Text 6"/>
          <p:cNvSpPr/>
          <p:nvPr/>
        </p:nvSpPr>
        <p:spPr>
          <a:xfrm>
            <a:off x="868680" y="3063240"/>
            <a:ext cx="3017520" cy="12801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managerii și angajații</a:t>
            </a:r>
            <a:endParaRPr lang="en-US" sz="1600" dirty="0"/>
          </a:p>
        </p:txBody>
      </p:sp>
      <p:sp>
        <p:nvSpPr>
          <p:cNvPr id="9" name="Shape 7"/>
          <p:cNvSpPr/>
          <p:nvPr/>
        </p:nvSpPr>
        <p:spPr>
          <a:xfrm>
            <a:off x="4343400" y="2423160"/>
            <a:ext cx="3520440" cy="2011680"/>
          </a:xfrm>
          <a:prstGeom prst="roundRect">
            <a:avLst>
              <a:gd name="adj" fmla="val 4091"/>
            </a:avLst>
          </a:prstGeom>
          <a:solidFill>
            <a:srgbClr val="ECEAE4"/>
          </a:solidFill>
          <a:ln w="12700">
            <a:solidFill>
              <a:srgbClr val="ECEAE4"/>
            </a:solidFill>
            <a:prstDash val="solid"/>
          </a:ln>
        </p:spPr>
        <p:txBody>
          <a:bodyPr/>
          <a:p/>
        </p:txBody>
      </p:sp>
      <p:sp>
        <p:nvSpPr>
          <p:cNvPr id="10" name="Shape 8"/>
          <p:cNvSpPr/>
          <p:nvPr/>
        </p:nvSpPr>
        <p:spPr>
          <a:xfrm>
            <a:off x="4343400" y="2423160"/>
            <a:ext cx="3520440" cy="91440"/>
          </a:xfrm>
          <a:prstGeom prst="rect">
            <a:avLst/>
          </a:prstGeom>
          <a:solidFill>
            <a:srgbClr val="9B7EF7"/>
          </a:solidFill>
          <a:ln w="12700">
            <a:solidFill>
              <a:srgbClr val="9B7EF7"/>
            </a:solidFill>
            <a:prstDash val="solid"/>
          </a:ln>
        </p:spPr>
        <p:txBody>
          <a:bodyPr/>
          <a:p/>
        </p:txBody>
      </p:sp>
      <p:sp>
        <p:nvSpPr>
          <p:cNvPr id="11" name="Text 9"/>
          <p:cNvSpPr/>
          <p:nvPr/>
        </p:nvSpPr>
        <p:spPr>
          <a:xfrm>
            <a:off x="4617720" y="2651760"/>
            <a:ext cx="3017520" cy="320040"/>
          </a:xfrm>
          <a:prstGeom prst="rect">
            <a:avLst/>
          </a:prstGeom>
          <a:noFill/>
          <a:ln/>
        </p:spPr>
        <p:txBody>
          <a:bodyPr wrap="square" lIns="0" tIns="0" rIns="0" bIns="0" rtlCol="0" anchor="t"/>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DE INTERFAȚĂ</a:t>
            </a:r>
            <a:endParaRPr lang="en-US" sz="1300" dirty="0"/>
          </a:p>
        </p:txBody>
      </p:sp>
      <p:sp>
        <p:nvSpPr>
          <p:cNvPr id="12" name="Text 10"/>
          <p:cNvSpPr/>
          <p:nvPr/>
        </p:nvSpPr>
        <p:spPr>
          <a:xfrm>
            <a:off x="4617720" y="3063240"/>
            <a:ext cx="3017520" cy="12801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lucrează înăuntru și în afară: corpul medical</a:t>
            </a:r>
            <a:endParaRPr lang="en-US" sz="1600" dirty="0"/>
          </a:p>
        </p:txBody>
      </p:sp>
      <p:sp>
        <p:nvSpPr>
          <p:cNvPr id="13" name="Shape 11"/>
          <p:cNvSpPr/>
          <p:nvPr/>
        </p:nvSpPr>
        <p:spPr>
          <a:xfrm>
            <a:off x="8092440" y="2423160"/>
            <a:ext cx="3520440" cy="2011680"/>
          </a:xfrm>
          <a:prstGeom prst="roundRect">
            <a:avLst>
              <a:gd name="adj" fmla="val 4091"/>
            </a:avLst>
          </a:prstGeom>
          <a:solidFill>
            <a:srgbClr val="ECEAE4"/>
          </a:solidFill>
          <a:ln w="12700">
            <a:solidFill>
              <a:srgbClr val="ECEAE4"/>
            </a:solidFill>
            <a:prstDash val="solid"/>
          </a:ln>
        </p:spPr>
        <p:txBody>
          <a:bodyPr/>
          <a:p/>
        </p:txBody>
      </p:sp>
      <p:sp>
        <p:nvSpPr>
          <p:cNvPr id="14" name="Shape 12"/>
          <p:cNvSpPr/>
          <p:nvPr/>
        </p:nvSpPr>
        <p:spPr>
          <a:xfrm>
            <a:off x="8092440" y="2423160"/>
            <a:ext cx="3520440" cy="91440"/>
          </a:xfrm>
          <a:prstGeom prst="rect">
            <a:avLst/>
          </a:prstGeom>
          <a:solidFill>
            <a:srgbClr val="B02532"/>
          </a:solidFill>
          <a:ln w="12700">
            <a:solidFill>
              <a:srgbClr val="B02532"/>
            </a:solidFill>
            <a:prstDash val="solid"/>
          </a:ln>
        </p:spPr>
        <p:txBody>
          <a:bodyPr/>
          <a:p/>
        </p:txBody>
      </p:sp>
      <p:sp>
        <p:nvSpPr>
          <p:cNvPr id="15" name="Text 13"/>
          <p:cNvSpPr/>
          <p:nvPr/>
        </p:nvSpPr>
        <p:spPr>
          <a:xfrm>
            <a:off x="8366760" y="2651760"/>
            <a:ext cx="301752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EXTERNE</a:t>
            </a:r>
            <a:endParaRPr lang="en-US" sz="1300" dirty="0"/>
          </a:p>
        </p:txBody>
      </p:sp>
      <p:sp>
        <p:nvSpPr>
          <p:cNvPr id="16" name="Text 14"/>
          <p:cNvSpPr/>
          <p:nvPr/>
        </p:nvSpPr>
        <p:spPr>
          <a:xfrm>
            <a:off x="8366760" y="3063240"/>
            <a:ext cx="3017520" cy="12801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furnizorii, plătitorii, concurenții, autoritățile, presa, comunitatea</a:t>
            </a:r>
            <a:endParaRPr lang="en-US" sz="1600" dirty="0"/>
          </a:p>
        </p:txBody>
      </p:sp>
      <p:sp>
        <p:nvSpPr>
          <p:cNvPr id="17" name="Shape 15"/>
          <p:cNvSpPr/>
          <p:nvPr/>
        </p:nvSpPr>
        <p:spPr>
          <a:xfrm>
            <a:off x="594360" y="4663440"/>
            <a:ext cx="10972800" cy="1325880"/>
          </a:xfrm>
          <a:prstGeom prst="roundRect">
            <a:avLst>
              <a:gd name="adj" fmla="val 6207"/>
            </a:avLst>
          </a:prstGeom>
          <a:solidFill>
            <a:srgbClr val="1D1F2B"/>
          </a:solidFill>
          <a:ln w="12700">
            <a:solidFill>
              <a:srgbClr val="1D1F2B"/>
            </a:solidFill>
            <a:prstDash val="solid"/>
          </a:ln>
        </p:spPr>
        <p:txBody>
          <a:bodyPr/>
          <a:p/>
        </p:txBody>
      </p:sp>
      <p:sp>
        <p:nvSpPr>
          <p:cNvPr id="18" name="Text 16"/>
          <p:cNvSpPr/>
          <p:nvPr/>
        </p:nvSpPr>
        <p:spPr>
          <a:xfrm>
            <a:off x="868680" y="4663440"/>
            <a:ext cx="10424160" cy="1325880"/>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Cele de la margine par slabe, dar pot aduce schimbări mari: o asociație de pacienți oncologici, medicii de familie tineri.</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ACTORILOR · SERVICIUL RMN AL SPITALULUI JUDEȚEAN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Puterea și interesul</a:t>
            </a:r>
            <a:endParaRPr lang="en-US" sz="3200" dirty="0"/>
          </a:p>
        </p:txBody>
      </p:sp>
      <p:sp>
        <p:nvSpPr>
          <p:cNvPr id="4" name="Text 2"/>
          <p:cNvSpPr/>
          <p:nvPr/>
        </p:nvSpPr>
        <p:spPr>
          <a:xfrm>
            <a:off x="1463040" y="1645920"/>
            <a:ext cx="4937760" cy="274320"/>
          </a:xfrm>
          <a:prstGeom prst="rect">
            <a:avLst/>
          </a:prstGeom>
          <a:noFill/>
          <a:ln/>
        </p:spPr>
        <p:txBody>
          <a:bodyPr wrap="square" lIns="0" tIns="0" rIns="0" bIns="0" rtlCol="0" anchor="t"/>
          <a:lstStyle/>
          <a:p>
            <a:pPr algn="ctr" indent="0" marL="0">
              <a:buNone/>
            </a:pPr>
            <a:r>
              <a:rPr lang="en-US" sz="1200" i="1" dirty="0">
                <a:solidFill>
                  <a:srgbClr val="585A64"/>
                </a:solidFill>
                <a:latin typeface="Palatino Linotype" pitchFamily="34" charset="0"/>
                <a:ea typeface="Palatino Linotype" pitchFamily="34" charset="-122"/>
                <a:cs typeface="Palatino Linotype" pitchFamily="34" charset="-120"/>
              </a:rPr>
              <a:t>interes mic</a:t>
            </a:r>
            <a:endParaRPr lang="en-US" sz="1200" dirty="0"/>
          </a:p>
        </p:txBody>
      </p:sp>
      <p:sp>
        <p:nvSpPr>
          <p:cNvPr id="5" name="Text 3"/>
          <p:cNvSpPr/>
          <p:nvPr/>
        </p:nvSpPr>
        <p:spPr>
          <a:xfrm>
            <a:off x="6537960" y="1645920"/>
            <a:ext cx="4937760" cy="274320"/>
          </a:xfrm>
          <a:prstGeom prst="rect">
            <a:avLst/>
          </a:prstGeom>
          <a:noFill/>
          <a:ln/>
        </p:spPr>
        <p:txBody>
          <a:bodyPr wrap="square" lIns="0" tIns="0" rIns="0" bIns="0" rtlCol="0" anchor="t"/>
          <a:lstStyle/>
          <a:p>
            <a:pPr algn="ctr" indent="0" marL="0">
              <a:buNone/>
            </a:pPr>
            <a:r>
              <a:rPr lang="en-US" sz="1200" i="1" dirty="0">
                <a:solidFill>
                  <a:srgbClr val="585A64"/>
                </a:solidFill>
                <a:latin typeface="Palatino Linotype" pitchFamily="34" charset="0"/>
                <a:ea typeface="Palatino Linotype" pitchFamily="34" charset="-122"/>
                <a:cs typeface="Palatino Linotype" pitchFamily="34" charset="-120"/>
              </a:rPr>
              <a:t>interes mare</a:t>
            </a:r>
            <a:endParaRPr lang="en-US" sz="1200" dirty="0"/>
          </a:p>
        </p:txBody>
      </p:sp>
      <p:sp>
        <p:nvSpPr>
          <p:cNvPr id="6" name="Text 4"/>
          <p:cNvSpPr/>
          <p:nvPr/>
        </p:nvSpPr>
        <p:spPr>
          <a:xfrm>
            <a:off x="365760" y="2674620"/>
            <a:ext cx="1005840" cy="54864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putere mare</a:t>
            </a:r>
            <a:endParaRPr lang="en-US" sz="1200" dirty="0"/>
          </a:p>
        </p:txBody>
      </p:sp>
      <p:sp>
        <p:nvSpPr>
          <p:cNvPr id="7" name="Text 5"/>
          <p:cNvSpPr/>
          <p:nvPr/>
        </p:nvSpPr>
        <p:spPr>
          <a:xfrm>
            <a:off x="365760" y="4777740"/>
            <a:ext cx="1005840" cy="54864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putere mică</a:t>
            </a:r>
            <a:endParaRPr lang="en-US" sz="1200" dirty="0"/>
          </a:p>
        </p:txBody>
      </p:sp>
      <p:sp>
        <p:nvSpPr>
          <p:cNvPr id="8" name="Shape 6"/>
          <p:cNvSpPr/>
          <p:nvPr/>
        </p:nvSpPr>
        <p:spPr>
          <a:xfrm>
            <a:off x="1463040" y="1965960"/>
            <a:ext cx="4937760" cy="1965960"/>
          </a:xfrm>
          <a:prstGeom prst="roundRect">
            <a:avLst>
              <a:gd name="adj" fmla="val 4186"/>
            </a:avLst>
          </a:prstGeom>
          <a:solidFill>
            <a:srgbClr val="ECEAE4"/>
          </a:solidFill>
          <a:ln w="12700">
            <a:solidFill>
              <a:srgbClr val="ECEAE4"/>
            </a:solidFill>
            <a:prstDash val="solid"/>
          </a:ln>
        </p:spPr>
        <p:txBody>
          <a:bodyPr/>
          <a:p/>
        </p:txBody>
      </p:sp>
      <p:sp>
        <p:nvSpPr>
          <p:cNvPr id="9" name="Text 7"/>
          <p:cNvSpPr/>
          <p:nvPr/>
        </p:nvSpPr>
        <p:spPr>
          <a:xfrm>
            <a:off x="1737360" y="2148840"/>
            <a:ext cx="4389120" cy="320040"/>
          </a:xfrm>
          <a:prstGeom prst="rect">
            <a:avLst/>
          </a:prstGeom>
          <a:noFill/>
          <a:ln/>
        </p:spPr>
        <p:txBody>
          <a:bodyPr wrap="square" lIns="0" tIns="0" rIns="0" bIns="0" rtlCol="0" anchor="t"/>
          <a:lstStyle/>
          <a:p>
            <a:pPr indent="0" marL="0">
              <a:buNone/>
            </a:pPr>
            <a:r>
              <a:rPr lang="en-US" sz="1250" b="1" spc="200" kern="0" dirty="0">
                <a:solidFill>
                  <a:srgbClr val="8A6100"/>
                </a:solidFill>
                <a:latin typeface="Palatino Linotype" pitchFamily="34" charset="0"/>
                <a:ea typeface="Palatino Linotype" pitchFamily="34" charset="-122"/>
                <a:cs typeface="Palatino Linotype" pitchFamily="34" charset="-120"/>
              </a:rPr>
              <a:t>SE INFORMEAZĂ PERIODIC</a:t>
            </a:r>
            <a:endParaRPr lang="en-US" sz="1250" dirty="0"/>
          </a:p>
        </p:txBody>
      </p:sp>
      <p:sp>
        <p:nvSpPr>
          <p:cNvPr id="10" name="Text 8"/>
          <p:cNvSpPr/>
          <p:nvPr/>
        </p:nvSpPr>
        <p:spPr>
          <a:xfrm>
            <a:off x="1737360" y="2560320"/>
            <a:ext cx="4389120" cy="12801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instituțiile publice cu un rol punctual</a:t>
            </a:r>
            <a:endParaRPr lang="en-US" sz="1600" dirty="0"/>
          </a:p>
        </p:txBody>
      </p:sp>
      <p:sp>
        <p:nvSpPr>
          <p:cNvPr id="11" name="Shape 9"/>
          <p:cNvSpPr/>
          <p:nvPr/>
        </p:nvSpPr>
        <p:spPr>
          <a:xfrm>
            <a:off x="6537960" y="1965960"/>
            <a:ext cx="4937760" cy="1965960"/>
          </a:xfrm>
          <a:prstGeom prst="roundRect">
            <a:avLst>
              <a:gd name="adj" fmla="val 4186"/>
            </a:avLst>
          </a:prstGeom>
          <a:solidFill>
            <a:srgbClr val="B02532"/>
          </a:solidFill>
          <a:ln w="12700">
            <a:solidFill>
              <a:srgbClr val="B02532"/>
            </a:solidFill>
            <a:prstDash val="solid"/>
          </a:ln>
        </p:spPr>
        <p:txBody>
          <a:bodyPr/>
          <a:p/>
        </p:txBody>
      </p:sp>
      <p:sp>
        <p:nvSpPr>
          <p:cNvPr id="12" name="Text 10"/>
          <p:cNvSpPr/>
          <p:nvPr/>
        </p:nvSpPr>
        <p:spPr>
          <a:xfrm>
            <a:off x="6812280" y="2148840"/>
            <a:ext cx="4389120" cy="320040"/>
          </a:xfrm>
          <a:prstGeom prst="rect">
            <a:avLst/>
          </a:prstGeom>
          <a:noFill/>
          <a:ln/>
        </p:spPr>
        <p:txBody>
          <a:bodyPr wrap="square" lIns="0" tIns="0" rIns="0" bIns="0" rtlCol="0" anchor="t"/>
          <a:lstStyle/>
          <a:p>
            <a:pPr indent="0" marL="0">
              <a:buNone/>
            </a:pPr>
            <a:r>
              <a:rPr lang="en-US" sz="1250" b="1" spc="200" kern="0" dirty="0">
                <a:solidFill>
                  <a:srgbClr val="FFFFFF"/>
                </a:solidFill>
                <a:latin typeface="Palatino Linotype" pitchFamily="34" charset="0"/>
                <a:ea typeface="Palatino Linotype" pitchFamily="34" charset="-122"/>
                <a:cs typeface="Palatino Linotype" pitchFamily="34" charset="-120"/>
              </a:rPr>
              <a:t>SE IMPLICĂ ACTIV</a:t>
            </a:r>
            <a:endParaRPr lang="en-US" sz="1250" dirty="0"/>
          </a:p>
        </p:txBody>
      </p:sp>
      <p:sp>
        <p:nvSpPr>
          <p:cNvPr id="13" name="Text 11"/>
          <p:cNvSpPr/>
          <p:nvPr/>
        </p:nvSpPr>
        <p:spPr>
          <a:xfrm>
            <a:off x="6812280" y="2560320"/>
            <a:ext cx="4389120" cy="12801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casa județeană de asigurări, medicii care trimit pacienți, autoritatea de sănătate publică a județului</a:t>
            </a:r>
            <a:endParaRPr lang="en-US" sz="1600" dirty="0"/>
          </a:p>
        </p:txBody>
      </p:sp>
      <p:sp>
        <p:nvSpPr>
          <p:cNvPr id="14" name="Shape 12"/>
          <p:cNvSpPr/>
          <p:nvPr/>
        </p:nvSpPr>
        <p:spPr>
          <a:xfrm>
            <a:off x="1463040" y="4069080"/>
            <a:ext cx="4937760" cy="1965960"/>
          </a:xfrm>
          <a:prstGeom prst="roundRect">
            <a:avLst>
              <a:gd name="adj" fmla="val 4186"/>
            </a:avLst>
          </a:prstGeom>
          <a:solidFill>
            <a:srgbClr val="F9F8F5"/>
          </a:solidFill>
          <a:ln w="12700">
            <a:solidFill>
              <a:srgbClr val="F9F8F5"/>
            </a:solidFill>
            <a:prstDash val="solid"/>
          </a:ln>
        </p:spPr>
        <p:txBody>
          <a:bodyPr/>
          <a:p/>
        </p:txBody>
      </p:sp>
      <p:sp>
        <p:nvSpPr>
          <p:cNvPr id="15" name="Text 13"/>
          <p:cNvSpPr/>
          <p:nvPr/>
        </p:nvSpPr>
        <p:spPr>
          <a:xfrm>
            <a:off x="1737360" y="4251960"/>
            <a:ext cx="4389120" cy="320040"/>
          </a:xfrm>
          <a:prstGeom prst="rect">
            <a:avLst/>
          </a:prstGeom>
          <a:noFill/>
          <a:ln/>
        </p:spPr>
        <p:txBody>
          <a:bodyPr wrap="square" lIns="0" tIns="0" rIns="0" bIns="0" rtlCol="0" anchor="t"/>
          <a:lstStyle/>
          <a:p>
            <a:pPr indent="0" marL="0">
              <a:buNone/>
            </a:pPr>
            <a:r>
              <a:rPr lang="en-US" sz="1250" b="1" spc="200" kern="0" dirty="0">
                <a:solidFill>
                  <a:srgbClr val="585A64"/>
                </a:solidFill>
                <a:latin typeface="Palatino Linotype" pitchFamily="34" charset="0"/>
                <a:ea typeface="Palatino Linotype" pitchFamily="34" charset="-122"/>
                <a:cs typeface="Palatino Linotype" pitchFamily="34" charset="-120"/>
              </a:rPr>
              <a:t>SE URMĂREȘTE</a:t>
            </a:r>
            <a:endParaRPr lang="en-US" sz="1250" dirty="0"/>
          </a:p>
        </p:txBody>
      </p:sp>
      <p:sp>
        <p:nvSpPr>
          <p:cNvPr id="16" name="Text 14"/>
          <p:cNvSpPr/>
          <p:nvPr/>
        </p:nvSpPr>
        <p:spPr>
          <a:xfrm>
            <a:off x="1737360" y="4663440"/>
            <a:ext cx="4389120" cy="12801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presa generală</a:t>
            </a:r>
            <a:endParaRPr lang="en-US" sz="1600" dirty="0"/>
          </a:p>
        </p:txBody>
      </p:sp>
      <p:sp>
        <p:nvSpPr>
          <p:cNvPr id="17" name="Shape 15"/>
          <p:cNvSpPr/>
          <p:nvPr/>
        </p:nvSpPr>
        <p:spPr>
          <a:xfrm>
            <a:off x="6537960" y="4069080"/>
            <a:ext cx="4937760" cy="1965960"/>
          </a:xfrm>
          <a:prstGeom prst="roundRect">
            <a:avLst>
              <a:gd name="adj" fmla="val 4186"/>
            </a:avLst>
          </a:prstGeom>
          <a:solidFill>
            <a:srgbClr val="ECEAE4"/>
          </a:solidFill>
          <a:ln w="12700">
            <a:solidFill>
              <a:srgbClr val="ECEAE4"/>
            </a:solidFill>
            <a:prstDash val="solid"/>
          </a:ln>
        </p:spPr>
        <p:txBody>
          <a:bodyPr/>
          <a:p/>
        </p:txBody>
      </p:sp>
      <p:sp>
        <p:nvSpPr>
          <p:cNvPr id="18" name="Text 16"/>
          <p:cNvSpPr/>
          <p:nvPr/>
        </p:nvSpPr>
        <p:spPr>
          <a:xfrm>
            <a:off x="6812280" y="4251960"/>
            <a:ext cx="4389120" cy="320040"/>
          </a:xfrm>
          <a:prstGeom prst="rect">
            <a:avLst/>
          </a:prstGeom>
          <a:noFill/>
          <a:ln/>
        </p:spPr>
        <p:txBody>
          <a:bodyPr wrap="square" lIns="0" tIns="0" rIns="0" bIns="0" rtlCol="0" anchor="t"/>
          <a:lstStyle/>
          <a:p>
            <a:pPr indent="0" marL="0">
              <a:buNone/>
            </a:pPr>
            <a:r>
              <a:rPr lang="en-US" sz="1250" b="1" spc="200" kern="0" dirty="0">
                <a:solidFill>
                  <a:srgbClr val="0E7C6B"/>
                </a:solidFill>
                <a:latin typeface="Palatino Linotype" pitchFamily="34" charset="0"/>
                <a:ea typeface="Palatino Linotype" pitchFamily="34" charset="-122"/>
                <a:cs typeface="Palatino Linotype" pitchFamily="34" charset="-120"/>
              </a:rPr>
              <a:t>SE CONSULTĂ</a:t>
            </a:r>
            <a:endParaRPr lang="en-US" sz="1250" dirty="0"/>
          </a:p>
        </p:txBody>
      </p:sp>
      <p:sp>
        <p:nvSpPr>
          <p:cNvPr id="19" name="Text 17"/>
          <p:cNvSpPr/>
          <p:nvPr/>
        </p:nvSpPr>
        <p:spPr>
          <a:xfrm>
            <a:off x="6812280" y="4663440"/>
            <a:ext cx="4389120" cy="12801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pacienții, asociațiile de pacienți</a:t>
            </a:r>
            <a:endParaRPr lang="en-US" sz="1600" dirty="0"/>
          </a:p>
        </p:txBody>
      </p:sp>
      <p:sp>
        <p:nvSpPr>
          <p:cNvPr id="20" name="Text 18"/>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Exemplu după prezentarea cursului; așezarea în căsuțe este orientativă.</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 · APOI VOT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DOI VOLUNTARI · ÎNTREBĂRILE 9–10</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Programul de seară: cine trebuie întrebat?</a:t>
            </a:r>
            <a:endParaRPr lang="en-US" sz="3100" dirty="0"/>
          </a:p>
        </p:txBody>
      </p:sp>
      <p:sp>
        <p:nvSpPr>
          <p:cNvPr id="6" name="Shape 4"/>
          <p:cNvSpPr/>
          <p:nvPr/>
        </p:nvSpPr>
        <p:spPr>
          <a:xfrm>
            <a:off x="594360" y="1828800"/>
            <a:ext cx="5349240" cy="1828800"/>
          </a:xfrm>
          <a:prstGeom prst="roundRect">
            <a:avLst>
              <a:gd name="adj" fmla="val 4500"/>
            </a:avLst>
          </a:prstGeom>
          <a:solidFill>
            <a:srgbClr val="1D1F2B"/>
          </a:solidFill>
          <a:ln w="12700">
            <a:solidFill>
              <a:srgbClr val="1D1F2B"/>
            </a:solidFill>
            <a:prstDash val="solid"/>
          </a:ln>
        </p:spPr>
        <p:txBody>
          <a:bodyPr/>
          <a:p/>
        </p:txBody>
      </p:sp>
      <p:sp>
        <p:nvSpPr>
          <p:cNvPr id="7" name="Shape 5"/>
          <p:cNvSpPr/>
          <p:nvPr/>
        </p:nvSpPr>
        <p:spPr>
          <a:xfrm>
            <a:off x="594360" y="1828800"/>
            <a:ext cx="54864" cy="1828800"/>
          </a:xfrm>
          <a:prstGeom prst="rect">
            <a:avLst/>
          </a:prstGeom>
          <a:solidFill>
            <a:srgbClr val="FFC24B"/>
          </a:solidFill>
          <a:ln w="12700">
            <a:solidFill>
              <a:srgbClr val="FFC24B"/>
            </a:solidFill>
            <a:prstDash val="solid"/>
          </a:ln>
        </p:spPr>
        <p:txBody>
          <a:bodyPr/>
          <a:p/>
        </p:txBody>
      </p:sp>
      <p:sp>
        <p:nvSpPr>
          <p:cNvPr id="8" name="Text 6"/>
          <p:cNvSpPr/>
          <p:nvPr/>
        </p:nvSpPr>
        <p:spPr>
          <a:xfrm>
            <a:off x="914400" y="2011680"/>
            <a:ext cx="484632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MANAGERUL SPITALULUI</a:t>
            </a:r>
            <a:endParaRPr lang="en-US" sz="1300" dirty="0"/>
          </a:p>
        </p:txBody>
      </p:sp>
      <p:sp>
        <p:nvSpPr>
          <p:cNvPr id="9" name="Text 7"/>
          <p:cNvSpPr/>
          <p:nvPr/>
        </p:nvSpPr>
        <p:spPr>
          <a:xfrm>
            <a:off x="914400" y="2468880"/>
            <a:ext cx="484632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Vrea să prelungească programul serviciului RMN până seara.</a:t>
            </a:r>
            <a:endParaRPr lang="en-US" sz="1900" dirty="0"/>
          </a:p>
        </p:txBody>
      </p:sp>
      <p:sp>
        <p:nvSpPr>
          <p:cNvPr id="10" name="Shape 8"/>
          <p:cNvSpPr/>
          <p:nvPr/>
        </p:nvSpPr>
        <p:spPr>
          <a:xfrm>
            <a:off x="6217920" y="1828800"/>
            <a:ext cx="5349240" cy="1828800"/>
          </a:xfrm>
          <a:prstGeom prst="roundRect">
            <a:avLst>
              <a:gd name="adj" fmla="val 4500"/>
            </a:avLst>
          </a:prstGeom>
          <a:solidFill>
            <a:srgbClr val="1D1F2B"/>
          </a:solidFill>
          <a:ln w="12700">
            <a:solidFill>
              <a:srgbClr val="1D1F2B"/>
            </a:solidFill>
            <a:prstDash val="solid"/>
          </a:ln>
        </p:spPr>
        <p:txBody>
          <a:bodyPr/>
          <a:p/>
        </p:txBody>
      </p:sp>
      <p:sp>
        <p:nvSpPr>
          <p:cNvPr id="11" name="Shape 9"/>
          <p:cNvSpPr/>
          <p:nvPr/>
        </p:nvSpPr>
        <p:spPr>
          <a:xfrm>
            <a:off x="6217920" y="1828800"/>
            <a:ext cx="54864" cy="1828800"/>
          </a:xfrm>
          <a:prstGeom prst="rect">
            <a:avLst/>
          </a:prstGeom>
          <a:solidFill>
            <a:srgbClr val="27D3BE"/>
          </a:solidFill>
          <a:ln w="12700">
            <a:solidFill>
              <a:srgbClr val="27D3BE"/>
            </a:solidFill>
            <a:prstDash val="solid"/>
          </a:ln>
        </p:spPr>
        <p:txBody>
          <a:bodyPr/>
          <a:p/>
        </p:txBody>
      </p:sp>
      <p:sp>
        <p:nvSpPr>
          <p:cNvPr id="12" name="Text 10"/>
          <p:cNvSpPr/>
          <p:nvPr/>
        </p:nvSpPr>
        <p:spPr>
          <a:xfrm>
            <a:off x="6537960" y="2011680"/>
            <a:ext cx="4846320" cy="32004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MEDICUL-ȘEF AL RADIOLOGIEI</a:t>
            </a:r>
            <a:endParaRPr lang="en-US" sz="1300" dirty="0"/>
          </a:p>
        </p:txBody>
      </p:sp>
      <p:sp>
        <p:nvSpPr>
          <p:cNvPr id="13" name="Text 11"/>
          <p:cNvSpPr/>
          <p:nvPr/>
        </p:nvSpPr>
        <p:spPr>
          <a:xfrm>
            <a:off x="6537960" y="2468880"/>
            <a:ext cx="4846320" cy="109728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Spune că oamenii lui nu mai pot lucra mai mult.</a:t>
            </a:r>
            <a:endParaRPr lang="en-US" sz="1900" dirty="0"/>
          </a:p>
        </p:txBody>
      </p:sp>
      <p:sp>
        <p:nvSpPr>
          <p:cNvPr id="14" name="Text 12"/>
          <p:cNvSpPr/>
          <p:nvPr/>
        </p:nvSpPr>
        <p:spPr>
          <a:xfrm>
            <a:off x="594360" y="3931920"/>
            <a:ext cx="10972800" cy="137160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O scenă de cel mult trei minute. Apoi votați: în ce căsuță a hărții actorilor stă medicul-șef? Ce ar trebui să facă managerul înainte de a scrie programul nou în plan?</a:t>
            </a:r>
            <a:endParaRPr lang="en-US" sz="1800" dirty="0"/>
          </a:p>
        </p:txBody>
      </p:sp>
      <p:sp>
        <p:nvSpPr>
          <p:cNvPr id="15" name="Text 13"/>
          <p:cNvSpPr/>
          <p:nvPr/>
        </p:nvSpPr>
        <p:spPr>
          <a:xfrm>
            <a:off x="594360" y="5760720"/>
            <a:ext cx="10972800" cy="41148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SCENĂ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Medicul-șef: putere mare, interes mare</a:t>
            </a:r>
            <a:endParaRPr lang="en-US" sz="3100" dirty="0"/>
          </a:p>
        </p:txBody>
      </p:sp>
      <p:sp>
        <p:nvSpPr>
          <p:cNvPr id="4" name="Shape 2"/>
          <p:cNvSpPr/>
          <p:nvPr/>
        </p:nvSpPr>
        <p:spPr>
          <a:xfrm>
            <a:off x="594360" y="1600200"/>
            <a:ext cx="5349240" cy="2651760"/>
          </a:xfrm>
          <a:prstGeom prst="roundRect">
            <a:avLst>
              <a:gd name="adj" fmla="val 3103"/>
            </a:avLst>
          </a:prstGeom>
          <a:solidFill>
            <a:srgbClr val="ECEAE4"/>
          </a:solidFill>
          <a:ln w="12700">
            <a:solidFill>
              <a:srgbClr val="ECEAE4"/>
            </a:solidFill>
            <a:prstDash val="solid"/>
          </a:ln>
        </p:spPr>
        <p:txBody>
          <a:bodyPr/>
          <a:p/>
        </p:txBody>
      </p:sp>
      <p:sp>
        <p:nvSpPr>
          <p:cNvPr id="5" name="Text 3"/>
          <p:cNvSpPr/>
          <p:nvPr/>
        </p:nvSpPr>
        <p:spPr>
          <a:xfrm>
            <a:off x="868680" y="1783080"/>
            <a:ext cx="484632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O PARTE INTERESATĂ DE INTERFAȚĂ</a:t>
            </a:r>
            <a:endParaRPr lang="en-US" sz="1300" dirty="0"/>
          </a:p>
        </p:txBody>
      </p:sp>
      <p:sp>
        <p:nvSpPr>
          <p:cNvPr id="6" name="Text 4"/>
          <p:cNvSpPr/>
          <p:nvPr/>
        </p:nvSpPr>
        <p:spPr>
          <a:xfrm>
            <a:off x="868680" y="2240280"/>
            <a:ext cx="4846320" cy="19202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Lucrează în spital, dar reprezintă și corpul medical. Fără el, programul de seară nu există.</a:t>
            </a:r>
            <a:endParaRPr lang="en-US" sz="1800" dirty="0"/>
          </a:p>
        </p:txBody>
      </p:sp>
      <p:sp>
        <p:nvSpPr>
          <p:cNvPr id="7" name="Shape 5"/>
          <p:cNvSpPr/>
          <p:nvPr/>
        </p:nvSpPr>
        <p:spPr>
          <a:xfrm>
            <a:off x="6217920" y="1600200"/>
            <a:ext cx="5349240" cy="2651760"/>
          </a:xfrm>
          <a:prstGeom prst="roundRect">
            <a:avLst>
              <a:gd name="adj" fmla="val 3103"/>
            </a:avLst>
          </a:prstGeom>
          <a:solidFill>
            <a:srgbClr val="ECEAE4"/>
          </a:solidFill>
          <a:ln w="12700">
            <a:solidFill>
              <a:srgbClr val="ECEAE4"/>
            </a:solidFill>
            <a:prstDash val="solid"/>
          </a:ln>
        </p:spPr>
        <p:txBody>
          <a:bodyPr/>
          <a:p/>
        </p:txBody>
      </p:sp>
      <p:sp>
        <p:nvSpPr>
          <p:cNvPr id="8" name="Text 6"/>
          <p:cNvSpPr/>
          <p:nvPr/>
        </p:nvSpPr>
        <p:spPr>
          <a:xfrm>
            <a:off x="6492240" y="1783080"/>
            <a:ext cx="484632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SE IMPLICĂ ÎN DECIZIE</a:t>
            </a:r>
            <a:endParaRPr lang="en-US" sz="1300" dirty="0"/>
          </a:p>
        </p:txBody>
      </p:sp>
      <p:sp>
        <p:nvSpPr>
          <p:cNvPr id="9" name="Text 7"/>
          <p:cNvSpPr/>
          <p:nvPr/>
        </p:nvSpPr>
        <p:spPr>
          <a:xfrm>
            <a:off x="6492240" y="2240280"/>
            <a:ext cx="4846320" cy="19202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Nu este informat după ea. Programul nou se discută cu el înainte de a fi scris în plan.</a:t>
            </a:r>
            <a:endParaRPr lang="en-US" sz="1800" dirty="0"/>
          </a:p>
        </p:txBody>
      </p:sp>
      <p:sp>
        <p:nvSpPr>
          <p:cNvPr id="10" name="Text 8"/>
          <p:cNvSpPr/>
          <p:nvPr/>
        </p:nvSpPr>
        <p:spPr>
          <a:xfrm>
            <a:off x="594360" y="4526280"/>
            <a:ext cx="10972800" cy="12801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Lipsa radiologilor ține și de plecarea personalului din sistem: un plan care o ignoră se lovește repede de ea.</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CE PLANUL E SCRIS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Presupunerile se verifică, scenariile se scriu mai multe</a:t>
            </a:r>
            <a:endParaRPr lang="en-US" sz="2800" dirty="0"/>
          </a:p>
        </p:txBody>
      </p:sp>
      <p:sp>
        <p:nvSpPr>
          <p:cNvPr id="4" name="Shape 2"/>
          <p:cNvSpPr/>
          <p:nvPr/>
        </p:nvSpPr>
        <p:spPr>
          <a:xfrm>
            <a:off x="594360" y="1600200"/>
            <a:ext cx="5760720" cy="4389120"/>
          </a:xfrm>
          <a:prstGeom prst="roundRect">
            <a:avLst>
              <a:gd name="adj" fmla="val 1875"/>
            </a:avLst>
          </a:prstGeom>
          <a:solidFill>
            <a:srgbClr val="ECEAE4"/>
          </a:solidFill>
          <a:ln w="12700">
            <a:solidFill>
              <a:srgbClr val="ECEAE4"/>
            </a:solidFill>
            <a:prstDash val="solid"/>
          </a:ln>
        </p:spPr>
        <p:txBody>
          <a:bodyPr/>
          <a:p/>
        </p:txBody>
      </p:sp>
      <p:sp>
        <p:nvSpPr>
          <p:cNvPr id="5" name="Text 3"/>
          <p:cNvSpPr/>
          <p:nvPr/>
        </p:nvSpPr>
        <p:spPr>
          <a:xfrm>
            <a:off x="868680" y="1783080"/>
            <a:ext cx="5212080" cy="320040"/>
          </a:xfrm>
          <a:prstGeom prst="rect">
            <a:avLst/>
          </a:prstGeom>
          <a:noFill/>
          <a:ln/>
        </p:spPr>
        <p:txBody>
          <a:bodyPr wrap="square" lIns="0" tIns="0" rIns="0" bIns="0" rtlCol="0" anchor="t"/>
          <a:lstStyle/>
          <a:p>
            <a:pPr indent="0" marL="0">
              <a:buNone/>
            </a:pPr>
            <a:r>
              <a:rPr lang="en-US" sz="1250" b="1" spc="200" kern="0" dirty="0">
                <a:solidFill>
                  <a:srgbClr val="0E7C6B"/>
                </a:solidFill>
                <a:latin typeface="Palatino Linotype" pitchFamily="34" charset="0"/>
                <a:ea typeface="Palatino Linotype" pitchFamily="34" charset="-122"/>
                <a:cs typeface="Palatino Linotype" pitchFamily="34" charset="-120"/>
              </a:rPr>
              <a:t>ÎN FIECARE TRIMESTRU</a:t>
            </a:r>
            <a:endParaRPr lang="en-US" sz="1250" dirty="0"/>
          </a:p>
        </p:txBody>
      </p:sp>
      <p:sp>
        <p:nvSpPr>
          <p:cNvPr id="6" name="Text 4"/>
          <p:cNvSpPr/>
          <p:nvPr/>
        </p:nvSpPr>
        <p:spPr>
          <a:xfrm>
            <a:off x="868680" y="2194560"/>
            <a:ext cx="5212080" cy="15544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Se reiau problemele, se caută semnale noi, se renotează; proiectele se schimbă dacă o presupunere cade.</a:t>
            </a:r>
            <a:endParaRPr lang="en-US" sz="1600" dirty="0"/>
          </a:p>
        </p:txBody>
      </p:sp>
      <p:sp>
        <p:nvSpPr>
          <p:cNvPr id="7" name="Text 5"/>
          <p:cNvSpPr/>
          <p:nvPr/>
        </p:nvSpPr>
        <p:spPr>
          <a:xfrm>
            <a:off x="868680" y="3886200"/>
            <a:ext cx="5212080" cy="137160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Semnale: așteptarea care crește, ce spun medicii care trimit, un proiect de act normativ.</a:t>
            </a:r>
            <a:endParaRPr lang="en-US" sz="1500" dirty="0"/>
          </a:p>
        </p:txBody>
      </p:sp>
      <p:sp>
        <p:nvSpPr>
          <p:cNvPr id="8" name="Shape 6"/>
          <p:cNvSpPr/>
          <p:nvPr/>
        </p:nvSpPr>
        <p:spPr>
          <a:xfrm>
            <a:off x="6629400" y="1600200"/>
            <a:ext cx="4937760" cy="4389120"/>
          </a:xfrm>
          <a:prstGeom prst="roundRect">
            <a:avLst>
              <a:gd name="adj" fmla="val 1875"/>
            </a:avLst>
          </a:prstGeom>
          <a:solidFill>
            <a:srgbClr val="1D1F2B"/>
          </a:solidFill>
          <a:ln w="12700">
            <a:solidFill>
              <a:srgbClr val="1D1F2B"/>
            </a:solidFill>
            <a:prstDash val="solid"/>
          </a:ln>
        </p:spPr>
        <p:txBody>
          <a:bodyPr/>
          <a:p/>
        </p:txBody>
      </p:sp>
      <p:sp>
        <p:nvSpPr>
          <p:cNvPr id="9" name="Text 7"/>
          <p:cNvSpPr/>
          <p:nvPr/>
        </p:nvSpPr>
        <p:spPr>
          <a:xfrm>
            <a:off x="6903720" y="1783080"/>
            <a:ext cx="4480560" cy="320040"/>
          </a:xfrm>
          <a:prstGeom prst="rect">
            <a:avLst/>
          </a:prstGeom>
          <a:noFill/>
          <a:ln/>
        </p:spPr>
        <p:txBody>
          <a:bodyPr wrap="square" lIns="0" tIns="0" rIns="0" bIns="0" rtlCol="0" anchor="t"/>
          <a:lstStyle/>
          <a:p>
            <a:pPr indent="0" marL="0">
              <a:buNone/>
            </a:pPr>
            <a:r>
              <a:rPr lang="en-US" sz="1250" b="1" spc="200" kern="0" dirty="0">
                <a:solidFill>
                  <a:srgbClr val="FFC24B"/>
                </a:solidFill>
                <a:latin typeface="Palatino Linotype" pitchFamily="34" charset="0"/>
                <a:ea typeface="Palatino Linotype" pitchFamily="34" charset="-122"/>
                <a:cs typeface="Palatino Linotype" pitchFamily="34" charset="-120"/>
              </a:rPr>
              <a:t>CÂND VIITORUL E FOARTE NESIGUR</a:t>
            </a:r>
            <a:endParaRPr lang="en-US" sz="1250" dirty="0"/>
          </a:p>
        </p:txBody>
      </p:sp>
      <p:sp>
        <p:nvSpPr>
          <p:cNvPr id="10" name="Text 8"/>
          <p:cNvSpPr/>
          <p:nvPr/>
        </p:nvSpPr>
        <p:spPr>
          <a:xfrm>
            <a:off x="6903720" y="2194560"/>
            <a:ext cx="4480560" cy="21945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Mai multe povești coerente despre viitor, cu nume distincte, ca nimeni să nu privească numai la cea „mai probabilă”.</a:t>
            </a:r>
            <a:endParaRPr lang="en-US" sz="1600" dirty="0"/>
          </a:p>
        </p:txBody>
      </p:sp>
      <p:sp>
        <p:nvSpPr>
          <p:cNvPr id="11"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Ginter, Duncan și Swayne, manualul cursului, capitolul 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CU COLEGUL DE BANCĂ · O PRESUPUNERE DIN PLAN</a:t>
            </a:r>
            <a:endParaRPr lang="en-US" sz="1300" dirty="0"/>
          </a:p>
        </p:txBody>
      </p:sp>
      <p:sp>
        <p:nvSpPr>
          <p:cNvPr id="5" name="Text 3"/>
          <p:cNvSpPr/>
          <p:nvPr/>
        </p:nvSpPr>
        <p:spPr>
          <a:xfrm>
            <a:off x="594360" y="1097280"/>
            <a:ext cx="10789920" cy="2286000"/>
          </a:xfrm>
          <a:prstGeom prst="rect">
            <a:avLst/>
          </a:prstGeom>
          <a:noFill/>
          <a:ln/>
        </p:spPr>
        <p:txBody>
          <a:bodyPr wrap="square" lIns="0" tIns="0" rIns="0" bIns="0" rtlCol="0" anchor="ctr"/>
          <a:lstStyle/>
          <a:p>
            <a:pPr indent="0" marL="0">
              <a:buNone/>
            </a:pPr>
            <a:r>
              <a:rPr lang="en-US" sz="3600" b="1" i="1" dirty="0">
                <a:solidFill>
                  <a:srgbClr val="FFFFFF"/>
                </a:solidFill>
                <a:latin typeface="Palatino Linotype" pitchFamily="34" charset="0"/>
                <a:ea typeface="Palatino Linotype" pitchFamily="34" charset="-122"/>
                <a:cs typeface="Palatino Linotype" pitchFamily="34" charset="-120"/>
              </a:rPr>
              <a:t>„Programul prelungit al centrului privat nu va mări pierderile spitalului.”</a:t>
            </a:r>
            <a:endParaRPr lang="en-US" sz="3600" dirty="0"/>
          </a:p>
        </p:txBody>
      </p:sp>
      <p:sp>
        <p:nvSpPr>
          <p:cNvPr id="6" name="Shape 4"/>
          <p:cNvSpPr/>
          <p:nvPr/>
        </p:nvSpPr>
        <p:spPr>
          <a:xfrm>
            <a:off x="594360" y="3611880"/>
            <a:ext cx="1280160" cy="36576"/>
          </a:xfrm>
          <a:prstGeom prst="rect">
            <a:avLst/>
          </a:prstGeom>
          <a:solidFill>
            <a:srgbClr val="27D3BE"/>
          </a:solidFill>
          <a:ln/>
        </p:spPr>
        <p:txBody>
          <a:bodyPr/>
          <a:p/>
        </p:txBody>
      </p:sp>
      <p:sp>
        <p:nvSpPr>
          <p:cNvPr id="7" name="Text 5"/>
          <p:cNvSpPr/>
          <p:nvPr/>
        </p:nvSpPr>
        <p:spPr>
          <a:xfrm>
            <a:off x="594360" y="3931920"/>
            <a:ext cx="10424160" cy="146304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Ce semnal, de pe hartă sau din date, v-ar face să spuneți că presupunerea nu mai este adevărată? Notați un singur semnal, cu sursa din care l-ați afla.</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 · NU SE NOTEAZĂ</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TESTUL DE LA FINAL</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Zece întrebări despre ideile ședinței</a:t>
            </a:r>
            <a:endParaRPr lang="en-US" sz="3400" dirty="0"/>
          </a:p>
        </p:txBody>
      </p:sp>
      <p:sp>
        <p:nvSpPr>
          <p:cNvPr id="6" name="Shape 4"/>
          <p:cNvSpPr/>
          <p:nvPr/>
        </p:nvSpPr>
        <p:spPr>
          <a:xfrm>
            <a:off x="594360" y="1783080"/>
            <a:ext cx="6766560" cy="621792"/>
          </a:xfrm>
          <a:prstGeom prst="roundRect">
            <a:avLst>
              <a:gd name="adj" fmla="val 13235"/>
            </a:avLst>
          </a:prstGeom>
          <a:solidFill>
            <a:srgbClr val="1D1F2B"/>
          </a:solidFill>
          <a:ln w="12700">
            <a:solidFill>
              <a:srgbClr val="1D1F2B"/>
            </a:solidFill>
            <a:prstDash val="solid"/>
          </a:ln>
        </p:spPr>
        <p:txBody>
          <a:bodyPr/>
          <a:p/>
        </p:txBody>
      </p:sp>
      <p:sp>
        <p:nvSpPr>
          <p:cNvPr id="7" name="Shape 5"/>
          <p:cNvSpPr/>
          <p:nvPr/>
        </p:nvSpPr>
        <p:spPr>
          <a:xfrm>
            <a:off x="777240" y="1883664"/>
            <a:ext cx="420624" cy="420624"/>
          </a:xfrm>
          <a:prstGeom prst="ellipse">
            <a:avLst/>
          </a:prstGeom>
          <a:solidFill>
            <a:srgbClr val="FFC24B"/>
          </a:solidFill>
          <a:ln/>
        </p:spPr>
        <p:txBody>
          <a:bodyPr/>
          <a:p/>
        </p:txBody>
      </p:sp>
      <p:sp>
        <p:nvSpPr>
          <p:cNvPr id="8" name="Text 6"/>
          <p:cNvSpPr/>
          <p:nvPr/>
        </p:nvSpPr>
        <p:spPr>
          <a:xfrm>
            <a:off x="777240" y="1883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371600" y="1783080"/>
            <a:ext cx="58521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Cele cinci lentile pe România</a:t>
            </a:r>
            <a:endParaRPr lang="en-US" sz="1700" dirty="0"/>
          </a:p>
        </p:txBody>
      </p:sp>
      <p:sp>
        <p:nvSpPr>
          <p:cNvPr id="10" name="Shape 8"/>
          <p:cNvSpPr/>
          <p:nvPr/>
        </p:nvSpPr>
        <p:spPr>
          <a:xfrm>
            <a:off x="594360" y="2514600"/>
            <a:ext cx="6766560" cy="621792"/>
          </a:xfrm>
          <a:prstGeom prst="roundRect">
            <a:avLst>
              <a:gd name="adj" fmla="val 13235"/>
            </a:avLst>
          </a:prstGeom>
          <a:solidFill>
            <a:srgbClr val="1D1F2B"/>
          </a:solidFill>
          <a:ln w="12700">
            <a:solidFill>
              <a:srgbClr val="1D1F2B"/>
            </a:solidFill>
            <a:prstDash val="solid"/>
          </a:ln>
        </p:spPr>
        <p:txBody>
          <a:bodyPr/>
          <a:p/>
        </p:txBody>
      </p:sp>
      <p:sp>
        <p:nvSpPr>
          <p:cNvPr id="11" name="Shape 9"/>
          <p:cNvSpPr/>
          <p:nvPr/>
        </p:nvSpPr>
        <p:spPr>
          <a:xfrm>
            <a:off x="777240" y="2615184"/>
            <a:ext cx="420624" cy="420624"/>
          </a:xfrm>
          <a:prstGeom prst="ellipse">
            <a:avLst/>
          </a:prstGeom>
          <a:solidFill>
            <a:srgbClr val="FFC24B"/>
          </a:solidFill>
          <a:ln/>
        </p:spPr>
        <p:txBody>
          <a:bodyPr/>
          <a:p/>
        </p:txBody>
      </p:sp>
      <p:sp>
        <p:nvSpPr>
          <p:cNvPr id="12" name="Text 10"/>
          <p:cNvSpPr/>
          <p:nvPr/>
        </p:nvSpPr>
        <p:spPr>
          <a:xfrm>
            <a:off x="777240" y="26151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371600" y="2514600"/>
            <a:ext cx="58521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Ariile de servicii și determinanții</a:t>
            </a:r>
            <a:endParaRPr lang="en-US" sz="1700" dirty="0"/>
          </a:p>
        </p:txBody>
      </p:sp>
      <p:sp>
        <p:nvSpPr>
          <p:cNvPr id="14" name="Shape 12"/>
          <p:cNvSpPr/>
          <p:nvPr/>
        </p:nvSpPr>
        <p:spPr>
          <a:xfrm>
            <a:off x="594360" y="3246120"/>
            <a:ext cx="6766560" cy="621792"/>
          </a:xfrm>
          <a:prstGeom prst="roundRect">
            <a:avLst>
              <a:gd name="adj" fmla="val 13235"/>
            </a:avLst>
          </a:prstGeom>
          <a:solidFill>
            <a:srgbClr val="1D1F2B"/>
          </a:solidFill>
          <a:ln w="12700">
            <a:solidFill>
              <a:srgbClr val="1D1F2B"/>
            </a:solidFill>
            <a:prstDash val="solid"/>
          </a:ln>
        </p:spPr>
        <p:txBody>
          <a:bodyPr/>
          <a:p/>
        </p:txBody>
      </p:sp>
      <p:sp>
        <p:nvSpPr>
          <p:cNvPr id="15" name="Shape 13"/>
          <p:cNvSpPr/>
          <p:nvPr/>
        </p:nvSpPr>
        <p:spPr>
          <a:xfrm>
            <a:off x="777240" y="3346704"/>
            <a:ext cx="420624" cy="420624"/>
          </a:xfrm>
          <a:prstGeom prst="ellipse">
            <a:avLst/>
          </a:prstGeom>
          <a:solidFill>
            <a:srgbClr val="FFC24B"/>
          </a:solidFill>
          <a:ln/>
        </p:spPr>
        <p:txBody>
          <a:bodyPr/>
          <a:p/>
        </p:txBody>
      </p:sp>
      <p:sp>
        <p:nvSpPr>
          <p:cNvPr id="16" name="Text 14"/>
          <p:cNvSpPr/>
          <p:nvPr/>
        </p:nvSpPr>
        <p:spPr>
          <a:xfrm>
            <a:off x="777240" y="3346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371600" y="3246120"/>
            <a:ext cx="58521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Aria principală, pierderile și câștigurile</a:t>
            </a:r>
            <a:endParaRPr lang="en-US" sz="1700" dirty="0"/>
          </a:p>
        </p:txBody>
      </p:sp>
      <p:sp>
        <p:nvSpPr>
          <p:cNvPr id="18" name="Shape 16"/>
          <p:cNvSpPr/>
          <p:nvPr/>
        </p:nvSpPr>
        <p:spPr>
          <a:xfrm>
            <a:off x="594360" y="3977640"/>
            <a:ext cx="6766560" cy="621792"/>
          </a:xfrm>
          <a:prstGeom prst="roundRect">
            <a:avLst>
              <a:gd name="adj" fmla="val 13235"/>
            </a:avLst>
          </a:prstGeom>
          <a:solidFill>
            <a:srgbClr val="1D1F2B"/>
          </a:solidFill>
          <a:ln w="12700">
            <a:solidFill>
              <a:srgbClr val="1D1F2B"/>
            </a:solidFill>
            <a:prstDash val="solid"/>
          </a:ln>
        </p:spPr>
        <p:txBody>
          <a:bodyPr/>
          <a:p/>
        </p:txBody>
      </p:sp>
      <p:sp>
        <p:nvSpPr>
          <p:cNvPr id="19" name="Shape 17"/>
          <p:cNvSpPr/>
          <p:nvPr/>
        </p:nvSpPr>
        <p:spPr>
          <a:xfrm>
            <a:off x="777240" y="4078224"/>
            <a:ext cx="420624" cy="420624"/>
          </a:xfrm>
          <a:prstGeom prst="ellipse">
            <a:avLst/>
          </a:prstGeom>
          <a:solidFill>
            <a:srgbClr val="FFC24B"/>
          </a:solidFill>
          <a:ln/>
        </p:spPr>
        <p:txBody>
          <a:bodyPr/>
          <a:p/>
        </p:txBody>
      </p:sp>
      <p:sp>
        <p:nvSpPr>
          <p:cNvPr id="20" name="Text 18"/>
          <p:cNvSpPr/>
          <p:nvPr/>
        </p:nvSpPr>
        <p:spPr>
          <a:xfrm>
            <a:off x="777240" y="40782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371600" y="3977640"/>
            <a:ext cx="58521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Impactul, probabilitatea, experții și părțile interesate</a:t>
            </a:r>
            <a:endParaRPr lang="en-US" sz="1700" dirty="0"/>
          </a:p>
        </p:txBody>
      </p:sp>
      <p:sp>
        <p:nvSpPr>
          <p:cNvPr id="22" name="Shape 20"/>
          <p:cNvSpPr/>
          <p:nvPr/>
        </p:nvSpPr>
        <p:spPr>
          <a:xfrm>
            <a:off x="7680960" y="1783080"/>
            <a:ext cx="3886200" cy="2743200"/>
          </a:xfrm>
          <a:prstGeom prst="roundRect">
            <a:avLst>
              <a:gd name="adj" fmla="val 3000"/>
            </a:avLst>
          </a:prstGeom>
          <a:solidFill>
            <a:srgbClr val="272A38"/>
          </a:solidFill>
          <a:ln w="12700">
            <a:solidFill>
              <a:srgbClr val="272A38"/>
            </a:solidFill>
            <a:prstDash val="solid"/>
          </a:ln>
        </p:spPr>
        <p:txBody>
          <a:bodyPr/>
          <a:p/>
        </p:txBody>
      </p:sp>
      <p:sp>
        <p:nvSpPr>
          <p:cNvPr id="23" name="Text 21"/>
          <p:cNvSpPr/>
          <p:nvPr/>
        </p:nvSpPr>
        <p:spPr>
          <a:xfrm>
            <a:off x="7909560" y="1783080"/>
            <a:ext cx="3474720" cy="2743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Testul nu se notează. Rezultatele arată ce idei se reiau la începutul cursului următor.</a:t>
            </a:r>
            <a:endParaRPr lang="en-US" sz="1700" dirty="0"/>
          </a:p>
        </p:txBody>
      </p:sp>
      <p:sp>
        <p:nvSpPr>
          <p:cNvPr id="24" name="Text 22"/>
          <p:cNvSpPr/>
          <p:nvPr/>
        </p:nvSpPr>
        <p:spPr>
          <a:xfrm>
            <a:off x="594360" y="5029200"/>
            <a:ext cx="10972800" cy="45720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LA ÎNTREBAREA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Ce intră în plan</a:t>
            </a:r>
            <a:endParaRPr lang="en-US" sz="3400" dirty="0"/>
          </a:p>
        </p:txBody>
      </p:sp>
      <p:sp>
        <p:nvSpPr>
          <p:cNvPr id="4" name="Shape 2"/>
          <p:cNvSpPr/>
          <p:nvPr/>
        </p:nvSpPr>
        <p:spPr>
          <a:xfrm>
            <a:off x="594360" y="1600200"/>
            <a:ext cx="6492240" cy="1051560"/>
          </a:xfrm>
          <a:prstGeom prst="roundRect">
            <a:avLst>
              <a:gd name="adj" fmla="val 7826"/>
            </a:avLst>
          </a:prstGeom>
          <a:solidFill>
            <a:srgbClr val="ECEAE4"/>
          </a:solidFill>
          <a:ln w="12700">
            <a:solidFill>
              <a:srgbClr val="ECEAE4"/>
            </a:solidFill>
            <a:prstDash val="solid"/>
          </a:ln>
        </p:spPr>
        <p:txBody>
          <a:bodyPr/>
          <a:p/>
        </p:txBody>
      </p:sp>
      <p:sp>
        <p:nvSpPr>
          <p:cNvPr id="5" name="Shape 3"/>
          <p:cNvSpPr/>
          <p:nvPr/>
        </p:nvSpPr>
        <p:spPr>
          <a:xfrm>
            <a:off x="822960" y="1911096"/>
            <a:ext cx="420624" cy="420624"/>
          </a:xfrm>
          <a:prstGeom prst="ellipse">
            <a:avLst/>
          </a:prstGeom>
          <a:solidFill>
            <a:srgbClr val="FF4757"/>
          </a:solidFill>
          <a:ln/>
        </p:spPr>
        <p:txBody>
          <a:bodyPr/>
          <a:p/>
        </p:txBody>
      </p:sp>
      <p:sp>
        <p:nvSpPr>
          <p:cNvPr id="6" name="Text 4"/>
          <p:cNvSpPr/>
          <p:nvPr/>
        </p:nvSpPr>
        <p:spPr>
          <a:xfrm>
            <a:off x="822960" y="191109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17320" y="1600200"/>
            <a:ext cx="5532120" cy="105156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Harta se umple cu date publice, datate și verificabile, pe cele cinci categorii.</a:t>
            </a:r>
            <a:endParaRPr lang="en-US" sz="1550" dirty="0"/>
          </a:p>
        </p:txBody>
      </p:sp>
      <p:sp>
        <p:nvSpPr>
          <p:cNvPr id="8" name="Shape 6"/>
          <p:cNvSpPr/>
          <p:nvPr/>
        </p:nvSpPr>
        <p:spPr>
          <a:xfrm>
            <a:off x="594360" y="2788920"/>
            <a:ext cx="6492240" cy="1051560"/>
          </a:xfrm>
          <a:prstGeom prst="roundRect">
            <a:avLst>
              <a:gd name="adj" fmla="val 7826"/>
            </a:avLst>
          </a:prstGeom>
          <a:solidFill>
            <a:srgbClr val="F9F8F5"/>
          </a:solidFill>
          <a:ln w="12700">
            <a:solidFill>
              <a:srgbClr val="F9F8F5"/>
            </a:solidFill>
            <a:prstDash val="solid"/>
          </a:ln>
        </p:spPr>
        <p:txBody>
          <a:bodyPr/>
          <a:p/>
        </p:txBody>
      </p:sp>
      <p:sp>
        <p:nvSpPr>
          <p:cNvPr id="9" name="Shape 7"/>
          <p:cNvSpPr/>
          <p:nvPr/>
        </p:nvSpPr>
        <p:spPr>
          <a:xfrm>
            <a:off x="822960" y="3099816"/>
            <a:ext cx="420624" cy="420624"/>
          </a:xfrm>
          <a:prstGeom prst="ellipse">
            <a:avLst/>
          </a:prstGeom>
          <a:solidFill>
            <a:srgbClr val="FF4757"/>
          </a:solidFill>
          <a:ln/>
        </p:spPr>
        <p:txBody>
          <a:bodyPr/>
          <a:p/>
        </p:txBody>
      </p:sp>
      <p:sp>
        <p:nvSpPr>
          <p:cNvPr id="10" name="Text 8"/>
          <p:cNvSpPr/>
          <p:nvPr/>
        </p:nvSpPr>
        <p:spPr>
          <a:xfrm>
            <a:off x="822960" y="309981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17320" y="2788920"/>
            <a:ext cx="5532120" cy="105156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Aria se analizează pe fiecare serviciu: pacienții aleg și după drum, program, așteptare, informație.</a:t>
            </a:r>
            <a:endParaRPr lang="en-US" sz="1550" dirty="0"/>
          </a:p>
        </p:txBody>
      </p:sp>
      <p:sp>
        <p:nvSpPr>
          <p:cNvPr id="12" name="Shape 10"/>
          <p:cNvSpPr/>
          <p:nvPr/>
        </p:nvSpPr>
        <p:spPr>
          <a:xfrm>
            <a:off x="594360" y="3977640"/>
            <a:ext cx="6492240" cy="1051560"/>
          </a:xfrm>
          <a:prstGeom prst="roundRect">
            <a:avLst>
              <a:gd name="adj" fmla="val 7826"/>
            </a:avLst>
          </a:prstGeom>
          <a:solidFill>
            <a:srgbClr val="ECEAE4"/>
          </a:solidFill>
          <a:ln w="12700">
            <a:solidFill>
              <a:srgbClr val="ECEAE4"/>
            </a:solidFill>
            <a:prstDash val="solid"/>
          </a:ln>
        </p:spPr>
        <p:txBody>
          <a:bodyPr/>
          <a:p/>
        </p:txBody>
      </p:sp>
      <p:sp>
        <p:nvSpPr>
          <p:cNvPr id="13" name="Shape 11"/>
          <p:cNvSpPr/>
          <p:nvPr/>
        </p:nvSpPr>
        <p:spPr>
          <a:xfrm>
            <a:off x="822960" y="4288536"/>
            <a:ext cx="420624" cy="420624"/>
          </a:xfrm>
          <a:prstGeom prst="ellipse">
            <a:avLst/>
          </a:prstGeom>
          <a:solidFill>
            <a:srgbClr val="FF4757"/>
          </a:solidFill>
          <a:ln/>
        </p:spPr>
        <p:txBody>
          <a:bodyPr/>
          <a:p/>
        </p:txBody>
      </p:sp>
      <p:sp>
        <p:nvSpPr>
          <p:cNvPr id="14" name="Text 12"/>
          <p:cNvSpPr/>
          <p:nvPr/>
        </p:nvSpPr>
        <p:spPr>
          <a:xfrm>
            <a:off x="822960" y="428853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17320" y="3977640"/>
            <a:ext cx="5532120" cy="105156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Intră problemele cu impact mare și probabilitate mare, notate în grup, cu sursa lor, verificate periodic.</a:t>
            </a:r>
            <a:endParaRPr lang="en-US" sz="1550" dirty="0"/>
          </a:p>
        </p:txBody>
      </p:sp>
      <p:sp>
        <p:nvSpPr>
          <p:cNvPr id="16" name="Shape 14"/>
          <p:cNvSpPr/>
          <p:nvPr/>
        </p:nvSpPr>
        <p:spPr>
          <a:xfrm>
            <a:off x="7360920" y="1600200"/>
            <a:ext cx="4206240" cy="4343400"/>
          </a:xfrm>
          <a:prstGeom prst="roundRect">
            <a:avLst>
              <a:gd name="adj" fmla="val 1957"/>
            </a:avLst>
          </a:prstGeom>
          <a:solidFill>
            <a:srgbClr val="1D1F2B"/>
          </a:solidFill>
          <a:ln w="12700">
            <a:solidFill>
              <a:srgbClr val="1D1F2B"/>
            </a:solidFill>
            <a:prstDash val="solid"/>
          </a:ln>
        </p:spPr>
        <p:txBody>
          <a:bodyPr/>
          <a:p/>
        </p:txBody>
      </p:sp>
      <p:sp>
        <p:nvSpPr>
          <p:cNvPr id="17" name="Text 15"/>
          <p:cNvSpPr/>
          <p:nvPr/>
        </p:nvSpPr>
        <p:spPr>
          <a:xfrm>
            <a:off x="7589520" y="1783080"/>
            <a:ext cx="3749040" cy="320040"/>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PENTRU SPITALUL DIN CAZ</a:t>
            </a:r>
            <a:endParaRPr lang="en-US" sz="1200" dirty="0"/>
          </a:p>
        </p:txBody>
      </p:sp>
      <p:sp>
        <p:nvSpPr>
          <p:cNvPr id="18" name="Text 16"/>
          <p:cNvSpPr/>
          <p:nvPr/>
        </p:nvSpPr>
        <p:spPr>
          <a:xfrm>
            <a:off x="7589520" y="2194560"/>
            <a:ext cx="3749040" cy="356616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Serviciul RMN: impact mare, probabilitate mare. Cauza: programul și așteptarea. Soluția se discută întâi cu radiologii și cu casa.</a:t>
            </a:r>
            <a:endParaRPr lang="en-US" sz="15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MÂINE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Ce faceți diferit</a:t>
            </a:r>
            <a:endParaRPr lang="en-US" sz="3400" dirty="0"/>
          </a:p>
        </p:txBody>
      </p:sp>
      <p:sp>
        <p:nvSpPr>
          <p:cNvPr id="4" name="Shape 2"/>
          <p:cNvSpPr/>
          <p:nvPr/>
        </p:nvSpPr>
        <p:spPr>
          <a:xfrm>
            <a:off x="594360" y="1554480"/>
            <a:ext cx="10972800" cy="786384"/>
          </a:xfrm>
          <a:prstGeom prst="roundRect">
            <a:avLst>
              <a:gd name="adj" fmla="val 10465"/>
            </a:avLst>
          </a:prstGeom>
          <a:solidFill>
            <a:srgbClr val="ECEAE4"/>
          </a:solidFill>
          <a:ln w="12700">
            <a:solidFill>
              <a:srgbClr val="ECEAE4"/>
            </a:solidFill>
            <a:prstDash val="solid"/>
          </a:ln>
        </p:spPr>
        <p:txBody>
          <a:bodyPr/>
          <a:p/>
        </p:txBody>
      </p:sp>
      <p:sp>
        <p:nvSpPr>
          <p:cNvPr id="5" name="Shape 3"/>
          <p:cNvSpPr/>
          <p:nvPr/>
        </p:nvSpPr>
        <p:spPr>
          <a:xfrm>
            <a:off x="822960" y="1737360"/>
            <a:ext cx="420624" cy="420624"/>
          </a:xfrm>
          <a:prstGeom prst="ellipse">
            <a:avLst/>
          </a:prstGeom>
          <a:solidFill>
            <a:srgbClr val="FF4757"/>
          </a:solidFill>
          <a:ln/>
        </p:spPr>
        <p:txBody>
          <a:bodyPr/>
          <a:p/>
        </p:txBody>
      </p:sp>
      <p:sp>
        <p:nvSpPr>
          <p:cNvPr id="6" name="Text 4"/>
          <p:cNvSpPr/>
          <p:nvPr/>
        </p:nvSpPr>
        <p:spPr>
          <a:xfrm>
            <a:off x="822960" y="17373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554480"/>
            <a:ext cx="99212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Când alegeți un loc pentru o analiză, observați ce v-a hotărât.</a:t>
            </a:r>
            <a:endParaRPr lang="en-US" sz="1600" dirty="0"/>
          </a:p>
        </p:txBody>
      </p:sp>
      <p:sp>
        <p:nvSpPr>
          <p:cNvPr id="8" name="Shape 6"/>
          <p:cNvSpPr/>
          <p:nvPr/>
        </p:nvSpPr>
        <p:spPr>
          <a:xfrm>
            <a:off x="594360" y="2468880"/>
            <a:ext cx="10972800" cy="786384"/>
          </a:xfrm>
          <a:prstGeom prst="roundRect">
            <a:avLst>
              <a:gd name="adj" fmla="val 10465"/>
            </a:avLst>
          </a:prstGeom>
          <a:solidFill>
            <a:srgbClr val="F9F8F5"/>
          </a:solidFill>
          <a:ln w="12700">
            <a:solidFill>
              <a:srgbClr val="F9F8F5"/>
            </a:solidFill>
            <a:prstDash val="solid"/>
          </a:ln>
        </p:spPr>
        <p:txBody>
          <a:bodyPr/>
          <a:p/>
        </p:txBody>
      </p:sp>
      <p:sp>
        <p:nvSpPr>
          <p:cNvPr id="9" name="Shape 7"/>
          <p:cNvSpPr/>
          <p:nvPr/>
        </p:nvSpPr>
        <p:spPr>
          <a:xfrm>
            <a:off x="822960" y="2651760"/>
            <a:ext cx="420624" cy="420624"/>
          </a:xfrm>
          <a:prstGeom prst="ellipse">
            <a:avLst/>
          </a:prstGeom>
          <a:solidFill>
            <a:srgbClr val="FF4757"/>
          </a:solidFill>
          <a:ln/>
        </p:spPr>
        <p:txBody>
          <a:bodyPr/>
          <a:p/>
        </p:txBody>
      </p:sp>
      <p:sp>
        <p:nvSpPr>
          <p:cNvPr id="10" name="Text 8"/>
          <p:cNvSpPr/>
          <p:nvPr/>
        </p:nvSpPr>
        <p:spPr>
          <a:xfrm>
            <a:off x="822960" y="26517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468880"/>
            <a:ext cx="99212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Când auziți că „pacienții pleacă la privat”, întrebați întâi de program și așteptare.</a:t>
            </a:r>
            <a:endParaRPr lang="en-US" sz="1600" dirty="0"/>
          </a:p>
        </p:txBody>
      </p:sp>
      <p:sp>
        <p:nvSpPr>
          <p:cNvPr id="12" name="Shape 10"/>
          <p:cNvSpPr/>
          <p:nvPr/>
        </p:nvSpPr>
        <p:spPr>
          <a:xfrm>
            <a:off x="594360" y="3383280"/>
            <a:ext cx="10972800" cy="786384"/>
          </a:xfrm>
          <a:prstGeom prst="roundRect">
            <a:avLst>
              <a:gd name="adj" fmla="val 10465"/>
            </a:avLst>
          </a:prstGeom>
          <a:solidFill>
            <a:srgbClr val="ECEAE4"/>
          </a:solidFill>
          <a:ln w="12700">
            <a:solidFill>
              <a:srgbClr val="ECEAE4"/>
            </a:solidFill>
            <a:prstDash val="solid"/>
          </a:ln>
        </p:spPr>
        <p:txBody>
          <a:bodyPr/>
          <a:p/>
        </p:txBody>
      </p:sp>
      <p:sp>
        <p:nvSpPr>
          <p:cNvPr id="13" name="Shape 11"/>
          <p:cNvSpPr/>
          <p:nvPr/>
        </p:nvSpPr>
        <p:spPr>
          <a:xfrm>
            <a:off x="822960" y="3566160"/>
            <a:ext cx="420624" cy="420624"/>
          </a:xfrm>
          <a:prstGeom prst="ellipse">
            <a:avLst/>
          </a:prstGeom>
          <a:solidFill>
            <a:srgbClr val="FF4757"/>
          </a:solidFill>
          <a:ln/>
        </p:spPr>
        <p:txBody>
          <a:bodyPr/>
          <a:p/>
        </p:txBody>
      </p:sp>
      <p:sp>
        <p:nvSpPr>
          <p:cNvPr id="14" name="Text 12"/>
          <p:cNvSpPr/>
          <p:nvPr/>
        </p:nvSpPr>
        <p:spPr>
          <a:xfrm>
            <a:off x="822960" y="35661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383280"/>
            <a:ext cx="99212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Între mai multe probleme, lucrați întâi la cele cu ambele note mari.</a:t>
            </a:r>
            <a:endParaRPr lang="en-US" sz="1600" dirty="0"/>
          </a:p>
        </p:txBody>
      </p:sp>
      <p:sp>
        <p:nvSpPr>
          <p:cNvPr id="16" name="Shape 14"/>
          <p:cNvSpPr/>
          <p:nvPr/>
        </p:nvSpPr>
        <p:spPr>
          <a:xfrm>
            <a:off x="594360" y="4297680"/>
            <a:ext cx="10972800" cy="786384"/>
          </a:xfrm>
          <a:prstGeom prst="roundRect">
            <a:avLst>
              <a:gd name="adj" fmla="val 10465"/>
            </a:avLst>
          </a:prstGeom>
          <a:solidFill>
            <a:srgbClr val="F9F8F5"/>
          </a:solidFill>
          <a:ln w="12700">
            <a:solidFill>
              <a:srgbClr val="F9F8F5"/>
            </a:solidFill>
            <a:prstDash val="solid"/>
          </a:ln>
        </p:spPr>
        <p:txBody>
          <a:bodyPr/>
          <a:p/>
        </p:txBody>
      </p:sp>
      <p:sp>
        <p:nvSpPr>
          <p:cNvPr id="17" name="Shape 15"/>
          <p:cNvSpPr/>
          <p:nvPr/>
        </p:nvSpPr>
        <p:spPr>
          <a:xfrm>
            <a:off x="822960" y="4480560"/>
            <a:ext cx="420624" cy="420624"/>
          </a:xfrm>
          <a:prstGeom prst="ellipse">
            <a:avLst/>
          </a:prstGeom>
          <a:solidFill>
            <a:srgbClr val="FF4757"/>
          </a:solidFill>
          <a:ln/>
        </p:spPr>
        <p:txBody>
          <a:bodyPr/>
          <a:p/>
        </p:txBody>
      </p:sp>
      <p:sp>
        <p:nvSpPr>
          <p:cNvPr id="18" name="Text 16"/>
          <p:cNvSpPr/>
          <p:nvPr/>
        </p:nvSpPr>
        <p:spPr>
          <a:xfrm>
            <a:off x="822960" y="44805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63040" y="4297680"/>
            <a:ext cx="992124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Înainte de un plan comun, vorbiți cu cine îl poate bloca.</a:t>
            </a:r>
            <a:endParaRPr lang="en-US" sz="1600" dirty="0"/>
          </a:p>
        </p:txBody>
      </p:sp>
      <p:sp>
        <p:nvSpPr>
          <p:cNvPr id="20" name="Text 18"/>
          <p:cNvSpPr/>
          <p:nvPr/>
        </p:nvSpPr>
        <p:spPr>
          <a:xfrm>
            <a:off x="594360" y="5349240"/>
            <a:ext cx="10972800" cy="73152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Săptămâna viitoare: analiza concurenților. La seminar: harta, notele și harta actorilor pentru organizația echipei.</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42062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42062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 azi?</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331720"/>
            <a:ext cx="3017520" cy="2743200"/>
          </a:xfrm>
          <a:prstGeom prst="roundRect">
            <a:avLst>
              <a:gd name="adj" fmla="val 3000"/>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6400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Mentimeter, anonim. Răspunsurile stau la baza a două modificări, anunțate la începutul ședinței următoare.</a:t>
            </a:r>
            <a:endParaRPr lang="en-US" sz="1700" dirty="0"/>
          </a:p>
        </p:txBody>
      </p:sp>
      <p:pic>
        <p:nvPicPr>
          <p:cNvPr id="17" name="Picture 16" descr="Mentimeter_UB_MSSS_C03.png"/>
          <p:cNvPicPr>
            <a:picLocks noChangeAspect="1"/>
          </p:cNvPicPr>
          <p:nvPr/>
        </p:nvPicPr>
        <p:blipFill>
          <a:blip r:embed="rId3"/>
          <a:stretch>
            <a:fillRect/>
          </a:stretch>
        </p:blipFill>
        <p:spPr>
          <a:xfrm>
            <a:off x="9000490" y="2331720"/>
            <a:ext cx="2115820" cy="2115820"/>
          </a:xfrm>
          <a:prstGeom prst="rect">
            <a:avLst/>
          </a:prstGeom>
        </p:spPr>
      </p:pic>
      <p:sp>
        <p:nvSpPr>
          <p:cNvPr id="18" name="TextBox 17"/>
          <p:cNvSpPr txBox="1"/>
          <p:nvPr/>
        </p:nvSpPr>
        <p:spPr>
          <a:xfrm>
            <a:off x="8549640" y="4485640"/>
            <a:ext cx="30175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3 - Analiza mediului extern (II)</dc:title>
  <dc:subject>PptxGenJS Presentation</dc:subject>
  <dc:creator>Conf. Univ. Dr. Adrian Pana</dc:creator>
  <cp:lastModifiedBy>Conf. Univ. Dr. Adrian Pana</cp:lastModifiedBy>
  <cp:revision>1</cp:revision>
  <dcterms:created xsi:type="dcterms:W3CDTF">2026-10-17T08:09:09Z</dcterms:created>
  <dcterms:modified xsi:type="dcterms:W3CDTF">2026-10-17T08:09:09Z</dcterms:modified>
  <cp:keywords>sursa_amprenta=3bb266095af41fc4; proiectie</cp:keywords>
</cp:coreProperties>
</file>