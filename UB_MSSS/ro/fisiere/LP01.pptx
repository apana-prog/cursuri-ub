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Bine ați venit la primul seminar. Azi faceți trei lucruri: o echipă, o organizație și prima pagină a planului ei strategic. Planul echipei înseamnă 35% din nota finală; începe azi și se termină cu susținerea din ultimul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Seminarul are două ore: o oră în sală, cu toată grupa, și o oră de lucru al echipei, pe care o puteți face acasă. În sală, mai mult de jumătate din timp lucrați voi: votați, discutați cu colegul de bancă, formați echipa și completați testul. La sfârșitul orei predați două lucruri: înscrierea echipei și testul.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Imaginați-vă că ați fost numiți manageri ai Spitalului Orășenesc Zimnicea, un spital mic din județul Teleorman, cu 96 de paturi de acuți contractate cu casa de asigurări. În 2025, gradul lui de ocupare a paturilor de acuți a fost de 46,6%, potrivit datelor publicate de Casa Națională de Asigurări de Sănătate. Aceasta este singura cifră pe care o aveți în prima zi de mandat. Ce faceți?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pe telefon, prin codul QR de pe ecran, o singură variantă: închid o parte din paturi, deschid un serviciu pe care spitalul nu îl are încă, continui, dar altfel (aceleași secții, organizate diferit) sau nu decid încă, pentru că îmi trebuie alte informații. Votul din sală nu cere cont. Apoi discutați două minute cu colegul de bancă: dacă ați ales ultima variantă, ce informație v-ar trebui prima? Distribuția voturilor apare pe ecran înainte de explicație.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cinstită este „nu decid încă”, iar seminarul spune de ce. Cifra arată un spital care și-a folosit paturile contractate cu casa de asigurări mai puțin de jumătate din cât prevede norma. Ea nu spune însă de ce. Ce ar putea explica o ocupare sub jumătate? Sunt întrebări de verificat în surse publice, nu explicații cunoscute ale acestui spital. S-a schimbat populația din jur? Aleg pacienții alte spitale: spitalul județean, unul dintre cele două spitale municipale ale județului, fiindcă Teleormanul are patru spitale publice generale de acuți, spitalele din București sau din județele vecine? Lipsesc medici pentru unele secții? Ar fi unele paturi mai utile pentru alt tip de îngrijire? Răspunsul la fiecare întrebare duce la o altă decizie. Înainte de orice decizie, trebuie să știți ce se întâmplă în jurul spitalului, ce poate face el și ce vrea să facă.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Cursul a dat numele acestor decizii, sub forma a trei întrebări pe care și le pune un gânditor strategic: ce facem acum și ar trebui să încetăm, ce nu facem și ar trebui să începem, ce facem și ar trebui să continuăm, dar altfel. Primele trei variante ale votului sunt chiar aceste trei răspunsuri. Ca să alegeți între ele, aveți nevoie de mai mult decât o cifră.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Tabelul adaugă un indiciu pe care cifra singură nu îl dădea. Dintre cele patru spitale publice generale, spitalul din Zimnicea tratează cazurile cele mai simple, cu un indice de 0,93, iar spitalul județean pe cele mai complicate, cu un indice de 1,34. Un spital orășenesc tratează, de obicei, cazuri mai simple decât unul județean, deci indicele mic nu dovedește singur nimic. Rămâne o întrebare de verificat în surse publice: unde se tratează pacienții cu probleme mai grave din zona Zimnicea? Întrebarea privește ce se întâmplă în jurul spitalului și cine mai oferă aceleași servicii, nu paturile.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termen nou: gradul de ocupare a paturilor. Este indicatorul publicat de casa de asigurări pentru spitalele publice: procentul din paturile contractate cu casa de asigurări care sunt efectiv ocupate. În limbaj de zi cu zi: cât de folosite au fost paturile contractate ale spitalului în cursul anului. Exemplu: la Zimnicea, în 2025, gradul de ocupare a fost sub jumătate. Cum se calculează cifra publicată și ce nu înseamnă ea găsiți în nota seminarului, în caseta „Pentru curioși”, care nu intră la 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termen nou: analiza situațională. Înainte de orice plan, organizația face o analiză în trei părți. Analiza externă arată ce ar trebui să facă, pornind de la ce se întâmplă în jurul ei. Analiza internă arată ce poate face, cu resursele și oamenii ei. Direcția strategică arată ce vrea să facă, potrivit misiunii, viziunii și valorilor ei. Abia după aceste trei analize vin alegerea strategiei dintre mai multe alternative și planul de implementare. În limbaj de zi cu zi: ce ar trebui să facem, ce putem face și ce vrem să facem.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ecran apar, pe rând, patru informații despre un spital orășenesc imaginar, construit pentru exercițiu: nu este Spitalul Orășenesc Zimnicea și nici alt spital real, iar informațiile sunt inventate. Pentru fiecare informație, votați pe telefon unde o puneți pe hartă: analiza externă, analiza internă sau direcția strategică. După fiecare vot, distribuția apare pe ecran.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și ultima dintre aceste informații inventate sunt externe: ele descriu ce se întâmplă în jurul spitalului imaginar și nu depind de el. A doua este internă: spune ce poate face spitalul cu oamenii pe care îi are. A treia ține de direcția strategică: spune ce vor cei care conduc și finanțează organizația. Aceste trei părți formează harta analizei situaționale. Proiectul vostru parcurge întregul proces strategic, etapă cu etapă: fiecare dintre seminariile următoare acoperă o porțiune din el. Aria de servicii și competitorii, din seminarul 3, este tot analiză externă, dar mai aproape de organizație.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Acestea sunt etapele procesului strategic, iar proiectul vostru le parcurge una câte una. Seminarul al doilea: analiza mediului extern. Al treilea: aria de servicii și competitorii, care este tot analiză externă, dar mai aproape de organizație: pe cine servește organizația și cine mai oferă aceleași servicii. Al patrulea: analiza internă și sinteza punctelor tari și slabe. Al cincilea: direcția strategică și alternativele. Al șaselea: planul de acțiune și indicatorii. În al șaptelea, echipa își susține planul.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ecran este un titlu de ziar inventat pentru exercițiu, despre un spital orășenesc imaginar al cărui grad de ocupare ar fi, ca în exemplul de la început, sub jumătate: „Spitalul orășenesc, pe jumătate gol. Închideți-l!”. Titlul nu privește Zimnicea și nici alt spital real. Ați crede acest titlu? Sala se împarte în două tabere: cei care l-ar crede și cei care nu l-ar crede. Câte un voluntar din fiecare tabără își spune argumentul într-un minut.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Titlul pornește de la o singură cifră, ca exemplul de la început, dar o folosește greșit. Nu spune sursa și nici anul. Nu spune că gradul de ocupare se calculează pe paturile contractate cu casa de asigurări. Mai ales, titlul sare de la o informație internă direct la o decizie, fără analiza externă și fără direcția strategică. Un grad de ocupare scăzut nu este, de altfel, o excepție: în 2025, media simplă a gradului de ocupare al spitalelor publice a fost de 63,1%, iar mai mult de 4 din 10 dintre ele (144 din cele 339 cu valoare publicată) au avut paturile de acuți ocupate sub 60%. O decizie despre un singur spital cere, așadar, și o privire asupra politicii de sănătate și asupra celorlalte spitale din jur.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Proiectul se face în echipe stabile, de patru sau cinci studenți, formate azi. Fiecare echipă alege o singură organizație de sănătate reală din România și îi scrie, tot semestrul, planul strategic, numai pe baza informațiilor publice. Puteți alege un spital public sau privat, o direcție de sănătate publică, un ambulatoriu, un cabinet de medicină de familie sau altă organizație de sănătate. Pentru fiecare tip, tabelul arată unde începeți să căutați. Echipa nu folosește documente interne, chiar dacă un membru le-ar putea obține.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termen nou: planul de dezvoltare. La un spital public, acesta este documentul cel mai prețios pentru proiect. Comitetul director îl elaborează pentru perioada mandatului managerului, pe baza propunerilor consiliului medical. În limbaj de zi cu zi: ce își propune conducerea spitalului să schimbe până la sfârșitul mandatului, de exemplu o secție nouă, renovarea unui pavilion sau mutarea unor paturi spre internarea de zi. Căutați dacă spitalul ales îl publică pe site: dacă da, aveți în față direcția strategică pe care și-a ales-o chiar organizația.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Formați o echipă cu vecinii de bancă: patru sau cinci colegi. Alegeți un coordonator, care deschide pe telefon formularul „Fișa organizației”, prin codul QR de pe ecran, alege varianta „Înscrierea echipei, în sală” și trece numele echipei, membrii, organizația aleasă și tipul ei. Pe ecran apare, în timp real, lista organizațiilor alese și câte echipe au ales fiecare tip. Dacă două echipe aleg aceeași organizație, a doua echipă care o alege trece pe alta. Colegii rămași fără echipă îi repartizează titularul.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ecran apar, în timp real, organizațiile alese până acum și câte echipe au ales fiecare tip. O organizație poate fi aleasă de o singură echipă: dacă o vedeți deja în listă, treceți la a doua variantă.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Testul de pornire arată ce ați reținut din primul curs și din regulile proiectului. Se completează individual, pe telefon, cu contul instituțional, în aproximativ șapte minute. Testul nu se notează. După trimitere, formularul vă arată răspunsurile corecte și explicațiile, iar la final discutăm întrebarea la care au greșit cei mai mulți.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Evaluarea pe scurt, în cinci rânduri. Ce faceți: un plan strategic de echipă, în șapte seminarii; fiecare seminar adaugă un capitol, iar în ultimul îl susțineți. Până când: fișa organizației, duminică, 11.10.2026, ora 22:00; produsele seminariilor 2–6, în duminica de după fiecare seminar, ora 22:00; planul, în seminarul 7, cu prezentarea de 10–12 minute. Cât contează: examenul scris 50%, planul strategic 35%, produsele seminariilor 2–6, 15%. Ce este obligatoriu: nota 5 la examenul scris și nota 5 la planul strategic, plus cel puțin 3 prezențe din cele 7 seminarii. Ce nu se face: cifre fără sursă și an, informații nepublice, instrumente de inteligență artificială ca sursă de cifre; punctul din oficiu nu se acordă.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Ghidul proiectului, pe o pagină. Seminariile se țin o dată la două săptămâni, lunea seara, cu toată grupa. Data seminarului 5 se anunță prin e-mailul instituțional și pe Teams până la 16.11.2026, pentru că 30.11.2026 este zi liberă legală. Seminarul 7 are loc în prima săptămână după vacanța de iarnă, iar data lui se anunță prin e-mailul instituțional și pe Teams până la 14.12.2026. Nota finală are trei componente: examenul scris, 50%; planul strategic al echipei, 35%; produsele seminariilor de la al doilea la al șaselea, 15%. Fiecare dintre aceste produse se predă până în duminica de după seminarul lui, la ora 22:00, și primește 0, 1 sau 2 puncte; suma, de cel mult 10 puncte, este nota la produse, din 10. Grila planului: analiza externă și internă, 30%; coerența dintre analiză, direcția strategică și alternativa aleasă, 25%; planul de acțiune și indicatorii, 20%; documentarea surselor, 10%; prezentarea orală, 15%. Aceeași grilă se folosește pentru evaluarea colegială din seminarul 7, care este informativă și nu intră în nota nimănui. Ca să promovați, aveți nevoie de cel puțin nota 5 atât la examenul scris, cât și la proiect, adică la planul strategic, nu la produsele seminariilor. La prima examinare, prezența minimă obligatorie este de 30%, atât la cursuri, cât și la seminarii; la seminarii, 30% înseamnă cel puțin 3 din cele 7. Punctul din oficiu nu se acordă. Nota proiectului este aceeași pentru toți membrii echipei. Titularul poate scădea nota unui membru care, după câmpul „Ce a făcut fiecare membru al echipei” din fișă și după prezentare, nu a contribuit.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a doua produce primul capitol al planului strategic: fișa organizației. Lucrați împreună, în aceeași cameră sau într-o întâlnire pe Teams, și trimiteți un singur formular pe echipă, prin coordonator. Formularul are un câmp obligatoriu, „Ce a făcut fiecare membru al echipei”, în care scrieți, pentru fiecare student, ce a făcut la fișă. Scrieți cine este organizația, faceți inventarul informațiilor publice, alegeți o primă cifră și scrieți-o cu sursa și anul de referință, puneți organizația pe hartă și notați ce informații lipsesc. Termenul este duminică, 11.10.2026, ora 22:00, în formularul „Fișa organizației”, varianta „Fișa completă”. Orice cifră poartă sursa și anul de referință, iar proiectul se face numai cu informații publice. Instrumentele de inteligență artificială sunt permise numai pentru redactare, iar folosirea lor se declară. Sunt permise reformularea unui text scris de voi și corectura gramaticală; nu sunt permise cifrele, sursele sau analiza lăsată instrumentului în locul echipei. Un instrument de inteligență artificială nu este o sursă. Un produs în care folosirea unui astfel de instrument nu este declarată primește 0 puncte până când echipa îl reface și îl declară, în cel mult o săptămână; la planul final, nota se poate scădea. Fișa nu se notează, dar pe ea se construiește tot proiectul.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Ultimele cinci minute sunt ale voastre: trei întrebări, anonim, pe Mentimeter, fără cont. Ce a fost util azi? Unde v-am pierdut? Ce ați putea folosi mâine? La începutul seminarului următor veți vedea două lucruri schimbate după răspunsurile voastre. De mâine, când auziți că o organizație „trebuie închisă” sau „trebuie extinsă”, întrebați ce se știe despre cele trei părți ale hărții, nu doar despre cifra care a ajuns în titlu.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01752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01752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SEMINARUL 1 · ORA DIN SALĂ</a:t>
            </a:r>
            <a:endParaRPr lang="en-US" sz="1300" dirty="0"/>
          </a:p>
        </p:txBody>
      </p:sp>
      <p:sp>
        <p:nvSpPr>
          <p:cNvPr id="4" name="Text 2"/>
          <p:cNvSpPr/>
          <p:nvPr/>
        </p:nvSpPr>
        <p:spPr>
          <a:xfrm>
            <a:off x="685800" y="1463040"/>
            <a:ext cx="6949440" cy="91440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Lansarea proiectului</a:t>
            </a:r>
            <a:endParaRPr lang="en-US" sz="4400" dirty="0"/>
          </a:p>
        </p:txBody>
      </p:sp>
      <p:sp>
        <p:nvSpPr>
          <p:cNvPr id="5" name="Text 3"/>
          <p:cNvSpPr/>
          <p:nvPr/>
        </p:nvSpPr>
        <p:spPr>
          <a:xfrm>
            <a:off x="685800" y="2514600"/>
            <a:ext cx="6766560" cy="137160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Ce trebuie să știți despre o organizație înainte să-i faceți planul?</a:t>
            </a:r>
            <a:endParaRPr lang="en-US" sz="2600" dirty="0"/>
          </a:p>
        </p:txBody>
      </p:sp>
      <p:sp>
        <p:nvSpPr>
          <p:cNvPr id="6" name="Shape 4"/>
          <p:cNvSpPr/>
          <p:nvPr/>
        </p:nvSpPr>
        <p:spPr>
          <a:xfrm>
            <a:off x="713232" y="4572000"/>
            <a:ext cx="1280160" cy="27432"/>
          </a:xfrm>
          <a:prstGeom prst="rect">
            <a:avLst/>
          </a:prstGeom>
          <a:solidFill>
            <a:srgbClr val="FF4757"/>
          </a:solidFill>
          <a:ln/>
        </p:spPr>
        <p:txBody>
          <a:bodyPr/>
          <a:p/>
        </p:txBody>
      </p:sp>
      <p:sp>
        <p:nvSpPr>
          <p:cNvPr id="7" name="Text 5"/>
          <p:cNvSpPr/>
          <p:nvPr/>
        </p:nvSpPr>
        <p:spPr>
          <a:xfrm>
            <a:off x="685800" y="4754880"/>
            <a:ext cx="694944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Management strategic în sănătate · UB, FSI, anul II</a:t>
            </a:r>
            <a:endParaRPr lang="en-US" sz="1500" dirty="0"/>
          </a:p>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Conf. univ. dr. Adrian Pană · luni, 5.10.2026</a:t>
            </a:r>
            <a:endParaRPr lang="en-US" sz="1500" dirty="0"/>
          </a:p>
        </p:txBody>
      </p:sp>
      <p:sp>
        <p:nvSpPr>
          <p:cNvPr id="8" name="Shape 6"/>
          <p:cNvSpPr/>
          <p:nvPr/>
        </p:nvSpPr>
        <p:spPr>
          <a:xfrm>
            <a:off x="8138160" y="2011680"/>
            <a:ext cx="3429000" cy="329184"/>
          </a:xfrm>
          <a:prstGeom prst="roundRect">
            <a:avLst>
              <a:gd name="adj" fmla="val 50000"/>
            </a:avLst>
          </a:prstGeom>
          <a:solidFill>
            <a:srgbClr val="FF4757"/>
          </a:solidFill>
          <a:ln w="12700">
            <a:solidFill>
              <a:srgbClr val="FF4757"/>
            </a:solidFill>
            <a:prstDash val="solid"/>
          </a:ln>
        </p:spPr>
        <p:txBody>
          <a:bodyPr/>
          <a:p/>
        </p:txBody>
      </p:sp>
      <p:sp>
        <p:nvSpPr>
          <p:cNvPr id="9" name="Text 7"/>
          <p:cNvSpPr/>
          <p:nvPr/>
        </p:nvSpPr>
        <p:spPr>
          <a:xfrm>
            <a:off x="8138160" y="2011680"/>
            <a:ext cx="3429000" cy="329184"/>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o echipă</a:t>
            </a:r>
            <a:endParaRPr lang="en-US" sz="1500" dirty="0"/>
          </a:p>
        </p:txBody>
      </p:sp>
      <p:sp>
        <p:nvSpPr>
          <p:cNvPr id="10" name="Shape 8"/>
          <p:cNvSpPr/>
          <p:nvPr/>
        </p:nvSpPr>
        <p:spPr>
          <a:xfrm>
            <a:off x="8138160" y="2697480"/>
            <a:ext cx="3429000" cy="329184"/>
          </a:xfrm>
          <a:prstGeom prst="roundRect">
            <a:avLst>
              <a:gd name="adj" fmla="val 50000"/>
            </a:avLst>
          </a:prstGeom>
          <a:solidFill>
            <a:srgbClr val="FFC24B"/>
          </a:solidFill>
          <a:ln w="12700">
            <a:solidFill>
              <a:srgbClr val="FFC24B"/>
            </a:solidFill>
            <a:prstDash val="solid"/>
          </a:ln>
        </p:spPr>
        <p:txBody>
          <a:bodyPr/>
          <a:p/>
        </p:txBody>
      </p:sp>
      <p:sp>
        <p:nvSpPr>
          <p:cNvPr id="11" name="Text 9"/>
          <p:cNvSpPr/>
          <p:nvPr/>
        </p:nvSpPr>
        <p:spPr>
          <a:xfrm>
            <a:off x="8138160" y="2697480"/>
            <a:ext cx="3429000" cy="329184"/>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o organizație</a:t>
            </a:r>
            <a:endParaRPr lang="en-US" sz="1500" dirty="0"/>
          </a:p>
        </p:txBody>
      </p:sp>
      <p:sp>
        <p:nvSpPr>
          <p:cNvPr id="12" name="Shape 10"/>
          <p:cNvSpPr/>
          <p:nvPr/>
        </p:nvSpPr>
        <p:spPr>
          <a:xfrm>
            <a:off x="8138160" y="3383280"/>
            <a:ext cx="3429000" cy="329184"/>
          </a:xfrm>
          <a:prstGeom prst="roundRect">
            <a:avLst>
              <a:gd name="adj" fmla="val 50000"/>
            </a:avLst>
          </a:prstGeom>
          <a:solidFill>
            <a:srgbClr val="27D3BE"/>
          </a:solidFill>
          <a:ln w="12700">
            <a:solidFill>
              <a:srgbClr val="27D3BE"/>
            </a:solidFill>
            <a:prstDash val="solid"/>
          </a:ln>
        </p:spPr>
        <p:txBody>
          <a:bodyPr/>
          <a:p/>
        </p:txBody>
      </p:sp>
      <p:sp>
        <p:nvSpPr>
          <p:cNvPr id="13" name="Text 11"/>
          <p:cNvSpPr/>
          <p:nvPr/>
        </p:nvSpPr>
        <p:spPr>
          <a:xfrm>
            <a:off x="8138160" y="3383280"/>
            <a:ext cx="3429000" cy="329184"/>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prima pagină a planului</a:t>
            </a:r>
            <a:endParaRPr lang="en-US" sz="1500" dirty="0"/>
          </a:p>
        </p:txBody>
      </p:sp>
      <p:sp>
        <p:nvSpPr>
          <p:cNvPr id="14" name="Text 12"/>
          <p:cNvSpPr/>
          <p:nvPr/>
        </p:nvSpPr>
        <p:spPr>
          <a:xfrm>
            <a:off x="8138160" y="4206240"/>
            <a:ext cx="3429000" cy="73152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și o hartă pentru orice decizie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ORA DIN SALĂ ȘI ORA ECHIPEI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faceți azi și ce predați la sfârșit</a:t>
            </a:r>
            <a:endParaRPr lang="en-US" sz="3000" dirty="0"/>
          </a:p>
        </p:txBody>
      </p:sp>
      <p:sp>
        <p:nvSpPr>
          <p:cNvPr id="4" name="Shape 2"/>
          <p:cNvSpPr/>
          <p:nvPr/>
        </p:nvSpPr>
        <p:spPr>
          <a:xfrm>
            <a:off x="594360" y="1783080"/>
            <a:ext cx="3474720" cy="1691640"/>
          </a:xfrm>
          <a:prstGeom prst="roundRect">
            <a:avLst>
              <a:gd name="adj" fmla="val 4865"/>
            </a:avLst>
          </a:prstGeom>
          <a:solidFill>
            <a:srgbClr val="ECEAE4"/>
          </a:solidFill>
          <a:ln w="12700">
            <a:solidFill>
              <a:srgbClr val="ECEAE4"/>
            </a:solidFill>
            <a:prstDash val="solid"/>
          </a:ln>
        </p:spPr>
        <p:txBody>
          <a:bodyPr/>
          <a:p/>
        </p:txBody>
      </p:sp>
      <p:sp>
        <p:nvSpPr>
          <p:cNvPr id="5" name="Shape 3"/>
          <p:cNvSpPr/>
          <p:nvPr/>
        </p:nvSpPr>
        <p:spPr>
          <a:xfrm>
            <a:off x="594360" y="1783080"/>
            <a:ext cx="3474720" cy="82296"/>
          </a:xfrm>
          <a:prstGeom prst="rect">
            <a:avLst/>
          </a:prstGeom>
          <a:solidFill>
            <a:srgbClr val="B02532"/>
          </a:solidFill>
          <a:ln w="12700">
            <a:solidFill>
              <a:srgbClr val="B02532"/>
            </a:solidFill>
            <a:prstDash val="solid"/>
          </a:ln>
        </p:spPr>
        <p:txBody>
          <a:bodyPr/>
          <a:p/>
        </p:txBody>
      </p:sp>
      <p:sp>
        <p:nvSpPr>
          <p:cNvPr id="6" name="Text 4"/>
          <p:cNvSpPr/>
          <p:nvPr/>
        </p:nvSpPr>
        <p:spPr>
          <a:xfrm>
            <a:off x="868680" y="2011680"/>
            <a:ext cx="2926080" cy="45720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O echipă</a:t>
            </a:r>
            <a:endParaRPr lang="en-US" sz="2400" dirty="0"/>
          </a:p>
        </p:txBody>
      </p:sp>
      <p:sp>
        <p:nvSpPr>
          <p:cNvPr id="7" name="Text 5"/>
          <p:cNvSpPr/>
          <p:nvPr/>
        </p:nvSpPr>
        <p:spPr>
          <a:xfrm>
            <a:off x="868680" y="2560320"/>
            <a:ext cx="2971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Patru sau cinci colegi, aceiași tot semestrul.</a:t>
            </a:r>
            <a:endParaRPr lang="en-US" sz="1600" dirty="0"/>
          </a:p>
        </p:txBody>
      </p:sp>
      <p:sp>
        <p:nvSpPr>
          <p:cNvPr id="8" name="Shape 6"/>
          <p:cNvSpPr/>
          <p:nvPr/>
        </p:nvSpPr>
        <p:spPr>
          <a:xfrm>
            <a:off x="4343400" y="1783080"/>
            <a:ext cx="3474720" cy="1691640"/>
          </a:xfrm>
          <a:prstGeom prst="roundRect">
            <a:avLst>
              <a:gd name="adj" fmla="val 4865"/>
            </a:avLst>
          </a:prstGeom>
          <a:solidFill>
            <a:srgbClr val="ECEAE4"/>
          </a:solidFill>
          <a:ln w="12700">
            <a:solidFill>
              <a:srgbClr val="ECEAE4"/>
            </a:solidFill>
            <a:prstDash val="solid"/>
          </a:ln>
        </p:spPr>
        <p:txBody>
          <a:bodyPr/>
          <a:p/>
        </p:txBody>
      </p:sp>
      <p:sp>
        <p:nvSpPr>
          <p:cNvPr id="9" name="Shape 7"/>
          <p:cNvSpPr/>
          <p:nvPr/>
        </p:nvSpPr>
        <p:spPr>
          <a:xfrm>
            <a:off x="4343400" y="1783080"/>
            <a:ext cx="3474720" cy="82296"/>
          </a:xfrm>
          <a:prstGeom prst="rect">
            <a:avLst/>
          </a:prstGeom>
          <a:solidFill>
            <a:srgbClr val="8A6100"/>
          </a:solidFill>
          <a:ln w="12700">
            <a:solidFill>
              <a:srgbClr val="8A6100"/>
            </a:solidFill>
            <a:prstDash val="solid"/>
          </a:ln>
        </p:spPr>
        <p:txBody>
          <a:bodyPr/>
          <a:p/>
        </p:txBody>
      </p:sp>
      <p:sp>
        <p:nvSpPr>
          <p:cNvPr id="10" name="Text 8"/>
          <p:cNvSpPr/>
          <p:nvPr/>
        </p:nvSpPr>
        <p:spPr>
          <a:xfrm>
            <a:off x="4617720" y="2011680"/>
            <a:ext cx="2926080" cy="457200"/>
          </a:xfrm>
          <a:prstGeom prst="rect">
            <a:avLst/>
          </a:prstGeom>
          <a:noFill/>
          <a:ln/>
        </p:spPr>
        <p:txBody>
          <a:bodyPr wrap="square" lIns="0" tIns="0" rIns="0" bIns="0" rtlCol="0" anchor="t"/>
          <a:lstStyle/>
          <a:p>
            <a:pPr indent="0" marL="0">
              <a:buNone/>
            </a:pPr>
            <a:r>
              <a:rPr lang="en-US" sz="2400" b="1" dirty="0">
                <a:solidFill>
                  <a:srgbClr val="8A6100"/>
                </a:solidFill>
                <a:latin typeface="Palatino Linotype" pitchFamily="34" charset="0"/>
                <a:ea typeface="Palatino Linotype" pitchFamily="34" charset="-122"/>
                <a:cs typeface="Palatino Linotype" pitchFamily="34" charset="-120"/>
              </a:rPr>
              <a:t>O organizație</a:t>
            </a:r>
            <a:endParaRPr lang="en-US" sz="2400" dirty="0"/>
          </a:p>
        </p:txBody>
      </p:sp>
      <p:sp>
        <p:nvSpPr>
          <p:cNvPr id="11" name="Text 9"/>
          <p:cNvSpPr/>
          <p:nvPr/>
        </p:nvSpPr>
        <p:spPr>
          <a:xfrm>
            <a:off x="4617720" y="2560320"/>
            <a:ext cx="2971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organizație de sănătate reală din România, una pe echipă.</a:t>
            </a:r>
            <a:endParaRPr lang="en-US" sz="1600" dirty="0"/>
          </a:p>
        </p:txBody>
      </p:sp>
      <p:sp>
        <p:nvSpPr>
          <p:cNvPr id="12" name="Shape 10"/>
          <p:cNvSpPr/>
          <p:nvPr/>
        </p:nvSpPr>
        <p:spPr>
          <a:xfrm>
            <a:off x="8092440" y="1783080"/>
            <a:ext cx="3474720" cy="1691640"/>
          </a:xfrm>
          <a:prstGeom prst="roundRect">
            <a:avLst>
              <a:gd name="adj" fmla="val 4865"/>
            </a:avLst>
          </a:prstGeom>
          <a:solidFill>
            <a:srgbClr val="ECEAE4"/>
          </a:solidFill>
          <a:ln w="12700">
            <a:solidFill>
              <a:srgbClr val="ECEAE4"/>
            </a:solidFill>
            <a:prstDash val="solid"/>
          </a:ln>
        </p:spPr>
        <p:txBody>
          <a:bodyPr/>
          <a:p/>
        </p:txBody>
      </p:sp>
      <p:sp>
        <p:nvSpPr>
          <p:cNvPr id="13" name="Shape 11"/>
          <p:cNvSpPr/>
          <p:nvPr/>
        </p:nvSpPr>
        <p:spPr>
          <a:xfrm>
            <a:off x="8092440" y="1783080"/>
            <a:ext cx="3474720" cy="82296"/>
          </a:xfrm>
          <a:prstGeom prst="rect">
            <a:avLst/>
          </a:prstGeom>
          <a:solidFill>
            <a:srgbClr val="0E7C6B"/>
          </a:solidFill>
          <a:ln w="12700">
            <a:solidFill>
              <a:srgbClr val="0E7C6B"/>
            </a:solidFill>
            <a:prstDash val="solid"/>
          </a:ln>
        </p:spPr>
        <p:txBody>
          <a:bodyPr/>
          <a:p/>
        </p:txBody>
      </p:sp>
      <p:sp>
        <p:nvSpPr>
          <p:cNvPr id="14" name="Text 12"/>
          <p:cNvSpPr/>
          <p:nvPr/>
        </p:nvSpPr>
        <p:spPr>
          <a:xfrm>
            <a:off x="8366760" y="2011680"/>
            <a:ext cx="2926080" cy="457200"/>
          </a:xfrm>
          <a:prstGeom prst="rect">
            <a:avLst/>
          </a:prstGeom>
          <a:noFill/>
          <a:ln/>
        </p:spPr>
        <p:txBody>
          <a:bodyPr wrap="square" lIns="0" tIns="0" rIns="0" bIns="0" rtlCol="0" anchor="t"/>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Prima pagină</a:t>
            </a:r>
            <a:endParaRPr lang="en-US" sz="2400" dirty="0"/>
          </a:p>
        </p:txBody>
      </p:sp>
      <p:sp>
        <p:nvSpPr>
          <p:cNvPr id="15" name="Text 13"/>
          <p:cNvSpPr/>
          <p:nvPr/>
        </p:nvSpPr>
        <p:spPr>
          <a:xfrm>
            <a:off x="8366760" y="2560320"/>
            <a:ext cx="2971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Fișa organizației: cine este, ce face, ce se știe public despre ea.</a:t>
            </a:r>
            <a:endParaRPr lang="en-US" sz="1600" dirty="0"/>
          </a:p>
        </p:txBody>
      </p:sp>
      <p:sp>
        <p:nvSpPr>
          <p:cNvPr id="16" name="Shape 14"/>
          <p:cNvSpPr/>
          <p:nvPr/>
        </p:nvSpPr>
        <p:spPr>
          <a:xfrm>
            <a:off x="594360" y="3977640"/>
            <a:ext cx="548640" cy="731520"/>
          </a:xfrm>
          <a:prstGeom prst="rect">
            <a:avLst/>
          </a:prstGeom>
          <a:solidFill>
            <a:srgbClr val="585A64"/>
          </a:solidFill>
          <a:ln w="19050">
            <a:solidFill>
              <a:srgbClr val="F6F5F2"/>
            </a:solidFill>
            <a:prstDash val="solid"/>
          </a:ln>
        </p:spPr>
        <p:txBody>
          <a:bodyPr/>
          <a:p/>
        </p:txBody>
      </p:sp>
      <p:sp>
        <p:nvSpPr>
          <p:cNvPr id="17" name="Shape 15"/>
          <p:cNvSpPr/>
          <p:nvPr/>
        </p:nvSpPr>
        <p:spPr>
          <a:xfrm>
            <a:off x="1143000" y="3977640"/>
            <a:ext cx="2194560" cy="731520"/>
          </a:xfrm>
          <a:prstGeom prst="rect">
            <a:avLst/>
          </a:prstGeom>
          <a:solidFill>
            <a:srgbClr val="FF4757"/>
          </a:solidFill>
          <a:ln w="19050">
            <a:solidFill>
              <a:srgbClr val="F6F5F2"/>
            </a:solidFill>
            <a:prstDash val="solid"/>
          </a:ln>
        </p:spPr>
        <p:txBody>
          <a:bodyPr/>
          <a:p/>
        </p:txBody>
      </p:sp>
      <p:sp>
        <p:nvSpPr>
          <p:cNvPr id="18" name="Text 16"/>
          <p:cNvSpPr/>
          <p:nvPr/>
        </p:nvSpPr>
        <p:spPr>
          <a:xfrm>
            <a:off x="1143000" y="3977640"/>
            <a:ext cx="2194560" cy="731520"/>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Un spital, o cifră</a:t>
            </a:r>
            <a:endParaRPr lang="en-US" sz="1300" dirty="0"/>
          </a:p>
        </p:txBody>
      </p:sp>
      <p:sp>
        <p:nvSpPr>
          <p:cNvPr id="19" name="Shape 17"/>
          <p:cNvSpPr/>
          <p:nvPr/>
        </p:nvSpPr>
        <p:spPr>
          <a:xfrm>
            <a:off x="3337560" y="3977640"/>
            <a:ext cx="2194560" cy="731520"/>
          </a:xfrm>
          <a:prstGeom prst="rect">
            <a:avLst/>
          </a:prstGeom>
          <a:solidFill>
            <a:srgbClr val="FFC24B"/>
          </a:solidFill>
          <a:ln w="19050">
            <a:solidFill>
              <a:srgbClr val="F6F5F2"/>
            </a:solidFill>
            <a:prstDash val="solid"/>
          </a:ln>
        </p:spPr>
        <p:txBody>
          <a:bodyPr/>
          <a:p/>
        </p:txBody>
      </p:sp>
      <p:sp>
        <p:nvSpPr>
          <p:cNvPr id="20" name="Text 18"/>
          <p:cNvSpPr/>
          <p:nvPr/>
        </p:nvSpPr>
        <p:spPr>
          <a:xfrm>
            <a:off x="3337560" y="3977640"/>
            <a:ext cx="2194560" cy="731520"/>
          </a:xfrm>
          <a:prstGeom prst="rect">
            <a:avLst/>
          </a:prstGeom>
          <a:noFill/>
          <a:ln/>
        </p:spPr>
        <p:txBody>
          <a:bodyPr wrap="square" lIns="0" tIns="0" rIns="0" bIns="0" rtlCol="0" anchor="ctr"/>
          <a:lstStyle/>
          <a:p>
            <a:pPr algn="ctr" indent="0" marL="0">
              <a:buNone/>
            </a:pPr>
            <a:r>
              <a:rPr lang="en-US" sz="1300" b="1" dirty="0">
                <a:solidFill>
                  <a:srgbClr val="3D2A00"/>
                </a:solidFill>
                <a:latin typeface="Palatino Linotype" pitchFamily="34" charset="0"/>
                <a:ea typeface="Palatino Linotype" pitchFamily="34" charset="-122"/>
                <a:cs typeface="Palatino Linotype" pitchFamily="34" charset="-120"/>
              </a:rPr>
              <a:t>Harta și titlul</a:t>
            </a:r>
            <a:endParaRPr lang="en-US" sz="1300" dirty="0"/>
          </a:p>
        </p:txBody>
      </p:sp>
      <p:sp>
        <p:nvSpPr>
          <p:cNvPr id="21" name="Shape 19"/>
          <p:cNvSpPr/>
          <p:nvPr/>
        </p:nvSpPr>
        <p:spPr>
          <a:xfrm>
            <a:off x="5532120" y="3977640"/>
            <a:ext cx="2743200" cy="731520"/>
          </a:xfrm>
          <a:prstGeom prst="rect">
            <a:avLst/>
          </a:prstGeom>
          <a:solidFill>
            <a:srgbClr val="27D3BE"/>
          </a:solidFill>
          <a:ln w="19050">
            <a:solidFill>
              <a:srgbClr val="F6F5F2"/>
            </a:solidFill>
            <a:prstDash val="solid"/>
          </a:ln>
        </p:spPr>
        <p:txBody>
          <a:bodyPr/>
          <a:p/>
        </p:txBody>
      </p:sp>
      <p:sp>
        <p:nvSpPr>
          <p:cNvPr id="22" name="Text 20"/>
          <p:cNvSpPr/>
          <p:nvPr/>
        </p:nvSpPr>
        <p:spPr>
          <a:xfrm>
            <a:off x="5532120" y="3977640"/>
            <a:ext cx="2743200" cy="731520"/>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Echipa și organizația</a:t>
            </a:r>
            <a:endParaRPr lang="en-US" sz="1300" dirty="0"/>
          </a:p>
        </p:txBody>
      </p:sp>
      <p:sp>
        <p:nvSpPr>
          <p:cNvPr id="23" name="Shape 21"/>
          <p:cNvSpPr/>
          <p:nvPr/>
        </p:nvSpPr>
        <p:spPr>
          <a:xfrm>
            <a:off x="8275320" y="3977640"/>
            <a:ext cx="1463040" cy="731520"/>
          </a:xfrm>
          <a:prstGeom prst="rect">
            <a:avLst/>
          </a:prstGeom>
          <a:solidFill>
            <a:srgbClr val="9B7EF7"/>
          </a:solidFill>
          <a:ln w="19050">
            <a:solidFill>
              <a:srgbClr val="F6F5F2"/>
            </a:solidFill>
            <a:prstDash val="solid"/>
          </a:ln>
        </p:spPr>
        <p:txBody>
          <a:bodyPr/>
          <a:p/>
        </p:txBody>
      </p:sp>
      <p:sp>
        <p:nvSpPr>
          <p:cNvPr id="24" name="Text 22"/>
          <p:cNvSpPr/>
          <p:nvPr/>
        </p:nvSpPr>
        <p:spPr>
          <a:xfrm>
            <a:off x="8275320" y="3977640"/>
            <a:ext cx="1463040" cy="731520"/>
          </a:xfrm>
          <a:prstGeom prst="rect">
            <a:avLst/>
          </a:prstGeom>
          <a:noFill/>
          <a:ln/>
        </p:spPr>
        <p:txBody>
          <a:bodyPr wrap="square" lIns="0" tIns="0" rIns="0" bIns="0" rtlCol="0" anchor="ctr"/>
          <a:lstStyle/>
          <a:p>
            <a:pPr algn="ctr" indent="0" marL="0">
              <a:buNone/>
            </a:pPr>
            <a:r>
              <a:rPr lang="en-US" sz="1300" b="1" dirty="0">
                <a:solidFill>
                  <a:srgbClr val="1F1040"/>
                </a:solidFill>
                <a:latin typeface="Palatino Linotype" pitchFamily="34" charset="0"/>
                <a:ea typeface="Palatino Linotype" pitchFamily="34" charset="-122"/>
                <a:cs typeface="Palatino Linotype" pitchFamily="34" charset="-120"/>
              </a:rPr>
              <a:t>Testul</a:t>
            </a:r>
            <a:endParaRPr lang="en-US" sz="1300" dirty="0"/>
          </a:p>
        </p:txBody>
      </p:sp>
      <p:sp>
        <p:nvSpPr>
          <p:cNvPr id="25" name="Shape 23"/>
          <p:cNvSpPr/>
          <p:nvPr/>
        </p:nvSpPr>
        <p:spPr>
          <a:xfrm>
            <a:off x="9738360" y="3977640"/>
            <a:ext cx="914400" cy="731520"/>
          </a:xfrm>
          <a:prstGeom prst="rect">
            <a:avLst/>
          </a:prstGeom>
          <a:solidFill>
            <a:srgbClr val="ECEAE4"/>
          </a:solidFill>
          <a:ln w="19050">
            <a:solidFill>
              <a:srgbClr val="F6F5F2"/>
            </a:solidFill>
            <a:prstDash val="solid"/>
          </a:ln>
        </p:spPr>
        <p:txBody>
          <a:bodyPr/>
          <a:p/>
        </p:txBody>
      </p:sp>
      <p:sp>
        <p:nvSpPr>
          <p:cNvPr id="26" name="Text 24"/>
          <p:cNvSpPr/>
          <p:nvPr/>
        </p:nvSpPr>
        <p:spPr>
          <a:xfrm>
            <a:off x="9738360" y="3977640"/>
            <a:ext cx="914400" cy="731520"/>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Ghidul</a:t>
            </a:r>
            <a:endParaRPr lang="en-US" sz="1300" dirty="0"/>
          </a:p>
        </p:txBody>
      </p:sp>
      <p:sp>
        <p:nvSpPr>
          <p:cNvPr id="27" name="Shape 25"/>
          <p:cNvSpPr/>
          <p:nvPr/>
        </p:nvSpPr>
        <p:spPr>
          <a:xfrm>
            <a:off x="10652760" y="3977640"/>
            <a:ext cx="914400" cy="731520"/>
          </a:xfrm>
          <a:prstGeom prst="rect">
            <a:avLst/>
          </a:prstGeom>
          <a:solidFill>
            <a:srgbClr val="F9F8F5"/>
          </a:solidFill>
          <a:ln w="19050">
            <a:solidFill>
              <a:srgbClr val="F6F5F2"/>
            </a:solidFill>
            <a:prstDash val="solid"/>
          </a:ln>
        </p:spPr>
        <p:txBody>
          <a:bodyPr/>
          <a:p/>
        </p:txBody>
      </p:sp>
      <p:sp>
        <p:nvSpPr>
          <p:cNvPr id="28" name="Text 26"/>
          <p:cNvSpPr/>
          <p:nvPr/>
        </p:nvSpPr>
        <p:spPr>
          <a:xfrm>
            <a:off x="10652760" y="3977640"/>
            <a:ext cx="914400" cy="731520"/>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Bilet</a:t>
            </a:r>
            <a:endParaRPr lang="en-US" sz="1300" dirty="0"/>
          </a:p>
        </p:txBody>
      </p:sp>
      <p:sp>
        <p:nvSpPr>
          <p:cNvPr id="29" name="Text 27"/>
          <p:cNvSpPr/>
          <p:nvPr/>
        </p:nvSpPr>
        <p:spPr>
          <a:xfrm>
            <a:off x="594360" y="4937760"/>
            <a:ext cx="10972800" cy="45720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Mai mult de jumătate din timp lucrați voi: votați, discutați, formați echipa, completați testul.</a:t>
            </a:r>
            <a:endParaRPr lang="en-US" sz="1800" dirty="0"/>
          </a:p>
        </p:txBody>
      </p:sp>
      <p:sp>
        <p:nvSpPr>
          <p:cNvPr id="30" name="Text 28"/>
          <p:cNvSpPr/>
          <p:nvPr/>
        </p:nvSpPr>
        <p:spPr>
          <a:xfrm>
            <a:off x="594360" y="5440680"/>
            <a:ext cx="10972800" cy="457200"/>
          </a:xfrm>
          <a:prstGeom prst="rect">
            <a:avLst/>
          </a:prstGeom>
          <a:noFill/>
          <a:ln/>
        </p:spPr>
        <p:txBody>
          <a:bodyPr wrap="square" lIns="0" tIns="0" rIns="0" bIns="0" rtlCol="0" anchor="t"/>
          <a:lstStyle/>
          <a:p>
            <a:pPr indent="0" marL="0">
              <a:buNone/>
            </a:pPr>
            <a:r>
              <a:rPr lang="en-US" sz="1700" dirty="0">
                <a:solidFill>
                  <a:srgbClr val="585A64"/>
                </a:solidFill>
                <a:latin typeface="Palatino Linotype" pitchFamily="34" charset="0"/>
                <a:ea typeface="Palatino Linotype" pitchFamily="34" charset="-122"/>
                <a:cs typeface="Palatino Linotype" pitchFamily="34" charset="-120"/>
              </a:rPr>
              <a:t>La sfârșit predați înscrierea echipei și testul. Ora a doua este a echipei; o puteți face acasă.</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FOST NUMIȚI MANAGERI · PRIMA ZI DE MANDAT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Spitalul Orășenesc Zimnicea</a:t>
            </a:r>
            <a:endParaRPr lang="en-US" sz="3200" dirty="0"/>
          </a:p>
        </p:txBody>
      </p:sp>
      <p:sp>
        <p:nvSpPr>
          <p:cNvPr id="4" name="Text 2"/>
          <p:cNvSpPr/>
          <p:nvPr/>
        </p:nvSpPr>
        <p:spPr>
          <a:xfrm>
            <a:off x="502920" y="1600200"/>
            <a:ext cx="6766560" cy="2377440"/>
          </a:xfrm>
          <a:prstGeom prst="rect">
            <a:avLst/>
          </a:prstGeom>
          <a:noFill/>
          <a:ln/>
        </p:spPr>
        <p:txBody>
          <a:bodyPr wrap="square" lIns="0" tIns="0" rIns="0" bIns="0" rtlCol="0" anchor="ctr"/>
          <a:lstStyle/>
          <a:p>
            <a:pPr indent="0" marL="0">
              <a:buNone/>
            </a:pPr>
            <a:r>
              <a:rPr lang="en-US" sz="15000" b="1" dirty="0">
                <a:solidFill>
                  <a:srgbClr val="FF4757"/>
                </a:solidFill>
                <a:latin typeface="Palatino Linotype" pitchFamily="34" charset="0"/>
                <a:ea typeface="Palatino Linotype" pitchFamily="34" charset="-122"/>
                <a:cs typeface="Palatino Linotype" pitchFamily="34" charset="-120"/>
              </a:rPr>
              <a:t>46,6%</a:t>
            </a:r>
            <a:endParaRPr lang="en-US" sz="15000" dirty="0"/>
          </a:p>
        </p:txBody>
      </p:sp>
      <p:sp>
        <p:nvSpPr>
          <p:cNvPr id="5" name="Text 3"/>
          <p:cNvSpPr/>
          <p:nvPr/>
        </p:nvSpPr>
        <p:spPr>
          <a:xfrm>
            <a:off x="594360" y="4023360"/>
            <a:ext cx="6766560" cy="457200"/>
          </a:xfrm>
          <a:prstGeom prst="rect">
            <a:avLst/>
          </a:prstGeom>
          <a:noFill/>
          <a:ln/>
        </p:spPr>
        <p:txBody>
          <a:bodyPr wrap="square" lIns="0" tIns="0" rIns="0" bIns="0" rtlCol="0" anchor="t"/>
          <a:lstStyle/>
          <a:p>
            <a:pPr indent="0" marL="0">
              <a:buNone/>
            </a:pPr>
            <a:r>
              <a:rPr lang="en-US" sz="2100" b="1" dirty="0">
                <a:solidFill>
                  <a:srgbClr val="27D3BE"/>
                </a:solidFill>
                <a:latin typeface="Palatino Linotype" pitchFamily="34" charset="0"/>
                <a:ea typeface="Palatino Linotype" pitchFamily="34" charset="-122"/>
                <a:cs typeface="Palatino Linotype" pitchFamily="34" charset="-120"/>
              </a:rPr>
              <a:t>gradul de ocupare a paturilor de acuți, în 2025</a:t>
            </a:r>
            <a:endParaRPr lang="en-US" sz="2100" dirty="0"/>
          </a:p>
        </p:txBody>
      </p:sp>
      <p:sp>
        <p:nvSpPr>
          <p:cNvPr id="6" name="Shape 4"/>
          <p:cNvSpPr/>
          <p:nvPr/>
        </p:nvSpPr>
        <p:spPr>
          <a:xfrm>
            <a:off x="7635240" y="1691640"/>
            <a:ext cx="3931920" cy="2926080"/>
          </a:xfrm>
          <a:prstGeom prst="roundRect">
            <a:avLst>
              <a:gd name="adj" fmla="val 2813"/>
            </a:avLst>
          </a:prstGeom>
          <a:solidFill>
            <a:srgbClr val="1D1F2B"/>
          </a:solidFill>
          <a:ln w="12700">
            <a:solidFill>
              <a:srgbClr val="1D1F2B"/>
            </a:solidFill>
            <a:prstDash val="solid"/>
          </a:ln>
        </p:spPr>
        <p:txBody>
          <a:bodyPr/>
          <a:p/>
        </p:txBody>
      </p:sp>
      <p:sp>
        <p:nvSpPr>
          <p:cNvPr id="7" name="Text 5"/>
          <p:cNvSpPr/>
          <p:nvPr/>
        </p:nvSpPr>
        <p:spPr>
          <a:xfrm>
            <a:off x="7955280" y="1828800"/>
            <a:ext cx="3291840" cy="914400"/>
          </a:xfrm>
          <a:prstGeom prst="rect">
            <a:avLst/>
          </a:prstGeom>
          <a:noFill/>
          <a:ln/>
        </p:spPr>
        <p:txBody>
          <a:bodyPr wrap="square" lIns="0" tIns="0" rIns="0" bIns="0" rtlCol="0" anchor="ctr"/>
          <a:lstStyle/>
          <a:p>
            <a:pPr indent="0" marL="0">
              <a:buNone/>
            </a:pPr>
            <a:r>
              <a:rPr lang="en-US" sz="5400" b="1" dirty="0">
                <a:solidFill>
                  <a:srgbClr val="FFC24B"/>
                </a:solidFill>
                <a:latin typeface="Palatino Linotype" pitchFamily="34" charset="0"/>
                <a:ea typeface="Palatino Linotype" pitchFamily="34" charset="-122"/>
                <a:cs typeface="Palatino Linotype" pitchFamily="34" charset="-120"/>
              </a:rPr>
              <a:t>96</a:t>
            </a:r>
            <a:endParaRPr lang="en-US" sz="5400" dirty="0"/>
          </a:p>
        </p:txBody>
      </p:sp>
      <p:sp>
        <p:nvSpPr>
          <p:cNvPr id="8" name="Text 6"/>
          <p:cNvSpPr/>
          <p:nvPr/>
        </p:nvSpPr>
        <p:spPr>
          <a:xfrm>
            <a:off x="7955280" y="2743200"/>
            <a:ext cx="3337560" cy="73152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de paturi de acuți contractate cu casa de asigurări</a:t>
            </a:r>
            <a:endParaRPr lang="en-US" sz="1600" dirty="0"/>
          </a:p>
        </p:txBody>
      </p:sp>
      <p:sp>
        <p:nvSpPr>
          <p:cNvPr id="9" name="Shape 7"/>
          <p:cNvSpPr/>
          <p:nvPr/>
        </p:nvSpPr>
        <p:spPr>
          <a:xfrm>
            <a:off x="7955280" y="3611880"/>
            <a:ext cx="3291840" cy="18288"/>
          </a:xfrm>
          <a:prstGeom prst="rect">
            <a:avLst/>
          </a:prstGeom>
          <a:solidFill>
            <a:srgbClr val="3A3E52"/>
          </a:solidFill>
          <a:ln/>
        </p:spPr>
        <p:txBody>
          <a:bodyPr/>
          <a:p/>
        </p:txBody>
      </p:sp>
      <p:sp>
        <p:nvSpPr>
          <p:cNvPr id="10" name="Text 8"/>
          <p:cNvSpPr/>
          <p:nvPr/>
        </p:nvSpPr>
        <p:spPr>
          <a:xfrm>
            <a:off x="7955280" y="3749040"/>
            <a:ext cx="3337560" cy="73152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un spital mic din județul Teleorman</a:t>
            </a:r>
            <a:endParaRPr lang="en-US" sz="1600" dirty="0"/>
          </a:p>
        </p:txBody>
      </p:sp>
      <p:sp>
        <p:nvSpPr>
          <p:cNvPr id="11" name="Text 9"/>
          <p:cNvSpPr/>
          <p:nvPr/>
        </p:nvSpPr>
        <p:spPr>
          <a:xfrm>
            <a:off x="594360" y="5029200"/>
            <a:ext cx="10972800" cy="73152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Aceasta este singura cifră pe care o aveți. Ce faceți?</a:t>
            </a:r>
            <a:endParaRPr lang="en-US" sz="26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CNAS, aplicația „Performanță Spitale Publice”, date pentru 2025.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VOT PE TELEFON</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DECIZIA VOASTRĂ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decideți în prima zi?</a:t>
            </a:r>
            <a:endParaRPr lang="en-US" sz="3200" dirty="0"/>
          </a:p>
        </p:txBody>
      </p:sp>
      <p:sp>
        <p:nvSpPr>
          <p:cNvPr id="6" name="Shape 4"/>
          <p:cNvSpPr/>
          <p:nvPr/>
        </p:nvSpPr>
        <p:spPr>
          <a:xfrm>
            <a:off x="594360" y="1691640"/>
            <a:ext cx="7086600" cy="777240"/>
          </a:xfrm>
          <a:prstGeom prst="roundRect">
            <a:avLst>
              <a:gd name="adj" fmla="val 10588"/>
            </a:avLst>
          </a:prstGeom>
          <a:solidFill>
            <a:srgbClr val="1D1F2B"/>
          </a:solidFill>
          <a:ln w="12700">
            <a:solidFill>
              <a:srgbClr val="1D1F2B"/>
            </a:solidFill>
            <a:prstDash val="solid"/>
          </a:ln>
        </p:spPr>
        <p:txBody>
          <a:bodyPr/>
          <a:p/>
        </p:txBody>
      </p:sp>
      <p:sp>
        <p:nvSpPr>
          <p:cNvPr id="7" name="Shape 5"/>
          <p:cNvSpPr/>
          <p:nvPr/>
        </p:nvSpPr>
        <p:spPr>
          <a:xfrm>
            <a:off x="868680" y="1869948"/>
            <a:ext cx="420624" cy="420624"/>
          </a:xfrm>
          <a:prstGeom prst="ellipse">
            <a:avLst/>
          </a:prstGeom>
          <a:solidFill>
            <a:srgbClr val="FFC24B"/>
          </a:solidFill>
          <a:ln/>
        </p:spPr>
        <p:txBody>
          <a:bodyPr/>
          <a:p/>
        </p:txBody>
      </p:sp>
      <p:sp>
        <p:nvSpPr>
          <p:cNvPr id="8" name="Text 6"/>
          <p:cNvSpPr/>
          <p:nvPr/>
        </p:nvSpPr>
        <p:spPr>
          <a:xfrm>
            <a:off x="868680" y="18699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691640"/>
            <a:ext cx="594360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Închid o parte din paturi</a:t>
            </a:r>
            <a:endParaRPr lang="en-US" sz="1800" dirty="0"/>
          </a:p>
        </p:txBody>
      </p:sp>
      <p:sp>
        <p:nvSpPr>
          <p:cNvPr id="10" name="Shape 8"/>
          <p:cNvSpPr/>
          <p:nvPr/>
        </p:nvSpPr>
        <p:spPr>
          <a:xfrm>
            <a:off x="594360" y="2606040"/>
            <a:ext cx="7086600" cy="777240"/>
          </a:xfrm>
          <a:prstGeom prst="roundRect">
            <a:avLst>
              <a:gd name="adj" fmla="val 10588"/>
            </a:avLst>
          </a:prstGeom>
          <a:solidFill>
            <a:srgbClr val="1D1F2B"/>
          </a:solidFill>
          <a:ln w="12700">
            <a:solidFill>
              <a:srgbClr val="1D1F2B"/>
            </a:solidFill>
            <a:prstDash val="solid"/>
          </a:ln>
        </p:spPr>
        <p:txBody>
          <a:bodyPr/>
          <a:p/>
        </p:txBody>
      </p:sp>
      <p:sp>
        <p:nvSpPr>
          <p:cNvPr id="11" name="Shape 9"/>
          <p:cNvSpPr/>
          <p:nvPr/>
        </p:nvSpPr>
        <p:spPr>
          <a:xfrm>
            <a:off x="868680" y="2784348"/>
            <a:ext cx="420624" cy="420624"/>
          </a:xfrm>
          <a:prstGeom prst="ellipse">
            <a:avLst/>
          </a:prstGeom>
          <a:solidFill>
            <a:srgbClr val="FFC24B"/>
          </a:solidFill>
          <a:ln/>
        </p:spPr>
        <p:txBody>
          <a:bodyPr/>
          <a:p/>
        </p:txBody>
      </p:sp>
      <p:sp>
        <p:nvSpPr>
          <p:cNvPr id="12" name="Text 10"/>
          <p:cNvSpPr/>
          <p:nvPr/>
        </p:nvSpPr>
        <p:spPr>
          <a:xfrm>
            <a:off x="868680" y="27843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606040"/>
            <a:ext cx="594360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Deschid un serviciu pe care spitalul nu îl are încă</a:t>
            </a:r>
            <a:endParaRPr lang="en-US" sz="1800" dirty="0"/>
          </a:p>
        </p:txBody>
      </p:sp>
      <p:sp>
        <p:nvSpPr>
          <p:cNvPr id="14" name="Shape 12"/>
          <p:cNvSpPr/>
          <p:nvPr/>
        </p:nvSpPr>
        <p:spPr>
          <a:xfrm>
            <a:off x="594360" y="3520440"/>
            <a:ext cx="7086600" cy="777240"/>
          </a:xfrm>
          <a:prstGeom prst="roundRect">
            <a:avLst>
              <a:gd name="adj" fmla="val 10588"/>
            </a:avLst>
          </a:prstGeom>
          <a:solidFill>
            <a:srgbClr val="1D1F2B"/>
          </a:solidFill>
          <a:ln w="12700">
            <a:solidFill>
              <a:srgbClr val="1D1F2B"/>
            </a:solidFill>
            <a:prstDash val="solid"/>
          </a:ln>
        </p:spPr>
        <p:txBody>
          <a:bodyPr/>
          <a:p/>
        </p:txBody>
      </p:sp>
      <p:sp>
        <p:nvSpPr>
          <p:cNvPr id="15" name="Shape 13"/>
          <p:cNvSpPr/>
          <p:nvPr/>
        </p:nvSpPr>
        <p:spPr>
          <a:xfrm>
            <a:off x="868680" y="3698748"/>
            <a:ext cx="420624" cy="420624"/>
          </a:xfrm>
          <a:prstGeom prst="ellipse">
            <a:avLst/>
          </a:prstGeom>
          <a:solidFill>
            <a:srgbClr val="FFC24B"/>
          </a:solidFill>
          <a:ln/>
        </p:spPr>
        <p:txBody>
          <a:bodyPr/>
          <a:p/>
        </p:txBody>
      </p:sp>
      <p:sp>
        <p:nvSpPr>
          <p:cNvPr id="16" name="Text 14"/>
          <p:cNvSpPr/>
          <p:nvPr/>
        </p:nvSpPr>
        <p:spPr>
          <a:xfrm>
            <a:off x="868680" y="36987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520440"/>
            <a:ext cx="594360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Continui, dar altfel: aceleași secții, organizate diferit</a:t>
            </a:r>
            <a:endParaRPr lang="en-US" sz="1800" dirty="0"/>
          </a:p>
        </p:txBody>
      </p:sp>
      <p:sp>
        <p:nvSpPr>
          <p:cNvPr id="18" name="Shape 16"/>
          <p:cNvSpPr/>
          <p:nvPr/>
        </p:nvSpPr>
        <p:spPr>
          <a:xfrm>
            <a:off x="594360" y="4434840"/>
            <a:ext cx="7086600" cy="777240"/>
          </a:xfrm>
          <a:prstGeom prst="roundRect">
            <a:avLst>
              <a:gd name="adj" fmla="val 10588"/>
            </a:avLst>
          </a:prstGeom>
          <a:solidFill>
            <a:srgbClr val="1D1F2B"/>
          </a:solidFill>
          <a:ln w="12700">
            <a:solidFill>
              <a:srgbClr val="1D1F2B"/>
            </a:solidFill>
            <a:prstDash val="solid"/>
          </a:ln>
        </p:spPr>
        <p:txBody>
          <a:bodyPr/>
          <a:p/>
        </p:txBody>
      </p:sp>
      <p:sp>
        <p:nvSpPr>
          <p:cNvPr id="19" name="Shape 17"/>
          <p:cNvSpPr/>
          <p:nvPr/>
        </p:nvSpPr>
        <p:spPr>
          <a:xfrm>
            <a:off x="868680" y="4613148"/>
            <a:ext cx="420624" cy="420624"/>
          </a:xfrm>
          <a:prstGeom prst="ellipse">
            <a:avLst/>
          </a:prstGeom>
          <a:solidFill>
            <a:srgbClr val="FFC24B"/>
          </a:solidFill>
          <a:ln/>
        </p:spPr>
        <p:txBody>
          <a:bodyPr/>
          <a:p/>
        </p:txBody>
      </p:sp>
      <p:sp>
        <p:nvSpPr>
          <p:cNvPr id="20" name="Text 18"/>
          <p:cNvSpPr/>
          <p:nvPr/>
        </p:nvSpPr>
        <p:spPr>
          <a:xfrm>
            <a:off x="868680" y="46131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434840"/>
            <a:ext cx="594360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Nu decid încă: îmi trebuie alte informații</a:t>
            </a:r>
            <a:endParaRPr lang="en-US" sz="1800" dirty="0"/>
          </a:p>
        </p:txBody>
      </p:sp>
      <p:sp>
        <p:nvSpPr>
          <p:cNvPr id="22" name="Shape 20"/>
          <p:cNvSpPr/>
          <p:nvPr/>
        </p:nvSpPr>
        <p:spPr>
          <a:xfrm>
            <a:off x="8001000" y="1691640"/>
            <a:ext cx="3566160" cy="3291840"/>
          </a:xfrm>
          <a:prstGeom prst="roundRect">
            <a:avLst>
              <a:gd name="adj" fmla="val 2778"/>
            </a:avLst>
          </a:prstGeom>
          <a:solidFill>
            <a:srgbClr val="FFFFFF"/>
          </a:solidFill>
          <a:ln w="19050">
            <a:solidFill>
              <a:srgbClr val="8E94A8"/>
            </a:solidFill>
            <a:prstDash val="dash"/>
          </a:ln>
        </p:spPr>
        <p:txBody>
          <a:bodyPr/>
          <a:p/>
        </p:txBody>
      </p:sp>
      <p:sp>
        <p:nvSpPr>
          <p:cNvPr id="24" name="Text 22"/>
          <p:cNvSpPr/>
          <p:nvPr/>
        </p:nvSpPr>
        <p:spPr>
          <a:xfrm>
            <a:off x="8001000" y="5074920"/>
            <a:ext cx="356616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Votul nu cere cont.</a:t>
            </a:r>
            <a:endParaRPr lang="en-US" sz="1500" dirty="0"/>
          </a:p>
        </p:txBody>
      </p:sp>
      <p:sp>
        <p:nvSpPr>
          <p:cNvPr id="25" name="Text 23"/>
          <p:cNvSpPr/>
          <p:nvPr/>
        </p:nvSpPr>
        <p:spPr>
          <a:xfrm>
            <a:off x="594360" y="5486400"/>
            <a:ext cx="10972800" cy="64008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Apoi două minute cu colegul de bancă: dacă ați ales D, ce informație v-ar trebui prima?</a:t>
            </a:r>
            <a:endParaRPr lang="en-US" sz="1800" dirty="0"/>
          </a:p>
        </p:txBody>
      </p:sp>
      <p:pic>
        <p:nvPicPr>
          <p:cNvPr id="26" name="Picture 25" descr="Mentimeter_UB_MSSS_LP01.png"/>
          <p:cNvPicPr>
            <a:picLocks noChangeAspect="1"/>
          </p:cNvPicPr>
          <p:nvPr/>
        </p:nvPicPr>
        <p:blipFill>
          <a:blip r:embed="rId3"/>
          <a:stretch>
            <a:fillRect/>
          </a:stretch>
        </p:blipFill>
        <p:spPr>
          <a:xfrm>
            <a:off x="8451850" y="1691640"/>
            <a:ext cx="2664460" cy="2664460"/>
          </a:xfrm>
          <a:prstGeom prst="rect">
            <a:avLst/>
          </a:prstGeom>
        </p:spPr>
      </p:pic>
      <p:sp>
        <p:nvSpPr>
          <p:cNvPr id="27" name="TextBox 26"/>
          <p:cNvSpPr txBox="1"/>
          <p:nvPr/>
        </p:nvSpPr>
        <p:spPr>
          <a:xfrm>
            <a:off x="8451850" y="4394200"/>
            <a:ext cx="26644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NU DECID ÎNCĂ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Cifra spune cât, nu spune de ce</a:t>
            </a:r>
            <a:endParaRPr lang="en-US" sz="3100" dirty="0"/>
          </a:p>
        </p:txBody>
      </p:sp>
      <p:sp>
        <p:nvSpPr>
          <p:cNvPr id="4" name="Text 2"/>
          <p:cNvSpPr/>
          <p:nvPr/>
        </p:nvSpPr>
        <p:spPr>
          <a:xfrm>
            <a:off x="594360" y="1417320"/>
            <a:ext cx="10972800" cy="7772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Spitalul și-a folosit paturile contractate mai puțin de jumătate din cât prevede norma. Sunt întrebări de verificat în surse publice, nu explicații cunoscute ale spitalului:</a:t>
            </a:r>
            <a:endParaRPr lang="en-US" sz="1800" dirty="0"/>
          </a:p>
        </p:txBody>
      </p:sp>
      <p:sp>
        <p:nvSpPr>
          <p:cNvPr id="5" name="Shape 3"/>
          <p:cNvSpPr/>
          <p:nvPr/>
        </p:nvSpPr>
        <p:spPr>
          <a:xfrm>
            <a:off x="594360" y="2286000"/>
            <a:ext cx="5394960" cy="1143000"/>
          </a:xfrm>
          <a:prstGeom prst="roundRect">
            <a:avLst>
              <a:gd name="adj" fmla="val 7200"/>
            </a:avLst>
          </a:prstGeom>
          <a:solidFill>
            <a:srgbClr val="ECEAE4"/>
          </a:solidFill>
          <a:ln w="12700">
            <a:solidFill>
              <a:srgbClr val="ECEAE4"/>
            </a:solidFill>
            <a:prstDash val="solid"/>
          </a:ln>
        </p:spPr>
        <p:txBody>
          <a:bodyPr/>
          <a:p/>
        </p:txBody>
      </p:sp>
      <p:sp>
        <p:nvSpPr>
          <p:cNvPr id="6" name="Shape 4"/>
          <p:cNvSpPr/>
          <p:nvPr/>
        </p:nvSpPr>
        <p:spPr>
          <a:xfrm>
            <a:off x="594360" y="2286000"/>
            <a:ext cx="91440" cy="1143000"/>
          </a:xfrm>
          <a:prstGeom prst="rect">
            <a:avLst/>
          </a:prstGeom>
          <a:solidFill>
            <a:srgbClr val="0E7C6B"/>
          </a:solidFill>
          <a:ln w="12700">
            <a:solidFill>
              <a:srgbClr val="0E7C6B"/>
            </a:solidFill>
            <a:prstDash val="solid"/>
          </a:ln>
        </p:spPr>
        <p:txBody>
          <a:bodyPr/>
          <a:p/>
        </p:txBody>
      </p:sp>
      <p:sp>
        <p:nvSpPr>
          <p:cNvPr id="7" name="Text 5"/>
          <p:cNvSpPr/>
          <p:nvPr/>
        </p:nvSpPr>
        <p:spPr>
          <a:xfrm>
            <a:off x="960120" y="2286000"/>
            <a:ext cx="4846320" cy="114300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S-a schimbat populația din jur?</a:t>
            </a:r>
            <a:endParaRPr lang="en-US" sz="1700" dirty="0"/>
          </a:p>
        </p:txBody>
      </p:sp>
      <p:sp>
        <p:nvSpPr>
          <p:cNvPr id="8" name="Shape 6"/>
          <p:cNvSpPr/>
          <p:nvPr/>
        </p:nvSpPr>
        <p:spPr>
          <a:xfrm>
            <a:off x="6172200" y="2286000"/>
            <a:ext cx="5394960" cy="1143000"/>
          </a:xfrm>
          <a:prstGeom prst="roundRect">
            <a:avLst>
              <a:gd name="adj" fmla="val 7200"/>
            </a:avLst>
          </a:prstGeom>
          <a:solidFill>
            <a:srgbClr val="ECEAE4"/>
          </a:solidFill>
          <a:ln w="12700">
            <a:solidFill>
              <a:srgbClr val="ECEAE4"/>
            </a:solidFill>
            <a:prstDash val="solid"/>
          </a:ln>
        </p:spPr>
        <p:txBody>
          <a:bodyPr/>
          <a:p/>
        </p:txBody>
      </p:sp>
      <p:sp>
        <p:nvSpPr>
          <p:cNvPr id="9" name="Shape 7"/>
          <p:cNvSpPr/>
          <p:nvPr/>
        </p:nvSpPr>
        <p:spPr>
          <a:xfrm>
            <a:off x="6172200" y="2286000"/>
            <a:ext cx="91440" cy="1143000"/>
          </a:xfrm>
          <a:prstGeom prst="rect">
            <a:avLst/>
          </a:prstGeom>
          <a:solidFill>
            <a:srgbClr val="B02532"/>
          </a:solidFill>
          <a:ln w="12700">
            <a:solidFill>
              <a:srgbClr val="B02532"/>
            </a:solidFill>
            <a:prstDash val="solid"/>
          </a:ln>
        </p:spPr>
        <p:txBody>
          <a:bodyPr/>
          <a:p/>
        </p:txBody>
      </p:sp>
      <p:sp>
        <p:nvSpPr>
          <p:cNvPr id="10" name="Text 8"/>
          <p:cNvSpPr/>
          <p:nvPr/>
        </p:nvSpPr>
        <p:spPr>
          <a:xfrm>
            <a:off x="6537960" y="2286000"/>
            <a:ext cx="4846320" cy="114300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Aleg pacienții alte spitale: spitalul județean, spitalele municipale, spitale din București sau din județele vecine?</a:t>
            </a:r>
            <a:endParaRPr lang="en-US" sz="1700" dirty="0"/>
          </a:p>
        </p:txBody>
      </p:sp>
      <p:sp>
        <p:nvSpPr>
          <p:cNvPr id="11" name="Shape 9"/>
          <p:cNvSpPr/>
          <p:nvPr/>
        </p:nvSpPr>
        <p:spPr>
          <a:xfrm>
            <a:off x="594360" y="3611880"/>
            <a:ext cx="5394960" cy="1143000"/>
          </a:xfrm>
          <a:prstGeom prst="roundRect">
            <a:avLst>
              <a:gd name="adj" fmla="val 7200"/>
            </a:avLst>
          </a:prstGeom>
          <a:solidFill>
            <a:srgbClr val="ECEAE4"/>
          </a:solidFill>
          <a:ln w="12700">
            <a:solidFill>
              <a:srgbClr val="ECEAE4"/>
            </a:solidFill>
            <a:prstDash val="solid"/>
          </a:ln>
        </p:spPr>
        <p:txBody>
          <a:bodyPr/>
          <a:p/>
        </p:txBody>
      </p:sp>
      <p:sp>
        <p:nvSpPr>
          <p:cNvPr id="12" name="Shape 10"/>
          <p:cNvSpPr/>
          <p:nvPr/>
        </p:nvSpPr>
        <p:spPr>
          <a:xfrm>
            <a:off x="594360" y="3611880"/>
            <a:ext cx="91440" cy="1143000"/>
          </a:xfrm>
          <a:prstGeom prst="rect">
            <a:avLst/>
          </a:prstGeom>
          <a:solidFill>
            <a:srgbClr val="4A2D8C"/>
          </a:solidFill>
          <a:ln w="12700">
            <a:solidFill>
              <a:srgbClr val="4A2D8C"/>
            </a:solidFill>
            <a:prstDash val="solid"/>
          </a:ln>
        </p:spPr>
        <p:txBody>
          <a:bodyPr/>
          <a:p/>
        </p:txBody>
      </p:sp>
      <p:sp>
        <p:nvSpPr>
          <p:cNvPr id="13" name="Text 11"/>
          <p:cNvSpPr/>
          <p:nvPr/>
        </p:nvSpPr>
        <p:spPr>
          <a:xfrm>
            <a:off x="960120" y="3611880"/>
            <a:ext cx="4846320" cy="114300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Lipsesc medici pentru unele secții?</a:t>
            </a:r>
            <a:endParaRPr lang="en-US" sz="1700" dirty="0"/>
          </a:p>
        </p:txBody>
      </p:sp>
      <p:sp>
        <p:nvSpPr>
          <p:cNvPr id="14" name="Shape 12"/>
          <p:cNvSpPr/>
          <p:nvPr/>
        </p:nvSpPr>
        <p:spPr>
          <a:xfrm>
            <a:off x="6172200" y="3611880"/>
            <a:ext cx="5394960" cy="1143000"/>
          </a:xfrm>
          <a:prstGeom prst="roundRect">
            <a:avLst>
              <a:gd name="adj" fmla="val 7200"/>
            </a:avLst>
          </a:prstGeom>
          <a:solidFill>
            <a:srgbClr val="ECEAE4"/>
          </a:solidFill>
          <a:ln w="12700">
            <a:solidFill>
              <a:srgbClr val="ECEAE4"/>
            </a:solidFill>
            <a:prstDash val="solid"/>
          </a:ln>
        </p:spPr>
        <p:txBody>
          <a:bodyPr/>
          <a:p/>
        </p:txBody>
      </p:sp>
      <p:sp>
        <p:nvSpPr>
          <p:cNvPr id="15" name="Shape 13"/>
          <p:cNvSpPr/>
          <p:nvPr/>
        </p:nvSpPr>
        <p:spPr>
          <a:xfrm>
            <a:off x="6172200" y="3611880"/>
            <a:ext cx="91440" cy="1143000"/>
          </a:xfrm>
          <a:prstGeom prst="rect">
            <a:avLst/>
          </a:prstGeom>
          <a:solidFill>
            <a:srgbClr val="8A6100"/>
          </a:solidFill>
          <a:ln w="12700">
            <a:solidFill>
              <a:srgbClr val="8A6100"/>
            </a:solidFill>
            <a:prstDash val="solid"/>
          </a:ln>
        </p:spPr>
        <p:txBody>
          <a:bodyPr/>
          <a:p/>
        </p:txBody>
      </p:sp>
      <p:sp>
        <p:nvSpPr>
          <p:cNvPr id="16" name="Text 14"/>
          <p:cNvSpPr/>
          <p:nvPr/>
        </p:nvSpPr>
        <p:spPr>
          <a:xfrm>
            <a:off x="6537960" y="3611880"/>
            <a:ext cx="4846320" cy="114300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Ar fi unele paturi mai utile pentru alt tip de îngrijire?</a:t>
            </a:r>
            <a:endParaRPr lang="en-US" sz="1700" dirty="0"/>
          </a:p>
        </p:txBody>
      </p:sp>
      <p:sp>
        <p:nvSpPr>
          <p:cNvPr id="17" name="Shape 15"/>
          <p:cNvSpPr/>
          <p:nvPr/>
        </p:nvSpPr>
        <p:spPr>
          <a:xfrm>
            <a:off x="594360" y="4937760"/>
            <a:ext cx="10972800" cy="1143000"/>
          </a:xfrm>
          <a:prstGeom prst="roundRect">
            <a:avLst>
              <a:gd name="adj" fmla="val 7200"/>
            </a:avLst>
          </a:prstGeom>
          <a:solidFill>
            <a:srgbClr val="11121A"/>
          </a:solidFill>
          <a:ln w="12700">
            <a:solidFill>
              <a:srgbClr val="11121A"/>
            </a:solidFill>
            <a:prstDash val="solid"/>
          </a:ln>
        </p:spPr>
        <p:txBody>
          <a:bodyPr/>
          <a:p/>
        </p:txBody>
      </p:sp>
      <p:sp>
        <p:nvSpPr>
          <p:cNvPr id="18" name="Text 16"/>
          <p:cNvSpPr/>
          <p:nvPr/>
        </p:nvSpPr>
        <p:spPr>
          <a:xfrm>
            <a:off x="868680" y="4937760"/>
            <a:ext cx="10424160" cy="11430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Răspunsul la fiecare întrebare duce la o altă decizie.</a:t>
            </a:r>
            <a:endParaRPr lang="en-US" sz="1800" dirty="0"/>
          </a:p>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Înainte de orice decizie, trebuie să știți ce se întâmplă în jurul spitalului, ce poate face el și ce vrea să facă.</a:t>
            </a:r>
            <a:endParaRPr lang="en-US" sz="18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CNAS, aplicația „Performanță Spitale Publice”, date pentru 2025. Teleormanul are patru spitale publice generale de acuți.</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LEGĂTURA CU PRIMUL CURS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Primele trei variante au un nume</a:t>
            </a:r>
            <a:endParaRPr lang="en-US" sz="3200" dirty="0"/>
          </a:p>
        </p:txBody>
      </p:sp>
      <p:sp>
        <p:nvSpPr>
          <p:cNvPr id="4" name="Shape 2"/>
          <p:cNvSpPr/>
          <p:nvPr/>
        </p:nvSpPr>
        <p:spPr>
          <a:xfrm>
            <a:off x="594360" y="1691640"/>
            <a:ext cx="3474720" cy="3246120"/>
          </a:xfrm>
          <a:prstGeom prst="roundRect">
            <a:avLst>
              <a:gd name="adj" fmla="val 2535"/>
            </a:avLst>
          </a:prstGeom>
          <a:solidFill>
            <a:srgbClr val="1D1F2B"/>
          </a:solidFill>
          <a:ln w="12700">
            <a:solidFill>
              <a:srgbClr val="1D1F2B"/>
            </a:solidFill>
            <a:prstDash val="solid"/>
          </a:ln>
        </p:spPr>
        <p:txBody>
          <a:bodyPr/>
          <a:p/>
        </p:txBody>
      </p:sp>
      <p:sp>
        <p:nvSpPr>
          <p:cNvPr id="5" name="Shape 3"/>
          <p:cNvSpPr/>
          <p:nvPr/>
        </p:nvSpPr>
        <p:spPr>
          <a:xfrm>
            <a:off x="594360" y="1691640"/>
            <a:ext cx="3474720" cy="91440"/>
          </a:xfrm>
          <a:prstGeom prst="rect">
            <a:avLst/>
          </a:prstGeom>
          <a:solidFill>
            <a:srgbClr val="FF4757"/>
          </a:solidFill>
          <a:ln w="12700">
            <a:solidFill>
              <a:srgbClr val="FF4757"/>
            </a:solidFill>
            <a:prstDash val="solid"/>
          </a:ln>
        </p:spPr>
        <p:txBody>
          <a:bodyPr/>
          <a:p/>
        </p:txBody>
      </p:sp>
      <p:sp>
        <p:nvSpPr>
          <p:cNvPr id="6" name="Text 4"/>
          <p:cNvSpPr/>
          <p:nvPr/>
        </p:nvSpPr>
        <p:spPr>
          <a:xfrm>
            <a:off x="868680" y="1920240"/>
            <a:ext cx="3017520" cy="457200"/>
          </a:xfrm>
          <a:prstGeom prst="rect">
            <a:avLst/>
          </a:prstGeom>
          <a:noFill/>
          <a:ln/>
        </p:spPr>
        <p:txBody>
          <a:bodyPr wrap="square" lIns="0" tIns="0" rIns="0" bIns="0" rtlCol="0" anchor="t"/>
          <a:lstStyle/>
          <a:p>
            <a:pPr indent="0" marL="0">
              <a:buNone/>
            </a:pPr>
            <a:r>
              <a:rPr lang="en-US" sz="2100" b="1" dirty="0">
                <a:solidFill>
                  <a:srgbClr val="FF4757"/>
                </a:solidFill>
                <a:latin typeface="Palatino Linotype" pitchFamily="34" charset="0"/>
                <a:ea typeface="Palatino Linotype" pitchFamily="34" charset="-122"/>
                <a:cs typeface="Palatino Linotype" pitchFamily="34" charset="-120"/>
              </a:rPr>
              <a:t>Încetăm</a:t>
            </a:r>
            <a:endParaRPr lang="en-US" sz="2100" dirty="0"/>
          </a:p>
        </p:txBody>
      </p:sp>
      <p:sp>
        <p:nvSpPr>
          <p:cNvPr id="7" name="Text 5"/>
          <p:cNvSpPr/>
          <p:nvPr/>
        </p:nvSpPr>
        <p:spPr>
          <a:xfrm>
            <a:off x="868680" y="2560320"/>
            <a:ext cx="2971800" cy="10972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 facem acum și ar trebui să încetăm?</a:t>
            </a:r>
            <a:endParaRPr lang="en-US" sz="1800" dirty="0"/>
          </a:p>
        </p:txBody>
      </p:sp>
      <p:sp>
        <p:nvSpPr>
          <p:cNvPr id="8" name="Shape 6"/>
          <p:cNvSpPr/>
          <p:nvPr/>
        </p:nvSpPr>
        <p:spPr>
          <a:xfrm>
            <a:off x="868680" y="3840480"/>
            <a:ext cx="2926080" cy="18288"/>
          </a:xfrm>
          <a:prstGeom prst="rect">
            <a:avLst/>
          </a:prstGeom>
          <a:solidFill>
            <a:srgbClr val="3A3E52"/>
          </a:solidFill>
          <a:ln/>
        </p:spPr>
        <p:txBody>
          <a:bodyPr/>
          <a:p/>
        </p:txBody>
      </p:sp>
      <p:sp>
        <p:nvSpPr>
          <p:cNvPr id="9" name="Text 7"/>
          <p:cNvSpPr/>
          <p:nvPr/>
        </p:nvSpPr>
        <p:spPr>
          <a:xfrm>
            <a:off x="868680" y="3977640"/>
            <a:ext cx="2971800" cy="73152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în vot: </a:t>
            </a:r>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închid o parte din paturi</a:t>
            </a:r>
            <a:endParaRPr lang="en-US" sz="1500" dirty="0"/>
          </a:p>
        </p:txBody>
      </p:sp>
      <p:sp>
        <p:nvSpPr>
          <p:cNvPr id="10" name="Shape 8"/>
          <p:cNvSpPr/>
          <p:nvPr/>
        </p:nvSpPr>
        <p:spPr>
          <a:xfrm>
            <a:off x="4343400" y="1691640"/>
            <a:ext cx="3474720" cy="3246120"/>
          </a:xfrm>
          <a:prstGeom prst="roundRect">
            <a:avLst>
              <a:gd name="adj" fmla="val 2535"/>
            </a:avLst>
          </a:prstGeom>
          <a:solidFill>
            <a:srgbClr val="1D1F2B"/>
          </a:solidFill>
          <a:ln w="12700">
            <a:solidFill>
              <a:srgbClr val="1D1F2B"/>
            </a:solidFill>
            <a:prstDash val="solid"/>
          </a:ln>
        </p:spPr>
        <p:txBody>
          <a:bodyPr/>
          <a:p/>
        </p:txBody>
      </p:sp>
      <p:sp>
        <p:nvSpPr>
          <p:cNvPr id="11" name="Shape 9"/>
          <p:cNvSpPr/>
          <p:nvPr/>
        </p:nvSpPr>
        <p:spPr>
          <a:xfrm>
            <a:off x="4343400" y="1691640"/>
            <a:ext cx="3474720" cy="91440"/>
          </a:xfrm>
          <a:prstGeom prst="rect">
            <a:avLst/>
          </a:prstGeom>
          <a:solidFill>
            <a:srgbClr val="27D3BE"/>
          </a:solidFill>
          <a:ln w="12700">
            <a:solidFill>
              <a:srgbClr val="27D3BE"/>
            </a:solidFill>
            <a:prstDash val="solid"/>
          </a:ln>
        </p:spPr>
        <p:txBody>
          <a:bodyPr/>
          <a:p/>
        </p:txBody>
      </p:sp>
      <p:sp>
        <p:nvSpPr>
          <p:cNvPr id="12" name="Text 10"/>
          <p:cNvSpPr/>
          <p:nvPr/>
        </p:nvSpPr>
        <p:spPr>
          <a:xfrm>
            <a:off x="4617720" y="1920240"/>
            <a:ext cx="3017520" cy="457200"/>
          </a:xfrm>
          <a:prstGeom prst="rect">
            <a:avLst/>
          </a:prstGeom>
          <a:noFill/>
          <a:ln/>
        </p:spPr>
        <p:txBody>
          <a:bodyPr wrap="square" lIns="0" tIns="0" rIns="0" bIns="0" rtlCol="0" anchor="t"/>
          <a:lstStyle/>
          <a:p>
            <a:pPr indent="0" marL="0">
              <a:buNone/>
            </a:pPr>
            <a:r>
              <a:rPr lang="en-US" sz="2100" b="1" dirty="0">
                <a:solidFill>
                  <a:srgbClr val="27D3BE"/>
                </a:solidFill>
                <a:latin typeface="Palatino Linotype" pitchFamily="34" charset="0"/>
                <a:ea typeface="Palatino Linotype" pitchFamily="34" charset="-122"/>
                <a:cs typeface="Palatino Linotype" pitchFamily="34" charset="-120"/>
              </a:rPr>
              <a:t>Începem</a:t>
            </a:r>
            <a:endParaRPr lang="en-US" sz="2100" dirty="0"/>
          </a:p>
        </p:txBody>
      </p:sp>
      <p:sp>
        <p:nvSpPr>
          <p:cNvPr id="13" name="Text 11"/>
          <p:cNvSpPr/>
          <p:nvPr/>
        </p:nvSpPr>
        <p:spPr>
          <a:xfrm>
            <a:off x="4617720" y="2560320"/>
            <a:ext cx="2971800" cy="10972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 nu facem și ar trebui să începem?</a:t>
            </a:r>
            <a:endParaRPr lang="en-US" sz="1800" dirty="0"/>
          </a:p>
        </p:txBody>
      </p:sp>
      <p:sp>
        <p:nvSpPr>
          <p:cNvPr id="14" name="Shape 12"/>
          <p:cNvSpPr/>
          <p:nvPr/>
        </p:nvSpPr>
        <p:spPr>
          <a:xfrm>
            <a:off x="4617720" y="3840480"/>
            <a:ext cx="2926080" cy="18288"/>
          </a:xfrm>
          <a:prstGeom prst="rect">
            <a:avLst/>
          </a:prstGeom>
          <a:solidFill>
            <a:srgbClr val="3A3E52"/>
          </a:solidFill>
          <a:ln/>
        </p:spPr>
        <p:txBody>
          <a:bodyPr/>
          <a:p/>
        </p:txBody>
      </p:sp>
      <p:sp>
        <p:nvSpPr>
          <p:cNvPr id="15" name="Text 13"/>
          <p:cNvSpPr/>
          <p:nvPr/>
        </p:nvSpPr>
        <p:spPr>
          <a:xfrm>
            <a:off x="4617720" y="3977640"/>
            <a:ext cx="2971800" cy="73152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în vot: </a:t>
            </a:r>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deschid un serviciu pe care spitalul nu îl are încă</a:t>
            </a:r>
            <a:endParaRPr lang="en-US" sz="1500" dirty="0"/>
          </a:p>
        </p:txBody>
      </p:sp>
      <p:sp>
        <p:nvSpPr>
          <p:cNvPr id="16" name="Shape 14"/>
          <p:cNvSpPr/>
          <p:nvPr/>
        </p:nvSpPr>
        <p:spPr>
          <a:xfrm>
            <a:off x="8092440" y="1691640"/>
            <a:ext cx="3474720" cy="3246120"/>
          </a:xfrm>
          <a:prstGeom prst="roundRect">
            <a:avLst>
              <a:gd name="adj" fmla="val 2535"/>
            </a:avLst>
          </a:prstGeom>
          <a:solidFill>
            <a:srgbClr val="1D1F2B"/>
          </a:solidFill>
          <a:ln w="12700">
            <a:solidFill>
              <a:srgbClr val="1D1F2B"/>
            </a:solidFill>
            <a:prstDash val="solid"/>
          </a:ln>
        </p:spPr>
        <p:txBody>
          <a:bodyPr/>
          <a:p/>
        </p:txBody>
      </p:sp>
      <p:sp>
        <p:nvSpPr>
          <p:cNvPr id="17" name="Shape 15"/>
          <p:cNvSpPr/>
          <p:nvPr/>
        </p:nvSpPr>
        <p:spPr>
          <a:xfrm>
            <a:off x="8092440" y="1691640"/>
            <a:ext cx="3474720" cy="91440"/>
          </a:xfrm>
          <a:prstGeom prst="rect">
            <a:avLst/>
          </a:prstGeom>
          <a:solidFill>
            <a:srgbClr val="FFC24B"/>
          </a:solidFill>
          <a:ln w="12700">
            <a:solidFill>
              <a:srgbClr val="FFC24B"/>
            </a:solidFill>
            <a:prstDash val="solid"/>
          </a:ln>
        </p:spPr>
        <p:txBody>
          <a:bodyPr/>
          <a:p/>
        </p:txBody>
      </p:sp>
      <p:sp>
        <p:nvSpPr>
          <p:cNvPr id="18" name="Text 16"/>
          <p:cNvSpPr/>
          <p:nvPr/>
        </p:nvSpPr>
        <p:spPr>
          <a:xfrm>
            <a:off x="8366760" y="1920240"/>
            <a:ext cx="3017520" cy="4572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Continuăm, dar altfel</a:t>
            </a:r>
            <a:endParaRPr lang="en-US" sz="2100" dirty="0"/>
          </a:p>
        </p:txBody>
      </p:sp>
      <p:sp>
        <p:nvSpPr>
          <p:cNvPr id="19" name="Text 17"/>
          <p:cNvSpPr/>
          <p:nvPr/>
        </p:nvSpPr>
        <p:spPr>
          <a:xfrm>
            <a:off x="8366760" y="2560320"/>
            <a:ext cx="2971800" cy="10972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 facem și ar trebui să continuăm, dar altfel?</a:t>
            </a:r>
            <a:endParaRPr lang="en-US" sz="1800" dirty="0"/>
          </a:p>
        </p:txBody>
      </p:sp>
      <p:sp>
        <p:nvSpPr>
          <p:cNvPr id="20" name="Shape 18"/>
          <p:cNvSpPr/>
          <p:nvPr/>
        </p:nvSpPr>
        <p:spPr>
          <a:xfrm>
            <a:off x="8366760" y="3840480"/>
            <a:ext cx="2926080" cy="18288"/>
          </a:xfrm>
          <a:prstGeom prst="rect">
            <a:avLst/>
          </a:prstGeom>
          <a:solidFill>
            <a:srgbClr val="3A3E52"/>
          </a:solidFill>
          <a:ln/>
        </p:spPr>
        <p:txBody>
          <a:bodyPr/>
          <a:p/>
        </p:txBody>
      </p:sp>
      <p:sp>
        <p:nvSpPr>
          <p:cNvPr id="21" name="Text 19"/>
          <p:cNvSpPr/>
          <p:nvPr/>
        </p:nvSpPr>
        <p:spPr>
          <a:xfrm>
            <a:off x="8366760" y="3977640"/>
            <a:ext cx="2971800" cy="73152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în vot: </a:t>
            </a:r>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continui, dar altfel</a:t>
            </a:r>
            <a:endParaRPr lang="en-US" sz="1500" dirty="0"/>
          </a:p>
        </p:txBody>
      </p:sp>
      <p:sp>
        <p:nvSpPr>
          <p:cNvPr id="22" name="Text 20"/>
          <p:cNvSpPr/>
          <p:nvPr/>
        </p:nvSpPr>
        <p:spPr>
          <a:xfrm>
            <a:off x="594360" y="5257800"/>
            <a:ext cx="10972800" cy="73152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Întrebările gânditorului strategic. Ca să alegeți între ele, aveți nevoie de mai mult decât o cifră.</a:t>
            </a:r>
            <a:endParaRPr lang="en-US" sz="19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Ginter PM, Duncan WJ, Swayne LE. The Strategic Management of Health Care Organizations, 2018, cap. 1, p. 17.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JUDEȚUL TELEORMAN · SPITALELE PUBLICE GENERALE DE ACUȚI · 2025</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Zimnicea, alături de celelalte trei</a:t>
            </a:r>
            <a:endParaRPr lang="en-US" sz="3000" dirty="0"/>
          </a:p>
        </p:txBody>
      </p:sp>
      <p:sp>
        <p:nvSpPr>
          <p:cNvPr id="4" name="Shape 2"/>
          <p:cNvSpPr/>
          <p:nvPr/>
        </p:nvSpPr>
        <p:spPr>
          <a:xfrm>
            <a:off x="6080760" y="1463040"/>
            <a:ext cx="2560320" cy="3630168"/>
          </a:xfrm>
          <a:prstGeom prst="rect">
            <a:avLst/>
          </a:prstGeom>
          <a:solidFill>
            <a:srgbClr val="FFE9B8"/>
          </a:solidFill>
          <a:ln w="12700">
            <a:solidFill>
              <a:srgbClr val="FFE9B8"/>
            </a:solidFill>
            <a:prstDash val="solid"/>
          </a:ln>
        </p:spPr>
        <p:txBody>
          <a:bodyPr/>
          <a:p/>
        </p:txBody>
      </p:sp>
      <p:sp>
        <p:nvSpPr>
          <p:cNvPr id="5" name="Shape 3"/>
          <p:cNvSpPr/>
          <p:nvPr/>
        </p:nvSpPr>
        <p:spPr>
          <a:xfrm>
            <a:off x="8641080" y="1463040"/>
            <a:ext cx="2926080" cy="3630168"/>
          </a:xfrm>
          <a:prstGeom prst="rect">
            <a:avLst/>
          </a:prstGeom>
          <a:solidFill>
            <a:srgbClr val="CDEFEA"/>
          </a:solidFill>
          <a:ln w="12700">
            <a:solidFill>
              <a:srgbClr val="CDEFEA"/>
            </a:solidFill>
            <a:prstDash val="solid"/>
          </a:ln>
        </p:spPr>
        <p:txBody>
          <a:bodyPr/>
          <a:p/>
        </p:txBody>
      </p:sp>
      <p:sp>
        <p:nvSpPr>
          <p:cNvPr id="6" name="Text 4"/>
          <p:cNvSpPr/>
          <p:nvPr/>
        </p:nvSpPr>
        <p:spPr>
          <a:xfrm>
            <a:off x="685800" y="1463040"/>
            <a:ext cx="5303520" cy="731520"/>
          </a:xfrm>
          <a:prstGeom prst="rect">
            <a:avLst/>
          </a:prstGeom>
          <a:noFill/>
          <a:ln/>
        </p:spPr>
        <p:txBody>
          <a:bodyPr wrap="square" lIns="0" tIns="0" rIns="0" bIns="0" rtlCol="0" anchor="b"/>
          <a:lstStyle/>
          <a:p>
            <a:pPr algn="l" indent="0" marL="0">
              <a:buNone/>
            </a:pPr>
            <a:r>
              <a:rPr lang="en-US" sz="1400" b="1" dirty="0">
                <a:solidFill>
                  <a:srgbClr val="585A64"/>
                </a:solidFill>
                <a:latin typeface="Palatino Linotype" pitchFamily="34" charset="0"/>
                <a:ea typeface="Palatino Linotype" pitchFamily="34" charset="-122"/>
                <a:cs typeface="Palatino Linotype" pitchFamily="34" charset="-120"/>
              </a:rPr>
              <a:t>Spitalul</a:t>
            </a:r>
            <a:endParaRPr lang="en-US" sz="1400" dirty="0"/>
          </a:p>
        </p:txBody>
      </p:sp>
      <p:sp>
        <p:nvSpPr>
          <p:cNvPr id="7" name="Text 5"/>
          <p:cNvSpPr/>
          <p:nvPr/>
        </p:nvSpPr>
        <p:spPr>
          <a:xfrm>
            <a:off x="6172200" y="1463040"/>
            <a:ext cx="2377440" cy="731520"/>
          </a:xfrm>
          <a:prstGeom prst="rect">
            <a:avLst/>
          </a:prstGeom>
          <a:noFill/>
          <a:ln/>
        </p:spPr>
        <p:txBody>
          <a:bodyPr wrap="square" lIns="0" tIns="0" rIns="0" bIns="0" rtlCol="0" anchor="b"/>
          <a:lstStyle/>
          <a:p>
            <a:pPr algn="r" indent="0" marL="0">
              <a:buNone/>
            </a:pPr>
            <a:r>
              <a:rPr lang="en-US" sz="1400" b="1" dirty="0">
                <a:solidFill>
                  <a:srgbClr val="11121A"/>
                </a:solidFill>
                <a:latin typeface="Palatino Linotype" pitchFamily="34" charset="0"/>
                <a:ea typeface="Palatino Linotype" pitchFamily="34" charset="-122"/>
                <a:cs typeface="Palatino Linotype" pitchFamily="34" charset="-120"/>
              </a:rPr>
              <a:t>Grad de ocupare (%)</a:t>
            </a:r>
            <a:endParaRPr lang="en-US" sz="1400" dirty="0"/>
          </a:p>
        </p:txBody>
      </p:sp>
      <p:sp>
        <p:nvSpPr>
          <p:cNvPr id="8" name="Text 6"/>
          <p:cNvSpPr/>
          <p:nvPr/>
        </p:nvSpPr>
        <p:spPr>
          <a:xfrm>
            <a:off x="8732520" y="1463040"/>
            <a:ext cx="2743200" cy="731520"/>
          </a:xfrm>
          <a:prstGeom prst="rect">
            <a:avLst/>
          </a:prstGeom>
          <a:noFill/>
          <a:ln/>
        </p:spPr>
        <p:txBody>
          <a:bodyPr wrap="square" lIns="0" tIns="0" rIns="0" bIns="0" rtlCol="0" anchor="b"/>
          <a:lstStyle/>
          <a:p>
            <a:pPr algn="r" indent="0" marL="0">
              <a:buNone/>
            </a:pPr>
            <a:r>
              <a:rPr lang="en-US" sz="1400" b="1" dirty="0">
                <a:solidFill>
                  <a:srgbClr val="11121A"/>
                </a:solidFill>
                <a:latin typeface="Palatino Linotype" pitchFamily="34" charset="0"/>
                <a:ea typeface="Palatino Linotype" pitchFamily="34" charset="-122"/>
                <a:cs typeface="Palatino Linotype" pitchFamily="34" charset="-120"/>
              </a:rPr>
              <a:t>Cât de complicate sunt cazurile (indice)</a:t>
            </a:r>
            <a:endParaRPr lang="en-US" sz="1400" dirty="0"/>
          </a:p>
        </p:txBody>
      </p:sp>
      <p:sp>
        <p:nvSpPr>
          <p:cNvPr id="9" name="Shape 7"/>
          <p:cNvSpPr/>
          <p:nvPr/>
        </p:nvSpPr>
        <p:spPr>
          <a:xfrm>
            <a:off x="594360" y="2212848"/>
            <a:ext cx="10972800" cy="22860"/>
          </a:xfrm>
          <a:prstGeom prst="rect">
            <a:avLst/>
          </a:prstGeom>
          <a:solidFill>
            <a:srgbClr val="11121A"/>
          </a:solidFill>
          <a:ln/>
        </p:spPr>
        <p:txBody>
          <a:bodyPr/>
          <a:p/>
        </p:txBody>
      </p:sp>
      <p:sp>
        <p:nvSpPr>
          <p:cNvPr id="10" name="Text 8"/>
          <p:cNvSpPr/>
          <p:nvPr/>
        </p:nvSpPr>
        <p:spPr>
          <a:xfrm>
            <a:off x="685800" y="2267712"/>
            <a:ext cx="5303520" cy="640080"/>
          </a:xfrm>
          <a:prstGeom prst="rect">
            <a:avLst/>
          </a:prstGeom>
          <a:noFill/>
          <a:ln/>
        </p:spPr>
        <p:txBody>
          <a:bodyPr wrap="square" lIns="0" tIns="0" rIns="0" bIns="0" rtlCol="0" anchor="ctr"/>
          <a:lstStyle/>
          <a:p>
            <a:pPr algn="l" indent="0" marL="0">
              <a:buNone/>
            </a:pPr>
            <a:r>
              <a:rPr lang="en-US" sz="1700" dirty="0">
                <a:solidFill>
                  <a:srgbClr val="11121A"/>
                </a:solidFill>
                <a:latin typeface="Palatino Linotype" pitchFamily="34" charset="0"/>
                <a:ea typeface="Palatino Linotype" pitchFamily="34" charset="-122"/>
                <a:cs typeface="Palatino Linotype" pitchFamily="34" charset="-120"/>
              </a:rPr>
              <a:t>Spitalul Județean de Urgență Alexandria</a:t>
            </a:r>
            <a:endParaRPr lang="en-US" sz="1700" dirty="0"/>
          </a:p>
        </p:txBody>
      </p:sp>
      <p:sp>
        <p:nvSpPr>
          <p:cNvPr id="11" name="Text 9"/>
          <p:cNvSpPr/>
          <p:nvPr/>
        </p:nvSpPr>
        <p:spPr>
          <a:xfrm>
            <a:off x="6172200" y="2267712"/>
            <a:ext cx="2377440" cy="640080"/>
          </a:xfrm>
          <a:prstGeom prst="rect">
            <a:avLst/>
          </a:prstGeom>
          <a:noFill/>
          <a:ln/>
        </p:spPr>
        <p:txBody>
          <a:bodyPr wrap="square" lIns="0" tIns="0" rIns="0" bIns="0" rtlCol="0" anchor="ctr"/>
          <a:lstStyle/>
          <a:p>
            <a:pPr algn="r" indent="0" marL="0">
              <a:buNone/>
            </a:pPr>
            <a:r>
              <a:rPr lang="en-US" sz="2600" b="1" dirty="0">
                <a:solidFill>
                  <a:srgbClr val="11121A"/>
                </a:solidFill>
                <a:latin typeface="Palatino Linotype" pitchFamily="34" charset="0"/>
                <a:ea typeface="Palatino Linotype" pitchFamily="34" charset="-122"/>
                <a:cs typeface="Palatino Linotype" pitchFamily="34" charset="-120"/>
              </a:rPr>
              <a:t>60,9</a:t>
            </a:r>
            <a:endParaRPr lang="en-US" sz="2600" dirty="0"/>
          </a:p>
        </p:txBody>
      </p:sp>
      <p:sp>
        <p:nvSpPr>
          <p:cNvPr id="12" name="Text 10"/>
          <p:cNvSpPr/>
          <p:nvPr/>
        </p:nvSpPr>
        <p:spPr>
          <a:xfrm>
            <a:off x="8732520" y="2267712"/>
            <a:ext cx="2743200" cy="640080"/>
          </a:xfrm>
          <a:prstGeom prst="rect">
            <a:avLst/>
          </a:prstGeom>
          <a:noFill/>
          <a:ln/>
        </p:spPr>
        <p:txBody>
          <a:bodyPr wrap="square" lIns="0" tIns="0" rIns="0" bIns="0" rtlCol="0" anchor="ctr"/>
          <a:lstStyle/>
          <a:p>
            <a:pPr algn="r" indent="0" marL="0">
              <a:buNone/>
            </a:pPr>
            <a:r>
              <a:rPr lang="en-US" sz="2600" b="1" dirty="0">
                <a:solidFill>
                  <a:srgbClr val="11121A"/>
                </a:solidFill>
                <a:latin typeface="Palatino Linotype" pitchFamily="34" charset="0"/>
                <a:ea typeface="Palatino Linotype" pitchFamily="34" charset="-122"/>
                <a:cs typeface="Palatino Linotype" pitchFamily="34" charset="-120"/>
              </a:rPr>
              <a:t>1,34</a:t>
            </a:r>
            <a:endParaRPr lang="en-US" sz="2600" dirty="0"/>
          </a:p>
        </p:txBody>
      </p:sp>
      <p:sp>
        <p:nvSpPr>
          <p:cNvPr id="13" name="Shape 11"/>
          <p:cNvSpPr/>
          <p:nvPr/>
        </p:nvSpPr>
        <p:spPr>
          <a:xfrm>
            <a:off x="594360" y="2953512"/>
            <a:ext cx="10972800" cy="9144"/>
          </a:xfrm>
          <a:prstGeom prst="rect">
            <a:avLst/>
          </a:prstGeom>
          <a:solidFill>
            <a:srgbClr val="C9C6BE"/>
          </a:solidFill>
          <a:ln/>
        </p:spPr>
        <p:txBody>
          <a:bodyPr/>
          <a:p/>
        </p:txBody>
      </p:sp>
      <p:sp>
        <p:nvSpPr>
          <p:cNvPr id="14" name="Text 12"/>
          <p:cNvSpPr/>
          <p:nvPr/>
        </p:nvSpPr>
        <p:spPr>
          <a:xfrm>
            <a:off x="685800" y="2980944"/>
            <a:ext cx="5303520" cy="640080"/>
          </a:xfrm>
          <a:prstGeom prst="rect">
            <a:avLst/>
          </a:prstGeom>
          <a:noFill/>
          <a:ln/>
        </p:spPr>
        <p:txBody>
          <a:bodyPr wrap="square" lIns="0" tIns="0" rIns="0" bIns="0" rtlCol="0" anchor="ctr"/>
          <a:lstStyle/>
          <a:p>
            <a:pPr algn="l" indent="0" marL="0">
              <a:buNone/>
            </a:pPr>
            <a:r>
              <a:rPr lang="en-US" sz="1700" dirty="0">
                <a:solidFill>
                  <a:srgbClr val="11121A"/>
                </a:solidFill>
                <a:latin typeface="Palatino Linotype" pitchFamily="34" charset="0"/>
                <a:ea typeface="Palatino Linotype" pitchFamily="34" charset="-122"/>
                <a:cs typeface="Palatino Linotype" pitchFamily="34" charset="-120"/>
              </a:rPr>
              <a:t>Spitalul Municipal Turnu Măgurele</a:t>
            </a:r>
            <a:endParaRPr lang="en-US" sz="1700" dirty="0"/>
          </a:p>
        </p:txBody>
      </p:sp>
      <p:sp>
        <p:nvSpPr>
          <p:cNvPr id="15" name="Text 13"/>
          <p:cNvSpPr/>
          <p:nvPr/>
        </p:nvSpPr>
        <p:spPr>
          <a:xfrm>
            <a:off x="6172200" y="2980944"/>
            <a:ext cx="2377440" cy="640080"/>
          </a:xfrm>
          <a:prstGeom prst="rect">
            <a:avLst/>
          </a:prstGeom>
          <a:noFill/>
          <a:ln/>
        </p:spPr>
        <p:txBody>
          <a:bodyPr wrap="square" lIns="0" tIns="0" rIns="0" bIns="0" rtlCol="0" anchor="ctr"/>
          <a:lstStyle/>
          <a:p>
            <a:pPr algn="r" indent="0" marL="0">
              <a:buNone/>
            </a:pPr>
            <a:r>
              <a:rPr lang="en-US" sz="2600" b="1" dirty="0">
                <a:solidFill>
                  <a:srgbClr val="11121A"/>
                </a:solidFill>
                <a:latin typeface="Palatino Linotype" pitchFamily="34" charset="0"/>
                <a:ea typeface="Palatino Linotype" pitchFamily="34" charset="-122"/>
                <a:cs typeface="Palatino Linotype" pitchFamily="34" charset="-120"/>
              </a:rPr>
              <a:t>50,6</a:t>
            </a:r>
            <a:endParaRPr lang="en-US" sz="2600" dirty="0"/>
          </a:p>
        </p:txBody>
      </p:sp>
      <p:sp>
        <p:nvSpPr>
          <p:cNvPr id="16" name="Text 14"/>
          <p:cNvSpPr/>
          <p:nvPr/>
        </p:nvSpPr>
        <p:spPr>
          <a:xfrm>
            <a:off x="8732520" y="2980944"/>
            <a:ext cx="2743200" cy="640080"/>
          </a:xfrm>
          <a:prstGeom prst="rect">
            <a:avLst/>
          </a:prstGeom>
          <a:noFill/>
          <a:ln/>
        </p:spPr>
        <p:txBody>
          <a:bodyPr wrap="square" lIns="0" tIns="0" rIns="0" bIns="0" rtlCol="0" anchor="ctr"/>
          <a:lstStyle/>
          <a:p>
            <a:pPr algn="r" indent="0" marL="0">
              <a:buNone/>
            </a:pPr>
            <a:r>
              <a:rPr lang="en-US" sz="2600" b="1" dirty="0">
                <a:solidFill>
                  <a:srgbClr val="11121A"/>
                </a:solidFill>
                <a:latin typeface="Palatino Linotype" pitchFamily="34" charset="0"/>
                <a:ea typeface="Palatino Linotype" pitchFamily="34" charset="-122"/>
                <a:cs typeface="Palatino Linotype" pitchFamily="34" charset="-120"/>
              </a:rPr>
              <a:t>1,02</a:t>
            </a:r>
            <a:endParaRPr lang="en-US" sz="2600" dirty="0"/>
          </a:p>
        </p:txBody>
      </p:sp>
      <p:sp>
        <p:nvSpPr>
          <p:cNvPr id="17" name="Shape 15"/>
          <p:cNvSpPr/>
          <p:nvPr/>
        </p:nvSpPr>
        <p:spPr>
          <a:xfrm>
            <a:off x="594360" y="3666744"/>
            <a:ext cx="10972800" cy="9144"/>
          </a:xfrm>
          <a:prstGeom prst="rect">
            <a:avLst/>
          </a:prstGeom>
          <a:solidFill>
            <a:srgbClr val="C9C6BE"/>
          </a:solidFill>
          <a:ln/>
        </p:spPr>
        <p:txBody>
          <a:bodyPr/>
          <a:p/>
        </p:txBody>
      </p:sp>
      <p:sp>
        <p:nvSpPr>
          <p:cNvPr id="18" name="Text 16"/>
          <p:cNvSpPr/>
          <p:nvPr/>
        </p:nvSpPr>
        <p:spPr>
          <a:xfrm>
            <a:off x="685800" y="3694176"/>
            <a:ext cx="5303520" cy="640080"/>
          </a:xfrm>
          <a:prstGeom prst="rect">
            <a:avLst/>
          </a:prstGeom>
          <a:noFill/>
          <a:ln/>
        </p:spPr>
        <p:txBody>
          <a:bodyPr wrap="square" lIns="0" tIns="0" rIns="0" bIns="0" rtlCol="0" anchor="ctr"/>
          <a:lstStyle/>
          <a:p>
            <a:pPr algn="l" indent="0" marL="0">
              <a:buNone/>
            </a:pPr>
            <a:r>
              <a:rPr lang="en-US" sz="1700" dirty="0">
                <a:solidFill>
                  <a:srgbClr val="11121A"/>
                </a:solidFill>
                <a:latin typeface="Palatino Linotype" pitchFamily="34" charset="0"/>
                <a:ea typeface="Palatino Linotype" pitchFamily="34" charset="-122"/>
                <a:cs typeface="Palatino Linotype" pitchFamily="34" charset="-120"/>
              </a:rPr>
              <a:t>Spitalul Municipal „Caritas” Roșiori de Vede</a:t>
            </a:r>
            <a:endParaRPr lang="en-US" sz="1700" dirty="0"/>
          </a:p>
        </p:txBody>
      </p:sp>
      <p:sp>
        <p:nvSpPr>
          <p:cNvPr id="19" name="Text 17"/>
          <p:cNvSpPr/>
          <p:nvPr/>
        </p:nvSpPr>
        <p:spPr>
          <a:xfrm>
            <a:off x="6172200" y="3694176"/>
            <a:ext cx="2377440" cy="640080"/>
          </a:xfrm>
          <a:prstGeom prst="rect">
            <a:avLst/>
          </a:prstGeom>
          <a:noFill/>
          <a:ln/>
        </p:spPr>
        <p:txBody>
          <a:bodyPr wrap="square" lIns="0" tIns="0" rIns="0" bIns="0" rtlCol="0" anchor="ctr"/>
          <a:lstStyle/>
          <a:p>
            <a:pPr algn="r" indent="0" marL="0">
              <a:buNone/>
            </a:pPr>
            <a:r>
              <a:rPr lang="en-US" sz="2600" b="1" dirty="0">
                <a:solidFill>
                  <a:srgbClr val="11121A"/>
                </a:solidFill>
                <a:latin typeface="Palatino Linotype" pitchFamily="34" charset="0"/>
                <a:ea typeface="Palatino Linotype" pitchFamily="34" charset="-122"/>
                <a:cs typeface="Palatino Linotype" pitchFamily="34" charset="-120"/>
              </a:rPr>
              <a:t>60,4</a:t>
            </a:r>
            <a:endParaRPr lang="en-US" sz="2600" dirty="0"/>
          </a:p>
        </p:txBody>
      </p:sp>
      <p:sp>
        <p:nvSpPr>
          <p:cNvPr id="20" name="Text 18"/>
          <p:cNvSpPr/>
          <p:nvPr/>
        </p:nvSpPr>
        <p:spPr>
          <a:xfrm>
            <a:off x="8732520" y="3694176"/>
            <a:ext cx="2743200" cy="640080"/>
          </a:xfrm>
          <a:prstGeom prst="rect">
            <a:avLst/>
          </a:prstGeom>
          <a:noFill/>
          <a:ln/>
        </p:spPr>
        <p:txBody>
          <a:bodyPr wrap="square" lIns="0" tIns="0" rIns="0" bIns="0" rtlCol="0" anchor="ctr"/>
          <a:lstStyle/>
          <a:p>
            <a:pPr algn="r" indent="0" marL="0">
              <a:buNone/>
            </a:pPr>
            <a:r>
              <a:rPr lang="en-US" sz="2600" b="1" dirty="0">
                <a:solidFill>
                  <a:srgbClr val="11121A"/>
                </a:solidFill>
                <a:latin typeface="Palatino Linotype" pitchFamily="34" charset="0"/>
                <a:ea typeface="Palatino Linotype" pitchFamily="34" charset="-122"/>
                <a:cs typeface="Palatino Linotype" pitchFamily="34" charset="-120"/>
              </a:rPr>
              <a:t>1,23</a:t>
            </a:r>
            <a:endParaRPr lang="en-US" sz="2600" dirty="0"/>
          </a:p>
        </p:txBody>
      </p:sp>
      <p:sp>
        <p:nvSpPr>
          <p:cNvPr id="21" name="Shape 19"/>
          <p:cNvSpPr/>
          <p:nvPr/>
        </p:nvSpPr>
        <p:spPr>
          <a:xfrm>
            <a:off x="594360" y="4379976"/>
            <a:ext cx="10972800" cy="9144"/>
          </a:xfrm>
          <a:prstGeom prst="rect">
            <a:avLst/>
          </a:prstGeom>
          <a:solidFill>
            <a:srgbClr val="C9C6BE"/>
          </a:solidFill>
          <a:ln/>
        </p:spPr>
        <p:txBody>
          <a:bodyPr/>
          <a:p/>
        </p:txBody>
      </p:sp>
      <p:sp>
        <p:nvSpPr>
          <p:cNvPr id="22" name="Text 20"/>
          <p:cNvSpPr/>
          <p:nvPr/>
        </p:nvSpPr>
        <p:spPr>
          <a:xfrm>
            <a:off x="685800" y="4407408"/>
            <a:ext cx="5303520" cy="640080"/>
          </a:xfrm>
          <a:prstGeom prst="rect">
            <a:avLst/>
          </a:prstGeom>
          <a:noFill/>
          <a:ln/>
        </p:spPr>
        <p:txBody>
          <a:bodyPr wrap="square" lIns="0" tIns="0" rIns="0" bIns="0" rtlCol="0" anchor="ctr"/>
          <a:lstStyle/>
          <a:p>
            <a:pPr algn="l" indent="0" marL="0">
              <a:buNone/>
            </a:pPr>
            <a:r>
              <a:rPr lang="en-US" sz="1700" b="1" dirty="0">
                <a:solidFill>
                  <a:srgbClr val="B02532"/>
                </a:solidFill>
                <a:latin typeface="Palatino Linotype" pitchFamily="34" charset="0"/>
                <a:ea typeface="Palatino Linotype" pitchFamily="34" charset="-122"/>
                <a:cs typeface="Palatino Linotype" pitchFamily="34" charset="-120"/>
              </a:rPr>
              <a:t>Spitalul Orășenesc Zimnicea</a:t>
            </a:r>
            <a:endParaRPr lang="en-US" sz="1700" dirty="0"/>
          </a:p>
        </p:txBody>
      </p:sp>
      <p:sp>
        <p:nvSpPr>
          <p:cNvPr id="23" name="Text 21"/>
          <p:cNvSpPr/>
          <p:nvPr/>
        </p:nvSpPr>
        <p:spPr>
          <a:xfrm>
            <a:off x="6172200" y="4407408"/>
            <a:ext cx="2377440" cy="640080"/>
          </a:xfrm>
          <a:prstGeom prst="rect">
            <a:avLst/>
          </a:prstGeom>
          <a:noFill/>
          <a:ln/>
        </p:spPr>
        <p:txBody>
          <a:bodyPr wrap="square" lIns="0" tIns="0" rIns="0" bIns="0" rtlCol="0" anchor="ctr"/>
          <a:lstStyle/>
          <a:p>
            <a:pPr algn="r" indent="0" marL="0">
              <a:buNone/>
            </a:pPr>
            <a:r>
              <a:rPr lang="en-US" sz="2600" b="1" dirty="0">
                <a:solidFill>
                  <a:srgbClr val="B02532"/>
                </a:solidFill>
                <a:latin typeface="Palatino Linotype" pitchFamily="34" charset="0"/>
                <a:ea typeface="Palatino Linotype" pitchFamily="34" charset="-122"/>
                <a:cs typeface="Palatino Linotype" pitchFamily="34" charset="-120"/>
              </a:rPr>
              <a:t>46,6</a:t>
            </a:r>
            <a:endParaRPr lang="en-US" sz="2600" dirty="0"/>
          </a:p>
        </p:txBody>
      </p:sp>
      <p:sp>
        <p:nvSpPr>
          <p:cNvPr id="24" name="Text 22"/>
          <p:cNvSpPr/>
          <p:nvPr/>
        </p:nvSpPr>
        <p:spPr>
          <a:xfrm>
            <a:off x="8732520" y="4407408"/>
            <a:ext cx="2743200" cy="640080"/>
          </a:xfrm>
          <a:prstGeom prst="rect">
            <a:avLst/>
          </a:prstGeom>
          <a:noFill/>
          <a:ln/>
        </p:spPr>
        <p:txBody>
          <a:bodyPr wrap="square" lIns="0" tIns="0" rIns="0" bIns="0" rtlCol="0" anchor="ctr"/>
          <a:lstStyle/>
          <a:p>
            <a:pPr algn="r" indent="0" marL="0">
              <a:buNone/>
            </a:pPr>
            <a:r>
              <a:rPr lang="en-US" sz="2600" b="1" dirty="0">
                <a:solidFill>
                  <a:srgbClr val="B02532"/>
                </a:solidFill>
                <a:latin typeface="Palatino Linotype" pitchFamily="34" charset="0"/>
                <a:ea typeface="Palatino Linotype" pitchFamily="34" charset="-122"/>
                <a:cs typeface="Palatino Linotype" pitchFamily="34" charset="-120"/>
              </a:rPr>
              <a:t>0,93</a:t>
            </a:r>
            <a:endParaRPr lang="en-US" sz="2600" dirty="0"/>
          </a:p>
        </p:txBody>
      </p:sp>
      <p:sp>
        <p:nvSpPr>
          <p:cNvPr id="25" name="Text 23"/>
          <p:cNvSpPr/>
          <p:nvPr/>
        </p:nvSpPr>
        <p:spPr>
          <a:xfrm>
            <a:off x="594360" y="5257800"/>
            <a:ext cx="10972800" cy="100584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Zimnicea tratează cazurile cele mai simple (0,93), spitalul județean pe cele mai complicate (1,34). Un spital orășenesc tratează, de obicei, cazuri mai simple decât unul județean, deci indicele mic nu dovedește singur nimic. </a:t>
            </a:r>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Unde se tratează pacienții cu probleme mai grave din zona Zimnicea? (de verificat în surse publice)</a:t>
            </a:r>
            <a:endParaRPr lang="en-US" sz="17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CNAS, aplicația „Performanță Spitale Publice”, date pentru 2025. Paturi și cazuri de acuți; indicele compară cazurile cu un nivel de referință egal cu 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TERMENUL 1</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Gradul de ocupare a paturilor</a:t>
            </a:r>
            <a:endParaRPr lang="en-US" sz="3200" dirty="0"/>
          </a:p>
        </p:txBody>
      </p:sp>
      <p:sp>
        <p:nvSpPr>
          <p:cNvPr id="4" name="Shape 2"/>
          <p:cNvSpPr/>
          <p:nvPr/>
        </p:nvSpPr>
        <p:spPr>
          <a:xfrm>
            <a:off x="594360" y="1554480"/>
            <a:ext cx="10972800" cy="1097280"/>
          </a:xfrm>
          <a:prstGeom prst="roundRect">
            <a:avLst>
              <a:gd name="adj" fmla="val 7500"/>
            </a:avLst>
          </a:prstGeom>
          <a:solidFill>
            <a:srgbClr val="1D1F2B"/>
          </a:solidFill>
          <a:ln w="12700">
            <a:solidFill>
              <a:srgbClr val="1D1F2B"/>
            </a:solidFill>
            <a:prstDash val="solid"/>
          </a:ln>
        </p:spPr>
        <p:txBody>
          <a:bodyPr/>
          <a:p/>
        </p:txBody>
      </p:sp>
      <p:sp>
        <p:nvSpPr>
          <p:cNvPr id="5" name="Shape 3"/>
          <p:cNvSpPr/>
          <p:nvPr/>
        </p:nvSpPr>
        <p:spPr>
          <a:xfrm>
            <a:off x="868680" y="1737360"/>
            <a:ext cx="64008" cy="731520"/>
          </a:xfrm>
          <a:prstGeom prst="rect">
            <a:avLst/>
          </a:prstGeom>
          <a:solidFill>
            <a:srgbClr val="27D3BE"/>
          </a:solidFill>
          <a:ln w="12700">
            <a:solidFill>
              <a:srgbClr val="27D3BE"/>
            </a:solidFill>
            <a:prstDash val="solid"/>
          </a:ln>
        </p:spPr>
        <p:txBody>
          <a:bodyPr/>
          <a:p/>
        </p:txBody>
      </p:sp>
      <p:sp>
        <p:nvSpPr>
          <p:cNvPr id="6" name="Text 4"/>
          <p:cNvSpPr/>
          <p:nvPr/>
        </p:nvSpPr>
        <p:spPr>
          <a:xfrm>
            <a:off x="1188720" y="1554480"/>
            <a:ext cx="10149840" cy="1097280"/>
          </a:xfrm>
          <a:prstGeom prst="rect">
            <a:avLst/>
          </a:prstGeom>
          <a:noFill/>
          <a:ln/>
        </p:spPr>
        <p:txBody>
          <a:bodyPr wrap="square" lIns="0" tIns="0" rIns="0" bIns="0" rtlCol="0" anchor="ctr"/>
          <a:lstStyle/>
          <a:p>
            <a:pPr indent="0" marL="0">
              <a:buNone/>
            </a:pPr>
            <a:r>
              <a:rPr lang="en-US" sz="2100" b="1" dirty="0">
                <a:solidFill>
                  <a:srgbClr val="27D3BE"/>
                </a:solidFill>
                <a:latin typeface="Palatino Linotype" pitchFamily="34" charset="0"/>
                <a:ea typeface="Palatino Linotype" pitchFamily="34" charset="-122"/>
                <a:cs typeface="Palatino Linotype" pitchFamily="34" charset="-120"/>
              </a:rPr>
              <a:t>Definiția din ghidul CNAS: </a:t>
            </a:r>
            <a:pPr indent="0" marL="0">
              <a:buNone/>
            </a:pPr>
            <a:r>
              <a:rPr lang="en-US" sz="2100" dirty="0">
                <a:solidFill>
                  <a:srgbClr val="FFFFFF"/>
                </a:solidFill>
                <a:latin typeface="Palatino Linotype" pitchFamily="34" charset="0"/>
                <a:ea typeface="Palatino Linotype" pitchFamily="34" charset="-122"/>
                <a:cs typeface="Palatino Linotype" pitchFamily="34" charset="-120"/>
              </a:rPr>
              <a:t>procentul din paturile contractate cu casa de asigurări care sunt efectiv ocupate.</a:t>
            </a:r>
            <a:endParaRPr lang="en-US" sz="2100" dirty="0"/>
          </a:p>
        </p:txBody>
      </p:sp>
      <p:sp>
        <p:nvSpPr>
          <p:cNvPr id="7" name="Shape 5"/>
          <p:cNvSpPr/>
          <p:nvPr/>
        </p:nvSpPr>
        <p:spPr>
          <a:xfrm>
            <a:off x="594360" y="2834640"/>
            <a:ext cx="10972800" cy="1097280"/>
          </a:xfrm>
          <a:prstGeom prst="roundRect">
            <a:avLst>
              <a:gd name="adj" fmla="val 7500"/>
            </a:avLst>
          </a:prstGeom>
          <a:solidFill>
            <a:srgbClr val="1D1F2B"/>
          </a:solidFill>
          <a:ln w="12700">
            <a:solidFill>
              <a:srgbClr val="1D1F2B"/>
            </a:solidFill>
            <a:prstDash val="solid"/>
          </a:ln>
        </p:spPr>
        <p:txBody>
          <a:bodyPr/>
          <a:p/>
        </p:txBody>
      </p:sp>
      <p:sp>
        <p:nvSpPr>
          <p:cNvPr id="8" name="Shape 6"/>
          <p:cNvSpPr/>
          <p:nvPr/>
        </p:nvSpPr>
        <p:spPr>
          <a:xfrm>
            <a:off x="868680" y="3017520"/>
            <a:ext cx="64008" cy="731520"/>
          </a:xfrm>
          <a:prstGeom prst="rect">
            <a:avLst/>
          </a:prstGeom>
          <a:solidFill>
            <a:srgbClr val="FFC24B"/>
          </a:solidFill>
          <a:ln w="12700">
            <a:solidFill>
              <a:srgbClr val="FFC24B"/>
            </a:solidFill>
            <a:prstDash val="solid"/>
          </a:ln>
        </p:spPr>
        <p:txBody>
          <a:bodyPr/>
          <a:p/>
        </p:txBody>
      </p:sp>
      <p:sp>
        <p:nvSpPr>
          <p:cNvPr id="9" name="Text 7"/>
          <p:cNvSpPr/>
          <p:nvPr/>
        </p:nvSpPr>
        <p:spPr>
          <a:xfrm>
            <a:off x="1188720" y="2834640"/>
            <a:ext cx="10149840" cy="1097280"/>
          </a:xfrm>
          <a:prstGeom prst="rect">
            <a:avLst/>
          </a:prstGeom>
          <a:noFill/>
          <a:ln/>
        </p:spPr>
        <p:txBody>
          <a:bodyPr wrap="square" lIns="0" tIns="0" rIns="0" bIns="0" rtlCol="0" anchor="ctr"/>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În limbaj de zi cu zi: </a:t>
            </a:r>
            <a:pPr indent="0" marL="0">
              <a:buNone/>
            </a:pPr>
            <a:r>
              <a:rPr lang="en-US" sz="2100" i="1" dirty="0">
                <a:solidFill>
                  <a:srgbClr val="FFFFFF"/>
                </a:solidFill>
                <a:latin typeface="Palatino Linotype" pitchFamily="34" charset="0"/>
                <a:ea typeface="Palatino Linotype" pitchFamily="34" charset="-122"/>
                <a:cs typeface="Palatino Linotype" pitchFamily="34" charset="-120"/>
              </a:rPr>
              <a:t>cât de folosite au fost paturile contractate ale spitalului în cursul anului.</a:t>
            </a:r>
            <a:endParaRPr lang="en-US" sz="2100" dirty="0"/>
          </a:p>
        </p:txBody>
      </p:sp>
      <p:sp>
        <p:nvSpPr>
          <p:cNvPr id="10" name="Text 8"/>
          <p:cNvSpPr/>
          <p:nvPr/>
        </p:nvSpPr>
        <p:spPr>
          <a:xfrm>
            <a:off x="594360" y="4251960"/>
            <a:ext cx="3840480" cy="45720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Exemplu: Zimnicea, 2025</a:t>
            </a:r>
            <a:endParaRPr lang="en-US" sz="2000" dirty="0"/>
          </a:p>
        </p:txBody>
      </p:sp>
      <p:sp>
        <p:nvSpPr>
          <p:cNvPr id="11" name="Text 9"/>
          <p:cNvSpPr/>
          <p:nvPr/>
        </p:nvSpPr>
        <p:spPr>
          <a:xfrm>
            <a:off x="594360" y="4709160"/>
            <a:ext cx="3840480" cy="365760"/>
          </a:xfrm>
          <a:prstGeom prst="rect">
            <a:avLst/>
          </a:prstGeom>
          <a:noFill/>
          <a:ln/>
        </p:spPr>
        <p:txBody>
          <a:bodyPr wrap="square" lIns="0" tIns="0" rIns="0" bIns="0" rtlCol="0" anchor="t"/>
          <a:lstStyle/>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sub jumătate din paturile contractate</a:t>
            </a:r>
            <a:endParaRPr lang="en-US" sz="1400" dirty="0"/>
          </a:p>
        </p:txBody>
      </p:sp>
      <p:sp>
        <p:nvSpPr>
          <p:cNvPr id="12" name="Shape 10"/>
          <p:cNvSpPr/>
          <p:nvPr/>
        </p:nvSpPr>
        <p:spPr>
          <a:xfrm>
            <a:off x="4572000" y="4297680"/>
            <a:ext cx="6995160" cy="731520"/>
          </a:xfrm>
          <a:prstGeom prst="rect">
            <a:avLst/>
          </a:prstGeom>
          <a:solidFill>
            <a:srgbClr val="272A38"/>
          </a:solidFill>
          <a:ln w="12700">
            <a:solidFill>
              <a:srgbClr val="272A38"/>
            </a:solidFill>
            <a:prstDash val="solid"/>
          </a:ln>
        </p:spPr>
        <p:txBody>
          <a:bodyPr/>
          <a:p/>
        </p:txBody>
      </p:sp>
      <p:sp>
        <p:nvSpPr>
          <p:cNvPr id="13" name="Shape 11"/>
          <p:cNvSpPr/>
          <p:nvPr/>
        </p:nvSpPr>
        <p:spPr>
          <a:xfrm>
            <a:off x="4572000" y="4297680"/>
            <a:ext cx="3259745" cy="731520"/>
          </a:xfrm>
          <a:prstGeom prst="rect">
            <a:avLst/>
          </a:prstGeom>
          <a:solidFill>
            <a:srgbClr val="FF4757"/>
          </a:solidFill>
          <a:ln w="12700">
            <a:solidFill>
              <a:srgbClr val="FF4757"/>
            </a:solidFill>
            <a:prstDash val="solid"/>
          </a:ln>
        </p:spPr>
        <p:txBody>
          <a:bodyPr/>
          <a:p/>
        </p:txBody>
      </p:sp>
      <p:sp>
        <p:nvSpPr>
          <p:cNvPr id="14" name="Text 12"/>
          <p:cNvSpPr/>
          <p:nvPr/>
        </p:nvSpPr>
        <p:spPr>
          <a:xfrm>
            <a:off x="4800600" y="4297680"/>
            <a:ext cx="2011680" cy="731520"/>
          </a:xfrm>
          <a:prstGeom prst="rect">
            <a:avLst/>
          </a:prstGeom>
          <a:noFill/>
          <a:ln/>
        </p:spPr>
        <p:txBody>
          <a:bodyPr wrap="square" lIns="0" tIns="0" rIns="0" bIns="0" rtlCol="0" anchor="ctr"/>
          <a:lstStyle/>
          <a:p>
            <a:pPr indent="0" marL="0">
              <a:buNone/>
            </a:pPr>
            <a:r>
              <a:rPr lang="en-US" sz="2800" b="1" dirty="0">
                <a:solidFill>
                  <a:srgbClr val="2E060B"/>
                </a:solidFill>
                <a:latin typeface="Palatino Linotype" pitchFamily="34" charset="0"/>
                <a:ea typeface="Palatino Linotype" pitchFamily="34" charset="-122"/>
                <a:cs typeface="Palatino Linotype" pitchFamily="34" charset="-120"/>
              </a:rPr>
              <a:t>46,6%</a:t>
            </a:r>
            <a:endParaRPr lang="en-US" sz="2800" dirty="0"/>
          </a:p>
        </p:txBody>
      </p:sp>
      <p:sp>
        <p:nvSpPr>
          <p:cNvPr id="15" name="Shape 13"/>
          <p:cNvSpPr/>
          <p:nvPr/>
        </p:nvSpPr>
        <p:spPr>
          <a:xfrm>
            <a:off x="8055864" y="4160520"/>
            <a:ext cx="27432" cy="1005840"/>
          </a:xfrm>
          <a:prstGeom prst="rect">
            <a:avLst/>
          </a:prstGeom>
          <a:solidFill>
            <a:srgbClr val="FFFFFF"/>
          </a:solidFill>
          <a:ln w="12700">
            <a:solidFill>
              <a:srgbClr val="FFFFFF"/>
            </a:solidFill>
            <a:prstDash val="solid"/>
          </a:ln>
        </p:spPr>
        <p:txBody>
          <a:bodyPr/>
          <a:p/>
        </p:txBody>
      </p:sp>
      <p:sp>
        <p:nvSpPr>
          <p:cNvPr id="16" name="Text 14"/>
          <p:cNvSpPr/>
          <p:nvPr/>
        </p:nvSpPr>
        <p:spPr>
          <a:xfrm>
            <a:off x="8161020" y="4297680"/>
            <a:ext cx="1463040" cy="731520"/>
          </a:xfrm>
          <a:prstGeom prst="rect">
            <a:avLst/>
          </a:prstGeom>
          <a:noFill/>
          <a:ln/>
        </p:spPr>
        <p:txBody>
          <a:bodyPr wrap="square" lIns="0" tIns="0" rIns="0" bIns="0" rtlCol="0" anchor="ctr"/>
          <a:lstStyle/>
          <a:p>
            <a:pPr indent="0" marL="0">
              <a:buNone/>
            </a:pPr>
            <a:r>
              <a:rPr lang="en-US" sz="1400" i="1" dirty="0">
                <a:solidFill>
                  <a:srgbClr val="FFFFFF"/>
                </a:solidFill>
                <a:latin typeface="Palatino Linotype" pitchFamily="34" charset="0"/>
                <a:ea typeface="Palatino Linotype" pitchFamily="34" charset="-122"/>
                <a:cs typeface="Palatino Linotype" pitchFamily="34" charset="-120"/>
              </a:rPr>
              <a:t>jumătate</a:t>
            </a:r>
            <a:endParaRPr lang="en-US" sz="1400" dirty="0"/>
          </a:p>
        </p:txBody>
      </p:sp>
      <p:sp>
        <p:nvSpPr>
          <p:cNvPr id="17" name="Text 15"/>
          <p:cNvSpPr/>
          <p:nvPr/>
        </p:nvSpPr>
        <p:spPr>
          <a:xfrm>
            <a:off x="594360" y="562356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Cum se calculează exact cifra publicată: în nota seminarului, caseta „Pentru curioși” (nu intră la examen).</a:t>
            </a:r>
            <a:endParaRPr lang="en-US" sz="15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CNAS, ghidul aplicației „Performanță Spitale Publice” și datele pentru 2025.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TERMENUL 2 · TREI ÎNTREBĂRI ÎNAINTE DE ORICE PLAN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Harta analizei situaționale</a:t>
            </a:r>
            <a:endParaRPr lang="en-US" sz="3100" dirty="0"/>
          </a:p>
        </p:txBody>
      </p:sp>
      <p:sp>
        <p:nvSpPr>
          <p:cNvPr id="4" name="Shape 2"/>
          <p:cNvSpPr/>
          <p:nvPr/>
        </p:nvSpPr>
        <p:spPr>
          <a:xfrm>
            <a:off x="594360" y="1600200"/>
            <a:ext cx="3474720" cy="2240280"/>
          </a:xfrm>
          <a:prstGeom prst="roundRect">
            <a:avLst>
              <a:gd name="adj" fmla="val 3673"/>
            </a:avLst>
          </a:prstGeom>
          <a:solidFill>
            <a:srgbClr val="ECEAE4"/>
          </a:solidFill>
          <a:ln w="12700">
            <a:solidFill>
              <a:srgbClr val="ECEAE4"/>
            </a:solidFill>
            <a:prstDash val="solid"/>
          </a:ln>
        </p:spPr>
        <p:txBody>
          <a:bodyPr/>
          <a:p/>
        </p:txBody>
      </p:sp>
      <p:sp>
        <p:nvSpPr>
          <p:cNvPr id="5" name="Shape 3"/>
          <p:cNvSpPr/>
          <p:nvPr/>
        </p:nvSpPr>
        <p:spPr>
          <a:xfrm>
            <a:off x="868680" y="1810512"/>
            <a:ext cx="475488" cy="475488"/>
          </a:xfrm>
          <a:prstGeom prst="ellipse">
            <a:avLst/>
          </a:prstGeom>
          <a:solidFill>
            <a:srgbClr val="0E7C6B"/>
          </a:solidFill>
          <a:ln/>
        </p:spPr>
        <p:txBody>
          <a:bodyPr/>
          <a:p/>
        </p:txBody>
      </p:sp>
      <p:sp>
        <p:nvSpPr>
          <p:cNvPr id="6" name="Text 4"/>
          <p:cNvSpPr/>
          <p:nvPr/>
        </p:nvSpPr>
        <p:spPr>
          <a:xfrm>
            <a:off x="868680" y="181051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868680" y="2423160"/>
            <a:ext cx="2971800" cy="4572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Analiza externă</a:t>
            </a:r>
            <a:endParaRPr lang="en-US" sz="2000" dirty="0"/>
          </a:p>
        </p:txBody>
      </p:sp>
      <p:sp>
        <p:nvSpPr>
          <p:cNvPr id="8" name="Text 6"/>
          <p:cNvSpPr/>
          <p:nvPr/>
        </p:nvSpPr>
        <p:spPr>
          <a:xfrm>
            <a:off x="868680" y="2880360"/>
            <a:ext cx="301752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Ce ar trebui să facă organizația, pornind de la ce se întâmplă în jurul ei?</a:t>
            </a:r>
            <a:endParaRPr lang="en-US" sz="1550" dirty="0"/>
          </a:p>
        </p:txBody>
      </p:sp>
      <p:sp>
        <p:nvSpPr>
          <p:cNvPr id="9" name="Shape 7"/>
          <p:cNvSpPr/>
          <p:nvPr/>
        </p:nvSpPr>
        <p:spPr>
          <a:xfrm>
            <a:off x="4343400" y="1600200"/>
            <a:ext cx="3474720" cy="2240280"/>
          </a:xfrm>
          <a:prstGeom prst="roundRect">
            <a:avLst>
              <a:gd name="adj" fmla="val 3673"/>
            </a:avLst>
          </a:prstGeom>
          <a:solidFill>
            <a:srgbClr val="ECEAE4"/>
          </a:solidFill>
          <a:ln w="12700">
            <a:solidFill>
              <a:srgbClr val="ECEAE4"/>
            </a:solidFill>
            <a:prstDash val="solid"/>
          </a:ln>
        </p:spPr>
        <p:txBody>
          <a:bodyPr/>
          <a:p/>
        </p:txBody>
      </p:sp>
      <p:sp>
        <p:nvSpPr>
          <p:cNvPr id="10" name="Shape 8"/>
          <p:cNvSpPr/>
          <p:nvPr/>
        </p:nvSpPr>
        <p:spPr>
          <a:xfrm>
            <a:off x="4617720" y="1810512"/>
            <a:ext cx="475488" cy="475488"/>
          </a:xfrm>
          <a:prstGeom prst="ellipse">
            <a:avLst/>
          </a:prstGeom>
          <a:solidFill>
            <a:srgbClr val="B02532"/>
          </a:solidFill>
          <a:ln/>
        </p:spPr>
        <p:txBody>
          <a:bodyPr/>
          <a:p/>
        </p:txBody>
      </p:sp>
      <p:sp>
        <p:nvSpPr>
          <p:cNvPr id="11" name="Text 9"/>
          <p:cNvSpPr/>
          <p:nvPr/>
        </p:nvSpPr>
        <p:spPr>
          <a:xfrm>
            <a:off x="4617720" y="181051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4617720" y="2423160"/>
            <a:ext cx="297180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Analiza internă</a:t>
            </a:r>
            <a:endParaRPr lang="en-US" sz="2000" dirty="0"/>
          </a:p>
        </p:txBody>
      </p:sp>
      <p:sp>
        <p:nvSpPr>
          <p:cNvPr id="13" name="Text 11"/>
          <p:cNvSpPr/>
          <p:nvPr/>
        </p:nvSpPr>
        <p:spPr>
          <a:xfrm>
            <a:off x="4617720" y="2880360"/>
            <a:ext cx="301752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Ce poate face, cu oamenii și resursele pe care le are?</a:t>
            </a:r>
            <a:endParaRPr lang="en-US" sz="1550" dirty="0"/>
          </a:p>
        </p:txBody>
      </p:sp>
      <p:sp>
        <p:nvSpPr>
          <p:cNvPr id="14" name="Shape 12"/>
          <p:cNvSpPr/>
          <p:nvPr/>
        </p:nvSpPr>
        <p:spPr>
          <a:xfrm>
            <a:off x="8092440" y="1600200"/>
            <a:ext cx="3474720" cy="2240280"/>
          </a:xfrm>
          <a:prstGeom prst="roundRect">
            <a:avLst>
              <a:gd name="adj" fmla="val 3673"/>
            </a:avLst>
          </a:prstGeom>
          <a:solidFill>
            <a:srgbClr val="ECEAE4"/>
          </a:solidFill>
          <a:ln w="12700">
            <a:solidFill>
              <a:srgbClr val="ECEAE4"/>
            </a:solidFill>
            <a:prstDash val="solid"/>
          </a:ln>
        </p:spPr>
        <p:txBody>
          <a:bodyPr/>
          <a:p/>
        </p:txBody>
      </p:sp>
      <p:sp>
        <p:nvSpPr>
          <p:cNvPr id="15" name="Shape 13"/>
          <p:cNvSpPr/>
          <p:nvPr/>
        </p:nvSpPr>
        <p:spPr>
          <a:xfrm>
            <a:off x="8366760" y="1810512"/>
            <a:ext cx="475488" cy="475488"/>
          </a:xfrm>
          <a:prstGeom prst="ellipse">
            <a:avLst/>
          </a:prstGeom>
          <a:solidFill>
            <a:srgbClr val="4A2D8C"/>
          </a:solidFill>
          <a:ln/>
        </p:spPr>
        <p:txBody>
          <a:bodyPr/>
          <a:p/>
        </p:txBody>
      </p:sp>
      <p:sp>
        <p:nvSpPr>
          <p:cNvPr id="16" name="Text 14"/>
          <p:cNvSpPr/>
          <p:nvPr/>
        </p:nvSpPr>
        <p:spPr>
          <a:xfrm>
            <a:off x="8366760" y="181051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8366760" y="2423160"/>
            <a:ext cx="2971800" cy="457200"/>
          </a:xfrm>
          <a:prstGeom prst="rect">
            <a:avLst/>
          </a:prstGeom>
          <a:noFill/>
          <a:ln/>
        </p:spPr>
        <p:txBody>
          <a:bodyPr wrap="square" lIns="0" tIns="0" rIns="0" bIns="0" rtlCol="0" anchor="t"/>
          <a:lstStyle/>
          <a:p>
            <a:pPr indent="0" marL="0">
              <a:buNone/>
            </a:pPr>
            <a:r>
              <a:rPr lang="en-US" sz="2000" b="1" dirty="0">
                <a:solidFill>
                  <a:srgbClr val="4A2D8C"/>
                </a:solidFill>
                <a:latin typeface="Palatino Linotype" pitchFamily="34" charset="0"/>
                <a:ea typeface="Palatino Linotype" pitchFamily="34" charset="-122"/>
                <a:cs typeface="Palatino Linotype" pitchFamily="34" charset="-120"/>
              </a:rPr>
              <a:t>Direcția strategică</a:t>
            </a:r>
            <a:endParaRPr lang="en-US" sz="2000" dirty="0"/>
          </a:p>
        </p:txBody>
      </p:sp>
      <p:sp>
        <p:nvSpPr>
          <p:cNvPr id="18" name="Text 16"/>
          <p:cNvSpPr/>
          <p:nvPr/>
        </p:nvSpPr>
        <p:spPr>
          <a:xfrm>
            <a:off x="8366760" y="2880360"/>
            <a:ext cx="301752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Ce vrea să facă, potrivit misiunii, viziunii și valorilor ei?</a:t>
            </a:r>
            <a:endParaRPr lang="en-US" sz="1550" dirty="0"/>
          </a:p>
        </p:txBody>
      </p:sp>
      <p:sp>
        <p:nvSpPr>
          <p:cNvPr id="19" name="Text 17"/>
          <p:cNvSpPr/>
          <p:nvPr/>
        </p:nvSpPr>
        <p:spPr>
          <a:xfrm>
            <a:off x="1965960" y="4041648"/>
            <a:ext cx="365760" cy="502920"/>
          </a:xfrm>
          <a:prstGeom prst="rect">
            <a:avLst/>
          </a:prstGeom>
          <a:noFill/>
          <a:ln/>
        </p:spPr>
        <p:txBody>
          <a:bodyPr wrap="square" lIns="0" tIns="0" rIns="0" bIns="0" rtlCol="0" anchor="ctr"/>
          <a:lstStyle/>
          <a:p>
            <a:pPr indent="0" marL="0">
              <a:buNone/>
            </a:pPr>
            <a:r>
              <a:rPr lang="en-US" sz="2400" b="1" dirty="0">
                <a:solidFill>
                  <a:srgbClr val="585A64"/>
                </a:solidFill>
                <a:latin typeface="Palatino Linotype" pitchFamily="34" charset="0"/>
                <a:ea typeface="Palatino Linotype" pitchFamily="34" charset="-122"/>
                <a:cs typeface="Palatino Linotype" pitchFamily="34" charset="-120"/>
              </a:rPr>
              <a:t>→</a:t>
            </a:r>
            <a:endParaRPr lang="en-US" sz="2400" dirty="0"/>
          </a:p>
        </p:txBody>
      </p:sp>
      <p:sp>
        <p:nvSpPr>
          <p:cNvPr id="20" name="Shape 18"/>
          <p:cNvSpPr/>
          <p:nvPr/>
        </p:nvSpPr>
        <p:spPr>
          <a:xfrm>
            <a:off x="2377440" y="4114800"/>
            <a:ext cx="5120640" cy="329184"/>
          </a:xfrm>
          <a:prstGeom prst="roundRect">
            <a:avLst>
              <a:gd name="adj" fmla="val 50000"/>
            </a:avLst>
          </a:prstGeom>
          <a:solidFill>
            <a:srgbClr val="11121A"/>
          </a:solidFill>
          <a:ln w="12700">
            <a:solidFill>
              <a:srgbClr val="11121A"/>
            </a:solidFill>
            <a:prstDash val="solid"/>
          </a:ln>
        </p:spPr>
        <p:txBody>
          <a:bodyPr/>
          <a:p/>
        </p:txBody>
      </p:sp>
      <p:sp>
        <p:nvSpPr>
          <p:cNvPr id="21" name="Text 19"/>
          <p:cNvSpPr/>
          <p:nvPr/>
        </p:nvSpPr>
        <p:spPr>
          <a:xfrm>
            <a:off x="2377440" y="4114800"/>
            <a:ext cx="51206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alegerea strategiei, dintre mai multe alternative</a:t>
            </a:r>
            <a:endParaRPr lang="en-US" sz="1400" dirty="0"/>
          </a:p>
        </p:txBody>
      </p:sp>
      <p:sp>
        <p:nvSpPr>
          <p:cNvPr id="22" name="Text 20"/>
          <p:cNvSpPr/>
          <p:nvPr/>
        </p:nvSpPr>
        <p:spPr>
          <a:xfrm>
            <a:off x="7680960" y="4041648"/>
            <a:ext cx="365760" cy="502920"/>
          </a:xfrm>
          <a:prstGeom prst="rect">
            <a:avLst/>
          </a:prstGeom>
          <a:noFill/>
          <a:ln/>
        </p:spPr>
        <p:txBody>
          <a:bodyPr wrap="square" lIns="0" tIns="0" rIns="0" bIns="0" rtlCol="0" anchor="ctr"/>
          <a:lstStyle/>
          <a:p>
            <a:pPr indent="0" marL="0">
              <a:buNone/>
            </a:pPr>
            <a:r>
              <a:rPr lang="en-US" sz="2400" b="1" dirty="0">
                <a:solidFill>
                  <a:srgbClr val="585A64"/>
                </a:solidFill>
                <a:latin typeface="Palatino Linotype" pitchFamily="34" charset="0"/>
                <a:ea typeface="Palatino Linotype" pitchFamily="34" charset="-122"/>
                <a:cs typeface="Palatino Linotype" pitchFamily="34" charset="-120"/>
              </a:rPr>
              <a:t>→</a:t>
            </a:r>
            <a:endParaRPr lang="en-US" sz="2400" dirty="0"/>
          </a:p>
        </p:txBody>
      </p:sp>
      <p:sp>
        <p:nvSpPr>
          <p:cNvPr id="23" name="Shape 21"/>
          <p:cNvSpPr/>
          <p:nvPr/>
        </p:nvSpPr>
        <p:spPr>
          <a:xfrm>
            <a:off x="8092440" y="4114800"/>
            <a:ext cx="3474720" cy="329184"/>
          </a:xfrm>
          <a:prstGeom prst="roundRect">
            <a:avLst>
              <a:gd name="adj" fmla="val 50000"/>
            </a:avLst>
          </a:prstGeom>
          <a:solidFill>
            <a:srgbClr val="11121A"/>
          </a:solidFill>
          <a:ln w="12700">
            <a:solidFill>
              <a:srgbClr val="11121A"/>
            </a:solidFill>
            <a:prstDash val="solid"/>
          </a:ln>
        </p:spPr>
        <p:txBody>
          <a:bodyPr/>
          <a:p/>
        </p:txBody>
      </p:sp>
      <p:sp>
        <p:nvSpPr>
          <p:cNvPr id="24" name="Text 22"/>
          <p:cNvSpPr/>
          <p:nvPr/>
        </p:nvSpPr>
        <p:spPr>
          <a:xfrm>
            <a:off x="8092440" y="4114800"/>
            <a:ext cx="347472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planul de implementare</a:t>
            </a:r>
            <a:endParaRPr lang="en-US" sz="1400" dirty="0"/>
          </a:p>
        </p:txBody>
      </p:sp>
      <p:sp>
        <p:nvSpPr>
          <p:cNvPr id="25" name="Text 23"/>
          <p:cNvSpPr/>
          <p:nvPr/>
        </p:nvSpPr>
        <p:spPr>
          <a:xfrm>
            <a:off x="594360" y="4041648"/>
            <a:ext cx="1371600" cy="502920"/>
          </a:xfrm>
          <a:prstGeom prst="rect">
            <a:avLst/>
          </a:prstGeom>
          <a:noFill/>
          <a:ln/>
        </p:spPr>
        <p:txBody>
          <a:bodyPr wrap="square" lIns="0" tIns="0" rIns="0" bIns="0" rtlCol="0" anchor="ctr"/>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abia apoi</a:t>
            </a:r>
            <a:endParaRPr lang="en-US" sz="1600" dirty="0"/>
          </a:p>
        </p:txBody>
      </p:sp>
      <p:sp>
        <p:nvSpPr>
          <p:cNvPr id="26" name="Shape 24"/>
          <p:cNvSpPr/>
          <p:nvPr/>
        </p:nvSpPr>
        <p:spPr>
          <a:xfrm>
            <a:off x="594360" y="4846320"/>
            <a:ext cx="10972800" cy="1143000"/>
          </a:xfrm>
          <a:prstGeom prst="roundRect">
            <a:avLst>
              <a:gd name="adj" fmla="val 7200"/>
            </a:avLst>
          </a:prstGeom>
          <a:solidFill>
            <a:srgbClr val="11121A"/>
          </a:solidFill>
          <a:ln w="12700">
            <a:solidFill>
              <a:srgbClr val="11121A"/>
            </a:solidFill>
            <a:prstDash val="solid"/>
          </a:ln>
        </p:spPr>
        <p:txBody>
          <a:bodyPr/>
          <a:p/>
        </p:txBody>
      </p:sp>
      <p:sp>
        <p:nvSpPr>
          <p:cNvPr id="27" name="Text 25"/>
          <p:cNvSpPr/>
          <p:nvPr/>
        </p:nvSpPr>
        <p:spPr>
          <a:xfrm>
            <a:off x="868680" y="4846320"/>
            <a:ext cx="10424160" cy="1143000"/>
          </a:xfrm>
          <a:prstGeom prst="rect">
            <a:avLst/>
          </a:prstGeom>
          <a:noFill/>
          <a:ln/>
        </p:spPr>
        <p:txBody>
          <a:bodyPr wrap="square" lIns="0" tIns="0" rIns="0" bIns="0" rtlCol="0" anchor="ctr"/>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Analiza situațională, </a:t>
            </a:r>
            <a:pPr indent="0" marL="0">
              <a:buNone/>
            </a:pPr>
            <a:r>
              <a:rPr lang="en-US" sz="2000" dirty="0">
                <a:solidFill>
                  <a:srgbClr val="FFFFFF"/>
                </a:solidFill>
                <a:latin typeface="Palatino Linotype" pitchFamily="34" charset="0"/>
                <a:ea typeface="Palatino Linotype" pitchFamily="34" charset="-122"/>
                <a:cs typeface="Palatino Linotype" pitchFamily="34" charset="-120"/>
              </a:rPr>
              <a:t>în limbaj de zi cu zi: ce ar trebui să facem, ce putem face și ce vrem să facem.</a:t>
            </a:r>
            <a:endParaRPr lang="en-US" sz="2000" dirty="0"/>
          </a:p>
        </p:txBody>
      </p:sp>
      <p:sp>
        <p:nvSpPr>
          <p:cNvPr id="28" name="Text 26"/>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Ginter PM, Duncan WJ, Swayne LE. The Strategic Management of Health Care Organizations, 2018, cap. 1, p. 18–19.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VOT PE TELEFON · PATRU RUNDE</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SPITAL ORĂȘENESC IMAGINAR</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Unde puneți fiecare informație?</a:t>
            </a:r>
            <a:endParaRPr lang="en-US" sz="3100" dirty="0"/>
          </a:p>
        </p:txBody>
      </p:sp>
      <p:sp>
        <p:nvSpPr>
          <p:cNvPr id="6" name="Shape 4"/>
          <p:cNvSpPr/>
          <p:nvPr/>
        </p:nvSpPr>
        <p:spPr>
          <a:xfrm>
            <a:off x="594360" y="1481328"/>
            <a:ext cx="7086600" cy="329184"/>
          </a:xfrm>
          <a:prstGeom prst="roundRect">
            <a:avLst>
              <a:gd name="adj" fmla="val 50000"/>
            </a:avLst>
          </a:prstGeom>
          <a:solidFill>
            <a:srgbClr val="FFC24B"/>
          </a:solidFill>
          <a:ln w="12700">
            <a:solidFill>
              <a:srgbClr val="FFC24B"/>
            </a:solidFill>
            <a:prstDash val="solid"/>
          </a:ln>
        </p:spPr>
        <p:txBody>
          <a:bodyPr/>
          <a:p/>
        </p:txBody>
      </p:sp>
      <p:sp>
        <p:nvSpPr>
          <p:cNvPr id="7" name="Text 5"/>
          <p:cNvSpPr/>
          <p:nvPr/>
        </p:nvSpPr>
        <p:spPr>
          <a:xfrm>
            <a:off x="594360" y="1481328"/>
            <a:ext cx="7086600" cy="329184"/>
          </a:xfrm>
          <a:prstGeom prst="rect">
            <a:avLst/>
          </a:prstGeom>
          <a:noFill/>
          <a:ln/>
        </p:spPr>
        <p:txBody>
          <a:bodyPr wrap="square" lIns="0" tIns="0" rIns="0" bIns="0" rtlCol="0" anchor="ctr"/>
          <a:lstStyle/>
          <a:p>
            <a:pPr algn="ctr" indent="0" marL="0">
              <a:buNone/>
            </a:pPr>
            <a:r>
              <a:rPr lang="en-US" sz="1200" b="1" dirty="0">
                <a:solidFill>
                  <a:srgbClr val="3D2A00"/>
                </a:solidFill>
                <a:latin typeface="Palatino Linotype" pitchFamily="34" charset="0"/>
                <a:ea typeface="Palatino Linotype" pitchFamily="34" charset="-122"/>
                <a:cs typeface="Palatino Linotype" pitchFamily="34" charset="-120"/>
              </a:rPr>
              <a:t>SPITAL INVENTAT PENTRU EXERCIȚIU · NU ESTE ZIMNICEA ȘI NICI ALT SPITAL REAL</a:t>
            </a:r>
            <a:endParaRPr lang="en-US" sz="1200" dirty="0"/>
          </a:p>
        </p:txBody>
      </p:sp>
      <p:sp>
        <p:nvSpPr>
          <p:cNvPr id="8" name="Shape 6"/>
          <p:cNvSpPr/>
          <p:nvPr/>
        </p:nvSpPr>
        <p:spPr>
          <a:xfrm>
            <a:off x="594360" y="2057400"/>
            <a:ext cx="7086600" cy="749808"/>
          </a:xfrm>
          <a:prstGeom prst="roundRect">
            <a:avLst>
              <a:gd name="adj" fmla="val 10976"/>
            </a:avLst>
          </a:prstGeom>
          <a:solidFill>
            <a:srgbClr val="1D1F2B"/>
          </a:solidFill>
          <a:ln w="12700">
            <a:solidFill>
              <a:srgbClr val="1D1F2B"/>
            </a:solidFill>
            <a:prstDash val="solid"/>
          </a:ln>
        </p:spPr>
        <p:txBody>
          <a:bodyPr/>
          <a:p/>
        </p:txBody>
      </p:sp>
      <p:sp>
        <p:nvSpPr>
          <p:cNvPr id="9" name="Shape 7"/>
          <p:cNvSpPr/>
          <p:nvPr/>
        </p:nvSpPr>
        <p:spPr>
          <a:xfrm>
            <a:off x="868680" y="2221992"/>
            <a:ext cx="420624" cy="420624"/>
          </a:xfrm>
          <a:prstGeom prst="ellipse">
            <a:avLst/>
          </a:prstGeom>
          <a:solidFill>
            <a:srgbClr val="FFC24B"/>
          </a:solidFill>
          <a:ln/>
        </p:spPr>
        <p:txBody>
          <a:bodyPr/>
          <a:p/>
        </p:txBody>
      </p:sp>
      <p:sp>
        <p:nvSpPr>
          <p:cNvPr id="10" name="Text 8"/>
          <p:cNvSpPr/>
          <p:nvPr/>
        </p:nvSpPr>
        <p:spPr>
          <a:xfrm>
            <a:off x="868680" y="22219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1508760" y="2057400"/>
            <a:ext cx="594360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Populația orașului a scăzut în ultimii ani.</a:t>
            </a:r>
            <a:endParaRPr lang="en-US" sz="1700" dirty="0"/>
          </a:p>
        </p:txBody>
      </p:sp>
      <p:sp>
        <p:nvSpPr>
          <p:cNvPr id="12" name="Shape 10"/>
          <p:cNvSpPr/>
          <p:nvPr/>
        </p:nvSpPr>
        <p:spPr>
          <a:xfrm>
            <a:off x="594360" y="2926080"/>
            <a:ext cx="7086600" cy="749808"/>
          </a:xfrm>
          <a:prstGeom prst="roundRect">
            <a:avLst>
              <a:gd name="adj" fmla="val 10976"/>
            </a:avLst>
          </a:prstGeom>
          <a:solidFill>
            <a:srgbClr val="1D1F2B"/>
          </a:solidFill>
          <a:ln w="12700">
            <a:solidFill>
              <a:srgbClr val="1D1F2B"/>
            </a:solidFill>
            <a:prstDash val="solid"/>
          </a:ln>
        </p:spPr>
        <p:txBody>
          <a:bodyPr/>
          <a:p/>
        </p:txBody>
      </p:sp>
      <p:sp>
        <p:nvSpPr>
          <p:cNvPr id="13" name="Shape 11"/>
          <p:cNvSpPr/>
          <p:nvPr/>
        </p:nvSpPr>
        <p:spPr>
          <a:xfrm>
            <a:off x="868680" y="3090672"/>
            <a:ext cx="420624" cy="420624"/>
          </a:xfrm>
          <a:prstGeom prst="ellipse">
            <a:avLst/>
          </a:prstGeom>
          <a:solidFill>
            <a:srgbClr val="FFC24B"/>
          </a:solidFill>
          <a:ln/>
        </p:spPr>
        <p:txBody>
          <a:bodyPr/>
          <a:p/>
        </p:txBody>
      </p:sp>
      <p:sp>
        <p:nvSpPr>
          <p:cNvPr id="14" name="Text 12"/>
          <p:cNvSpPr/>
          <p:nvPr/>
        </p:nvSpPr>
        <p:spPr>
          <a:xfrm>
            <a:off x="868680" y="30906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5" name="Text 13"/>
          <p:cNvSpPr/>
          <p:nvPr/>
        </p:nvSpPr>
        <p:spPr>
          <a:xfrm>
            <a:off x="1508760" y="2926080"/>
            <a:ext cx="594360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Spitalul nu are medic anestezist cu normă întreagă.</a:t>
            </a:r>
            <a:endParaRPr lang="en-US" sz="1700" dirty="0"/>
          </a:p>
        </p:txBody>
      </p:sp>
      <p:sp>
        <p:nvSpPr>
          <p:cNvPr id="16" name="Shape 14"/>
          <p:cNvSpPr/>
          <p:nvPr/>
        </p:nvSpPr>
        <p:spPr>
          <a:xfrm>
            <a:off x="594360" y="3794760"/>
            <a:ext cx="7086600" cy="749808"/>
          </a:xfrm>
          <a:prstGeom prst="roundRect">
            <a:avLst>
              <a:gd name="adj" fmla="val 10976"/>
            </a:avLst>
          </a:prstGeom>
          <a:solidFill>
            <a:srgbClr val="1D1F2B"/>
          </a:solidFill>
          <a:ln w="12700">
            <a:solidFill>
              <a:srgbClr val="1D1F2B"/>
            </a:solidFill>
            <a:prstDash val="solid"/>
          </a:ln>
        </p:spPr>
        <p:txBody>
          <a:bodyPr/>
          <a:p/>
        </p:txBody>
      </p:sp>
      <p:sp>
        <p:nvSpPr>
          <p:cNvPr id="17" name="Shape 15"/>
          <p:cNvSpPr/>
          <p:nvPr/>
        </p:nvSpPr>
        <p:spPr>
          <a:xfrm>
            <a:off x="868680" y="3959352"/>
            <a:ext cx="420624" cy="420624"/>
          </a:xfrm>
          <a:prstGeom prst="ellipse">
            <a:avLst/>
          </a:prstGeom>
          <a:solidFill>
            <a:srgbClr val="FFC24B"/>
          </a:solidFill>
          <a:ln/>
        </p:spPr>
        <p:txBody>
          <a:bodyPr/>
          <a:p/>
        </p:txBody>
      </p:sp>
      <p:sp>
        <p:nvSpPr>
          <p:cNvPr id="18" name="Text 16"/>
          <p:cNvSpPr/>
          <p:nvPr/>
        </p:nvSpPr>
        <p:spPr>
          <a:xfrm>
            <a:off x="868680" y="3959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9" name="Text 17"/>
          <p:cNvSpPr/>
          <p:nvPr/>
        </p:nvSpPr>
        <p:spPr>
          <a:xfrm>
            <a:off x="1508760" y="3794760"/>
            <a:ext cx="594360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Consiliul local vrea ca spitalul să rămână deschis pentru urgențe.</a:t>
            </a:r>
            <a:endParaRPr lang="en-US" sz="1700" dirty="0"/>
          </a:p>
        </p:txBody>
      </p:sp>
      <p:sp>
        <p:nvSpPr>
          <p:cNvPr id="20" name="Shape 18"/>
          <p:cNvSpPr/>
          <p:nvPr/>
        </p:nvSpPr>
        <p:spPr>
          <a:xfrm>
            <a:off x="594360" y="4663440"/>
            <a:ext cx="7086600" cy="749808"/>
          </a:xfrm>
          <a:prstGeom prst="roundRect">
            <a:avLst>
              <a:gd name="adj" fmla="val 10976"/>
            </a:avLst>
          </a:prstGeom>
          <a:solidFill>
            <a:srgbClr val="1D1F2B"/>
          </a:solidFill>
          <a:ln w="12700">
            <a:solidFill>
              <a:srgbClr val="1D1F2B"/>
            </a:solidFill>
            <a:prstDash val="solid"/>
          </a:ln>
        </p:spPr>
        <p:txBody>
          <a:bodyPr/>
          <a:p/>
        </p:txBody>
      </p:sp>
      <p:sp>
        <p:nvSpPr>
          <p:cNvPr id="21" name="Shape 19"/>
          <p:cNvSpPr/>
          <p:nvPr/>
        </p:nvSpPr>
        <p:spPr>
          <a:xfrm>
            <a:off x="868680" y="4828032"/>
            <a:ext cx="420624" cy="420624"/>
          </a:xfrm>
          <a:prstGeom prst="ellipse">
            <a:avLst/>
          </a:prstGeom>
          <a:solidFill>
            <a:srgbClr val="FFC24B"/>
          </a:solidFill>
          <a:ln/>
        </p:spPr>
        <p:txBody>
          <a:bodyPr/>
          <a:p/>
        </p:txBody>
      </p:sp>
      <p:sp>
        <p:nvSpPr>
          <p:cNvPr id="22" name="Text 20"/>
          <p:cNvSpPr/>
          <p:nvPr/>
        </p:nvSpPr>
        <p:spPr>
          <a:xfrm>
            <a:off x="868680" y="48280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3" name="Text 21"/>
          <p:cNvSpPr/>
          <p:nvPr/>
        </p:nvSpPr>
        <p:spPr>
          <a:xfrm>
            <a:off x="1508760" y="4663440"/>
            <a:ext cx="594360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Spitalul județean este la mai puțin de o oră de drum.</a:t>
            </a:r>
            <a:endParaRPr lang="en-US" sz="1700" dirty="0"/>
          </a:p>
        </p:txBody>
      </p:sp>
      <p:sp>
        <p:nvSpPr>
          <p:cNvPr id="24" name="Shape 22"/>
          <p:cNvSpPr/>
          <p:nvPr/>
        </p:nvSpPr>
        <p:spPr>
          <a:xfrm>
            <a:off x="8092440" y="1481328"/>
            <a:ext cx="3474720" cy="2743200"/>
          </a:xfrm>
          <a:prstGeom prst="roundRect">
            <a:avLst>
              <a:gd name="adj" fmla="val 3333"/>
            </a:avLst>
          </a:prstGeom>
          <a:solidFill>
            <a:srgbClr val="FFFFFF"/>
          </a:solidFill>
          <a:ln w="19050">
            <a:solidFill>
              <a:srgbClr val="8E94A8"/>
            </a:solidFill>
            <a:prstDash val="dash"/>
          </a:ln>
        </p:spPr>
        <p:txBody>
          <a:bodyPr/>
          <a:p/>
        </p:txBody>
      </p:sp>
      <p:sp>
        <p:nvSpPr>
          <p:cNvPr id="26" name="Text 24"/>
          <p:cNvSpPr/>
          <p:nvPr/>
        </p:nvSpPr>
        <p:spPr>
          <a:xfrm>
            <a:off x="8092440" y="4389120"/>
            <a:ext cx="3474720" cy="10972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Trei variante, la fiecare informație:</a:t>
            </a:r>
            <a:endParaRPr lang="en-US" sz="1500" dirty="0"/>
          </a:p>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analiza externă · analiza internă · direcția strategică</a:t>
            </a:r>
            <a:endParaRPr lang="en-US" sz="1500" dirty="0"/>
          </a:p>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Votul nu cere cont.</a:t>
            </a:r>
            <a:endParaRPr lang="en-US" sz="1500" dirty="0"/>
          </a:p>
        </p:txBody>
      </p:sp>
      <p:sp>
        <p:nvSpPr>
          <p:cNvPr id="27" name="Text 25"/>
          <p:cNvSpPr/>
          <p:nvPr/>
        </p:nvSpPr>
        <p:spPr>
          <a:xfrm>
            <a:off x="594360" y="5669280"/>
            <a:ext cx="10972800" cy="4572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Informațiile sunt inventate. Niciuna nu privește Spitalul Orășenesc Zimnicea.</a:t>
            </a:r>
            <a:endParaRPr lang="en-US" sz="1700" dirty="0"/>
          </a:p>
        </p:txBody>
      </p:sp>
      <p:pic>
        <p:nvPicPr>
          <p:cNvPr id="28" name="Picture 27" descr="Mentimeter_UB_MSSS_LP01.png"/>
          <p:cNvPicPr>
            <a:picLocks noChangeAspect="1"/>
          </p:cNvPicPr>
          <p:nvPr/>
        </p:nvPicPr>
        <p:blipFill>
          <a:blip r:embed="rId3"/>
          <a:stretch>
            <a:fillRect/>
          </a:stretch>
        </p:blipFill>
        <p:spPr>
          <a:xfrm>
            <a:off x="8771890" y="1481328"/>
            <a:ext cx="2115820" cy="2115820"/>
          </a:xfrm>
          <a:prstGeom prst="rect">
            <a:avLst/>
          </a:prstGeom>
        </p:spPr>
      </p:pic>
      <p:sp>
        <p:nvSpPr>
          <p:cNvPr id="29" name="TextBox 28"/>
          <p:cNvSpPr txBox="1"/>
          <p:nvPr/>
        </p:nvSpPr>
        <p:spPr>
          <a:xfrm>
            <a:off x="8771890" y="3635248"/>
            <a:ext cx="21158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ANALIZEI, COMPLETATĂ · SPITAL INVENTAT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Patru informații, trei locuri pe hartă</a:t>
            </a:r>
            <a:endParaRPr lang="en-US" sz="3100" dirty="0"/>
          </a:p>
        </p:txBody>
      </p:sp>
      <p:sp>
        <p:nvSpPr>
          <p:cNvPr id="4" name="Shape 2"/>
          <p:cNvSpPr/>
          <p:nvPr/>
        </p:nvSpPr>
        <p:spPr>
          <a:xfrm>
            <a:off x="594360" y="1600200"/>
            <a:ext cx="3474720" cy="3749040"/>
          </a:xfrm>
          <a:prstGeom prst="roundRect">
            <a:avLst>
              <a:gd name="adj" fmla="val 2368"/>
            </a:avLst>
          </a:prstGeom>
          <a:solidFill>
            <a:srgbClr val="ECEAE4"/>
          </a:solidFill>
          <a:ln w="12700">
            <a:solidFill>
              <a:srgbClr val="ECEAE4"/>
            </a:solidFill>
            <a:prstDash val="solid"/>
          </a:ln>
        </p:spPr>
        <p:txBody>
          <a:bodyPr/>
          <a:p/>
        </p:txBody>
      </p:sp>
      <p:sp>
        <p:nvSpPr>
          <p:cNvPr id="5" name="Shape 3"/>
          <p:cNvSpPr/>
          <p:nvPr/>
        </p:nvSpPr>
        <p:spPr>
          <a:xfrm>
            <a:off x="594360" y="1600200"/>
            <a:ext cx="3474720" cy="91440"/>
          </a:xfrm>
          <a:prstGeom prst="rect">
            <a:avLst/>
          </a:prstGeom>
          <a:solidFill>
            <a:srgbClr val="0E7C6B"/>
          </a:solidFill>
          <a:ln w="12700">
            <a:solidFill>
              <a:srgbClr val="0E7C6B"/>
            </a:solidFill>
            <a:prstDash val="solid"/>
          </a:ln>
        </p:spPr>
        <p:txBody>
          <a:bodyPr/>
          <a:p/>
        </p:txBody>
      </p:sp>
      <p:sp>
        <p:nvSpPr>
          <p:cNvPr id="6" name="Text 4"/>
          <p:cNvSpPr/>
          <p:nvPr/>
        </p:nvSpPr>
        <p:spPr>
          <a:xfrm>
            <a:off x="868680" y="1828800"/>
            <a:ext cx="2971800" cy="45720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Analiza externă</a:t>
            </a:r>
            <a:endParaRPr lang="en-US" sz="2100" dirty="0"/>
          </a:p>
        </p:txBody>
      </p:sp>
      <p:sp>
        <p:nvSpPr>
          <p:cNvPr id="7" name="Text 5"/>
          <p:cNvSpPr/>
          <p:nvPr/>
        </p:nvSpPr>
        <p:spPr>
          <a:xfrm>
            <a:off x="868680" y="2286000"/>
            <a:ext cx="3017520" cy="731520"/>
          </a:xfrm>
          <a:prstGeom prst="rect">
            <a:avLst/>
          </a:prstGeom>
          <a:noFill/>
          <a:ln/>
        </p:spPr>
        <p:txBody>
          <a:bodyPr wrap="square" lIns="0" tIns="0" rIns="0" bIns="0" rtlCol="0" anchor="t"/>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ce se întâmplă în jurul spitalului și nu depinde de el</a:t>
            </a:r>
            <a:endParaRPr lang="en-US" sz="1450" dirty="0"/>
          </a:p>
        </p:txBody>
      </p:sp>
      <p:sp>
        <p:nvSpPr>
          <p:cNvPr id="8" name="Shape 6"/>
          <p:cNvSpPr/>
          <p:nvPr/>
        </p:nvSpPr>
        <p:spPr>
          <a:xfrm>
            <a:off x="777240" y="3154680"/>
            <a:ext cx="3108960" cy="914400"/>
          </a:xfrm>
          <a:prstGeom prst="roundRect">
            <a:avLst>
              <a:gd name="adj" fmla="val 9000"/>
            </a:avLst>
          </a:prstGeom>
          <a:solidFill>
            <a:srgbClr val="FFFFFF"/>
          </a:solidFill>
          <a:ln w="12700">
            <a:solidFill>
              <a:srgbClr val="FFFFFF"/>
            </a:solidFill>
            <a:prstDash val="solid"/>
          </a:ln>
        </p:spPr>
        <p:txBody>
          <a:bodyPr/>
          <a:p/>
        </p:txBody>
      </p:sp>
      <p:sp>
        <p:nvSpPr>
          <p:cNvPr id="9" name="Shape 7"/>
          <p:cNvSpPr/>
          <p:nvPr/>
        </p:nvSpPr>
        <p:spPr>
          <a:xfrm>
            <a:off x="914400" y="3401568"/>
            <a:ext cx="420624" cy="420624"/>
          </a:xfrm>
          <a:prstGeom prst="ellipse">
            <a:avLst/>
          </a:prstGeom>
          <a:solidFill>
            <a:srgbClr val="0E7C6B"/>
          </a:solidFill>
          <a:ln/>
        </p:spPr>
        <p:txBody>
          <a:bodyPr/>
          <a:p/>
        </p:txBody>
      </p:sp>
      <p:sp>
        <p:nvSpPr>
          <p:cNvPr id="10" name="Text 8"/>
          <p:cNvSpPr/>
          <p:nvPr/>
        </p:nvSpPr>
        <p:spPr>
          <a:xfrm>
            <a:off x="914400" y="3401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1463040" y="3154680"/>
            <a:ext cx="2331720" cy="914400"/>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Populația orașului a scăzut.</a:t>
            </a:r>
            <a:endParaRPr lang="en-US" sz="1450" dirty="0"/>
          </a:p>
        </p:txBody>
      </p:sp>
      <p:sp>
        <p:nvSpPr>
          <p:cNvPr id="12" name="Shape 10"/>
          <p:cNvSpPr/>
          <p:nvPr/>
        </p:nvSpPr>
        <p:spPr>
          <a:xfrm>
            <a:off x="777240" y="4206240"/>
            <a:ext cx="3108960" cy="914400"/>
          </a:xfrm>
          <a:prstGeom prst="roundRect">
            <a:avLst>
              <a:gd name="adj" fmla="val 9000"/>
            </a:avLst>
          </a:prstGeom>
          <a:solidFill>
            <a:srgbClr val="FFFFFF"/>
          </a:solidFill>
          <a:ln w="12700">
            <a:solidFill>
              <a:srgbClr val="FFFFFF"/>
            </a:solidFill>
            <a:prstDash val="solid"/>
          </a:ln>
        </p:spPr>
        <p:txBody>
          <a:bodyPr/>
          <a:p/>
        </p:txBody>
      </p:sp>
      <p:sp>
        <p:nvSpPr>
          <p:cNvPr id="13" name="Shape 11"/>
          <p:cNvSpPr/>
          <p:nvPr/>
        </p:nvSpPr>
        <p:spPr>
          <a:xfrm>
            <a:off x="914400" y="4453128"/>
            <a:ext cx="420624" cy="420624"/>
          </a:xfrm>
          <a:prstGeom prst="ellipse">
            <a:avLst/>
          </a:prstGeom>
          <a:solidFill>
            <a:srgbClr val="0E7C6B"/>
          </a:solidFill>
          <a:ln/>
        </p:spPr>
        <p:txBody>
          <a:bodyPr/>
          <a:p/>
        </p:txBody>
      </p:sp>
      <p:sp>
        <p:nvSpPr>
          <p:cNvPr id="14" name="Text 12"/>
          <p:cNvSpPr/>
          <p:nvPr/>
        </p:nvSpPr>
        <p:spPr>
          <a:xfrm>
            <a:off x="914400" y="44531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5" name="Text 13"/>
          <p:cNvSpPr/>
          <p:nvPr/>
        </p:nvSpPr>
        <p:spPr>
          <a:xfrm>
            <a:off x="1463040" y="4206240"/>
            <a:ext cx="2331720" cy="914400"/>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Spitalul județean, la mai puțin de o oră.</a:t>
            </a:r>
            <a:endParaRPr lang="en-US" sz="1450" dirty="0"/>
          </a:p>
        </p:txBody>
      </p:sp>
      <p:sp>
        <p:nvSpPr>
          <p:cNvPr id="16" name="Shape 14"/>
          <p:cNvSpPr/>
          <p:nvPr/>
        </p:nvSpPr>
        <p:spPr>
          <a:xfrm>
            <a:off x="4343400" y="1600200"/>
            <a:ext cx="3474720" cy="3749040"/>
          </a:xfrm>
          <a:prstGeom prst="roundRect">
            <a:avLst>
              <a:gd name="adj" fmla="val 2368"/>
            </a:avLst>
          </a:prstGeom>
          <a:solidFill>
            <a:srgbClr val="ECEAE4"/>
          </a:solidFill>
          <a:ln w="12700">
            <a:solidFill>
              <a:srgbClr val="ECEAE4"/>
            </a:solidFill>
            <a:prstDash val="solid"/>
          </a:ln>
        </p:spPr>
        <p:txBody>
          <a:bodyPr/>
          <a:p/>
        </p:txBody>
      </p:sp>
      <p:sp>
        <p:nvSpPr>
          <p:cNvPr id="17" name="Shape 15"/>
          <p:cNvSpPr/>
          <p:nvPr/>
        </p:nvSpPr>
        <p:spPr>
          <a:xfrm>
            <a:off x="4343400" y="1600200"/>
            <a:ext cx="3474720" cy="91440"/>
          </a:xfrm>
          <a:prstGeom prst="rect">
            <a:avLst/>
          </a:prstGeom>
          <a:solidFill>
            <a:srgbClr val="B02532"/>
          </a:solidFill>
          <a:ln w="12700">
            <a:solidFill>
              <a:srgbClr val="B02532"/>
            </a:solidFill>
            <a:prstDash val="solid"/>
          </a:ln>
        </p:spPr>
        <p:txBody>
          <a:bodyPr/>
          <a:p/>
        </p:txBody>
      </p:sp>
      <p:sp>
        <p:nvSpPr>
          <p:cNvPr id="18" name="Text 16"/>
          <p:cNvSpPr/>
          <p:nvPr/>
        </p:nvSpPr>
        <p:spPr>
          <a:xfrm>
            <a:off x="4617720" y="1828800"/>
            <a:ext cx="2971800" cy="45720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Analiza internă</a:t>
            </a:r>
            <a:endParaRPr lang="en-US" sz="2100" dirty="0"/>
          </a:p>
        </p:txBody>
      </p:sp>
      <p:sp>
        <p:nvSpPr>
          <p:cNvPr id="19" name="Text 17"/>
          <p:cNvSpPr/>
          <p:nvPr/>
        </p:nvSpPr>
        <p:spPr>
          <a:xfrm>
            <a:off x="4617720" y="2286000"/>
            <a:ext cx="3017520" cy="731520"/>
          </a:xfrm>
          <a:prstGeom prst="rect">
            <a:avLst/>
          </a:prstGeom>
          <a:noFill/>
          <a:ln/>
        </p:spPr>
        <p:txBody>
          <a:bodyPr wrap="square" lIns="0" tIns="0" rIns="0" bIns="0" rtlCol="0" anchor="t"/>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ce poate face spitalul cu oamenii pe care îi are</a:t>
            </a:r>
            <a:endParaRPr lang="en-US" sz="1450" dirty="0"/>
          </a:p>
        </p:txBody>
      </p:sp>
      <p:sp>
        <p:nvSpPr>
          <p:cNvPr id="20" name="Shape 18"/>
          <p:cNvSpPr/>
          <p:nvPr/>
        </p:nvSpPr>
        <p:spPr>
          <a:xfrm>
            <a:off x="4526280" y="3154680"/>
            <a:ext cx="3108960" cy="914400"/>
          </a:xfrm>
          <a:prstGeom prst="roundRect">
            <a:avLst>
              <a:gd name="adj" fmla="val 9000"/>
            </a:avLst>
          </a:prstGeom>
          <a:solidFill>
            <a:srgbClr val="FFFFFF"/>
          </a:solidFill>
          <a:ln w="12700">
            <a:solidFill>
              <a:srgbClr val="FFFFFF"/>
            </a:solidFill>
            <a:prstDash val="solid"/>
          </a:ln>
        </p:spPr>
        <p:txBody>
          <a:bodyPr/>
          <a:p/>
        </p:txBody>
      </p:sp>
      <p:sp>
        <p:nvSpPr>
          <p:cNvPr id="21" name="Shape 19"/>
          <p:cNvSpPr/>
          <p:nvPr/>
        </p:nvSpPr>
        <p:spPr>
          <a:xfrm>
            <a:off x="4663440" y="3401568"/>
            <a:ext cx="420624" cy="420624"/>
          </a:xfrm>
          <a:prstGeom prst="ellipse">
            <a:avLst/>
          </a:prstGeom>
          <a:solidFill>
            <a:srgbClr val="B02532"/>
          </a:solidFill>
          <a:ln/>
        </p:spPr>
        <p:txBody>
          <a:bodyPr/>
          <a:p/>
        </p:txBody>
      </p:sp>
      <p:sp>
        <p:nvSpPr>
          <p:cNvPr id="22" name="Text 20"/>
          <p:cNvSpPr/>
          <p:nvPr/>
        </p:nvSpPr>
        <p:spPr>
          <a:xfrm>
            <a:off x="4663440" y="3401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3" name="Text 21"/>
          <p:cNvSpPr/>
          <p:nvPr/>
        </p:nvSpPr>
        <p:spPr>
          <a:xfrm>
            <a:off x="5212080" y="3154680"/>
            <a:ext cx="2331720" cy="914400"/>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Fără medic anestezist cu normă întreagă.</a:t>
            </a:r>
            <a:endParaRPr lang="en-US" sz="1450" dirty="0"/>
          </a:p>
        </p:txBody>
      </p:sp>
      <p:sp>
        <p:nvSpPr>
          <p:cNvPr id="24" name="Shape 22"/>
          <p:cNvSpPr/>
          <p:nvPr/>
        </p:nvSpPr>
        <p:spPr>
          <a:xfrm>
            <a:off x="8092440" y="1600200"/>
            <a:ext cx="3474720" cy="3749040"/>
          </a:xfrm>
          <a:prstGeom prst="roundRect">
            <a:avLst>
              <a:gd name="adj" fmla="val 2368"/>
            </a:avLst>
          </a:prstGeom>
          <a:solidFill>
            <a:srgbClr val="ECEAE4"/>
          </a:solidFill>
          <a:ln w="12700">
            <a:solidFill>
              <a:srgbClr val="ECEAE4"/>
            </a:solidFill>
            <a:prstDash val="solid"/>
          </a:ln>
        </p:spPr>
        <p:txBody>
          <a:bodyPr/>
          <a:p/>
        </p:txBody>
      </p:sp>
      <p:sp>
        <p:nvSpPr>
          <p:cNvPr id="25" name="Shape 23"/>
          <p:cNvSpPr/>
          <p:nvPr/>
        </p:nvSpPr>
        <p:spPr>
          <a:xfrm>
            <a:off x="8092440" y="1600200"/>
            <a:ext cx="3474720" cy="91440"/>
          </a:xfrm>
          <a:prstGeom prst="rect">
            <a:avLst/>
          </a:prstGeom>
          <a:solidFill>
            <a:srgbClr val="4A2D8C"/>
          </a:solidFill>
          <a:ln w="12700">
            <a:solidFill>
              <a:srgbClr val="4A2D8C"/>
            </a:solidFill>
            <a:prstDash val="solid"/>
          </a:ln>
        </p:spPr>
        <p:txBody>
          <a:bodyPr/>
          <a:p/>
        </p:txBody>
      </p:sp>
      <p:sp>
        <p:nvSpPr>
          <p:cNvPr id="26" name="Text 24"/>
          <p:cNvSpPr/>
          <p:nvPr/>
        </p:nvSpPr>
        <p:spPr>
          <a:xfrm>
            <a:off x="8366760" y="1828800"/>
            <a:ext cx="2971800" cy="457200"/>
          </a:xfrm>
          <a:prstGeom prst="rect">
            <a:avLst/>
          </a:prstGeom>
          <a:noFill/>
          <a:ln/>
        </p:spPr>
        <p:txBody>
          <a:bodyPr wrap="square" lIns="0" tIns="0" rIns="0" bIns="0" rtlCol="0" anchor="t"/>
          <a:lstStyle/>
          <a:p>
            <a:pPr indent="0" marL="0">
              <a:buNone/>
            </a:pPr>
            <a:r>
              <a:rPr lang="en-US" sz="2100" b="1" dirty="0">
                <a:solidFill>
                  <a:srgbClr val="4A2D8C"/>
                </a:solidFill>
                <a:latin typeface="Palatino Linotype" pitchFamily="34" charset="0"/>
                <a:ea typeface="Palatino Linotype" pitchFamily="34" charset="-122"/>
                <a:cs typeface="Palatino Linotype" pitchFamily="34" charset="-120"/>
              </a:rPr>
              <a:t>Direcția strategică</a:t>
            </a:r>
            <a:endParaRPr lang="en-US" sz="2100" dirty="0"/>
          </a:p>
        </p:txBody>
      </p:sp>
      <p:sp>
        <p:nvSpPr>
          <p:cNvPr id="27" name="Text 25"/>
          <p:cNvSpPr/>
          <p:nvPr/>
        </p:nvSpPr>
        <p:spPr>
          <a:xfrm>
            <a:off x="8366760" y="2286000"/>
            <a:ext cx="3017520" cy="731520"/>
          </a:xfrm>
          <a:prstGeom prst="rect">
            <a:avLst/>
          </a:prstGeom>
          <a:noFill/>
          <a:ln/>
        </p:spPr>
        <p:txBody>
          <a:bodyPr wrap="square" lIns="0" tIns="0" rIns="0" bIns="0" rtlCol="0" anchor="t"/>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ce vor cei care conduc și finanțează organizația</a:t>
            </a:r>
            <a:endParaRPr lang="en-US" sz="1450" dirty="0"/>
          </a:p>
        </p:txBody>
      </p:sp>
      <p:sp>
        <p:nvSpPr>
          <p:cNvPr id="28" name="Shape 26"/>
          <p:cNvSpPr/>
          <p:nvPr/>
        </p:nvSpPr>
        <p:spPr>
          <a:xfrm>
            <a:off x="8275320" y="3154680"/>
            <a:ext cx="3108960" cy="914400"/>
          </a:xfrm>
          <a:prstGeom prst="roundRect">
            <a:avLst>
              <a:gd name="adj" fmla="val 9000"/>
            </a:avLst>
          </a:prstGeom>
          <a:solidFill>
            <a:srgbClr val="FFFFFF"/>
          </a:solidFill>
          <a:ln w="12700">
            <a:solidFill>
              <a:srgbClr val="FFFFFF"/>
            </a:solidFill>
            <a:prstDash val="solid"/>
          </a:ln>
        </p:spPr>
        <p:txBody>
          <a:bodyPr/>
          <a:p/>
        </p:txBody>
      </p:sp>
      <p:sp>
        <p:nvSpPr>
          <p:cNvPr id="29" name="Shape 27"/>
          <p:cNvSpPr/>
          <p:nvPr/>
        </p:nvSpPr>
        <p:spPr>
          <a:xfrm>
            <a:off x="8412480" y="3401568"/>
            <a:ext cx="420624" cy="420624"/>
          </a:xfrm>
          <a:prstGeom prst="ellipse">
            <a:avLst/>
          </a:prstGeom>
          <a:solidFill>
            <a:srgbClr val="4A2D8C"/>
          </a:solidFill>
          <a:ln/>
        </p:spPr>
        <p:txBody>
          <a:bodyPr/>
          <a:p/>
        </p:txBody>
      </p:sp>
      <p:sp>
        <p:nvSpPr>
          <p:cNvPr id="30" name="Text 28"/>
          <p:cNvSpPr/>
          <p:nvPr/>
        </p:nvSpPr>
        <p:spPr>
          <a:xfrm>
            <a:off x="8412480" y="3401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31" name="Text 29"/>
          <p:cNvSpPr/>
          <p:nvPr/>
        </p:nvSpPr>
        <p:spPr>
          <a:xfrm>
            <a:off x="8961120" y="3154680"/>
            <a:ext cx="2331720" cy="914400"/>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Consiliul local vrea spitalul deschis pentru urgențe.</a:t>
            </a:r>
            <a:endParaRPr lang="en-US" sz="1450" dirty="0"/>
          </a:p>
        </p:txBody>
      </p:sp>
      <p:sp>
        <p:nvSpPr>
          <p:cNvPr id="32" name="Text 30"/>
          <p:cNvSpPr/>
          <p:nvPr/>
        </p:nvSpPr>
        <p:spPr>
          <a:xfrm>
            <a:off x="594360" y="5532120"/>
            <a:ext cx="10972800" cy="50292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Cele trei părți formează harta analizei situaționale. Proiectul vostru parcurge întregul proces strategic.</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PROIECTUL VOSTRU, SEMINAR CU SEMINAR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Etapele procesului strategic</a:t>
            </a:r>
            <a:endParaRPr lang="en-US" sz="3100" dirty="0"/>
          </a:p>
        </p:txBody>
      </p:sp>
      <p:sp>
        <p:nvSpPr>
          <p:cNvPr id="4" name="Shape 2"/>
          <p:cNvSpPr/>
          <p:nvPr/>
        </p:nvSpPr>
        <p:spPr>
          <a:xfrm>
            <a:off x="868680" y="1938528"/>
            <a:ext cx="10424160" cy="27432"/>
          </a:xfrm>
          <a:prstGeom prst="rect">
            <a:avLst/>
          </a:prstGeom>
          <a:solidFill>
            <a:srgbClr val="3A3E52"/>
          </a:solidFill>
          <a:ln/>
        </p:spPr>
        <p:txBody>
          <a:bodyPr/>
          <a:p/>
        </p:txBody>
      </p:sp>
      <p:sp>
        <p:nvSpPr>
          <p:cNvPr id="5" name="Shape 3"/>
          <p:cNvSpPr/>
          <p:nvPr/>
        </p:nvSpPr>
        <p:spPr>
          <a:xfrm>
            <a:off x="640080" y="1664208"/>
            <a:ext cx="548640" cy="548640"/>
          </a:xfrm>
          <a:prstGeom prst="ellipse">
            <a:avLst/>
          </a:prstGeom>
          <a:solidFill>
            <a:srgbClr val="27D3BE"/>
          </a:solidFill>
          <a:ln/>
        </p:spPr>
        <p:txBody>
          <a:bodyPr/>
          <a:p/>
        </p:txBody>
      </p:sp>
      <p:sp>
        <p:nvSpPr>
          <p:cNvPr id="6" name="Text 4"/>
          <p:cNvSpPr/>
          <p:nvPr/>
        </p:nvSpPr>
        <p:spPr>
          <a:xfrm>
            <a:off x="640080" y="1664208"/>
            <a:ext cx="548640" cy="54864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2</a:t>
            </a:r>
            <a:endParaRPr lang="en-US" sz="1700" dirty="0"/>
          </a:p>
        </p:txBody>
      </p:sp>
      <p:sp>
        <p:nvSpPr>
          <p:cNvPr id="7" name="Shape 5"/>
          <p:cNvSpPr/>
          <p:nvPr/>
        </p:nvSpPr>
        <p:spPr>
          <a:xfrm>
            <a:off x="594360" y="2468880"/>
            <a:ext cx="1737360" cy="3154680"/>
          </a:xfrm>
          <a:prstGeom prst="roundRect">
            <a:avLst>
              <a:gd name="adj" fmla="val 4737"/>
            </a:avLst>
          </a:prstGeom>
          <a:solidFill>
            <a:srgbClr val="1D1F2B"/>
          </a:solidFill>
          <a:ln w="12700">
            <a:solidFill>
              <a:srgbClr val="1D1F2B"/>
            </a:solidFill>
            <a:prstDash val="solid"/>
          </a:ln>
        </p:spPr>
        <p:txBody>
          <a:bodyPr/>
          <a:p/>
        </p:txBody>
      </p:sp>
      <p:sp>
        <p:nvSpPr>
          <p:cNvPr id="8" name="Shape 6"/>
          <p:cNvSpPr/>
          <p:nvPr/>
        </p:nvSpPr>
        <p:spPr>
          <a:xfrm>
            <a:off x="594360" y="2468880"/>
            <a:ext cx="1737360" cy="73152"/>
          </a:xfrm>
          <a:prstGeom prst="rect">
            <a:avLst/>
          </a:prstGeom>
          <a:solidFill>
            <a:srgbClr val="27D3BE"/>
          </a:solidFill>
          <a:ln w="12700">
            <a:solidFill>
              <a:srgbClr val="27D3BE"/>
            </a:solidFill>
            <a:prstDash val="solid"/>
          </a:ln>
        </p:spPr>
        <p:txBody>
          <a:bodyPr/>
          <a:p/>
        </p:txBody>
      </p:sp>
      <p:sp>
        <p:nvSpPr>
          <p:cNvPr id="9" name="Text 7"/>
          <p:cNvSpPr/>
          <p:nvPr/>
        </p:nvSpPr>
        <p:spPr>
          <a:xfrm>
            <a:off x="758952" y="2633472"/>
            <a:ext cx="1463040" cy="274320"/>
          </a:xfrm>
          <a:prstGeom prst="rect">
            <a:avLst/>
          </a:prstGeom>
          <a:noFill/>
          <a:ln/>
        </p:spPr>
        <p:txBody>
          <a:bodyPr wrap="square" lIns="0" tIns="0" rIns="0" bIns="0" rtlCol="0" anchor="t"/>
          <a:lstStyle/>
          <a:p>
            <a:pPr indent="0" marL="0">
              <a:buNone/>
            </a:pPr>
            <a:r>
              <a:rPr lang="en-US" sz="1150" b="1" dirty="0">
                <a:solidFill>
                  <a:srgbClr val="27D3BE"/>
                </a:solidFill>
                <a:latin typeface="Palatino Linotype" pitchFamily="34" charset="0"/>
                <a:ea typeface="Palatino Linotype" pitchFamily="34" charset="-122"/>
                <a:cs typeface="Palatino Linotype" pitchFamily="34" charset="-120"/>
              </a:rPr>
              <a:t>seminarul 2</a:t>
            </a:r>
            <a:endParaRPr lang="en-US" sz="1150" dirty="0"/>
          </a:p>
        </p:txBody>
      </p:sp>
      <p:sp>
        <p:nvSpPr>
          <p:cNvPr id="10" name="Text 8"/>
          <p:cNvSpPr/>
          <p:nvPr/>
        </p:nvSpPr>
        <p:spPr>
          <a:xfrm>
            <a:off x="758952" y="2926080"/>
            <a:ext cx="1463040" cy="1097280"/>
          </a:xfrm>
          <a:prstGeom prst="rect">
            <a:avLst/>
          </a:prstGeom>
          <a:noFill/>
          <a:ln/>
        </p:spPr>
        <p:txBody>
          <a:bodyPr wrap="square" lIns="0" tIns="0" rIns="0" bIns="0" rtlCol="0" anchor="t"/>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Analiza mediului extern</a:t>
            </a:r>
            <a:endParaRPr lang="en-US" sz="1500" dirty="0"/>
          </a:p>
        </p:txBody>
      </p:sp>
      <p:sp>
        <p:nvSpPr>
          <p:cNvPr id="11" name="Text 9"/>
          <p:cNvSpPr/>
          <p:nvPr/>
        </p:nvSpPr>
        <p:spPr>
          <a:xfrm>
            <a:off x="758952" y="4206240"/>
            <a:ext cx="1463040" cy="1371600"/>
          </a:xfrm>
          <a:prstGeom prst="rect">
            <a:avLst/>
          </a:prstGeom>
          <a:noFill/>
          <a:ln/>
        </p:spPr>
        <p:txBody>
          <a:bodyPr wrap="square" lIns="0" tIns="0" rIns="0" bIns="0" rtlCol="0" anchor="t"/>
          <a:lstStyle/>
          <a:p>
            <a:pPr indent="0" marL="0">
              <a:buNone/>
            </a:pPr>
            <a:r>
              <a:rPr lang="en-US" sz="1250" i="1" dirty="0">
                <a:solidFill>
                  <a:srgbClr val="C9CCD8"/>
                </a:solidFill>
                <a:latin typeface="Palatino Linotype" pitchFamily="34" charset="0"/>
                <a:ea typeface="Palatino Linotype" pitchFamily="34" charset="-122"/>
                <a:cs typeface="Palatino Linotype" pitchFamily="34" charset="-120"/>
              </a:rPr>
              <a:t>Ce ar trebui să facă organizația, pornind de la ce se întâmplă în jurul ei?</a:t>
            </a:r>
            <a:endParaRPr lang="en-US" sz="1250" dirty="0"/>
          </a:p>
        </p:txBody>
      </p:sp>
      <p:sp>
        <p:nvSpPr>
          <p:cNvPr id="12" name="Shape 10"/>
          <p:cNvSpPr/>
          <p:nvPr/>
        </p:nvSpPr>
        <p:spPr>
          <a:xfrm>
            <a:off x="2505456" y="1664208"/>
            <a:ext cx="548640" cy="548640"/>
          </a:xfrm>
          <a:prstGeom prst="ellipse">
            <a:avLst/>
          </a:prstGeom>
          <a:solidFill>
            <a:srgbClr val="27D3BE"/>
          </a:solidFill>
          <a:ln/>
        </p:spPr>
        <p:txBody>
          <a:bodyPr/>
          <a:p/>
        </p:txBody>
      </p:sp>
      <p:sp>
        <p:nvSpPr>
          <p:cNvPr id="13" name="Text 11"/>
          <p:cNvSpPr/>
          <p:nvPr/>
        </p:nvSpPr>
        <p:spPr>
          <a:xfrm>
            <a:off x="2505456" y="1664208"/>
            <a:ext cx="548640" cy="54864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3</a:t>
            </a:r>
            <a:endParaRPr lang="en-US" sz="1700" dirty="0"/>
          </a:p>
        </p:txBody>
      </p:sp>
      <p:sp>
        <p:nvSpPr>
          <p:cNvPr id="14" name="Shape 12"/>
          <p:cNvSpPr/>
          <p:nvPr/>
        </p:nvSpPr>
        <p:spPr>
          <a:xfrm>
            <a:off x="2459736" y="2468880"/>
            <a:ext cx="1737360" cy="3154680"/>
          </a:xfrm>
          <a:prstGeom prst="roundRect">
            <a:avLst>
              <a:gd name="adj" fmla="val 4737"/>
            </a:avLst>
          </a:prstGeom>
          <a:solidFill>
            <a:srgbClr val="1D1F2B"/>
          </a:solidFill>
          <a:ln w="12700">
            <a:solidFill>
              <a:srgbClr val="1D1F2B"/>
            </a:solidFill>
            <a:prstDash val="solid"/>
          </a:ln>
        </p:spPr>
        <p:txBody>
          <a:bodyPr/>
          <a:p/>
        </p:txBody>
      </p:sp>
      <p:sp>
        <p:nvSpPr>
          <p:cNvPr id="15" name="Shape 13"/>
          <p:cNvSpPr/>
          <p:nvPr/>
        </p:nvSpPr>
        <p:spPr>
          <a:xfrm>
            <a:off x="2459736" y="2468880"/>
            <a:ext cx="1737360" cy="73152"/>
          </a:xfrm>
          <a:prstGeom prst="rect">
            <a:avLst/>
          </a:prstGeom>
          <a:solidFill>
            <a:srgbClr val="27D3BE"/>
          </a:solidFill>
          <a:ln w="12700">
            <a:solidFill>
              <a:srgbClr val="27D3BE"/>
            </a:solidFill>
            <a:prstDash val="solid"/>
          </a:ln>
        </p:spPr>
        <p:txBody>
          <a:bodyPr/>
          <a:p/>
        </p:txBody>
      </p:sp>
      <p:sp>
        <p:nvSpPr>
          <p:cNvPr id="16" name="Text 14"/>
          <p:cNvSpPr/>
          <p:nvPr/>
        </p:nvSpPr>
        <p:spPr>
          <a:xfrm>
            <a:off x="2624328" y="2633472"/>
            <a:ext cx="1463040" cy="274320"/>
          </a:xfrm>
          <a:prstGeom prst="rect">
            <a:avLst/>
          </a:prstGeom>
          <a:noFill/>
          <a:ln/>
        </p:spPr>
        <p:txBody>
          <a:bodyPr wrap="square" lIns="0" tIns="0" rIns="0" bIns="0" rtlCol="0" anchor="t"/>
          <a:lstStyle/>
          <a:p>
            <a:pPr indent="0" marL="0">
              <a:buNone/>
            </a:pPr>
            <a:r>
              <a:rPr lang="en-US" sz="1150" b="1" dirty="0">
                <a:solidFill>
                  <a:srgbClr val="27D3BE"/>
                </a:solidFill>
                <a:latin typeface="Palatino Linotype" pitchFamily="34" charset="0"/>
                <a:ea typeface="Palatino Linotype" pitchFamily="34" charset="-122"/>
                <a:cs typeface="Palatino Linotype" pitchFamily="34" charset="-120"/>
              </a:rPr>
              <a:t>seminarul 3</a:t>
            </a:r>
            <a:endParaRPr lang="en-US" sz="1150" dirty="0"/>
          </a:p>
        </p:txBody>
      </p:sp>
      <p:sp>
        <p:nvSpPr>
          <p:cNvPr id="17" name="Text 15"/>
          <p:cNvSpPr/>
          <p:nvPr/>
        </p:nvSpPr>
        <p:spPr>
          <a:xfrm>
            <a:off x="2624328" y="2926080"/>
            <a:ext cx="1463040" cy="1097280"/>
          </a:xfrm>
          <a:prstGeom prst="rect">
            <a:avLst/>
          </a:prstGeom>
          <a:noFill/>
          <a:ln/>
        </p:spPr>
        <p:txBody>
          <a:bodyPr wrap="square" lIns="0" tIns="0" rIns="0" bIns="0" rtlCol="0" anchor="t"/>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Aria de servicii și competitorii</a:t>
            </a:r>
            <a:endParaRPr lang="en-US" sz="1500" dirty="0"/>
          </a:p>
        </p:txBody>
      </p:sp>
      <p:sp>
        <p:nvSpPr>
          <p:cNvPr id="18" name="Text 16"/>
          <p:cNvSpPr/>
          <p:nvPr/>
        </p:nvSpPr>
        <p:spPr>
          <a:xfrm>
            <a:off x="2624328" y="4206240"/>
            <a:ext cx="1463040" cy="1371600"/>
          </a:xfrm>
          <a:prstGeom prst="rect">
            <a:avLst/>
          </a:prstGeom>
          <a:noFill/>
          <a:ln/>
        </p:spPr>
        <p:txBody>
          <a:bodyPr wrap="square" lIns="0" tIns="0" rIns="0" bIns="0" rtlCol="0" anchor="t"/>
          <a:lstStyle/>
          <a:p>
            <a:pPr indent="0" marL="0">
              <a:buNone/>
            </a:pPr>
            <a:r>
              <a:rPr lang="en-US" sz="1250" i="1" dirty="0">
                <a:solidFill>
                  <a:srgbClr val="C9CCD8"/>
                </a:solidFill>
                <a:latin typeface="Palatino Linotype" pitchFamily="34" charset="0"/>
                <a:ea typeface="Palatino Linotype" pitchFamily="34" charset="-122"/>
                <a:cs typeface="Palatino Linotype" pitchFamily="34" charset="-120"/>
              </a:rPr>
              <a:t>Tot analiză externă, mai aproape de organizație: pe cine servește și cine mai oferă aceleași servicii?</a:t>
            </a:r>
            <a:endParaRPr lang="en-US" sz="1250" dirty="0"/>
          </a:p>
        </p:txBody>
      </p:sp>
      <p:sp>
        <p:nvSpPr>
          <p:cNvPr id="19" name="Shape 17"/>
          <p:cNvSpPr/>
          <p:nvPr/>
        </p:nvSpPr>
        <p:spPr>
          <a:xfrm>
            <a:off x="4370832" y="1664208"/>
            <a:ext cx="548640" cy="548640"/>
          </a:xfrm>
          <a:prstGeom prst="ellipse">
            <a:avLst/>
          </a:prstGeom>
          <a:solidFill>
            <a:srgbClr val="FF4757"/>
          </a:solidFill>
          <a:ln/>
        </p:spPr>
        <p:txBody>
          <a:bodyPr/>
          <a:p/>
        </p:txBody>
      </p:sp>
      <p:sp>
        <p:nvSpPr>
          <p:cNvPr id="20" name="Text 18"/>
          <p:cNvSpPr/>
          <p:nvPr/>
        </p:nvSpPr>
        <p:spPr>
          <a:xfrm>
            <a:off x="4370832" y="1664208"/>
            <a:ext cx="548640" cy="54864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4</a:t>
            </a:r>
            <a:endParaRPr lang="en-US" sz="1700" dirty="0"/>
          </a:p>
        </p:txBody>
      </p:sp>
      <p:sp>
        <p:nvSpPr>
          <p:cNvPr id="21" name="Shape 19"/>
          <p:cNvSpPr/>
          <p:nvPr/>
        </p:nvSpPr>
        <p:spPr>
          <a:xfrm>
            <a:off x="4325112" y="2468880"/>
            <a:ext cx="1737360" cy="3154680"/>
          </a:xfrm>
          <a:prstGeom prst="roundRect">
            <a:avLst>
              <a:gd name="adj" fmla="val 4737"/>
            </a:avLst>
          </a:prstGeom>
          <a:solidFill>
            <a:srgbClr val="1D1F2B"/>
          </a:solidFill>
          <a:ln w="12700">
            <a:solidFill>
              <a:srgbClr val="1D1F2B"/>
            </a:solidFill>
            <a:prstDash val="solid"/>
          </a:ln>
        </p:spPr>
        <p:txBody>
          <a:bodyPr/>
          <a:p/>
        </p:txBody>
      </p:sp>
      <p:sp>
        <p:nvSpPr>
          <p:cNvPr id="22" name="Shape 20"/>
          <p:cNvSpPr/>
          <p:nvPr/>
        </p:nvSpPr>
        <p:spPr>
          <a:xfrm>
            <a:off x="4325112" y="2468880"/>
            <a:ext cx="1737360" cy="73152"/>
          </a:xfrm>
          <a:prstGeom prst="rect">
            <a:avLst/>
          </a:prstGeom>
          <a:solidFill>
            <a:srgbClr val="FF4757"/>
          </a:solidFill>
          <a:ln w="12700">
            <a:solidFill>
              <a:srgbClr val="FF4757"/>
            </a:solidFill>
            <a:prstDash val="solid"/>
          </a:ln>
        </p:spPr>
        <p:txBody>
          <a:bodyPr/>
          <a:p/>
        </p:txBody>
      </p:sp>
      <p:sp>
        <p:nvSpPr>
          <p:cNvPr id="23" name="Text 21"/>
          <p:cNvSpPr/>
          <p:nvPr/>
        </p:nvSpPr>
        <p:spPr>
          <a:xfrm>
            <a:off x="4489704" y="2633472"/>
            <a:ext cx="1463040" cy="274320"/>
          </a:xfrm>
          <a:prstGeom prst="rect">
            <a:avLst/>
          </a:prstGeom>
          <a:noFill/>
          <a:ln/>
        </p:spPr>
        <p:txBody>
          <a:bodyPr wrap="square" lIns="0" tIns="0" rIns="0" bIns="0" rtlCol="0" anchor="t"/>
          <a:lstStyle/>
          <a:p>
            <a:pPr indent="0" marL="0">
              <a:buNone/>
            </a:pPr>
            <a:r>
              <a:rPr lang="en-US" sz="1150" b="1" dirty="0">
                <a:solidFill>
                  <a:srgbClr val="FF4757"/>
                </a:solidFill>
                <a:latin typeface="Palatino Linotype" pitchFamily="34" charset="0"/>
                <a:ea typeface="Palatino Linotype" pitchFamily="34" charset="-122"/>
                <a:cs typeface="Palatino Linotype" pitchFamily="34" charset="-120"/>
              </a:rPr>
              <a:t>seminarul 4</a:t>
            </a:r>
            <a:endParaRPr lang="en-US" sz="1150" dirty="0"/>
          </a:p>
        </p:txBody>
      </p:sp>
      <p:sp>
        <p:nvSpPr>
          <p:cNvPr id="24" name="Text 22"/>
          <p:cNvSpPr/>
          <p:nvPr/>
        </p:nvSpPr>
        <p:spPr>
          <a:xfrm>
            <a:off x="4489704" y="2926080"/>
            <a:ext cx="1463040" cy="1097280"/>
          </a:xfrm>
          <a:prstGeom prst="rect">
            <a:avLst/>
          </a:prstGeom>
          <a:noFill/>
          <a:ln/>
        </p:spPr>
        <p:txBody>
          <a:bodyPr wrap="square" lIns="0" tIns="0" rIns="0" bIns="0" rtlCol="0" anchor="t"/>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Analiza internă și punctele tari și slabe</a:t>
            </a:r>
            <a:endParaRPr lang="en-US" sz="1500" dirty="0"/>
          </a:p>
        </p:txBody>
      </p:sp>
      <p:sp>
        <p:nvSpPr>
          <p:cNvPr id="25" name="Text 23"/>
          <p:cNvSpPr/>
          <p:nvPr/>
        </p:nvSpPr>
        <p:spPr>
          <a:xfrm>
            <a:off x="4489704" y="4206240"/>
            <a:ext cx="1463040" cy="1371600"/>
          </a:xfrm>
          <a:prstGeom prst="rect">
            <a:avLst/>
          </a:prstGeom>
          <a:noFill/>
          <a:ln/>
        </p:spPr>
        <p:txBody>
          <a:bodyPr wrap="square" lIns="0" tIns="0" rIns="0" bIns="0" rtlCol="0" anchor="t"/>
          <a:lstStyle/>
          <a:p>
            <a:pPr indent="0" marL="0">
              <a:buNone/>
            </a:pPr>
            <a:r>
              <a:rPr lang="en-US" sz="1250" i="1" dirty="0">
                <a:solidFill>
                  <a:srgbClr val="C9CCD8"/>
                </a:solidFill>
                <a:latin typeface="Palatino Linotype" pitchFamily="34" charset="0"/>
                <a:ea typeface="Palatino Linotype" pitchFamily="34" charset="-122"/>
                <a:cs typeface="Palatino Linotype" pitchFamily="34" charset="-120"/>
              </a:rPr>
              <a:t>Ce poate face organizația, cu ce are?</a:t>
            </a:r>
            <a:endParaRPr lang="en-US" sz="1250" dirty="0"/>
          </a:p>
        </p:txBody>
      </p:sp>
      <p:sp>
        <p:nvSpPr>
          <p:cNvPr id="26" name="Shape 24"/>
          <p:cNvSpPr/>
          <p:nvPr/>
        </p:nvSpPr>
        <p:spPr>
          <a:xfrm>
            <a:off x="6236208" y="1664208"/>
            <a:ext cx="548640" cy="548640"/>
          </a:xfrm>
          <a:prstGeom prst="ellipse">
            <a:avLst/>
          </a:prstGeom>
          <a:solidFill>
            <a:srgbClr val="9B7EF7"/>
          </a:solidFill>
          <a:ln/>
        </p:spPr>
        <p:txBody>
          <a:bodyPr/>
          <a:p/>
        </p:txBody>
      </p:sp>
      <p:sp>
        <p:nvSpPr>
          <p:cNvPr id="27" name="Text 25"/>
          <p:cNvSpPr/>
          <p:nvPr/>
        </p:nvSpPr>
        <p:spPr>
          <a:xfrm>
            <a:off x="6236208" y="1664208"/>
            <a:ext cx="548640" cy="54864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5</a:t>
            </a:r>
            <a:endParaRPr lang="en-US" sz="1700" dirty="0"/>
          </a:p>
        </p:txBody>
      </p:sp>
      <p:sp>
        <p:nvSpPr>
          <p:cNvPr id="28" name="Shape 26"/>
          <p:cNvSpPr/>
          <p:nvPr/>
        </p:nvSpPr>
        <p:spPr>
          <a:xfrm>
            <a:off x="6190488" y="2468880"/>
            <a:ext cx="1737360" cy="3154680"/>
          </a:xfrm>
          <a:prstGeom prst="roundRect">
            <a:avLst>
              <a:gd name="adj" fmla="val 4737"/>
            </a:avLst>
          </a:prstGeom>
          <a:solidFill>
            <a:srgbClr val="1D1F2B"/>
          </a:solidFill>
          <a:ln w="12700">
            <a:solidFill>
              <a:srgbClr val="1D1F2B"/>
            </a:solidFill>
            <a:prstDash val="solid"/>
          </a:ln>
        </p:spPr>
        <p:txBody>
          <a:bodyPr/>
          <a:p/>
        </p:txBody>
      </p:sp>
      <p:sp>
        <p:nvSpPr>
          <p:cNvPr id="29" name="Shape 27"/>
          <p:cNvSpPr/>
          <p:nvPr/>
        </p:nvSpPr>
        <p:spPr>
          <a:xfrm>
            <a:off x="6190488" y="2468880"/>
            <a:ext cx="1737360" cy="73152"/>
          </a:xfrm>
          <a:prstGeom prst="rect">
            <a:avLst/>
          </a:prstGeom>
          <a:solidFill>
            <a:srgbClr val="9B7EF7"/>
          </a:solidFill>
          <a:ln w="12700">
            <a:solidFill>
              <a:srgbClr val="9B7EF7"/>
            </a:solidFill>
            <a:prstDash val="solid"/>
          </a:ln>
        </p:spPr>
        <p:txBody>
          <a:bodyPr/>
          <a:p/>
        </p:txBody>
      </p:sp>
      <p:sp>
        <p:nvSpPr>
          <p:cNvPr id="30" name="Text 28"/>
          <p:cNvSpPr/>
          <p:nvPr/>
        </p:nvSpPr>
        <p:spPr>
          <a:xfrm>
            <a:off x="6355080" y="2633472"/>
            <a:ext cx="1463040" cy="274320"/>
          </a:xfrm>
          <a:prstGeom prst="rect">
            <a:avLst/>
          </a:prstGeom>
          <a:noFill/>
          <a:ln/>
        </p:spPr>
        <p:txBody>
          <a:bodyPr wrap="square" lIns="0" tIns="0" rIns="0" bIns="0" rtlCol="0" anchor="t"/>
          <a:lstStyle/>
          <a:p>
            <a:pPr indent="0" marL="0">
              <a:buNone/>
            </a:pPr>
            <a:r>
              <a:rPr lang="en-US" sz="1150" b="1" dirty="0">
                <a:solidFill>
                  <a:srgbClr val="9B7EF7"/>
                </a:solidFill>
                <a:latin typeface="Palatino Linotype" pitchFamily="34" charset="0"/>
                <a:ea typeface="Palatino Linotype" pitchFamily="34" charset="-122"/>
                <a:cs typeface="Palatino Linotype" pitchFamily="34" charset="-120"/>
              </a:rPr>
              <a:t>seminarul 5</a:t>
            </a:r>
            <a:endParaRPr lang="en-US" sz="1150" dirty="0"/>
          </a:p>
        </p:txBody>
      </p:sp>
      <p:sp>
        <p:nvSpPr>
          <p:cNvPr id="31" name="Text 29"/>
          <p:cNvSpPr/>
          <p:nvPr/>
        </p:nvSpPr>
        <p:spPr>
          <a:xfrm>
            <a:off x="6355080" y="2926080"/>
            <a:ext cx="1463040" cy="1097280"/>
          </a:xfrm>
          <a:prstGeom prst="rect">
            <a:avLst/>
          </a:prstGeom>
          <a:noFill/>
          <a:ln/>
        </p:spPr>
        <p:txBody>
          <a:bodyPr wrap="square" lIns="0" tIns="0" rIns="0" bIns="0" rtlCol="0" anchor="t"/>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Direcția strategică și alternativele</a:t>
            </a:r>
            <a:endParaRPr lang="en-US" sz="1500" dirty="0"/>
          </a:p>
        </p:txBody>
      </p:sp>
      <p:sp>
        <p:nvSpPr>
          <p:cNvPr id="32" name="Text 30"/>
          <p:cNvSpPr/>
          <p:nvPr/>
        </p:nvSpPr>
        <p:spPr>
          <a:xfrm>
            <a:off x="6355080" y="4206240"/>
            <a:ext cx="1463040" cy="1371600"/>
          </a:xfrm>
          <a:prstGeom prst="rect">
            <a:avLst/>
          </a:prstGeom>
          <a:noFill/>
          <a:ln/>
        </p:spPr>
        <p:txBody>
          <a:bodyPr wrap="square" lIns="0" tIns="0" rIns="0" bIns="0" rtlCol="0" anchor="t"/>
          <a:lstStyle/>
          <a:p>
            <a:pPr indent="0" marL="0">
              <a:buNone/>
            </a:pPr>
            <a:r>
              <a:rPr lang="en-US" sz="1250" i="1" dirty="0">
                <a:solidFill>
                  <a:srgbClr val="C9CCD8"/>
                </a:solidFill>
                <a:latin typeface="Palatino Linotype" pitchFamily="34" charset="0"/>
                <a:ea typeface="Palatino Linotype" pitchFamily="34" charset="-122"/>
                <a:cs typeface="Palatino Linotype" pitchFamily="34" charset="-120"/>
              </a:rPr>
              <a:t>Ce vrea să facă și ce cale alege?</a:t>
            </a:r>
            <a:endParaRPr lang="en-US" sz="1250" dirty="0"/>
          </a:p>
        </p:txBody>
      </p:sp>
      <p:sp>
        <p:nvSpPr>
          <p:cNvPr id="33" name="Shape 31"/>
          <p:cNvSpPr/>
          <p:nvPr/>
        </p:nvSpPr>
        <p:spPr>
          <a:xfrm>
            <a:off x="8101584" y="1664208"/>
            <a:ext cx="548640" cy="548640"/>
          </a:xfrm>
          <a:prstGeom prst="ellipse">
            <a:avLst/>
          </a:prstGeom>
          <a:solidFill>
            <a:srgbClr val="FFC24B"/>
          </a:solidFill>
          <a:ln/>
        </p:spPr>
        <p:txBody>
          <a:bodyPr/>
          <a:p/>
        </p:txBody>
      </p:sp>
      <p:sp>
        <p:nvSpPr>
          <p:cNvPr id="34" name="Text 32"/>
          <p:cNvSpPr/>
          <p:nvPr/>
        </p:nvSpPr>
        <p:spPr>
          <a:xfrm>
            <a:off x="8101584" y="1664208"/>
            <a:ext cx="548640" cy="54864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6</a:t>
            </a:r>
            <a:endParaRPr lang="en-US" sz="1700" dirty="0"/>
          </a:p>
        </p:txBody>
      </p:sp>
      <p:sp>
        <p:nvSpPr>
          <p:cNvPr id="35" name="Shape 33"/>
          <p:cNvSpPr/>
          <p:nvPr/>
        </p:nvSpPr>
        <p:spPr>
          <a:xfrm>
            <a:off x="8055864" y="2468880"/>
            <a:ext cx="1737360" cy="3154680"/>
          </a:xfrm>
          <a:prstGeom prst="roundRect">
            <a:avLst>
              <a:gd name="adj" fmla="val 4737"/>
            </a:avLst>
          </a:prstGeom>
          <a:solidFill>
            <a:srgbClr val="1D1F2B"/>
          </a:solidFill>
          <a:ln w="12700">
            <a:solidFill>
              <a:srgbClr val="1D1F2B"/>
            </a:solidFill>
            <a:prstDash val="solid"/>
          </a:ln>
        </p:spPr>
        <p:txBody>
          <a:bodyPr/>
          <a:p/>
        </p:txBody>
      </p:sp>
      <p:sp>
        <p:nvSpPr>
          <p:cNvPr id="36" name="Shape 34"/>
          <p:cNvSpPr/>
          <p:nvPr/>
        </p:nvSpPr>
        <p:spPr>
          <a:xfrm>
            <a:off x="8055864" y="2468880"/>
            <a:ext cx="1737360" cy="73152"/>
          </a:xfrm>
          <a:prstGeom prst="rect">
            <a:avLst/>
          </a:prstGeom>
          <a:solidFill>
            <a:srgbClr val="FFC24B"/>
          </a:solidFill>
          <a:ln w="12700">
            <a:solidFill>
              <a:srgbClr val="FFC24B"/>
            </a:solidFill>
            <a:prstDash val="solid"/>
          </a:ln>
        </p:spPr>
        <p:txBody>
          <a:bodyPr/>
          <a:p/>
        </p:txBody>
      </p:sp>
      <p:sp>
        <p:nvSpPr>
          <p:cNvPr id="37" name="Text 35"/>
          <p:cNvSpPr/>
          <p:nvPr/>
        </p:nvSpPr>
        <p:spPr>
          <a:xfrm>
            <a:off x="8220456" y="2633472"/>
            <a:ext cx="1463040" cy="274320"/>
          </a:xfrm>
          <a:prstGeom prst="rect">
            <a:avLst/>
          </a:prstGeom>
          <a:noFill/>
          <a:ln/>
        </p:spPr>
        <p:txBody>
          <a:bodyPr wrap="square" lIns="0" tIns="0" rIns="0" bIns="0" rtlCol="0" anchor="t"/>
          <a:lstStyle/>
          <a:p>
            <a:pPr indent="0" marL="0">
              <a:buNone/>
            </a:pPr>
            <a:r>
              <a:rPr lang="en-US" sz="1150" b="1" dirty="0">
                <a:solidFill>
                  <a:srgbClr val="FFC24B"/>
                </a:solidFill>
                <a:latin typeface="Palatino Linotype" pitchFamily="34" charset="0"/>
                <a:ea typeface="Palatino Linotype" pitchFamily="34" charset="-122"/>
                <a:cs typeface="Palatino Linotype" pitchFamily="34" charset="-120"/>
              </a:rPr>
              <a:t>seminarul 6</a:t>
            </a:r>
            <a:endParaRPr lang="en-US" sz="1150" dirty="0"/>
          </a:p>
        </p:txBody>
      </p:sp>
      <p:sp>
        <p:nvSpPr>
          <p:cNvPr id="38" name="Text 36"/>
          <p:cNvSpPr/>
          <p:nvPr/>
        </p:nvSpPr>
        <p:spPr>
          <a:xfrm>
            <a:off x="8220456" y="2926080"/>
            <a:ext cx="1463040" cy="1097280"/>
          </a:xfrm>
          <a:prstGeom prst="rect">
            <a:avLst/>
          </a:prstGeom>
          <a:noFill/>
          <a:ln/>
        </p:spPr>
        <p:txBody>
          <a:bodyPr wrap="square" lIns="0" tIns="0" rIns="0" bIns="0" rtlCol="0" anchor="t"/>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Planul de acțiune și indicatorii</a:t>
            </a:r>
            <a:endParaRPr lang="en-US" sz="1500" dirty="0"/>
          </a:p>
        </p:txBody>
      </p:sp>
      <p:sp>
        <p:nvSpPr>
          <p:cNvPr id="39" name="Text 37"/>
          <p:cNvSpPr/>
          <p:nvPr/>
        </p:nvSpPr>
        <p:spPr>
          <a:xfrm>
            <a:off x="8220456" y="4206240"/>
            <a:ext cx="1463040" cy="1371600"/>
          </a:xfrm>
          <a:prstGeom prst="rect">
            <a:avLst/>
          </a:prstGeom>
          <a:noFill/>
          <a:ln/>
        </p:spPr>
        <p:txBody>
          <a:bodyPr wrap="square" lIns="0" tIns="0" rIns="0" bIns="0" rtlCol="0" anchor="t"/>
          <a:lstStyle/>
          <a:p>
            <a:pPr indent="0" marL="0">
              <a:buNone/>
            </a:pPr>
            <a:r>
              <a:rPr lang="en-US" sz="1250" i="1" dirty="0">
                <a:solidFill>
                  <a:srgbClr val="C9CCD8"/>
                </a:solidFill>
                <a:latin typeface="Palatino Linotype" pitchFamily="34" charset="0"/>
                <a:ea typeface="Palatino Linotype" pitchFamily="34" charset="-122"/>
                <a:cs typeface="Palatino Linotype" pitchFamily="34" charset="-120"/>
              </a:rPr>
              <a:t>Cine face ce, până când și cum se vede dacă s-a făcut?</a:t>
            </a:r>
            <a:endParaRPr lang="en-US" sz="1250" dirty="0"/>
          </a:p>
        </p:txBody>
      </p:sp>
      <p:sp>
        <p:nvSpPr>
          <p:cNvPr id="40" name="Shape 38"/>
          <p:cNvSpPr/>
          <p:nvPr/>
        </p:nvSpPr>
        <p:spPr>
          <a:xfrm>
            <a:off x="9966960" y="1664208"/>
            <a:ext cx="548640" cy="548640"/>
          </a:xfrm>
          <a:prstGeom prst="ellipse">
            <a:avLst/>
          </a:prstGeom>
          <a:solidFill>
            <a:srgbClr val="FF8A3D"/>
          </a:solidFill>
          <a:ln/>
        </p:spPr>
        <p:txBody>
          <a:bodyPr/>
          <a:p/>
        </p:txBody>
      </p:sp>
      <p:sp>
        <p:nvSpPr>
          <p:cNvPr id="41" name="Text 39"/>
          <p:cNvSpPr/>
          <p:nvPr/>
        </p:nvSpPr>
        <p:spPr>
          <a:xfrm>
            <a:off x="9966960" y="1664208"/>
            <a:ext cx="548640" cy="54864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7</a:t>
            </a:r>
            <a:endParaRPr lang="en-US" sz="1700" dirty="0"/>
          </a:p>
        </p:txBody>
      </p:sp>
      <p:sp>
        <p:nvSpPr>
          <p:cNvPr id="42" name="Shape 40"/>
          <p:cNvSpPr/>
          <p:nvPr/>
        </p:nvSpPr>
        <p:spPr>
          <a:xfrm>
            <a:off x="9921240" y="2468880"/>
            <a:ext cx="1737360" cy="3154680"/>
          </a:xfrm>
          <a:prstGeom prst="roundRect">
            <a:avLst>
              <a:gd name="adj" fmla="val 4737"/>
            </a:avLst>
          </a:prstGeom>
          <a:solidFill>
            <a:srgbClr val="1D1F2B"/>
          </a:solidFill>
          <a:ln w="12700">
            <a:solidFill>
              <a:srgbClr val="1D1F2B"/>
            </a:solidFill>
            <a:prstDash val="solid"/>
          </a:ln>
        </p:spPr>
        <p:txBody>
          <a:bodyPr/>
          <a:p/>
        </p:txBody>
      </p:sp>
      <p:sp>
        <p:nvSpPr>
          <p:cNvPr id="43" name="Shape 41"/>
          <p:cNvSpPr/>
          <p:nvPr/>
        </p:nvSpPr>
        <p:spPr>
          <a:xfrm>
            <a:off x="9921240" y="2468880"/>
            <a:ext cx="1737360" cy="73152"/>
          </a:xfrm>
          <a:prstGeom prst="rect">
            <a:avLst/>
          </a:prstGeom>
          <a:solidFill>
            <a:srgbClr val="FF8A3D"/>
          </a:solidFill>
          <a:ln w="12700">
            <a:solidFill>
              <a:srgbClr val="FF8A3D"/>
            </a:solidFill>
            <a:prstDash val="solid"/>
          </a:ln>
        </p:spPr>
        <p:txBody>
          <a:bodyPr/>
          <a:p/>
        </p:txBody>
      </p:sp>
      <p:sp>
        <p:nvSpPr>
          <p:cNvPr id="44" name="Text 42"/>
          <p:cNvSpPr/>
          <p:nvPr/>
        </p:nvSpPr>
        <p:spPr>
          <a:xfrm>
            <a:off x="10085832" y="2633472"/>
            <a:ext cx="1463040" cy="274320"/>
          </a:xfrm>
          <a:prstGeom prst="rect">
            <a:avLst/>
          </a:prstGeom>
          <a:noFill/>
          <a:ln/>
        </p:spPr>
        <p:txBody>
          <a:bodyPr wrap="square" lIns="0" tIns="0" rIns="0" bIns="0" rtlCol="0" anchor="t"/>
          <a:lstStyle/>
          <a:p>
            <a:pPr indent="0" marL="0">
              <a:buNone/>
            </a:pPr>
            <a:r>
              <a:rPr lang="en-US" sz="1150" b="1" dirty="0">
                <a:solidFill>
                  <a:srgbClr val="FF8A3D"/>
                </a:solidFill>
                <a:latin typeface="Palatino Linotype" pitchFamily="34" charset="0"/>
                <a:ea typeface="Palatino Linotype" pitchFamily="34" charset="-122"/>
                <a:cs typeface="Palatino Linotype" pitchFamily="34" charset="-120"/>
              </a:rPr>
              <a:t>seminarul 7</a:t>
            </a:r>
            <a:endParaRPr lang="en-US" sz="1150" dirty="0"/>
          </a:p>
        </p:txBody>
      </p:sp>
      <p:sp>
        <p:nvSpPr>
          <p:cNvPr id="45" name="Text 43"/>
          <p:cNvSpPr/>
          <p:nvPr/>
        </p:nvSpPr>
        <p:spPr>
          <a:xfrm>
            <a:off x="10085832" y="2926080"/>
            <a:ext cx="1463040" cy="1097280"/>
          </a:xfrm>
          <a:prstGeom prst="rect">
            <a:avLst/>
          </a:prstGeom>
          <a:noFill/>
          <a:ln/>
        </p:spPr>
        <p:txBody>
          <a:bodyPr wrap="square" lIns="0" tIns="0" rIns="0" bIns="0" rtlCol="0" anchor="t"/>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Susținerea planului</a:t>
            </a:r>
            <a:endParaRPr lang="en-US" sz="1500" dirty="0"/>
          </a:p>
        </p:txBody>
      </p:sp>
      <p:sp>
        <p:nvSpPr>
          <p:cNvPr id="46" name="Text 44"/>
          <p:cNvSpPr/>
          <p:nvPr/>
        </p:nvSpPr>
        <p:spPr>
          <a:xfrm>
            <a:off x="10085832" y="4206240"/>
            <a:ext cx="1463040" cy="1371600"/>
          </a:xfrm>
          <a:prstGeom prst="rect">
            <a:avLst/>
          </a:prstGeom>
          <a:noFill/>
          <a:ln/>
        </p:spPr>
        <p:txBody>
          <a:bodyPr wrap="square" lIns="0" tIns="0" rIns="0" bIns="0" rtlCol="0" anchor="t"/>
          <a:lstStyle/>
          <a:p>
            <a:pPr indent="0" marL="0">
              <a:buNone/>
            </a:pPr>
            <a:r>
              <a:rPr lang="en-US" sz="1250" i="1" dirty="0">
                <a:solidFill>
                  <a:srgbClr val="C9CCD8"/>
                </a:solidFill>
                <a:latin typeface="Palatino Linotype" pitchFamily="34" charset="0"/>
                <a:ea typeface="Palatino Linotype" pitchFamily="34" charset="-122"/>
                <a:cs typeface="Palatino Linotype" pitchFamily="34" charset="-120"/>
              </a:rPr>
              <a:t>Ce propune echipa și de ce?</a:t>
            </a:r>
            <a:endParaRPr lang="en-US" sz="1250" dirty="0"/>
          </a:p>
        </p:txBody>
      </p:sp>
      <p:sp>
        <p:nvSpPr>
          <p:cNvPr id="47" name="Text 45"/>
          <p:cNvSpPr/>
          <p:nvPr/>
        </p:nvSpPr>
        <p:spPr>
          <a:xfrm>
            <a:off x="594360" y="5806440"/>
            <a:ext cx="1097280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Azi, seminarul 1: organizația și fișa ei. În seminarul 7, echipa își susține planul.</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DOUĂ TABERE</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rot="-120000">
            <a:off x="822960" y="1234440"/>
            <a:ext cx="6035040" cy="420624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6" name="Text 4"/>
          <p:cNvSpPr/>
          <p:nvPr/>
        </p:nvSpPr>
        <p:spPr>
          <a:xfrm rot="-120000">
            <a:off x="1188720" y="1508760"/>
            <a:ext cx="5303520" cy="27432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TITLU INVENTAT PENTRU EXERCIȚIU</a:t>
            </a:r>
            <a:endParaRPr lang="en-US" sz="1200" dirty="0"/>
          </a:p>
        </p:txBody>
      </p:sp>
      <p:sp>
        <p:nvSpPr>
          <p:cNvPr id="7" name="Shape 5"/>
          <p:cNvSpPr/>
          <p:nvPr/>
        </p:nvSpPr>
        <p:spPr>
          <a:xfrm rot="-120000">
            <a:off x="1188720" y="1874520"/>
            <a:ext cx="5303520" cy="18288"/>
          </a:xfrm>
          <a:prstGeom prst="rect">
            <a:avLst/>
          </a:prstGeom>
          <a:solidFill>
            <a:srgbClr val="11121A"/>
          </a:solidFill>
          <a:ln/>
        </p:spPr>
        <p:txBody>
          <a:bodyPr/>
          <a:p/>
        </p:txBody>
      </p:sp>
      <p:sp>
        <p:nvSpPr>
          <p:cNvPr id="8" name="Text 6"/>
          <p:cNvSpPr/>
          <p:nvPr/>
        </p:nvSpPr>
        <p:spPr>
          <a:xfrm rot="-120000">
            <a:off x="1188720" y="2057400"/>
            <a:ext cx="5303520" cy="182880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Spitalul orășenesc, pe jumătate gol. Închideți-l!</a:t>
            </a:r>
            <a:endParaRPr lang="en-US" sz="3400" dirty="0"/>
          </a:p>
        </p:txBody>
      </p:sp>
      <p:sp>
        <p:nvSpPr>
          <p:cNvPr id="9" name="Shape 7"/>
          <p:cNvSpPr/>
          <p:nvPr/>
        </p:nvSpPr>
        <p:spPr>
          <a:xfrm rot="-120000">
            <a:off x="1188720" y="4023360"/>
            <a:ext cx="5303520" cy="91440"/>
          </a:xfrm>
          <a:prstGeom prst="rect">
            <a:avLst/>
          </a:prstGeom>
          <a:solidFill>
            <a:srgbClr val="D9D5CA"/>
          </a:solidFill>
          <a:ln/>
        </p:spPr>
        <p:txBody>
          <a:bodyPr/>
          <a:p/>
        </p:txBody>
      </p:sp>
      <p:sp>
        <p:nvSpPr>
          <p:cNvPr id="10" name="Shape 8"/>
          <p:cNvSpPr/>
          <p:nvPr/>
        </p:nvSpPr>
        <p:spPr>
          <a:xfrm rot="-120000">
            <a:off x="1188720" y="4343400"/>
            <a:ext cx="5303520" cy="91440"/>
          </a:xfrm>
          <a:prstGeom prst="rect">
            <a:avLst/>
          </a:prstGeom>
          <a:solidFill>
            <a:srgbClr val="D9D5CA"/>
          </a:solidFill>
          <a:ln/>
        </p:spPr>
        <p:txBody>
          <a:bodyPr/>
          <a:p/>
        </p:txBody>
      </p:sp>
      <p:sp>
        <p:nvSpPr>
          <p:cNvPr id="11" name="Shape 9"/>
          <p:cNvSpPr/>
          <p:nvPr/>
        </p:nvSpPr>
        <p:spPr>
          <a:xfrm rot="-120000">
            <a:off x="1188720" y="4663440"/>
            <a:ext cx="5303520" cy="91440"/>
          </a:xfrm>
          <a:prstGeom prst="rect">
            <a:avLst/>
          </a:prstGeom>
          <a:solidFill>
            <a:srgbClr val="D9D5CA"/>
          </a:solidFill>
          <a:ln/>
        </p:spPr>
        <p:txBody>
          <a:bodyPr/>
          <a:p/>
        </p:txBody>
      </p:sp>
      <p:sp>
        <p:nvSpPr>
          <p:cNvPr id="12" name="Shape 10"/>
          <p:cNvSpPr/>
          <p:nvPr/>
        </p:nvSpPr>
        <p:spPr>
          <a:xfrm rot="-120000">
            <a:off x="1188720" y="4983480"/>
            <a:ext cx="2743200" cy="91440"/>
          </a:xfrm>
          <a:prstGeom prst="rect">
            <a:avLst/>
          </a:prstGeom>
          <a:solidFill>
            <a:srgbClr val="D9D5CA"/>
          </a:solidFill>
          <a:ln/>
        </p:spPr>
        <p:txBody>
          <a:bodyPr/>
          <a:p/>
        </p:txBody>
      </p:sp>
      <p:sp>
        <p:nvSpPr>
          <p:cNvPr id="13" name="Text 11"/>
          <p:cNvSpPr/>
          <p:nvPr/>
        </p:nvSpPr>
        <p:spPr>
          <a:xfrm>
            <a:off x="822960" y="5669280"/>
            <a:ext cx="6217920" cy="548640"/>
          </a:xfrm>
          <a:prstGeom prst="rect">
            <a:avLst/>
          </a:prstGeom>
          <a:noFill/>
          <a:ln/>
        </p:spPr>
        <p:txBody>
          <a:bodyPr wrap="square" lIns="0" tIns="0" rIns="0" bIns="0" rtlCol="0" anchor="t"/>
          <a:lstStyle/>
          <a:p>
            <a:pPr indent="0" marL="0">
              <a:buNone/>
            </a:pPr>
            <a:r>
              <a:rPr lang="en-US" sz="1250" i="1" dirty="0">
                <a:solidFill>
                  <a:srgbClr val="B8BDCC"/>
                </a:solidFill>
                <a:latin typeface="Palatino Linotype" pitchFamily="34" charset="0"/>
                <a:ea typeface="Palatino Linotype" pitchFamily="34" charset="-122"/>
                <a:cs typeface="Palatino Linotype" pitchFamily="34" charset="-120"/>
              </a:rPr>
              <a:t>Titlu inventat pentru exercițiu, despre un spital orășenesc imaginar. Nu privește Zimnicea și nici alt spital real.</a:t>
            </a:r>
            <a:endParaRPr lang="en-US" sz="1250" dirty="0"/>
          </a:p>
        </p:txBody>
      </p:sp>
      <p:sp>
        <p:nvSpPr>
          <p:cNvPr id="14" name="Shape 12"/>
          <p:cNvSpPr/>
          <p:nvPr/>
        </p:nvSpPr>
        <p:spPr>
          <a:xfrm>
            <a:off x="7498080" y="1325880"/>
            <a:ext cx="4069080" cy="2011680"/>
          </a:xfrm>
          <a:prstGeom prst="roundRect">
            <a:avLst>
              <a:gd name="adj" fmla="val 4091"/>
            </a:avLst>
          </a:prstGeom>
          <a:solidFill>
            <a:srgbClr val="1D1F2B"/>
          </a:solidFill>
          <a:ln w="12700">
            <a:solidFill>
              <a:srgbClr val="1D1F2B"/>
            </a:solidFill>
            <a:prstDash val="solid"/>
          </a:ln>
        </p:spPr>
        <p:txBody>
          <a:bodyPr/>
          <a:p/>
        </p:txBody>
      </p:sp>
      <p:sp>
        <p:nvSpPr>
          <p:cNvPr id="15" name="Text 13"/>
          <p:cNvSpPr/>
          <p:nvPr/>
        </p:nvSpPr>
        <p:spPr>
          <a:xfrm>
            <a:off x="7772400" y="1325880"/>
            <a:ext cx="3611880" cy="201168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Ați crede acest titlu? Ce ar trebui să știți înainte?</a:t>
            </a:r>
            <a:endParaRPr lang="en-US" sz="1900" dirty="0"/>
          </a:p>
        </p:txBody>
      </p:sp>
      <p:sp>
        <p:nvSpPr>
          <p:cNvPr id="16" name="Shape 14"/>
          <p:cNvSpPr/>
          <p:nvPr/>
        </p:nvSpPr>
        <p:spPr>
          <a:xfrm>
            <a:off x="7498080" y="3520440"/>
            <a:ext cx="1965960" cy="1828800"/>
          </a:xfrm>
          <a:prstGeom prst="roundRect">
            <a:avLst>
              <a:gd name="adj" fmla="val 4500"/>
            </a:avLst>
          </a:prstGeom>
          <a:solidFill>
            <a:srgbClr val="07564B"/>
          </a:solidFill>
          <a:ln w="12700">
            <a:solidFill>
              <a:srgbClr val="07564B"/>
            </a:solidFill>
            <a:prstDash val="solid"/>
          </a:ln>
        </p:spPr>
        <p:txBody>
          <a:bodyPr/>
          <a:p/>
        </p:txBody>
      </p:sp>
      <p:sp>
        <p:nvSpPr>
          <p:cNvPr id="17" name="Shape 15"/>
          <p:cNvSpPr/>
          <p:nvPr/>
        </p:nvSpPr>
        <p:spPr>
          <a:xfrm>
            <a:off x="9601200" y="3520440"/>
            <a:ext cx="1965960" cy="1828800"/>
          </a:xfrm>
          <a:prstGeom prst="roundRect">
            <a:avLst>
              <a:gd name="adj" fmla="val 4500"/>
            </a:avLst>
          </a:prstGeom>
          <a:solidFill>
            <a:srgbClr val="7A2230"/>
          </a:solidFill>
          <a:ln w="12700">
            <a:solidFill>
              <a:srgbClr val="7A2230"/>
            </a:solidFill>
            <a:prstDash val="solid"/>
          </a:ln>
        </p:spPr>
        <p:txBody>
          <a:bodyPr/>
          <a:p/>
        </p:txBody>
      </p:sp>
      <p:sp>
        <p:nvSpPr>
          <p:cNvPr id="18" name="Text 16"/>
          <p:cNvSpPr/>
          <p:nvPr/>
        </p:nvSpPr>
        <p:spPr>
          <a:xfrm>
            <a:off x="7680960" y="3520440"/>
            <a:ext cx="1645920" cy="1828800"/>
          </a:xfrm>
          <a:prstGeom prst="rect">
            <a:avLst/>
          </a:prstGeom>
          <a:noFill/>
          <a:ln/>
        </p:spPr>
        <p:txBody>
          <a:bodyPr wrap="square" lIns="0" tIns="0" rIns="0" bIns="0" rtlCol="0" anchor="ctr"/>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Tabăra 1</a:t>
            </a:r>
            <a:endParaRPr lang="en-US" sz="1400" dirty="0"/>
          </a:p>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L-ați crede</a:t>
            </a:r>
            <a:endParaRPr lang="en-US" sz="1400" dirty="0"/>
          </a:p>
        </p:txBody>
      </p:sp>
      <p:sp>
        <p:nvSpPr>
          <p:cNvPr id="19" name="Text 17"/>
          <p:cNvSpPr/>
          <p:nvPr/>
        </p:nvSpPr>
        <p:spPr>
          <a:xfrm>
            <a:off x="9784080" y="3520440"/>
            <a:ext cx="1645920" cy="1828800"/>
          </a:xfrm>
          <a:prstGeom prst="rect">
            <a:avLst/>
          </a:prstGeom>
          <a:noFill/>
          <a:ln/>
        </p:spPr>
        <p:txBody>
          <a:bodyPr wrap="square" lIns="0" tIns="0" rIns="0" bIns="0" rtlCol="0" anchor="ctr"/>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Tabăra 2</a:t>
            </a:r>
            <a:endParaRPr lang="en-US" sz="1400" dirty="0"/>
          </a:p>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Nu l-ați crede</a:t>
            </a:r>
            <a:endParaRPr lang="en-US" sz="1400" dirty="0"/>
          </a:p>
        </p:txBody>
      </p:sp>
      <p:sp>
        <p:nvSpPr>
          <p:cNvPr id="20" name="Text 18"/>
          <p:cNvSpPr/>
          <p:nvPr/>
        </p:nvSpPr>
        <p:spPr>
          <a:xfrm>
            <a:off x="7498080" y="5486400"/>
            <a:ext cx="4069080" cy="54864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Câte un voluntar din fiecare tabără: un minut pentru argument.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LIPSEȘTE DIN TITLU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O cifră, folosită greșit</a:t>
            </a:r>
            <a:endParaRPr lang="en-US" sz="3100" dirty="0"/>
          </a:p>
        </p:txBody>
      </p:sp>
      <p:sp>
        <p:nvSpPr>
          <p:cNvPr id="4" name="Shape 2"/>
          <p:cNvSpPr/>
          <p:nvPr/>
        </p:nvSpPr>
        <p:spPr>
          <a:xfrm>
            <a:off x="594360" y="1600200"/>
            <a:ext cx="6949440" cy="1051560"/>
          </a:xfrm>
          <a:prstGeom prst="roundRect">
            <a:avLst>
              <a:gd name="adj" fmla="val 7826"/>
            </a:avLst>
          </a:prstGeom>
          <a:solidFill>
            <a:srgbClr val="ECEAE4"/>
          </a:solidFill>
          <a:ln w="12700">
            <a:solidFill>
              <a:srgbClr val="ECEAE4"/>
            </a:solidFill>
            <a:prstDash val="solid"/>
          </a:ln>
        </p:spPr>
        <p:txBody>
          <a:bodyPr/>
          <a:p/>
        </p:txBody>
      </p:sp>
      <p:sp>
        <p:nvSpPr>
          <p:cNvPr id="5" name="Text 3"/>
          <p:cNvSpPr/>
          <p:nvPr/>
        </p:nvSpPr>
        <p:spPr>
          <a:xfrm>
            <a:off x="822960" y="1600200"/>
            <a:ext cx="1737360" cy="105156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Sursa și anul</a:t>
            </a:r>
            <a:endParaRPr lang="en-US" sz="1700" dirty="0"/>
          </a:p>
        </p:txBody>
      </p:sp>
      <p:sp>
        <p:nvSpPr>
          <p:cNvPr id="6" name="Shape 4"/>
          <p:cNvSpPr/>
          <p:nvPr/>
        </p:nvSpPr>
        <p:spPr>
          <a:xfrm>
            <a:off x="2560320" y="1956816"/>
            <a:ext cx="1600200" cy="329184"/>
          </a:xfrm>
          <a:prstGeom prst="roundRect">
            <a:avLst>
              <a:gd name="adj" fmla="val 50000"/>
            </a:avLst>
          </a:prstGeom>
          <a:solidFill>
            <a:srgbClr val="B02532"/>
          </a:solidFill>
          <a:ln w="12700">
            <a:solidFill>
              <a:srgbClr val="B02532"/>
            </a:solidFill>
            <a:prstDash val="solid"/>
          </a:ln>
        </p:spPr>
        <p:txBody>
          <a:bodyPr/>
          <a:p/>
        </p:txBody>
      </p:sp>
      <p:sp>
        <p:nvSpPr>
          <p:cNvPr id="7" name="Text 5"/>
          <p:cNvSpPr/>
          <p:nvPr/>
        </p:nvSpPr>
        <p:spPr>
          <a:xfrm>
            <a:off x="2560320" y="1956816"/>
            <a:ext cx="16002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Palatino Linotype" pitchFamily="34" charset="0"/>
                <a:ea typeface="Palatino Linotype" pitchFamily="34" charset="-122"/>
                <a:cs typeface="Palatino Linotype" pitchFamily="34" charset="-120"/>
              </a:rPr>
              <a:t>LIPSESC</a:t>
            </a:r>
            <a:endParaRPr lang="en-US" sz="1150" dirty="0"/>
          </a:p>
        </p:txBody>
      </p:sp>
      <p:sp>
        <p:nvSpPr>
          <p:cNvPr id="8" name="Text 6"/>
          <p:cNvSpPr/>
          <p:nvPr/>
        </p:nvSpPr>
        <p:spPr>
          <a:xfrm>
            <a:off x="4343400" y="1600200"/>
            <a:ext cx="3063240" cy="105156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Nu spune cine a publicat cifra și pentru ce an.</a:t>
            </a:r>
            <a:endParaRPr lang="en-US" sz="1400" dirty="0"/>
          </a:p>
        </p:txBody>
      </p:sp>
      <p:sp>
        <p:nvSpPr>
          <p:cNvPr id="9" name="Shape 7"/>
          <p:cNvSpPr/>
          <p:nvPr/>
        </p:nvSpPr>
        <p:spPr>
          <a:xfrm>
            <a:off x="594360" y="2788920"/>
            <a:ext cx="6949440" cy="1051560"/>
          </a:xfrm>
          <a:prstGeom prst="roundRect">
            <a:avLst>
              <a:gd name="adj" fmla="val 7826"/>
            </a:avLst>
          </a:prstGeom>
          <a:solidFill>
            <a:srgbClr val="F9F8F5"/>
          </a:solidFill>
          <a:ln w="12700">
            <a:solidFill>
              <a:srgbClr val="F9F8F5"/>
            </a:solidFill>
            <a:prstDash val="solid"/>
          </a:ln>
        </p:spPr>
        <p:txBody>
          <a:bodyPr/>
          <a:p/>
        </p:txBody>
      </p:sp>
      <p:sp>
        <p:nvSpPr>
          <p:cNvPr id="10" name="Text 8"/>
          <p:cNvSpPr/>
          <p:nvPr/>
        </p:nvSpPr>
        <p:spPr>
          <a:xfrm>
            <a:off x="822960" y="2788920"/>
            <a:ext cx="1737360" cy="105156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Calculul</a:t>
            </a:r>
            <a:endParaRPr lang="en-US" sz="1700" dirty="0"/>
          </a:p>
        </p:txBody>
      </p:sp>
      <p:sp>
        <p:nvSpPr>
          <p:cNvPr id="11" name="Shape 9"/>
          <p:cNvSpPr/>
          <p:nvPr/>
        </p:nvSpPr>
        <p:spPr>
          <a:xfrm>
            <a:off x="2560320" y="3145536"/>
            <a:ext cx="1600200" cy="329184"/>
          </a:xfrm>
          <a:prstGeom prst="roundRect">
            <a:avLst>
              <a:gd name="adj" fmla="val 50000"/>
            </a:avLst>
          </a:prstGeom>
          <a:solidFill>
            <a:srgbClr val="B02532"/>
          </a:solidFill>
          <a:ln w="12700">
            <a:solidFill>
              <a:srgbClr val="B02532"/>
            </a:solidFill>
            <a:prstDash val="solid"/>
          </a:ln>
        </p:spPr>
        <p:txBody>
          <a:bodyPr/>
          <a:p/>
        </p:txBody>
      </p:sp>
      <p:sp>
        <p:nvSpPr>
          <p:cNvPr id="12" name="Text 10"/>
          <p:cNvSpPr/>
          <p:nvPr/>
        </p:nvSpPr>
        <p:spPr>
          <a:xfrm>
            <a:off x="2560320" y="3145536"/>
            <a:ext cx="16002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Palatino Linotype" pitchFamily="34" charset="0"/>
                <a:ea typeface="Palatino Linotype" pitchFamily="34" charset="-122"/>
                <a:cs typeface="Palatino Linotype" pitchFamily="34" charset="-120"/>
              </a:rPr>
              <a:t>LIPSEȘTE</a:t>
            </a:r>
            <a:endParaRPr lang="en-US" sz="1150" dirty="0"/>
          </a:p>
        </p:txBody>
      </p:sp>
      <p:sp>
        <p:nvSpPr>
          <p:cNvPr id="13" name="Text 11"/>
          <p:cNvSpPr/>
          <p:nvPr/>
        </p:nvSpPr>
        <p:spPr>
          <a:xfrm>
            <a:off x="4343400" y="2788920"/>
            <a:ext cx="3063240" cy="105156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Nu spune că gradul de ocupare se calculează pe paturile contractate cu casa de asigurări.</a:t>
            </a:r>
            <a:endParaRPr lang="en-US" sz="1400" dirty="0"/>
          </a:p>
        </p:txBody>
      </p:sp>
      <p:sp>
        <p:nvSpPr>
          <p:cNvPr id="14" name="Shape 12"/>
          <p:cNvSpPr/>
          <p:nvPr/>
        </p:nvSpPr>
        <p:spPr>
          <a:xfrm>
            <a:off x="594360" y="3977640"/>
            <a:ext cx="6949440" cy="1051560"/>
          </a:xfrm>
          <a:prstGeom prst="roundRect">
            <a:avLst>
              <a:gd name="adj" fmla="val 7826"/>
            </a:avLst>
          </a:prstGeom>
          <a:solidFill>
            <a:srgbClr val="ECEAE4"/>
          </a:solidFill>
          <a:ln w="12700">
            <a:solidFill>
              <a:srgbClr val="ECEAE4"/>
            </a:solidFill>
            <a:prstDash val="solid"/>
          </a:ln>
        </p:spPr>
        <p:txBody>
          <a:bodyPr/>
          <a:p/>
        </p:txBody>
      </p:sp>
      <p:sp>
        <p:nvSpPr>
          <p:cNvPr id="15" name="Text 13"/>
          <p:cNvSpPr/>
          <p:nvPr/>
        </p:nvSpPr>
        <p:spPr>
          <a:xfrm>
            <a:off x="822960" y="3977640"/>
            <a:ext cx="1737360" cy="105156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Analiza</a:t>
            </a:r>
            <a:endParaRPr lang="en-US" sz="1700" dirty="0"/>
          </a:p>
        </p:txBody>
      </p:sp>
      <p:sp>
        <p:nvSpPr>
          <p:cNvPr id="16" name="Shape 14"/>
          <p:cNvSpPr/>
          <p:nvPr/>
        </p:nvSpPr>
        <p:spPr>
          <a:xfrm>
            <a:off x="2560320" y="4334256"/>
            <a:ext cx="1600200" cy="329184"/>
          </a:xfrm>
          <a:prstGeom prst="roundRect">
            <a:avLst>
              <a:gd name="adj" fmla="val 50000"/>
            </a:avLst>
          </a:prstGeom>
          <a:solidFill>
            <a:srgbClr val="B02532"/>
          </a:solidFill>
          <a:ln w="12700">
            <a:solidFill>
              <a:srgbClr val="B02532"/>
            </a:solidFill>
            <a:prstDash val="solid"/>
          </a:ln>
        </p:spPr>
        <p:txBody>
          <a:bodyPr/>
          <a:p/>
        </p:txBody>
      </p:sp>
      <p:sp>
        <p:nvSpPr>
          <p:cNvPr id="17" name="Text 15"/>
          <p:cNvSpPr/>
          <p:nvPr/>
        </p:nvSpPr>
        <p:spPr>
          <a:xfrm>
            <a:off x="2560320" y="4334256"/>
            <a:ext cx="16002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Palatino Linotype" pitchFamily="34" charset="0"/>
                <a:ea typeface="Palatino Linotype" pitchFamily="34" charset="-122"/>
                <a:cs typeface="Palatino Linotype" pitchFamily="34" charset="-120"/>
              </a:rPr>
              <a:t>SARE PESTE EA</a:t>
            </a:r>
            <a:endParaRPr lang="en-US" sz="1150" dirty="0"/>
          </a:p>
        </p:txBody>
      </p:sp>
      <p:sp>
        <p:nvSpPr>
          <p:cNvPr id="18" name="Text 16"/>
          <p:cNvSpPr/>
          <p:nvPr/>
        </p:nvSpPr>
        <p:spPr>
          <a:xfrm>
            <a:off x="4343400" y="3977640"/>
            <a:ext cx="3063240" cy="105156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Trece de la o informație internă direct la o decizie, fără analiza externă și fără direcție.</a:t>
            </a:r>
            <a:endParaRPr lang="en-US" sz="1400" dirty="0"/>
          </a:p>
        </p:txBody>
      </p:sp>
      <p:sp>
        <p:nvSpPr>
          <p:cNvPr id="19" name="Shape 17"/>
          <p:cNvSpPr/>
          <p:nvPr/>
        </p:nvSpPr>
        <p:spPr>
          <a:xfrm>
            <a:off x="7818120" y="1600200"/>
            <a:ext cx="3749040" cy="3429000"/>
          </a:xfrm>
          <a:prstGeom prst="roundRect">
            <a:avLst>
              <a:gd name="adj" fmla="val 2400"/>
            </a:avLst>
          </a:prstGeom>
          <a:solidFill>
            <a:srgbClr val="11121A"/>
          </a:solidFill>
          <a:ln w="12700">
            <a:solidFill>
              <a:srgbClr val="11121A"/>
            </a:solidFill>
            <a:prstDash val="solid"/>
          </a:ln>
        </p:spPr>
        <p:txBody>
          <a:bodyPr/>
          <a:p/>
        </p:txBody>
      </p:sp>
      <p:sp>
        <p:nvSpPr>
          <p:cNvPr id="20" name="Text 18"/>
          <p:cNvSpPr/>
          <p:nvPr/>
        </p:nvSpPr>
        <p:spPr>
          <a:xfrm>
            <a:off x="8092440" y="1645920"/>
            <a:ext cx="3291840" cy="1234440"/>
          </a:xfrm>
          <a:prstGeom prst="rect">
            <a:avLst/>
          </a:prstGeom>
          <a:noFill/>
          <a:ln/>
        </p:spPr>
        <p:txBody>
          <a:bodyPr wrap="square" lIns="0" tIns="0" rIns="0" bIns="0" rtlCol="0" anchor="ctr"/>
          <a:lstStyle/>
          <a:p>
            <a:pPr indent="0" marL="0">
              <a:buNone/>
            </a:pPr>
            <a:r>
              <a:rPr lang="en-US" sz="8400" b="1" dirty="0">
                <a:solidFill>
                  <a:srgbClr val="FF4757"/>
                </a:solidFill>
                <a:latin typeface="Palatino Linotype" pitchFamily="34" charset="0"/>
                <a:ea typeface="Palatino Linotype" pitchFamily="34" charset="-122"/>
                <a:cs typeface="Palatino Linotype" pitchFamily="34" charset="-120"/>
              </a:rPr>
              <a:t>144</a:t>
            </a:r>
            <a:endParaRPr lang="en-US" sz="8400" dirty="0"/>
          </a:p>
        </p:txBody>
      </p:sp>
      <p:sp>
        <p:nvSpPr>
          <p:cNvPr id="21" name="Text 19"/>
          <p:cNvSpPr/>
          <p:nvPr/>
        </p:nvSpPr>
        <p:spPr>
          <a:xfrm>
            <a:off x="8092440" y="2788920"/>
            <a:ext cx="3291840" cy="5029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din 339</a:t>
            </a:r>
            <a:endParaRPr lang="en-US" sz="2800" dirty="0"/>
          </a:p>
        </p:txBody>
      </p:sp>
      <p:sp>
        <p:nvSpPr>
          <p:cNvPr id="22" name="Text 20"/>
          <p:cNvSpPr/>
          <p:nvPr/>
        </p:nvSpPr>
        <p:spPr>
          <a:xfrm>
            <a:off x="8092440" y="3337560"/>
            <a:ext cx="3291840" cy="1005840"/>
          </a:xfrm>
          <a:prstGeom prst="rect">
            <a:avLst/>
          </a:prstGeom>
          <a:noFill/>
          <a:ln/>
        </p:spPr>
        <p:txBody>
          <a:bodyPr wrap="square" lIns="0" tIns="0" rIns="0" bIns="0" rtlCol="0" anchor="t"/>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spitale publice cu valoare publicată, mai mult de 4 din 10, au avut paturile de acuți ocupate sub 60%, în 2025.</a:t>
            </a:r>
            <a:endParaRPr lang="en-US" sz="1450" dirty="0"/>
          </a:p>
        </p:txBody>
      </p:sp>
      <p:sp>
        <p:nvSpPr>
          <p:cNvPr id="23" name="Text 21"/>
          <p:cNvSpPr/>
          <p:nvPr/>
        </p:nvSpPr>
        <p:spPr>
          <a:xfrm>
            <a:off x="8092440" y="4343400"/>
            <a:ext cx="3291840" cy="59436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Media simplă a gradului de ocupare: 63,1%</a:t>
            </a:r>
            <a:endParaRPr lang="en-US" sz="1500" dirty="0"/>
          </a:p>
        </p:txBody>
      </p:sp>
      <p:sp>
        <p:nvSpPr>
          <p:cNvPr id="24" name="Text 22"/>
          <p:cNvSpPr/>
          <p:nvPr/>
        </p:nvSpPr>
        <p:spPr>
          <a:xfrm>
            <a:off x="594360" y="5257800"/>
            <a:ext cx="10972800" cy="822960"/>
          </a:xfrm>
          <a:prstGeom prst="rect">
            <a:avLst/>
          </a:prstGeom>
          <a:noFill/>
          <a:ln/>
        </p:spPr>
        <p:txBody>
          <a:bodyPr wrap="square" lIns="0" tIns="0" rIns="0" bIns="0" rtlCol="0" anchor="t"/>
          <a:lstStyle/>
          <a:p>
            <a:pPr indent="0" marL="0">
              <a:buNone/>
            </a:pPr>
            <a:r>
              <a:rPr lang="en-US" sz="1650" b="1" dirty="0">
                <a:solidFill>
                  <a:srgbClr val="B02532"/>
                </a:solidFill>
                <a:latin typeface="Palatino Linotype" pitchFamily="34" charset="0"/>
                <a:ea typeface="Palatino Linotype" pitchFamily="34" charset="-122"/>
                <a:cs typeface="Palatino Linotype" pitchFamily="34" charset="-120"/>
              </a:rPr>
              <a:t>Nu este o excepție: decizia despre un spital cere și o privire asupra politicii de sănătate.</a:t>
            </a:r>
            <a:endParaRPr lang="en-US" sz="1650" dirty="0"/>
          </a:p>
        </p:txBody>
      </p:sp>
      <p:sp>
        <p:nvSpPr>
          <p:cNvPr id="25" name="Text 23"/>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CNAS, „Performanță Spitale Publice”, 2025.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ECHIPA ȘI ORGANIZAȚIA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O organizație reală, una pe echipă</a:t>
            </a:r>
            <a:endParaRPr lang="en-US" sz="3100" dirty="0"/>
          </a:p>
        </p:txBody>
      </p:sp>
      <p:sp>
        <p:nvSpPr>
          <p:cNvPr id="4" name="Shape 2"/>
          <p:cNvSpPr/>
          <p:nvPr/>
        </p:nvSpPr>
        <p:spPr>
          <a:xfrm>
            <a:off x="594360" y="1554480"/>
            <a:ext cx="3520440" cy="1874520"/>
          </a:xfrm>
          <a:prstGeom prst="roundRect">
            <a:avLst>
              <a:gd name="adj" fmla="val 4390"/>
            </a:avLst>
          </a:prstGeom>
          <a:solidFill>
            <a:srgbClr val="1D1F2B"/>
          </a:solidFill>
          <a:ln w="12700">
            <a:solidFill>
              <a:srgbClr val="1D1F2B"/>
            </a:solidFill>
            <a:prstDash val="solid"/>
          </a:ln>
        </p:spPr>
        <p:txBody>
          <a:bodyPr/>
          <a:p/>
        </p:txBody>
      </p:sp>
      <p:sp>
        <p:nvSpPr>
          <p:cNvPr id="5" name="Shape 3"/>
          <p:cNvSpPr/>
          <p:nvPr/>
        </p:nvSpPr>
        <p:spPr>
          <a:xfrm>
            <a:off x="594360" y="1554480"/>
            <a:ext cx="3520440" cy="73152"/>
          </a:xfrm>
          <a:prstGeom prst="rect">
            <a:avLst/>
          </a:prstGeom>
          <a:solidFill>
            <a:srgbClr val="FF4757"/>
          </a:solidFill>
          <a:ln w="12700">
            <a:solidFill>
              <a:srgbClr val="FF4757"/>
            </a:solidFill>
            <a:prstDash val="solid"/>
          </a:ln>
        </p:spPr>
        <p:txBody>
          <a:bodyPr/>
          <a:p/>
        </p:txBody>
      </p:sp>
      <p:sp>
        <p:nvSpPr>
          <p:cNvPr id="6" name="Text 4"/>
          <p:cNvSpPr/>
          <p:nvPr/>
        </p:nvSpPr>
        <p:spPr>
          <a:xfrm>
            <a:off x="822960" y="1719072"/>
            <a:ext cx="3108960" cy="411480"/>
          </a:xfrm>
          <a:prstGeom prst="rect">
            <a:avLst/>
          </a:prstGeom>
          <a:noFill/>
          <a:ln/>
        </p:spPr>
        <p:txBody>
          <a:bodyPr wrap="square" lIns="0" tIns="0" rIns="0" bIns="0" rtlCol="0" anchor="t"/>
          <a:lstStyle/>
          <a:p>
            <a:pPr indent="0" marL="0">
              <a:buNone/>
            </a:pPr>
            <a:r>
              <a:rPr lang="en-US" sz="1650" b="1" dirty="0">
                <a:solidFill>
                  <a:srgbClr val="FF4757"/>
                </a:solidFill>
                <a:latin typeface="Palatino Linotype" pitchFamily="34" charset="0"/>
                <a:ea typeface="Palatino Linotype" pitchFamily="34" charset="-122"/>
                <a:cs typeface="Palatino Linotype" pitchFamily="34" charset="-120"/>
              </a:rPr>
              <a:t>Spital public</a:t>
            </a:r>
            <a:endParaRPr lang="en-US" sz="1650" dirty="0"/>
          </a:p>
        </p:txBody>
      </p:sp>
      <p:sp>
        <p:nvSpPr>
          <p:cNvPr id="7" name="Text 5"/>
          <p:cNvSpPr/>
          <p:nvPr/>
        </p:nvSpPr>
        <p:spPr>
          <a:xfrm>
            <a:off x="822960" y="2130552"/>
            <a:ext cx="3108960" cy="502920"/>
          </a:xfrm>
          <a:prstGeom prst="rect">
            <a:avLst/>
          </a:prstGeom>
          <a:noFill/>
          <a:ln/>
        </p:spPr>
        <p:txBody>
          <a:bodyPr wrap="square" lIns="0" tIns="0" rIns="0" bIns="0" rtlCol="0" anchor="t"/>
          <a:lstStyle/>
          <a:p>
            <a:pPr indent="0" marL="0">
              <a:buNone/>
            </a:pPr>
            <a:r>
              <a:rPr lang="en-US" sz="1300" i="1" dirty="0">
                <a:solidFill>
                  <a:srgbClr val="C9CCD8"/>
                </a:solidFill>
                <a:latin typeface="Palatino Linotype" pitchFamily="34" charset="0"/>
                <a:ea typeface="Palatino Linotype" pitchFamily="34" charset="-122"/>
                <a:cs typeface="Palatino Linotype" pitchFamily="34" charset="-120"/>
              </a:rPr>
              <a:t>spitalul județean, municipal sau orășenesc</a:t>
            </a:r>
            <a:endParaRPr lang="en-US" sz="1300" dirty="0"/>
          </a:p>
        </p:txBody>
      </p:sp>
      <p:sp>
        <p:nvSpPr>
          <p:cNvPr id="8" name="Text 6"/>
          <p:cNvSpPr/>
          <p:nvPr/>
        </p:nvSpPr>
        <p:spPr>
          <a:xfrm>
            <a:off x="822960" y="2651760"/>
            <a:ext cx="310896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Căutați întâi: </a:t>
            </a:r>
            <a:pPr indent="0" marL="0">
              <a:buNone/>
            </a:pPr>
            <a:r>
              <a:rPr lang="en-US" sz="1300" dirty="0">
                <a:solidFill>
                  <a:srgbClr val="E6E8EF"/>
                </a:solidFill>
                <a:latin typeface="Palatino Linotype" pitchFamily="34" charset="0"/>
                <a:ea typeface="Palatino Linotype" pitchFamily="34" charset="-122"/>
                <a:cs typeface="Palatino Linotype" pitchFamily="34" charset="-120"/>
              </a:rPr>
              <a:t>site-ul spitalului; aplicația CNAS; casa județeană de asigurări</a:t>
            </a:r>
            <a:endParaRPr lang="en-US" sz="1300" dirty="0"/>
          </a:p>
        </p:txBody>
      </p:sp>
      <p:sp>
        <p:nvSpPr>
          <p:cNvPr id="9" name="Shape 7"/>
          <p:cNvSpPr/>
          <p:nvPr/>
        </p:nvSpPr>
        <p:spPr>
          <a:xfrm>
            <a:off x="4343400" y="1554480"/>
            <a:ext cx="3520440" cy="1874520"/>
          </a:xfrm>
          <a:prstGeom prst="roundRect">
            <a:avLst>
              <a:gd name="adj" fmla="val 4390"/>
            </a:avLst>
          </a:prstGeom>
          <a:solidFill>
            <a:srgbClr val="1D1F2B"/>
          </a:solidFill>
          <a:ln w="12700">
            <a:solidFill>
              <a:srgbClr val="1D1F2B"/>
            </a:solidFill>
            <a:prstDash val="solid"/>
          </a:ln>
        </p:spPr>
        <p:txBody>
          <a:bodyPr/>
          <a:p/>
        </p:txBody>
      </p:sp>
      <p:sp>
        <p:nvSpPr>
          <p:cNvPr id="10" name="Shape 8"/>
          <p:cNvSpPr/>
          <p:nvPr/>
        </p:nvSpPr>
        <p:spPr>
          <a:xfrm>
            <a:off x="4343400" y="1554480"/>
            <a:ext cx="3520440" cy="73152"/>
          </a:xfrm>
          <a:prstGeom prst="rect">
            <a:avLst/>
          </a:prstGeom>
          <a:solidFill>
            <a:srgbClr val="FFC24B"/>
          </a:solidFill>
          <a:ln w="12700">
            <a:solidFill>
              <a:srgbClr val="FFC24B"/>
            </a:solidFill>
            <a:prstDash val="solid"/>
          </a:ln>
        </p:spPr>
        <p:txBody>
          <a:bodyPr/>
          <a:p/>
        </p:txBody>
      </p:sp>
      <p:sp>
        <p:nvSpPr>
          <p:cNvPr id="11" name="Text 9"/>
          <p:cNvSpPr/>
          <p:nvPr/>
        </p:nvSpPr>
        <p:spPr>
          <a:xfrm>
            <a:off x="4572000" y="1719072"/>
            <a:ext cx="3108960" cy="411480"/>
          </a:xfrm>
          <a:prstGeom prst="rect">
            <a:avLst/>
          </a:prstGeom>
          <a:noFill/>
          <a:ln/>
        </p:spPr>
        <p:txBody>
          <a:bodyPr wrap="square" lIns="0" tIns="0" rIns="0" bIns="0" rtlCol="0" anchor="t"/>
          <a:lstStyle/>
          <a:p>
            <a:pPr indent="0" marL="0">
              <a:buNone/>
            </a:pPr>
            <a:r>
              <a:rPr lang="en-US" sz="1650" b="1" dirty="0">
                <a:solidFill>
                  <a:srgbClr val="FFC24B"/>
                </a:solidFill>
                <a:latin typeface="Palatino Linotype" pitchFamily="34" charset="0"/>
                <a:ea typeface="Palatino Linotype" pitchFamily="34" charset="-122"/>
                <a:cs typeface="Palatino Linotype" pitchFamily="34" charset="-120"/>
              </a:rPr>
              <a:t>Spital privat</a:t>
            </a:r>
            <a:endParaRPr lang="en-US" sz="1650" dirty="0"/>
          </a:p>
        </p:txBody>
      </p:sp>
      <p:sp>
        <p:nvSpPr>
          <p:cNvPr id="12" name="Text 10"/>
          <p:cNvSpPr/>
          <p:nvPr/>
        </p:nvSpPr>
        <p:spPr>
          <a:xfrm>
            <a:off x="4572000" y="2130552"/>
            <a:ext cx="3108960" cy="502920"/>
          </a:xfrm>
          <a:prstGeom prst="rect">
            <a:avLst/>
          </a:prstGeom>
          <a:noFill/>
          <a:ln/>
        </p:spPr>
        <p:txBody>
          <a:bodyPr wrap="square" lIns="0" tIns="0" rIns="0" bIns="0" rtlCol="0" anchor="t"/>
          <a:lstStyle/>
          <a:p>
            <a:pPr indent="0" marL="0">
              <a:buNone/>
            </a:pPr>
            <a:r>
              <a:rPr lang="en-US" sz="1300" i="1" dirty="0">
                <a:solidFill>
                  <a:srgbClr val="C9CCD8"/>
                </a:solidFill>
                <a:latin typeface="Palatino Linotype" pitchFamily="34" charset="0"/>
                <a:ea typeface="Palatino Linotype" pitchFamily="34" charset="-122"/>
                <a:cs typeface="Palatino Linotype" pitchFamily="34" charset="-120"/>
              </a:rPr>
              <a:t>un spital cu paturi al unei rețele private</a:t>
            </a:r>
            <a:endParaRPr lang="en-US" sz="1300" dirty="0"/>
          </a:p>
        </p:txBody>
      </p:sp>
      <p:sp>
        <p:nvSpPr>
          <p:cNvPr id="13" name="Text 11"/>
          <p:cNvSpPr/>
          <p:nvPr/>
        </p:nvSpPr>
        <p:spPr>
          <a:xfrm>
            <a:off x="4572000" y="2651760"/>
            <a:ext cx="310896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Căutați întâi: </a:t>
            </a:r>
            <a:pPr indent="0" marL="0">
              <a:buNone/>
            </a:pPr>
            <a:r>
              <a:rPr lang="en-US" sz="1300" dirty="0">
                <a:solidFill>
                  <a:srgbClr val="E6E8EF"/>
                </a:solidFill>
                <a:latin typeface="Palatino Linotype" pitchFamily="34" charset="0"/>
                <a:ea typeface="Palatino Linotype" pitchFamily="34" charset="-122"/>
                <a:cs typeface="Palatino Linotype" pitchFamily="34" charset="-120"/>
              </a:rPr>
              <a:t>site-ul spitalului; casa județeană, dacă are contract</a:t>
            </a:r>
            <a:endParaRPr lang="en-US" sz="1300" dirty="0"/>
          </a:p>
        </p:txBody>
      </p:sp>
      <p:sp>
        <p:nvSpPr>
          <p:cNvPr id="14" name="Shape 12"/>
          <p:cNvSpPr/>
          <p:nvPr/>
        </p:nvSpPr>
        <p:spPr>
          <a:xfrm>
            <a:off x="8092440" y="1554480"/>
            <a:ext cx="3520440" cy="1874520"/>
          </a:xfrm>
          <a:prstGeom prst="roundRect">
            <a:avLst>
              <a:gd name="adj" fmla="val 4390"/>
            </a:avLst>
          </a:prstGeom>
          <a:solidFill>
            <a:srgbClr val="1D1F2B"/>
          </a:solidFill>
          <a:ln w="12700">
            <a:solidFill>
              <a:srgbClr val="1D1F2B"/>
            </a:solidFill>
            <a:prstDash val="solid"/>
          </a:ln>
        </p:spPr>
        <p:txBody>
          <a:bodyPr/>
          <a:p/>
        </p:txBody>
      </p:sp>
      <p:sp>
        <p:nvSpPr>
          <p:cNvPr id="15" name="Shape 13"/>
          <p:cNvSpPr/>
          <p:nvPr/>
        </p:nvSpPr>
        <p:spPr>
          <a:xfrm>
            <a:off x="8092440" y="1554480"/>
            <a:ext cx="3520440" cy="73152"/>
          </a:xfrm>
          <a:prstGeom prst="rect">
            <a:avLst/>
          </a:prstGeom>
          <a:solidFill>
            <a:srgbClr val="27D3BE"/>
          </a:solidFill>
          <a:ln w="12700">
            <a:solidFill>
              <a:srgbClr val="27D3BE"/>
            </a:solidFill>
            <a:prstDash val="solid"/>
          </a:ln>
        </p:spPr>
        <p:txBody>
          <a:bodyPr/>
          <a:p/>
        </p:txBody>
      </p:sp>
      <p:sp>
        <p:nvSpPr>
          <p:cNvPr id="16" name="Text 14"/>
          <p:cNvSpPr/>
          <p:nvPr/>
        </p:nvSpPr>
        <p:spPr>
          <a:xfrm>
            <a:off x="8321040" y="1719072"/>
            <a:ext cx="3108960" cy="411480"/>
          </a:xfrm>
          <a:prstGeom prst="rect">
            <a:avLst/>
          </a:prstGeom>
          <a:noFill/>
          <a:ln/>
        </p:spPr>
        <p:txBody>
          <a:bodyPr wrap="square" lIns="0" tIns="0" rIns="0" bIns="0" rtlCol="0" anchor="t"/>
          <a:lstStyle/>
          <a:p>
            <a:pPr indent="0" marL="0">
              <a:buNone/>
            </a:pPr>
            <a:r>
              <a:rPr lang="en-US" sz="1650" b="1" dirty="0">
                <a:solidFill>
                  <a:srgbClr val="27D3BE"/>
                </a:solidFill>
                <a:latin typeface="Palatino Linotype" pitchFamily="34" charset="0"/>
                <a:ea typeface="Palatino Linotype" pitchFamily="34" charset="-122"/>
                <a:cs typeface="Palatino Linotype" pitchFamily="34" charset="-120"/>
              </a:rPr>
              <a:t>Direcție de sănătate publică</a:t>
            </a:r>
            <a:endParaRPr lang="en-US" sz="1650" dirty="0"/>
          </a:p>
        </p:txBody>
      </p:sp>
      <p:sp>
        <p:nvSpPr>
          <p:cNvPr id="17" name="Text 15"/>
          <p:cNvSpPr/>
          <p:nvPr/>
        </p:nvSpPr>
        <p:spPr>
          <a:xfrm>
            <a:off x="8321040" y="2130552"/>
            <a:ext cx="3108960" cy="502920"/>
          </a:xfrm>
          <a:prstGeom prst="rect">
            <a:avLst/>
          </a:prstGeom>
          <a:noFill/>
          <a:ln/>
        </p:spPr>
        <p:txBody>
          <a:bodyPr wrap="square" lIns="0" tIns="0" rIns="0" bIns="0" rtlCol="0" anchor="t"/>
          <a:lstStyle/>
          <a:p>
            <a:pPr indent="0" marL="0">
              <a:buNone/>
            </a:pPr>
            <a:r>
              <a:rPr lang="en-US" sz="1300" i="1" dirty="0">
                <a:solidFill>
                  <a:srgbClr val="C9CCD8"/>
                </a:solidFill>
                <a:latin typeface="Palatino Linotype" pitchFamily="34" charset="0"/>
                <a:ea typeface="Palatino Linotype" pitchFamily="34" charset="-122"/>
                <a:cs typeface="Palatino Linotype" pitchFamily="34" charset="-120"/>
              </a:rPr>
              <a:t>direcția de sănătate publică a unui județ</a:t>
            </a:r>
            <a:endParaRPr lang="en-US" sz="1300" dirty="0"/>
          </a:p>
        </p:txBody>
      </p:sp>
      <p:sp>
        <p:nvSpPr>
          <p:cNvPr id="18" name="Text 16"/>
          <p:cNvSpPr/>
          <p:nvPr/>
        </p:nvSpPr>
        <p:spPr>
          <a:xfrm>
            <a:off x="8321040" y="2651760"/>
            <a:ext cx="310896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Căutați întâi: </a:t>
            </a:r>
            <a:pPr indent="0" marL="0">
              <a:buNone/>
            </a:pPr>
            <a:r>
              <a:rPr lang="en-US" sz="1300" dirty="0">
                <a:solidFill>
                  <a:srgbClr val="E6E8EF"/>
                </a:solidFill>
                <a:latin typeface="Palatino Linotype" pitchFamily="34" charset="0"/>
                <a:ea typeface="Palatino Linotype" pitchFamily="34" charset="-122"/>
                <a:cs typeface="Palatino Linotype" pitchFamily="34" charset="-120"/>
              </a:rPr>
              <a:t>site-ul direcției; rapoartele de activitate</a:t>
            </a:r>
            <a:endParaRPr lang="en-US" sz="1300" dirty="0"/>
          </a:p>
        </p:txBody>
      </p:sp>
      <p:sp>
        <p:nvSpPr>
          <p:cNvPr id="19" name="Shape 17"/>
          <p:cNvSpPr/>
          <p:nvPr/>
        </p:nvSpPr>
        <p:spPr>
          <a:xfrm>
            <a:off x="594360" y="3566160"/>
            <a:ext cx="3520440" cy="1874520"/>
          </a:xfrm>
          <a:prstGeom prst="roundRect">
            <a:avLst>
              <a:gd name="adj" fmla="val 4390"/>
            </a:avLst>
          </a:prstGeom>
          <a:solidFill>
            <a:srgbClr val="1D1F2B"/>
          </a:solidFill>
          <a:ln w="12700">
            <a:solidFill>
              <a:srgbClr val="1D1F2B"/>
            </a:solidFill>
            <a:prstDash val="solid"/>
          </a:ln>
        </p:spPr>
        <p:txBody>
          <a:bodyPr/>
          <a:p/>
        </p:txBody>
      </p:sp>
      <p:sp>
        <p:nvSpPr>
          <p:cNvPr id="20" name="Shape 18"/>
          <p:cNvSpPr/>
          <p:nvPr/>
        </p:nvSpPr>
        <p:spPr>
          <a:xfrm>
            <a:off x="594360" y="3566160"/>
            <a:ext cx="3520440" cy="73152"/>
          </a:xfrm>
          <a:prstGeom prst="rect">
            <a:avLst/>
          </a:prstGeom>
          <a:solidFill>
            <a:srgbClr val="9B7EF7"/>
          </a:solidFill>
          <a:ln w="12700">
            <a:solidFill>
              <a:srgbClr val="9B7EF7"/>
            </a:solidFill>
            <a:prstDash val="solid"/>
          </a:ln>
        </p:spPr>
        <p:txBody>
          <a:bodyPr/>
          <a:p/>
        </p:txBody>
      </p:sp>
      <p:sp>
        <p:nvSpPr>
          <p:cNvPr id="21" name="Text 19"/>
          <p:cNvSpPr/>
          <p:nvPr/>
        </p:nvSpPr>
        <p:spPr>
          <a:xfrm>
            <a:off x="822960" y="3730752"/>
            <a:ext cx="3108960" cy="411480"/>
          </a:xfrm>
          <a:prstGeom prst="rect">
            <a:avLst/>
          </a:prstGeom>
          <a:noFill/>
          <a:ln/>
        </p:spPr>
        <p:txBody>
          <a:bodyPr wrap="square" lIns="0" tIns="0" rIns="0" bIns="0" rtlCol="0" anchor="t"/>
          <a:lstStyle/>
          <a:p>
            <a:pPr indent="0" marL="0">
              <a:buNone/>
            </a:pPr>
            <a:r>
              <a:rPr lang="en-US" sz="1650" b="1" dirty="0">
                <a:solidFill>
                  <a:srgbClr val="9B7EF7"/>
                </a:solidFill>
                <a:latin typeface="Palatino Linotype" pitchFamily="34" charset="0"/>
                <a:ea typeface="Palatino Linotype" pitchFamily="34" charset="-122"/>
                <a:cs typeface="Palatino Linotype" pitchFamily="34" charset="-120"/>
              </a:rPr>
              <a:t>Ambulatoriu</a:t>
            </a:r>
            <a:endParaRPr lang="en-US" sz="1650" dirty="0"/>
          </a:p>
        </p:txBody>
      </p:sp>
      <p:sp>
        <p:nvSpPr>
          <p:cNvPr id="22" name="Text 20"/>
          <p:cNvSpPr/>
          <p:nvPr/>
        </p:nvSpPr>
        <p:spPr>
          <a:xfrm>
            <a:off x="822960" y="4142232"/>
            <a:ext cx="3108960" cy="502920"/>
          </a:xfrm>
          <a:prstGeom prst="rect">
            <a:avLst/>
          </a:prstGeom>
          <a:noFill/>
          <a:ln/>
        </p:spPr>
        <p:txBody>
          <a:bodyPr wrap="square" lIns="0" tIns="0" rIns="0" bIns="0" rtlCol="0" anchor="t"/>
          <a:lstStyle/>
          <a:p>
            <a:pPr indent="0" marL="0">
              <a:buNone/>
            </a:pPr>
            <a:r>
              <a:rPr lang="en-US" sz="1300" i="1" dirty="0">
                <a:solidFill>
                  <a:srgbClr val="C9CCD8"/>
                </a:solidFill>
                <a:latin typeface="Palatino Linotype" pitchFamily="34" charset="0"/>
                <a:ea typeface="Palatino Linotype" pitchFamily="34" charset="-122"/>
                <a:cs typeface="Palatino Linotype" pitchFamily="34" charset="-120"/>
              </a:rPr>
              <a:t>ambulatoriul unui spital, un centru medical</a:t>
            </a:r>
            <a:endParaRPr lang="en-US" sz="1300" dirty="0"/>
          </a:p>
        </p:txBody>
      </p:sp>
      <p:sp>
        <p:nvSpPr>
          <p:cNvPr id="23" name="Text 21"/>
          <p:cNvSpPr/>
          <p:nvPr/>
        </p:nvSpPr>
        <p:spPr>
          <a:xfrm>
            <a:off x="822960" y="4663440"/>
            <a:ext cx="310896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Căutați întâi: </a:t>
            </a:r>
            <a:pPr indent="0" marL="0">
              <a:buNone/>
            </a:pPr>
            <a:r>
              <a:rPr lang="en-US" sz="1300" dirty="0">
                <a:solidFill>
                  <a:srgbClr val="E6E8EF"/>
                </a:solidFill>
                <a:latin typeface="Palatino Linotype" pitchFamily="34" charset="0"/>
                <a:ea typeface="Palatino Linotype" pitchFamily="34" charset="-122"/>
                <a:cs typeface="Palatino Linotype" pitchFamily="34" charset="-120"/>
              </a:rPr>
              <a:t>site-ul organizației; casa județeană de asigurări</a:t>
            </a:r>
            <a:endParaRPr lang="en-US" sz="1300" dirty="0"/>
          </a:p>
        </p:txBody>
      </p:sp>
      <p:sp>
        <p:nvSpPr>
          <p:cNvPr id="24" name="Shape 22"/>
          <p:cNvSpPr/>
          <p:nvPr/>
        </p:nvSpPr>
        <p:spPr>
          <a:xfrm>
            <a:off x="4343400" y="3566160"/>
            <a:ext cx="3520440" cy="1874520"/>
          </a:xfrm>
          <a:prstGeom prst="roundRect">
            <a:avLst>
              <a:gd name="adj" fmla="val 4390"/>
            </a:avLst>
          </a:prstGeom>
          <a:solidFill>
            <a:srgbClr val="1D1F2B"/>
          </a:solidFill>
          <a:ln w="12700">
            <a:solidFill>
              <a:srgbClr val="1D1F2B"/>
            </a:solidFill>
            <a:prstDash val="solid"/>
          </a:ln>
        </p:spPr>
        <p:txBody>
          <a:bodyPr/>
          <a:p/>
        </p:txBody>
      </p:sp>
      <p:sp>
        <p:nvSpPr>
          <p:cNvPr id="25" name="Shape 23"/>
          <p:cNvSpPr/>
          <p:nvPr/>
        </p:nvSpPr>
        <p:spPr>
          <a:xfrm>
            <a:off x="4343400" y="3566160"/>
            <a:ext cx="3520440" cy="73152"/>
          </a:xfrm>
          <a:prstGeom prst="rect">
            <a:avLst/>
          </a:prstGeom>
          <a:solidFill>
            <a:srgbClr val="FF8A3D"/>
          </a:solidFill>
          <a:ln w="12700">
            <a:solidFill>
              <a:srgbClr val="FF8A3D"/>
            </a:solidFill>
            <a:prstDash val="solid"/>
          </a:ln>
        </p:spPr>
        <p:txBody>
          <a:bodyPr/>
          <a:p/>
        </p:txBody>
      </p:sp>
      <p:sp>
        <p:nvSpPr>
          <p:cNvPr id="26" name="Text 24"/>
          <p:cNvSpPr/>
          <p:nvPr/>
        </p:nvSpPr>
        <p:spPr>
          <a:xfrm>
            <a:off x="4572000" y="3730752"/>
            <a:ext cx="3108960" cy="411480"/>
          </a:xfrm>
          <a:prstGeom prst="rect">
            <a:avLst/>
          </a:prstGeom>
          <a:noFill/>
          <a:ln/>
        </p:spPr>
        <p:txBody>
          <a:bodyPr wrap="square" lIns="0" tIns="0" rIns="0" bIns="0" rtlCol="0" anchor="t"/>
          <a:lstStyle/>
          <a:p>
            <a:pPr indent="0" marL="0">
              <a:buNone/>
            </a:pPr>
            <a:r>
              <a:rPr lang="en-US" sz="1650" b="1" dirty="0">
                <a:solidFill>
                  <a:srgbClr val="FF8A3D"/>
                </a:solidFill>
                <a:latin typeface="Palatino Linotype" pitchFamily="34" charset="0"/>
                <a:ea typeface="Palatino Linotype" pitchFamily="34" charset="-122"/>
                <a:cs typeface="Palatino Linotype" pitchFamily="34" charset="-120"/>
              </a:rPr>
              <a:t>Cabinet de medicină de familie</a:t>
            </a:r>
            <a:endParaRPr lang="en-US" sz="1650" dirty="0"/>
          </a:p>
        </p:txBody>
      </p:sp>
      <p:sp>
        <p:nvSpPr>
          <p:cNvPr id="27" name="Text 25"/>
          <p:cNvSpPr/>
          <p:nvPr/>
        </p:nvSpPr>
        <p:spPr>
          <a:xfrm>
            <a:off x="4572000" y="4142232"/>
            <a:ext cx="3108960" cy="502920"/>
          </a:xfrm>
          <a:prstGeom prst="rect">
            <a:avLst/>
          </a:prstGeom>
          <a:noFill/>
          <a:ln/>
        </p:spPr>
        <p:txBody>
          <a:bodyPr wrap="square" lIns="0" tIns="0" rIns="0" bIns="0" rtlCol="0" anchor="t"/>
          <a:lstStyle/>
          <a:p>
            <a:pPr indent="0" marL="0">
              <a:buNone/>
            </a:pPr>
            <a:r>
              <a:rPr lang="en-US" sz="1300" i="1" dirty="0">
                <a:solidFill>
                  <a:srgbClr val="C9CCD8"/>
                </a:solidFill>
                <a:latin typeface="Palatino Linotype" pitchFamily="34" charset="0"/>
                <a:ea typeface="Palatino Linotype" pitchFamily="34" charset="-122"/>
                <a:cs typeface="Palatino Linotype" pitchFamily="34" charset="-120"/>
              </a:rPr>
              <a:t>un cabinet sau un centru de medicină de familie</a:t>
            </a:r>
            <a:endParaRPr lang="en-US" sz="1300" dirty="0"/>
          </a:p>
        </p:txBody>
      </p:sp>
      <p:sp>
        <p:nvSpPr>
          <p:cNvPr id="28" name="Text 26"/>
          <p:cNvSpPr/>
          <p:nvPr/>
        </p:nvSpPr>
        <p:spPr>
          <a:xfrm>
            <a:off x="4572000" y="4663440"/>
            <a:ext cx="310896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Căutați întâi: </a:t>
            </a:r>
            <a:pPr indent="0" marL="0">
              <a:buNone/>
            </a:pPr>
            <a:r>
              <a:rPr lang="en-US" sz="1300" dirty="0">
                <a:solidFill>
                  <a:srgbClr val="E6E8EF"/>
                </a:solidFill>
                <a:latin typeface="Palatino Linotype" pitchFamily="34" charset="0"/>
                <a:ea typeface="Palatino Linotype" pitchFamily="34" charset="-122"/>
                <a:cs typeface="Palatino Linotype" pitchFamily="34" charset="-120"/>
              </a:rPr>
              <a:t>site-ul cabinetului; casa județeană de asigurări</a:t>
            </a:r>
            <a:endParaRPr lang="en-US" sz="1300" dirty="0"/>
          </a:p>
        </p:txBody>
      </p:sp>
      <p:sp>
        <p:nvSpPr>
          <p:cNvPr id="29" name="Shape 27"/>
          <p:cNvSpPr/>
          <p:nvPr/>
        </p:nvSpPr>
        <p:spPr>
          <a:xfrm>
            <a:off x="8092440" y="3566160"/>
            <a:ext cx="3520440" cy="1874520"/>
          </a:xfrm>
          <a:prstGeom prst="roundRect">
            <a:avLst>
              <a:gd name="adj" fmla="val 4390"/>
            </a:avLst>
          </a:prstGeom>
          <a:solidFill>
            <a:srgbClr val="1D1F2B"/>
          </a:solidFill>
          <a:ln w="12700">
            <a:solidFill>
              <a:srgbClr val="1D1F2B"/>
            </a:solidFill>
            <a:prstDash val="solid"/>
          </a:ln>
        </p:spPr>
        <p:txBody>
          <a:bodyPr/>
          <a:p/>
        </p:txBody>
      </p:sp>
      <p:sp>
        <p:nvSpPr>
          <p:cNvPr id="30" name="Shape 28"/>
          <p:cNvSpPr/>
          <p:nvPr/>
        </p:nvSpPr>
        <p:spPr>
          <a:xfrm>
            <a:off x="8092440" y="3566160"/>
            <a:ext cx="3520440" cy="73152"/>
          </a:xfrm>
          <a:prstGeom prst="rect">
            <a:avLst/>
          </a:prstGeom>
          <a:solidFill>
            <a:srgbClr val="C9CCD8"/>
          </a:solidFill>
          <a:ln w="12700">
            <a:solidFill>
              <a:srgbClr val="C9CCD8"/>
            </a:solidFill>
            <a:prstDash val="solid"/>
          </a:ln>
        </p:spPr>
        <p:txBody>
          <a:bodyPr/>
          <a:p/>
        </p:txBody>
      </p:sp>
      <p:sp>
        <p:nvSpPr>
          <p:cNvPr id="31" name="Text 29"/>
          <p:cNvSpPr/>
          <p:nvPr/>
        </p:nvSpPr>
        <p:spPr>
          <a:xfrm>
            <a:off x="8321040" y="3730752"/>
            <a:ext cx="3108960" cy="411480"/>
          </a:xfrm>
          <a:prstGeom prst="rect">
            <a:avLst/>
          </a:prstGeom>
          <a:noFill/>
          <a:ln/>
        </p:spPr>
        <p:txBody>
          <a:bodyPr wrap="square" lIns="0" tIns="0" rIns="0" bIns="0" rtlCol="0" anchor="t"/>
          <a:lstStyle/>
          <a:p>
            <a:pPr indent="0" marL="0">
              <a:buNone/>
            </a:pPr>
            <a:r>
              <a:rPr lang="en-US" sz="1650" b="1" dirty="0">
                <a:solidFill>
                  <a:srgbClr val="C9CCD8"/>
                </a:solidFill>
                <a:latin typeface="Palatino Linotype" pitchFamily="34" charset="0"/>
                <a:ea typeface="Palatino Linotype" pitchFamily="34" charset="-122"/>
                <a:cs typeface="Palatino Linotype" pitchFamily="34" charset="-120"/>
              </a:rPr>
              <a:t>Altă organizație de sănătate</a:t>
            </a:r>
            <a:endParaRPr lang="en-US" sz="1650" dirty="0"/>
          </a:p>
        </p:txBody>
      </p:sp>
      <p:sp>
        <p:nvSpPr>
          <p:cNvPr id="32" name="Text 30"/>
          <p:cNvSpPr/>
          <p:nvPr/>
        </p:nvSpPr>
        <p:spPr>
          <a:xfrm>
            <a:off x="8321040" y="4142232"/>
            <a:ext cx="3108960" cy="502920"/>
          </a:xfrm>
          <a:prstGeom prst="rect">
            <a:avLst/>
          </a:prstGeom>
          <a:noFill/>
          <a:ln/>
        </p:spPr>
        <p:txBody>
          <a:bodyPr wrap="square" lIns="0" tIns="0" rIns="0" bIns="0" rtlCol="0" anchor="t"/>
          <a:lstStyle/>
          <a:p>
            <a:pPr indent="0" marL="0">
              <a:buNone/>
            </a:pPr>
            <a:r>
              <a:rPr lang="en-US" sz="1300" i="1" dirty="0">
                <a:solidFill>
                  <a:srgbClr val="C9CCD8"/>
                </a:solidFill>
                <a:latin typeface="Palatino Linotype" pitchFamily="34" charset="0"/>
                <a:ea typeface="Palatino Linotype" pitchFamily="34" charset="-122"/>
                <a:cs typeface="Palatino Linotype" pitchFamily="34" charset="-120"/>
              </a:rPr>
              <a:t>un serviciu de ambulanță, un centru de sănătate mintală</a:t>
            </a:r>
            <a:endParaRPr lang="en-US" sz="1300" dirty="0"/>
          </a:p>
        </p:txBody>
      </p:sp>
      <p:sp>
        <p:nvSpPr>
          <p:cNvPr id="33" name="Text 31"/>
          <p:cNvSpPr/>
          <p:nvPr/>
        </p:nvSpPr>
        <p:spPr>
          <a:xfrm>
            <a:off x="8321040" y="4663440"/>
            <a:ext cx="310896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Căutați întâi: </a:t>
            </a:r>
            <a:pPr indent="0" marL="0">
              <a:buNone/>
            </a:pPr>
            <a:r>
              <a:rPr lang="en-US" sz="1300" dirty="0">
                <a:solidFill>
                  <a:srgbClr val="E6E8EF"/>
                </a:solidFill>
                <a:latin typeface="Palatino Linotype" pitchFamily="34" charset="0"/>
                <a:ea typeface="Palatino Linotype" pitchFamily="34" charset="-122"/>
                <a:cs typeface="Palatino Linotype" pitchFamily="34" charset="-120"/>
              </a:rPr>
              <a:t>site-ul organizației; rapoartele de activitate</a:t>
            </a:r>
            <a:endParaRPr lang="en-US" sz="1300" dirty="0"/>
          </a:p>
        </p:txBody>
      </p:sp>
      <p:sp>
        <p:nvSpPr>
          <p:cNvPr id="34" name="Text 32"/>
          <p:cNvSpPr/>
          <p:nvPr/>
        </p:nvSpPr>
        <p:spPr>
          <a:xfrm>
            <a:off x="594360" y="5669280"/>
            <a:ext cx="10972800" cy="548640"/>
          </a:xfrm>
          <a:prstGeom prst="rect">
            <a:avLst/>
          </a:prstGeom>
          <a:noFill/>
          <a:ln/>
        </p:spPr>
        <p:txBody>
          <a:bodyPr wrap="square" lIns="0" tIns="0" rIns="0" bIns="0" rtlCol="0" anchor="t"/>
          <a:lstStyle/>
          <a:p>
            <a:pPr indent="0" marL="0">
              <a:buNone/>
            </a:pPr>
            <a:r>
              <a:rPr lang="en-US" sz="1650" b="1" dirty="0">
                <a:solidFill>
                  <a:srgbClr val="27D3BE"/>
                </a:solidFill>
                <a:latin typeface="Palatino Linotype" pitchFamily="34" charset="0"/>
                <a:ea typeface="Palatino Linotype" pitchFamily="34" charset="-122"/>
                <a:cs typeface="Palatino Linotype" pitchFamily="34" charset="-120"/>
              </a:rPr>
              <a:t>Numai informații publice: echipa nu folosește documente interne, chiar dacă un membru le-ar putea obține.</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TERMENUL 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Planul de dezvoltare</a:t>
            </a:r>
            <a:endParaRPr lang="en-US" sz="3200" dirty="0"/>
          </a:p>
        </p:txBody>
      </p:sp>
      <p:sp>
        <p:nvSpPr>
          <p:cNvPr id="4" name="Shape 2"/>
          <p:cNvSpPr/>
          <p:nvPr/>
        </p:nvSpPr>
        <p:spPr>
          <a:xfrm>
            <a:off x="685800" y="1554480"/>
            <a:ext cx="5120640" cy="4297680"/>
          </a:xfrm>
          <a:prstGeom prst="rect">
            <a:avLst/>
          </a:prstGeom>
          <a:solidFill>
            <a:srgbClr val="FFFFFF"/>
          </a:solidFill>
          <a:ln w="9525">
            <a:solidFill>
              <a:srgbClr val="D9D5CA"/>
            </a:solidFill>
            <a:prstDash val="solid"/>
          </a:ln>
          <a:effectLst>
            <a:outerShdw sx="100000" sy="100000" kx="0" ky="0" algn="bl" rotWithShape="0" blurRad="101600" dist="38100" dir="3600000">
              <a:srgbClr val="000000">
                <a:alpha val="18000"/>
              </a:srgbClr>
            </a:outerShdw>
          </a:effectLst>
        </p:spPr>
        <p:txBody>
          <a:bodyPr/>
          <a:p/>
        </p:txBody>
      </p:sp>
      <p:sp>
        <p:nvSpPr>
          <p:cNvPr id="5" name="Text 3"/>
          <p:cNvSpPr/>
          <p:nvPr/>
        </p:nvSpPr>
        <p:spPr>
          <a:xfrm>
            <a:off x="1051560" y="1828800"/>
            <a:ext cx="4389120" cy="320040"/>
          </a:xfrm>
          <a:prstGeom prst="rect">
            <a:avLst/>
          </a:prstGeom>
          <a:noFill/>
          <a:ln/>
        </p:spPr>
        <p:txBody>
          <a:bodyPr wrap="square" lIns="0" tIns="0" rIns="0" bIns="0" rtlCol="0" anchor="t"/>
          <a:lstStyle/>
          <a:p>
            <a:pPr indent="0" marL="0">
              <a:buNone/>
            </a:pPr>
            <a:r>
              <a:rPr lang="en-US" sz="1200" b="1" spc="200" kern="0" dirty="0">
                <a:solidFill>
                  <a:srgbClr val="11121A"/>
                </a:solidFill>
                <a:latin typeface="Palatino Linotype" pitchFamily="34" charset="0"/>
                <a:ea typeface="Palatino Linotype" pitchFamily="34" charset="-122"/>
                <a:cs typeface="Palatino Linotype" pitchFamily="34" charset="-120"/>
              </a:rPr>
              <a:t>PLANUL DE DEZVOLTARE AL SPITALULUI</a:t>
            </a:r>
            <a:endParaRPr lang="en-US" sz="1200" dirty="0"/>
          </a:p>
        </p:txBody>
      </p:sp>
      <p:sp>
        <p:nvSpPr>
          <p:cNvPr id="6" name="Text 4"/>
          <p:cNvSpPr/>
          <p:nvPr/>
        </p:nvSpPr>
        <p:spPr>
          <a:xfrm>
            <a:off x="1051560" y="2148840"/>
            <a:ext cx="4389120" cy="27432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pentru perioada mandatului managerului</a:t>
            </a:r>
            <a:endParaRPr lang="en-US" sz="1200" dirty="0"/>
          </a:p>
        </p:txBody>
      </p:sp>
      <p:sp>
        <p:nvSpPr>
          <p:cNvPr id="7" name="Shape 5"/>
          <p:cNvSpPr/>
          <p:nvPr/>
        </p:nvSpPr>
        <p:spPr>
          <a:xfrm>
            <a:off x="1051560" y="2514600"/>
            <a:ext cx="4389120" cy="18288"/>
          </a:xfrm>
          <a:prstGeom prst="rect">
            <a:avLst/>
          </a:prstGeom>
          <a:solidFill>
            <a:srgbClr val="11121A"/>
          </a:solidFill>
          <a:ln/>
        </p:spPr>
        <p:txBody>
          <a:bodyPr/>
          <a:p/>
        </p:txBody>
      </p:sp>
      <p:sp>
        <p:nvSpPr>
          <p:cNvPr id="8" name="Shape 6"/>
          <p:cNvSpPr/>
          <p:nvPr/>
        </p:nvSpPr>
        <p:spPr>
          <a:xfrm>
            <a:off x="1051560" y="2743200"/>
            <a:ext cx="4389120" cy="82296"/>
          </a:xfrm>
          <a:prstGeom prst="rect">
            <a:avLst/>
          </a:prstGeom>
          <a:solidFill>
            <a:srgbClr val="E4E1D8"/>
          </a:solidFill>
          <a:ln/>
        </p:spPr>
        <p:txBody>
          <a:bodyPr/>
          <a:p/>
        </p:txBody>
      </p:sp>
      <p:sp>
        <p:nvSpPr>
          <p:cNvPr id="9" name="Shape 7"/>
          <p:cNvSpPr/>
          <p:nvPr/>
        </p:nvSpPr>
        <p:spPr>
          <a:xfrm>
            <a:off x="1051560" y="3017520"/>
            <a:ext cx="4389120" cy="82296"/>
          </a:xfrm>
          <a:prstGeom prst="rect">
            <a:avLst/>
          </a:prstGeom>
          <a:solidFill>
            <a:srgbClr val="E4E1D8"/>
          </a:solidFill>
          <a:ln/>
        </p:spPr>
        <p:txBody>
          <a:bodyPr/>
          <a:p/>
        </p:txBody>
      </p:sp>
      <p:sp>
        <p:nvSpPr>
          <p:cNvPr id="10" name="Shape 8"/>
          <p:cNvSpPr/>
          <p:nvPr/>
        </p:nvSpPr>
        <p:spPr>
          <a:xfrm>
            <a:off x="1051560" y="3291840"/>
            <a:ext cx="4389120" cy="82296"/>
          </a:xfrm>
          <a:prstGeom prst="rect">
            <a:avLst/>
          </a:prstGeom>
          <a:solidFill>
            <a:srgbClr val="E4E1D8"/>
          </a:solidFill>
          <a:ln/>
        </p:spPr>
        <p:txBody>
          <a:bodyPr/>
          <a:p/>
        </p:txBody>
      </p:sp>
      <p:sp>
        <p:nvSpPr>
          <p:cNvPr id="11" name="Shape 9"/>
          <p:cNvSpPr/>
          <p:nvPr/>
        </p:nvSpPr>
        <p:spPr>
          <a:xfrm>
            <a:off x="1051560" y="3566160"/>
            <a:ext cx="2377440" cy="82296"/>
          </a:xfrm>
          <a:prstGeom prst="rect">
            <a:avLst/>
          </a:prstGeom>
          <a:solidFill>
            <a:srgbClr val="E4E1D8"/>
          </a:solidFill>
          <a:ln/>
        </p:spPr>
        <p:txBody>
          <a:bodyPr/>
          <a:p/>
        </p:txBody>
      </p:sp>
      <p:sp>
        <p:nvSpPr>
          <p:cNvPr id="12" name="Shape 10"/>
          <p:cNvSpPr/>
          <p:nvPr/>
        </p:nvSpPr>
        <p:spPr>
          <a:xfrm>
            <a:off x="1051560" y="3931920"/>
            <a:ext cx="4389120" cy="1554480"/>
          </a:xfrm>
          <a:prstGeom prst="roundRect">
            <a:avLst>
              <a:gd name="adj" fmla="val 5294"/>
            </a:avLst>
          </a:prstGeom>
          <a:solidFill>
            <a:srgbClr val="F9F8F5"/>
          </a:solidFill>
          <a:ln w="12700">
            <a:solidFill>
              <a:srgbClr val="F9F8F5"/>
            </a:solidFill>
            <a:prstDash val="solid"/>
          </a:ln>
        </p:spPr>
        <p:txBody>
          <a:bodyPr/>
          <a:p/>
        </p:txBody>
      </p:sp>
      <p:sp>
        <p:nvSpPr>
          <p:cNvPr id="13" name="Text 11"/>
          <p:cNvSpPr/>
          <p:nvPr/>
        </p:nvSpPr>
        <p:spPr>
          <a:xfrm>
            <a:off x="1234440" y="3931920"/>
            <a:ext cx="4023360" cy="1554480"/>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[extras dintr-un plan de dezvoltare publicat]</a:t>
            </a:r>
            <a:endParaRPr lang="en-US" sz="1400" dirty="0"/>
          </a:p>
          <a:p>
            <a:pPr algn="ctr" indent="0" marL="0">
              <a:buNone/>
            </a:pPr>
            <a:r>
              <a:rPr lang="en-US" sz="1400" i="1" dirty="0">
                <a:solidFill>
                  <a:srgbClr val="585A64"/>
                </a:solidFill>
                <a:latin typeface="Palatino Linotype" pitchFamily="34" charset="0"/>
                <a:ea typeface="Palatino Linotype" pitchFamily="34" charset="-122"/>
                <a:cs typeface="Palatino Linotype" pitchFamily="34" charset="-120"/>
              </a:rPr>
              <a:t>documentul îl alege titularul</a:t>
            </a:r>
            <a:endParaRPr lang="en-US" sz="1400" dirty="0"/>
          </a:p>
        </p:txBody>
      </p:sp>
      <p:sp>
        <p:nvSpPr>
          <p:cNvPr id="14" name="Text 12"/>
          <p:cNvSpPr/>
          <p:nvPr/>
        </p:nvSpPr>
        <p:spPr>
          <a:xfrm>
            <a:off x="6263640" y="1508760"/>
            <a:ext cx="5303520" cy="347472"/>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Ce este</a:t>
            </a:r>
            <a:endParaRPr lang="en-US" sz="1600" dirty="0"/>
          </a:p>
        </p:txBody>
      </p:sp>
      <p:sp>
        <p:nvSpPr>
          <p:cNvPr id="15" name="Text 13"/>
          <p:cNvSpPr/>
          <p:nvPr/>
        </p:nvSpPr>
        <p:spPr>
          <a:xfrm>
            <a:off x="6263640" y="1856232"/>
            <a:ext cx="530352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Planul pe mai mulți ani al unui spital public. Comitetul director îl elaborează pentru perioada mandatului managerului, pe baza propunerilor consiliului medical.</a:t>
            </a:r>
            <a:endParaRPr lang="en-US" sz="1500" dirty="0"/>
          </a:p>
        </p:txBody>
      </p:sp>
      <p:sp>
        <p:nvSpPr>
          <p:cNvPr id="16" name="Text 14"/>
          <p:cNvSpPr/>
          <p:nvPr/>
        </p:nvSpPr>
        <p:spPr>
          <a:xfrm>
            <a:off x="6263640" y="2788920"/>
            <a:ext cx="5303520" cy="347472"/>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În limbaj de zi cu zi</a:t>
            </a:r>
            <a:endParaRPr lang="en-US" sz="1600" dirty="0"/>
          </a:p>
        </p:txBody>
      </p:sp>
      <p:sp>
        <p:nvSpPr>
          <p:cNvPr id="17" name="Text 15"/>
          <p:cNvSpPr/>
          <p:nvPr/>
        </p:nvSpPr>
        <p:spPr>
          <a:xfrm>
            <a:off x="6263640" y="3136392"/>
            <a:ext cx="530352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Ce își propune conducerea spitalului să schimbe până la sfârșitul mandatului.</a:t>
            </a:r>
            <a:endParaRPr lang="en-US" sz="1500" dirty="0"/>
          </a:p>
        </p:txBody>
      </p:sp>
      <p:sp>
        <p:nvSpPr>
          <p:cNvPr id="18" name="Text 16"/>
          <p:cNvSpPr/>
          <p:nvPr/>
        </p:nvSpPr>
        <p:spPr>
          <a:xfrm>
            <a:off x="6263640" y="4069080"/>
            <a:ext cx="5303520" cy="347472"/>
          </a:xfrm>
          <a:prstGeom prst="rect">
            <a:avLst/>
          </a:prstGeom>
          <a:noFill/>
          <a:ln/>
        </p:spPr>
        <p:txBody>
          <a:bodyPr wrap="square" lIns="0" tIns="0" rIns="0" bIns="0" rtlCol="0" anchor="t"/>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Exemplu</a:t>
            </a:r>
            <a:endParaRPr lang="en-US" sz="1600" dirty="0"/>
          </a:p>
        </p:txBody>
      </p:sp>
      <p:sp>
        <p:nvSpPr>
          <p:cNvPr id="19" name="Text 17"/>
          <p:cNvSpPr/>
          <p:nvPr/>
        </p:nvSpPr>
        <p:spPr>
          <a:xfrm>
            <a:off x="6263640" y="4416552"/>
            <a:ext cx="530352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 secție nouă, renovarea unui pavilion sau mutarea unor paturi spre internarea de zi.</a:t>
            </a:r>
            <a:endParaRPr lang="en-US" sz="1500" dirty="0"/>
          </a:p>
        </p:txBody>
      </p:sp>
      <p:sp>
        <p:nvSpPr>
          <p:cNvPr id="20" name="Text 18"/>
          <p:cNvSpPr/>
          <p:nvPr/>
        </p:nvSpPr>
        <p:spPr>
          <a:xfrm>
            <a:off x="6263640" y="5166360"/>
            <a:ext cx="5303520" cy="73152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Căutați-l pe site-ul spitalului ales: dacă este publicat, aveți direcția strategică aleasă chiar de organizație.</a:t>
            </a:r>
            <a:endParaRPr lang="en-US" sz="15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Ordinul ministrului sănătății nr. 1384/2010 (contractul de management); ordinul ministrului sănătății publice privind atribuțiile comitetului director (2006).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GRUPURI DE BANCĂ · FORMULAR</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FORMAȚI ECHIPA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Echipa și înscrierea în formular</a:t>
            </a:r>
            <a:endParaRPr lang="en-US" sz="3000" dirty="0"/>
          </a:p>
        </p:txBody>
      </p:sp>
      <p:sp>
        <p:nvSpPr>
          <p:cNvPr id="6" name="Shape 4"/>
          <p:cNvSpPr/>
          <p:nvPr/>
        </p:nvSpPr>
        <p:spPr>
          <a:xfrm>
            <a:off x="594360" y="1691640"/>
            <a:ext cx="7223760" cy="841248"/>
          </a:xfrm>
          <a:prstGeom prst="roundRect">
            <a:avLst>
              <a:gd name="adj" fmla="val 9783"/>
            </a:avLst>
          </a:prstGeom>
          <a:solidFill>
            <a:srgbClr val="ECEAE4"/>
          </a:solidFill>
          <a:ln w="12700">
            <a:solidFill>
              <a:srgbClr val="ECEAE4"/>
            </a:solidFill>
            <a:prstDash val="solid"/>
          </a:ln>
        </p:spPr>
        <p:txBody>
          <a:bodyPr/>
          <a:p/>
        </p:txBody>
      </p:sp>
      <p:sp>
        <p:nvSpPr>
          <p:cNvPr id="7" name="Shape 5"/>
          <p:cNvSpPr/>
          <p:nvPr/>
        </p:nvSpPr>
        <p:spPr>
          <a:xfrm>
            <a:off x="868680" y="1901952"/>
            <a:ext cx="420624" cy="420624"/>
          </a:xfrm>
          <a:prstGeom prst="ellipse">
            <a:avLst/>
          </a:prstGeom>
          <a:solidFill>
            <a:srgbClr val="FF4757"/>
          </a:solidFill>
          <a:ln/>
        </p:spPr>
        <p:txBody>
          <a:bodyPr/>
          <a:p/>
        </p:txBody>
      </p:sp>
      <p:sp>
        <p:nvSpPr>
          <p:cNvPr id="8" name="Text 6"/>
          <p:cNvSpPr/>
          <p:nvPr/>
        </p:nvSpPr>
        <p:spPr>
          <a:xfrm>
            <a:off x="868680" y="190195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691640"/>
            <a:ext cx="6080760" cy="84124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Patru sau cinci vecini de bancă; alegeți un coordonator.</a:t>
            </a:r>
            <a:endParaRPr lang="en-US" sz="1600" dirty="0"/>
          </a:p>
        </p:txBody>
      </p:sp>
      <p:sp>
        <p:nvSpPr>
          <p:cNvPr id="10" name="Shape 8"/>
          <p:cNvSpPr/>
          <p:nvPr/>
        </p:nvSpPr>
        <p:spPr>
          <a:xfrm>
            <a:off x="594360" y="2651760"/>
            <a:ext cx="7223760" cy="841248"/>
          </a:xfrm>
          <a:prstGeom prst="roundRect">
            <a:avLst>
              <a:gd name="adj" fmla="val 9783"/>
            </a:avLst>
          </a:prstGeom>
          <a:solidFill>
            <a:srgbClr val="ECEAE4"/>
          </a:solidFill>
          <a:ln w="12700">
            <a:solidFill>
              <a:srgbClr val="ECEAE4"/>
            </a:solidFill>
            <a:prstDash val="solid"/>
          </a:ln>
        </p:spPr>
        <p:txBody>
          <a:bodyPr/>
          <a:p/>
        </p:txBody>
      </p:sp>
      <p:sp>
        <p:nvSpPr>
          <p:cNvPr id="11" name="Shape 9"/>
          <p:cNvSpPr/>
          <p:nvPr/>
        </p:nvSpPr>
        <p:spPr>
          <a:xfrm>
            <a:off x="868680" y="2862072"/>
            <a:ext cx="420624" cy="420624"/>
          </a:xfrm>
          <a:prstGeom prst="ellipse">
            <a:avLst/>
          </a:prstGeom>
          <a:solidFill>
            <a:srgbClr val="FF4757"/>
          </a:solidFill>
          <a:ln/>
        </p:spPr>
        <p:txBody>
          <a:bodyPr/>
          <a:p/>
        </p:txBody>
      </p:sp>
      <p:sp>
        <p:nvSpPr>
          <p:cNvPr id="12" name="Text 10"/>
          <p:cNvSpPr/>
          <p:nvPr/>
        </p:nvSpPr>
        <p:spPr>
          <a:xfrm>
            <a:off x="868680" y="286207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651760"/>
            <a:ext cx="6080760" cy="84124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Coordonatorul deschide „Fișa organizației” și alege „Înscrierea echipei, în sală”.</a:t>
            </a:r>
            <a:endParaRPr lang="en-US" sz="1600" dirty="0"/>
          </a:p>
        </p:txBody>
      </p:sp>
      <p:sp>
        <p:nvSpPr>
          <p:cNvPr id="14" name="Shape 12"/>
          <p:cNvSpPr/>
          <p:nvPr/>
        </p:nvSpPr>
        <p:spPr>
          <a:xfrm>
            <a:off x="594360" y="3611880"/>
            <a:ext cx="7223760" cy="841248"/>
          </a:xfrm>
          <a:prstGeom prst="roundRect">
            <a:avLst>
              <a:gd name="adj" fmla="val 9783"/>
            </a:avLst>
          </a:prstGeom>
          <a:solidFill>
            <a:srgbClr val="ECEAE4"/>
          </a:solidFill>
          <a:ln w="12700">
            <a:solidFill>
              <a:srgbClr val="ECEAE4"/>
            </a:solidFill>
            <a:prstDash val="solid"/>
          </a:ln>
        </p:spPr>
        <p:txBody>
          <a:bodyPr/>
          <a:p/>
        </p:txBody>
      </p:sp>
      <p:sp>
        <p:nvSpPr>
          <p:cNvPr id="15" name="Shape 13"/>
          <p:cNvSpPr/>
          <p:nvPr/>
        </p:nvSpPr>
        <p:spPr>
          <a:xfrm>
            <a:off x="868680" y="3822192"/>
            <a:ext cx="420624" cy="420624"/>
          </a:xfrm>
          <a:prstGeom prst="ellipse">
            <a:avLst/>
          </a:prstGeom>
          <a:solidFill>
            <a:srgbClr val="FF4757"/>
          </a:solidFill>
          <a:ln/>
        </p:spPr>
        <p:txBody>
          <a:bodyPr/>
          <a:p/>
        </p:txBody>
      </p:sp>
      <p:sp>
        <p:nvSpPr>
          <p:cNvPr id="16" name="Text 14"/>
          <p:cNvSpPr/>
          <p:nvPr/>
        </p:nvSpPr>
        <p:spPr>
          <a:xfrm>
            <a:off x="868680" y="382219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611880"/>
            <a:ext cx="6080760" cy="84124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Trece numele echipei, membrii, organizația aleasă și tipul ei.</a:t>
            </a:r>
            <a:endParaRPr lang="en-US" sz="1600" dirty="0"/>
          </a:p>
        </p:txBody>
      </p:sp>
      <p:sp>
        <p:nvSpPr>
          <p:cNvPr id="18" name="Shape 16"/>
          <p:cNvSpPr/>
          <p:nvPr/>
        </p:nvSpPr>
        <p:spPr>
          <a:xfrm>
            <a:off x="594360" y="4572000"/>
            <a:ext cx="7223760" cy="841248"/>
          </a:xfrm>
          <a:prstGeom prst="roundRect">
            <a:avLst>
              <a:gd name="adj" fmla="val 9783"/>
            </a:avLst>
          </a:prstGeom>
          <a:solidFill>
            <a:srgbClr val="ECEAE4"/>
          </a:solidFill>
          <a:ln w="12700">
            <a:solidFill>
              <a:srgbClr val="ECEAE4"/>
            </a:solidFill>
            <a:prstDash val="solid"/>
          </a:ln>
        </p:spPr>
        <p:txBody>
          <a:bodyPr/>
          <a:p/>
        </p:txBody>
      </p:sp>
      <p:sp>
        <p:nvSpPr>
          <p:cNvPr id="19" name="Shape 17"/>
          <p:cNvSpPr/>
          <p:nvPr/>
        </p:nvSpPr>
        <p:spPr>
          <a:xfrm>
            <a:off x="868680" y="4782312"/>
            <a:ext cx="420624" cy="420624"/>
          </a:xfrm>
          <a:prstGeom prst="ellipse">
            <a:avLst/>
          </a:prstGeom>
          <a:solidFill>
            <a:srgbClr val="FF4757"/>
          </a:solidFill>
          <a:ln/>
        </p:spPr>
        <p:txBody>
          <a:bodyPr/>
          <a:p/>
        </p:txBody>
      </p:sp>
      <p:sp>
        <p:nvSpPr>
          <p:cNvPr id="20" name="Text 18"/>
          <p:cNvSpPr/>
          <p:nvPr/>
        </p:nvSpPr>
        <p:spPr>
          <a:xfrm>
            <a:off x="868680" y="478231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572000"/>
            <a:ext cx="6080760" cy="84124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Organizația e deja aleasă? A doua echipă care o alege trece pe alta.</a:t>
            </a:r>
            <a:endParaRPr lang="en-US" sz="1600" dirty="0"/>
          </a:p>
        </p:txBody>
      </p:sp>
      <p:sp>
        <p:nvSpPr>
          <p:cNvPr id="22" name="Shape 20"/>
          <p:cNvSpPr/>
          <p:nvPr/>
        </p:nvSpPr>
        <p:spPr>
          <a:xfrm>
            <a:off x="8138160" y="1691640"/>
            <a:ext cx="3429000" cy="2880360"/>
          </a:xfrm>
          <a:prstGeom prst="roundRect">
            <a:avLst>
              <a:gd name="adj" fmla="val 3175"/>
            </a:avLst>
          </a:prstGeom>
          <a:solidFill>
            <a:srgbClr val="FFFFFF"/>
          </a:solidFill>
          <a:ln w="19050">
            <a:solidFill>
              <a:srgbClr val="8E94A8"/>
            </a:solidFill>
            <a:prstDash val="dash"/>
          </a:ln>
        </p:spPr>
        <p:txBody>
          <a:bodyPr/>
          <a:p/>
        </p:txBody>
      </p:sp>
      <p:sp>
        <p:nvSpPr>
          <p:cNvPr id="24" name="Text 22"/>
          <p:cNvSpPr/>
          <p:nvPr/>
        </p:nvSpPr>
        <p:spPr>
          <a:xfrm>
            <a:off x="8138160" y="4709160"/>
            <a:ext cx="3429000" cy="1280160"/>
          </a:xfrm>
          <a:prstGeom prst="rect">
            <a:avLst/>
          </a:prstGeom>
          <a:noFill/>
          <a:ln/>
        </p:spPr>
        <p:txBody>
          <a:bodyPr wrap="square" lIns="0" tIns="0" rIns="0" bIns="0" rtlCol="0" anchor="t"/>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Pe ecran apar, în timp real, organizațiile alese și câte echipe are fiecare tip. Formularul se deschide cu contul instituțional UB.</a:t>
            </a:r>
            <a:endParaRPr lang="en-US" sz="1450" dirty="0"/>
          </a:p>
        </p:txBody>
      </p:sp>
      <p:sp>
        <p:nvSpPr>
          <p:cNvPr id="25" name="Text 23"/>
          <p:cNvSpPr/>
          <p:nvPr/>
        </p:nvSpPr>
        <p:spPr>
          <a:xfrm>
            <a:off x="594360" y="5669280"/>
            <a:ext cx="7223760" cy="45720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Colegii rămași fără echipă îi repartizează titularul.</a:t>
            </a:r>
            <a:endParaRPr lang="en-US" sz="1600" dirty="0"/>
          </a:p>
        </p:txBody>
      </p:sp>
      <p:pic>
        <p:nvPicPr>
          <p:cNvPr id="26" name="Picture 25" descr="UB_MSSS_LP01_fisa_organizatiei.png"/>
          <p:cNvPicPr>
            <a:picLocks noChangeAspect="1"/>
          </p:cNvPicPr>
          <p:nvPr/>
        </p:nvPicPr>
        <p:blipFill>
          <a:blip r:embed="rId3"/>
          <a:stretch>
            <a:fillRect/>
          </a:stretch>
        </p:blipFill>
        <p:spPr>
          <a:xfrm>
            <a:off x="8618855" y="1691640"/>
            <a:ext cx="2467610" cy="2467610"/>
          </a:xfrm>
          <a:prstGeom prst="rect">
            <a:avLst/>
          </a:prstGeom>
        </p:spPr>
      </p:pic>
      <p:sp>
        <p:nvSpPr>
          <p:cNvPr id="27" name="TextBox 26"/>
          <p:cNvSpPr txBox="1"/>
          <p:nvPr/>
        </p:nvSpPr>
        <p:spPr>
          <a:xfrm>
            <a:off x="8618855" y="4197350"/>
            <a:ext cx="2467610" cy="412750"/>
          </a:xfrm>
          <a:prstGeom prst="rect">
            <a:avLst/>
          </a:prstGeom>
          <a:noFill/>
        </p:spPr>
        <p:txBody>
          <a:bodyPr wrap="square" lIns="0" rIns="0" tIns="0" bIns="0" anchor="t">
            <a:spAutoFit/>
          </a:bodyPr>
          <a:lstStyle/>
          <a:p>
            <a:pPr algn="ctr"/>
            <a:r>
              <a:rPr sz="1300" b="1">
                <a:solidFill>
                  <a:srgbClr val="B02532"/>
                </a:solidFill>
                <a:latin typeface="Palatino Linotype"/>
              </a:rPr>
              <a:t>Fișa organizației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ÎN TIMP REAL, DIN FORMS</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ORGANIZAȚIILE ALESE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Ce au ales echipele până acum</a:t>
            </a:r>
            <a:endParaRPr lang="en-US" sz="3100" dirty="0"/>
          </a:p>
        </p:txBody>
      </p:sp>
      <p:sp>
        <p:nvSpPr>
          <p:cNvPr id="6" name="Shape 4"/>
          <p:cNvSpPr/>
          <p:nvPr/>
        </p:nvSpPr>
        <p:spPr>
          <a:xfrm>
            <a:off x="594360" y="1600200"/>
            <a:ext cx="6949440" cy="4023360"/>
          </a:xfrm>
          <a:prstGeom prst="roundRect">
            <a:avLst>
              <a:gd name="adj" fmla="val 2273"/>
            </a:avLst>
          </a:prstGeom>
          <a:solidFill>
            <a:srgbClr val="1D1F2B"/>
          </a:solidFill>
          <a:ln w="19050">
            <a:solidFill>
              <a:srgbClr val="8E94A8"/>
            </a:solidFill>
            <a:prstDash val="dash"/>
          </a:ln>
        </p:spPr>
        <p:txBody>
          <a:bodyPr/>
          <a:p/>
        </p:txBody>
      </p:sp>
      <p:sp>
        <p:nvSpPr>
          <p:cNvPr id="7" name="Text 5"/>
          <p:cNvSpPr/>
          <p:nvPr/>
        </p:nvSpPr>
        <p:spPr>
          <a:xfrm>
            <a:off x="914400" y="1600200"/>
            <a:ext cx="6309360" cy="4023360"/>
          </a:xfrm>
          <a:prstGeom prst="rect">
            <a:avLst/>
          </a:prstGeom>
          <a:noFill/>
          <a:ln/>
        </p:spPr>
        <p:txBody>
          <a:bodyPr wrap="square" lIns="0" tIns="0" rIns="0" bIns="0" rtlCol="0" anchor="ctr"/>
          <a:lstStyle/>
          <a:p>
            <a:pPr algn="ctr" indent="0" marL="0">
              <a:buNone/>
            </a:pPr>
            <a:r>
              <a:rPr lang="en-US" sz="2000" b="1" dirty="0">
                <a:solidFill>
                  <a:srgbClr val="FFFFFF"/>
                </a:solidFill>
                <a:latin typeface="Palatino Linotype" pitchFamily="34" charset="0"/>
                <a:ea typeface="Palatino Linotype" pitchFamily="34" charset="-122"/>
                <a:cs typeface="Palatino Linotype" pitchFamily="34" charset="-120"/>
              </a:rPr>
              <a:t>[răspunsurile din „Fișa organizației”]</a:t>
            </a:r>
            <a:endParaRPr lang="en-US" sz="2000" dirty="0"/>
          </a:p>
          <a:p>
            <a:pPr algn="ctr" indent="0" marL="0">
              <a:buNone/>
            </a:pPr>
            <a:r>
              <a:rPr lang="en-US" sz="1500" i="1" dirty="0">
                <a:solidFill>
                  <a:srgbClr val="959BB0"/>
                </a:solidFill>
                <a:latin typeface="Palatino Linotype" pitchFamily="34" charset="0"/>
                <a:ea typeface="Palatino Linotype" pitchFamily="34" charset="-122"/>
                <a:cs typeface="Palatino Linotype" pitchFamily="34" charset="-120"/>
              </a:rPr>
              <a:t>lista organizațiilor și graficul tipurilor, afișate direct din Forms</a:t>
            </a:r>
            <a:endParaRPr lang="en-US" sz="2000" dirty="0"/>
          </a:p>
        </p:txBody>
      </p:sp>
      <p:sp>
        <p:nvSpPr>
          <p:cNvPr id="8" name="Text 6"/>
          <p:cNvSpPr/>
          <p:nvPr/>
        </p:nvSpPr>
        <p:spPr>
          <a:xfrm>
            <a:off x="8001000" y="1600200"/>
            <a:ext cx="3566160" cy="365760"/>
          </a:xfrm>
          <a:prstGeom prst="rect">
            <a:avLst/>
          </a:prstGeom>
          <a:noFill/>
          <a:ln/>
        </p:spPr>
        <p:txBody>
          <a:bodyPr wrap="square" lIns="0" tIns="0" rIns="0" bIns="0" rtlCol="0" anchor="t"/>
          <a:lstStyle/>
          <a:p>
            <a:pPr indent="0" marL="0">
              <a:buNone/>
            </a:pPr>
            <a:r>
              <a:rPr lang="en-US" sz="1400" b="1" dirty="0">
                <a:solidFill>
                  <a:srgbClr val="959BB0"/>
                </a:solidFill>
                <a:latin typeface="Palatino Linotype" pitchFamily="34" charset="0"/>
                <a:ea typeface="Palatino Linotype" pitchFamily="34" charset="-122"/>
                <a:cs typeface="Palatino Linotype" pitchFamily="34" charset="-120"/>
              </a:rPr>
              <a:t>Tipurile din formular</a:t>
            </a:r>
            <a:endParaRPr lang="en-US" sz="1400" dirty="0"/>
          </a:p>
        </p:txBody>
      </p:sp>
      <p:sp>
        <p:nvSpPr>
          <p:cNvPr id="9" name="Shape 7"/>
          <p:cNvSpPr/>
          <p:nvPr/>
        </p:nvSpPr>
        <p:spPr>
          <a:xfrm>
            <a:off x="8001000" y="2167128"/>
            <a:ext cx="274320" cy="274320"/>
          </a:xfrm>
          <a:prstGeom prst="ellipse">
            <a:avLst/>
          </a:prstGeom>
          <a:solidFill>
            <a:srgbClr val="FF4757"/>
          </a:solidFill>
          <a:ln w="12700">
            <a:solidFill>
              <a:srgbClr val="FF4757"/>
            </a:solidFill>
            <a:prstDash val="solid"/>
          </a:ln>
        </p:spPr>
        <p:txBody>
          <a:bodyPr/>
          <a:p/>
        </p:txBody>
      </p:sp>
      <p:sp>
        <p:nvSpPr>
          <p:cNvPr id="10" name="Text 8"/>
          <p:cNvSpPr/>
          <p:nvPr/>
        </p:nvSpPr>
        <p:spPr>
          <a:xfrm>
            <a:off x="8412480" y="2057400"/>
            <a:ext cx="3154680" cy="5029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Spital public</a:t>
            </a:r>
            <a:endParaRPr lang="en-US" sz="1500" dirty="0"/>
          </a:p>
        </p:txBody>
      </p:sp>
      <p:sp>
        <p:nvSpPr>
          <p:cNvPr id="11" name="Shape 9"/>
          <p:cNvSpPr/>
          <p:nvPr/>
        </p:nvSpPr>
        <p:spPr>
          <a:xfrm>
            <a:off x="8001000" y="2734056"/>
            <a:ext cx="274320" cy="274320"/>
          </a:xfrm>
          <a:prstGeom prst="ellipse">
            <a:avLst/>
          </a:prstGeom>
          <a:solidFill>
            <a:srgbClr val="FFC24B"/>
          </a:solidFill>
          <a:ln w="12700">
            <a:solidFill>
              <a:srgbClr val="FFC24B"/>
            </a:solidFill>
            <a:prstDash val="solid"/>
          </a:ln>
        </p:spPr>
        <p:txBody>
          <a:bodyPr/>
          <a:p/>
        </p:txBody>
      </p:sp>
      <p:sp>
        <p:nvSpPr>
          <p:cNvPr id="12" name="Text 10"/>
          <p:cNvSpPr/>
          <p:nvPr/>
        </p:nvSpPr>
        <p:spPr>
          <a:xfrm>
            <a:off x="8412480" y="2624328"/>
            <a:ext cx="3154680" cy="5029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Spital privat</a:t>
            </a:r>
            <a:endParaRPr lang="en-US" sz="1500" dirty="0"/>
          </a:p>
        </p:txBody>
      </p:sp>
      <p:sp>
        <p:nvSpPr>
          <p:cNvPr id="13" name="Shape 11"/>
          <p:cNvSpPr/>
          <p:nvPr/>
        </p:nvSpPr>
        <p:spPr>
          <a:xfrm>
            <a:off x="8001000" y="3300984"/>
            <a:ext cx="274320" cy="274320"/>
          </a:xfrm>
          <a:prstGeom prst="ellipse">
            <a:avLst/>
          </a:prstGeom>
          <a:solidFill>
            <a:srgbClr val="27D3BE"/>
          </a:solidFill>
          <a:ln w="12700">
            <a:solidFill>
              <a:srgbClr val="27D3BE"/>
            </a:solidFill>
            <a:prstDash val="solid"/>
          </a:ln>
        </p:spPr>
        <p:txBody>
          <a:bodyPr/>
          <a:p/>
        </p:txBody>
      </p:sp>
      <p:sp>
        <p:nvSpPr>
          <p:cNvPr id="14" name="Text 12"/>
          <p:cNvSpPr/>
          <p:nvPr/>
        </p:nvSpPr>
        <p:spPr>
          <a:xfrm>
            <a:off x="8412480" y="3191256"/>
            <a:ext cx="3154680" cy="5029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Direcție de sănătate publică</a:t>
            </a:r>
            <a:endParaRPr lang="en-US" sz="1500" dirty="0"/>
          </a:p>
        </p:txBody>
      </p:sp>
      <p:sp>
        <p:nvSpPr>
          <p:cNvPr id="15" name="Shape 13"/>
          <p:cNvSpPr/>
          <p:nvPr/>
        </p:nvSpPr>
        <p:spPr>
          <a:xfrm>
            <a:off x="8001000" y="3867912"/>
            <a:ext cx="274320" cy="274320"/>
          </a:xfrm>
          <a:prstGeom prst="ellipse">
            <a:avLst/>
          </a:prstGeom>
          <a:solidFill>
            <a:srgbClr val="9B7EF7"/>
          </a:solidFill>
          <a:ln w="12700">
            <a:solidFill>
              <a:srgbClr val="9B7EF7"/>
            </a:solidFill>
            <a:prstDash val="solid"/>
          </a:ln>
        </p:spPr>
        <p:txBody>
          <a:bodyPr/>
          <a:p/>
        </p:txBody>
      </p:sp>
      <p:sp>
        <p:nvSpPr>
          <p:cNvPr id="16" name="Text 14"/>
          <p:cNvSpPr/>
          <p:nvPr/>
        </p:nvSpPr>
        <p:spPr>
          <a:xfrm>
            <a:off x="8412480" y="3758184"/>
            <a:ext cx="3154680" cy="5029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Ambulatoriu</a:t>
            </a:r>
            <a:endParaRPr lang="en-US" sz="1500" dirty="0"/>
          </a:p>
        </p:txBody>
      </p:sp>
      <p:sp>
        <p:nvSpPr>
          <p:cNvPr id="17" name="Shape 15"/>
          <p:cNvSpPr/>
          <p:nvPr/>
        </p:nvSpPr>
        <p:spPr>
          <a:xfrm>
            <a:off x="8001000" y="4434840"/>
            <a:ext cx="274320" cy="274320"/>
          </a:xfrm>
          <a:prstGeom prst="ellipse">
            <a:avLst/>
          </a:prstGeom>
          <a:solidFill>
            <a:srgbClr val="FF8A3D"/>
          </a:solidFill>
          <a:ln w="12700">
            <a:solidFill>
              <a:srgbClr val="FF8A3D"/>
            </a:solidFill>
            <a:prstDash val="solid"/>
          </a:ln>
        </p:spPr>
        <p:txBody>
          <a:bodyPr/>
          <a:p/>
        </p:txBody>
      </p:sp>
      <p:sp>
        <p:nvSpPr>
          <p:cNvPr id="18" name="Text 16"/>
          <p:cNvSpPr/>
          <p:nvPr/>
        </p:nvSpPr>
        <p:spPr>
          <a:xfrm>
            <a:off x="8412480" y="4325112"/>
            <a:ext cx="3154680" cy="5029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Cabinet de medicină de familie</a:t>
            </a:r>
            <a:endParaRPr lang="en-US" sz="1500" dirty="0"/>
          </a:p>
        </p:txBody>
      </p:sp>
      <p:sp>
        <p:nvSpPr>
          <p:cNvPr id="19" name="Shape 17"/>
          <p:cNvSpPr/>
          <p:nvPr/>
        </p:nvSpPr>
        <p:spPr>
          <a:xfrm>
            <a:off x="8001000" y="5001768"/>
            <a:ext cx="274320" cy="274320"/>
          </a:xfrm>
          <a:prstGeom prst="ellipse">
            <a:avLst/>
          </a:prstGeom>
          <a:solidFill>
            <a:srgbClr val="C9CCD8"/>
          </a:solidFill>
          <a:ln w="12700">
            <a:solidFill>
              <a:srgbClr val="C9CCD8"/>
            </a:solidFill>
            <a:prstDash val="solid"/>
          </a:ln>
        </p:spPr>
        <p:txBody>
          <a:bodyPr/>
          <a:p/>
        </p:txBody>
      </p:sp>
      <p:sp>
        <p:nvSpPr>
          <p:cNvPr id="20" name="Text 18"/>
          <p:cNvSpPr/>
          <p:nvPr/>
        </p:nvSpPr>
        <p:spPr>
          <a:xfrm>
            <a:off x="8412480" y="4892040"/>
            <a:ext cx="3154680" cy="5029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Altă organizație de sănătate</a:t>
            </a:r>
            <a:endParaRPr lang="en-US" sz="1500" dirty="0"/>
          </a:p>
        </p:txBody>
      </p:sp>
      <p:sp>
        <p:nvSpPr>
          <p:cNvPr id="21" name="Text 19"/>
          <p:cNvSpPr/>
          <p:nvPr/>
        </p:nvSpPr>
        <p:spPr>
          <a:xfrm>
            <a:off x="594360" y="5760720"/>
            <a:ext cx="1097280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O organizație pe echipă. Dacă o vedeți deja în listă, alegeți a doua variantă.</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TEST PE TELEFON · INDIVIDUAL</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TESTUL DE PORNIRE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Ce ați reținut din curs și din regulile proiectului</a:t>
            </a:r>
            <a:endParaRPr lang="en-US" sz="2800" dirty="0"/>
          </a:p>
        </p:txBody>
      </p:sp>
      <p:sp>
        <p:nvSpPr>
          <p:cNvPr id="6" name="Shape 4"/>
          <p:cNvSpPr/>
          <p:nvPr/>
        </p:nvSpPr>
        <p:spPr>
          <a:xfrm>
            <a:off x="594360" y="1645920"/>
            <a:ext cx="7132320" cy="868680"/>
          </a:xfrm>
          <a:prstGeom prst="roundRect">
            <a:avLst>
              <a:gd name="adj" fmla="val 9474"/>
            </a:avLst>
          </a:prstGeom>
          <a:solidFill>
            <a:srgbClr val="1D1F2B"/>
          </a:solidFill>
          <a:ln w="12700">
            <a:solidFill>
              <a:srgbClr val="1D1F2B"/>
            </a:solidFill>
            <a:prstDash val="solid"/>
          </a:ln>
        </p:spPr>
        <p:txBody>
          <a:bodyPr/>
          <a:p/>
        </p:txBody>
      </p:sp>
      <p:sp>
        <p:nvSpPr>
          <p:cNvPr id="7" name="Text 5"/>
          <p:cNvSpPr/>
          <p:nvPr/>
        </p:nvSpPr>
        <p:spPr>
          <a:xfrm>
            <a:off x="868680" y="1645920"/>
            <a:ext cx="2103120" cy="868680"/>
          </a:xfrm>
          <a:prstGeom prst="rect">
            <a:avLst/>
          </a:prstGeom>
          <a:noFill/>
          <a:ln/>
        </p:spPr>
        <p:txBody>
          <a:bodyPr wrap="square" lIns="0" tIns="0" rIns="0" bIns="0" rtlCol="0" anchor="ctr"/>
          <a:lstStyle/>
          <a:p>
            <a:pPr indent="0" marL="0">
              <a:buNone/>
            </a:pPr>
            <a:r>
              <a:rPr lang="en-US" sz="3400" b="1" dirty="0">
                <a:solidFill>
                  <a:srgbClr val="FF4757"/>
                </a:solidFill>
                <a:latin typeface="Palatino Linotype" pitchFamily="34" charset="0"/>
                <a:ea typeface="Palatino Linotype" pitchFamily="34" charset="-122"/>
                <a:cs typeface="Palatino Linotype" pitchFamily="34" charset="-120"/>
              </a:rPr>
              <a:t>opt</a:t>
            </a:r>
            <a:endParaRPr lang="en-US" sz="3400" dirty="0"/>
          </a:p>
        </p:txBody>
      </p:sp>
      <p:sp>
        <p:nvSpPr>
          <p:cNvPr id="8" name="Text 6"/>
          <p:cNvSpPr/>
          <p:nvPr/>
        </p:nvSpPr>
        <p:spPr>
          <a:xfrm>
            <a:off x="3017520" y="1645920"/>
            <a:ext cx="457200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întrebări, fiecare cu un singur răspuns corect</a:t>
            </a:r>
            <a:endParaRPr lang="en-US" sz="1600" dirty="0"/>
          </a:p>
        </p:txBody>
      </p:sp>
      <p:sp>
        <p:nvSpPr>
          <p:cNvPr id="9" name="Shape 7"/>
          <p:cNvSpPr/>
          <p:nvPr/>
        </p:nvSpPr>
        <p:spPr>
          <a:xfrm>
            <a:off x="594360" y="2651760"/>
            <a:ext cx="7132320" cy="868680"/>
          </a:xfrm>
          <a:prstGeom prst="roundRect">
            <a:avLst>
              <a:gd name="adj" fmla="val 9474"/>
            </a:avLst>
          </a:prstGeom>
          <a:solidFill>
            <a:srgbClr val="1D1F2B"/>
          </a:solidFill>
          <a:ln w="12700">
            <a:solidFill>
              <a:srgbClr val="1D1F2B"/>
            </a:solidFill>
            <a:prstDash val="solid"/>
          </a:ln>
        </p:spPr>
        <p:txBody>
          <a:bodyPr/>
          <a:p/>
        </p:txBody>
      </p:sp>
      <p:sp>
        <p:nvSpPr>
          <p:cNvPr id="10" name="Text 8"/>
          <p:cNvSpPr/>
          <p:nvPr/>
        </p:nvSpPr>
        <p:spPr>
          <a:xfrm>
            <a:off x="868680" y="2651760"/>
            <a:ext cx="2103120" cy="868680"/>
          </a:xfrm>
          <a:prstGeom prst="rect">
            <a:avLst/>
          </a:prstGeom>
          <a:noFill/>
          <a:ln/>
        </p:spPr>
        <p:txBody>
          <a:bodyPr wrap="square" lIns="0" tIns="0" rIns="0" bIns="0" rtlCol="0" anchor="ctr"/>
          <a:lstStyle/>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șapte</a:t>
            </a:r>
            <a:endParaRPr lang="en-US" sz="3400" dirty="0"/>
          </a:p>
        </p:txBody>
      </p:sp>
      <p:sp>
        <p:nvSpPr>
          <p:cNvPr id="11" name="Text 9"/>
          <p:cNvSpPr/>
          <p:nvPr/>
        </p:nvSpPr>
        <p:spPr>
          <a:xfrm>
            <a:off x="3017520" y="2651760"/>
            <a:ext cx="457200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minute, individual, pe telefon, cu contul instituțional UB</a:t>
            </a:r>
            <a:endParaRPr lang="en-US" sz="1600" dirty="0"/>
          </a:p>
        </p:txBody>
      </p:sp>
      <p:sp>
        <p:nvSpPr>
          <p:cNvPr id="12" name="Shape 10"/>
          <p:cNvSpPr/>
          <p:nvPr/>
        </p:nvSpPr>
        <p:spPr>
          <a:xfrm>
            <a:off x="594360" y="3657600"/>
            <a:ext cx="7132320" cy="868680"/>
          </a:xfrm>
          <a:prstGeom prst="roundRect">
            <a:avLst>
              <a:gd name="adj" fmla="val 9474"/>
            </a:avLst>
          </a:prstGeom>
          <a:solidFill>
            <a:srgbClr val="1D1F2B"/>
          </a:solidFill>
          <a:ln w="12700">
            <a:solidFill>
              <a:srgbClr val="1D1F2B"/>
            </a:solidFill>
            <a:prstDash val="solid"/>
          </a:ln>
        </p:spPr>
        <p:txBody>
          <a:bodyPr/>
          <a:p/>
        </p:txBody>
      </p:sp>
      <p:sp>
        <p:nvSpPr>
          <p:cNvPr id="13" name="Text 11"/>
          <p:cNvSpPr/>
          <p:nvPr/>
        </p:nvSpPr>
        <p:spPr>
          <a:xfrm>
            <a:off x="868680" y="3657600"/>
            <a:ext cx="2103120" cy="868680"/>
          </a:xfrm>
          <a:prstGeom prst="rect">
            <a:avLst/>
          </a:prstGeom>
          <a:noFill/>
          <a:ln/>
        </p:spPr>
        <p:txBody>
          <a:bodyPr wrap="square" lIns="0" tIns="0" rIns="0" bIns="0" rtlCol="0" anchor="ctr"/>
          <a:lstStyle/>
          <a:p>
            <a:pPr indent="0" marL="0">
              <a:buNone/>
            </a:pPr>
            <a:r>
              <a:rPr lang="en-US" sz="3400" b="1" dirty="0">
                <a:solidFill>
                  <a:srgbClr val="FFC24B"/>
                </a:solidFill>
                <a:latin typeface="Palatino Linotype" pitchFamily="34" charset="0"/>
                <a:ea typeface="Palatino Linotype" pitchFamily="34" charset="-122"/>
                <a:cs typeface="Palatino Linotype" pitchFamily="34" charset="-120"/>
              </a:rPr>
              <a:t>zero</a:t>
            </a:r>
            <a:endParaRPr lang="en-US" sz="3400" dirty="0"/>
          </a:p>
        </p:txBody>
      </p:sp>
      <p:sp>
        <p:nvSpPr>
          <p:cNvPr id="14" name="Text 12"/>
          <p:cNvSpPr/>
          <p:nvPr/>
        </p:nvSpPr>
        <p:spPr>
          <a:xfrm>
            <a:off x="3017520" y="3657600"/>
            <a:ext cx="457200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note: testul nu se notează</a:t>
            </a:r>
            <a:endParaRPr lang="en-US" sz="1600" dirty="0"/>
          </a:p>
        </p:txBody>
      </p:sp>
      <p:sp>
        <p:nvSpPr>
          <p:cNvPr id="15" name="Shape 13"/>
          <p:cNvSpPr/>
          <p:nvPr/>
        </p:nvSpPr>
        <p:spPr>
          <a:xfrm>
            <a:off x="594360" y="4754880"/>
            <a:ext cx="7132320" cy="1188720"/>
          </a:xfrm>
          <a:prstGeom prst="roundRect">
            <a:avLst>
              <a:gd name="adj" fmla="val 6923"/>
            </a:avLst>
          </a:prstGeom>
          <a:solidFill>
            <a:srgbClr val="272A38"/>
          </a:solidFill>
          <a:ln w="12700">
            <a:solidFill>
              <a:srgbClr val="272A38"/>
            </a:solidFill>
            <a:prstDash val="solid"/>
          </a:ln>
        </p:spPr>
        <p:txBody>
          <a:bodyPr/>
          <a:p/>
        </p:txBody>
      </p:sp>
      <p:sp>
        <p:nvSpPr>
          <p:cNvPr id="16" name="Text 14"/>
          <p:cNvSpPr/>
          <p:nvPr/>
        </p:nvSpPr>
        <p:spPr>
          <a:xfrm>
            <a:off x="822960" y="4754880"/>
            <a:ext cx="6675120" cy="1188720"/>
          </a:xfrm>
          <a:prstGeom prst="rect">
            <a:avLst/>
          </a:prstGeom>
          <a:noFill/>
          <a:ln/>
        </p:spPr>
        <p:txBody>
          <a:bodyPr wrap="square" lIns="0" tIns="0" rIns="0" bIns="0" rtlCol="0" anchor="ctr"/>
          <a:lstStyle/>
          <a:p>
            <a:pPr indent="0" marL="0">
              <a:buNone/>
            </a:pPr>
            <a:r>
              <a:rPr lang="en-US" sz="1250" b="1" dirty="0">
                <a:solidFill>
                  <a:srgbClr val="FFC24B"/>
                </a:solidFill>
                <a:latin typeface="Palatino Linotype" pitchFamily="34" charset="0"/>
                <a:ea typeface="Palatino Linotype" pitchFamily="34" charset="-122"/>
                <a:cs typeface="Palatino Linotype" pitchFamily="34" charset="-120"/>
              </a:rPr>
              <a:t>Un exemplu: întrebarea 6</a:t>
            </a:r>
            <a:endParaRPr lang="en-US" sz="1250" dirty="0"/>
          </a:p>
          <a:p>
            <a:pPr indent="0" marL="0">
              <a:buNone/>
            </a:pPr>
            <a:r>
              <a:rPr lang="en-US" sz="1300" dirty="0">
                <a:solidFill>
                  <a:srgbClr val="FFFFFF"/>
                </a:solidFill>
                <a:latin typeface="Palatino Linotype" pitchFamily="34" charset="0"/>
                <a:ea typeface="Palatino Linotype" pitchFamily="34" charset="-122"/>
                <a:cs typeface="Palatino Linotype" pitchFamily="34" charset="-120"/>
              </a:rPr>
              <a:t>Înainte de seminar, ați notat gradul de ocupare al unui spital din aplicația CNAS „Performanță Spitale Publice”, care publică indicatorii spitalelor pentru activitatea din 2025. Care este anul de referință al cifrei notate?</a:t>
            </a:r>
            <a:endParaRPr lang="en-US" sz="1250" dirty="0"/>
          </a:p>
        </p:txBody>
      </p:sp>
      <p:sp>
        <p:nvSpPr>
          <p:cNvPr id="17" name="Text 15"/>
          <p:cNvSpPr/>
          <p:nvPr/>
        </p:nvSpPr>
        <p:spPr>
          <a:xfrm>
            <a:off x="594360" y="6080760"/>
            <a:ext cx="7132320" cy="548640"/>
          </a:xfrm>
          <a:prstGeom prst="rect">
            <a:avLst/>
          </a:prstGeom>
          <a:noFill/>
          <a:ln/>
        </p:spPr>
        <p:txBody>
          <a:bodyPr wrap="square" lIns="0" tIns="0" rIns="0" bIns="0" rtlCol="0" anchor="t"/>
          <a:lstStyle/>
          <a:p>
            <a:pPr indent="0" marL="0">
              <a:buNone/>
            </a:pPr>
            <a:r>
              <a:rPr lang="en-US" sz="1350" dirty="0">
                <a:solidFill>
                  <a:srgbClr val="959BB0"/>
                </a:solidFill>
                <a:latin typeface="Palatino Linotype" pitchFamily="34" charset="0"/>
                <a:ea typeface="Palatino Linotype" pitchFamily="34" charset="-122"/>
                <a:cs typeface="Palatino Linotype" pitchFamily="34" charset="-120"/>
              </a:rPr>
              <a:t>După trimitere, formularul arată răspunsurile corecte și explicațiile. La final discutăm întrebarea cu cele mai multe greșeli.</a:t>
            </a:r>
            <a:endParaRPr lang="en-US" sz="1350" dirty="0"/>
          </a:p>
        </p:txBody>
      </p:sp>
      <p:sp>
        <p:nvSpPr>
          <p:cNvPr id="18" name="Shape 16"/>
          <p:cNvSpPr/>
          <p:nvPr/>
        </p:nvSpPr>
        <p:spPr>
          <a:xfrm>
            <a:off x="8138160" y="1783080"/>
            <a:ext cx="3429000" cy="3474720"/>
          </a:xfrm>
          <a:prstGeom prst="roundRect">
            <a:avLst>
              <a:gd name="adj" fmla="val 2667"/>
            </a:avLst>
          </a:prstGeom>
          <a:solidFill>
            <a:srgbClr val="FFFFFF"/>
          </a:solidFill>
          <a:ln w="19050">
            <a:solidFill>
              <a:srgbClr val="8E94A8"/>
            </a:solidFill>
            <a:prstDash val="dash"/>
          </a:ln>
        </p:spPr>
        <p:txBody>
          <a:bodyPr/>
          <a:p/>
        </p:txBody>
      </p:sp>
      <p:pic>
        <p:nvPicPr>
          <p:cNvPr id="19" name="Picture 18" descr="UB_MSSS_LP01_test_pornire.png"/>
          <p:cNvPicPr>
            <a:picLocks noChangeAspect="1"/>
          </p:cNvPicPr>
          <p:nvPr/>
        </p:nvPicPr>
        <p:blipFill>
          <a:blip r:embed="rId3"/>
          <a:stretch>
            <a:fillRect/>
          </a:stretch>
        </p:blipFill>
        <p:spPr>
          <a:xfrm>
            <a:off x="8321675" y="1783080"/>
            <a:ext cx="3061970" cy="3061970"/>
          </a:xfrm>
          <a:prstGeom prst="rect">
            <a:avLst/>
          </a:prstGeom>
        </p:spPr>
      </p:pic>
      <p:sp>
        <p:nvSpPr>
          <p:cNvPr id="20" name="TextBox 19"/>
          <p:cNvSpPr txBox="1"/>
          <p:nvPr/>
        </p:nvSpPr>
        <p:spPr>
          <a:xfrm>
            <a:off x="8321675" y="4883150"/>
            <a:ext cx="3061970" cy="412750"/>
          </a:xfrm>
          <a:prstGeom prst="rect">
            <a:avLst/>
          </a:prstGeom>
          <a:noFill/>
        </p:spPr>
        <p:txBody>
          <a:bodyPr wrap="square" lIns="0" rIns="0" tIns="0" bIns="0" anchor="t">
            <a:spAutoFit/>
          </a:bodyPr>
          <a:lstStyle/>
          <a:p>
            <a:pPr algn="ctr"/>
            <a:r>
              <a:rPr sz="1300" b="1">
                <a:solidFill>
                  <a:srgbClr val="B02532"/>
                </a:solidFill>
                <a:latin typeface="Palatino Linotype"/>
              </a:rPr>
              <a:t>Testul de pornire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GHIDUL PROIECTULUI · EVALUAREA PE SCURT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Evaluarea pe scurt, în cinci rânduri</a:t>
            </a:r>
            <a:endParaRPr lang="en-US" sz="3100" dirty="0"/>
          </a:p>
        </p:txBody>
      </p:sp>
      <p:sp>
        <p:nvSpPr>
          <p:cNvPr id="4" name="Shape 2"/>
          <p:cNvSpPr/>
          <p:nvPr/>
        </p:nvSpPr>
        <p:spPr>
          <a:xfrm>
            <a:off x="594360" y="1508760"/>
            <a:ext cx="10972800" cy="896112"/>
          </a:xfrm>
          <a:prstGeom prst="roundRect">
            <a:avLst>
              <a:gd name="adj" fmla="val 9184"/>
            </a:avLst>
          </a:prstGeom>
          <a:solidFill>
            <a:srgbClr val="1D1F2B"/>
          </a:solidFill>
          <a:ln w="12700">
            <a:solidFill>
              <a:srgbClr val="1D1F2B"/>
            </a:solidFill>
            <a:prstDash val="solid"/>
          </a:ln>
        </p:spPr>
        <p:txBody>
          <a:bodyPr/>
          <a:p/>
        </p:txBody>
      </p:sp>
      <p:sp>
        <p:nvSpPr>
          <p:cNvPr id="5" name="Shape 3"/>
          <p:cNvSpPr/>
          <p:nvPr/>
        </p:nvSpPr>
        <p:spPr>
          <a:xfrm>
            <a:off x="594360" y="1508760"/>
            <a:ext cx="91440" cy="896112"/>
          </a:xfrm>
          <a:prstGeom prst="rect">
            <a:avLst/>
          </a:prstGeom>
          <a:solidFill>
            <a:srgbClr val="FF4757"/>
          </a:solidFill>
          <a:ln w="12700">
            <a:solidFill>
              <a:srgbClr val="FF4757"/>
            </a:solidFill>
            <a:prstDash val="solid"/>
          </a:ln>
        </p:spPr>
        <p:txBody>
          <a:bodyPr/>
          <a:p/>
        </p:txBody>
      </p:sp>
      <p:sp>
        <p:nvSpPr>
          <p:cNvPr id="6" name="Text 4"/>
          <p:cNvSpPr/>
          <p:nvPr/>
        </p:nvSpPr>
        <p:spPr>
          <a:xfrm>
            <a:off x="914400" y="1508760"/>
            <a:ext cx="2468880" cy="896112"/>
          </a:xfrm>
          <a:prstGeom prst="rect">
            <a:avLst/>
          </a:prstGeom>
          <a:noFill/>
          <a:ln/>
        </p:spPr>
        <p:txBody>
          <a:bodyPr wrap="square" lIns="0" tIns="0" rIns="0" bIns="0" rtlCol="0" anchor="ctr"/>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Ce faceți</a:t>
            </a:r>
            <a:endParaRPr lang="en-US" sz="1900" dirty="0"/>
          </a:p>
        </p:txBody>
      </p:sp>
      <p:sp>
        <p:nvSpPr>
          <p:cNvPr id="7" name="Text 5"/>
          <p:cNvSpPr/>
          <p:nvPr/>
        </p:nvSpPr>
        <p:spPr>
          <a:xfrm>
            <a:off x="3474720" y="1508760"/>
            <a:ext cx="7909560" cy="896112"/>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un plan strategic de echipă, în șapte seminarii; fiecare seminar adaugă un capitol, iar în ultimul îl susțineți</a:t>
            </a:r>
            <a:endParaRPr lang="en-US" sz="1600" dirty="0"/>
          </a:p>
        </p:txBody>
      </p:sp>
      <p:sp>
        <p:nvSpPr>
          <p:cNvPr id="8" name="Shape 6"/>
          <p:cNvSpPr/>
          <p:nvPr/>
        </p:nvSpPr>
        <p:spPr>
          <a:xfrm>
            <a:off x="594360" y="2514600"/>
            <a:ext cx="10972800" cy="896112"/>
          </a:xfrm>
          <a:prstGeom prst="roundRect">
            <a:avLst>
              <a:gd name="adj" fmla="val 9184"/>
            </a:avLst>
          </a:prstGeom>
          <a:solidFill>
            <a:srgbClr val="1D1F2B"/>
          </a:solidFill>
          <a:ln w="12700">
            <a:solidFill>
              <a:srgbClr val="1D1F2B"/>
            </a:solidFill>
            <a:prstDash val="solid"/>
          </a:ln>
        </p:spPr>
        <p:txBody>
          <a:bodyPr/>
          <a:p/>
        </p:txBody>
      </p:sp>
      <p:sp>
        <p:nvSpPr>
          <p:cNvPr id="9" name="Shape 7"/>
          <p:cNvSpPr/>
          <p:nvPr/>
        </p:nvSpPr>
        <p:spPr>
          <a:xfrm>
            <a:off x="594360" y="2514600"/>
            <a:ext cx="91440" cy="896112"/>
          </a:xfrm>
          <a:prstGeom prst="rect">
            <a:avLst/>
          </a:prstGeom>
          <a:solidFill>
            <a:srgbClr val="FFC24B"/>
          </a:solidFill>
          <a:ln w="12700">
            <a:solidFill>
              <a:srgbClr val="FFC24B"/>
            </a:solidFill>
            <a:prstDash val="solid"/>
          </a:ln>
        </p:spPr>
        <p:txBody>
          <a:bodyPr/>
          <a:p/>
        </p:txBody>
      </p:sp>
      <p:sp>
        <p:nvSpPr>
          <p:cNvPr id="10" name="Text 8"/>
          <p:cNvSpPr/>
          <p:nvPr/>
        </p:nvSpPr>
        <p:spPr>
          <a:xfrm>
            <a:off x="914400" y="2514600"/>
            <a:ext cx="2468880" cy="896112"/>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Până când</a:t>
            </a:r>
            <a:endParaRPr lang="en-US" sz="1900" dirty="0"/>
          </a:p>
        </p:txBody>
      </p:sp>
      <p:sp>
        <p:nvSpPr>
          <p:cNvPr id="11" name="Text 9"/>
          <p:cNvSpPr/>
          <p:nvPr/>
        </p:nvSpPr>
        <p:spPr>
          <a:xfrm>
            <a:off x="3474720" y="2514600"/>
            <a:ext cx="7909560" cy="896112"/>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fișa organizației, duminică, 11.10.2026, ora 22:00; produsele seminariilor 2–6, în duminica de după fiecare seminar, ora 22:00; planul, în seminarul 7, cu prezentarea de 10–12 minute</a:t>
            </a:r>
            <a:endParaRPr lang="en-US" sz="1600" dirty="0"/>
          </a:p>
        </p:txBody>
      </p:sp>
      <p:sp>
        <p:nvSpPr>
          <p:cNvPr id="12" name="Shape 10"/>
          <p:cNvSpPr/>
          <p:nvPr/>
        </p:nvSpPr>
        <p:spPr>
          <a:xfrm>
            <a:off x="594360" y="3520440"/>
            <a:ext cx="10972800" cy="896112"/>
          </a:xfrm>
          <a:prstGeom prst="roundRect">
            <a:avLst>
              <a:gd name="adj" fmla="val 9184"/>
            </a:avLst>
          </a:prstGeom>
          <a:solidFill>
            <a:srgbClr val="1D1F2B"/>
          </a:solidFill>
          <a:ln w="12700">
            <a:solidFill>
              <a:srgbClr val="1D1F2B"/>
            </a:solidFill>
            <a:prstDash val="solid"/>
          </a:ln>
        </p:spPr>
        <p:txBody>
          <a:bodyPr/>
          <a:p/>
        </p:txBody>
      </p:sp>
      <p:sp>
        <p:nvSpPr>
          <p:cNvPr id="13" name="Shape 11"/>
          <p:cNvSpPr/>
          <p:nvPr/>
        </p:nvSpPr>
        <p:spPr>
          <a:xfrm>
            <a:off x="594360" y="3520440"/>
            <a:ext cx="91440" cy="896112"/>
          </a:xfrm>
          <a:prstGeom prst="rect">
            <a:avLst/>
          </a:prstGeom>
          <a:solidFill>
            <a:srgbClr val="27D3BE"/>
          </a:solidFill>
          <a:ln w="12700">
            <a:solidFill>
              <a:srgbClr val="27D3BE"/>
            </a:solidFill>
            <a:prstDash val="solid"/>
          </a:ln>
        </p:spPr>
        <p:txBody>
          <a:bodyPr/>
          <a:p/>
        </p:txBody>
      </p:sp>
      <p:sp>
        <p:nvSpPr>
          <p:cNvPr id="14" name="Text 12"/>
          <p:cNvSpPr/>
          <p:nvPr/>
        </p:nvSpPr>
        <p:spPr>
          <a:xfrm>
            <a:off x="914400" y="3520440"/>
            <a:ext cx="2468880" cy="896112"/>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Cât contează</a:t>
            </a:r>
            <a:endParaRPr lang="en-US" sz="1900" dirty="0"/>
          </a:p>
        </p:txBody>
      </p:sp>
      <p:sp>
        <p:nvSpPr>
          <p:cNvPr id="15" name="Text 13"/>
          <p:cNvSpPr/>
          <p:nvPr/>
        </p:nvSpPr>
        <p:spPr>
          <a:xfrm>
            <a:off x="3474720" y="3520440"/>
            <a:ext cx="7909560" cy="896112"/>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examenul scris 50%, planul strategic 35%, produsele seminariilor 2–6 15%</a:t>
            </a:r>
            <a:endParaRPr lang="en-US" sz="1600" dirty="0"/>
          </a:p>
        </p:txBody>
      </p:sp>
      <p:sp>
        <p:nvSpPr>
          <p:cNvPr id="16" name="Shape 14"/>
          <p:cNvSpPr/>
          <p:nvPr/>
        </p:nvSpPr>
        <p:spPr>
          <a:xfrm>
            <a:off x="594360" y="4526280"/>
            <a:ext cx="10972800" cy="896112"/>
          </a:xfrm>
          <a:prstGeom prst="roundRect">
            <a:avLst>
              <a:gd name="adj" fmla="val 9184"/>
            </a:avLst>
          </a:prstGeom>
          <a:solidFill>
            <a:srgbClr val="1D1F2B"/>
          </a:solidFill>
          <a:ln w="12700">
            <a:solidFill>
              <a:srgbClr val="1D1F2B"/>
            </a:solidFill>
            <a:prstDash val="solid"/>
          </a:ln>
        </p:spPr>
        <p:txBody>
          <a:bodyPr/>
          <a:p/>
        </p:txBody>
      </p:sp>
      <p:sp>
        <p:nvSpPr>
          <p:cNvPr id="17" name="Shape 15"/>
          <p:cNvSpPr/>
          <p:nvPr/>
        </p:nvSpPr>
        <p:spPr>
          <a:xfrm>
            <a:off x="594360" y="4526280"/>
            <a:ext cx="91440" cy="896112"/>
          </a:xfrm>
          <a:prstGeom prst="rect">
            <a:avLst/>
          </a:prstGeom>
          <a:solidFill>
            <a:srgbClr val="9B7EF7"/>
          </a:solidFill>
          <a:ln w="12700">
            <a:solidFill>
              <a:srgbClr val="9B7EF7"/>
            </a:solidFill>
            <a:prstDash val="solid"/>
          </a:ln>
        </p:spPr>
        <p:txBody>
          <a:bodyPr/>
          <a:p/>
        </p:txBody>
      </p:sp>
      <p:sp>
        <p:nvSpPr>
          <p:cNvPr id="18" name="Text 16"/>
          <p:cNvSpPr/>
          <p:nvPr/>
        </p:nvSpPr>
        <p:spPr>
          <a:xfrm>
            <a:off x="914400" y="4526280"/>
            <a:ext cx="2468880" cy="896112"/>
          </a:xfrm>
          <a:prstGeom prst="rect">
            <a:avLst/>
          </a:prstGeom>
          <a:noFill/>
          <a:ln/>
        </p:spPr>
        <p:txBody>
          <a:bodyPr wrap="square" lIns="0" tIns="0" rIns="0" bIns="0" rtlCol="0" anchor="ctr"/>
          <a:lstStyle/>
          <a:p>
            <a:pPr indent="0" marL="0">
              <a:buNone/>
            </a:pPr>
            <a:r>
              <a:rPr lang="en-US" sz="1900" b="1" dirty="0">
                <a:solidFill>
                  <a:srgbClr val="9B7EF7"/>
                </a:solidFill>
                <a:latin typeface="Palatino Linotype" pitchFamily="34" charset="0"/>
                <a:ea typeface="Palatino Linotype" pitchFamily="34" charset="-122"/>
                <a:cs typeface="Palatino Linotype" pitchFamily="34" charset="-120"/>
              </a:rPr>
              <a:t>Ce este obligatoriu</a:t>
            </a:r>
            <a:endParaRPr lang="en-US" sz="1900" dirty="0"/>
          </a:p>
        </p:txBody>
      </p:sp>
      <p:sp>
        <p:nvSpPr>
          <p:cNvPr id="19" name="Text 17"/>
          <p:cNvSpPr/>
          <p:nvPr/>
        </p:nvSpPr>
        <p:spPr>
          <a:xfrm>
            <a:off x="3474720" y="4526280"/>
            <a:ext cx="7909560" cy="896112"/>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nota 5 la examenul scris și nota 5 la planul strategic; cel puțin 3 prezențe din cele 7 seminarii</a:t>
            </a:r>
            <a:endParaRPr lang="en-US" sz="1600" dirty="0"/>
          </a:p>
        </p:txBody>
      </p:sp>
      <p:sp>
        <p:nvSpPr>
          <p:cNvPr id="20" name="Shape 18"/>
          <p:cNvSpPr/>
          <p:nvPr/>
        </p:nvSpPr>
        <p:spPr>
          <a:xfrm>
            <a:off x="594360" y="5532120"/>
            <a:ext cx="10972800" cy="896112"/>
          </a:xfrm>
          <a:prstGeom prst="roundRect">
            <a:avLst>
              <a:gd name="adj" fmla="val 9184"/>
            </a:avLst>
          </a:prstGeom>
          <a:solidFill>
            <a:srgbClr val="1D1F2B"/>
          </a:solidFill>
          <a:ln w="12700">
            <a:solidFill>
              <a:srgbClr val="1D1F2B"/>
            </a:solidFill>
            <a:prstDash val="solid"/>
          </a:ln>
        </p:spPr>
        <p:txBody>
          <a:bodyPr/>
          <a:p/>
        </p:txBody>
      </p:sp>
      <p:sp>
        <p:nvSpPr>
          <p:cNvPr id="21" name="Shape 19"/>
          <p:cNvSpPr/>
          <p:nvPr/>
        </p:nvSpPr>
        <p:spPr>
          <a:xfrm>
            <a:off x="594360" y="5532120"/>
            <a:ext cx="91440" cy="896112"/>
          </a:xfrm>
          <a:prstGeom prst="rect">
            <a:avLst/>
          </a:prstGeom>
          <a:solidFill>
            <a:srgbClr val="FF8A3D"/>
          </a:solidFill>
          <a:ln w="12700">
            <a:solidFill>
              <a:srgbClr val="FF8A3D"/>
            </a:solidFill>
            <a:prstDash val="solid"/>
          </a:ln>
        </p:spPr>
        <p:txBody>
          <a:bodyPr/>
          <a:p/>
        </p:txBody>
      </p:sp>
      <p:sp>
        <p:nvSpPr>
          <p:cNvPr id="22" name="Text 20"/>
          <p:cNvSpPr/>
          <p:nvPr/>
        </p:nvSpPr>
        <p:spPr>
          <a:xfrm>
            <a:off x="914400" y="5532120"/>
            <a:ext cx="2468880" cy="896112"/>
          </a:xfrm>
          <a:prstGeom prst="rect">
            <a:avLst/>
          </a:prstGeom>
          <a:noFill/>
          <a:ln/>
        </p:spPr>
        <p:txBody>
          <a:bodyPr wrap="square" lIns="0" tIns="0" rIns="0" bIns="0" rtlCol="0" anchor="ctr"/>
          <a:lstStyle/>
          <a:p>
            <a:pPr indent="0" marL="0">
              <a:buNone/>
            </a:pPr>
            <a:r>
              <a:rPr lang="en-US" sz="1900" b="1" dirty="0">
                <a:solidFill>
                  <a:srgbClr val="FF8A3D"/>
                </a:solidFill>
                <a:latin typeface="Palatino Linotype" pitchFamily="34" charset="0"/>
                <a:ea typeface="Palatino Linotype" pitchFamily="34" charset="-122"/>
                <a:cs typeface="Palatino Linotype" pitchFamily="34" charset="-120"/>
              </a:rPr>
              <a:t>Ce nu se face</a:t>
            </a:r>
            <a:endParaRPr lang="en-US" sz="1900" dirty="0"/>
          </a:p>
        </p:txBody>
      </p:sp>
      <p:sp>
        <p:nvSpPr>
          <p:cNvPr id="23" name="Text 21"/>
          <p:cNvSpPr/>
          <p:nvPr/>
        </p:nvSpPr>
        <p:spPr>
          <a:xfrm>
            <a:off x="3474720" y="5532120"/>
            <a:ext cx="7909560" cy="896112"/>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cifre fără sursă și an; informații nepublice; instrumente de inteligență artificială ca sursă de cifre; punctul din oficiu nu se acordă</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GHIDUL PROIECTULUI · CALENDAR ȘI NOTARE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Șapte seminarii, un plan strategic</a:t>
            </a:r>
            <a:endParaRPr lang="en-US" sz="2900" dirty="0"/>
          </a:p>
        </p:txBody>
      </p:sp>
      <p:sp>
        <p:nvSpPr>
          <p:cNvPr id="4" name="Shape 2"/>
          <p:cNvSpPr/>
          <p:nvPr/>
        </p:nvSpPr>
        <p:spPr>
          <a:xfrm>
            <a:off x="594360" y="1417320"/>
            <a:ext cx="6126480" cy="365760"/>
          </a:xfrm>
          <a:prstGeom prst="rect">
            <a:avLst/>
          </a:prstGeom>
          <a:solidFill>
            <a:srgbClr val="11121A"/>
          </a:solidFill>
          <a:ln w="12700">
            <a:solidFill>
              <a:srgbClr val="11121A"/>
            </a:solidFill>
            <a:prstDash val="solid"/>
          </a:ln>
        </p:spPr>
        <p:txBody>
          <a:bodyPr/>
          <a:p/>
        </p:txBody>
      </p:sp>
      <p:sp>
        <p:nvSpPr>
          <p:cNvPr id="5" name="Text 3"/>
          <p:cNvSpPr/>
          <p:nvPr/>
        </p:nvSpPr>
        <p:spPr>
          <a:xfrm>
            <a:off x="685800" y="1417320"/>
            <a:ext cx="411480" cy="365760"/>
          </a:xfrm>
          <a:prstGeom prst="rect">
            <a:avLst/>
          </a:prstGeom>
          <a:noFill/>
          <a:ln/>
        </p:spPr>
        <p:txBody>
          <a:bodyPr wrap="square" lIns="0" tIns="0" rIns="0" bIns="0" rtlCol="0" anchor="ctr"/>
          <a:lstStyle/>
          <a:p>
            <a:pPr indent="0" marL="0">
              <a:buNone/>
            </a:pPr>
            <a:r>
              <a:rPr lang="en-US" sz="1250" b="1" dirty="0">
                <a:solidFill>
                  <a:srgbClr val="FFFFFF"/>
                </a:solidFill>
                <a:latin typeface="Palatino Linotype" pitchFamily="34" charset="0"/>
                <a:ea typeface="Palatino Linotype" pitchFamily="34" charset="-122"/>
                <a:cs typeface="Palatino Linotype" pitchFamily="34" charset="-120"/>
              </a:rPr>
              <a:t>Nr.</a:t>
            </a:r>
            <a:endParaRPr lang="en-US" sz="1250" dirty="0"/>
          </a:p>
        </p:txBody>
      </p:sp>
      <p:sp>
        <p:nvSpPr>
          <p:cNvPr id="6" name="Text 4"/>
          <p:cNvSpPr/>
          <p:nvPr/>
        </p:nvSpPr>
        <p:spPr>
          <a:xfrm>
            <a:off x="1188720" y="1417320"/>
            <a:ext cx="2240280" cy="365760"/>
          </a:xfrm>
          <a:prstGeom prst="rect">
            <a:avLst/>
          </a:prstGeom>
          <a:noFill/>
          <a:ln/>
        </p:spPr>
        <p:txBody>
          <a:bodyPr wrap="square" lIns="0" tIns="0" rIns="0" bIns="0" rtlCol="0" anchor="ctr"/>
          <a:lstStyle/>
          <a:p>
            <a:pPr indent="0" marL="0">
              <a:buNone/>
            </a:pPr>
            <a:r>
              <a:rPr lang="en-US" sz="1250" b="1" dirty="0">
                <a:solidFill>
                  <a:srgbClr val="FFFFFF"/>
                </a:solidFill>
                <a:latin typeface="Palatino Linotype" pitchFamily="34" charset="0"/>
                <a:ea typeface="Palatino Linotype" pitchFamily="34" charset="-122"/>
                <a:cs typeface="Palatino Linotype" pitchFamily="34" charset="-120"/>
              </a:rPr>
              <a:t>Data</a:t>
            </a:r>
            <a:endParaRPr lang="en-US" sz="1250" dirty="0"/>
          </a:p>
        </p:txBody>
      </p:sp>
      <p:sp>
        <p:nvSpPr>
          <p:cNvPr id="7" name="Text 5"/>
          <p:cNvSpPr/>
          <p:nvPr/>
        </p:nvSpPr>
        <p:spPr>
          <a:xfrm>
            <a:off x="3520440" y="1417320"/>
            <a:ext cx="3200400" cy="365760"/>
          </a:xfrm>
          <a:prstGeom prst="rect">
            <a:avLst/>
          </a:prstGeom>
          <a:noFill/>
          <a:ln/>
        </p:spPr>
        <p:txBody>
          <a:bodyPr wrap="square" lIns="0" tIns="0" rIns="0" bIns="0" rtlCol="0" anchor="ctr"/>
          <a:lstStyle/>
          <a:p>
            <a:pPr indent="0" marL="0">
              <a:buNone/>
            </a:pPr>
            <a:r>
              <a:rPr lang="en-US" sz="1250" b="1" dirty="0">
                <a:solidFill>
                  <a:srgbClr val="FFFFFF"/>
                </a:solidFill>
                <a:latin typeface="Palatino Linotype" pitchFamily="34" charset="0"/>
                <a:ea typeface="Palatino Linotype" pitchFamily="34" charset="-122"/>
                <a:cs typeface="Palatino Linotype" pitchFamily="34" charset="-120"/>
              </a:rPr>
              <a:t>Tema</a:t>
            </a:r>
            <a:endParaRPr lang="en-US" sz="1250" dirty="0"/>
          </a:p>
        </p:txBody>
      </p:sp>
      <p:sp>
        <p:nvSpPr>
          <p:cNvPr id="8" name="Shape 6"/>
          <p:cNvSpPr/>
          <p:nvPr/>
        </p:nvSpPr>
        <p:spPr>
          <a:xfrm>
            <a:off x="594360" y="1828800"/>
            <a:ext cx="6126480" cy="457200"/>
          </a:xfrm>
          <a:prstGeom prst="roundRect">
            <a:avLst>
              <a:gd name="adj" fmla="val 18000"/>
            </a:avLst>
          </a:prstGeom>
          <a:solidFill>
            <a:srgbClr val="ECEAE4"/>
          </a:solidFill>
          <a:ln w="12700">
            <a:solidFill>
              <a:srgbClr val="ECEAE4"/>
            </a:solidFill>
            <a:prstDash val="solid"/>
          </a:ln>
        </p:spPr>
        <p:txBody>
          <a:bodyPr/>
          <a:p/>
        </p:txBody>
      </p:sp>
      <p:sp>
        <p:nvSpPr>
          <p:cNvPr id="9" name="Text 7"/>
          <p:cNvSpPr/>
          <p:nvPr/>
        </p:nvSpPr>
        <p:spPr>
          <a:xfrm>
            <a:off x="704088" y="1828800"/>
            <a:ext cx="365760" cy="45720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1</a:t>
            </a:r>
            <a:endParaRPr lang="en-US" sz="1600" dirty="0"/>
          </a:p>
        </p:txBody>
      </p:sp>
      <p:sp>
        <p:nvSpPr>
          <p:cNvPr id="10" name="Text 8"/>
          <p:cNvSpPr/>
          <p:nvPr/>
        </p:nvSpPr>
        <p:spPr>
          <a:xfrm>
            <a:off x="1188720" y="1828800"/>
            <a:ext cx="2331720" cy="457200"/>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5.10.2026</a:t>
            </a:r>
            <a:endParaRPr lang="en-US" sz="1400" dirty="0"/>
          </a:p>
        </p:txBody>
      </p:sp>
      <p:sp>
        <p:nvSpPr>
          <p:cNvPr id="11" name="Text 9"/>
          <p:cNvSpPr/>
          <p:nvPr/>
        </p:nvSpPr>
        <p:spPr>
          <a:xfrm>
            <a:off x="3520440" y="1828800"/>
            <a:ext cx="3108960" cy="45720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Lansarea proiectului</a:t>
            </a:r>
            <a:endParaRPr lang="en-US" sz="1300" dirty="0"/>
          </a:p>
        </p:txBody>
      </p:sp>
      <p:sp>
        <p:nvSpPr>
          <p:cNvPr id="12" name="Shape 10"/>
          <p:cNvSpPr/>
          <p:nvPr/>
        </p:nvSpPr>
        <p:spPr>
          <a:xfrm>
            <a:off x="594360" y="2331720"/>
            <a:ext cx="6126480" cy="457200"/>
          </a:xfrm>
          <a:prstGeom prst="roundRect">
            <a:avLst>
              <a:gd name="adj" fmla="val 18000"/>
            </a:avLst>
          </a:prstGeom>
          <a:solidFill>
            <a:srgbClr val="F9F8F5"/>
          </a:solidFill>
          <a:ln w="12700">
            <a:solidFill>
              <a:srgbClr val="F9F8F5"/>
            </a:solidFill>
            <a:prstDash val="solid"/>
          </a:ln>
        </p:spPr>
        <p:txBody>
          <a:bodyPr/>
          <a:p/>
        </p:txBody>
      </p:sp>
      <p:sp>
        <p:nvSpPr>
          <p:cNvPr id="13" name="Text 11"/>
          <p:cNvSpPr/>
          <p:nvPr/>
        </p:nvSpPr>
        <p:spPr>
          <a:xfrm>
            <a:off x="704088" y="2331720"/>
            <a:ext cx="365760" cy="45720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2</a:t>
            </a:r>
            <a:endParaRPr lang="en-US" sz="1600" dirty="0"/>
          </a:p>
        </p:txBody>
      </p:sp>
      <p:sp>
        <p:nvSpPr>
          <p:cNvPr id="14" name="Text 12"/>
          <p:cNvSpPr/>
          <p:nvPr/>
        </p:nvSpPr>
        <p:spPr>
          <a:xfrm>
            <a:off x="1188720" y="2331720"/>
            <a:ext cx="2331720" cy="457200"/>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19.10.2026</a:t>
            </a:r>
            <a:endParaRPr lang="en-US" sz="1400" dirty="0"/>
          </a:p>
        </p:txBody>
      </p:sp>
      <p:sp>
        <p:nvSpPr>
          <p:cNvPr id="15" name="Text 13"/>
          <p:cNvSpPr/>
          <p:nvPr/>
        </p:nvSpPr>
        <p:spPr>
          <a:xfrm>
            <a:off x="3520440" y="2331720"/>
            <a:ext cx="3108960" cy="45720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Analiza mediului extern</a:t>
            </a:r>
            <a:endParaRPr lang="en-US" sz="1300" dirty="0"/>
          </a:p>
        </p:txBody>
      </p:sp>
      <p:sp>
        <p:nvSpPr>
          <p:cNvPr id="16" name="Shape 14"/>
          <p:cNvSpPr/>
          <p:nvPr/>
        </p:nvSpPr>
        <p:spPr>
          <a:xfrm>
            <a:off x="594360" y="2834640"/>
            <a:ext cx="6126480" cy="457200"/>
          </a:xfrm>
          <a:prstGeom prst="roundRect">
            <a:avLst>
              <a:gd name="adj" fmla="val 18000"/>
            </a:avLst>
          </a:prstGeom>
          <a:solidFill>
            <a:srgbClr val="ECEAE4"/>
          </a:solidFill>
          <a:ln w="12700">
            <a:solidFill>
              <a:srgbClr val="ECEAE4"/>
            </a:solidFill>
            <a:prstDash val="solid"/>
          </a:ln>
        </p:spPr>
        <p:txBody>
          <a:bodyPr/>
          <a:p/>
        </p:txBody>
      </p:sp>
      <p:sp>
        <p:nvSpPr>
          <p:cNvPr id="17" name="Text 15"/>
          <p:cNvSpPr/>
          <p:nvPr/>
        </p:nvSpPr>
        <p:spPr>
          <a:xfrm>
            <a:off x="704088" y="2834640"/>
            <a:ext cx="365760" cy="45720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3</a:t>
            </a:r>
            <a:endParaRPr lang="en-US" sz="1600" dirty="0"/>
          </a:p>
        </p:txBody>
      </p:sp>
      <p:sp>
        <p:nvSpPr>
          <p:cNvPr id="18" name="Text 16"/>
          <p:cNvSpPr/>
          <p:nvPr/>
        </p:nvSpPr>
        <p:spPr>
          <a:xfrm>
            <a:off x="1188720" y="2834640"/>
            <a:ext cx="2331720" cy="457200"/>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2.11.2026</a:t>
            </a:r>
            <a:endParaRPr lang="en-US" sz="1400" dirty="0"/>
          </a:p>
        </p:txBody>
      </p:sp>
      <p:sp>
        <p:nvSpPr>
          <p:cNvPr id="19" name="Text 17"/>
          <p:cNvSpPr/>
          <p:nvPr/>
        </p:nvSpPr>
        <p:spPr>
          <a:xfrm>
            <a:off x="3520440" y="2834640"/>
            <a:ext cx="3108960" cy="45720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Aria de servicii și competitorii</a:t>
            </a:r>
            <a:endParaRPr lang="en-US" sz="1300" dirty="0"/>
          </a:p>
        </p:txBody>
      </p:sp>
      <p:sp>
        <p:nvSpPr>
          <p:cNvPr id="20" name="Shape 18"/>
          <p:cNvSpPr/>
          <p:nvPr/>
        </p:nvSpPr>
        <p:spPr>
          <a:xfrm>
            <a:off x="594360" y="3337560"/>
            <a:ext cx="6126480" cy="457200"/>
          </a:xfrm>
          <a:prstGeom prst="roundRect">
            <a:avLst>
              <a:gd name="adj" fmla="val 18000"/>
            </a:avLst>
          </a:prstGeom>
          <a:solidFill>
            <a:srgbClr val="F9F8F5"/>
          </a:solidFill>
          <a:ln w="12700">
            <a:solidFill>
              <a:srgbClr val="F9F8F5"/>
            </a:solidFill>
            <a:prstDash val="solid"/>
          </a:ln>
        </p:spPr>
        <p:txBody>
          <a:bodyPr/>
          <a:p/>
        </p:txBody>
      </p:sp>
      <p:sp>
        <p:nvSpPr>
          <p:cNvPr id="21" name="Text 19"/>
          <p:cNvSpPr/>
          <p:nvPr/>
        </p:nvSpPr>
        <p:spPr>
          <a:xfrm>
            <a:off x="704088" y="3337560"/>
            <a:ext cx="365760" cy="45720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4</a:t>
            </a:r>
            <a:endParaRPr lang="en-US" sz="1600" dirty="0"/>
          </a:p>
        </p:txBody>
      </p:sp>
      <p:sp>
        <p:nvSpPr>
          <p:cNvPr id="22" name="Text 20"/>
          <p:cNvSpPr/>
          <p:nvPr/>
        </p:nvSpPr>
        <p:spPr>
          <a:xfrm>
            <a:off x="1188720" y="3337560"/>
            <a:ext cx="2331720" cy="457200"/>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16.11.2026</a:t>
            </a:r>
            <a:endParaRPr lang="en-US" sz="1400" dirty="0"/>
          </a:p>
        </p:txBody>
      </p:sp>
      <p:sp>
        <p:nvSpPr>
          <p:cNvPr id="23" name="Text 21"/>
          <p:cNvSpPr/>
          <p:nvPr/>
        </p:nvSpPr>
        <p:spPr>
          <a:xfrm>
            <a:off x="3520440" y="3337560"/>
            <a:ext cx="3108960" cy="45720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Analiza internă</a:t>
            </a:r>
            <a:endParaRPr lang="en-US" sz="1300" dirty="0"/>
          </a:p>
        </p:txBody>
      </p:sp>
      <p:sp>
        <p:nvSpPr>
          <p:cNvPr id="24" name="Shape 22"/>
          <p:cNvSpPr/>
          <p:nvPr/>
        </p:nvSpPr>
        <p:spPr>
          <a:xfrm>
            <a:off x="594360" y="3840480"/>
            <a:ext cx="6126480" cy="457200"/>
          </a:xfrm>
          <a:prstGeom prst="roundRect">
            <a:avLst>
              <a:gd name="adj" fmla="val 18000"/>
            </a:avLst>
          </a:prstGeom>
          <a:solidFill>
            <a:srgbClr val="ECEAE4"/>
          </a:solidFill>
          <a:ln w="12700">
            <a:solidFill>
              <a:srgbClr val="ECEAE4"/>
            </a:solidFill>
            <a:prstDash val="solid"/>
          </a:ln>
        </p:spPr>
        <p:txBody>
          <a:bodyPr/>
          <a:p/>
        </p:txBody>
      </p:sp>
      <p:sp>
        <p:nvSpPr>
          <p:cNvPr id="25" name="Text 23"/>
          <p:cNvSpPr/>
          <p:nvPr/>
        </p:nvSpPr>
        <p:spPr>
          <a:xfrm>
            <a:off x="704088" y="3840480"/>
            <a:ext cx="365760" cy="45720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5</a:t>
            </a:r>
            <a:endParaRPr lang="en-US" sz="1600" dirty="0"/>
          </a:p>
        </p:txBody>
      </p:sp>
      <p:sp>
        <p:nvSpPr>
          <p:cNvPr id="26" name="Text 24"/>
          <p:cNvSpPr/>
          <p:nvPr/>
        </p:nvSpPr>
        <p:spPr>
          <a:xfrm>
            <a:off x="1188720" y="3840480"/>
            <a:ext cx="2286000" cy="457200"/>
          </a:xfrm>
          <a:prstGeom prst="rect">
            <a:avLst/>
          </a:prstGeom>
          <a:noFill/>
          <a:ln/>
        </p:spPr>
        <p:txBody>
          <a:bodyPr wrap="square" lIns="0" tIns="0" rIns="0" bIns="0" rtlCol="0" anchor="ctr"/>
          <a:lstStyle/>
          <a:p>
            <a:pPr indent="0" marL="0">
              <a:buNone/>
            </a:pPr>
            <a:r>
              <a:rPr lang="en-US" sz="1050" b="1" dirty="0">
                <a:solidFill>
                  <a:srgbClr val="8A6100"/>
                </a:solidFill>
                <a:latin typeface="Palatino Linotype" pitchFamily="34" charset="0"/>
                <a:ea typeface="Palatino Linotype" pitchFamily="34" charset="-122"/>
                <a:cs typeface="Palatino Linotype" pitchFamily="34" charset="-120"/>
              </a:rPr>
              <a:t>data se anunță până la 16.11.2026</a:t>
            </a:r>
            <a:endParaRPr lang="en-US" sz="1050" dirty="0"/>
          </a:p>
          <a:p>
            <a:pPr indent="0" marL="0">
              <a:buNone/>
            </a:pPr>
            <a:r>
              <a:rPr lang="en-US" sz="950" dirty="0">
                <a:solidFill>
                  <a:srgbClr val="585A64"/>
                </a:solidFill>
                <a:latin typeface="Palatino Linotype" pitchFamily="34" charset="0"/>
                <a:ea typeface="Palatino Linotype" pitchFamily="34" charset="-122"/>
                <a:cs typeface="Palatino Linotype" pitchFamily="34" charset="-120"/>
              </a:rPr>
              <a:t>e-mail și Teams · 1.12: zi liberă legală</a:t>
            </a:r>
            <a:endParaRPr lang="en-US" sz="1050" dirty="0"/>
          </a:p>
        </p:txBody>
      </p:sp>
      <p:sp>
        <p:nvSpPr>
          <p:cNvPr id="27" name="Text 25"/>
          <p:cNvSpPr/>
          <p:nvPr/>
        </p:nvSpPr>
        <p:spPr>
          <a:xfrm>
            <a:off x="3520440" y="3840480"/>
            <a:ext cx="3108960" cy="45720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Direcția strategică și alternativele</a:t>
            </a:r>
            <a:endParaRPr lang="en-US" sz="1300" dirty="0"/>
          </a:p>
        </p:txBody>
      </p:sp>
      <p:sp>
        <p:nvSpPr>
          <p:cNvPr id="28" name="Shape 26"/>
          <p:cNvSpPr/>
          <p:nvPr/>
        </p:nvSpPr>
        <p:spPr>
          <a:xfrm>
            <a:off x="594360" y="4343400"/>
            <a:ext cx="6126480" cy="457200"/>
          </a:xfrm>
          <a:prstGeom prst="roundRect">
            <a:avLst>
              <a:gd name="adj" fmla="val 18000"/>
            </a:avLst>
          </a:prstGeom>
          <a:solidFill>
            <a:srgbClr val="F9F8F5"/>
          </a:solidFill>
          <a:ln w="12700">
            <a:solidFill>
              <a:srgbClr val="F9F8F5"/>
            </a:solidFill>
            <a:prstDash val="solid"/>
          </a:ln>
        </p:spPr>
        <p:txBody>
          <a:bodyPr/>
          <a:p/>
        </p:txBody>
      </p:sp>
      <p:sp>
        <p:nvSpPr>
          <p:cNvPr id="29" name="Text 27"/>
          <p:cNvSpPr/>
          <p:nvPr/>
        </p:nvSpPr>
        <p:spPr>
          <a:xfrm>
            <a:off x="704088" y="4343400"/>
            <a:ext cx="365760" cy="45720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6</a:t>
            </a:r>
            <a:endParaRPr lang="en-US" sz="1600" dirty="0"/>
          </a:p>
        </p:txBody>
      </p:sp>
      <p:sp>
        <p:nvSpPr>
          <p:cNvPr id="30" name="Text 28"/>
          <p:cNvSpPr/>
          <p:nvPr/>
        </p:nvSpPr>
        <p:spPr>
          <a:xfrm>
            <a:off x="1188720" y="4343400"/>
            <a:ext cx="2331720" cy="457200"/>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14.12.2026</a:t>
            </a:r>
            <a:endParaRPr lang="en-US" sz="1400" dirty="0"/>
          </a:p>
        </p:txBody>
      </p:sp>
      <p:sp>
        <p:nvSpPr>
          <p:cNvPr id="31" name="Text 29"/>
          <p:cNvSpPr/>
          <p:nvPr/>
        </p:nvSpPr>
        <p:spPr>
          <a:xfrm>
            <a:off x="3520440" y="4343400"/>
            <a:ext cx="3108960" cy="45720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Planul de acțiune și indicatorii</a:t>
            </a:r>
            <a:endParaRPr lang="en-US" sz="1300" dirty="0"/>
          </a:p>
        </p:txBody>
      </p:sp>
      <p:sp>
        <p:nvSpPr>
          <p:cNvPr id="32" name="Shape 30"/>
          <p:cNvSpPr/>
          <p:nvPr/>
        </p:nvSpPr>
        <p:spPr>
          <a:xfrm>
            <a:off x="594360" y="4846320"/>
            <a:ext cx="6126480" cy="457200"/>
          </a:xfrm>
          <a:prstGeom prst="roundRect">
            <a:avLst>
              <a:gd name="adj" fmla="val 18000"/>
            </a:avLst>
          </a:prstGeom>
          <a:solidFill>
            <a:srgbClr val="ECEAE4"/>
          </a:solidFill>
          <a:ln w="12700">
            <a:solidFill>
              <a:srgbClr val="ECEAE4"/>
            </a:solidFill>
            <a:prstDash val="solid"/>
          </a:ln>
        </p:spPr>
        <p:txBody>
          <a:bodyPr/>
          <a:p/>
        </p:txBody>
      </p:sp>
      <p:sp>
        <p:nvSpPr>
          <p:cNvPr id="33" name="Text 31"/>
          <p:cNvSpPr/>
          <p:nvPr/>
        </p:nvSpPr>
        <p:spPr>
          <a:xfrm>
            <a:off x="704088" y="4846320"/>
            <a:ext cx="365760" cy="45720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7</a:t>
            </a:r>
            <a:endParaRPr lang="en-US" sz="1600" dirty="0"/>
          </a:p>
        </p:txBody>
      </p:sp>
      <p:sp>
        <p:nvSpPr>
          <p:cNvPr id="34" name="Text 32"/>
          <p:cNvSpPr/>
          <p:nvPr/>
        </p:nvSpPr>
        <p:spPr>
          <a:xfrm>
            <a:off x="1188720" y="4846320"/>
            <a:ext cx="2286000" cy="457200"/>
          </a:xfrm>
          <a:prstGeom prst="rect">
            <a:avLst/>
          </a:prstGeom>
          <a:noFill/>
          <a:ln/>
        </p:spPr>
        <p:txBody>
          <a:bodyPr wrap="square" lIns="0" tIns="0" rIns="0" bIns="0" rtlCol="0" anchor="ctr"/>
          <a:lstStyle/>
          <a:p>
            <a:pPr indent="0" marL="0">
              <a:buNone/>
            </a:pPr>
            <a:r>
              <a:rPr lang="en-US" sz="1050" b="1" dirty="0">
                <a:solidFill>
                  <a:srgbClr val="8A6100"/>
                </a:solidFill>
                <a:latin typeface="Palatino Linotype" pitchFamily="34" charset="0"/>
                <a:ea typeface="Palatino Linotype" pitchFamily="34" charset="-122"/>
                <a:cs typeface="Palatino Linotype" pitchFamily="34" charset="-120"/>
              </a:rPr>
              <a:t>data se anunță până la 14.12.2026</a:t>
            </a:r>
            <a:endParaRPr lang="en-US" sz="1050" dirty="0"/>
          </a:p>
          <a:p>
            <a:pPr indent="0" marL="0">
              <a:buNone/>
            </a:pPr>
            <a:r>
              <a:rPr lang="en-US" sz="950" dirty="0">
                <a:solidFill>
                  <a:srgbClr val="585A64"/>
                </a:solidFill>
                <a:latin typeface="Palatino Linotype" pitchFamily="34" charset="0"/>
                <a:ea typeface="Palatino Linotype" pitchFamily="34" charset="-122"/>
                <a:cs typeface="Palatino Linotype" pitchFamily="34" charset="-120"/>
              </a:rPr>
              <a:t>e-mail și Teams · după vacanța de iarnă</a:t>
            </a:r>
            <a:endParaRPr lang="en-US" sz="1050" dirty="0"/>
          </a:p>
        </p:txBody>
      </p:sp>
      <p:sp>
        <p:nvSpPr>
          <p:cNvPr id="35" name="Text 33"/>
          <p:cNvSpPr/>
          <p:nvPr/>
        </p:nvSpPr>
        <p:spPr>
          <a:xfrm>
            <a:off x="3520440" y="4846320"/>
            <a:ext cx="3108960" cy="45720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Susținerea planurilor strategice</a:t>
            </a:r>
            <a:endParaRPr lang="en-US" sz="1300" dirty="0"/>
          </a:p>
        </p:txBody>
      </p:sp>
      <p:sp>
        <p:nvSpPr>
          <p:cNvPr id="36" name="Text 34"/>
          <p:cNvSpPr/>
          <p:nvPr/>
        </p:nvSpPr>
        <p:spPr>
          <a:xfrm>
            <a:off x="7086600" y="1371600"/>
            <a:ext cx="4480560" cy="36576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Nota finală</a:t>
            </a:r>
            <a:endParaRPr lang="en-US" sz="1500" dirty="0"/>
          </a:p>
        </p:txBody>
      </p:sp>
      <p:sp>
        <p:nvSpPr>
          <p:cNvPr id="37" name="Shape 35"/>
          <p:cNvSpPr/>
          <p:nvPr/>
        </p:nvSpPr>
        <p:spPr>
          <a:xfrm>
            <a:off x="7086600" y="1783080"/>
            <a:ext cx="2240280" cy="548640"/>
          </a:xfrm>
          <a:prstGeom prst="rect">
            <a:avLst/>
          </a:prstGeom>
          <a:solidFill>
            <a:srgbClr val="11121A"/>
          </a:solidFill>
          <a:ln w="19050">
            <a:solidFill>
              <a:srgbClr val="F6F5F2"/>
            </a:solidFill>
            <a:prstDash val="solid"/>
          </a:ln>
        </p:spPr>
        <p:txBody>
          <a:bodyPr/>
          <a:p/>
        </p:txBody>
      </p:sp>
      <p:sp>
        <p:nvSpPr>
          <p:cNvPr id="38" name="Text 36"/>
          <p:cNvSpPr/>
          <p:nvPr/>
        </p:nvSpPr>
        <p:spPr>
          <a:xfrm>
            <a:off x="7086600" y="1783080"/>
            <a:ext cx="224028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50%</a:t>
            </a:r>
            <a:endParaRPr lang="en-US" sz="1700" dirty="0"/>
          </a:p>
        </p:txBody>
      </p:sp>
      <p:sp>
        <p:nvSpPr>
          <p:cNvPr id="39" name="Text 37"/>
          <p:cNvSpPr/>
          <p:nvPr/>
        </p:nvSpPr>
        <p:spPr>
          <a:xfrm>
            <a:off x="7086600" y="2359152"/>
            <a:ext cx="2240280" cy="32004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examenul scris</a:t>
            </a:r>
            <a:endParaRPr lang="en-US" sz="1050" dirty="0"/>
          </a:p>
        </p:txBody>
      </p:sp>
      <p:sp>
        <p:nvSpPr>
          <p:cNvPr id="40" name="Shape 38"/>
          <p:cNvSpPr/>
          <p:nvPr/>
        </p:nvSpPr>
        <p:spPr>
          <a:xfrm>
            <a:off x="9326880" y="1783080"/>
            <a:ext cx="1568196" cy="548640"/>
          </a:xfrm>
          <a:prstGeom prst="rect">
            <a:avLst/>
          </a:prstGeom>
          <a:solidFill>
            <a:srgbClr val="B02532"/>
          </a:solidFill>
          <a:ln w="19050">
            <a:solidFill>
              <a:srgbClr val="F6F5F2"/>
            </a:solidFill>
            <a:prstDash val="solid"/>
          </a:ln>
        </p:spPr>
        <p:txBody>
          <a:bodyPr/>
          <a:p/>
        </p:txBody>
      </p:sp>
      <p:sp>
        <p:nvSpPr>
          <p:cNvPr id="41" name="Text 39"/>
          <p:cNvSpPr/>
          <p:nvPr/>
        </p:nvSpPr>
        <p:spPr>
          <a:xfrm>
            <a:off x="9326880" y="1783080"/>
            <a:ext cx="1568196"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35%</a:t>
            </a:r>
            <a:endParaRPr lang="en-US" sz="1700" dirty="0"/>
          </a:p>
        </p:txBody>
      </p:sp>
      <p:sp>
        <p:nvSpPr>
          <p:cNvPr id="42" name="Text 40"/>
          <p:cNvSpPr/>
          <p:nvPr/>
        </p:nvSpPr>
        <p:spPr>
          <a:xfrm>
            <a:off x="9326880" y="2359152"/>
            <a:ext cx="1568196" cy="32004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planul echipei</a:t>
            </a:r>
            <a:endParaRPr lang="en-US" sz="1050" dirty="0"/>
          </a:p>
        </p:txBody>
      </p:sp>
      <p:sp>
        <p:nvSpPr>
          <p:cNvPr id="43" name="Shape 41"/>
          <p:cNvSpPr/>
          <p:nvPr/>
        </p:nvSpPr>
        <p:spPr>
          <a:xfrm>
            <a:off x="10895076" y="1783080"/>
            <a:ext cx="672084" cy="548640"/>
          </a:xfrm>
          <a:prstGeom prst="rect">
            <a:avLst/>
          </a:prstGeom>
          <a:solidFill>
            <a:srgbClr val="0E7C6B"/>
          </a:solidFill>
          <a:ln w="19050">
            <a:solidFill>
              <a:srgbClr val="F6F5F2"/>
            </a:solidFill>
            <a:prstDash val="solid"/>
          </a:ln>
        </p:spPr>
        <p:txBody>
          <a:bodyPr/>
          <a:p/>
        </p:txBody>
      </p:sp>
      <p:sp>
        <p:nvSpPr>
          <p:cNvPr id="44" name="Text 42"/>
          <p:cNvSpPr/>
          <p:nvPr/>
        </p:nvSpPr>
        <p:spPr>
          <a:xfrm>
            <a:off x="10895076" y="1783080"/>
            <a:ext cx="67208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15%</a:t>
            </a:r>
            <a:endParaRPr lang="en-US" sz="1700" dirty="0"/>
          </a:p>
        </p:txBody>
      </p:sp>
      <p:sp>
        <p:nvSpPr>
          <p:cNvPr id="45" name="Text 43"/>
          <p:cNvSpPr/>
          <p:nvPr/>
        </p:nvSpPr>
        <p:spPr>
          <a:xfrm>
            <a:off x="10895076" y="2359152"/>
            <a:ext cx="672084" cy="32004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produse</a:t>
            </a:r>
            <a:endParaRPr lang="en-US" sz="1050" dirty="0"/>
          </a:p>
        </p:txBody>
      </p:sp>
      <p:sp>
        <p:nvSpPr>
          <p:cNvPr id="46" name="Text 44"/>
          <p:cNvSpPr/>
          <p:nvPr/>
        </p:nvSpPr>
        <p:spPr>
          <a:xfrm>
            <a:off x="7086600" y="2788920"/>
            <a:ext cx="4480560" cy="365760"/>
          </a:xfrm>
          <a:prstGeom prst="rect">
            <a:avLst/>
          </a:prstGeom>
          <a:noFill/>
          <a:ln/>
        </p:spPr>
        <p:txBody>
          <a:bodyPr wrap="square" lIns="0" tIns="0" rIns="0" bIns="0" rtlCol="0" anchor="t"/>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Grila planului (și pentru evaluarea colegială, informativă)</a:t>
            </a:r>
            <a:endParaRPr lang="en-US" sz="1300" dirty="0"/>
          </a:p>
        </p:txBody>
      </p:sp>
      <p:sp>
        <p:nvSpPr>
          <p:cNvPr id="47" name="Text 45"/>
          <p:cNvSpPr/>
          <p:nvPr/>
        </p:nvSpPr>
        <p:spPr>
          <a:xfrm>
            <a:off x="7086600" y="3200400"/>
            <a:ext cx="2514600" cy="384048"/>
          </a:xfrm>
          <a:prstGeom prst="rect">
            <a:avLst/>
          </a:prstGeom>
          <a:noFill/>
          <a:ln/>
        </p:spPr>
        <p:txBody>
          <a:bodyPr wrap="square" lIns="0" tIns="0" rIns="0" bIns="0" rtlCol="0" anchor="ctr"/>
          <a:lstStyle/>
          <a:p>
            <a:pPr indent="0" marL="0">
              <a:buNone/>
            </a:pPr>
            <a:r>
              <a:rPr lang="en-US" sz="1150" dirty="0">
                <a:solidFill>
                  <a:srgbClr val="11121A"/>
                </a:solidFill>
                <a:latin typeface="Palatino Linotype" pitchFamily="34" charset="0"/>
                <a:ea typeface="Palatino Linotype" pitchFamily="34" charset="-122"/>
                <a:cs typeface="Palatino Linotype" pitchFamily="34" charset="-120"/>
              </a:rPr>
              <a:t>Analiza externă și internă</a:t>
            </a:r>
            <a:endParaRPr lang="en-US" sz="1150" dirty="0"/>
          </a:p>
        </p:txBody>
      </p:sp>
      <p:sp>
        <p:nvSpPr>
          <p:cNvPr id="48" name="Shape 46"/>
          <p:cNvSpPr/>
          <p:nvPr/>
        </p:nvSpPr>
        <p:spPr>
          <a:xfrm>
            <a:off x="9646920" y="3273552"/>
            <a:ext cx="1234440" cy="237744"/>
          </a:xfrm>
          <a:prstGeom prst="roundRect">
            <a:avLst>
              <a:gd name="adj" fmla="val 15385"/>
            </a:avLst>
          </a:prstGeom>
          <a:solidFill>
            <a:srgbClr val="0E7C6B"/>
          </a:solidFill>
          <a:ln w="12700">
            <a:solidFill>
              <a:srgbClr val="0E7C6B"/>
            </a:solidFill>
            <a:prstDash val="solid"/>
          </a:ln>
        </p:spPr>
        <p:txBody>
          <a:bodyPr/>
          <a:p/>
        </p:txBody>
      </p:sp>
      <p:sp>
        <p:nvSpPr>
          <p:cNvPr id="49" name="Text 47"/>
          <p:cNvSpPr/>
          <p:nvPr/>
        </p:nvSpPr>
        <p:spPr>
          <a:xfrm>
            <a:off x="10972800" y="3200400"/>
            <a:ext cx="685800" cy="384048"/>
          </a:xfrm>
          <a:prstGeom prst="rect">
            <a:avLst/>
          </a:prstGeom>
          <a:noFill/>
          <a:ln/>
        </p:spPr>
        <p:txBody>
          <a:bodyPr wrap="square" lIns="0" tIns="0" rIns="0" bIns="0" rtlCol="0" anchor="ctr"/>
          <a:lstStyle/>
          <a:p>
            <a:pPr indent="0" marL="0">
              <a:buNone/>
            </a:pPr>
            <a:r>
              <a:rPr lang="en-US" sz="1300" b="1" dirty="0">
                <a:solidFill>
                  <a:srgbClr val="0E7C6B"/>
                </a:solidFill>
                <a:latin typeface="Palatino Linotype" pitchFamily="34" charset="0"/>
                <a:ea typeface="Palatino Linotype" pitchFamily="34" charset="-122"/>
                <a:cs typeface="Palatino Linotype" pitchFamily="34" charset="-120"/>
              </a:rPr>
              <a:t>30%</a:t>
            </a:r>
            <a:endParaRPr lang="en-US" sz="1300" dirty="0"/>
          </a:p>
        </p:txBody>
      </p:sp>
      <p:sp>
        <p:nvSpPr>
          <p:cNvPr id="50" name="Text 48"/>
          <p:cNvSpPr/>
          <p:nvPr/>
        </p:nvSpPr>
        <p:spPr>
          <a:xfrm>
            <a:off x="7086600" y="3611880"/>
            <a:ext cx="2514600" cy="384048"/>
          </a:xfrm>
          <a:prstGeom prst="rect">
            <a:avLst/>
          </a:prstGeom>
          <a:noFill/>
          <a:ln/>
        </p:spPr>
        <p:txBody>
          <a:bodyPr wrap="square" lIns="0" tIns="0" rIns="0" bIns="0" rtlCol="0" anchor="ctr"/>
          <a:lstStyle/>
          <a:p>
            <a:pPr indent="0" marL="0">
              <a:buNone/>
            </a:pPr>
            <a:r>
              <a:rPr lang="en-US" sz="1150" dirty="0">
                <a:solidFill>
                  <a:srgbClr val="11121A"/>
                </a:solidFill>
                <a:latin typeface="Palatino Linotype" pitchFamily="34" charset="0"/>
                <a:ea typeface="Palatino Linotype" pitchFamily="34" charset="-122"/>
                <a:cs typeface="Palatino Linotype" pitchFamily="34" charset="-120"/>
              </a:rPr>
              <a:t>Coerența dintre analiză, direcție și alternativă</a:t>
            </a:r>
            <a:endParaRPr lang="en-US" sz="1150" dirty="0"/>
          </a:p>
        </p:txBody>
      </p:sp>
      <p:sp>
        <p:nvSpPr>
          <p:cNvPr id="51" name="Shape 49"/>
          <p:cNvSpPr/>
          <p:nvPr/>
        </p:nvSpPr>
        <p:spPr>
          <a:xfrm>
            <a:off x="9646920" y="3685032"/>
            <a:ext cx="1028700" cy="237744"/>
          </a:xfrm>
          <a:prstGeom prst="roundRect">
            <a:avLst>
              <a:gd name="adj" fmla="val 15385"/>
            </a:avLst>
          </a:prstGeom>
          <a:solidFill>
            <a:srgbClr val="B02532"/>
          </a:solidFill>
          <a:ln w="12700">
            <a:solidFill>
              <a:srgbClr val="B02532"/>
            </a:solidFill>
            <a:prstDash val="solid"/>
          </a:ln>
        </p:spPr>
        <p:txBody>
          <a:bodyPr/>
          <a:p/>
        </p:txBody>
      </p:sp>
      <p:sp>
        <p:nvSpPr>
          <p:cNvPr id="52" name="Text 50"/>
          <p:cNvSpPr/>
          <p:nvPr/>
        </p:nvSpPr>
        <p:spPr>
          <a:xfrm>
            <a:off x="10767060" y="3611880"/>
            <a:ext cx="685800" cy="384048"/>
          </a:xfrm>
          <a:prstGeom prst="rect">
            <a:avLst/>
          </a:prstGeom>
          <a:noFill/>
          <a:ln/>
        </p:spPr>
        <p:txBody>
          <a:bodyPr wrap="square" lIns="0" tIns="0" rIns="0" bIns="0" rtlCol="0" anchor="ctr"/>
          <a:lstStyle/>
          <a:p>
            <a:pPr indent="0" marL="0">
              <a:buNone/>
            </a:pPr>
            <a:r>
              <a:rPr lang="en-US" sz="1300" b="1" dirty="0">
                <a:solidFill>
                  <a:srgbClr val="B02532"/>
                </a:solidFill>
                <a:latin typeface="Palatino Linotype" pitchFamily="34" charset="0"/>
                <a:ea typeface="Palatino Linotype" pitchFamily="34" charset="-122"/>
                <a:cs typeface="Palatino Linotype" pitchFamily="34" charset="-120"/>
              </a:rPr>
              <a:t>25%</a:t>
            </a:r>
            <a:endParaRPr lang="en-US" sz="1300" dirty="0"/>
          </a:p>
        </p:txBody>
      </p:sp>
      <p:sp>
        <p:nvSpPr>
          <p:cNvPr id="53" name="Text 51"/>
          <p:cNvSpPr/>
          <p:nvPr/>
        </p:nvSpPr>
        <p:spPr>
          <a:xfrm>
            <a:off x="7086600" y="4023360"/>
            <a:ext cx="2514600" cy="384048"/>
          </a:xfrm>
          <a:prstGeom prst="rect">
            <a:avLst/>
          </a:prstGeom>
          <a:noFill/>
          <a:ln/>
        </p:spPr>
        <p:txBody>
          <a:bodyPr wrap="square" lIns="0" tIns="0" rIns="0" bIns="0" rtlCol="0" anchor="ctr"/>
          <a:lstStyle/>
          <a:p>
            <a:pPr indent="0" marL="0">
              <a:buNone/>
            </a:pPr>
            <a:r>
              <a:rPr lang="en-US" sz="1150" dirty="0">
                <a:solidFill>
                  <a:srgbClr val="11121A"/>
                </a:solidFill>
                <a:latin typeface="Palatino Linotype" pitchFamily="34" charset="0"/>
                <a:ea typeface="Palatino Linotype" pitchFamily="34" charset="-122"/>
                <a:cs typeface="Palatino Linotype" pitchFamily="34" charset="-120"/>
              </a:rPr>
              <a:t>Planul de acțiune și indicatorii</a:t>
            </a:r>
            <a:endParaRPr lang="en-US" sz="1150" dirty="0"/>
          </a:p>
        </p:txBody>
      </p:sp>
      <p:sp>
        <p:nvSpPr>
          <p:cNvPr id="54" name="Shape 52"/>
          <p:cNvSpPr/>
          <p:nvPr/>
        </p:nvSpPr>
        <p:spPr>
          <a:xfrm>
            <a:off x="9646920" y="4096512"/>
            <a:ext cx="822960" cy="237744"/>
          </a:xfrm>
          <a:prstGeom prst="roundRect">
            <a:avLst>
              <a:gd name="adj" fmla="val 15385"/>
            </a:avLst>
          </a:prstGeom>
          <a:solidFill>
            <a:srgbClr val="4A2D8C"/>
          </a:solidFill>
          <a:ln w="12700">
            <a:solidFill>
              <a:srgbClr val="4A2D8C"/>
            </a:solidFill>
            <a:prstDash val="solid"/>
          </a:ln>
        </p:spPr>
        <p:txBody>
          <a:bodyPr/>
          <a:p/>
        </p:txBody>
      </p:sp>
      <p:sp>
        <p:nvSpPr>
          <p:cNvPr id="55" name="Text 53"/>
          <p:cNvSpPr/>
          <p:nvPr/>
        </p:nvSpPr>
        <p:spPr>
          <a:xfrm>
            <a:off x="10561320" y="4023360"/>
            <a:ext cx="685800" cy="384048"/>
          </a:xfrm>
          <a:prstGeom prst="rect">
            <a:avLst/>
          </a:prstGeom>
          <a:noFill/>
          <a:ln/>
        </p:spPr>
        <p:txBody>
          <a:bodyPr wrap="square" lIns="0" tIns="0" rIns="0" bIns="0" rtlCol="0" anchor="ctr"/>
          <a:lstStyle/>
          <a:p>
            <a:pPr indent="0" marL="0">
              <a:buNone/>
            </a:pPr>
            <a:r>
              <a:rPr lang="en-US" sz="1300" b="1" dirty="0">
                <a:solidFill>
                  <a:srgbClr val="4A2D8C"/>
                </a:solidFill>
                <a:latin typeface="Palatino Linotype" pitchFamily="34" charset="0"/>
                <a:ea typeface="Palatino Linotype" pitchFamily="34" charset="-122"/>
                <a:cs typeface="Palatino Linotype" pitchFamily="34" charset="-120"/>
              </a:rPr>
              <a:t>20%</a:t>
            </a:r>
            <a:endParaRPr lang="en-US" sz="1300" dirty="0"/>
          </a:p>
        </p:txBody>
      </p:sp>
      <p:sp>
        <p:nvSpPr>
          <p:cNvPr id="56" name="Text 54"/>
          <p:cNvSpPr/>
          <p:nvPr/>
        </p:nvSpPr>
        <p:spPr>
          <a:xfrm>
            <a:off x="7086600" y="4434840"/>
            <a:ext cx="2514600" cy="384048"/>
          </a:xfrm>
          <a:prstGeom prst="rect">
            <a:avLst/>
          </a:prstGeom>
          <a:noFill/>
          <a:ln/>
        </p:spPr>
        <p:txBody>
          <a:bodyPr wrap="square" lIns="0" tIns="0" rIns="0" bIns="0" rtlCol="0" anchor="ctr"/>
          <a:lstStyle/>
          <a:p>
            <a:pPr indent="0" marL="0">
              <a:buNone/>
            </a:pPr>
            <a:r>
              <a:rPr lang="en-US" sz="1150" dirty="0">
                <a:solidFill>
                  <a:srgbClr val="11121A"/>
                </a:solidFill>
                <a:latin typeface="Palatino Linotype" pitchFamily="34" charset="0"/>
                <a:ea typeface="Palatino Linotype" pitchFamily="34" charset="-122"/>
                <a:cs typeface="Palatino Linotype" pitchFamily="34" charset="-120"/>
              </a:rPr>
              <a:t>Documentarea surselor</a:t>
            </a:r>
            <a:endParaRPr lang="en-US" sz="1150" dirty="0"/>
          </a:p>
        </p:txBody>
      </p:sp>
      <p:sp>
        <p:nvSpPr>
          <p:cNvPr id="57" name="Shape 55"/>
          <p:cNvSpPr/>
          <p:nvPr/>
        </p:nvSpPr>
        <p:spPr>
          <a:xfrm>
            <a:off x="9646920" y="4507992"/>
            <a:ext cx="411480" cy="237744"/>
          </a:xfrm>
          <a:prstGeom prst="roundRect">
            <a:avLst>
              <a:gd name="adj" fmla="val 15385"/>
            </a:avLst>
          </a:prstGeom>
          <a:solidFill>
            <a:srgbClr val="8A6100"/>
          </a:solidFill>
          <a:ln w="12700">
            <a:solidFill>
              <a:srgbClr val="8A6100"/>
            </a:solidFill>
            <a:prstDash val="solid"/>
          </a:ln>
        </p:spPr>
        <p:txBody>
          <a:bodyPr/>
          <a:p/>
        </p:txBody>
      </p:sp>
      <p:sp>
        <p:nvSpPr>
          <p:cNvPr id="58" name="Text 56"/>
          <p:cNvSpPr/>
          <p:nvPr/>
        </p:nvSpPr>
        <p:spPr>
          <a:xfrm>
            <a:off x="10149840" y="4434840"/>
            <a:ext cx="685800" cy="384048"/>
          </a:xfrm>
          <a:prstGeom prst="rect">
            <a:avLst/>
          </a:prstGeom>
          <a:noFill/>
          <a:ln/>
        </p:spPr>
        <p:txBody>
          <a:bodyPr wrap="square" lIns="0" tIns="0" rIns="0" bIns="0" rtlCol="0" anchor="ctr"/>
          <a:lstStyle/>
          <a:p>
            <a:pPr indent="0" marL="0">
              <a:buNone/>
            </a:pPr>
            <a:r>
              <a:rPr lang="en-US" sz="1300" b="1" dirty="0">
                <a:solidFill>
                  <a:srgbClr val="8A6100"/>
                </a:solidFill>
                <a:latin typeface="Palatino Linotype" pitchFamily="34" charset="0"/>
                <a:ea typeface="Palatino Linotype" pitchFamily="34" charset="-122"/>
                <a:cs typeface="Palatino Linotype" pitchFamily="34" charset="-120"/>
              </a:rPr>
              <a:t>10%</a:t>
            </a:r>
            <a:endParaRPr lang="en-US" sz="1300" dirty="0"/>
          </a:p>
        </p:txBody>
      </p:sp>
      <p:sp>
        <p:nvSpPr>
          <p:cNvPr id="59" name="Text 57"/>
          <p:cNvSpPr/>
          <p:nvPr/>
        </p:nvSpPr>
        <p:spPr>
          <a:xfrm>
            <a:off x="7086600" y="4846320"/>
            <a:ext cx="2514600" cy="384048"/>
          </a:xfrm>
          <a:prstGeom prst="rect">
            <a:avLst/>
          </a:prstGeom>
          <a:noFill/>
          <a:ln/>
        </p:spPr>
        <p:txBody>
          <a:bodyPr wrap="square" lIns="0" tIns="0" rIns="0" bIns="0" rtlCol="0" anchor="ctr"/>
          <a:lstStyle/>
          <a:p>
            <a:pPr indent="0" marL="0">
              <a:buNone/>
            </a:pPr>
            <a:r>
              <a:rPr lang="en-US" sz="1150" dirty="0">
                <a:solidFill>
                  <a:srgbClr val="11121A"/>
                </a:solidFill>
                <a:latin typeface="Palatino Linotype" pitchFamily="34" charset="0"/>
                <a:ea typeface="Palatino Linotype" pitchFamily="34" charset="-122"/>
                <a:cs typeface="Palatino Linotype" pitchFamily="34" charset="-120"/>
              </a:rPr>
              <a:t>Prezentarea orală</a:t>
            </a:r>
            <a:endParaRPr lang="en-US" sz="1150" dirty="0"/>
          </a:p>
        </p:txBody>
      </p:sp>
      <p:sp>
        <p:nvSpPr>
          <p:cNvPr id="60" name="Shape 58"/>
          <p:cNvSpPr/>
          <p:nvPr/>
        </p:nvSpPr>
        <p:spPr>
          <a:xfrm>
            <a:off x="9646920" y="4919472"/>
            <a:ext cx="617220" cy="237744"/>
          </a:xfrm>
          <a:prstGeom prst="roundRect">
            <a:avLst>
              <a:gd name="adj" fmla="val 15385"/>
            </a:avLst>
          </a:prstGeom>
          <a:solidFill>
            <a:srgbClr val="9C4A0A"/>
          </a:solidFill>
          <a:ln w="12700">
            <a:solidFill>
              <a:srgbClr val="9C4A0A"/>
            </a:solidFill>
            <a:prstDash val="solid"/>
          </a:ln>
        </p:spPr>
        <p:txBody>
          <a:bodyPr/>
          <a:p/>
        </p:txBody>
      </p:sp>
      <p:sp>
        <p:nvSpPr>
          <p:cNvPr id="61" name="Text 59"/>
          <p:cNvSpPr/>
          <p:nvPr/>
        </p:nvSpPr>
        <p:spPr>
          <a:xfrm>
            <a:off x="10355580" y="4846320"/>
            <a:ext cx="685800" cy="384048"/>
          </a:xfrm>
          <a:prstGeom prst="rect">
            <a:avLst/>
          </a:prstGeom>
          <a:noFill/>
          <a:ln/>
        </p:spPr>
        <p:txBody>
          <a:bodyPr wrap="square" lIns="0" tIns="0" rIns="0" bIns="0" rtlCol="0" anchor="ctr"/>
          <a:lstStyle/>
          <a:p>
            <a:pPr indent="0" marL="0">
              <a:buNone/>
            </a:pPr>
            <a:r>
              <a:rPr lang="en-US" sz="1300" b="1" dirty="0">
                <a:solidFill>
                  <a:srgbClr val="9C4A0A"/>
                </a:solidFill>
                <a:latin typeface="Palatino Linotype" pitchFamily="34" charset="0"/>
                <a:ea typeface="Palatino Linotype" pitchFamily="34" charset="-122"/>
                <a:cs typeface="Palatino Linotype" pitchFamily="34" charset="-120"/>
              </a:rPr>
              <a:t>15%</a:t>
            </a:r>
            <a:endParaRPr lang="en-US" sz="1300" dirty="0"/>
          </a:p>
        </p:txBody>
      </p:sp>
      <p:sp>
        <p:nvSpPr>
          <p:cNvPr id="62" name="Text 60"/>
          <p:cNvSpPr/>
          <p:nvPr/>
        </p:nvSpPr>
        <p:spPr>
          <a:xfrm>
            <a:off x="594360" y="5349240"/>
            <a:ext cx="10972800" cy="548640"/>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Promovați cu cel puțin nota 5 la examenul scris și nota 5 la planul strategic (nu la produsele seminariilor). Prezența minimă: 30% la cursuri și, la seminarii, cel puțin 3 din cele 7. Fără punct din oficiu.</a:t>
            </a:r>
            <a:endParaRPr lang="en-US" sz="1400" dirty="0"/>
          </a:p>
        </p:txBody>
      </p:sp>
      <p:sp>
        <p:nvSpPr>
          <p:cNvPr id="63" name="Text 61"/>
          <p:cNvSpPr/>
          <p:nvPr/>
        </p:nvSpPr>
        <p:spPr>
          <a:xfrm>
            <a:off x="594360" y="5943600"/>
            <a:ext cx="10972800" cy="777240"/>
          </a:xfrm>
          <a:prstGeom prst="rect">
            <a:avLst/>
          </a:prstGeom>
          <a:noFill/>
          <a:ln/>
        </p:spPr>
        <p:txBody>
          <a:bodyPr wrap="square" lIns="0" tIns="0" rIns="0" bIns="0" rtlCol="0" anchor="t"/>
          <a:lstStyle/>
          <a:p>
            <a:pPr indent="0" marL="0">
              <a:buNone/>
            </a:pPr>
            <a:r>
              <a:rPr lang="en-US" sz="1250" dirty="0">
                <a:solidFill>
                  <a:srgbClr val="11121A"/>
                </a:solidFill>
                <a:latin typeface="Palatino Linotype" pitchFamily="34" charset="0"/>
                <a:ea typeface="Palatino Linotype" pitchFamily="34" charset="-122"/>
                <a:cs typeface="Palatino Linotype" pitchFamily="34" charset="-120"/>
              </a:rPr>
              <a:t>Produsele seminariilor 2–6: fiecare se predă până în duminica de după seminarul lui, la ora 22:00; câte 0, 1 sau 2 puncte; suma, de cel mult 10 puncte, este nota la produse, din 10. Evaluarea colegială din seminarul 7 este informativă și nu intră în notă. Nota planului este aceeași pentru toți membrii echipei; titularul poate scădea nota unui membru care, după câmpul „Ce a făcut fiecare membru al echipei” și după prezentare, nu a contribuit.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ORA A DOUA · ECHIPA, ACASĂ SAU ÎN SALĂ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Fișa organizației</a:t>
            </a:r>
            <a:endParaRPr lang="en-US" sz="3200" dirty="0"/>
          </a:p>
        </p:txBody>
      </p:sp>
      <p:sp>
        <p:nvSpPr>
          <p:cNvPr id="4" name="Shape 2"/>
          <p:cNvSpPr/>
          <p:nvPr/>
        </p:nvSpPr>
        <p:spPr>
          <a:xfrm>
            <a:off x="594360" y="1508760"/>
            <a:ext cx="7223760" cy="621792"/>
          </a:xfrm>
          <a:prstGeom prst="roundRect">
            <a:avLst>
              <a:gd name="adj" fmla="val 13235"/>
            </a:avLst>
          </a:prstGeom>
          <a:solidFill>
            <a:srgbClr val="1D1F2B"/>
          </a:solidFill>
          <a:ln w="12700">
            <a:solidFill>
              <a:srgbClr val="1D1F2B"/>
            </a:solidFill>
            <a:prstDash val="solid"/>
          </a:ln>
        </p:spPr>
        <p:txBody>
          <a:bodyPr/>
          <a:p/>
        </p:txBody>
      </p:sp>
      <p:sp>
        <p:nvSpPr>
          <p:cNvPr id="5" name="Shape 3"/>
          <p:cNvSpPr/>
          <p:nvPr/>
        </p:nvSpPr>
        <p:spPr>
          <a:xfrm>
            <a:off x="777240" y="1609344"/>
            <a:ext cx="420624" cy="420624"/>
          </a:xfrm>
          <a:prstGeom prst="ellipse">
            <a:avLst/>
          </a:prstGeom>
          <a:solidFill>
            <a:srgbClr val="FFC24B"/>
          </a:solidFill>
          <a:ln/>
        </p:spPr>
        <p:txBody>
          <a:bodyPr/>
          <a:p/>
        </p:txBody>
      </p:sp>
      <p:sp>
        <p:nvSpPr>
          <p:cNvPr id="6" name="Text 4"/>
          <p:cNvSpPr/>
          <p:nvPr/>
        </p:nvSpPr>
        <p:spPr>
          <a:xfrm>
            <a:off x="777240" y="16093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508760"/>
            <a:ext cx="6309360" cy="621792"/>
          </a:xfrm>
          <a:prstGeom prst="rect">
            <a:avLst/>
          </a:prstGeom>
          <a:noFill/>
          <a:ln/>
        </p:spPr>
        <p:txBody>
          <a:bodyPr wrap="square" lIns="0" tIns="0" rIns="0" bIns="0" rtlCol="0" anchor="ctr"/>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Cine este organizația: numele, localitatea, tipul, cui aparține, ce servicii oferă.</a:t>
            </a:r>
            <a:endParaRPr lang="en-US" sz="1350" dirty="0"/>
          </a:p>
        </p:txBody>
      </p:sp>
      <p:sp>
        <p:nvSpPr>
          <p:cNvPr id="8" name="Shape 6"/>
          <p:cNvSpPr/>
          <p:nvPr/>
        </p:nvSpPr>
        <p:spPr>
          <a:xfrm>
            <a:off x="594360" y="2203704"/>
            <a:ext cx="7223760" cy="621792"/>
          </a:xfrm>
          <a:prstGeom prst="roundRect">
            <a:avLst>
              <a:gd name="adj" fmla="val 13235"/>
            </a:avLst>
          </a:prstGeom>
          <a:solidFill>
            <a:srgbClr val="1D1F2B"/>
          </a:solidFill>
          <a:ln w="12700">
            <a:solidFill>
              <a:srgbClr val="1D1F2B"/>
            </a:solidFill>
            <a:prstDash val="solid"/>
          </a:ln>
        </p:spPr>
        <p:txBody>
          <a:bodyPr/>
          <a:p/>
        </p:txBody>
      </p:sp>
      <p:sp>
        <p:nvSpPr>
          <p:cNvPr id="9" name="Shape 7"/>
          <p:cNvSpPr/>
          <p:nvPr/>
        </p:nvSpPr>
        <p:spPr>
          <a:xfrm>
            <a:off x="777240" y="2304288"/>
            <a:ext cx="420624" cy="420624"/>
          </a:xfrm>
          <a:prstGeom prst="ellipse">
            <a:avLst/>
          </a:prstGeom>
          <a:solidFill>
            <a:srgbClr val="FFC24B"/>
          </a:solidFill>
          <a:ln/>
        </p:spPr>
        <p:txBody>
          <a:bodyPr/>
          <a:p/>
        </p:txBody>
      </p:sp>
      <p:sp>
        <p:nvSpPr>
          <p:cNvPr id="10" name="Text 8"/>
          <p:cNvSpPr/>
          <p:nvPr/>
        </p:nvSpPr>
        <p:spPr>
          <a:xfrm>
            <a:off x="777240" y="2304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371600" y="2203704"/>
            <a:ext cx="6309360" cy="621792"/>
          </a:xfrm>
          <a:prstGeom prst="rect">
            <a:avLst/>
          </a:prstGeom>
          <a:noFill/>
          <a:ln/>
        </p:spPr>
        <p:txBody>
          <a:bodyPr wrap="square" lIns="0" tIns="0" rIns="0" bIns="0" rtlCol="0" anchor="ctr"/>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Inventarul surselor publice: site, organigramă, rapoarte, plan de dezvoltare, buget, pagina CNAS.</a:t>
            </a:r>
            <a:endParaRPr lang="en-US" sz="1350" dirty="0"/>
          </a:p>
        </p:txBody>
      </p:sp>
      <p:sp>
        <p:nvSpPr>
          <p:cNvPr id="12" name="Shape 10"/>
          <p:cNvSpPr/>
          <p:nvPr/>
        </p:nvSpPr>
        <p:spPr>
          <a:xfrm>
            <a:off x="594360" y="2898648"/>
            <a:ext cx="7223760" cy="621792"/>
          </a:xfrm>
          <a:prstGeom prst="roundRect">
            <a:avLst>
              <a:gd name="adj" fmla="val 13235"/>
            </a:avLst>
          </a:prstGeom>
          <a:solidFill>
            <a:srgbClr val="1D1F2B"/>
          </a:solidFill>
          <a:ln w="12700">
            <a:solidFill>
              <a:srgbClr val="1D1F2B"/>
            </a:solidFill>
            <a:prstDash val="solid"/>
          </a:ln>
        </p:spPr>
        <p:txBody>
          <a:bodyPr/>
          <a:p/>
        </p:txBody>
      </p:sp>
      <p:sp>
        <p:nvSpPr>
          <p:cNvPr id="13" name="Shape 11"/>
          <p:cNvSpPr/>
          <p:nvPr/>
        </p:nvSpPr>
        <p:spPr>
          <a:xfrm>
            <a:off x="777240" y="2999232"/>
            <a:ext cx="420624" cy="420624"/>
          </a:xfrm>
          <a:prstGeom prst="ellipse">
            <a:avLst/>
          </a:prstGeom>
          <a:solidFill>
            <a:srgbClr val="FFC24B"/>
          </a:solidFill>
          <a:ln/>
        </p:spPr>
        <p:txBody>
          <a:bodyPr/>
          <a:p/>
        </p:txBody>
      </p:sp>
      <p:sp>
        <p:nvSpPr>
          <p:cNvPr id="14" name="Text 12"/>
          <p:cNvSpPr/>
          <p:nvPr/>
        </p:nvSpPr>
        <p:spPr>
          <a:xfrm>
            <a:off x="777240" y="2999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371600" y="2898648"/>
            <a:ext cx="6309360" cy="621792"/>
          </a:xfrm>
          <a:prstGeom prst="rect">
            <a:avLst/>
          </a:prstGeom>
          <a:noFill/>
          <a:ln/>
        </p:spPr>
        <p:txBody>
          <a:bodyPr wrap="square" lIns="0" tIns="0" rIns="0" bIns="0" rtlCol="0" anchor="ctr"/>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O primă cifră, cu sursa și anul de referință, și adresa paginii.</a:t>
            </a:r>
            <a:endParaRPr lang="en-US" sz="1350" dirty="0"/>
          </a:p>
        </p:txBody>
      </p:sp>
      <p:sp>
        <p:nvSpPr>
          <p:cNvPr id="16" name="Shape 14"/>
          <p:cNvSpPr/>
          <p:nvPr/>
        </p:nvSpPr>
        <p:spPr>
          <a:xfrm>
            <a:off x="594360" y="3593592"/>
            <a:ext cx="7223760" cy="621792"/>
          </a:xfrm>
          <a:prstGeom prst="roundRect">
            <a:avLst>
              <a:gd name="adj" fmla="val 13235"/>
            </a:avLst>
          </a:prstGeom>
          <a:solidFill>
            <a:srgbClr val="1D1F2B"/>
          </a:solidFill>
          <a:ln w="12700">
            <a:solidFill>
              <a:srgbClr val="1D1F2B"/>
            </a:solidFill>
            <a:prstDash val="solid"/>
          </a:ln>
        </p:spPr>
        <p:txBody>
          <a:bodyPr/>
          <a:p/>
        </p:txBody>
      </p:sp>
      <p:sp>
        <p:nvSpPr>
          <p:cNvPr id="17" name="Shape 15"/>
          <p:cNvSpPr/>
          <p:nvPr/>
        </p:nvSpPr>
        <p:spPr>
          <a:xfrm>
            <a:off x="777240" y="3694176"/>
            <a:ext cx="420624" cy="420624"/>
          </a:xfrm>
          <a:prstGeom prst="ellipse">
            <a:avLst/>
          </a:prstGeom>
          <a:solidFill>
            <a:srgbClr val="FFC24B"/>
          </a:solidFill>
          <a:ln/>
        </p:spPr>
        <p:txBody>
          <a:bodyPr/>
          <a:p/>
        </p:txBody>
      </p:sp>
      <p:sp>
        <p:nvSpPr>
          <p:cNvPr id="18" name="Text 16"/>
          <p:cNvSpPr/>
          <p:nvPr/>
        </p:nvSpPr>
        <p:spPr>
          <a:xfrm>
            <a:off x="777240" y="36941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371600" y="3593592"/>
            <a:ext cx="6309360" cy="621792"/>
          </a:xfrm>
          <a:prstGeom prst="rect">
            <a:avLst/>
          </a:prstGeom>
          <a:noFill/>
          <a:ln/>
        </p:spPr>
        <p:txBody>
          <a:bodyPr wrap="square" lIns="0" tIns="0" rIns="0" bIns="0" rtlCol="0" anchor="ctr"/>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Organizația pe hartă: pentru fiecare parte, un lucru știut și unul de aflat.</a:t>
            </a:r>
            <a:endParaRPr lang="en-US" sz="1350" dirty="0"/>
          </a:p>
        </p:txBody>
      </p:sp>
      <p:sp>
        <p:nvSpPr>
          <p:cNvPr id="20" name="Shape 18"/>
          <p:cNvSpPr/>
          <p:nvPr/>
        </p:nvSpPr>
        <p:spPr>
          <a:xfrm>
            <a:off x="594360" y="4288536"/>
            <a:ext cx="7223760" cy="621792"/>
          </a:xfrm>
          <a:prstGeom prst="roundRect">
            <a:avLst>
              <a:gd name="adj" fmla="val 13235"/>
            </a:avLst>
          </a:prstGeom>
          <a:solidFill>
            <a:srgbClr val="1D1F2B"/>
          </a:solidFill>
          <a:ln w="12700">
            <a:solidFill>
              <a:srgbClr val="1D1F2B"/>
            </a:solidFill>
            <a:prstDash val="solid"/>
          </a:ln>
        </p:spPr>
        <p:txBody>
          <a:bodyPr/>
          <a:p/>
        </p:txBody>
      </p:sp>
      <p:sp>
        <p:nvSpPr>
          <p:cNvPr id="21" name="Shape 19"/>
          <p:cNvSpPr/>
          <p:nvPr/>
        </p:nvSpPr>
        <p:spPr>
          <a:xfrm>
            <a:off x="777240" y="4389120"/>
            <a:ext cx="420624" cy="420624"/>
          </a:xfrm>
          <a:prstGeom prst="ellipse">
            <a:avLst/>
          </a:prstGeom>
          <a:solidFill>
            <a:srgbClr val="FFC24B"/>
          </a:solidFill>
          <a:ln/>
        </p:spPr>
        <p:txBody>
          <a:bodyPr/>
          <a:p/>
        </p:txBody>
      </p:sp>
      <p:sp>
        <p:nvSpPr>
          <p:cNvPr id="22" name="Text 20"/>
          <p:cNvSpPr/>
          <p:nvPr/>
        </p:nvSpPr>
        <p:spPr>
          <a:xfrm>
            <a:off x="777240" y="43891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371600" y="4288536"/>
            <a:ext cx="6309360" cy="621792"/>
          </a:xfrm>
          <a:prstGeom prst="rect">
            <a:avLst/>
          </a:prstGeom>
          <a:noFill/>
          <a:ln/>
        </p:spPr>
        <p:txBody>
          <a:bodyPr wrap="square" lIns="0" tIns="0" rIns="0" bIns="0" rtlCol="0" anchor="ctr"/>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Ce informații lipsesc și unde le căutați pentru seminarul despre mediul extern.</a:t>
            </a:r>
            <a:endParaRPr lang="en-US" sz="1350" dirty="0"/>
          </a:p>
        </p:txBody>
      </p:sp>
      <p:sp>
        <p:nvSpPr>
          <p:cNvPr id="24" name="Shape 22"/>
          <p:cNvSpPr/>
          <p:nvPr/>
        </p:nvSpPr>
        <p:spPr>
          <a:xfrm>
            <a:off x="594360" y="4983480"/>
            <a:ext cx="7223760" cy="621792"/>
          </a:xfrm>
          <a:prstGeom prst="roundRect">
            <a:avLst>
              <a:gd name="adj" fmla="val 13235"/>
            </a:avLst>
          </a:prstGeom>
          <a:solidFill>
            <a:srgbClr val="1D1F2B"/>
          </a:solidFill>
          <a:ln w="12700">
            <a:solidFill>
              <a:srgbClr val="1D1F2B"/>
            </a:solidFill>
            <a:prstDash val="solid"/>
          </a:ln>
        </p:spPr>
        <p:txBody>
          <a:bodyPr/>
          <a:p/>
        </p:txBody>
      </p:sp>
      <p:sp>
        <p:nvSpPr>
          <p:cNvPr id="25" name="Shape 23"/>
          <p:cNvSpPr/>
          <p:nvPr/>
        </p:nvSpPr>
        <p:spPr>
          <a:xfrm>
            <a:off x="777240" y="5084064"/>
            <a:ext cx="420624" cy="420624"/>
          </a:xfrm>
          <a:prstGeom prst="ellipse">
            <a:avLst/>
          </a:prstGeom>
          <a:solidFill>
            <a:srgbClr val="FFC24B"/>
          </a:solidFill>
          <a:ln/>
        </p:spPr>
        <p:txBody>
          <a:bodyPr/>
          <a:p/>
        </p:txBody>
      </p:sp>
      <p:sp>
        <p:nvSpPr>
          <p:cNvPr id="26" name="Text 24"/>
          <p:cNvSpPr/>
          <p:nvPr/>
        </p:nvSpPr>
        <p:spPr>
          <a:xfrm>
            <a:off x="777240" y="50840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27" name="Text 25"/>
          <p:cNvSpPr/>
          <p:nvPr/>
        </p:nvSpPr>
        <p:spPr>
          <a:xfrm>
            <a:off x="1371600" y="4983480"/>
            <a:ext cx="6309360" cy="621792"/>
          </a:xfrm>
          <a:prstGeom prst="rect">
            <a:avLst/>
          </a:prstGeom>
          <a:noFill/>
          <a:ln/>
        </p:spPr>
        <p:txBody>
          <a:bodyPr wrap="square" lIns="0" tIns="0" rIns="0" bIns="0" rtlCol="0" anchor="ctr"/>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Coordonatorul completează câmpul obligatoriu „Ce a făcut fiecare membru al echipei” și trimite „Fișa completă” în Forms.</a:t>
            </a:r>
            <a:endParaRPr lang="en-US" sz="1350" dirty="0"/>
          </a:p>
        </p:txBody>
      </p:sp>
      <p:sp>
        <p:nvSpPr>
          <p:cNvPr id="28" name="Shape 26"/>
          <p:cNvSpPr/>
          <p:nvPr/>
        </p:nvSpPr>
        <p:spPr>
          <a:xfrm>
            <a:off x="8046720" y="1508760"/>
            <a:ext cx="3520440" cy="2514600"/>
          </a:xfrm>
          <a:prstGeom prst="roundRect">
            <a:avLst>
              <a:gd name="adj" fmla="val 3273"/>
            </a:avLst>
          </a:prstGeom>
          <a:solidFill>
            <a:srgbClr val="FF4757"/>
          </a:solidFill>
          <a:ln w="12700">
            <a:solidFill>
              <a:srgbClr val="FF4757"/>
            </a:solidFill>
            <a:prstDash val="solid"/>
          </a:ln>
        </p:spPr>
        <p:txBody>
          <a:bodyPr/>
          <a:p/>
        </p:txBody>
      </p:sp>
      <p:sp>
        <p:nvSpPr>
          <p:cNvPr id="29" name="Text 27"/>
          <p:cNvSpPr/>
          <p:nvPr/>
        </p:nvSpPr>
        <p:spPr>
          <a:xfrm>
            <a:off x="8321040" y="1691640"/>
            <a:ext cx="3017520" cy="320040"/>
          </a:xfrm>
          <a:prstGeom prst="rect">
            <a:avLst/>
          </a:prstGeom>
          <a:noFill/>
          <a:ln/>
        </p:spPr>
        <p:txBody>
          <a:bodyPr wrap="square" lIns="0" tIns="0" rIns="0" bIns="0" rtlCol="0" anchor="t"/>
          <a:lstStyle/>
          <a:p>
            <a:pPr indent="0" marL="0">
              <a:buNone/>
            </a:pPr>
            <a:r>
              <a:rPr lang="en-US" sz="1300" b="1" spc="300" kern="0" dirty="0">
                <a:solidFill>
                  <a:srgbClr val="2E060B"/>
                </a:solidFill>
                <a:latin typeface="Palatino Linotype" pitchFamily="34" charset="0"/>
                <a:ea typeface="Palatino Linotype" pitchFamily="34" charset="-122"/>
                <a:cs typeface="Palatino Linotype" pitchFamily="34" charset="-120"/>
              </a:rPr>
              <a:t>TERMENUL</a:t>
            </a:r>
            <a:endParaRPr lang="en-US" sz="1300" dirty="0"/>
          </a:p>
        </p:txBody>
      </p:sp>
      <p:sp>
        <p:nvSpPr>
          <p:cNvPr id="30" name="Text 28"/>
          <p:cNvSpPr/>
          <p:nvPr/>
        </p:nvSpPr>
        <p:spPr>
          <a:xfrm>
            <a:off x="8321040" y="2057400"/>
            <a:ext cx="3154680" cy="1097280"/>
          </a:xfrm>
          <a:prstGeom prst="rect">
            <a:avLst/>
          </a:prstGeom>
          <a:noFill/>
          <a:ln/>
        </p:spPr>
        <p:txBody>
          <a:bodyPr wrap="square" lIns="0" tIns="0" rIns="0" bIns="0" rtlCol="0" anchor="t"/>
          <a:lstStyle/>
          <a:p>
            <a:pPr indent="0" marL="0">
              <a:buNone/>
            </a:pPr>
            <a:r>
              <a:rPr lang="en-US" sz="2300" b="1" dirty="0">
                <a:solidFill>
                  <a:srgbClr val="2E060B"/>
                </a:solidFill>
                <a:latin typeface="Palatino Linotype" pitchFamily="34" charset="0"/>
                <a:ea typeface="Palatino Linotype" pitchFamily="34" charset="-122"/>
                <a:cs typeface="Palatino Linotype" pitchFamily="34" charset="-120"/>
              </a:rPr>
              <a:t>duminică, 11.10.2026,</a:t>
            </a:r>
            <a:endParaRPr lang="en-US" sz="2300" dirty="0"/>
          </a:p>
          <a:p>
            <a:pPr indent="0" marL="0">
              <a:buNone/>
            </a:pPr>
            <a:r>
              <a:rPr lang="en-US" sz="2300" b="1" dirty="0">
                <a:solidFill>
                  <a:srgbClr val="2E060B"/>
                </a:solidFill>
                <a:latin typeface="Palatino Linotype" pitchFamily="34" charset="0"/>
                <a:ea typeface="Palatino Linotype" pitchFamily="34" charset="-122"/>
                <a:cs typeface="Palatino Linotype" pitchFamily="34" charset="-120"/>
              </a:rPr>
              <a:t>ora 22:00</a:t>
            </a:r>
            <a:endParaRPr lang="en-US" sz="2300" dirty="0"/>
          </a:p>
        </p:txBody>
      </p:sp>
      <p:sp>
        <p:nvSpPr>
          <p:cNvPr id="31" name="Text 29"/>
          <p:cNvSpPr/>
          <p:nvPr/>
        </p:nvSpPr>
        <p:spPr>
          <a:xfrm>
            <a:off x="8321040" y="3154680"/>
            <a:ext cx="3108960" cy="822960"/>
          </a:xfrm>
          <a:prstGeom prst="rect">
            <a:avLst/>
          </a:prstGeom>
          <a:noFill/>
          <a:ln/>
        </p:spPr>
        <p:txBody>
          <a:bodyPr wrap="square" lIns="0" tIns="0" rIns="0" bIns="0" rtlCol="0" anchor="t"/>
          <a:lstStyle/>
          <a:p>
            <a:pPr indent="0" marL="0">
              <a:buNone/>
            </a:pPr>
            <a:r>
              <a:rPr lang="en-US" sz="1350" dirty="0">
                <a:solidFill>
                  <a:srgbClr val="2E060B"/>
                </a:solidFill>
                <a:latin typeface="Palatino Linotype" pitchFamily="34" charset="0"/>
                <a:ea typeface="Palatino Linotype" pitchFamily="34" charset="-122"/>
                <a:cs typeface="Palatino Linotype" pitchFamily="34" charset="-120"/>
              </a:rPr>
              <a:t>„Fișa organizației”, varianta „Fișa completă”: un singur formular pe echipă, prin coordonator. Nu se notează.</a:t>
            </a:r>
            <a:endParaRPr lang="en-US" sz="1350" dirty="0"/>
          </a:p>
        </p:txBody>
      </p:sp>
      <p:sp>
        <p:nvSpPr>
          <p:cNvPr id="32" name="Shape 30"/>
          <p:cNvSpPr/>
          <p:nvPr/>
        </p:nvSpPr>
        <p:spPr>
          <a:xfrm>
            <a:off x="8046720" y="4206240"/>
            <a:ext cx="3520440" cy="2240280"/>
          </a:xfrm>
          <a:prstGeom prst="roundRect">
            <a:avLst>
              <a:gd name="adj" fmla="val 3673"/>
            </a:avLst>
          </a:prstGeom>
          <a:solidFill>
            <a:srgbClr val="272A38"/>
          </a:solidFill>
          <a:ln w="12700">
            <a:solidFill>
              <a:srgbClr val="272A38"/>
            </a:solidFill>
            <a:prstDash val="solid"/>
          </a:ln>
        </p:spPr>
        <p:txBody>
          <a:bodyPr/>
          <a:p/>
        </p:txBody>
      </p:sp>
      <p:sp>
        <p:nvSpPr>
          <p:cNvPr id="33" name="Text 31"/>
          <p:cNvSpPr/>
          <p:nvPr/>
        </p:nvSpPr>
        <p:spPr>
          <a:xfrm>
            <a:off x="8275320" y="4206240"/>
            <a:ext cx="3108960" cy="2240280"/>
          </a:xfrm>
          <a:prstGeom prst="rect">
            <a:avLst/>
          </a:prstGeom>
          <a:noFill/>
          <a:ln/>
        </p:spPr>
        <p:txBody>
          <a:bodyPr wrap="square" lIns="0" tIns="0" rIns="0" bIns="0" rtlCol="0" anchor="ctr"/>
          <a:lstStyle/>
          <a:p>
            <a:pPr indent="0" marL="0">
              <a:spcAft>
                <a:spcPts val="400"/>
              </a:spcAft>
              <a:buNone/>
            </a:pPr>
            <a:r>
              <a:rPr lang="en-US" sz="1200" dirty="0">
                <a:solidFill>
                  <a:srgbClr val="FFFFFF"/>
                </a:solidFill>
                <a:latin typeface="Palatino Linotype" pitchFamily="34" charset="0"/>
                <a:ea typeface="Palatino Linotype" pitchFamily="34" charset="-122"/>
                <a:cs typeface="Palatino Linotype" pitchFamily="34" charset="-120"/>
              </a:rPr>
              <a:t>Orice cifră: sursa și anul de referință.</a:t>
            </a:r>
            <a:endParaRPr lang="en-US" sz="1200" dirty="0"/>
          </a:p>
          <a:p>
            <a:pPr indent="0" marL="0">
              <a:spcAft>
                <a:spcPts val="400"/>
              </a:spcAft>
              <a:buNone/>
            </a:pPr>
            <a:r>
              <a:rPr lang="en-US" sz="1200" dirty="0">
                <a:solidFill>
                  <a:srgbClr val="FFFFFF"/>
                </a:solidFill>
                <a:latin typeface="Palatino Linotype" pitchFamily="34" charset="0"/>
                <a:ea typeface="Palatino Linotype" pitchFamily="34" charset="-122"/>
                <a:cs typeface="Palatino Linotype" pitchFamily="34" charset="-120"/>
              </a:rPr>
              <a:t>Numai informații publice.</a:t>
            </a:r>
            <a:endParaRPr lang="en-US" sz="1200" dirty="0"/>
          </a:p>
          <a:p>
            <a:pPr indent="0" marL="0">
              <a:spcAft>
                <a:spcPts val="400"/>
              </a:spcAft>
              <a:buNone/>
            </a:pPr>
            <a:r>
              <a:rPr lang="en-US" sz="1200" dirty="0">
                <a:solidFill>
                  <a:srgbClr val="FFFFFF"/>
                </a:solidFill>
                <a:latin typeface="Palatino Linotype" pitchFamily="34" charset="0"/>
                <a:ea typeface="Palatino Linotype" pitchFamily="34" charset="-122"/>
                <a:cs typeface="Palatino Linotype" pitchFamily="34" charset="-120"/>
              </a:rPr>
              <a:t>Inteligența artificială: numai pentru redactare (reformulare, corectură), declarată; nu pentru cifre, surse sau analiză.</a:t>
            </a:r>
            <a:endParaRPr lang="en-US" sz="1200" dirty="0"/>
          </a:p>
          <a:p>
            <a:pPr indent="0" marL="0">
              <a:spcAft>
                <a:spcPts val="400"/>
              </a:spcAft>
              <a:buNone/>
            </a:pPr>
            <a:r>
              <a:rPr lang="en-US" sz="1200" b="1" dirty="0">
                <a:solidFill>
                  <a:srgbClr val="FFC24B"/>
                </a:solidFill>
                <a:latin typeface="Palatino Linotype" pitchFamily="34" charset="0"/>
                <a:ea typeface="Palatino Linotype" pitchFamily="34" charset="-122"/>
                <a:cs typeface="Palatino Linotype" pitchFamily="34" charset="-120"/>
              </a:rPr>
              <a:t>Fără declarație: 0 puncte până la refacere, în cel mult o săptămână; la planul final, nota se poate scădea.</a:t>
            </a:r>
            <a:endParaRPr lang="en-US" sz="1200" dirty="0"/>
          </a:p>
        </p:txBody>
      </p:sp>
      <p:sp>
        <p:nvSpPr>
          <p:cNvPr id="34" name="Text 32"/>
          <p:cNvSpPr/>
          <p:nvPr/>
        </p:nvSpPr>
        <p:spPr>
          <a:xfrm>
            <a:off x="594360" y="5806440"/>
            <a:ext cx="7223760" cy="4572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Fișa nu se notează, dar pe ea se construiește tot proiectul.</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758952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377440"/>
            <a:ext cx="3017520" cy="2606040"/>
          </a:xfrm>
          <a:prstGeom prst="roundRect">
            <a:avLst>
              <a:gd name="adj" fmla="val 3509"/>
            </a:avLst>
          </a:prstGeom>
          <a:solidFill>
            <a:srgbClr val="FFFFFF"/>
          </a:solidFill>
          <a:ln w="19050">
            <a:solidFill>
              <a:srgbClr val="8E94A8"/>
            </a:solidFill>
            <a:prstDash val="dash"/>
          </a:ln>
        </p:spPr>
        <p:txBody>
          <a:bodyPr/>
          <a:p/>
        </p:txBody>
      </p:sp>
      <p:sp>
        <p:nvSpPr>
          <p:cNvPr id="16" name="Text 14"/>
          <p:cNvSpPr/>
          <p:nvPr/>
        </p:nvSpPr>
        <p:spPr>
          <a:xfrm>
            <a:off x="594360" y="5257800"/>
            <a:ext cx="10972800" cy="86868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De mâine: când auziți că o organizație „trebuie închisă” sau „trebuie extinsă”, întrebați ce se știe despre cele trei părți ale hărții, nu doar despre cifra din titlu.</a:t>
            </a:r>
            <a:endParaRPr lang="en-US" sz="1800" dirty="0"/>
          </a:p>
        </p:txBody>
      </p:sp>
      <p:pic>
        <p:nvPicPr>
          <p:cNvPr id="17" name="Picture 16" descr="Mentimeter_UB_MSSS_LP01.png"/>
          <p:cNvPicPr>
            <a:picLocks noChangeAspect="1"/>
          </p:cNvPicPr>
          <p:nvPr/>
        </p:nvPicPr>
        <p:blipFill>
          <a:blip r:embed="rId3"/>
          <a:stretch>
            <a:fillRect/>
          </a:stretch>
        </p:blipFill>
        <p:spPr>
          <a:xfrm>
            <a:off x="9069070" y="2377440"/>
            <a:ext cx="1978660" cy="1978660"/>
          </a:xfrm>
          <a:prstGeom prst="rect">
            <a:avLst/>
          </a:prstGeom>
        </p:spPr>
      </p:pic>
      <p:sp>
        <p:nvSpPr>
          <p:cNvPr id="18" name="TextBox 17"/>
          <p:cNvSpPr txBox="1"/>
          <p:nvPr/>
        </p:nvSpPr>
        <p:spPr>
          <a:xfrm>
            <a:off x="9069070" y="4394200"/>
            <a:ext cx="19786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MSSS · Seminarul 1 · Lansarea proiectului</dc:title>
  <dc:subject>PptxGenJS Presentation</dc:subject>
  <dc:creator>Conf. Univ. Dr. Adrian Pana</dc:creator>
  <cp:lastModifiedBy>Conf. Univ. Dr. Adrian Pana</cp:lastModifiedBy>
  <cp:revision>1</cp:revision>
  <dcterms:created xsi:type="dcterms:W3CDTF">2026-10-03T20:38:16Z</dcterms:created>
  <dcterms:modified xsi:type="dcterms:W3CDTF">2026-10-03T20:38:16Z</dcterms:modified>
  <cp:keywords>sursa_amprenta=d3ba03d47734111e; proiectie</cp:keywords>
</cp:coreProperties>
</file>