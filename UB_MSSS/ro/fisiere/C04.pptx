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Azi întrebarea se mută de la pacienți la cei care le oferă aceleași servicii. Cine sunt ei, cât de puternici sunt și ce poate face o organizație de sănătate pe care ei nu o pot copia?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Gândiți-vă la o farmacie, o cafenea sau o librărie din cartierul vostru. Cu cine concurează ea de fapt: cu toate magazinele din oraș sau numai cu două-trei? Și ce ar trebui să facă foarte bine ca să nu-și piardă clienții? Răspunsul vostru este punctul de plecare al ședinței.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Cursul trecut a arătat că aria de servicii nu este una singură pentru tot spitalul: urgențele, oncologia sau recuperarea atrag pacienți de la distanțe foarte diferite. Am văzut și de ce vin sau pleacă pacienții: din cauza nevoilor lor, dar și a drumului, a programului, a așteptării și a informației pe care le oferă furnizorii.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Spitalul A este spitalul județean de urgență al Județului B, singurul spital public mare din județ. Comitetul director propune un fond de dezvoltare pentru anul viitor, iar managerul, care trebuie să-l aprobe, vrea să știe unde să-l pună. Directorul medical a adus și o listă a concurenților: toate unitățile sanitare din județ, publice și private. Managerul o pune deoparte: „Nu pot să mă lupt cu toată lumea. Cu cine ne luptăm, de fapt?”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Imagistica: Rețeaua privată C are în oraș două centre RMN deschise între 8 și 22, iar Spitalul A lucrează între 8 și 16. Cardiologia intervențională: Spitalul A este singurul centru din județ care dilată arterele inimii la orice oră. Radioterapia nu există în județ. La recuperare există numai câteva cabinete private în oraș.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 anonim pe telefon: cine este concurentul Spitalului A? O singură variantă.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Două minute de discuție cu colegul de bancă: convingeți-l pe cel care a votat altfel. Apoi votați din nou, pe același enunț.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un spital, „piețele” sunt liniile lui de servicii. Piața relevantă a unei analize este o linie de servicii definită cât mai precis, într-o arie geografică anume, într-o perioadă anume. Concurenții sunt furnizorii care oferă aceeași linie în aceeași arie, nu toți furnizorii din județ. Pe unele linii spitalul are rivali puternici, pe altele unul singur, aflat în alt județ, iar pe altele niciunul.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Varianta A, toată lista, confundă piața largă cu concurenții direcți. Varianta B are o parte de adevăr: C este rivalul cel mai vizibil, dar nu face radioterapie și nu dilată arterele inimii noaptea. Varianta D pare prudentă, dar nu rezistă: contractul cu casa de asigurări nu oprește pacienții să aleagă alt furnizor.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Intensitatea concurenței depinde de cinci presiuni: amenințarea noilor veniți, rivalitatea dintre organizațiile existente, amenințarea serviciilor care le pot înlocui pe cele actuale, puterea de negociere a celor care cumpără și a celor care furnizează resursele. În sănătatea din România, „cei care cumpără” sunt, în primul rând, casa de asigurări, iar „cei care furnizează” sunt, mai ales, oamenii.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linia RMN se intră ușor, pentru că aparatul se cumpără, iar radiologii sunt căutați de toți. La cardiologia intervențională se intră greu: e nevoie de o echipă la orice oră. La radioterapie se intră foarte greu: investiția e mare, iar personalul e 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Rețeaua privată C anunță un al treilea centru de imagistică și un ambulatoriu de cardiologie. Doi dintre radiologii Spitalului A au primit oferte de la C. Complicația atinge trei presiuni deodată: rivalitatea crește, puterea celor care furnizează crește, iar întrebarea managerului e una de alegere între linii: unde poate spitalul câștiga, unde poate doar ține pasul și unde nu merită să intre în cursă.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treilea pas al analizei este cunoașterea concurenților: punctele lor tari și slabe. În practică, pentru un spital din România, sursele sunt site-urile furnizorilor, programul afișat, lista furnizorilor aflați în contract cu casa de asigurări, presa locală, medicii de familie care trimit pacienți și pacienții înșiși.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fiecare linie de servicii, câștigă cine face foarte bine câteva lucruri. Manualul le numește factori critici de succes: un număr mic de activități pe care organizația trebuie să le facă la un nivel înalt ca să reușească. În cuvinte de zi cu zi: puținele lucruri pe care pacienții și cei care plătesc le judecă cel mai mult pe acea linie de servicii.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liniile Spitalului A, factorii critici de succes diferă. La cardiologia intervențională contează timpul de la primul contact cu pacientul până la dilatarea arterei și disponibilitatea echipei la orice oră. Cine îi confundă pune banii acolo unde nu decid pacienții.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toți concurenții de pe aceeași linie sunt la fel de apropiați. Manualul îi grupează după rețetele pe care le urmează. În cuvinte de zi cu zi: vecinii cu care sunteți comparați direct de pacienți, pentru că oferă aproape același lucru în același fel.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Grupurile strategice se desenează pe o hartă cu două axe. Manualul recomandă ca axele să fie doi factori critici de succes; pe linia RMN, de exemplu, durata așteptării și legătura examenului cu tratamentul care urmează. Membrii aceluiași grup sunt concurenți direcți, iar cu membrii altor grupuri concurează numai indirect.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Resursele tangibile, adică terenul, clădirile, echipamentele, banii și personalul, se obțin mai ușor decât cele intangibile; reputația, imaginea și cunoștințele se construiesc în timp, prin experiență. Tocmai componentele intangibile ale competențelor de bază le fac greu de copiat.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Fișa disciplinei numește cadrul resurselor prin patru criterii: valoare, raritate, imitabilitate și organizare. Numele testului vine de la inițialele lor. În cuvinte de zi cu zi: ce aveți voi, contează, nu are aproape nimeni, nu se poate copia repede și chiar știți să folosiți.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Walston adaugă că și cunoștințele clinice sau dotările specializate, chiar rare și scumpe, pot să nu susțină avantajul dacă concurenții creează ușor înlocuitori. Pornind de aici, acest curs propune pentru discuție o scară simplă, construită pentru curs: răspunsul la test nu e „da” sau „nu” pentru toată resursa, ci o concluzie despre ce fel de avantaj poate da 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 anonim pe telefon: care resursă a Spitalului A poate susține cel mai probabil un avantaj durabil față de concurenți? O singură variantă.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Două minute de discuție cu colegul de bancă: convingeți-l pe cel care a votat altfel. Apoi votați din nou, pe același enunț.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Varianta B trece toate cele patru întrebări. Este valoroasă, pentru că în infarct timpul decide rezultatul. Este rară, pentru că în județ nu mai există o altă echipă. Este greu de imitat, pentru că o echipă care lucrează împreună de ani de zile nu se cumpără odată cu aparatura. Și este organizată, dacă spitalul are regulile de gardă și circuitul scrise și respectate.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confuzie frecventă privește oamenii: personalul, ca resursă, este tangibil, în timp ce competențele lor și felul în care lucrează împreună sunt intangibile. Un concurent care racolează un medic nu a imitat capabilitatea; i-a luat spitalului o parte din ea. Contractul cu casa de asigurări este o condiție pentru a rămâne în joc, fără să aducă un avantaj.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alocarea să aibă urmări, cazul are câteva reguli simple, construite pentru curs. La examenele RMN, fiecare punct aduce înapoi 60 de pacienți pe an, dar recâștigul se oprește la 1 800. La cardiologia intervențională, punctele nu aduc pacienți noi, ci păstrează echipa. La radioterapie, sub 40 de puncte nu se poate porni serviciul.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Acum fiecare dintre voi devine managerul Spitalului A. Împărțiți fondul de dezvoltare al Spitalului A între cele cinci linii de servicii: examenele RMN, chirurgia de o zi, cardiologia intervențională, radioterapia și recuperarea.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Profilul „răspunsul la rival” pune banii acolo unde Rețeaua C e cea mai vizibilă. Profilul „împărțit egal” pune pe radioterapie mai puțin decât pragul de pornire, deci acei bani nu aduc nimic. Profilul „ce nu se poate copia” protejează echipa de cardiologie, pornește radioterapia și dezvoltă recuperarea.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Ordinea din al treilea an depinde de o presupunere a cazului: cât din câștigul de la RMN rămâne după ce Rețeaua C copiază aparatul. Argumentul care nu depinde de presupunere este altul: câți pacienți rămân fără serviciu în județ.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ați sacrificat fără să vă dați seama? Și ce s-ar schimba dacă Rețeaua C ar copia aparatul RMN mai greu decât presupun regulile?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Să presupunem că managerul a ales un profil apropiat de „ce nu se poate copia”. Rețeaua C a deschis al treilea centru de imagistică și a luat o parte din pacienții RMN, așa cum se aștepta. Pe hârtie, spitalul are mai puțini pacienți „recâștigați” decât ar fi avut dacă ar fi urmărit rivalul. În realitate, a pus banii acolo unde concurenții nu pot sau nu vor să meargă.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Comparați acest deznodământ cu alocarea voastră. Dacă ați pus majoritatea punctelor pe RMN și pe chirurgia de o zi, ați reacționat la rivalul cel mai vizibil, nu la factorii critici de succes ai fiecărei linii. Dacă ați împărțit egal, ați uitat că unele investiții au un prag. Niciun profil nu e „corect” în orice spital.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Ideea lanțului valorii descompune o organizație de sănătate în activitățile prin care trece pacientul, de la programare și diagnostic la tratament, externare și urmărirea după externare, și în activitățile de sprijin. Avantajul vine din felul în care sunt executate aceste activități și din legăturile dintre 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Profilul „ce nu se poate copia” nu e preferat pentru că aduce mai mulți pacienți, ci pentru ce primesc pacienții. Pentru managerul Spitalului A, asta înseamnă o întrebare diferită de cea a cotei de piață. Nu „câți pacienți am luat de la C?”, ci „ce rezultate obțin pacienții noștri și cu ce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 ar ști managerul, peste un an, dacă alegerea a fost bună? Prin câțiva indicatori, aleși înainte și urmăriți regulat. Cele trei abordări ale evaluării calității apar la Donabedian încă din 1966: structura este cadrul îngrijirii și mijloacele ei, procesul este îngrijirea însăși, iar rezultatul este ce se întâmplă cu pacientul.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Managerul spitalului public are în contractul de management indicatori de performanță în cinci categorii, stabiliți prin Ordinul ministrului sănătății nr. 1384/2010. Acești indicatori sunt operaționali: arată cât de mult și cât de eficient lucrează spitalul. Pentru valoarea pentru pacient, managerul are nevoie și de indicatori de rezultat pe fiecare linie de servicii, pe care îi construiește 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Spitalul A, structura înseamnă, de exemplu, echipa de gardă la orice oră, procesul înseamnă timpul până la dilatarea arterei, iar rezultatul, supraviețuirea la o lună sau capacitatea de a se îngriji singur după recuperare.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Spitalul municipal M, dintr-un alt județ, a deschis chirurgia de o zi cu program prelungit, ca să nu mai piardă pacienți către un ambulatoriu privat. După un an, conducerea vrea să afle dacă decizia a creat valoare pentru pacienți.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 anonim pe telefon: ce ar trebui să urmărească întâi conducerea Spitalului M? O singură variantă.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Varianta C leagă un indicator de proces, așteptarea, și indicatori de rezultat, complicațiile și revenirile, de cost, adică exact ce cere definiția valorii ca rezultate raportate la cost. Varianta A măsoară volumul, nu valoarea. Varianta B măsoară poziția față de concurent. Varianta D reduce experiența la saloanele renovate și nu raportează nimic la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 ce ați făcut azi urmează un proces descris de manual în șapte pași. Pasul al șaselea a apărut în actul 2: mișcările unui concurent se pot anticipa din punctele lui tari și slabe, din grupul strategic căruia îi aparține și din strategiile lui trecute.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formativ pe Kahoot, zece întrebări despre ideile ședinței. Testul nu se notează. Rezultatele arată ce idei trebuie reluate la începutul cursului următor.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Managerul Spitalului A poate răspunde acum la întrebarea de la început. Nu se luptă cu toată lumea, ci cu câțiva furnizori, diferiți pe fiecare linie de servicii. Fondul de dezvoltare se împarte după această hartă, nu după zgomotul rivalului.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Când auziți că spitalul pierde pacienți la privat, întrebați: pe ce linie de servicii, și ce oferă celălalt pe acea linie. Când vi se arată un succes, întrebați ce rezultat au obținut pacienții și cu ce cost, nu doar câți pacienți au fost. Săptămâna viitoare, cursul trece de la concurenți la organizația proprie: analiza mediului intern și a avantajului competitiv.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întrebări pentru titular, anonim, pe Mentimeter, prin codul QR de pe ultimul diapozitiv. Răspunsurile stau la baza a două modificări, anunțate la începutul ședinței următoare.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MSSS/active/img/C01_trafic_oras.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80000"/>
            </a:srgbClr>
          </a:solidFill>
          <a:ln w="12700">
            <a:solidFill>
              <a:srgbClr val="11121A"/>
            </a:solidFill>
            <a:prstDash val="solid"/>
          </a:ln>
        </p:spPr>
      </p:sp>
      <p:sp>
        <p:nvSpPr>
          <p:cNvPr id="4" name="Text 1"/>
          <p:cNvSpPr/>
          <p:nvPr/>
        </p:nvSpPr>
        <p:spPr>
          <a:xfrm>
            <a:off x="6979615"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Drumurile pacienților, văzute de sus</a:t>
            </a:r>
            <a:endParaRPr lang="en-US" sz="1100" dirty="0"/>
          </a:p>
        </p:txBody>
      </p:sp>
      <p:sp>
        <p:nvSpPr>
          <p:cNvPr id="5" name="Text 2"/>
          <p:cNvSpPr/>
          <p:nvPr/>
        </p:nvSpPr>
        <p:spPr>
          <a:xfrm>
            <a:off x="6979615"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ProtoplasmaKid · CC BY-SA 4.0 · Wikimedia Commons</a:t>
            </a:r>
            <a:endParaRPr lang="en-US" sz="850" dirty="0"/>
          </a:p>
        </p:txBody>
      </p:sp>
      <p:sp>
        <p:nvSpPr>
          <p:cNvPr id="6" name="Shape 3"/>
          <p:cNvSpPr/>
          <p:nvPr/>
        </p:nvSpPr>
        <p:spPr>
          <a:xfrm>
            <a:off x="640080" y="777240"/>
            <a:ext cx="3108960" cy="329184"/>
          </a:xfrm>
          <a:prstGeom prst="roundRect">
            <a:avLst>
              <a:gd name="adj" fmla="val 50000"/>
            </a:avLst>
          </a:prstGeom>
          <a:solidFill>
            <a:srgbClr val="FF4757"/>
          </a:solidFill>
          <a:ln w="12700">
            <a:solidFill>
              <a:srgbClr val="FF4757"/>
            </a:solidFill>
            <a:prstDash val="solid"/>
          </a:ln>
        </p:spPr>
      </p:sp>
      <p:sp>
        <p:nvSpPr>
          <p:cNvPr id="7" name="Text 4"/>
          <p:cNvSpPr/>
          <p:nvPr/>
        </p:nvSpPr>
        <p:spPr>
          <a:xfrm>
            <a:off x="640080" y="777240"/>
            <a:ext cx="310896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ȘEDINȚA A PATRA</a:t>
            </a:r>
            <a:endParaRPr lang="en-US" sz="1300" dirty="0"/>
          </a:p>
        </p:txBody>
      </p:sp>
      <p:sp>
        <p:nvSpPr>
          <p:cNvPr id="8" name="Text 5"/>
          <p:cNvSpPr/>
          <p:nvPr/>
        </p:nvSpPr>
        <p:spPr>
          <a:xfrm>
            <a:off x="640080" y="1325880"/>
            <a:ext cx="5760720" cy="182880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Analiza competitorilor din aria de servicii de sănătate</a:t>
            </a:r>
            <a:endParaRPr lang="en-US" sz="3400" dirty="0"/>
          </a:p>
        </p:txBody>
      </p:sp>
      <p:sp>
        <p:nvSpPr>
          <p:cNvPr id="9" name="Shape 6"/>
          <p:cNvSpPr/>
          <p:nvPr/>
        </p:nvSpPr>
        <p:spPr>
          <a:xfrm>
            <a:off x="667512" y="3246120"/>
            <a:ext cx="1280160" cy="27432"/>
          </a:xfrm>
          <a:prstGeom prst="rect">
            <a:avLst/>
          </a:prstGeom>
          <a:solidFill>
            <a:srgbClr val="FF4757"/>
          </a:solidFill>
          <a:ln/>
        </p:spPr>
      </p:sp>
      <p:sp>
        <p:nvSpPr>
          <p:cNvPr id="10" name="Text 7"/>
          <p:cNvSpPr/>
          <p:nvPr/>
        </p:nvSpPr>
        <p:spPr>
          <a:xfrm>
            <a:off x="640080" y="3429000"/>
            <a:ext cx="5760720" cy="914400"/>
          </a:xfrm>
          <a:prstGeom prst="rect">
            <a:avLst/>
          </a:prstGeom>
          <a:noFill/>
          <a:ln/>
        </p:spPr>
        <p:txBody>
          <a:bodyPr wrap="square" lIns="0" tIns="0" rIns="0" bIns="0" rtlCol="0" anchor="t"/>
          <a:lstStyle/>
          <a:p>
            <a:pPr indent="0" marL="0">
              <a:buNone/>
            </a:pPr>
            <a:r>
              <a:rPr lang="en-US" sz="2400" i="1" dirty="0">
                <a:solidFill>
                  <a:srgbClr val="27D3BE"/>
                </a:solidFill>
                <a:latin typeface="Palatino Linotype" pitchFamily="34" charset="0"/>
                <a:ea typeface="Palatino Linotype" pitchFamily="34" charset="-122"/>
                <a:cs typeface="Palatino Linotype" pitchFamily="34" charset="-120"/>
              </a:rPr>
              <a:t>Cine este, de fapt, concurentul?</a:t>
            </a:r>
            <a:endParaRPr lang="en-US" sz="2400" dirty="0"/>
          </a:p>
        </p:txBody>
      </p:sp>
      <p:sp>
        <p:nvSpPr>
          <p:cNvPr id="11" name="Text 8"/>
          <p:cNvSpPr/>
          <p:nvPr/>
        </p:nvSpPr>
        <p:spPr>
          <a:xfrm>
            <a:off x="640080" y="4572000"/>
            <a:ext cx="5760720" cy="1005840"/>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Management strategic în sănătate</a:t>
            </a:r>
            <a:endParaRPr lang="en-US" sz="1400" dirty="0"/>
          </a:p>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Servicii și politici de sănătate publică, anul II</a:t>
            </a:r>
            <a:endParaRPr lang="en-US" sz="1400" dirty="0"/>
          </a:p>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Conf. univ. dr. Adrian Pană</a:t>
            </a:r>
            <a:endParaRPr lang="en-US" sz="1400" dirty="0"/>
          </a:p>
        </p:txBody>
      </p:sp>
      <p:sp>
        <p:nvSpPr>
          <p:cNvPr id="12" name="Text 9"/>
          <p:cNvSpPr/>
          <p:nvPr/>
        </p:nvSpPr>
        <p:spPr>
          <a:xfrm>
            <a:off x="640080" y="5852160"/>
            <a:ext cx="5760720" cy="365760"/>
          </a:xfrm>
          <a:prstGeom prst="rect">
            <a:avLst/>
          </a:prstGeom>
          <a:noFill/>
          <a:ln/>
        </p:spPr>
        <p:txBody>
          <a:bodyPr wrap="square" lIns="0" tIns="0" rIns="0" bIns="0" rtlCol="0" anchor="t"/>
          <a:lstStyle/>
          <a:p>
            <a:pPr indent="0" marL="0">
              <a:buNone/>
            </a:pPr>
            <a:r>
              <a:rPr lang="en-US" sz="13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ÎNTREBAREA ȘEDINȚEI</a:t>
            </a:r>
            <a:endParaRPr lang="en-US" sz="1300" dirty="0"/>
          </a:p>
        </p:txBody>
      </p:sp>
      <p:sp>
        <p:nvSpPr>
          <p:cNvPr id="3" name="Text 1"/>
          <p:cNvSpPr/>
          <p:nvPr/>
        </p:nvSpPr>
        <p:spPr>
          <a:xfrm>
            <a:off x="594360" y="914400"/>
            <a:ext cx="10789920" cy="1828800"/>
          </a:xfrm>
          <a:prstGeom prst="rect">
            <a:avLst/>
          </a:prstGeom>
          <a:noFill/>
          <a:ln/>
        </p:spPr>
        <p:txBody>
          <a:bodyPr wrap="square" lIns="0" tIns="0" rIns="0" bIns="0" rtlCol="0" anchor="ctr"/>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Cu cine concurează farmacia din cartierul vostru?</a:t>
            </a:r>
            <a:endParaRPr lang="en-US" sz="4400" dirty="0"/>
          </a:p>
        </p:txBody>
      </p:sp>
      <p:sp>
        <p:nvSpPr>
          <p:cNvPr id="4" name="Shape 2"/>
          <p:cNvSpPr/>
          <p:nvPr/>
        </p:nvSpPr>
        <p:spPr>
          <a:xfrm>
            <a:off x="594360" y="2971800"/>
            <a:ext cx="1280160" cy="36576"/>
          </a:xfrm>
          <a:prstGeom prst="rect">
            <a:avLst/>
          </a:prstGeom>
          <a:solidFill>
            <a:srgbClr val="27D3BE"/>
          </a:solidFill>
          <a:ln/>
        </p:spPr>
      </p:sp>
      <p:sp>
        <p:nvSpPr>
          <p:cNvPr id="5" name="Text 3"/>
          <p:cNvSpPr/>
          <p:nvPr/>
        </p:nvSpPr>
        <p:spPr>
          <a:xfrm>
            <a:off x="594360" y="3246120"/>
            <a:ext cx="10424160" cy="118872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Cu toate magazinele din oraș sau numai cu două-trei? Și ce trebuie să facă foarte bine ca să nu-și piardă clienții?</a:t>
            </a:r>
            <a:endParaRPr lang="en-US" sz="2200" dirty="0"/>
          </a:p>
        </p:txBody>
      </p:sp>
      <p:sp>
        <p:nvSpPr>
          <p:cNvPr id="6" name="Shape 4"/>
          <p:cNvSpPr/>
          <p:nvPr/>
        </p:nvSpPr>
        <p:spPr>
          <a:xfrm>
            <a:off x="594360" y="4800600"/>
            <a:ext cx="10972800" cy="1051560"/>
          </a:xfrm>
          <a:prstGeom prst="roundRect">
            <a:avLst>
              <a:gd name="adj" fmla="val 7826"/>
            </a:avLst>
          </a:prstGeom>
          <a:solidFill>
            <a:srgbClr val="07564B"/>
          </a:solidFill>
          <a:ln w="12700">
            <a:solidFill>
              <a:srgbClr val="07564B"/>
            </a:solidFill>
            <a:prstDash val="solid"/>
          </a:ln>
        </p:spPr>
      </p:sp>
      <p:sp>
        <p:nvSpPr>
          <p:cNvPr id="7" name="Text 5"/>
          <p:cNvSpPr/>
          <p:nvPr/>
        </p:nvSpPr>
        <p:spPr>
          <a:xfrm>
            <a:off x="868680" y="4800600"/>
            <a:ext cx="10424160" cy="105156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Azi, aceeași întrebare pentru Spitalul A, un spital județean de urgență (caz construit).</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SĂPTĂMÂNA TRECUTĂ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Aria de servicii nu este una singură</a:t>
            </a:r>
            <a:endParaRPr lang="en-US" sz="3200" dirty="0"/>
          </a:p>
        </p:txBody>
      </p:sp>
      <p:sp>
        <p:nvSpPr>
          <p:cNvPr id="4" name="Shape 2"/>
          <p:cNvSpPr/>
          <p:nvPr/>
        </p:nvSpPr>
        <p:spPr>
          <a:xfrm>
            <a:off x="594360" y="1645920"/>
            <a:ext cx="5760720" cy="3657600"/>
          </a:xfrm>
          <a:prstGeom prst="roundRect">
            <a:avLst>
              <a:gd name="adj" fmla="val 2250"/>
            </a:avLst>
          </a:prstGeom>
          <a:solidFill>
            <a:srgbClr val="ECEAE4"/>
          </a:solidFill>
          <a:ln w="12700">
            <a:solidFill>
              <a:srgbClr val="ECEAE4"/>
            </a:solidFill>
            <a:prstDash val="solid"/>
          </a:ln>
        </p:spPr>
      </p:sp>
      <p:sp>
        <p:nvSpPr>
          <p:cNvPr id="5" name="Shape 3"/>
          <p:cNvSpPr/>
          <p:nvPr/>
        </p:nvSpPr>
        <p:spPr>
          <a:xfrm>
            <a:off x="868680" y="1920240"/>
            <a:ext cx="420624" cy="420624"/>
          </a:xfrm>
          <a:prstGeom prst="ellipse">
            <a:avLst/>
          </a:prstGeom>
          <a:solidFill>
            <a:srgbClr val="FF4757"/>
          </a:solidFill>
          <a:ln/>
        </p:spPr>
      </p:sp>
      <p:sp>
        <p:nvSpPr>
          <p:cNvPr id="6" name="Text 4"/>
          <p:cNvSpPr/>
          <p:nvPr/>
        </p:nvSpPr>
        <p:spPr>
          <a:xfrm>
            <a:off x="868680" y="192024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828800"/>
            <a:ext cx="4663440" cy="13716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Urgențele, oncologia sau recuperarea atrag pacienți de la distanțe foarte diferite.</a:t>
            </a:r>
            <a:endParaRPr lang="en-US" sz="1800" dirty="0"/>
          </a:p>
        </p:txBody>
      </p:sp>
      <p:sp>
        <p:nvSpPr>
          <p:cNvPr id="8" name="Shape 6"/>
          <p:cNvSpPr/>
          <p:nvPr/>
        </p:nvSpPr>
        <p:spPr>
          <a:xfrm>
            <a:off x="868680" y="3474720"/>
            <a:ext cx="420624" cy="420624"/>
          </a:xfrm>
          <a:prstGeom prst="ellipse">
            <a:avLst/>
          </a:prstGeom>
          <a:solidFill>
            <a:srgbClr val="FF4757"/>
          </a:solidFill>
          <a:ln/>
        </p:spPr>
      </p:sp>
      <p:sp>
        <p:nvSpPr>
          <p:cNvPr id="9" name="Text 7"/>
          <p:cNvSpPr/>
          <p:nvPr/>
        </p:nvSpPr>
        <p:spPr>
          <a:xfrm>
            <a:off x="868680" y="347472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463040" y="3383280"/>
            <a:ext cx="4663440" cy="13716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Pacienții vin sau pleacă și din cauza drumului, a programului, a așteptării și a informației.</a:t>
            </a:r>
            <a:endParaRPr lang="en-US" sz="1800" dirty="0"/>
          </a:p>
        </p:txBody>
      </p:sp>
      <p:sp>
        <p:nvSpPr>
          <p:cNvPr id="11" name="Shape 9"/>
          <p:cNvSpPr/>
          <p:nvPr/>
        </p:nvSpPr>
        <p:spPr>
          <a:xfrm>
            <a:off x="6629400" y="1645920"/>
            <a:ext cx="4937760" cy="3657600"/>
          </a:xfrm>
          <a:prstGeom prst="roundRect">
            <a:avLst>
              <a:gd name="adj" fmla="val 2250"/>
            </a:avLst>
          </a:prstGeom>
          <a:solidFill>
            <a:srgbClr val="1D1F2B"/>
          </a:solidFill>
          <a:ln w="12700">
            <a:solidFill>
              <a:srgbClr val="1D1F2B"/>
            </a:solidFill>
            <a:prstDash val="solid"/>
          </a:ln>
        </p:spPr>
      </p:sp>
      <p:sp>
        <p:nvSpPr>
          <p:cNvPr id="12" name="Text 10"/>
          <p:cNvSpPr/>
          <p:nvPr/>
        </p:nvSpPr>
        <p:spPr>
          <a:xfrm>
            <a:off x="6903720" y="1828800"/>
            <a:ext cx="4480560" cy="32004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AZI</a:t>
            </a:r>
            <a:endParaRPr lang="en-US" sz="1300" dirty="0"/>
          </a:p>
        </p:txBody>
      </p:sp>
      <p:sp>
        <p:nvSpPr>
          <p:cNvPr id="13" name="Text 11"/>
          <p:cNvSpPr/>
          <p:nvPr/>
        </p:nvSpPr>
        <p:spPr>
          <a:xfrm>
            <a:off x="6903720" y="2286000"/>
            <a:ext cx="4480560" cy="2743200"/>
          </a:xfrm>
          <a:prstGeom prst="rect">
            <a:avLst/>
          </a:prstGeom>
          <a:noFill/>
          <a:ln/>
        </p:spPr>
        <p:txBody>
          <a:bodyPr wrap="square" lIns="0" tIns="0" rIns="0" bIns="0" rtlCol="0" anchor="t"/>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De la pacienți la cei care le oferă aceleași servicii: cine sunt, cât de puternici sunt și ce nu pot copia.</a:t>
            </a:r>
            <a:endParaRPr lang="en-US" sz="2000" dirty="0"/>
          </a:p>
        </p:txBody>
      </p:sp>
      <p:sp>
        <p:nvSpPr>
          <p:cNvPr id="14" name="Text 12"/>
          <p:cNvSpPr/>
          <p:nvPr/>
        </p:nvSpPr>
        <p:spPr>
          <a:xfrm>
            <a:off x="594360" y="5577840"/>
            <a:ext cx="10972800" cy="54864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Circa trei sferturi de oră din ședință lucrați voi. Nimic din ce faceți aici nu se notează.</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594360" y="292608"/>
            <a:ext cx="274320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594360" y="292608"/>
            <a:ext cx="2743200" cy="329184"/>
          </a:xfrm>
          <a:prstGeom prst="rect">
            <a:avLst/>
          </a:prstGeom>
          <a:noFill/>
          <a:ln/>
        </p:spPr>
        <p:txBody>
          <a:bodyPr wrap="square" lIns="0" tIns="0" rIns="0" bIns="0" rtlCol="0" anchor="ctr"/>
          <a:lstStyle/>
          <a:p>
            <a:pPr algn="ctr" indent="0" marL="0">
              <a:buNone/>
            </a:pPr>
            <a:r>
              <a:rPr lang="en-US" sz="1250" b="1" dirty="0">
                <a:solidFill>
                  <a:srgbClr val="2E060B"/>
                </a:solidFill>
                <a:latin typeface="Palatino Linotype" pitchFamily="34" charset="0"/>
                <a:ea typeface="Palatino Linotype" pitchFamily="34" charset="-122"/>
                <a:cs typeface="Palatino Linotype" pitchFamily="34" charset="-120"/>
              </a:rPr>
              <a:t>ACTUL 1 · SITUAȚIA</a:t>
            </a:r>
            <a:endParaRPr lang="en-US" sz="1250" dirty="0"/>
          </a:p>
        </p:txBody>
      </p:sp>
      <p:sp>
        <p:nvSpPr>
          <p:cNvPr id="4" name="Text 2"/>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Spitalul A și fondul de dezvoltare</a:t>
            </a:r>
            <a:endParaRPr lang="en-US" sz="3200" dirty="0"/>
          </a:p>
        </p:txBody>
      </p:sp>
      <p:sp>
        <p:nvSpPr>
          <p:cNvPr id="5" name="Shape 3"/>
          <p:cNvSpPr/>
          <p:nvPr/>
        </p:nvSpPr>
        <p:spPr>
          <a:xfrm>
            <a:off x="594360" y="1600200"/>
            <a:ext cx="5669280" cy="402336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sp>
      <p:sp>
        <p:nvSpPr>
          <p:cNvPr id="6" name="Shape 4"/>
          <p:cNvSpPr/>
          <p:nvPr/>
        </p:nvSpPr>
        <p:spPr>
          <a:xfrm>
            <a:off x="594360" y="1600200"/>
            <a:ext cx="5669280" cy="91440"/>
          </a:xfrm>
          <a:prstGeom prst="rect">
            <a:avLst/>
          </a:prstGeom>
          <a:solidFill>
            <a:srgbClr val="B02532"/>
          </a:solidFill>
          <a:ln w="12700">
            <a:solidFill>
              <a:srgbClr val="B02532"/>
            </a:solidFill>
            <a:prstDash val="solid"/>
          </a:ln>
        </p:spPr>
      </p:sp>
      <p:sp>
        <p:nvSpPr>
          <p:cNvPr id="7" name="Text 5"/>
          <p:cNvSpPr/>
          <p:nvPr/>
        </p:nvSpPr>
        <p:spPr>
          <a:xfrm>
            <a:off x="868680" y="1828800"/>
            <a:ext cx="5212080" cy="320040"/>
          </a:xfrm>
          <a:prstGeom prst="rect">
            <a:avLst/>
          </a:prstGeom>
          <a:noFill/>
          <a:ln/>
        </p:spPr>
        <p:txBody>
          <a:bodyPr wrap="square" lIns="0" tIns="0" rIns="0" bIns="0" rtlCol="0" anchor="t"/>
          <a:lstStyle/>
          <a:p>
            <a:pPr indent="0" marL="0">
              <a:buNone/>
            </a:pPr>
            <a:r>
              <a:rPr lang="en-US" sz="1250" b="1" spc="100" kern="0" dirty="0">
                <a:solidFill>
                  <a:srgbClr val="B02532"/>
                </a:solidFill>
                <a:latin typeface="Palatino Linotype" pitchFamily="34" charset="0"/>
                <a:ea typeface="Palatino Linotype" pitchFamily="34" charset="-122"/>
                <a:cs typeface="Palatino Linotype" pitchFamily="34" charset="-120"/>
              </a:rPr>
              <a:t>SPITALUL JUDEȚEAN DE URGENȚĂ AL JUDEȚULUI B</a:t>
            </a:r>
            <a:endParaRPr lang="en-US" sz="1250" dirty="0"/>
          </a:p>
        </p:txBody>
      </p:sp>
      <p:sp>
        <p:nvSpPr>
          <p:cNvPr id="8" name="Text 6"/>
          <p:cNvSpPr/>
          <p:nvPr/>
        </p:nvSpPr>
        <p:spPr>
          <a:xfrm>
            <a:off x="868680" y="2286000"/>
            <a:ext cx="5120640" cy="18288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Singurul spital public mare din județ. Comitetul director propune un fond de dezvoltare; managerul îl aprobă și vrea să știe unde să-l pună.</a:t>
            </a:r>
            <a:endParaRPr lang="en-US" sz="1700" dirty="0"/>
          </a:p>
        </p:txBody>
      </p:sp>
      <p:sp>
        <p:nvSpPr>
          <p:cNvPr id="9" name="Text 7"/>
          <p:cNvSpPr/>
          <p:nvPr/>
        </p:nvSpPr>
        <p:spPr>
          <a:xfrm>
            <a:off x="868680" y="4434840"/>
            <a:ext cx="5120640" cy="45720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Pe masă: cinci linii de servicii.</a:t>
            </a:r>
            <a:endParaRPr lang="en-US" sz="1700" dirty="0"/>
          </a:p>
        </p:txBody>
      </p:sp>
      <p:sp>
        <p:nvSpPr>
          <p:cNvPr id="10" name="Shape 8"/>
          <p:cNvSpPr/>
          <p:nvPr/>
        </p:nvSpPr>
        <p:spPr>
          <a:xfrm>
            <a:off x="6537960" y="1600200"/>
            <a:ext cx="5029200" cy="237744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sp>
      <p:sp>
        <p:nvSpPr>
          <p:cNvPr id="11" name="Shape 9"/>
          <p:cNvSpPr/>
          <p:nvPr/>
        </p:nvSpPr>
        <p:spPr>
          <a:xfrm>
            <a:off x="6537960" y="1600200"/>
            <a:ext cx="5029200" cy="91440"/>
          </a:xfrm>
          <a:prstGeom prst="rect">
            <a:avLst/>
          </a:prstGeom>
          <a:solidFill>
            <a:srgbClr val="585A64"/>
          </a:solidFill>
          <a:ln w="12700">
            <a:solidFill>
              <a:srgbClr val="585A64"/>
            </a:solidFill>
            <a:prstDash val="solid"/>
          </a:ln>
        </p:spPr>
      </p:sp>
      <p:sp>
        <p:nvSpPr>
          <p:cNvPr id="12" name="Text 10"/>
          <p:cNvSpPr/>
          <p:nvPr/>
        </p:nvSpPr>
        <p:spPr>
          <a:xfrm>
            <a:off x="6812280" y="1828800"/>
            <a:ext cx="4572000" cy="320040"/>
          </a:xfrm>
          <a:prstGeom prst="rect">
            <a:avLst/>
          </a:prstGeom>
          <a:noFill/>
          <a:ln/>
        </p:spPr>
        <p:txBody>
          <a:bodyPr wrap="square" lIns="0" tIns="0" rIns="0" bIns="0" rtlCol="0" anchor="t"/>
          <a:lstStyle/>
          <a:p>
            <a:pPr indent="0" marL="0">
              <a:buNone/>
            </a:pPr>
            <a:r>
              <a:rPr lang="en-US" sz="1150" b="1" spc="100" kern="0" dirty="0">
                <a:solidFill>
                  <a:srgbClr val="585A64"/>
                </a:solidFill>
                <a:latin typeface="Palatino Linotype" pitchFamily="34" charset="0"/>
                <a:ea typeface="Palatino Linotype" pitchFamily="34" charset="-122"/>
                <a:cs typeface="Palatino Linotype" pitchFamily="34" charset="-120"/>
              </a:rPr>
              <a:t>LISTA CONCURENȚILOR · DIRECTORUL MEDICAL</a:t>
            </a:r>
            <a:endParaRPr lang="en-US" sz="1150" dirty="0"/>
          </a:p>
        </p:txBody>
      </p:sp>
      <p:sp>
        <p:nvSpPr>
          <p:cNvPr id="13" name="Shape 11"/>
          <p:cNvSpPr/>
          <p:nvPr/>
        </p:nvSpPr>
        <p:spPr>
          <a:xfrm>
            <a:off x="6812280" y="2331720"/>
            <a:ext cx="4480560" cy="109728"/>
          </a:xfrm>
          <a:prstGeom prst="rect">
            <a:avLst/>
          </a:prstGeom>
          <a:solidFill>
            <a:srgbClr val="DCD9D1"/>
          </a:solidFill>
          <a:ln w="12700">
            <a:solidFill>
              <a:srgbClr val="DCD9D1"/>
            </a:solidFill>
            <a:prstDash val="solid"/>
          </a:ln>
        </p:spPr>
      </p:sp>
      <p:sp>
        <p:nvSpPr>
          <p:cNvPr id="14" name="Shape 12"/>
          <p:cNvSpPr/>
          <p:nvPr/>
        </p:nvSpPr>
        <p:spPr>
          <a:xfrm>
            <a:off x="6812280" y="2606040"/>
            <a:ext cx="3383280" cy="109728"/>
          </a:xfrm>
          <a:prstGeom prst="rect">
            <a:avLst/>
          </a:prstGeom>
          <a:solidFill>
            <a:srgbClr val="DCD9D1"/>
          </a:solidFill>
          <a:ln w="12700">
            <a:solidFill>
              <a:srgbClr val="DCD9D1"/>
            </a:solidFill>
            <a:prstDash val="solid"/>
          </a:ln>
        </p:spPr>
      </p:sp>
      <p:sp>
        <p:nvSpPr>
          <p:cNvPr id="15" name="Shape 13"/>
          <p:cNvSpPr/>
          <p:nvPr/>
        </p:nvSpPr>
        <p:spPr>
          <a:xfrm>
            <a:off x="6812280" y="2880360"/>
            <a:ext cx="4480560" cy="109728"/>
          </a:xfrm>
          <a:prstGeom prst="rect">
            <a:avLst/>
          </a:prstGeom>
          <a:solidFill>
            <a:srgbClr val="DCD9D1"/>
          </a:solidFill>
          <a:ln w="12700">
            <a:solidFill>
              <a:srgbClr val="DCD9D1"/>
            </a:solidFill>
            <a:prstDash val="solid"/>
          </a:ln>
        </p:spPr>
      </p:sp>
      <p:sp>
        <p:nvSpPr>
          <p:cNvPr id="16" name="Shape 14"/>
          <p:cNvSpPr/>
          <p:nvPr/>
        </p:nvSpPr>
        <p:spPr>
          <a:xfrm>
            <a:off x="6812280" y="3154680"/>
            <a:ext cx="3383280" cy="109728"/>
          </a:xfrm>
          <a:prstGeom prst="rect">
            <a:avLst/>
          </a:prstGeom>
          <a:solidFill>
            <a:srgbClr val="DCD9D1"/>
          </a:solidFill>
          <a:ln w="12700">
            <a:solidFill>
              <a:srgbClr val="DCD9D1"/>
            </a:solidFill>
            <a:prstDash val="solid"/>
          </a:ln>
        </p:spPr>
      </p:sp>
      <p:sp>
        <p:nvSpPr>
          <p:cNvPr id="17" name="Shape 15"/>
          <p:cNvSpPr/>
          <p:nvPr/>
        </p:nvSpPr>
        <p:spPr>
          <a:xfrm>
            <a:off x="6812280" y="3429000"/>
            <a:ext cx="4480560" cy="109728"/>
          </a:xfrm>
          <a:prstGeom prst="rect">
            <a:avLst/>
          </a:prstGeom>
          <a:solidFill>
            <a:srgbClr val="DCD9D1"/>
          </a:solidFill>
          <a:ln w="12700">
            <a:solidFill>
              <a:srgbClr val="DCD9D1"/>
            </a:solidFill>
            <a:prstDash val="solid"/>
          </a:ln>
        </p:spPr>
      </p:sp>
      <p:sp>
        <p:nvSpPr>
          <p:cNvPr id="18" name="Text 16"/>
          <p:cNvSpPr/>
          <p:nvPr/>
        </p:nvSpPr>
        <p:spPr>
          <a:xfrm>
            <a:off x="6812280" y="3611880"/>
            <a:ext cx="4572000" cy="274320"/>
          </a:xfrm>
          <a:prstGeom prst="rect">
            <a:avLst/>
          </a:prstGeom>
          <a:noFill/>
          <a:ln/>
        </p:spPr>
        <p:txBody>
          <a:bodyPr wrap="square" lIns="0" tIns="0" rIns="0" bIns="0" rtlCol="0" anchor="t"/>
          <a:lstStyle/>
          <a:p>
            <a:pPr indent="0" marL="0">
              <a:buNone/>
            </a:pPr>
            <a:r>
              <a:rPr lang="en-US" sz="1200" i="1" dirty="0">
                <a:solidFill>
                  <a:srgbClr val="585A64"/>
                </a:solidFill>
                <a:latin typeface="Palatino Linotype" pitchFamily="34" charset="0"/>
                <a:ea typeface="Palatino Linotype" pitchFamily="34" charset="-122"/>
                <a:cs typeface="Palatino Linotype" pitchFamily="34" charset="-120"/>
              </a:rPr>
              <a:t>… câteva zeci de rânduri</a:t>
            </a:r>
            <a:endParaRPr lang="en-US" sz="1200" dirty="0"/>
          </a:p>
        </p:txBody>
      </p:sp>
      <p:sp>
        <p:nvSpPr>
          <p:cNvPr id="19" name="Text 17"/>
          <p:cNvSpPr/>
          <p:nvPr/>
        </p:nvSpPr>
        <p:spPr>
          <a:xfrm>
            <a:off x="6537960" y="4206240"/>
            <a:ext cx="5029200" cy="1371600"/>
          </a:xfrm>
          <a:prstGeom prst="rect">
            <a:avLst/>
          </a:prstGeom>
          <a:noFill/>
          <a:ln/>
        </p:spPr>
        <p:txBody>
          <a:bodyPr wrap="square" lIns="0" tIns="0" rIns="0" bIns="0" rtlCol="0" anchor="t"/>
          <a:lstStyle/>
          <a:p>
            <a:pPr indent="0" marL="0">
              <a:buNone/>
            </a:pPr>
            <a:r>
              <a:rPr lang="en-US" sz="2000" b="1" i="1" dirty="0">
                <a:solidFill>
                  <a:srgbClr val="B02532"/>
                </a:solidFill>
                <a:latin typeface="Palatino Linotype" pitchFamily="34" charset="0"/>
                <a:ea typeface="Palatino Linotype" pitchFamily="34" charset="-122"/>
                <a:cs typeface="Palatino Linotype" pitchFamily="34" charset="-120"/>
              </a:rPr>
              <a:t>„Nu pot să mă lupt cu toată lumea. Cu cine ne luptăm, de fapt?”</a:t>
            </a:r>
            <a:endParaRPr lang="en-US" sz="2000" dirty="0"/>
          </a:p>
        </p:txBody>
      </p:sp>
      <p:sp>
        <p:nvSpPr>
          <p:cNvPr id="20" name="Text 18"/>
          <p:cNvSpPr/>
          <p:nvPr/>
        </p:nvSpPr>
        <p:spPr>
          <a:xfrm>
            <a:off x="594360" y="5852160"/>
            <a:ext cx="1097280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Caz construit pentru curs; detaliile sunt plauzibile, nu reale.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CINCI LINII DE SERVICII · VALORI IPOTETICE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Pe masa managerului</a:t>
            </a:r>
            <a:endParaRPr lang="en-US" sz="3200" dirty="0"/>
          </a:p>
        </p:txBody>
      </p:sp>
      <p:sp>
        <p:nvSpPr>
          <p:cNvPr id="4" name="Shape 2"/>
          <p:cNvSpPr/>
          <p:nvPr/>
        </p:nvSpPr>
        <p:spPr>
          <a:xfrm>
            <a:off x="594360" y="1600200"/>
            <a:ext cx="10972800" cy="749808"/>
          </a:xfrm>
          <a:prstGeom prst="roundRect">
            <a:avLst>
              <a:gd name="adj" fmla="val 10976"/>
            </a:avLst>
          </a:prstGeom>
          <a:solidFill>
            <a:srgbClr val="1D1F2B"/>
          </a:solidFill>
          <a:ln w="12700">
            <a:solidFill>
              <a:srgbClr val="1D1F2B"/>
            </a:solidFill>
            <a:prstDash val="solid"/>
          </a:ln>
        </p:spPr>
      </p:sp>
      <p:sp>
        <p:nvSpPr>
          <p:cNvPr id="5" name="Shape 3"/>
          <p:cNvSpPr/>
          <p:nvPr/>
        </p:nvSpPr>
        <p:spPr>
          <a:xfrm>
            <a:off x="594360" y="1600200"/>
            <a:ext cx="54864" cy="749808"/>
          </a:xfrm>
          <a:prstGeom prst="rect">
            <a:avLst/>
          </a:prstGeom>
          <a:solidFill>
            <a:srgbClr val="FF4757"/>
          </a:solidFill>
          <a:ln w="12700">
            <a:solidFill>
              <a:srgbClr val="FF4757"/>
            </a:solidFill>
            <a:prstDash val="solid"/>
          </a:ln>
        </p:spPr>
      </p:sp>
      <p:sp>
        <p:nvSpPr>
          <p:cNvPr id="6" name="Text 4"/>
          <p:cNvSpPr/>
          <p:nvPr/>
        </p:nvSpPr>
        <p:spPr>
          <a:xfrm>
            <a:off x="868680" y="1600200"/>
            <a:ext cx="3017520" cy="74980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Examenele RMN</a:t>
            </a:r>
            <a:endParaRPr lang="en-US" sz="1600" dirty="0"/>
          </a:p>
        </p:txBody>
      </p:sp>
      <p:sp>
        <p:nvSpPr>
          <p:cNvPr id="7" name="Text 5"/>
          <p:cNvSpPr/>
          <p:nvPr/>
        </p:nvSpPr>
        <p:spPr>
          <a:xfrm>
            <a:off x="3931920" y="1600200"/>
            <a:ext cx="1463040" cy="749808"/>
          </a:xfrm>
          <a:prstGeom prst="rect">
            <a:avLst/>
          </a:prstGeom>
          <a:noFill/>
          <a:ln/>
        </p:spPr>
        <p:txBody>
          <a:bodyPr wrap="square" lIns="0" tIns="0" rIns="0" bIns="0" rtlCol="0" anchor="ctr"/>
          <a:lstStyle/>
          <a:p>
            <a:pPr indent="0" marL="0">
              <a:buNone/>
            </a:pPr>
            <a:r>
              <a:rPr lang="en-US" sz="2800" b="1" dirty="0">
                <a:solidFill>
                  <a:srgbClr val="FF4757"/>
                </a:solidFill>
                <a:latin typeface="Palatino Linotype" pitchFamily="34" charset="0"/>
                <a:ea typeface="Palatino Linotype" pitchFamily="34" charset="-122"/>
                <a:cs typeface="Palatino Linotype" pitchFamily="34" charset="-120"/>
              </a:rPr>
              <a:t>2 400</a:t>
            </a:r>
            <a:endParaRPr lang="en-US" sz="2800" dirty="0"/>
          </a:p>
        </p:txBody>
      </p:sp>
      <p:sp>
        <p:nvSpPr>
          <p:cNvPr id="8" name="Text 6"/>
          <p:cNvSpPr/>
          <p:nvPr/>
        </p:nvSpPr>
        <p:spPr>
          <a:xfrm>
            <a:off x="5486400" y="1600200"/>
            <a:ext cx="5897880" cy="749808"/>
          </a:xfrm>
          <a:prstGeom prst="rect">
            <a:avLst/>
          </a:prstGeom>
          <a:noFill/>
          <a:ln/>
        </p:spPr>
        <p:txBody>
          <a:bodyPr wrap="square" lIns="0" tIns="0" rIns="0" bIns="0" rtlCol="0" anchor="ctr"/>
          <a:lstStyle/>
          <a:p>
            <a:pPr indent="0" marL="0">
              <a:buNone/>
            </a:pPr>
            <a:r>
              <a:rPr lang="en-US" sz="1450" dirty="0">
                <a:solidFill>
                  <a:srgbClr val="E6E8EF"/>
                </a:solidFill>
                <a:latin typeface="Palatino Linotype" pitchFamily="34" charset="0"/>
                <a:ea typeface="Palatino Linotype" pitchFamily="34" charset="-122"/>
                <a:cs typeface="Palatino Linotype" pitchFamily="34" charset="-120"/>
              </a:rPr>
              <a:t>la Rețeaua privată C, deschisă 8–22 (spitalul: 8–16)</a:t>
            </a:r>
            <a:endParaRPr lang="en-US" sz="1450" dirty="0"/>
          </a:p>
        </p:txBody>
      </p:sp>
      <p:sp>
        <p:nvSpPr>
          <p:cNvPr id="9" name="Shape 7"/>
          <p:cNvSpPr/>
          <p:nvPr/>
        </p:nvSpPr>
        <p:spPr>
          <a:xfrm>
            <a:off x="594360" y="2468880"/>
            <a:ext cx="10972800" cy="749808"/>
          </a:xfrm>
          <a:prstGeom prst="roundRect">
            <a:avLst>
              <a:gd name="adj" fmla="val 10976"/>
            </a:avLst>
          </a:prstGeom>
          <a:solidFill>
            <a:srgbClr val="1D1F2B"/>
          </a:solidFill>
          <a:ln w="12700">
            <a:solidFill>
              <a:srgbClr val="1D1F2B"/>
            </a:solidFill>
            <a:prstDash val="solid"/>
          </a:ln>
        </p:spPr>
      </p:sp>
      <p:sp>
        <p:nvSpPr>
          <p:cNvPr id="10" name="Shape 8"/>
          <p:cNvSpPr/>
          <p:nvPr/>
        </p:nvSpPr>
        <p:spPr>
          <a:xfrm>
            <a:off x="594360" y="2468880"/>
            <a:ext cx="54864" cy="749808"/>
          </a:xfrm>
          <a:prstGeom prst="rect">
            <a:avLst/>
          </a:prstGeom>
          <a:solidFill>
            <a:srgbClr val="FFC24B"/>
          </a:solidFill>
          <a:ln w="12700">
            <a:solidFill>
              <a:srgbClr val="FFC24B"/>
            </a:solidFill>
            <a:prstDash val="solid"/>
          </a:ln>
        </p:spPr>
      </p:sp>
      <p:sp>
        <p:nvSpPr>
          <p:cNvPr id="11" name="Text 9"/>
          <p:cNvSpPr/>
          <p:nvPr/>
        </p:nvSpPr>
        <p:spPr>
          <a:xfrm>
            <a:off x="868680" y="2468880"/>
            <a:ext cx="3017520" cy="74980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Chirurgia de o zi</a:t>
            </a:r>
            <a:endParaRPr lang="en-US" sz="1600" dirty="0"/>
          </a:p>
        </p:txBody>
      </p:sp>
      <p:sp>
        <p:nvSpPr>
          <p:cNvPr id="12" name="Text 10"/>
          <p:cNvSpPr/>
          <p:nvPr/>
        </p:nvSpPr>
        <p:spPr>
          <a:xfrm>
            <a:off x="3931920" y="2468880"/>
            <a:ext cx="1463040" cy="749808"/>
          </a:xfrm>
          <a:prstGeom prst="rect">
            <a:avLst/>
          </a:prstGeom>
          <a:noFill/>
          <a:ln/>
        </p:spPr>
        <p:txBody>
          <a:bodyPr wrap="square" lIns="0" tIns="0" rIns="0" bIns="0" rtlCol="0" anchor="ctr"/>
          <a:lstStyle/>
          <a:p>
            <a:pPr indent="0" marL="0">
              <a:buNone/>
            </a:pPr>
            <a:r>
              <a:rPr lang="en-US" sz="2800" b="1" dirty="0">
                <a:solidFill>
                  <a:srgbClr val="FFC24B"/>
                </a:solidFill>
                <a:latin typeface="Palatino Linotype" pitchFamily="34" charset="0"/>
                <a:ea typeface="Palatino Linotype" pitchFamily="34" charset="-122"/>
                <a:cs typeface="Palatino Linotype" pitchFamily="34" charset="-120"/>
              </a:rPr>
              <a:t>1 200</a:t>
            </a:r>
            <a:endParaRPr lang="en-US" sz="2800" dirty="0"/>
          </a:p>
        </p:txBody>
      </p:sp>
      <p:sp>
        <p:nvSpPr>
          <p:cNvPr id="13" name="Text 11"/>
          <p:cNvSpPr/>
          <p:nvPr/>
        </p:nvSpPr>
        <p:spPr>
          <a:xfrm>
            <a:off x="5486400" y="2468880"/>
            <a:ext cx="5897880" cy="749808"/>
          </a:xfrm>
          <a:prstGeom prst="rect">
            <a:avLst/>
          </a:prstGeom>
          <a:noFill/>
          <a:ln/>
        </p:spPr>
        <p:txBody>
          <a:bodyPr wrap="square" lIns="0" tIns="0" rIns="0" bIns="0" rtlCol="0" anchor="ctr"/>
          <a:lstStyle/>
          <a:p>
            <a:pPr indent="0" marL="0">
              <a:buNone/>
            </a:pPr>
            <a:r>
              <a:rPr lang="en-US" sz="1450" dirty="0">
                <a:solidFill>
                  <a:srgbClr val="E6E8EF"/>
                </a:solidFill>
                <a:latin typeface="Palatino Linotype" pitchFamily="34" charset="0"/>
                <a:ea typeface="Palatino Linotype" pitchFamily="34" charset="-122"/>
                <a:cs typeface="Palatino Linotype" pitchFamily="34" charset="-120"/>
              </a:rPr>
              <a:t>la două ambulatorii private, seara și sâmbăta</a:t>
            </a:r>
            <a:endParaRPr lang="en-US" sz="1450" dirty="0"/>
          </a:p>
        </p:txBody>
      </p:sp>
      <p:sp>
        <p:nvSpPr>
          <p:cNvPr id="14" name="Shape 12"/>
          <p:cNvSpPr/>
          <p:nvPr/>
        </p:nvSpPr>
        <p:spPr>
          <a:xfrm>
            <a:off x="594360" y="3337560"/>
            <a:ext cx="10972800" cy="749808"/>
          </a:xfrm>
          <a:prstGeom prst="roundRect">
            <a:avLst>
              <a:gd name="adj" fmla="val 10976"/>
            </a:avLst>
          </a:prstGeom>
          <a:solidFill>
            <a:srgbClr val="1D1F2B"/>
          </a:solidFill>
          <a:ln w="12700">
            <a:solidFill>
              <a:srgbClr val="1D1F2B"/>
            </a:solidFill>
            <a:prstDash val="solid"/>
          </a:ln>
        </p:spPr>
      </p:sp>
      <p:sp>
        <p:nvSpPr>
          <p:cNvPr id="15" name="Shape 13"/>
          <p:cNvSpPr/>
          <p:nvPr/>
        </p:nvSpPr>
        <p:spPr>
          <a:xfrm>
            <a:off x="594360" y="3337560"/>
            <a:ext cx="54864" cy="749808"/>
          </a:xfrm>
          <a:prstGeom prst="rect">
            <a:avLst/>
          </a:prstGeom>
          <a:solidFill>
            <a:srgbClr val="27D3BE"/>
          </a:solidFill>
          <a:ln w="12700">
            <a:solidFill>
              <a:srgbClr val="27D3BE"/>
            </a:solidFill>
            <a:prstDash val="solid"/>
          </a:ln>
        </p:spPr>
      </p:sp>
      <p:sp>
        <p:nvSpPr>
          <p:cNvPr id="16" name="Text 14"/>
          <p:cNvSpPr/>
          <p:nvPr/>
        </p:nvSpPr>
        <p:spPr>
          <a:xfrm>
            <a:off x="868680" y="3337560"/>
            <a:ext cx="3017520" cy="74980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Cardiologia intervențională</a:t>
            </a:r>
            <a:endParaRPr lang="en-US" sz="1600" dirty="0"/>
          </a:p>
        </p:txBody>
      </p:sp>
      <p:sp>
        <p:nvSpPr>
          <p:cNvPr id="17" name="Text 15"/>
          <p:cNvSpPr/>
          <p:nvPr/>
        </p:nvSpPr>
        <p:spPr>
          <a:xfrm>
            <a:off x="3931920" y="3337560"/>
            <a:ext cx="1463040" cy="749808"/>
          </a:xfrm>
          <a:prstGeom prst="rect">
            <a:avLst/>
          </a:prstGeom>
          <a:noFill/>
          <a:ln/>
        </p:spPr>
        <p:txBody>
          <a:bodyPr wrap="square" lIns="0" tIns="0" rIns="0" bIns="0" rtlCol="0" anchor="ctr"/>
          <a:lstStyle/>
          <a:p>
            <a:pPr indent="0" marL="0">
              <a:buNone/>
            </a:pPr>
            <a:r>
              <a:rPr lang="en-US" sz="2800" b="1" dirty="0">
                <a:solidFill>
                  <a:srgbClr val="27D3BE"/>
                </a:solidFill>
                <a:latin typeface="Palatino Linotype" pitchFamily="34" charset="0"/>
                <a:ea typeface="Palatino Linotype" pitchFamily="34" charset="-122"/>
                <a:cs typeface="Palatino Linotype" pitchFamily="34" charset="-120"/>
              </a:rPr>
              <a:t>300</a:t>
            </a:r>
            <a:endParaRPr lang="en-US" sz="2800" dirty="0"/>
          </a:p>
        </p:txBody>
      </p:sp>
      <p:sp>
        <p:nvSpPr>
          <p:cNvPr id="18" name="Text 16"/>
          <p:cNvSpPr/>
          <p:nvPr/>
        </p:nvSpPr>
        <p:spPr>
          <a:xfrm>
            <a:off x="5486400" y="3337560"/>
            <a:ext cx="5897880" cy="749808"/>
          </a:xfrm>
          <a:prstGeom prst="rect">
            <a:avLst/>
          </a:prstGeom>
          <a:noFill/>
          <a:ln/>
        </p:spPr>
        <p:txBody>
          <a:bodyPr wrap="square" lIns="0" tIns="0" rIns="0" bIns="0" rtlCol="0" anchor="ctr"/>
          <a:lstStyle/>
          <a:p>
            <a:pPr indent="0" marL="0">
              <a:buNone/>
            </a:pPr>
            <a:r>
              <a:rPr lang="en-US" sz="1450" dirty="0">
                <a:solidFill>
                  <a:srgbClr val="E6E8EF"/>
                </a:solidFill>
                <a:latin typeface="Palatino Linotype" pitchFamily="34" charset="0"/>
                <a:ea typeface="Palatino Linotype" pitchFamily="34" charset="-122"/>
                <a:cs typeface="Palatino Linotype" pitchFamily="34" charset="-120"/>
              </a:rPr>
              <a:t>ar merge la 120 km, în Județul D, fără echipa spitalului</a:t>
            </a:r>
            <a:endParaRPr lang="en-US" sz="1450" dirty="0"/>
          </a:p>
        </p:txBody>
      </p:sp>
      <p:sp>
        <p:nvSpPr>
          <p:cNvPr id="19" name="Shape 17"/>
          <p:cNvSpPr/>
          <p:nvPr/>
        </p:nvSpPr>
        <p:spPr>
          <a:xfrm>
            <a:off x="594360" y="4206240"/>
            <a:ext cx="10972800" cy="749808"/>
          </a:xfrm>
          <a:prstGeom prst="roundRect">
            <a:avLst>
              <a:gd name="adj" fmla="val 10976"/>
            </a:avLst>
          </a:prstGeom>
          <a:solidFill>
            <a:srgbClr val="1D1F2B"/>
          </a:solidFill>
          <a:ln w="12700">
            <a:solidFill>
              <a:srgbClr val="1D1F2B"/>
            </a:solidFill>
            <a:prstDash val="solid"/>
          </a:ln>
        </p:spPr>
      </p:sp>
      <p:sp>
        <p:nvSpPr>
          <p:cNvPr id="20" name="Shape 18"/>
          <p:cNvSpPr/>
          <p:nvPr/>
        </p:nvSpPr>
        <p:spPr>
          <a:xfrm>
            <a:off x="594360" y="4206240"/>
            <a:ext cx="54864" cy="749808"/>
          </a:xfrm>
          <a:prstGeom prst="rect">
            <a:avLst/>
          </a:prstGeom>
          <a:solidFill>
            <a:srgbClr val="9B7EF7"/>
          </a:solidFill>
          <a:ln w="12700">
            <a:solidFill>
              <a:srgbClr val="9B7EF7"/>
            </a:solidFill>
            <a:prstDash val="solid"/>
          </a:ln>
        </p:spPr>
      </p:sp>
      <p:sp>
        <p:nvSpPr>
          <p:cNvPr id="21" name="Text 19"/>
          <p:cNvSpPr/>
          <p:nvPr/>
        </p:nvSpPr>
        <p:spPr>
          <a:xfrm>
            <a:off x="868680" y="4206240"/>
            <a:ext cx="3017520" cy="74980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Radioterapia</a:t>
            </a:r>
            <a:endParaRPr lang="en-US" sz="1600" dirty="0"/>
          </a:p>
        </p:txBody>
      </p:sp>
      <p:sp>
        <p:nvSpPr>
          <p:cNvPr id="22" name="Text 20"/>
          <p:cNvSpPr/>
          <p:nvPr/>
        </p:nvSpPr>
        <p:spPr>
          <a:xfrm>
            <a:off x="3931920" y="4206240"/>
            <a:ext cx="1463040" cy="749808"/>
          </a:xfrm>
          <a:prstGeom prst="rect">
            <a:avLst/>
          </a:prstGeom>
          <a:noFill/>
          <a:ln/>
        </p:spPr>
        <p:txBody>
          <a:bodyPr wrap="square" lIns="0" tIns="0" rIns="0" bIns="0" rtlCol="0" anchor="ctr"/>
          <a:lstStyle/>
          <a:p>
            <a:pPr indent="0" marL="0">
              <a:buNone/>
            </a:pPr>
            <a:r>
              <a:rPr lang="en-US" sz="2800" b="1" dirty="0">
                <a:solidFill>
                  <a:srgbClr val="9B7EF7"/>
                </a:solidFill>
                <a:latin typeface="Palatino Linotype" pitchFamily="34" charset="0"/>
                <a:ea typeface="Palatino Linotype" pitchFamily="34" charset="-122"/>
                <a:cs typeface="Palatino Linotype" pitchFamily="34" charset="-120"/>
              </a:rPr>
              <a:t>900</a:t>
            </a:r>
            <a:endParaRPr lang="en-US" sz="2800" dirty="0"/>
          </a:p>
        </p:txBody>
      </p:sp>
      <p:sp>
        <p:nvSpPr>
          <p:cNvPr id="23" name="Text 21"/>
          <p:cNvSpPr/>
          <p:nvPr/>
        </p:nvSpPr>
        <p:spPr>
          <a:xfrm>
            <a:off x="5486400" y="4206240"/>
            <a:ext cx="5897880" cy="749808"/>
          </a:xfrm>
          <a:prstGeom prst="rect">
            <a:avLst/>
          </a:prstGeom>
          <a:noFill/>
          <a:ln/>
        </p:spPr>
        <p:txBody>
          <a:bodyPr wrap="square" lIns="0" tIns="0" rIns="0" bIns="0" rtlCol="0" anchor="ctr"/>
          <a:lstStyle/>
          <a:p>
            <a:pPr indent="0" marL="0">
              <a:buNone/>
            </a:pPr>
            <a:r>
              <a:rPr lang="en-US" sz="1450" dirty="0">
                <a:solidFill>
                  <a:srgbClr val="E6E8EF"/>
                </a:solidFill>
                <a:latin typeface="Palatino Linotype" pitchFamily="34" charset="0"/>
                <a:ea typeface="Palatino Linotype" pitchFamily="34" charset="-122"/>
                <a:cs typeface="Palatino Linotype" pitchFamily="34" charset="-120"/>
              </a:rPr>
              <a:t>merg la centrul regional E, în județul vecin</a:t>
            </a:r>
            <a:endParaRPr lang="en-US" sz="1450" dirty="0"/>
          </a:p>
        </p:txBody>
      </p:sp>
      <p:sp>
        <p:nvSpPr>
          <p:cNvPr id="24" name="Shape 22"/>
          <p:cNvSpPr/>
          <p:nvPr/>
        </p:nvSpPr>
        <p:spPr>
          <a:xfrm>
            <a:off x="594360" y="5074920"/>
            <a:ext cx="10972800" cy="749808"/>
          </a:xfrm>
          <a:prstGeom prst="roundRect">
            <a:avLst>
              <a:gd name="adj" fmla="val 10976"/>
            </a:avLst>
          </a:prstGeom>
          <a:solidFill>
            <a:srgbClr val="1D1F2B"/>
          </a:solidFill>
          <a:ln w="12700">
            <a:solidFill>
              <a:srgbClr val="1D1F2B"/>
            </a:solidFill>
            <a:prstDash val="solid"/>
          </a:ln>
        </p:spPr>
      </p:sp>
      <p:sp>
        <p:nvSpPr>
          <p:cNvPr id="25" name="Shape 23"/>
          <p:cNvSpPr/>
          <p:nvPr/>
        </p:nvSpPr>
        <p:spPr>
          <a:xfrm>
            <a:off x="594360" y="5074920"/>
            <a:ext cx="54864" cy="749808"/>
          </a:xfrm>
          <a:prstGeom prst="rect">
            <a:avLst/>
          </a:prstGeom>
          <a:solidFill>
            <a:srgbClr val="FF8A3D"/>
          </a:solidFill>
          <a:ln w="12700">
            <a:solidFill>
              <a:srgbClr val="FF8A3D"/>
            </a:solidFill>
            <a:prstDash val="solid"/>
          </a:ln>
        </p:spPr>
      </p:sp>
      <p:sp>
        <p:nvSpPr>
          <p:cNvPr id="26" name="Text 24"/>
          <p:cNvSpPr/>
          <p:nvPr/>
        </p:nvSpPr>
        <p:spPr>
          <a:xfrm>
            <a:off x="868680" y="5074920"/>
            <a:ext cx="3017520" cy="74980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Recuperarea</a:t>
            </a:r>
            <a:endParaRPr lang="en-US" sz="1600" dirty="0"/>
          </a:p>
        </p:txBody>
      </p:sp>
      <p:sp>
        <p:nvSpPr>
          <p:cNvPr id="27" name="Text 25"/>
          <p:cNvSpPr/>
          <p:nvPr/>
        </p:nvSpPr>
        <p:spPr>
          <a:xfrm>
            <a:off x="3931920" y="5074920"/>
            <a:ext cx="1463040" cy="749808"/>
          </a:xfrm>
          <a:prstGeom prst="rect">
            <a:avLst/>
          </a:prstGeom>
          <a:noFill/>
          <a:ln/>
        </p:spPr>
        <p:txBody>
          <a:bodyPr wrap="square" lIns="0" tIns="0" rIns="0" bIns="0" rtlCol="0" anchor="ctr"/>
          <a:lstStyle/>
          <a:p>
            <a:pPr indent="0" marL="0">
              <a:buNone/>
            </a:pPr>
            <a:r>
              <a:rPr lang="en-US" sz="2800" b="1" dirty="0">
                <a:solidFill>
                  <a:srgbClr val="FF8A3D"/>
                </a:solidFill>
                <a:latin typeface="Palatino Linotype" pitchFamily="34" charset="0"/>
                <a:ea typeface="Palatino Linotype" pitchFamily="34" charset="-122"/>
                <a:cs typeface="Palatino Linotype" pitchFamily="34" charset="-120"/>
              </a:rPr>
              <a:t>700</a:t>
            </a:r>
            <a:endParaRPr lang="en-US" sz="2800" dirty="0"/>
          </a:p>
        </p:txBody>
      </p:sp>
      <p:sp>
        <p:nvSpPr>
          <p:cNvPr id="28" name="Text 26"/>
          <p:cNvSpPr/>
          <p:nvPr/>
        </p:nvSpPr>
        <p:spPr>
          <a:xfrm>
            <a:off x="5486400" y="5074920"/>
            <a:ext cx="5897880" cy="749808"/>
          </a:xfrm>
          <a:prstGeom prst="rect">
            <a:avLst/>
          </a:prstGeom>
          <a:noFill/>
          <a:ln/>
        </p:spPr>
        <p:txBody>
          <a:bodyPr wrap="square" lIns="0" tIns="0" rIns="0" bIns="0" rtlCol="0" anchor="ctr"/>
          <a:lstStyle/>
          <a:p>
            <a:pPr indent="0" marL="0">
              <a:buNone/>
            </a:pPr>
            <a:r>
              <a:rPr lang="en-US" sz="1450" dirty="0">
                <a:solidFill>
                  <a:srgbClr val="E6E8EF"/>
                </a:solidFill>
                <a:latin typeface="Palatino Linotype" pitchFamily="34" charset="0"/>
                <a:ea typeface="Palatino Linotype" pitchFamily="34" charset="-122"/>
                <a:cs typeface="Palatino Linotype" pitchFamily="34" charset="-120"/>
              </a:rPr>
              <a:t>nu primesc recuperare în județ după externare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DECIZIA 1</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Cine este concurentul Spitalului A?</a:t>
            </a:r>
            <a:endParaRPr lang="en-US" sz="3100" dirty="0"/>
          </a:p>
        </p:txBody>
      </p:sp>
      <p:sp>
        <p:nvSpPr>
          <p:cNvPr id="6" name="Shape 4"/>
          <p:cNvSpPr/>
          <p:nvPr/>
        </p:nvSpPr>
        <p:spPr>
          <a:xfrm>
            <a:off x="594360" y="1828800"/>
            <a:ext cx="10972800" cy="713232"/>
          </a:xfrm>
          <a:prstGeom prst="roundRect">
            <a:avLst>
              <a:gd name="adj" fmla="val 11538"/>
            </a:avLst>
          </a:prstGeom>
          <a:solidFill>
            <a:srgbClr val="1D1F2B"/>
          </a:solidFill>
          <a:ln w="12700">
            <a:solidFill>
              <a:srgbClr val="1D1F2B"/>
            </a:solidFill>
            <a:prstDash val="solid"/>
          </a:ln>
        </p:spPr>
      </p:sp>
      <p:sp>
        <p:nvSpPr>
          <p:cNvPr id="7" name="Shape 5"/>
          <p:cNvSpPr/>
          <p:nvPr/>
        </p:nvSpPr>
        <p:spPr>
          <a:xfrm>
            <a:off x="868680" y="1975104"/>
            <a:ext cx="420624" cy="420624"/>
          </a:xfrm>
          <a:prstGeom prst="ellipse">
            <a:avLst/>
          </a:prstGeom>
          <a:solidFill>
            <a:srgbClr val="FFC24B"/>
          </a:solidFill>
          <a:ln/>
        </p:spPr>
      </p:sp>
      <p:sp>
        <p:nvSpPr>
          <p:cNvPr id="8" name="Text 6"/>
          <p:cNvSpPr/>
          <p:nvPr/>
        </p:nvSpPr>
        <p:spPr>
          <a:xfrm>
            <a:off x="868680" y="1975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828800"/>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Toate unitățile sanitare de pe lista directorului medical</a:t>
            </a:r>
            <a:endParaRPr lang="en-US" sz="1900" dirty="0"/>
          </a:p>
        </p:txBody>
      </p:sp>
      <p:sp>
        <p:nvSpPr>
          <p:cNvPr id="10" name="Shape 8"/>
          <p:cNvSpPr/>
          <p:nvPr/>
        </p:nvSpPr>
        <p:spPr>
          <a:xfrm>
            <a:off x="594360" y="2670048"/>
            <a:ext cx="10972800" cy="713232"/>
          </a:xfrm>
          <a:prstGeom prst="roundRect">
            <a:avLst>
              <a:gd name="adj" fmla="val 11538"/>
            </a:avLst>
          </a:prstGeom>
          <a:solidFill>
            <a:srgbClr val="1D1F2B"/>
          </a:solidFill>
          <a:ln w="12700">
            <a:solidFill>
              <a:srgbClr val="1D1F2B"/>
            </a:solidFill>
            <a:prstDash val="solid"/>
          </a:ln>
        </p:spPr>
      </p:sp>
      <p:sp>
        <p:nvSpPr>
          <p:cNvPr id="11" name="Shape 9"/>
          <p:cNvSpPr/>
          <p:nvPr/>
        </p:nvSpPr>
        <p:spPr>
          <a:xfrm>
            <a:off x="868680" y="2816352"/>
            <a:ext cx="420624" cy="420624"/>
          </a:xfrm>
          <a:prstGeom prst="ellipse">
            <a:avLst/>
          </a:prstGeom>
          <a:solidFill>
            <a:srgbClr val="FFC24B"/>
          </a:solidFill>
          <a:ln/>
        </p:spPr>
      </p:sp>
      <p:sp>
        <p:nvSpPr>
          <p:cNvPr id="12" name="Text 10"/>
          <p:cNvSpPr/>
          <p:nvPr/>
        </p:nvSpPr>
        <p:spPr>
          <a:xfrm>
            <a:off x="868680" y="28163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670048"/>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Rețeaua privată C, pe toate liniile</a:t>
            </a:r>
            <a:endParaRPr lang="en-US" sz="1900" dirty="0"/>
          </a:p>
        </p:txBody>
      </p:sp>
      <p:sp>
        <p:nvSpPr>
          <p:cNvPr id="14" name="Shape 12"/>
          <p:cNvSpPr/>
          <p:nvPr/>
        </p:nvSpPr>
        <p:spPr>
          <a:xfrm>
            <a:off x="594360" y="3511296"/>
            <a:ext cx="10972800" cy="713232"/>
          </a:xfrm>
          <a:prstGeom prst="roundRect">
            <a:avLst>
              <a:gd name="adj" fmla="val 11538"/>
            </a:avLst>
          </a:prstGeom>
          <a:solidFill>
            <a:srgbClr val="1D1F2B"/>
          </a:solidFill>
          <a:ln w="12700">
            <a:solidFill>
              <a:srgbClr val="1D1F2B"/>
            </a:solidFill>
            <a:prstDash val="solid"/>
          </a:ln>
        </p:spPr>
      </p:sp>
      <p:sp>
        <p:nvSpPr>
          <p:cNvPr id="15" name="Shape 13"/>
          <p:cNvSpPr/>
          <p:nvPr/>
        </p:nvSpPr>
        <p:spPr>
          <a:xfrm>
            <a:off x="868680" y="3657600"/>
            <a:ext cx="420624" cy="420624"/>
          </a:xfrm>
          <a:prstGeom prst="ellipse">
            <a:avLst/>
          </a:prstGeom>
          <a:solidFill>
            <a:srgbClr val="FFC24B"/>
          </a:solidFill>
          <a:ln/>
        </p:spPr>
      </p:sp>
      <p:sp>
        <p:nvSpPr>
          <p:cNvPr id="16" name="Text 14"/>
          <p:cNvSpPr/>
          <p:nvPr/>
        </p:nvSpPr>
        <p:spPr>
          <a:xfrm>
            <a:off x="868680" y="3657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511296"/>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Depinde de linia de servicii</a:t>
            </a:r>
            <a:endParaRPr lang="en-US" sz="1900" dirty="0"/>
          </a:p>
        </p:txBody>
      </p:sp>
      <p:sp>
        <p:nvSpPr>
          <p:cNvPr id="18" name="Shape 16"/>
          <p:cNvSpPr/>
          <p:nvPr/>
        </p:nvSpPr>
        <p:spPr>
          <a:xfrm>
            <a:off x="594360" y="4352544"/>
            <a:ext cx="10972800" cy="713232"/>
          </a:xfrm>
          <a:prstGeom prst="roundRect">
            <a:avLst>
              <a:gd name="adj" fmla="val 11538"/>
            </a:avLst>
          </a:prstGeom>
          <a:solidFill>
            <a:srgbClr val="1D1F2B"/>
          </a:solidFill>
          <a:ln w="12700">
            <a:solidFill>
              <a:srgbClr val="1D1F2B"/>
            </a:solidFill>
            <a:prstDash val="solid"/>
          </a:ln>
        </p:spPr>
      </p:sp>
      <p:sp>
        <p:nvSpPr>
          <p:cNvPr id="19" name="Shape 17"/>
          <p:cNvSpPr/>
          <p:nvPr/>
        </p:nvSpPr>
        <p:spPr>
          <a:xfrm>
            <a:off x="868680" y="4498848"/>
            <a:ext cx="420624" cy="420624"/>
          </a:xfrm>
          <a:prstGeom prst="ellipse">
            <a:avLst/>
          </a:prstGeom>
          <a:solidFill>
            <a:srgbClr val="FFC24B"/>
          </a:solidFill>
          <a:ln/>
        </p:spPr>
      </p:sp>
      <p:sp>
        <p:nvSpPr>
          <p:cNvPr id="20" name="Text 18"/>
          <p:cNvSpPr/>
          <p:nvPr/>
        </p:nvSpPr>
        <p:spPr>
          <a:xfrm>
            <a:off x="868680" y="4498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4352544"/>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Un spital public nu are concurenți</a:t>
            </a:r>
            <a:endParaRPr lang="en-US" sz="1900" dirty="0"/>
          </a:p>
        </p:txBody>
      </p:sp>
      <p:sp>
        <p:nvSpPr>
          <p:cNvPr id="22" name="Text 20"/>
          <p:cNvSpPr/>
          <p:nvPr/>
        </p:nvSpPr>
        <p:spPr>
          <a:xfrm>
            <a:off x="594360" y="5376672"/>
            <a:ext cx="10972800" cy="4572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Vot individual, fără discuție. Rezultatele rămân ascunse.</a:t>
            </a:r>
            <a:endParaRPr lang="en-US" sz="1700" dirty="0"/>
          </a:p>
        </p:txBody>
      </p:sp>
      <p:sp>
        <p:nvSpPr>
          <p:cNvPr id="23" name="Text 21"/>
          <p:cNvSpPr/>
          <p:nvPr/>
        </p:nvSpPr>
        <p:spPr>
          <a:xfrm>
            <a:off x="594360" y="57607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REVOT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DECIZIA 1 · DUPĂ DISCUȚIE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Convingeți-l pe colegul care a votat altfel</a:t>
            </a:r>
            <a:endParaRPr lang="en-US" sz="3000" dirty="0"/>
          </a:p>
        </p:txBody>
      </p:sp>
      <p:sp>
        <p:nvSpPr>
          <p:cNvPr id="6" name="Text 4"/>
          <p:cNvSpPr/>
          <p:nvPr/>
        </p:nvSpPr>
        <p:spPr>
          <a:xfrm>
            <a:off x="594360" y="1600200"/>
            <a:ext cx="10972800" cy="73152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Două minute cu colegul de bancă. Apoi votați din nou: cine este concurentul Spitalului A?</a:t>
            </a:r>
            <a:endParaRPr lang="en-US" sz="1800" dirty="0"/>
          </a:p>
        </p:txBody>
      </p:sp>
      <p:sp>
        <p:nvSpPr>
          <p:cNvPr id="7" name="Shape 5"/>
          <p:cNvSpPr/>
          <p:nvPr/>
        </p:nvSpPr>
        <p:spPr>
          <a:xfrm>
            <a:off x="594360" y="2514600"/>
            <a:ext cx="5349240" cy="3017520"/>
          </a:xfrm>
          <a:prstGeom prst="roundRect">
            <a:avLst>
              <a:gd name="adj" fmla="val 2727"/>
            </a:avLst>
          </a:prstGeom>
          <a:solidFill>
            <a:srgbClr val="1D1F2B"/>
          </a:solidFill>
          <a:ln w="12700">
            <a:solidFill>
              <a:srgbClr val="1D1F2B"/>
            </a:solidFill>
            <a:prstDash val="solid"/>
          </a:ln>
        </p:spPr>
      </p:sp>
      <p:sp>
        <p:nvSpPr>
          <p:cNvPr id="8" name="Text 6"/>
          <p:cNvSpPr/>
          <p:nvPr/>
        </p:nvSpPr>
        <p:spPr>
          <a:xfrm>
            <a:off x="868680" y="2670048"/>
            <a:ext cx="4846320" cy="32004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PRIMUL VOT</a:t>
            </a:r>
            <a:endParaRPr lang="en-US" sz="1300" dirty="0"/>
          </a:p>
        </p:txBody>
      </p:sp>
      <p:sp>
        <p:nvSpPr>
          <p:cNvPr id="9" name="Text 7"/>
          <p:cNvSpPr/>
          <p:nvPr/>
        </p:nvSpPr>
        <p:spPr>
          <a:xfrm>
            <a:off x="868680" y="315468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A</a:t>
            </a:r>
            <a:endParaRPr lang="en-US" sz="1600" dirty="0"/>
          </a:p>
        </p:txBody>
      </p:sp>
      <p:sp>
        <p:nvSpPr>
          <p:cNvPr id="10" name="Shape 8"/>
          <p:cNvSpPr/>
          <p:nvPr/>
        </p:nvSpPr>
        <p:spPr>
          <a:xfrm>
            <a:off x="1325880" y="3246120"/>
            <a:ext cx="4297680" cy="237744"/>
          </a:xfrm>
          <a:prstGeom prst="rect">
            <a:avLst/>
          </a:prstGeom>
          <a:solidFill>
            <a:srgbClr val="272A38"/>
          </a:solidFill>
          <a:ln w="12700">
            <a:solidFill>
              <a:srgbClr val="272A38"/>
            </a:solidFill>
            <a:prstDash val="solid"/>
          </a:ln>
        </p:spPr>
      </p:sp>
      <p:sp>
        <p:nvSpPr>
          <p:cNvPr id="11" name="Text 9"/>
          <p:cNvSpPr/>
          <p:nvPr/>
        </p:nvSpPr>
        <p:spPr>
          <a:xfrm>
            <a:off x="868680" y="370332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B</a:t>
            </a:r>
            <a:endParaRPr lang="en-US" sz="1600" dirty="0"/>
          </a:p>
        </p:txBody>
      </p:sp>
      <p:sp>
        <p:nvSpPr>
          <p:cNvPr id="12" name="Shape 10"/>
          <p:cNvSpPr/>
          <p:nvPr/>
        </p:nvSpPr>
        <p:spPr>
          <a:xfrm>
            <a:off x="1325880" y="3794760"/>
            <a:ext cx="4297680" cy="237744"/>
          </a:xfrm>
          <a:prstGeom prst="rect">
            <a:avLst/>
          </a:prstGeom>
          <a:solidFill>
            <a:srgbClr val="272A38"/>
          </a:solidFill>
          <a:ln w="12700">
            <a:solidFill>
              <a:srgbClr val="272A38"/>
            </a:solidFill>
            <a:prstDash val="solid"/>
          </a:ln>
        </p:spPr>
      </p:sp>
      <p:sp>
        <p:nvSpPr>
          <p:cNvPr id="13" name="Text 11"/>
          <p:cNvSpPr/>
          <p:nvPr/>
        </p:nvSpPr>
        <p:spPr>
          <a:xfrm>
            <a:off x="868680" y="425196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C</a:t>
            </a:r>
            <a:endParaRPr lang="en-US" sz="1600" dirty="0"/>
          </a:p>
        </p:txBody>
      </p:sp>
      <p:sp>
        <p:nvSpPr>
          <p:cNvPr id="14" name="Shape 12"/>
          <p:cNvSpPr/>
          <p:nvPr/>
        </p:nvSpPr>
        <p:spPr>
          <a:xfrm>
            <a:off x="1325880" y="4343400"/>
            <a:ext cx="4297680" cy="237744"/>
          </a:xfrm>
          <a:prstGeom prst="rect">
            <a:avLst/>
          </a:prstGeom>
          <a:solidFill>
            <a:srgbClr val="272A38"/>
          </a:solidFill>
          <a:ln w="12700">
            <a:solidFill>
              <a:srgbClr val="272A38"/>
            </a:solidFill>
            <a:prstDash val="solid"/>
          </a:ln>
        </p:spPr>
      </p:sp>
      <p:sp>
        <p:nvSpPr>
          <p:cNvPr id="15" name="Text 13"/>
          <p:cNvSpPr/>
          <p:nvPr/>
        </p:nvSpPr>
        <p:spPr>
          <a:xfrm>
            <a:off x="868680" y="480060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D</a:t>
            </a:r>
            <a:endParaRPr lang="en-US" sz="1600" dirty="0"/>
          </a:p>
        </p:txBody>
      </p:sp>
      <p:sp>
        <p:nvSpPr>
          <p:cNvPr id="16" name="Shape 14"/>
          <p:cNvSpPr/>
          <p:nvPr/>
        </p:nvSpPr>
        <p:spPr>
          <a:xfrm>
            <a:off x="1325880" y="4892040"/>
            <a:ext cx="4297680" cy="237744"/>
          </a:xfrm>
          <a:prstGeom prst="rect">
            <a:avLst/>
          </a:prstGeom>
          <a:solidFill>
            <a:srgbClr val="272A38"/>
          </a:solidFill>
          <a:ln w="12700">
            <a:solidFill>
              <a:srgbClr val="272A38"/>
            </a:solidFill>
            <a:prstDash val="solid"/>
          </a:ln>
        </p:spPr>
      </p:sp>
      <p:sp>
        <p:nvSpPr>
          <p:cNvPr id="17" name="Shape 15"/>
          <p:cNvSpPr/>
          <p:nvPr/>
        </p:nvSpPr>
        <p:spPr>
          <a:xfrm>
            <a:off x="6217920" y="2514600"/>
            <a:ext cx="5349240" cy="3017520"/>
          </a:xfrm>
          <a:prstGeom prst="roundRect">
            <a:avLst>
              <a:gd name="adj" fmla="val 2727"/>
            </a:avLst>
          </a:prstGeom>
          <a:solidFill>
            <a:srgbClr val="1D1F2B"/>
          </a:solidFill>
          <a:ln w="12700">
            <a:solidFill>
              <a:srgbClr val="1D1F2B"/>
            </a:solidFill>
            <a:prstDash val="solid"/>
          </a:ln>
        </p:spPr>
      </p:sp>
      <p:sp>
        <p:nvSpPr>
          <p:cNvPr id="18" name="Text 16"/>
          <p:cNvSpPr/>
          <p:nvPr/>
        </p:nvSpPr>
        <p:spPr>
          <a:xfrm>
            <a:off x="6492240" y="2670048"/>
            <a:ext cx="4846320" cy="32004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REVOTUL, DUPĂ DISCUȚIE</a:t>
            </a:r>
            <a:endParaRPr lang="en-US" sz="1300" dirty="0"/>
          </a:p>
        </p:txBody>
      </p:sp>
      <p:sp>
        <p:nvSpPr>
          <p:cNvPr id="19" name="Text 17"/>
          <p:cNvSpPr/>
          <p:nvPr/>
        </p:nvSpPr>
        <p:spPr>
          <a:xfrm>
            <a:off x="6492240" y="315468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A</a:t>
            </a:r>
            <a:endParaRPr lang="en-US" sz="1600" dirty="0"/>
          </a:p>
        </p:txBody>
      </p:sp>
      <p:sp>
        <p:nvSpPr>
          <p:cNvPr id="20" name="Shape 18"/>
          <p:cNvSpPr/>
          <p:nvPr/>
        </p:nvSpPr>
        <p:spPr>
          <a:xfrm>
            <a:off x="6949440" y="3246120"/>
            <a:ext cx="4297680" cy="237744"/>
          </a:xfrm>
          <a:prstGeom prst="rect">
            <a:avLst/>
          </a:prstGeom>
          <a:solidFill>
            <a:srgbClr val="272A38"/>
          </a:solidFill>
          <a:ln w="12700">
            <a:solidFill>
              <a:srgbClr val="272A38"/>
            </a:solidFill>
            <a:prstDash val="solid"/>
          </a:ln>
        </p:spPr>
      </p:sp>
      <p:sp>
        <p:nvSpPr>
          <p:cNvPr id="21" name="Text 19"/>
          <p:cNvSpPr/>
          <p:nvPr/>
        </p:nvSpPr>
        <p:spPr>
          <a:xfrm>
            <a:off x="6492240" y="370332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B</a:t>
            </a:r>
            <a:endParaRPr lang="en-US" sz="1600" dirty="0"/>
          </a:p>
        </p:txBody>
      </p:sp>
      <p:sp>
        <p:nvSpPr>
          <p:cNvPr id="22" name="Shape 20"/>
          <p:cNvSpPr/>
          <p:nvPr/>
        </p:nvSpPr>
        <p:spPr>
          <a:xfrm>
            <a:off x="6949440" y="3794760"/>
            <a:ext cx="4297680" cy="237744"/>
          </a:xfrm>
          <a:prstGeom prst="rect">
            <a:avLst/>
          </a:prstGeom>
          <a:solidFill>
            <a:srgbClr val="272A38"/>
          </a:solidFill>
          <a:ln w="12700">
            <a:solidFill>
              <a:srgbClr val="272A38"/>
            </a:solidFill>
            <a:prstDash val="solid"/>
          </a:ln>
        </p:spPr>
      </p:sp>
      <p:sp>
        <p:nvSpPr>
          <p:cNvPr id="23" name="Text 21"/>
          <p:cNvSpPr/>
          <p:nvPr/>
        </p:nvSpPr>
        <p:spPr>
          <a:xfrm>
            <a:off x="6492240" y="425196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C</a:t>
            </a:r>
            <a:endParaRPr lang="en-US" sz="1600" dirty="0"/>
          </a:p>
        </p:txBody>
      </p:sp>
      <p:sp>
        <p:nvSpPr>
          <p:cNvPr id="24" name="Shape 22"/>
          <p:cNvSpPr/>
          <p:nvPr/>
        </p:nvSpPr>
        <p:spPr>
          <a:xfrm>
            <a:off x="6949440" y="4343400"/>
            <a:ext cx="4297680" cy="237744"/>
          </a:xfrm>
          <a:prstGeom prst="rect">
            <a:avLst/>
          </a:prstGeom>
          <a:solidFill>
            <a:srgbClr val="272A38"/>
          </a:solidFill>
          <a:ln w="12700">
            <a:solidFill>
              <a:srgbClr val="272A38"/>
            </a:solidFill>
            <a:prstDash val="solid"/>
          </a:ln>
        </p:spPr>
      </p:sp>
      <p:sp>
        <p:nvSpPr>
          <p:cNvPr id="25" name="Text 23"/>
          <p:cNvSpPr/>
          <p:nvPr/>
        </p:nvSpPr>
        <p:spPr>
          <a:xfrm>
            <a:off x="6492240" y="480060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D</a:t>
            </a:r>
            <a:endParaRPr lang="en-US" sz="1600" dirty="0"/>
          </a:p>
        </p:txBody>
      </p:sp>
      <p:sp>
        <p:nvSpPr>
          <p:cNvPr id="26" name="Shape 24"/>
          <p:cNvSpPr/>
          <p:nvPr/>
        </p:nvSpPr>
        <p:spPr>
          <a:xfrm>
            <a:off x="6949440" y="4892040"/>
            <a:ext cx="4297680" cy="237744"/>
          </a:xfrm>
          <a:prstGeom prst="rect">
            <a:avLst/>
          </a:prstGeom>
          <a:solidFill>
            <a:srgbClr val="272A38"/>
          </a:solidFill>
          <a:ln w="12700">
            <a:solidFill>
              <a:srgbClr val="272A38"/>
            </a:solidFill>
            <a:prstDash val="solid"/>
          </a:ln>
        </p:spPr>
      </p:sp>
      <p:sp>
        <p:nvSpPr>
          <p:cNvPr id="27" name="Text 25"/>
          <p:cNvSpPr/>
          <p:nvPr/>
        </p:nvSpPr>
        <p:spPr>
          <a:xfrm>
            <a:off x="594360" y="57607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SPUNE MANUALUL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Depinde de linia de servicii</a:t>
            </a:r>
            <a:endParaRPr lang="en-US" sz="3200" dirty="0"/>
          </a:p>
        </p:txBody>
      </p:sp>
      <p:sp>
        <p:nvSpPr>
          <p:cNvPr id="4" name="Shape 2"/>
          <p:cNvSpPr/>
          <p:nvPr/>
        </p:nvSpPr>
        <p:spPr>
          <a:xfrm>
            <a:off x="594360" y="1554480"/>
            <a:ext cx="10972800" cy="960120"/>
          </a:xfrm>
          <a:prstGeom prst="roundRect">
            <a:avLst>
              <a:gd name="adj" fmla="val 8571"/>
            </a:avLst>
          </a:prstGeom>
          <a:solidFill>
            <a:srgbClr val="07564B"/>
          </a:solidFill>
          <a:ln w="12700">
            <a:solidFill>
              <a:srgbClr val="07564B"/>
            </a:solidFill>
            <a:prstDash val="solid"/>
          </a:ln>
        </p:spPr>
      </p:sp>
      <p:sp>
        <p:nvSpPr>
          <p:cNvPr id="5" name="Text 3"/>
          <p:cNvSpPr/>
          <p:nvPr/>
        </p:nvSpPr>
        <p:spPr>
          <a:xfrm>
            <a:off x="868680" y="1554480"/>
            <a:ext cx="10424160" cy="96012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Piața relevantă: o linie de servicii definită precis, într-o arie anume, într-o perioadă anume.</a:t>
            </a:r>
            <a:endParaRPr lang="en-US" sz="1800" dirty="0"/>
          </a:p>
        </p:txBody>
      </p:sp>
      <p:sp>
        <p:nvSpPr>
          <p:cNvPr id="6" name="Shape 4"/>
          <p:cNvSpPr/>
          <p:nvPr/>
        </p:nvSpPr>
        <p:spPr>
          <a:xfrm>
            <a:off x="594360" y="2743200"/>
            <a:ext cx="10972800" cy="530352"/>
          </a:xfrm>
          <a:prstGeom prst="roundRect">
            <a:avLst>
              <a:gd name="adj" fmla="val 15517"/>
            </a:avLst>
          </a:prstGeom>
          <a:solidFill>
            <a:srgbClr val="ECEAE4"/>
          </a:solidFill>
          <a:ln w="12700">
            <a:solidFill>
              <a:srgbClr val="ECEAE4"/>
            </a:solidFill>
            <a:prstDash val="solid"/>
          </a:ln>
        </p:spPr>
      </p:sp>
      <p:sp>
        <p:nvSpPr>
          <p:cNvPr id="7" name="Text 5"/>
          <p:cNvSpPr/>
          <p:nvPr/>
        </p:nvSpPr>
        <p:spPr>
          <a:xfrm>
            <a:off x="868680" y="2743200"/>
            <a:ext cx="4023360" cy="530352"/>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Examenele RMN</a:t>
            </a:r>
            <a:endParaRPr lang="en-US" sz="1500" dirty="0"/>
          </a:p>
        </p:txBody>
      </p:sp>
      <p:sp>
        <p:nvSpPr>
          <p:cNvPr id="8" name="Text 6"/>
          <p:cNvSpPr/>
          <p:nvPr/>
        </p:nvSpPr>
        <p:spPr>
          <a:xfrm>
            <a:off x="5029200" y="2743200"/>
            <a:ext cx="6400800" cy="530352"/>
          </a:xfrm>
          <a:prstGeom prst="rect">
            <a:avLst/>
          </a:prstGeom>
          <a:noFill/>
          <a:ln/>
        </p:spPr>
        <p:txBody>
          <a:bodyPr wrap="square" lIns="0" tIns="0" rIns="0" bIns="0" rtlCol="0" anchor="ctr"/>
          <a:lstStyle/>
          <a:p>
            <a:pPr indent="0" marL="0">
              <a:buNone/>
            </a:pPr>
            <a:r>
              <a:rPr lang="en-US" sz="1500" dirty="0">
                <a:solidFill>
                  <a:srgbClr val="0E7C6B"/>
                </a:solidFill>
                <a:latin typeface="Palatino Linotype" pitchFamily="34" charset="0"/>
                <a:ea typeface="Palatino Linotype" pitchFamily="34" charset="-122"/>
                <a:cs typeface="Palatino Linotype" pitchFamily="34" charset="-120"/>
              </a:rPr>
              <a:t>Rețeaua privată C</a:t>
            </a:r>
            <a:endParaRPr lang="en-US" sz="1500" dirty="0"/>
          </a:p>
        </p:txBody>
      </p:sp>
      <p:sp>
        <p:nvSpPr>
          <p:cNvPr id="9" name="Shape 7"/>
          <p:cNvSpPr/>
          <p:nvPr/>
        </p:nvSpPr>
        <p:spPr>
          <a:xfrm>
            <a:off x="594360" y="3364992"/>
            <a:ext cx="10972800" cy="530352"/>
          </a:xfrm>
          <a:prstGeom prst="roundRect">
            <a:avLst>
              <a:gd name="adj" fmla="val 15517"/>
            </a:avLst>
          </a:prstGeom>
          <a:solidFill>
            <a:srgbClr val="F9F8F5"/>
          </a:solidFill>
          <a:ln w="12700">
            <a:solidFill>
              <a:srgbClr val="F9F8F5"/>
            </a:solidFill>
            <a:prstDash val="solid"/>
          </a:ln>
        </p:spPr>
      </p:sp>
      <p:sp>
        <p:nvSpPr>
          <p:cNvPr id="10" name="Text 8"/>
          <p:cNvSpPr/>
          <p:nvPr/>
        </p:nvSpPr>
        <p:spPr>
          <a:xfrm>
            <a:off x="868680" y="3364992"/>
            <a:ext cx="4023360" cy="530352"/>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Chirurgia de o zi</a:t>
            </a:r>
            <a:endParaRPr lang="en-US" sz="1500" dirty="0"/>
          </a:p>
        </p:txBody>
      </p:sp>
      <p:sp>
        <p:nvSpPr>
          <p:cNvPr id="11" name="Text 9"/>
          <p:cNvSpPr/>
          <p:nvPr/>
        </p:nvSpPr>
        <p:spPr>
          <a:xfrm>
            <a:off x="5029200" y="3364992"/>
            <a:ext cx="6400800" cy="530352"/>
          </a:xfrm>
          <a:prstGeom prst="rect">
            <a:avLst/>
          </a:prstGeom>
          <a:noFill/>
          <a:ln/>
        </p:spPr>
        <p:txBody>
          <a:bodyPr wrap="square" lIns="0" tIns="0" rIns="0" bIns="0" rtlCol="0" anchor="ctr"/>
          <a:lstStyle/>
          <a:p>
            <a:pPr indent="0" marL="0">
              <a:buNone/>
            </a:pPr>
            <a:r>
              <a:rPr lang="en-US" sz="1500" dirty="0">
                <a:solidFill>
                  <a:srgbClr val="0E7C6B"/>
                </a:solidFill>
                <a:latin typeface="Palatino Linotype" pitchFamily="34" charset="0"/>
                <a:ea typeface="Palatino Linotype" pitchFamily="34" charset="-122"/>
                <a:cs typeface="Palatino Linotype" pitchFamily="34" charset="-120"/>
              </a:rPr>
              <a:t>cele două ambulatorii private</a:t>
            </a:r>
            <a:endParaRPr lang="en-US" sz="1500" dirty="0"/>
          </a:p>
        </p:txBody>
      </p:sp>
      <p:sp>
        <p:nvSpPr>
          <p:cNvPr id="12" name="Shape 10"/>
          <p:cNvSpPr/>
          <p:nvPr/>
        </p:nvSpPr>
        <p:spPr>
          <a:xfrm>
            <a:off x="594360" y="3986784"/>
            <a:ext cx="10972800" cy="530352"/>
          </a:xfrm>
          <a:prstGeom prst="roundRect">
            <a:avLst>
              <a:gd name="adj" fmla="val 15517"/>
            </a:avLst>
          </a:prstGeom>
          <a:solidFill>
            <a:srgbClr val="ECEAE4"/>
          </a:solidFill>
          <a:ln w="12700">
            <a:solidFill>
              <a:srgbClr val="ECEAE4"/>
            </a:solidFill>
            <a:prstDash val="solid"/>
          </a:ln>
        </p:spPr>
      </p:sp>
      <p:sp>
        <p:nvSpPr>
          <p:cNvPr id="13" name="Text 11"/>
          <p:cNvSpPr/>
          <p:nvPr/>
        </p:nvSpPr>
        <p:spPr>
          <a:xfrm>
            <a:off x="868680" y="3986784"/>
            <a:ext cx="4023360" cy="530352"/>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Radioterapia</a:t>
            </a:r>
            <a:endParaRPr lang="en-US" sz="1500" dirty="0"/>
          </a:p>
        </p:txBody>
      </p:sp>
      <p:sp>
        <p:nvSpPr>
          <p:cNvPr id="14" name="Text 12"/>
          <p:cNvSpPr/>
          <p:nvPr/>
        </p:nvSpPr>
        <p:spPr>
          <a:xfrm>
            <a:off x="5029200" y="3986784"/>
            <a:ext cx="6400800" cy="530352"/>
          </a:xfrm>
          <a:prstGeom prst="rect">
            <a:avLst/>
          </a:prstGeom>
          <a:noFill/>
          <a:ln/>
        </p:spPr>
        <p:txBody>
          <a:bodyPr wrap="square" lIns="0" tIns="0" rIns="0" bIns="0" rtlCol="0" anchor="ctr"/>
          <a:lstStyle/>
          <a:p>
            <a:pPr indent="0" marL="0">
              <a:buNone/>
            </a:pPr>
            <a:r>
              <a:rPr lang="en-US" sz="1500" dirty="0">
                <a:solidFill>
                  <a:srgbClr val="0E7C6B"/>
                </a:solidFill>
                <a:latin typeface="Palatino Linotype" pitchFamily="34" charset="0"/>
                <a:ea typeface="Palatino Linotype" pitchFamily="34" charset="-122"/>
                <a:cs typeface="Palatino Linotype" pitchFamily="34" charset="-120"/>
              </a:rPr>
              <a:t>centrul regional E, sau un partener posibil</a:t>
            </a:r>
            <a:endParaRPr lang="en-US" sz="1500" dirty="0"/>
          </a:p>
        </p:txBody>
      </p:sp>
      <p:sp>
        <p:nvSpPr>
          <p:cNvPr id="15" name="Shape 13"/>
          <p:cNvSpPr/>
          <p:nvPr/>
        </p:nvSpPr>
        <p:spPr>
          <a:xfrm>
            <a:off x="594360" y="4608576"/>
            <a:ext cx="10972800" cy="530352"/>
          </a:xfrm>
          <a:prstGeom prst="roundRect">
            <a:avLst>
              <a:gd name="adj" fmla="val 15517"/>
            </a:avLst>
          </a:prstGeom>
          <a:solidFill>
            <a:srgbClr val="F9F8F5"/>
          </a:solidFill>
          <a:ln w="12700">
            <a:solidFill>
              <a:srgbClr val="F9F8F5"/>
            </a:solidFill>
            <a:prstDash val="solid"/>
          </a:ln>
        </p:spPr>
      </p:sp>
      <p:sp>
        <p:nvSpPr>
          <p:cNvPr id="16" name="Text 14"/>
          <p:cNvSpPr/>
          <p:nvPr/>
        </p:nvSpPr>
        <p:spPr>
          <a:xfrm>
            <a:off x="868680" y="4608576"/>
            <a:ext cx="4023360" cy="530352"/>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Cardiologia intervențională</a:t>
            </a:r>
            <a:endParaRPr lang="en-US" sz="1500" dirty="0"/>
          </a:p>
        </p:txBody>
      </p:sp>
      <p:sp>
        <p:nvSpPr>
          <p:cNvPr id="17" name="Text 15"/>
          <p:cNvSpPr/>
          <p:nvPr/>
        </p:nvSpPr>
        <p:spPr>
          <a:xfrm>
            <a:off x="5029200" y="4608576"/>
            <a:ext cx="6400800" cy="530352"/>
          </a:xfrm>
          <a:prstGeom prst="rect">
            <a:avLst/>
          </a:prstGeom>
          <a:noFill/>
          <a:ln/>
        </p:spPr>
        <p:txBody>
          <a:bodyPr wrap="square" lIns="0" tIns="0" rIns="0" bIns="0" rtlCol="0" anchor="ctr"/>
          <a:lstStyle/>
          <a:p>
            <a:pPr indent="0" marL="0">
              <a:buNone/>
            </a:pPr>
            <a:r>
              <a:rPr lang="en-US" sz="1500" dirty="0">
                <a:solidFill>
                  <a:srgbClr val="0E7C6B"/>
                </a:solidFill>
                <a:latin typeface="Palatino Linotype" pitchFamily="34" charset="0"/>
                <a:ea typeface="Palatino Linotype" pitchFamily="34" charset="-122"/>
                <a:cs typeface="Palatino Linotype" pitchFamily="34" charset="-120"/>
              </a:rPr>
              <a:t>niciun concurent în județ</a:t>
            </a:r>
            <a:endParaRPr lang="en-US" sz="1500" dirty="0"/>
          </a:p>
        </p:txBody>
      </p:sp>
      <p:sp>
        <p:nvSpPr>
          <p:cNvPr id="18" name="Shape 16"/>
          <p:cNvSpPr/>
          <p:nvPr/>
        </p:nvSpPr>
        <p:spPr>
          <a:xfrm>
            <a:off x="594360" y="5230368"/>
            <a:ext cx="10972800" cy="530352"/>
          </a:xfrm>
          <a:prstGeom prst="roundRect">
            <a:avLst>
              <a:gd name="adj" fmla="val 15517"/>
            </a:avLst>
          </a:prstGeom>
          <a:solidFill>
            <a:srgbClr val="ECEAE4"/>
          </a:solidFill>
          <a:ln w="12700">
            <a:solidFill>
              <a:srgbClr val="ECEAE4"/>
            </a:solidFill>
            <a:prstDash val="solid"/>
          </a:ln>
        </p:spPr>
      </p:sp>
      <p:sp>
        <p:nvSpPr>
          <p:cNvPr id="19" name="Text 17"/>
          <p:cNvSpPr/>
          <p:nvPr/>
        </p:nvSpPr>
        <p:spPr>
          <a:xfrm>
            <a:off x="868680" y="5230368"/>
            <a:ext cx="4023360" cy="530352"/>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Recuperarea</a:t>
            </a:r>
            <a:endParaRPr lang="en-US" sz="1500" dirty="0"/>
          </a:p>
        </p:txBody>
      </p:sp>
      <p:sp>
        <p:nvSpPr>
          <p:cNvPr id="20" name="Text 18"/>
          <p:cNvSpPr/>
          <p:nvPr/>
        </p:nvSpPr>
        <p:spPr>
          <a:xfrm>
            <a:off x="5029200" y="5230368"/>
            <a:ext cx="6400800" cy="530352"/>
          </a:xfrm>
          <a:prstGeom prst="rect">
            <a:avLst/>
          </a:prstGeom>
          <a:noFill/>
          <a:ln/>
        </p:spPr>
        <p:txBody>
          <a:bodyPr wrap="square" lIns="0" tIns="0" rIns="0" bIns="0" rtlCol="0" anchor="ctr"/>
          <a:lstStyle/>
          <a:p>
            <a:pPr indent="0" marL="0">
              <a:buNone/>
            </a:pPr>
            <a:r>
              <a:rPr lang="en-US" sz="1500" dirty="0">
                <a:solidFill>
                  <a:srgbClr val="0E7C6B"/>
                </a:solidFill>
                <a:latin typeface="Palatino Linotype" pitchFamily="34" charset="0"/>
                <a:ea typeface="Palatino Linotype" pitchFamily="34" charset="-122"/>
                <a:cs typeface="Palatino Linotype" pitchFamily="34" charset="-120"/>
              </a:rPr>
              <a:t>puțini și mici; lipsește serviciul</a:t>
            </a:r>
            <a:endParaRPr lang="en-US" sz="15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manualul cursului, capitolul 3; formula practică este a acestui curs.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CELELALTE VARIANTE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Lista, rivalul vizibil și contractul</a:t>
            </a:r>
            <a:endParaRPr lang="en-US" sz="3200" dirty="0"/>
          </a:p>
        </p:txBody>
      </p:sp>
      <p:sp>
        <p:nvSpPr>
          <p:cNvPr id="4" name="Shape 2"/>
          <p:cNvSpPr/>
          <p:nvPr/>
        </p:nvSpPr>
        <p:spPr>
          <a:xfrm>
            <a:off x="594360" y="1600200"/>
            <a:ext cx="3520440" cy="3291840"/>
          </a:xfrm>
          <a:prstGeom prst="roundRect">
            <a:avLst>
              <a:gd name="adj" fmla="val 2500"/>
            </a:avLst>
          </a:prstGeom>
          <a:solidFill>
            <a:srgbClr val="ECEAE4"/>
          </a:solidFill>
          <a:ln w="12700">
            <a:solidFill>
              <a:srgbClr val="ECEAE4"/>
            </a:solidFill>
            <a:prstDash val="solid"/>
          </a:ln>
        </p:spPr>
      </p:sp>
      <p:sp>
        <p:nvSpPr>
          <p:cNvPr id="5" name="Shape 3"/>
          <p:cNvSpPr/>
          <p:nvPr/>
        </p:nvSpPr>
        <p:spPr>
          <a:xfrm>
            <a:off x="594360" y="1600200"/>
            <a:ext cx="3520440" cy="91440"/>
          </a:xfrm>
          <a:prstGeom prst="rect">
            <a:avLst/>
          </a:prstGeom>
          <a:solidFill>
            <a:srgbClr val="B02532"/>
          </a:solidFill>
          <a:ln w="12700">
            <a:solidFill>
              <a:srgbClr val="B02532"/>
            </a:solidFill>
            <a:prstDash val="solid"/>
          </a:ln>
        </p:spPr>
      </p:sp>
      <p:sp>
        <p:nvSpPr>
          <p:cNvPr id="6" name="Text 4"/>
          <p:cNvSpPr/>
          <p:nvPr/>
        </p:nvSpPr>
        <p:spPr>
          <a:xfrm>
            <a:off x="822960" y="1874520"/>
            <a:ext cx="3108960" cy="365760"/>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A · TOATĂ LISTA</a:t>
            </a:r>
            <a:endParaRPr lang="en-US" sz="1300" dirty="0"/>
          </a:p>
        </p:txBody>
      </p:sp>
      <p:sp>
        <p:nvSpPr>
          <p:cNvPr id="7" name="Text 5"/>
          <p:cNvSpPr/>
          <p:nvPr/>
        </p:nvSpPr>
        <p:spPr>
          <a:xfrm>
            <a:off x="822960" y="2377440"/>
            <a:ext cx="3108960" cy="23774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Confundă piața largă cu concurenții direcți: un obstacol obișnuit al analizei, după manual.</a:t>
            </a:r>
            <a:endParaRPr lang="en-US" sz="1800" dirty="0"/>
          </a:p>
        </p:txBody>
      </p:sp>
      <p:sp>
        <p:nvSpPr>
          <p:cNvPr id="8" name="Shape 6"/>
          <p:cNvSpPr/>
          <p:nvPr/>
        </p:nvSpPr>
        <p:spPr>
          <a:xfrm>
            <a:off x="4343400" y="1600200"/>
            <a:ext cx="3520440" cy="3291840"/>
          </a:xfrm>
          <a:prstGeom prst="roundRect">
            <a:avLst>
              <a:gd name="adj" fmla="val 2500"/>
            </a:avLst>
          </a:prstGeom>
          <a:solidFill>
            <a:srgbClr val="ECEAE4"/>
          </a:solidFill>
          <a:ln w="12700">
            <a:solidFill>
              <a:srgbClr val="ECEAE4"/>
            </a:solidFill>
            <a:prstDash val="solid"/>
          </a:ln>
        </p:spPr>
      </p:sp>
      <p:sp>
        <p:nvSpPr>
          <p:cNvPr id="9" name="Shape 7"/>
          <p:cNvSpPr/>
          <p:nvPr/>
        </p:nvSpPr>
        <p:spPr>
          <a:xfrm>
            <a:off x="4343400" y="1600200"/>
            <a:ext cx="3520440" cy="91440"/>
          </a:xfrm>
          <a:prstGeom prst="rect">
            <a:avLst/>
          </a:prstGeom>
          <a:solidFill>
            <a:srgbClr val="8A6100"/>
          </a:solidFill>
          <a:ln w="12700">
            <a:solidFill>
              <a:srgbClr val="8A6100"/>
            </a:solidFill>
            <a:prstDash val="solid"/>
          </a:ln>
        </p:spPr>
      </p:sp>
      <p:sp>
        <p:nvSpPr>
          <p:cNvPr id="10" name="Text 8"/>
          <p:cNvSpPr/>
          <p:nvPr/>
        </p:nvSpPr>
        <p:spPr>
          <a:xfrm>
            <a:off x="4572000" y="1874520"/>
            <a:ext cx="3108960" cy="365760"/>
          </a:xfrm>
          <a:prstGeom prst="rect">
            <a:avLst/>
          </a:prstGeom>
          <a:noFill/>
          <a:ln/>
        </p:spPr>
        <p:txBody>
          <a:bodyPr wrap="square" lIns="0" tIns="0" rIns="0" bIns="0" rtlCol="0" anchor="t"/>
          <a:lstStyle/>
          <a:p>
            <a:pPr indent="0" marL="0">
              <a:buNone/>
            </a:pPr>
            <a:r>
              <a:rPr lang="en-US" sz="1300" b="1" spc="100" kern="0" dirty="0">
                <a:solidFill>
                  <a:srgbClr val="8A6100"/>
                </a:solidFill>
                <a:latin typeface="Palatino Linotype" pitchFamily="34" charset="0"/>
                <a:ea typeface="Palatino Linotype" pitchFamily="34" charset="-122"/>
                <a:cs typeface="Palatino Linotype" pitchFamily="34" charset="-120"/>
              </a:rPr>
              <a:t>B · REȚEAUA C PESTE TOT</a:t>
            </a:r>
            <a:endParaRPr lang="en-US" sz="1300" dirty="0"/>
          </a:p>
        </p:txBody>
      </p:sp>
      <p:sp>
        <p:nvSpPr>
          <p:cNvPr id="11" name="Text 9"/>
          <p:cNvSpPr/>
          <p:nvPr/>
        </p:nvSpPr>
        <p:spPr>
          <a:xfrm>
            <a:off x="4572000" y="2377440"/>
            <a:ext cx="3108960" cy="23774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 nu face radioterapie și nu dilată arterele inimii noaptea. Obstacolul: accentul pe ce se vede la concurenți.</a:t>
            </a:r>
            <a:endParaRPr lang="en-US" sz="1800" dirty="0"/>
          </a:p>
        </p:txBody>
      </p:sp>
      <p:sp>
        <p:nvSpPr>
          <p:cNvPr id="12" name="Shape 10"/>
          <p:cNvSpPr/>
          <p:nvPr/>
        </p:nvSpPr>
        <p:spPr>
          <a:xfrm>
            <a:off x="8092440" y="1600200"/>
            <a:ext cx="3520440" cy="3291840"/>
          </a:xfrm>
          <a:prstGeom prst="roundRect">
            <a:avLst>
              <a:gd name="adj" fmla="val 2500"/>
            </a:avLst>
          </a:prstGeom>
          <a:solidFill>
            <a:srgbClr val="ECEAE4"/>
          </a:solidFill>
          <a:ln w="12700">
            <a:solidFill>
              <a:srgbClr val="ECEAE4"/>
            </a:solidFill>
            <a:prstDash val="solid"/>
          </a:ln>
        </p:spPr>
      </p:sp>
      <p:sp>
        <p:nvSpPr>
          <p:cNvPr id="13" name="Shape 11"/>
          <p:cNvSpPr/>
          <p:nvPr/>
        </p:nvSpPr>
        <p:spPr>
          <a:xfrm>
            <a:off x="8092440" y="1600200"/>
            <a:ext cx="3520440" cy="91440"/>
          </a:xfrm>
          <a:prstGeom prst="rect">
            <a:avLst/>
          </a:prstGeom>
          <a:solidFill>
            <a:srgbClr val="4A2D8C"/>
          </a:solidFill>
          <a:ln w="12700">
            <a:solidFill>
              <a:srgbClr val="4A2D8C"/>
            </a:solidFill>
            <a:prstDash val="solid"/>
          </a:ln>
        </p:spPr>
      </p:sp>
      <p:sp>
        <p:nvSpPr>
          <p:cNvPr id="14" name="Text 12"/>
          <p:cNvSpPr/>
          <p:nvPr/>
        </p:nvSpPr>
        <p:spPr>
          <a:xfrm>
            <a:off x="8321040" y="1874520"/>
            <a:ext cx="3108960" cy="365760"/>
          </a:xfrm>
          <a:prstGeom prst="rect">
            <a:avLst/>
          </a:prstGeom>
          <a:noFill/>
          <a:ln/>
        </p:spPr>
        <p:txBody>
          <a:bodyPr wrap="square" lIns="0" tIns="0" rIns="0" bIns="0" rtlCol="0" anchor="t"/>
          <a:lstStyle/>
          <a:p>
            <a:pPr indent="0" marL="0">
              <a:buNone/>
            </a:pPr>
            <a:r>
              <a:rPr lang="en-US" sz="1300" b="1" spc="100" kern="0" dirty="0">
                <a:solidFill>
                  <a:srgbClr val="4A2D8C"/>
                </a:solidFill>
                <a:latin typeface="Palatino Linotype" pitchFamily="34" charset="0"/>
                <a:ea typeface="Palatino Linotype" pitchFamily="34" charset="-122"/>
                <a:cs typeface="Palatino Linotype" pitchFamily="34" charset="-120"/>
              </a:rPr>
              <a:t>D · NICIUN CONCURENT</a:t>
            </a:r>
            <a:endParaRPr lang="en-US" sz="1300" dirty="0"/>
          </a:p>
        </p:txBody>
      </p:sp>
      <p:sp>
        <p:nvSpPr>
          <p:cNvPr id="15" name="Text 13"/>
          <p:cNvSpPr/>
          <p:nvPr/>
        </p:nvSpPr>
        <p:spPr>
          <a:xfrm>
            <a:off x="8321040" y="2377440"/>
            <a:ext cx="3108960" cy="23774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Contractul cu casa nu oprește pacienții să aleagă. Planul de dezvoltare se face după nevoile populației.</a:t>
            </a:r>
            <a:endParaRPr lang="en-US" sz="18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manualul cursului, capitolul 3; contractul de management.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CÂT DE GREA E CONCURENȚA PE O LINIE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Cinci presiuni</a:t>
            </a:r>
            <a:endParaRPr lang="en-US" sz="3400" dirty="0"/>
          </a:p>
        </p:txBody>
      </p:sp>
      <p:sp>
        <p:nvSpPr>
          <p:cNvPr id="4" name="Shape 2"/>
          <p:cNvSpPr/>
          <p:nvPr/>
        </p:nvSpPr>
        <p:spPr>
          <a:xfrm>
            <a:off x="594360" y="1554480"/>
            <a:ext cx="10972800" cy="713232"/>
          </a:xfrm>
          <a:prstGeom prst="roundRect">
            <a:avLst>
              <a:gd name="adj" fmla="val 11538"/>
            </a:avLst>
          </a:prstGeom>
          <a:solidFill>
            <a:srgbClr val="1D1F2B"/>
          </a:solidFill>
          <a:ln w="12700">
            <a:solidFill>
              <a:srgbClr val="1D1F2B"/>
            </a:solidFill>
            <a:prstDash val="solid"/>
          </a:ln>
        </p:spPr>
      </p:sp>
      <p:sp>
        <p:nvSpPr>
          <p:cNvPr id="5" name="Shape 3"/>
          <p:cNvSpPr/>
          <p:nvPr/>
        </p:nvSpPr>
        <p:spPr>
          <a:xfrm>
            <a:off x="868680" y="1700784"/>
            <a:ext cx="420624" cy="420624"/>
          </a:xfrm>
          <a:prstGeom prst="ellipse">
            <a:avLst/>
          </a:prstGeom>
          <a:solidFill>
            <a:srgbClr val="FFC24B"/>
          </a:solidFill>
          <a:ln/>
        </p:spPr>
      </p:sp>
      <p:sp>
        <p:nvSpPr>
          <p:cNvPr id="6" name="Text 4"/>
          <p:cNvSpPr/>
          <p:nvPr/>
        </p:nvSpPr>
        <p:spPr>
          <a:xfrm>
            <a:off x="868680" y="17007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554480"/>
            <a:ext cx="9784080" cy="71323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Noii veniți: cât de ușor intră cineva pe piață</a:t>
            </a:r>
            <a:endParaRPr lang="en-US" sz="1800" dirty="0"/>
          </a:p>
        </p:txBody>
      </p:sp>
      <p:sp>
        <p:nvSpPr>
          <p:cNvPr id="8" name="Shape 6"/>
          <p:cNvSpPr/>
          <p:nvPr/>
        </p:nvSpPr>
        <p:spPr>
          <a:xfrm>
            <a:off x="594360" y="2395728"/>
            <a:ext cx="10972800" cy="713232"/>
          </a:xfrm>
          <a:prstGeom prst="roundRect">
            <a:avLst>
              <a:gd name="adj" fmla="val 11538"/>
            </a:avLst>
          </a:prstGeom>
          <a:solidFill>
            <a:srgbClr val="1D1F2B"/>
          </a:solidFill>
          <a:ln w="12700">
            <a:solidFill>
              <a:srgbClr val="1D1F2B"/>
            </a:solidFill>
            <a:prstDash val="solid"/>
          </a:ln>
        </p:spPr>
      </p:sp>
      <p:sp>
        <p:nvSpPr>
          <p:cNvPr id="9" name="Shape 7"/>
          <p:cNvSpPr/>
          <p:nvPr/>
        </p:nvSpPr>
        <p:spPr>
          <a:xfrm>
            <a:off x="868680" y="2542032"/>
            <a:ext cx="420624" cy="420624"/>
          </a:xfrm>
          <a:prstGeom prst="ellipse">
            <a:avLst/>
          </a:prstGeom>
          <a:solidFill>
            <a:srgbClr val="FFC24B"/>
          </a:solidFill>
          <a:ln/>
        </p:spPr>
      </p:sp>
      <p:sp>
        <p:nvSpPr>
          <p:cNvPr id="10" name="Text 8"/>
          <p:cNvSpPr/>
          <p:nvPr/>
        </p:nvSpPr>
        <p:spPr>
          <a:xfrm>
            <a:off x="868680" y="25420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395728"/>
            <a:ext cx="9784080" cy="71323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Rivalitatea dintre cei existenți</a:t>
            </a:r>
            <a:endParaRPr lang="en-US" sz="1800" dirty="0"/>
          </a:p>
        </p:txBody>
      </p:sp>
      <p:sp>
        <p:nvSpPr>
          <p:cNvPr id="12" name="Shape 10"/>
          <p:cNvSpPr/>
          <p:nvPr/>
        </p:nvSpPr>
        <p:spPr>
          <a:xfrm>
            <a:off x="594360" y="3236976"/>
            <a:ext cx="10972800" cy="713232"/>
          </a:xfrm>
          <a:prstGeom prst="roundRect">
            <a:avLst>
              <a:gd name="adj" fmla="val 11538"/>
            </a:avLst>
          </a:prstGeom>
          <a:solidFill>
            <a:srgbClr val="1D1F2B"/>
          </a:solidFill>
          <a:ln w="12700">
            <a:solidFill>
              <a:srgbClr val="1D1F2B"/>
            </a:solidFill>
            <a:prstDash val="solid"/>
          </a:ln>
        </p:spPr>
      </p:sp>
      <p:sp>
        <p:nvSpPr>
          <p:cNvPr id="13" name="Shape 11"/>
          <p:cNvSpPr/>
          <p:nvPr/>
        </p:nvSpPr>
        <p:spPr>
          <a:xfrm>
            <a:off x="868680" y="3383280"/>
            <a:ext cx="420624" cy="420624"/>
          </a:xfrm>
          <a:prstGeom prst="ellipse">
            <a:avLst/>
          </a:prstGeom>
          <a:solidFill>
            <a:srgbClr val="FFC24B"/>
          </a:solidFill>
          <a:ln/>
        </p:spPr>
      </p:sp>
      <p:sp>
        <p:nvSpPr>
          <p:cNvPr id="14" name="Text 12"/>
          <p:cNvSpPr/>
          <p:nvPr/>
        </p:nvSpPr>
        <p:spPr>
          <a:xfrm>
            <a:off x="868680" y="33832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236976"/>
            <a:ext cx="9784080" cy="71323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Înlocuitorii: spitalizarea de zi, consultația la distanță</a:t>
            </a:r>
            <a:endParaRPr lang="en-US" sz="1800" dirty="0"/>
          </a:p>
        </p:txBody>
      </p:sp>
      <p:sp>
        <p:nvSpPr>
          <p:cNvPr id="16" name="Shape 14"/>
          <p:cNvSpPr/>
          <p:nvPr/>
        </p:nvSpPr>
        <p:spPr>
          <a:xfrm>
            <a:off x="594360" y="4078224"/>
            <a:ext cx="10972800" cy="713232"/>
          </a:xfrm>
          <a:prstGeom prst="roundRect">
            <a:avLst>
              <a:gd name="adj" fmla="val 11538"/>
            </a:avLst>
          </a:prstGeom>
          <a:solidFill>
            <a:srgbClr val="1D1F2B"/>
          </a:solidFill>
          <a:ln w="12700">
            <a:solidFill>
              <a:srgbClr val="1D1F2B"/>
            </a:solidFill>
            <a:prstDash val="solid"/>
          </a:ln>
        </p:spPr>
      </p:sp>
      <p:sp>
        <p:nvSpPr>
          <p:cNvPr id="17" name="Shape 15"/>
          <p:cNvSpPr/>
          <p:nvPr/>
        </p:nvSpPr>
        <p:spPr>
          <a:xfrm>
            <a:off x="868680" y="4224528"/>
            <a:ext cx="420624" cy="420624"/>
          </a:xfrm>
          <a:prstGeom prst="ellipse">
            <a:avLst/>
          </a:prstGeom>
          <a:solidFill>
            <a:srgbClr val="FFC24B"/>
          </a:solidFill>
          <a:ln/>
        </p:spPr>
      </p:sp>
      <p:sp>
        <p:nvSpPr>
          <p:cNvPr id="18" name="Text 16"/>
          <p:cNvSpPr/>
          <p:nvPr/>
        </p:nvSpPr>
        <p:spPr>
          <a:xfrm>
            <a:off x="868680" y="42245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078224"/>
            <a:ext cx="9784080" cy="71323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Cei care cumpără: casa de asigurări, apoi pacientul</a:t>
            </a:r>
            <a:endParaRPr lang="en-US" sz="1800" dirty="0"/>
          </a:p>
        </p:txBody>
      </p:sp>
      <p:sp>
        <p:nvSpPr>
          <p:cNvPr id="20" name="Shape 18"/>
          <p:cNvSpPr/>
          <p:nvPr/>
        </p:nvSpPr>
        <p:spPr>
          <a:xfrm>
            <a:off x="594360" y="4919472"/>
            <a:ext cx="10972800" cy="713232"/>
          </a:xfrm>
          <a:prstGeom prst="roundRect">
            <a:avLst>
              <a:gd name="adj" fmla="val 11538"/>
            </a:avLst>
          </a:prstGeom>
          <a:solidFill>
            <a:srgbClr val="1D1F2B"/>
          </a:solidFill>
          <a:ln w="12700">
            <a:solidFill>
              <a:srgbClr val="1D1F2B"/>
            </a:solidFill>
            <a:prstDash val="solid"/>
          </a:ln>
        </p:spPr>
      </p:sp>
      <p:sp>
        <p:nvSpPr>
          <p:cNvPr id="21" name="Shape 19"/>
          <p:cNvSpPr/>
          <p:nvPr/>
        </p:nvSpPr>
        <p:spPr>
          <a:xfrm>
            <a:off x="868680" y="5065776"/>
            <a:ext cx="420624" cy="420624"/>
          </a:xfrm>
          <a:prstGeom prst="ellipse">
            <a:avLst/>
          </a:prstGeom>
          <a:solidFill>
            <a:srgbClr val="FFC24B"/>
          </a:solidFill>
          <a:ln/>
        </p:spPr>
      </p:sp>
      <p:sp>
        <p:nvSpPr>
          <p:cNvPr id="22" name="Text 20"/>
          <p:cNvSpPr/>
          <p:nvPr/>
        </p:nvSpPr>
        <p:spPr>
          <a:xfrm>
            <a:off x="868680" y="506577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4919472"/>
            <a:ext cx="9784080" cy="71323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Cei care furnizează: mai ales oamenii, de pildă radiologii</a:t>
            </a:r>
            <a:endParaRPr lang="en-US" sz="1800" dirty="0"/>
          </a:p>
        </p:txBody>
      </p:sp>
      <p:sp>
        <p:nvSpPr>
          <p:cNvPr id="24" name="Text 2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Analiza structurii ariei de servicii: Ginter, Duncan și Swayne, după modelul lui Michael Porter.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CAZ CONSTRUIT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Presiunile pe liniile Spitalului A</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 y="1508760"/>
          <a:ext cx="10972800" cy="914400"/>
        </p:xfrm>
        <a:graphic>
          <a:graphicData uri="http://schemas.openxmlformats.org/drawingml/2006/table">
            <a:tbl>
              <a:tblPr/>
              <a:tblGrid>
                <a:gridCol w="1737360"/>
                <a:gridCol w="2103120"/>
                <a:gridCol w="1828800"/>
                <a:gridCol w="1737360"/>
                <a:gridCol w="1737360"/>
                <a:gridCol w="1828800"/>
              </a:tblGrid>
              <a:tr h="658368">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Linia</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Noii veniți</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Rivalitatea</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Înlocuitorii</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Cumpără</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Furnizează</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r>
              <a:tr h="658368">
                <a:tc>
                  <a:txBody>
                    <a:bodyP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RMN</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ușor: aparatul se cumpără</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mare, un rival puternic</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puțini</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casa, pacientul</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radiologii, căutați</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r>
              <a:tr h="658368">
                <a:tc>
                  <a:txBody>
                    <a:bodyP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Chirurgia de o zi</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ușor pentru ambulatorii</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mare: program, așteptare</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internarea clasică</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casa</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chirurgii, anesteziștii</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r>
              <a:tr h="658368">
                <a:tc>
                  <a:txBody>
                    <a:bodyP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Cardiologia</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greu: echipă la orice oră</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mică în județ</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niciunul în infarct</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casa</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echipa de gardă</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r>
              <a:tr h="658368">
                <a:tc>
                  <a:txBody>
                    <a:bodyP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Radioterapia</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foarte greu: investiție, personal rar</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regională</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puțini</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casa</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fizicienii medicali, medicii</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r>
              <a:tr h="658368">
                <a:tc>
                  <a:txBody>
                    <a:bodyP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Recuperarea</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ușor: cabinete mici</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mică</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îngrijirea la domiciliu</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casa, familia</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kinetoterapeuții</a:t>
                      </a:r>
                      <a:endParaRPr lang="en-US" sz="13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r>
            </a:tbl>
          </a:graphicData>
        </a:graphic>
      </p:graphicFrame>
      <p:sp>
        <p:nvSpPr>
          <p:cNvPr id="5" name="Text 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Casa = casa de asigurări.</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594360" y="292608"/>
            <a:ext cx="274320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594360" y="292608"/>
            <a:ext cx="2743200" cy="329184"/>
          </a:xfrm>
          <a:prstGeom prst="rect">
            <a:avLst/>
          </a:prstGeom>
          <a:noFill/>
          <a:ln/>
        </p:spPr>
        <p:txBody>
          <a:bodyPr wrap="square" lIns="0" tIns="0" rIns="0" bIns="0" rtlCol="0" anchor="ctr"/>
          <a:lstStyle/>
          <a:p>
            <a:pPr algn="ctr" indent="0" marL="0">
              <a:buNone/>
            </a:pPr>
            <a:r>
              <a:rPr lang="en-US" sz="1250" b="1" dirty="0">
                <a:solidFill>
                  <a:srgbClr val="2E060B"/>
                </a:solidFill>
                <a:latin typeface="Palatino Linotype" pitchFamily="34" charset="0"/>
                <a:ea typeface="Palatino Linotype" pitchFamily="34" charset="-122"/>
                <a:cs typeface="Palatino Linotype" pitchFamily="34" charset="-120"/>
              </a:rPr>
              <a:t>ACTUL 2 · COMPLICAȚIA</a:t>
            </a:r>
            <a:endParaRPr lang="en-US" sz="1250" dirty="0"/>
          </a:p>
        </p:txBody>
      </p:sp>
      <p:sp>
        <p:nvSpPr>
          <p:cNvPr id="4" name="Text 2"/>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Spitalul A, o lună mai târziu</a:t>
            </a:r>
            <a:endParaRPr lang="en-US" sz="3200" dirty="0"/>
          </a:p>
        </p:txBody>
      </p:sp>
      <p:sp>
        <p:nvSpPr>
          <p:cNvPr id="5" name="Shape 3"/>
          <p:cNvSpPr/>
          <p:nvPr/>
        </p:nvSpPr>
        <p:spPr>
          <a:xfrm>
            <a:off x="594360" y="1600200"/>
            <a:ext cx="3520440" cy="265176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sp>
      <p:sp>
        <p:nvSpPr>
          <p:cNvPr id="6" name="Shape 4"/>
          <p:cNvSpPr/>
          <p:nvPr/>
        </p:nvSpPr>
        <p:spPr>
          <a:xfrm>
            <a:off x="594360" y="1600200"/>
            <a:ext cx="3520440" cy="91440"/>
          </a:xfrm>
          <a:prstGeom prst="rect">
            <a:avLst/>
          </a:prstGeom>
          <a:solidFill>
            <a:srgbClr val="B02532"/>
          </a:solidFill>
          <a:ln w="12700">
            <a:solidFill>
              <a:srgbClr val="B02532"/>
            </a:solidFill>
            <a:prstDash val="solid"/>
          </a:ln>
        </p:spPr>
      </p:sp>
      <p:sp>
        <p:nvSpPr>
          <p:cNvPr id="7" name="Text 5"/>
          <p:cNvSpPr/>
          <p:nvPr/>
        </p:nvSpPr>
        <p:spPr>
          <a:xfrm>
            <a:off x="822960" y="1828800"/>
            <a:ext cx="3108960" cy="320040"/>
          </a:xfrm>
          <a:prstGeom prst="rect">
            <a:avLst/>
          </a:prstGeom>
          <a:noFill/>
          <a:ln/>
        </p:spPr>
        <p:txBody>
          <a:bodyPr wrap="square" lIns="0" tIns="0" rIns="0" bIns="0" rtlCol="0" anchor="t"/>
          <a:lstStyle/>
          <a:p>
            <a:pPr indent="0" marL="0">
              <a:buNone/>
            </a:pPr>
            <a:r>
              <a:rPr lang="en-US" sz="1250" b="1" spc="100" kern="0" dirty="0">
                <a:solidFill>
                  <a:srgbClr val="B02532"/>
                </a:solidFill>
                <a:latin typeface="Palatino Linotype" pitchFamily="34" charset="0"/>
                <a:ea typeface="Palatino Linotype" pitchFamily="34" charset="-122"/>
                <a:cs typeface="Palatino Linotype" pitchFamily="34" charset="-120"/>
              </a:rPr>
              <a:t>REȚEAUA PRIVATĂ C</a:t>
            </a:r>
            <a:endParaRPr lang="en-US" sz="1250" dirty="0"/>
          </a:p>
        </p:txBody>
      </p:sp>
      <p:sp>
        <p:nvSpPr>
          <p:cNvPr id="8" name="Text 6"/>
          <p:cNvSpPr/>
          <p:nvPr/>
        </p:nvSpPr>
        <p:spPr>
          <a:xfrm>
            <a:off x="822960" y="2286000"/>
            <a:ext cx="3108960" cy="18288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Anunță un al treilea centru de imagistică și un ambulatoriu de cardiologie.</a:t>
            </a:r>
            <a:endParaRPr lang="en-US" sz="1700" dirty="0"/>
          </a:p>
        </p:txBody>
      </p:sp>
      <p:sp>
        <p:nvSpPr>
          <p:cNvPr id="9" name="Shape 7"/>
          <p:cNvSpPr/>
          <p:nvPr/>
        </p:nvSpPr>
        <p:spPr>
          <a:xfrm>
            <a:off x="4343400" y="1600200"/>
            <a:ext cx="3520440" cy="265176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sp>
      <p:sp>
        <p:nvSpPr>
          <p:cNvPr id="10" name="Shape 8"/>
          <p:cNvSpPr/>
          <p:nvPr/>
        </p:nvSpPr>
        <p:spPr>
          <a:xfrm>
            <a:off x="4343400" y="1600200"/>
            <a:ext cx="3520440" cy="91440"/>
          </a:xfrm>
          <a:prstGeom prst="rect">
            <a:avLst/>
          </a:prstGeom>
          <a:solidFill>
            <a:srgbClr val="8A6100"/>
          </a:solidFill>
          <a:ln w="12700">
            <a:solidFill>
              <a:srgbClr val="8A6100"/>
            </a:solidFill>
            <a:prstDash val="solid"/>
          </a:ln>
        </p:spPr>
      </p:sp>
      <p:sp>
        <p:nvSpPr>
          <p:cNvPr id="11" name="Text 9"/>
          <p:cNvSpPr/>
          <p:nvPr/>
        </p:nvSpPr>
        <p:spPr>
          <a:xfrm>
            <a:off x="4572000" y="1828800"/>
            <a:ext cx="3108960" cy="320040"/>
          </a:xfrm>
          <a:prstGeom prst="rect">
            <a:avLst/>
          </a:prstGeom>
          <a:noFill/>
          <a:ln/>
        </p:spPr>
        <p:txBody>
          <a:bodyPr wrap="square" lIns="0" tIns="0" rIns="0" bIns="0" rtlCol="0" anchor="t"/>
          <a:lstStyle/>
          <a:p>
            <a:pPr indent="0" marL="0">
              <a:buNone/>
            </a:pPr>
            <a:r>
              <a:rPr lang="en-US" sz="1250" b="1" spc="100" kern="0" dirty="0">
                <a:solidFill>
                  <a:srgbClr val="8A6100"/>
                </a:solidFill>
                <a:latin typeface="Palatino Linotype" pitchFamily="34" charset="0"/>
                <a:ea typeface="Palatino Linotype" pitchFamily="34" charset="-122"/>
                <a:cs typeface="Palatino Linotype" pitchFamily="34" charset="-120"/>
              </a:rPr>
              <a:t>RADIOLOGIA</a:t>
            </a:r>
            <a:endParaRPr lang="en-US" sz="1250" dirty="0"/>
          </a:p>
        </p:txBody>
      </p:sp>
      <p:sp>
        <p:nvSpPr>
          <p:cNvPr id="12" name="Text 10"/>
          <p:cNvSpPr/>
          <p:nvPr/>
        </p:nvSpPr>
        <p:spPr>
          <a:xfrm>
            <a:off x="4572000" y="2286000"/>
            <a:ext cx="3108960" cy="18288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Doi radiologi ai Spitalului A au primit oferte de la C și se gândesc să plece.</a:t>
            </a:r>
            <a:endParaRPr lang="en-US" sz="1700" dirty="0"/>
          </a:p>
        </p:txBody>
      </p:sp>
      <p:sp>
        <p:nvSpPr>
          <p:cNvPr id="13" name="Shape 11"/>
          <p:cNvSpPr/>
          <p:nvPr/>
        </p:nvSpPr>
        <p:spPr>
          <a:xfrm>
            <a:off x="8092440" y="1600200"/>
            <a:ext cx="3520440" cy="265176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sp>
      <p:sp>
        <p:nvSpPr>
          <p:cNvPr id="14" name="Shape 12"/>
          <p:cNvSpPr/>
          <p:nvPr/>
        </p:nvSpPr>
        <p:spPr>
          <a:xfrm>
            <a:off x="8092440" y="1600200"/>
            <a:ext cx="3520440" cy="91440"/>
          </a:xfrm>
          <a:prstGeom prst="rect">
            <a:avLst/>
          </a:prstGeom>
          <a:solidFill>
            <a:srgbClr val="0E7C6B"/>
          </a:solidFill>
          <a:ln w="12700">
            <a:solidFill>
              <a:srgbClr val="0E7C6B"/>
            </a:solidFill>
            <a:prstDash val="solid"/>
          </a:ln>
        </p:spPr>
      </p:sp>
      <p:sp>
        <p:nvSpPr>
          <p:cNvPr id="15" name="Text 13"/>
          <p:cNvSpPr/>
          <p:nvPr/>
        </p:nvSpPr>
        <p:spPr>
          <a:xfrm>
            <a:off x="8321040" y="1828800"/>
            <a:ext cx="3108960" cy="320040"/>
          </a:xfrm>
          <a:prstGeom prst="rect">
            <a:avLst/>
          </a:prstGeom>
          <a:noFill/>
          <a:ln/>
        </p:spPr>
        <p:txBody>
          <a:bodyPr wrap="square" lIns="0" tIns="0" rIns="0" bIns="0" rtlCol="0" anchor="t"/>
          <a:lstStyle/>
          <a:p>
            <a:pPr indent="0" marL="0">
              <a:buNone/>
            </a:pPr>
            <a:r>
              <a:rPr lang="en-US" sz="1250" b="1" spc="100" kern="0" dirty="0">
                <a:solidFill>
                  <a:srgbClr val="0E7C6B"/>
                </a:solidFill>
                <a:latin typeface="Palatino Linotype" pitchFamily="34" charset="0"/>
                <a:ea typeface="Palatino Linotype" pitchFamily="34" charset="-122"/>
                <a:cs typeface="Palatino Linotype" pitchFamily="34" charset="-120"/>
              </a:rPr>
              <a:t>MANAGERUL</a:t>
            </a:r>
            <a:endParaRPr lang="en-US" sz="1250" dirty="0"/>
          </a:p>
        </p:txBody>
      </p:sp>
      <p:sp>
        <p:nvSpPr>
          <p:cNvPr id="16" name="Text 14"/>
          <p:cNvSpPr/>
          <p:nvPr/>
        </p:nvSpPr>
        <p:spPr>
          <a:xfrm>
            <a:off x="8321040" y="2286000"/>
            <a:ext cx="3108960" cy="18288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Să cumpere și el un aparat RMN mai performant, ca să nu rămână în urmă?</a:t>
            </a:r>
            <a:endParaRPr lang="en-US" sz="1700" dirty="0"/>
          </a:p>
        </p:txBody>
      </p:sp>
      <p:sp>
        <p:nvSpPr>
          <p:cNvPr id="17" name="Shape 15"/>
          <p:cNvSpPr/>
          <p:nvPr/>
        </p:nvSpPr>
        <p:spPr>
          <a:xfrm>
            <a:off x="594360" y="4480560"/>
            <a:ext cx="10972800" cy="1005840"/>
          </a:xfrm>
          <a:prstGeom prst="roundRect">
            <a:avLst>
              <a:gd name="adj" fmla="val 8182"/>
            </a:avLst>
          </a:prstGeom>
          <a:solidFill>
            <a:srgbClr val="1D1F2B"/>
          </a:solidFill>
          <a:ln w="12700">
            <a:solidFill>
              <a:srgbClr val="1D1F2B"/>
            </a:solidFill>
            <a:prstDash val="solid"/>
          </a:ln>
        </p:spPr>
      </p:sp>
      <p:sp>
        <p:nvSpPr>
          <p:cNvPr id="18" name="Text 16"/>
          <p:cNvSpPr/>
          <p:nvPr/>
        </p:nvSpPr>
        <p:spPr>
          <a:xfrm>
            <a:off x="868680" y="4480560"/>
            <a:ext cx="10424160" cy="1005840"/>
          </a:xfrm>
          <a:prstGeom prst="rect">
            <a:avLst/>
          </a:prstGeom>
          <a:noFill/>
          <a:ln/>
        </p:spPr>
        <p:txBody>
          <a:bodyPr wrap="square" lIns="0" tIns="0" rIns="0" bIns="0" rtlCol="0" anchor="ctr"/>
          <a:lstStyle/>
          <a:p>
            <a:pPr indent="0" marL="0">
              <a:buNone/>
            </a:pPr>
            <a:r>
              <a:rPr lang="en-US" sz="1800" i="1" dirty="0">
                <a:solidFill>
                  <a:srgbClr val="FFFFFF"/>
                </a:solidFill>
                <a:latin typeface="Palatino Linotype" pitchFamily="34" charset="0"/>
                <a:ea typeface="Palatino Linotype" pitchFamily="34" charset="-122"/>
                <a:cs typeface="Palatino Linotype" pitchFamily="34" charset="-120"/>
              </a:rPr>
              <a:t>Directorul financiar: „Fondul de dezvoltare e unul singur: ce merge la RMN nu mai merge altundeva.”</a:t>
            </a:r>
            <a:endParaRPr lang="en-US" sz="1800" dirty="0"/>
          </a:p>
        </p:txBody>
      </p:sp>
      <p:sp>
        <p:nvSpPr>
          <p:cNvPr id="19" name="Text 17"/>
          <p:cNvSpPr/>
          <p:nvPr/>
        </p:nvSpPr>
        <p:spPr>
          <a:xfrm>
            <a:off x="594360" y="5760720"/>
            <a:ext cx="1097280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Caz construit pentru curs; detaliile sunt plauzibile, nu reale.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TREILEA PAS: CUNOAȘTEREA CONCURENȚILOR</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Profilul Rețelei private C</a:t>
            </a:r>
            <a:endParaRPr lang="en-US" sz="3200" dirty="0"/>
          </a:p>
        </p:txBody>
      </p:sp>
      <p:sp>
        <p:nvSpPr>
          <p:cNvPr id="4" name="Shape 2"/>
          <p:cNvSpPr/>
          <p:nvPr/>
        </p:nvSpPr>
        <p:spPr>
          <a:xfrm>
            <a:off x="594360" y="1600200"/>
            <a:ext cx="3520440" cy="4343400"/>
          </a:xfrm>
          <a:prstGeom prst="roundRect">
            <a:avLst>
              <a:gd name="adj" fmla="val 2338"/>
            </a:avLst>
          </a:prstGeom>
          <a:solidFill>
            <a:srgbClr val="ECEAE4"/>
          </a:solidFill>
          <a:ln w="12700">
            <a:solidFill>
              <a:srgbClr val="ECEAE4"/>
            </a:solidFill>
            <a:prstDash val="solid"/>
          </a:ln>
        </p:spPr>
      </p:sp>
      <p:sp>
        <p:nvSpPr>
          <p:cNvPr id="5" name="Text 3"/>
          <p:cNvSpPr/>
          <p:nvPr/>
        </p:nvSpPr>
        <p:spPr>
          <a:xfrm>
            <a:off x="822960" y="1783080"/>
            <a:ext cx="3108960" cy="32004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PUNCTE TARI</a:t>
            </a:r>
            <a:endParaRPr lang="en-US" sz="1300" dirty="0"/>
          </a:p>
        </p:txBody>
      </p:sp>
      <p:sp>
        <p:nvSpPr>
          <p:cNvPr id="6" name="Text 4"/>
          <p:cNvSpPr/>
          <p:nvPr/>
        </p:nvSpPr>
        <p:spPr>
          <a:xfrm>
            <a:off x="822960" y="2286000"/>
            <a:ext cx="3108960" cy="8229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 program 8–22, și sâmbăta</a:t>
            </a:r>
            <a:endParaRPr lang="en-US" sz="1550" dirty="0"/>
          </a:p>
        </p:txBody>
      </p:sp>
      <p:sp>
        <p:nvSpPr>
          <p:cNvPr id="7" name="Text 5"/>
          <p:cNvSpPr/>
          <p:nvPr/>
        </p:nvSpPr>
        <p:spPr>
          <a:xfrm>
            <a:off x="822960" y="3154680"/>
            <a:ext cx="3108960" cy="8229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 programare pe internet</a:t>
            </a:r>
            <a:endParaRPr lang="en-US" sz="1550" dirty="0"/>
          </a:p>
        </p:txBody>
      </p:sp>
      <p:sp>
        <p:nvSpPr>
          <p:cNvPr id="8" name="Text 6"/>
          <p:cNvSpPr/>
          <p:nvPr/>
        </p:nvSpPr>
        <p:spPr>
          <a:xfrm>
            <a:off x="822960" y="4023360"/>
            <a:ext cx="3108960" cy="8229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 circa două săptămâni de așteptare la RMN</a:t>
            </a:r>
            <a:endParaRPr lang="en-US" sz="1550" dirty="0"/>
          </a:p>
        </p:txBody>
      </p:sp>
      <p:sp>
        <p:nvSpPr>
          <p:cNvPr id="9" name="Text 7"/>
          <p:cNvSpPr/>
          <p:nvPr/>
        </p:nvSpPr>
        <p:spPr>
          <a:xfrm>
            <a:off x="822960" y="4892040"/>
            <a:ext cx="3108960" cy="8229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 contract cu casa pentru imagistică</a:t>
            </a:r>
            <a:endParaRPr lang="en-US" sz="1550" dirty="0"/>
          </a:p>
        </p:txBody>
      </p:sp>
      <p:sp>
        <p:nvSpPr>
          <p:cNvPr id="10" name="Shape 8"/>
          <p:cNvSpPr/>
          <p:nvPr/>
        </p:nvSpPr>
        <p:spPr>
          <a:xfrm>
            <a:off x="4343400" y="1600200"/>
            <a:ext cx="3520440" cy="4343400"/>
          </a:xfrm>
          <a:prstGeom prst="roundRect">
            <a:avLst>
              <a:gd name="adj" fmla="val 2338"/>
            </a:avLst>
          </a:prstGeom>
          <a:solidFill>
            <a:srgbClr val="ECEAE4"/>
          </a:solidFill>
          <a:ln w="12700">
            <a:solidFill>
              <a:srgbClr val="ECEAE4"/>
            </a:solidFill>
            <a:prstDash val="solid"/>
          </a:ln>
        </p:spPr>
      </p:sp>
      <p:sp>
        <p:nvSpPr>
          <p:cNvPr id="11" name="Text 9"/>
          <p:cNvSpPr/>
          <p:nvPr/>
        </p:nvSpPr>
        <p:spPr>
          <a:xfrm>
            <a:off x="4572000" y="1783080"/>
            <a:ext cx="310896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PUNCTE SLABE</a:t>
            </a:r>
            <a:endParaRPr lang="en-US" sz="1300" dirty="0"/>
          </a:p>
        </p:txBody>
      </p:sp>
      <p:sp>
        <p:nvSpPr>
          <p:cNvPr id="12" name="Text 10"/>
          <p:cNvSpPr/>
          <p:nvPr/>
        </p:nvSpPr>
        <p:spPr>
          <a:xfrm>
            <a:off x="4572000" y="2286000"/>
            <a:ext cx="3108960" cy="8229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 nu primește urgențe</a:t>
            </a:r>
            <a:endParaRPr lang="en-US" sz="1550" dirty="0"/>
          </a:p>
        </p:txBody>
      </p:sp>
      <p:sp>
        <p:nvSpPr>
          <p:cNvPr id="13" name="Text 11"/>
          <p:cNvSpPr/>
          <p:nvPr/>
        </p:nvSpPr>
        <p:spPr>
          <a:xfrm>
            <a:off x="4572000" y="3154680"/>
            <a:ext cx="3108960" cy="8229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 fără terapie intensivă</a:t>
            </a:r>
            <a:endParaRPr lang="en-US" sz="1550" dirty="0"/>
          </a:p>
        </p:txBody>
      </p:sp>
      <p:sp>
        <p:nvSpPr>
          <p:cNvPr id="14" name="Text 12"/>
          <p:cNvSpPr/>
          <p:nvPr/>
        </p:nvSpPr>
        <p:spPr>
          <a:xfrm>
            <a:off x="4572000" y="4023360"/>
            <a:ext cx="3108960" cy="8229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 depinde de medici care lucrează și la spital</a:t>
            </a:r>
            <a:endParaRPr lang="en-US" sz="1550" dirty="0"/>
          </a:p>
        </p:txBody>
      </p:sp>
      <p:sp>
        <p:nvSpPr>
          <p:cNvPr id="15" name="Text 13"/>
          <p:cNvSpPr/>
          <p:nvPr/>
        </p:nvSpPr>
        <p:spPr>
          <a:xfrm>
            <a:off x="4572000" y="4892040"/>
            <a:ext cx="3108960" cy="8229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 fără radioterapie și cardiologie intervențională</a:t>
            </a:r>
            <a:endParaRPr lang="en-US" sz="1550" dirty="0"/>
          </a:p>
        </p:txBody>
      </p:sp>
      <p:sp>
        <p:nvSpPr>
          <p:cNvPr id="16" name="Shape 14"/>
          <p:cNvSpPr/>
          <p:nvPr/>
        </p:nvSpPr>
        <p:spPr>
          <a:xfrm>
            <a:off x="8092440" y="1600200"/>
            <a:ext cx="3520440" cy="4343400"/>
          </a:xfrm>
          <a:prstGeom prst="roundRect">
            <a:avLst>
              <a:gd name="adj" fmla="val 2338"/>
            </a:avLst>
          </a:prstGeom>
          <a:solidFill>
            <a:srgbClr val="ECEAE4"/>
          </a:solidFill>
          <a:ln w="12700">
            <a:solidFill>
              <a:srgbClr val="ECEAE4"/>
            </a:solidFill>
            <a:prstDash val="solid"/>
          </a:ln>
        </p:spPr>
      </p:sp>
      <p:sp>
        <p:nvSpPr>
          <p:cNvPr id="17" name="Text 15"/>
          <p:cNvSpPr/>
          <p:nvPr/>
        </p:nvSpPr>
        <p:spPr>
          <a:xfrm>
            <a:off x="8321040" y="1783080"/>
            <a:ext cx="3108960" cy="320040"/>
          </a:xfrm>
          <a:prstGeom prst="rect">
            <a:avLst/>
          </a:prstGeom>
          <a:noFill/>
          <a:ln/>
        </p:spPr>
        <p:txBody>
          <a:bodyPr wrap="square" lIns="0" tIns="0" rIns="0" bIns="0" rtlCol="0" anchor="t"/>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CE URMEAZĂ PROBABIL</a:t>
            </a:r>
            <a:endParaRPr lang="en-US" sz="1300" dirty="0"/>
          </a:p>
        </p:txBody>
      </p:sp>
      <p:sp>
        <p:nvSpPr>
          <p:cNvPr id="18" name="Text 16"/>
          <p:cNvSpPr/>
          <p:nvPr/>
        </p:nvSpPr>
        <p:spPr>
          <a:xfrm>
            <a:off x="8321040" y="2286000"/>
            <a:ext cx="3108960" cy="8229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 imagistică</a:t>
            </a:r>
            <a:endParaRPr lang="en-US" sz="1550" dirty="0"/>
          </a:p>
        </p:txBody>
      </p:sp>
      <p:sp>
        <p:nvSpPr>
          <p:cNvPr id="19" name="Text 17"/>
          <p:cNvSpPr/>
          <p:nvPr/>
        </p:nvSpPr>
        <p:spPr>
          <a:xfrm>
            <a:off x="8321040" y="3154680"/>
            <a:ext cx="3108960" cy="8229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 chirurgie de o zi</a:t>
            </a:r>
            <a:endParaRPr lang="en-US" sz="1550" dirty="0"/>
          </a:p>
        </p:txBody>
      </p:sp>
      <p:sp>
        <p:nvSpPr>
          <p:cNvPr id="20" name="Text 18"/>
          <p:cNvSpPr/>
          <p:nvPr/>
        </p:nvSpPr>
        <p:spPr>
          <a:xfrm>
            <a:off x="8321040" y="4023360"/>
            <a:ext cx="3108960" cy="8229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 consultații de specialitate</a:t>
            </a:r>
            <a:endParaRPr lang="en-US" sz="155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Valori ipotetice, caz construit.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594360" y="292608"/>
            <a:ext cx="3108960" cy="32918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594360" y="292608"/>
            <a:ext cx="3108960" cy="329184"/>
          </a:xfrm>
          <a:prstGeom prst="rect">
            <a:avLst/>
          </a:prstGeom>
          <a:noFill/>
          <a:ln/>
        </p:spPr>
        <p:txBody>
          <a:bodyPr wrap="square" lIns="0" tIns="0" rIns="0" bIns="0" rtlCol="0" anchor="ctr"/>
          <a:lstStyle/>
          <a:p>
            <a:pPr algn="ctr" indent="0" marL="0">
              <a:buNone/>
            </a:pPr>
            <a:r>
              <a:rPr lang="en-US" sz="1250" b="1" dirty="0">
                <a:solidFill>
                  <a:srgbClr val="3D2A00"/>
                </a:solidFill>
                <a:latin typeface="Palatino Linotype" pitchFamily="34" charset="0"/>
                <a:ea typeface="Palatino Linotype" pitchFamily="34" charset="-122"/>
                <a:cs typeface="Palatino Linotype" pitchFamily="34" charset="-120"/>
              </a:rPr>
              <a:t>TERMENUL NOU 1 DIN 3</a:t>
            </a:r>
            <a:endParaRPr lang="en-US" sz="1250" dirty="0"/>
          </a:p>
        </p:txBody>
      </p:sp>
      <p:sp>
        <p:nvSpPr>
          <p:cNvPr id="4" name="Text 2"/>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Factorii critici de succes</a:t>
            </a:r>
            <a:endParaRPr lang="en-US" sz="3400" dirty="0"/>
          </a:p>
        </p:txBody>
      </p:sp>
      <p:sp>
        <p:nvSpPr>
          <p:cNvPr id="5" name="Shape 3"/>
          <p:cNvSpPr/>
          <p:nvPr/>
        </p:nvSpPr>
        <p:spPr>
          <a:xfrm>
            <a:off x="594360" y="1691640"/>
            <a:ext cx="10972800" cy="1554480"/>
          </a:xfrm>
          <a:prstGeom prst="roundRect">
            <a:avLst>
              <a:gd name="adj" fmla="val 5294"/>
            </a:avLst>
          </a:prstGeom>
          <a:solidFill>
            <a:srgbClr val="1D1F2B"/>
          </a:solidFill>
          <a:ln w="12700">
            <a:solidFill>
              <a:srgbClr val="1D1F2B"/>
            </a:solidFill>
            <a:prstDash val="solid"/>
          </a:ln>
        </p:spPr>
      </p:sp>
      <p:sp>
        <p:nvSpPr>
          <p:cNvPr id="6" name="Text 4"/>
          <p:cNvSpPr/>
          <p:nvPr/>
        </p:nvSpPr>
        <p:spPr>
          <a:xfrm>
            <a:off x="868680" y="1691640"/>
            <a:ext cx="10424160" cy="15544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Puținele activități ale unei linii de servicii, într-o arie anume, pe care organizația trebuie să le facă la un nivel înalt ca să reușească; de regulă, cinci sau șase zone.</a:t>
            </a:r>
            <a:endParaRPr lang="en-US" sz="1900" dirty="0"/>
          </a:p>
        </p:txBody>
      </p:sp>
      <p:sp>
        <p:nvSpPr>
          <p:cNvPr id="7" name="Shape 5"/>
          <p:cNvSpPr/>
          <p:nvPr/>
        </p:nvSpPr>
        <p:spPr>
          <a:xfrm>
            <a:off x="594360" y="3429000"/>
            <a:ext cx="10972800" cy="1051560"/>
          </a:xfrm>
          <a:prstGeom prst="roundRect">
            <a:avLst>
              <a:gd name="adj" fmla="val 7826"/>
            </a:avLst>
          </a:prstGeom>
          <a:solidFill>
            <a:srgbClr val="07564B"/>
          </a:solidFill>
          <a:ln w="12700">
            <a:solidFill>
              <a:srgbClr val="07564B"/>
            </a:solidFill>
            <a:prstDash val="solid"/>
          </a:ln>
        </p:spPr>
      </p:sp>
      <p:sp>
        <p:nvSpPr>
          <p:cNvPr id="8" name="Text 6"/>
          <p:cNvSpPr/>
          <p:nvPr/>
        </p:nvSpPr>
        <p:spPr>
          <a:xfrm>
            <a:off x="868680" y="3429000"/>
            <a:ext cx="10424160" cy="105156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În cuvinte de zi cu zi: ce judecă cel mai mult pacienții și cei care plătesc, pe acea linie.</a:t>
            </a:r>
            <a:endParaRPr lang="en-US" sz="1900" dirty="0"/>
          </a:p>
        </p:txBody>
      </p:sp>
      <p:sp>
        <p:nvSpPr>
          <p:cNvPr id="9" name="Text 7"/>
          <p:cNvSpPr/>
          <p:nvPr/>
        </p:nvSpPr>
        <p:spPr>
          <a:xfrm>
            <a:off x="594360" y="4754880"/>
            <a:ext cx="10972800" cy="731520"/>
          </a:xfrm>
          <a:prstGeom prst="rect">
            <a:avLst/>
          </a:prstGeom>
          <a:noFill/>
          <a:ln/>
        </p:spPr>
        <p:txBody>
          <a:bodyPr wrap="square" lIns="0" tIns="0" rIns="0" bIns="0" rtlCol="0" anchor="t"/>
          <a:lstStyle/>
          <a:p>
            <a:pPr indent="0" marL="0">
              <a:buNone/>
            </a:pPr>
            <a:r>
              <a:rPr lang="en-US" sz="1800" i="1" dirty="0">
                <a:solidFill>
                  <a:srgbClr val="E6E8EF"/>
                </a:solidFill>
                <a:latin typeface="Palatino Linotype" pitchFamily="34" charset="0"/>
                <a:ea typeface="Palatino Linotype" pitchFamily="34" charset="-122"/>
                <a:cs typeface="Palatino Linotype" pitchFamily="34" charset="-120"/>
              </a:rPr>
              <a:t>Excelența într-unul sau în câțiva dintre ei poate sta la baza unui avantaj competitiv.</a:t>
            </a:r>
            <a:endParaRPr lang="en-US" sz="1800" dirty="0"/>
          </a:p>
        </p:txBody>
      </p:sp>
      <p:sp>
        <p:nvSpPr>
          <p:cNvPr id="10" name="Text 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Ginter, Duncan și Swayne, manualul cursului, capitolul 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PE LINIILE SPITALULUI 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Fiecare linie are alți factori</a:t>
            </a:r>
            <a:endParaRPr lang="en-US" sz="3200" dirty="0"/>
          </a:p>
        </p:txBody>
      </p:sp>
      <p:sp>
        <p:nvSpPr>
          <p:cNvPr id="4" name="Shape 2"/>
          <p:cNvSpPr/>
          <p:nvPr/>
        </p:nvSpPr>
        <p:spPr>
          <a:xfrm>
            <a:off x="594360" y="1600200"/>
            <a:ext cx="10972800" cy="768096"/>
          </a:xfrm>
          <a:prstGeom prst="roundRect">
            <a:avLst>
              <a:gd name="adj" fmla="val 10714"/>
            </a:avLst>
          </a:prstGeom>
          <a:solidFill>
            <a:srgbClr val="ECEAE4"/>
          </a:solidFill>
          <a:ln w="12700">
            <a:solidFill>
              <a:srgbClr val="ECEAE4"/>
            </a:solidFill>
            <a:prstDash val="solid"/>
          </a:ln>
        </p:spPr>
      </p:sp>
      <p:sp>
        <p:nvSpPr>
          <p:cNvPr id="5" name="Text 3"/>
          <p:cNvSpPr/>
          <p:nvPr/>
        </p:nvSpPr>
        <p:spPr>
          <a:xfrm>
            <a:off x="868680" y="1600200"/>
            <a:ext cx="3657600" cy="768096"/>
          </a:xfrm>
          <a:prstGeom prst="rect">
            <a:avLst/>
          </a:prstGeom>
          <a:noFill/>
          <a:ln/>
        </p:spPr>
        <p:txBody>
          <a:bodyPr wrap="square" lIns="0" tIns="0" rIns="0" bIns="0" rtlCol="0" anchor="ctr"/>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Examenele RMN</a:t>
            </a:r>
            <a:endParaRPr lang="en-US" sz="1600" dirty="0"/>
          </a:p>
        </p:txBody>
      </p:sp>
      <p:sp>
        <p:nvSpPr>
          <p:cNvPr id="6" name="Text 4"/>
          <p:cNvSpPr/>
          <p:nvPr/>
        </p:nvSpPr>
        <p:spPr>
          <a:xfrm>
            <a:off x="4663440" y="1600200"/>
            <a:ext cx="6766560" cy="76809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așteptarea, programul, informația dată pacientului</a:t>
            </a:r>
            <a:endParaRPr lang="en-US" sz="1600" dirty="0"/>
          </a:p>
        </p:txBody>
      </p:sp>
      <p:sp>
        <p:nvSpPr>
          <p:cNvPr id="7" name="Shape 5"/>
          <p:cNvSpPr/>
          <p:nvPr/>
        </p:nvSpPr>
        <p:spPr>
          <a:xfrm>
            <a:off x="594360" y="2496312"/>
            <a:ext cx="10972800" cy="768096"/>
          </a:xfrm>
          <a:prstGeom prst="roundRect">
            <a:avLst>
              <a:gd name="adj" fmla="val 10714"/>
            </a:avLst>
          </a:prstGeom>
          <a:solidFill>
            <a:srgbClr val="F9F8F5"/>
          </a:solidFill>
          <a:ln w="12700">
            <a:solidFill>
              <a:srgbClr val="F9F8F5"/>
            </a:solidFill>
            <a:prstDash val="solid"/>
          </a:ln>
        </p:spPr>
      </p:sp>
      <p:sp>
        <p:nvSpPr>
          <p:cNvPr id="8" name="Text 6"/>
          <p:cNvSpPr/>
          <p:nvPr/>
        </p:nvSpPr>
        <p:spPr>
          <a:xfrm>
            <a:off x="868680" y="2496312"/>
            <a:ext cx="3657600" cy="768096"/>
          </a:xfrm>
          <a:prstGeom prst="rect">
            <a:avLst/>
          </a:prstGeom>
          <a:noFill/>
          <a:ln/>
        </p:spPr>
        <p:txBody>
          <a:bodyPr wrap="square" lIns="0" tIns="0" rIns="0" bIns="0" rtlCol="0" anchor="ctr"/>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Cardiologia intervențională</a:t>
            </a:r>
            <a:endParaRPr lang="en-US" sz="1600" dirty="0"/>
          </a:p>
        </p:txBody>
      </p:sp>
      <p:sp>
        <p:nvSpPr>
          <p:cNvPr id="9" name="Text 7"/>
          <p:cNvSpPr/>
          <p:nvPr/>
        </p:nvSpPr>
        <p:spPr>
          <a:xfrm>
            <a:off x="4663440" y="2496312"/>
            <a:ext cx="6766560" cy="76809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timpul până la dilatarea arterei; echipa la orice oră</a:t>
            </a:r>
            <a:endParaRPr lang="en-US" sz="1600" dirty="0"/>
          </a:p>
        </p:txBody>
      </p:sp>
      <p:sp>
        <p:nvSpPr>
          <p:cNvPr id="10" name="Shape 8"/>
          <p:cNvSpPr/>
          <p:nvPr/>
        </p:nvSpPr>
        <p:spPr>
          <a:xfrm>
            <a:off x="594360" y="3392424"/>
            <a:ext cx="10972800" cy="768096"/>
          </a:xfrm>
          <a:prstGeom prst="roundRect">
            <a:avLst>
              <a:gd name="adj" fmla="val 10714"/>
            </a:avLst>
          </a:prstGeom>
          <a:solidFill>
            <a:srgbClr val="ECEAE4"/>
          </a:solidFill>
          <a:ln w="12700">
            <a:solidFill>
              <a:srgbClr val="ECEAE4"/>
            </a:solidFill>
            <a:prstDash val="solid"/>
          </a:ln>
        </p:spPr>
      </p:sp>
      <p:sp>
        <p:nvSpPr>
          <p:cNvPr id="11" name="Text 9"/>
          <p:cNvSpPr/>
          <p:nvPr/>
        </p:nvSpPr>
        <p:spPr>
          <a:xfrm>
            <a:off x="868680" y="3392424"/>
            <a:ext cx="3657600" cy="768096"/>
          </a:xfrm>
          <a:prstGeom prst="rect">
            <a:avLst/>
          </a:prstGeom>
          <a:noFill/>
          <a:ln/>
        </p:spPr>
        <p:txBody>
          <a:bodyPr wrap="square" lIns="0" tIns="0" rIns="0" bIns="0" rtlCol="0" anchor="ctr"/>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Radioterapia</a:t>
            </a:r>
            <a:endParaRPr lang="en-US" sz="1600" dirty="0"/>
          </a:p>
        </p:txBody>
      </p:sp>
      <p:sp>
        <p:nvSpPr>
          <p:cNvPr id="12" name="Text 10"/>
          <p:cNvSpPr/>
          <p:nvPr/>
        </p:nvSpPr>
        <p:spPr>
          <a:xfrm>
            <a:off x="4663440" y="3392424"/>
            <a:ext cx="6766560" cy="76809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timpul până la începerea tratamentului; drumul</a:t>
            </a:r>
            <a:endParaRPr lang="en-US" sz="1600" dirty="0"/>
          </a:p>
        </p:txBody>
      </p:sp>
      <p:sp>
        <p:nvSpPr>
          <p:cNvPr id="13" name="Shape 11"/>
          <p:cNvSpPr/>
          <p:nvPr/>
        </p:nvSpPr>
        <p:spPr>
          <a:xfrm>
            <a:off x="594360" y="4288536"/>
            <a:ext cx="10972800" cy="768096"/>
          </a:xfrm>
          <a:prstGeom prst="roundRect">
            <a:avLst>
              <a:gd name="adj" fmla="val 10714"/>
            </a:avLst>
          </a:prstGeom>
          <a:solidFill>
            <a:srgbClr val="F9F8F5"/>
          </a:solidFill>
          <a:ln w="12700">
            <a:solidFill>
              <a:srgbClr val="F9F8F5"/>
            </a:solidFill>
            <a:prstDash val="solid"/>
          </a:ln>
        </p:spPr>
      </p:sp>
      <p:sp>
        <p:nvSpPr>
          <p:cNvPr id="14" name="Text 12"/>
          <p:cNvSpPr/>
          <p:nvPr/>
        </p:nvSpPr>
        <p:spPr>
          <a:xfrm>
            <a:off x="868680" y="4288536"/>
            <a:ext cx="3657600" cy="768096"/>
          </a:xfrm>
          <a:prstGeom prst="rect">
            <a:avLst/>
          </a:prstGeom>
          <a:noFill/>
          <a:ln/>
        </p:spPr>
        <p:txBody>
          <a:bodyPr wrap="square" lIns="0" tIns="0" rIns="0" bIns="0" rtlCol="0" anchor="ctr"/>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Recuperarea</a:t>
            </a:r>
            <a:endParaRPr lang="en-US" sz="1600" dirty="0"/>
          </a:p>
        </p:txBody>
      </p:sp>
      <p:sp>
        <p:nvSpPr>
          <p:cNvPr id="15" name="Text 13"/>
          <p:cNvSpPr/>
          <p:nvPr/>
        </p:nvSpPr>
        <p:spPr>
          <a:xfrm>
            <a:off x="4663440" y="4288536"/>
            <a:ext cx="6766560" cy="76809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apropierea de casă; continuitatea după externare</a:t>
            </a:r>
            <a:endParaRPr lang="en-US" sz="1600" dirty="0"/>
          </a:p>
        </p:txBody>
      </p:sp>
      <p:sp>
        <p:nvSpPr>
          <p:cNvPr id="16" name="Text 14"/>
          <p:cNvSpPr/>
          <p:nvPr/>
        </p:nvSpPr>
        <p:spPr>
          <a:xfrm>
            <a:off x="594360" y="5303520"/>
            <a:ext cx="10972800" cy="64008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Cine îi confundă pune banii acolo unde nu decid pacienții.</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594360" y="292608"/>
            <a:ext cx="3108960" cy="32918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594360" y="292608"/>
            <a:ext cx="3108960" cy="329184"/>
          </a:xfrm>
          <a:prstGeom prst="rect">
            <a:avLst/>
          </a:prstGeom>
          <a:noFill/>
          <a:ln/>
        </p:spPr>
        <p:txBody>
          <a:bodyPr wrap="square" lIns="0" tIns="0" rIns="0" bIns="0" rtlCol="0" anchor="ctr"/>
          <a:lstStyle/>
          <a:p>
            <a:pPr algn="ctr" indent="0" marL="0">
              <a:buNone/>
            </a:pPr>
            <a:r>
              <a:rPr lang="en-US" sz="1250" b="1" dirty="0">
                <a:solidFill>
                  <a:srgbClr val="3D2A00"/>
                </a:solidFill>
                <a:latin typeface="Palatino Linotype" pitchFamily="34" charset="0"/>
                <a:ea typeface="Palatino Linotype" pitchFamily="34" charset="-122"/>
                <a:cs typeface="Palatino Linotype" pitchFamily="34" charset="-120"/>
              </a:rPr>
              <a:t>TERMENUL NOU 2 DIN 3</a:t>
            </a:r>
            <a:endParaRPr lang="en-US" sz="1250" dirty="0"/>
          </a:p>
        </p:txBody>
      </p:sp>
      <p:sp>
        <p:nvSpPr>
          <p:cNvPr id="4" name="Text 2"/>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Grupul strategic</a:t>
            </a:r>
            <a:endParaRPr lang="en-US" sz="3400" dirty="0"/>
          </a:p>
        </p:txBody>
      </p:sp>
      <p:sp>
        <p:nvSpPr>
          <p:cNvPr id="5" name="Shape 3"/>
          <p:cNvSpPr/>
          <p:nvPr/>
        </p:nvSpPr>
        <p:spPr>
          <a:xfrm>
            <a:off x="594360" y="1691640"/>
            <a:ext cx="10972800" cy="1554480"/>
          </a:xfrm>
          <a:prstGeom prst="roundRect">
            <a:avLst>
              <a:gd name="adj" fmla="val 5294"/>
            </a:avLst>
          </a:prstGeom>
          <a:solidFill>
            <a:srgbClr val="1D1F2B"/>
          </a:solidFill>
          <a:ln w="12700">
            <a:solidFill>
              <a:srgbClr val="1D1F2B"/>
            </a:solidFill>
            <a:prstDash val="solid"/>
          </a:ln>
        </p:spPr>
      </p:sp>
      <p:sp>
        <p:nvSpPr>
          <p:cNvPr id="6" name="Text 4"/>
          <p:cNvSpPr/>
          <p:nvPr/>
        </p:nvSpPr>
        <p:spPr>
          <a:xfrm>
            <a:off x="868680" y="1691640"/>
            <a:ext cx="10424160" cy="15544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Organizații din aceeași arie de servicii care seamănă între ele, concurează direct pe aceleași dimensiuni și au „rețete” de succes asemănătoare.</a:t>
            </a:r>
            <a:endParaRPr lang="en-US" sz="1900" dirty="0"/>
          </a:p>
        </p:txBody>
      </p:sp>
      <p:sp>
        <p:nvSpPr>
          <p:cNvPr id="7" name="Shape 5"/>
          <p:cNvSpPr/>
          <p:nvPr/>
        </p:nvSpPr>
        <p:spPr>
          <a:xfrm>
            <a:off x="594360" y="3429000"/>
            <a:ext cx="10972800" cy="1051560"/>
          </a:xfrm>
          <a:prstGeom prst="roundRect">
            <a:avLst>
              <a:gd name="adj" fmla="val 7826"/>
            </a:avLst>
          </a:prstGeom>
          <a:solidFill>
            <a:srgbClr val="07564B"/>
          </a:solidFill>
          <a:ln w="12700">
            <a:solidFill>
              <a:srgbClr val="07564B"/>
            </a:solidFill>
            <a:prstDash val="solid"/>
          </a:ln>
        </p:spPr>
      </p:sp>
      <p:sp>
        <p:nvSpPr>
          <p:cNvPr id="8" name="Text 6"/>
          <p:cNvSpPr/>
          <p:nvPr/>
        </p:nvSpPr>
        <p:spPr>
          <a:xfrm>
            <a:off x="868680" y="3429000"/>
            <a:ext cx="10424160" cy="105156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În cuvinte de zi cu zi: vecinii cu care sunteți comparați direct de pacienți.</a:t>
            </a:r>
            <a:endParaRPr lang="en-US" sz="1900" dirty="0"/>
          </a:p>
        </p:txBody>
      </p:sp>
      <p:sp>
        <p:nvSpPr>
          <p:cNvPr id="9" name="Text 7"/>
          <p:cNvSpPr/>
          <p:nvPr/>
        </p:nvSpPr>
        <p:spPr>
          <a:xfrm>
            <a:off x="594360" y="4754880"/>
            <a:ext cx="10972800" cy="731520"/>
          </a:xfrm>
          <a:prstGeom prst="rect">
            <a:avLst/>
          </a:prstGeom>
          <a:noFill/>
          <a:ln/>
        </p:spPr>
        <p:txBody>
          <a:bodyPr wrap="square" lIns="0" tIns="0" rIns="0" bIns="0" rtlCol="0" anchor="t"/>
          <a:lstStyle/>
          <a:p>
            <a:pPr indent="0" marL="0">
              <a:buNone/>
            </a:pPr>
            <a:r>
              <a:rPr lang="en-US" sz="1800" i="1" dirty="0">
                <a:solidFill>
                  <a:srgbClr val="E6E8EF"/>
                </a:solidFill>
                <a:latin typeface="Palatino Linotype" pitchFamily="34" charset="0"/>
                <a:ea typeface="Palatino Linotype" pitchFamily="34" charset="-122"/>
                <a:cs typeface="Palatino Linotype" pitchFamily="34" charset="-120"/>
              </a:rPr>
              <a:t>Reputația unui grup întreg poate deveni o barieră pentru cei care vor să intre în el.</a:t>
            </a:r>
            <a:endParaRPr lang="en-US" sz="1800" dirty="0"/>
          </a:p>
        </p:txBody>
      </p:sp>
      <p:sp>
        <p:nvSpPr>
          <p:cNvPr id="10" name="Text 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Ginter, Duncan și Swayne, manualul cursului, capitolul 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HARTA GRUPURILOR STRATEGICE · LINIA RMN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Două axe, doi factori critici de succes</a:t>
            </a:r>
            <a:endParaRPr lang="en-US" sz="2800" dirty="0"/>
          </a:p>
        </p:txBody>
      </p:sp>
      <p:sp>
        <p:nvSpPr>
          <p:cNvPr id="4" name="Shape 2"/>
          <p:cNvSpPr/>
          <p:nvPr/>
        </p:nvSpPr>
        <p:spPr>
          <a:xfrm>
            <a:off x="1280160" y="1691640"/>
            <a:ext cx="5120640" cy="3931920"/>
          </a:xfrm>
          <a:prstGeom prst="rect">
            <a:avLst/>
          </a:prstGeom>
          <a:solidFill>
            <a:srgbClr val="F9F8F5"/>
          </a:solidFill>
          <a:ln w="9525">
            <a:solidFill>
              <a:srgbClr val="C9C6BE"/>
            </a:solidFill>
            <a:prstDash val="solid"/>
          </a:ln>
        </p:spPr>
      </p:sp>
      <p:sp>
        <p:nvSpPr>
          <p:cNvPr id="5" name="Shape 3"/>
          <p:cNvSpPr/>
          <p:nvPr/>
        </p:nvSpPr>
        <p:spPr>
          <a:xfrm>
            <a:off x="1280160" y="5623560"/>
            <a:ext cx="5303520" cy="9144"/>
          </a:xfrm>
          <a:prstGeom prst="line">
            <a:avLst/>
          </a:prstGeom>
          <a:noFill/>
          <a:ln w="19050">
            <a:solidFill>
              <a:srgbClr val="11121A"/>
            </a:solidFill>
            <a:prstDash val="solid"/>
            <a:tailEnd type="triangle"/>
          </a:ln>
        </p:spPr>
      </p:sp>
      <p:sp>
        <p:nvSpPr>
          <p:cNvPr id="6" name="Shape 4"/>
          <p:cNvSpPr/>
          <p:nvPr/>
        </p:nvSpPr>
        <p:spPr>
          <a:xfrm flipV="1">
            <a:off x="1280160" y="1508760"/>
            <a:ext cx="9144" cy="4114800"/>
          </a:xfrm>
          <a:prstGeom prst="line">
            <a:avLst/>
          </a:prstGeom>
          <a:noFill/>
          <a:ln w="19050">
            <a:solidFill>
              <a:srgbClr val="11121A"/>
            </a:solidFill>
            <a:prstDash val="solid"/>
            <a:tailEnd type="triangle"/>
          </a:ln>
        </p:spPr>
      </p:sp>
      <p:sp>
        <p:nvSpPr>
          <p:cNvPr id="7" name="Text 5"/>
          <p:cNvSpPr/>
          <p:nvPr/>
        </p:nvSpPr>
        <p:spPr>
          <a:xfrm>
            <a:off x="1280160" y="5715000"/>
            <a:ext cx="5120640" cy="320040"/>
          </a:xfrm>
          <a:prstGeom prst="rect">
            <a:avLst/>
          </a:prstGeom>
          <a:noFill/>
          <a:ln/>
        </p:spPr>
        <p:txBody>
          <a:bodyPr wrap="square" lIns="0" tIns="0" rIns="0" bIns="0" rtlCol="0" anchor="t"/>
          <a:lstStyle/>
          <a:p>
            <a:pPr algn="ctr" indent="0" marL="0">
              <a:buNone/>
            </a:pPr>
            <a:r>
              <a:rPr lang="en-US" sz="1250" dirty="0">
                <a:solidFill>
                  <a:srgbClr val="585A64"/>
                </a:solidFill>
                <a:latin typeface="Palatino Linotype" pitchFamily="34" charset="0"/>
                <a:ea typeface="Palatino Linotype" pitchFamily="34" charset="-122"/>
                <a:cs typeface="Palatino Linotype" pitchFamily="34" charset="-120"/>
              </a:rPr>
              <a:t>Așteptarea până la examen: lungă → scurtă</a:t>
            </a:r>
            <a:endParaRPr lang="en-US" sz="1250" dirty="0"/>
          </a:p>
        </p:txBody>
      </p:sp>
      <p:sp>
        <p:nvSpPr>
          <p:cNvPr id="8" name="Text 6"/>
          <p:cNvSpPr/>
          <p:nvPr/>
        </p:nvSpPr>
        <p:spPr>
          <a:xfrm rot="16200000">
            <a:off x="-1097280" y="3474720"/>
            <a:ext cx="3931920" cy="365760"/>
          </a:xfrm>
          <a:prstGeom prst="rect">
            <a:avLst/>
          </a:prstGeom>
          <a:noFill/>
          <a:ln/>
        </p:spPr>
        <p:txBody>
          <a:bodyPr wrap="square" lIns="0" tIns="0" rIns="0" bIns="0" rtlCol="0" anchor="t"/>
          <a:lstStyle/>
          <a:p>
            <a:pPr algn="ctr" indent="0" marL="0">
              <a:buNone/>
            </a:pPr>
            <a:r>
              <a:rPr lang="en-US" sz="1250" dirty="0">
                <a:solidFill>
                  <a:srgbClr val="585A64"/>
                </a:solidFill>
                <a:latin typeface="Palatino Linotype" pitchFamily="34" charset="0"/>
                <a:ea typeface="Palatino Linotype" pitchFamily="34" charset="-122"/>
                <a:cs typeface="Palatino Linotype" pitchFamily="34" charset="-120"/>
              </a:rPr>
              <a:t>Legătura cu tratamentul: slabă → puternică</a:t>
            </a:r>
            <a:endParaRPr lang="en-US" sz="1250" dirty="0"/>
          </a:p>
        </p:txBody>
      </p:sp>
      <p:sp>
        <p:nvSpPr>
          <p:cNvPr id="9" name="Shape 7"/>
          <p:cNvSpPr/>
          <p:nvPr/>
        </p:nvSpPr>
        <p:spPr>
          <a:xfrm>
            <a:off x="1828800" y="2148840"/>
            <a:ext cx="1645920" cy="822960"/>
          </a:xfrm>
          <a:prstGeom prst="ellipse">
            <a:avLst/>
          </a:prstGeom>
          <a:solidFill>
            <a:srgbClr val="0E7C6B"/>
          </a:solidFill>
          <a:ln w="12700">
            <a:solidFill>
              <a:srgbClr val="0E7C6B"/>
            </a:solidFill>
            <a:prstDash val="solid"/>
          </a:ln>
        </p:spPr>
      </p:sp>
      <p:sp>
        <p:nvSpPr>
          <p:cNvPr id="10" name="Text 8"/>
          <p:cNvSpPr/>
          <p:nvPr/>
        </p:nvSpPr>
        <p:spPr>
          <a:xfrm>
            <a:off x="1828800" y="2148840"/>
            <a:ext cx="164592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Spitalul A</a:t>
            </a:r>
            <a:endParaRPr lang="en-US" sz="1500" dirty="0"/>
          </a:p>
        </p:txBody>
      </p:sp>
      <p:sp>
        <p:nvSpPr>
          <p:cNvPr id="11" name="Shape 9"/>
          <p:cNvSpPr/>
          <p:nvPr/>
        </p:nvSpPr>
        <p:spPr>
          <a:xfrm>
            <a:off x="4206240" y="4343400"/>
            <a:ext cx="1645920" cy="822960"/>
          </a:xfrm>
          <a:prstGeom prst="ellipse">
            <a:avLst/>
          </a:prstGeom>
          <a:solidFill>
            <a:srgbClr val="B02532"/>
          </a:solidFill>
          <a:ln w="12700">
            <a:solidFill>
              <a:srgbClr val="B02532"/>
            </a:solidFill>
            <a:prstDash val="solid"/>
          </a:ln>
        </p:spPr>
      </p:sp>
      <p:sp>
        <p:nvSpPr>
          <p:cNvPr id="12" name="Text 10"/>
          <p:cNvSpPr/>
          <p:nvPr/>
        </p:nvSpPr>
        <p:spPr>
          <a:xfrm>
            <a:off x="4206240" y="4343400"/>
            <a:ext cx="164592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Rețeaua C</a:t>
            </a:r>
            <a:endParaRPr lang="en-US" sz="1500" dirty="0"/>
          </a:p>
        </p:txBody>
      </p:sp>
      <p:sp>
        <p:nvSpPr>
          <p:cNvPr id="13" name="Shape 11"/>
          <p:cNvSpPr/>
          <p:nvPr/>
        </p:nvSpPr>
        <p:spPr>
          <a:xfrm>
            <a:off x="6995160" y="1600200"/>
            <a:ext cx="4572000" cy="4343400"/>
          </a:xfrm>
          <a:prstGeom prst="roundRect">
            <a:avLst>
              <a:gd name="adj" fmla="val 1895"/>
            </a:avLst>
          </a:prstGeom>
          <a:solidFill>
            <a:srgbClr val="1D1F2B"/>
          </a:solidFill>
          <a:ln w="12700">
            <a:solidFill>
              <a:srgbClr val="1D1F2B"/>
            </a:solidFill>
            <a:prstDash val="solid"/>
          </a:ln>
        </p:spPr>
      </p:sp>
      <p:sp>
        <p:nvSpPr>
          <p:cNvPr id="14" name="Text 12"/>
          <p:cNvSpPr/>
          <p:nvPr/>
        </p:nvSpPr>
        <p:spPr>
          <a:xfrm>
            <a:off x="7269480" y="1828800"/>
            <a:ext cx="4069080" cy="393192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Spitalul A: </a:t>
            </a:r>
            <a:pPr indent="0" marL="0">
              <a:buNone/>
            </a:pPr>
            <a:r>
              <a:rPr lang="en-US" sz="1600" dirty="0">
                <a:solidFill>
                  <a:srgbClr val="FFFFFF"/>
                </a:solidFill>
                <a:latin typeface="Palatino Linotype" pitchFamily="34" charset="0"/>
                <a:ea typeface="Palatino Linotype" pitchFamily="34" charset="-122"/>
                <a:cs typeface="Palatino Linotype" pitchFamily="34" charset="-120"/>
              </a:rPr>
              <a:t>examenul împreună cu urgența, terapia intensivă și echipa care tratează.</a:t>
            </a:r>
            <a:endParaRPr lang="en-US" sz="1600" dirty="0"/>
          </a:p>
          <a:p>
            <a:pPr indent="0" marL="0">
              <a:buNone/>
            </a:pPr>
            <a:r>
              <a:rPr lang="en-US" sz="1600" dirty="0">
                <a:solidFill>
                  <a:srgbClr val="000000"/>
                </a:solidFill>
                <a:latin typeface="Palatino Linotype" pitchFamily="34" charset="0"/>
                <a:ea typeface="Palatino Linotype" pitchFamily="34" charset="-122"/>
                <a:cs typeface="Palatino Linotype" pitchFamily="34" charset="-120"/>
              </a:rPr>
              <a:t> </a:t>
            </a:r>
            <a:endParaRPr lang="en-US" sz="1600" dirty="0"/>
          </a:p>
          <a:p>
            <a:pPr indent="0" marL="0">
              <a:buNone/>
            </a:pPr>
            <a:r>
              <a:rPr lang="en-US" sz="1600" b="1" dirty="0">
                <a:solidFill>
                  <a:srgbClr val="FF4757"/>
                </a:solidFill>
                <a:latin typeface="Palatino Linotype" pitchFamily="34" charset="0"/>
                <a:ea typeface="Palatino Linotype" pitchFamily="34" charset="-122"/>
                <a:cs typeface="Palatino Linotype" pitchFamily="34" charset="-120"/>
              </a:rPr>
              <a:t>Rețeaua C: </a:t>
            </a:r>
            <a:pPr indent="0" marL="0">
              <a:buNone/>
            </a:pPr>
            <a:r>
              <a:rPr lang="en-US" sz="1600" dirty="0">
                <a:solidFill>
                  <a:srgbClr val="FFFFFF"/>
                </a:solidFill>
                <a:latin typeface="Palatino Linotype" pitchFamily="34" charset="0"/>
                <a:ea typeface="Palatino Linotype" pitchFamily="34" charset="-122"/>
                <a:cs typeface="Palatino Linotype" pitchFamily="34" charset="-120"/>
              </a:rPr>
              <a:t>examenul rapid și comod.</a:t>
            </a:r>
            <a:endParaRPr lang="en-US" sz="1600" dirty="0"/>
          </a:p>
          <a:p>
            <a:pPr indent="0" marL="0">
              <a:buNone/>
            </a:pPr>
            <a:r>
              <a:rPr lang="en-US" sz="1600" dirty="0">
                <a:solidFill>
                  <a:srgbClr val="000000"/>
                </a:solidFill>
                <a:latin typeface="Palatino Linotype" pitchFamily="34" charset="0"/>
                <a:ea typeface="Palatino Linotype" pitchFamily="34" charset="-122"/>
                <a:cs typeface="Palatino Linotype" pitchFamily="34" charset="-120"/>
              </a:rPr>
              <a:t> </a:t>
            </a:r>
            <a:endParaRPr lang="en-US" sz="1600" dirty="0"/>
          </a:p>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În același grup: concurență directă. Între grupuri: indirectă.</a:t>
            </a:r>
            <a:endParaRPr lang="en-US" sz="1600" dirty="0"/>
          </a:p>
        </p:txBody>
      </p:sp>
      <p:sp>
        <p:nvSpPr>
          <p:cNvPr id="15" name="Text 1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Așezare calitativă, caz construit. Regula axelor: Ginter, Duncan și Swayne, capitolul 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 PROPRIA CASĂ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Resurse, activități, capabilități</a:t>
            </a:r>
            <a:endParaRPr lang="en-US" sz="3200" dirty="0"/>
          </a:p>
        </p:txBody>
      </p:sp>
      <p:sp>
        <p:nvSpPr>
          <p:cNvPr id="4" name="Shape 2"/>
          <p:cNvSpPr/>
          <p:nvPr/>
        </p:nvSpPr>
        <p:spPr>
          <a:xfrm>
            <a:off x="594360" y="1600200"/>
            <a:ext cx="3520440" cy="3017520"/>
          </a:xfrm>
          <a:prstGeom prst="roundRect">
            <a:avLst>
              <a:gd name="adj" fmla="val 2727"/>
            </a:avLst>
          </a:prstGeom>
          <a:solidFill>
            <a:srgbClr val="ECEAE4"/>
          </a:solidFill>
          <a:ln w="12700">
            <a:solidFill>
              <a:srgbClr val="ECEAE4"/>
            </a:solidFill>
            <a:prstDash val="solid"/>
          </a:ln>
        </p:spPr>
      </p:sp>
      <p:sp>
        <p:nvSpPr>
          <p:cNvPr id="5" name="Shape 3"/>
          <p:cNvSpPr/>
          <p:nvPr/>
        </p:nvSpPr>
        <p:spPr>
          <a:xfrm>
            <a:off x="594360" y="1600200"/>
            <a:ext cx="3520440" cy="91440"/>
          </a:xfrm>
          <a:prstGeom prst="rect">
            <a:avLst/>
          </a:prstGeom>
          <a:solidFill>
            <a:srgbClr val="0E7C6B"/>
          </a:solidFill>
          <a:ln w="12700">
            <a:solidFill>
              <a:srgbClr val="0E7C6B"/>
            </a:solidFill>
            <a:prstDash val="solid"/>
          </a:ln>
        </p:spPr>
      </p:sp>
      <p:sp>
        <p:nvSpPr>
          <p:cNvPr id="6" name="Text 4"/>
          <p:cNvSpPr/>
          <p:nvPr/>
        </p:nvSpPr>
        <p:spPr>
          <a:xfrm>
            <a:off x="822960" y="1828800"/>
            <a:ext cx="3108960" cy="32004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RESURSELE</a:t>
            </a:r>
            <a:endParaRPr lang="en-US" sz="1300" dirty="0"/>
          </a:p>
        </p:txBody>
      </p:sp>
      <p:sp>
        <p:nvSpPr>
          <p:cNvPr id="7" name="Text 5"/>
          <p:cNvSpPr/>
          <p:nvPr/>
        </p:nvSpPr>
        <p:spPr>
          <a:xfrm>
            <a:off x="822960" y="2286000"/>
            <a:ext cx="3108960" cy="21945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 deține: clădiri, aparate, bani, personal; reputație, date, cunoștințe</a:t>
            </a:r>
            <a:endParaRPr lang="en-US" sz="1600" dirty="0"/>
          </a:p>
        </p:txBody>
      </p:sp>
      <p:sp>
        <p:nvSpPr>
          <p:cNvPr id="8" name="Shape 6"/>
          <p:cNvSpPr/>
          <p:nvPr/>
        </p:nvSpPr>
        <p:spPr>
          <a:xfrm>
            <a:off x="4343400" y="1600200"/>
            <a:ext cx="3520440" cy="3017520"/>
          </a:xfrm>
          <a:prstGeom prst="roundRect">
            <a:avLst>
              <a:gd name="adj" fmla="val 2727"/>
            </a:avLst>
          </a:prstGeom>
          <a:solidFill>
            <a:srgbClr val="ECEAE4"/>
          </a:solidFill>
          <a:ln w="12700">
            <a:solidFill>
              <a:srgbClr val="ECEAE4"/>
            </a:solidFill>
            <a:prstDash val="solid"/>
          </a:ln>
        </p:spPr>
      </p:sp>
      <p:sp>
        <p:nvSpPr>
          <p:cNvPr id="9" name="Shape 7"/>
          <p:cNvSpPr/>
          <p:nvPr/>
        </p:nvSpPr>
        <p:spPr>
          <a:xfrm>
            <a:off x="4343400" y="1600200"/>
            <a:ext cx="3520440" cy="91440"/>
          </a:xfrm>
          <a:prstGeom prst="rect">
            <a:avLst/>
          </a:prstGeom>
          <a:solidFill>
            <a:srgbClr val="8A6100"/>
          </a:solidFill>
          <a:ln w="12700">
            <a:solidFill>
              <a:srgbClr val="8A6100"/>
            </a:solidFill>
            <a:prstDash val="solid"/>
          </a:ln>
        </p:spPr>
      </p:sp>
      <p:sp>
        <p:nvSpPr>
          <p:cNvPr id="10" name="Text 8"/>
          <p:cNvSpPr/>
          <p:nvPr/>
        </p:nvSpPr>
        <p:spPr>
          <a:xfrm>
            <a:off x="4572000" y="1828800"/>
            <a:ext cx="3108960" cy="320040"/>
          </a:xfrm>
          <a:prstGeom prst="rect">
            <a:avLst/>
          </a:prstGeom>
          <a:noFill/>
          <a:ln/>
        </p:spPr>
        <p:txBody>
          <a:bodyPr wrap="square" lIns="0" tIns="0" rIns="0" bIns="0" rtlCol="0" anchor="t"/>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ACTIVITĂȚILE</a:t>
            </a:r>
            <a:endParaRPr lang="en-US" sz="1300" dirty="0"/>
          </a:p>
        </p:txBody>
      </p:sp>
      <p:sp>
        <p:nvSpPr>
          <p:cNvPr id="11" name="Text 9"/>
          <p:cNvSpPr/>
          <p:nvPr/>
        </p:nvSpPr>
        <p:spPr>
          <a:xfrm>
            <a:off x="4572000" y="2286000"/>
            <a:ext cx="3108960" cy="21945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 face zi de zi: programare, tratament, externare; aprovizionare, informatică</a:t>
            </a:r>
            <a:endParaRPr lang="en-US" sz="1600" dirty="0"/>
          </a:p>
        </p:txBody>
      </p:sp>
      <p:sp>
        <p:nvSpPr>
          <p:cNvPr id="12" name="Shape 10"/>
          <p:cNvSpPr/>
          <p:nvPr/>
        </p:nvSpPr>
        <p:spPr>
          <a:xfrm>
            <a:off x="8092440" y="1600200"/>
            <a:ext cx="3520440" cy="3017520"/>
          </a:xfrm>
          <a:prstGeom prst="roundRect">
            <a:avLst>
              <a:gd name="adj" fmla="val 2727"/>
            </a:avLst>
          </a:prstGeom>
          <a:solidFill>
            <a:srgbClr val="ECEAE4"/>
          </a:solidFill>
          <a:ln w="12700">
            <a:solidFill>
              <a:srgbClr val="ECEAE4"/>
            </a:solidFill>
            <a:prstDash val="solid"/>
          </a:ln>
        </p:spPr>
      </p:sp>
      <p:sp>
        <p:nvSpPr>
          <p:cNvPr id="13" name="Shape 11"/>
          <p:cNvSpPr/>
          <p:nvPr/>
        </p:nvSpPr>
        <p:spPr>
          <a:xfrm>
            <a:off x="8092440" y="1600200"/>
            <a:ext cx="3520440" cy="91440"/>
          </a:xfrm>
          <a:prstGeom prst="rect">
            <a:avLst/>
          </a:prstGeom>
          <a:solidFill>
            <a:srgbClr val="B02532"/>
          </a:solidFill>
          <a:ln w="12700">
            <a:solidFill>
              <a:srgbClr val="B02532"/>
            </a:solidFill>
            <a:prstDash val="solid"/>
          </a:ln>
        </p:spPr>
      </p:sp>
      <p:sp>
        <p:nvSpPr>
          <p:cNvPr id="14" name="Text 12"/>
          <p:cNvSpPr/>
          <p:nvPr/>
        </p:nvSpPr>
        <p:spPr>
          <a:xfrm>
            <a:off x="8321040" y="1828800"/>
            <a:ext cx="310896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CAPABILITĂȚILE</a:t>
            </a:r>
            <a:endParaRPr lang="en-US" sz="1300" dirty="0"/>
          </a:p>
        </p:txBody>
      </p:sp>
      <p:sp>
        <p:nvSpPr>
          <p:cNvPr id="15" name="Text 13"/>
          <p:cNvSpPr/>
          <p:nvPr/>
        </p:nvSpPr>
        <p:spPr>
          <a:xfrm>
            <a:off x="8321040" y="2286000"/>
            <a:ext cx="3108960" cy="21945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cum le combină: ambulanța anunță infarctul, iar echipa e în sală când ajunge pacientul</a:t>
            </a:r>
            <a:endParaRPr lang="en-US" sz="1600" dirty="0"/>
          </a:p>
        </p:txBody>
      </p:sp>
      <p:sp>
        <p:nvSpPr>
          <p:cNvPr id="16" name="Text 14"/>
          <p:cNvSpPr/>
          <p:nvPr/>
        </p:nvSpPr>
        <p:spPr>
          <a:xfrm>
            <a:off x="594360" y="4892040"/>
            <a:ext cx="10972800" cy="8229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Resursele tangibile se obțin mai ușor. Componentele intangibile fac competențele greu de copiat.</a:t>
            </a:r>
            <a:endParaRPr lang="en-US" sz="18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Walston, capitolul 8, pentru resursele tangibile și intangibile.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594360" y="292608"/>
            <a:ext cx="3108960" cy="32918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594360" y="292608"/>
            <a:ext cx="3108960" cy="329184"/>
          </a:xfrm>
          <a:prstGeom prst="rect">
            <a:avLst/>
          </a:prstGeom>
          <a:noFill/>
          <a:ln/>
        </p:spPr>
        <p:txBody>
          <a:bodyPr wrap="square" lIns="0" tIns="0" rIns="0" bIns="0" rtlCol="0" anchor="ctr"/>
          <a:lstStyle/>
          <a:p>
            <a:pPr algn="ctr" indent="0" marL="0">
              <a:buNone/>
            </a:pPr>
            <a:r>
              <a:rPr lang="en-US" sz="1250" b="1" dirty="0">
                <a:solidFill>
                  <a:srgbClr val="3D2A00"/>
                </a:solidFill>
                <a:latin typeface="Palatino Linotype" pitchFamily="34" charset="0"/>
                <a:ea typeface="Palatino Linotype" pitchFamily="34" charset="-122"/>
                <a:cs typeface="Palatino Linotype" pitchFamily="34" charset="-120"/>
              </a:rPr>
              <a:t>TERMENUL NOU 3 DIN 3</a:t>
            </a:r>
            <a:endParaRPr lang="en-US" sz="1250" dirty="0"/>
          </a:p>
        </p:txBody>
      </p:sp>
      <p:sp>
        <p:nvSpPr>
          <p:cNvPr id="4" name="Text 2"/>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Testul VRIO</a:t>
            </a:r>
            <a:endParaRPr lang="en-US" sz="3400" dirty="0"/>
          </a:p>
        </p:txBody>
      </p:sp>
      <p:sp>
        <p:nvSpPr>
          <p:cNvPr id="5" name="Shape 3"/>
          <p:cNvSpPr/>
          <p:nvPr/>
        </p:nvSpPr>
        <p:spPr>
          <a:xfrm>
            <a:off x="594360" y="1554480"/>
            <a:ext cx="10972800" cy="658368"/>
          </a:xfrm>
          <a:prstGeom prst="roundRect">
            <a:avLst>
              <a:gd name="adj" fmla="val 12500"/>
            </a:avLst>
          </a:prstGeom>
          <a:solidFill>
            <a:srgbClr val="1D1F2B"/>
          </a:solidFill>
          <a:ln w="12700">
            <a:solidFill>
              <a:srgbClr val="1D1F2B"/>
            </a:solidFill>
            <a:prstDash val="solid"/>
          </a:ln>
        </p:spPr>
      </p:sp>
      <p:sp>
        <p:nvSpPr>
          <p:cNvPr id="6" name="Shape 4"/>
          <p:cNvSpPr/>
          <p:nvPr/>
        </p:nvSpPr>
        <p:spPr>
          <a:xfrm>
            <a:off x="868680" y="1673352"/>
            <a:ext cx="420624" cy="420624"/>
          </a:xfrm>
          <a:prstGeom prst="ellipse">
            <a:avLst/>
          </a:prstGeom>
          <a:solidFill>
            <a:srgbClr val="FFC24B"/>
          </a:solidFill>
          <a:ln/>
        </p:spPr>
      </p:sp>
      <p:sp>
        <p:nvSpPr>
          <p:cNvPr id="7" name="Text 5"/>
          <p:cNvSpPr/>
          <p:nvPr/>
        </p:nvSpPr>
        <p:spPr>
          <a:xfrm>
            <a:off x="868680" y="16733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V</a:t>
            </a:r>
            <a:endParaRPr lang="en-US" sz="1400" dirty="0"/>
          </a:p>
        </p:txBody>
      </p:sp>
      <p:sp>
        <p:nvSpPr>
          <p:cNvPr id="8" name="Text 6"/>
          <p:cNvSpPr/>
          <p:nvPr/>
        </p:nvSpPr>
        <p:spPr>
          <a:xfrm>
            <a:off x="1508760" y="1554480"/>
            <a:ext cx="978408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Este valoroasă pentru pacienți și pentru cei care plătesc?</a:t>
            </a:r>
            <a:endParaRPr lang="en-US" sz="1800" dirty="0"/>
          </a:p>
        </p:txBody>
      </p:sp>
      <p:sp>
        <p:nvSpPr>
          <p:cNvPr id="9" name="Shape 7"/>
          <p:cNvSpPr/>
          <p:nvPr/>
        </p:nvSpPr>
        <p:spPr>
          <a:xfrm>
            <a:off x="594360" y="2331720"/>
            <a:ext cx="10972800" cy="658368"/>
          </a:xfrm>
          <a:prstGeom prst="roundRect">
            <a:avLst>
              <a:gd name="adj" fmla="val 12500"/>
            </a:avLst>
          </a:prstGeom>
          <a:solidFill>
            <a:srgbClr val="1D1F2B"/>
          </a:solidFill>
          <a:ln w="12700">
            <a:solidFill>
              <a:srgbClr val="1D1F2B"/>
            </a:solidFill>
            <a:prstDash val="solid"/>
          </a:ln>
        </p:spPr>
      </p:sp>
      <p:sp>
        <p:nvSpPr>
          <p:cNvPr id="10" name="Shape 8"/>
          <p:cNvSpPr/>
          <p:nvPr/>
        </p:nvSpPr>
        <p:spPr>
          <a:xfrm>
            <a:off x="868680" y="2450592"/>
            <a:ext cx="420624" cy="420624"/>
          </a:xfrm>
          <a:prstGeom prst="ellipse">
            <a:avLst/>
          </a:prstGeom>
          <a:solidFill>
            <a:srgbClr val="FFC24B"/>
          </a:solidFill>
          <a:ln/>
        </p:spPr>
      </p:sp>
      <p:sp>
        <p:nvSpPr>
          <p:cNvPr id="11" name="Text 9"/>
          <p:cNvSpPr/>
          <p:nvPr/>
        </p:nvSpPr>
        <p:spPr>
          <a:xfrm>
            <a:off x="868680" y="24505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R</a:t>
            </a:r>
            <a:endParaRPr lang="en-US" sz="1400" dirty="0"/>
          </a:p>
        </p:txBody>
      </p:sp>
      <p:sp>
        <p:nvSpPr>
          <p:cNvPr id="12" name="Text 10"/>
          <p:cNvSpPr/>
          <p:nvPr/>
        </p:nvSpPr>
        <p:spPr>
          <a:xfrm>
            <a:off x="1508760" y="2331720"/>
            <a:ext cx="978408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Este rară printre concurenți?</a:t>
            </a:r>
            <a:endParaRPr lang="en-US" sz="1800" dirty="0"/>
          </a:p>
        </p:txBody>
      </p:sp>
      <p:sp>
        <p:nvSpPr>
          <p:cNvPr id="13" name="Shape 11"/>
          <p:cNvSpPr/>
          <p:nvPr/>
        </p:nvSpPr>
        <p:spPr>
          <a:xfrm>
            <a:off x="594360" y="3108960"/>
            <a:ext cx="10972800" cy="658368"/>
          </a:xfrm>
          <a:prstGeom prst="roundRect">
            <a:avLst>
              <a:gd name="adj" fmla="val 12500"/>
            </a:avLst>
          </a:prstGeom>
          <a:solidFill>
            <a:srgbClr val="1D1F2B"/>
          </a:solidFill>
          <a:ln w="12700">
            <a:solidFill>
              <a:srgbClr val="1D1F2B"/>
            </a:solidFill>
            <a:prstDash val="solid"/>
          </a:ln>
        </p:spPr>
      </p:sp>
      <p:sp>
        <p:nvSpPr>
          <p:cNvPr id="14" name="Shape 12"/>
          <p:cNvSpPr/>
          <p:nvPr/>
        </p:nvSpPr>
        <p:spPr>
          <a:xfrm>
            <a:off x="868680" y="3227832"/>
            <a:ext cx="420624" cy="420624"/>
          </a:xfrm>
          <a:prstGeom prst="ellipse">
            <a:avLst/>
          </a:prstGeom>
          <a:solidFill>
            <a:srgbClr val="FFC24B"/>
          </a:solidFill>
          <a:ln/>
        </p:spPr>
      </p:sp>
      <p:sp>
        <p:nvSpPr>
          <p:cNvPr id="15" name="Text 13"/>
          <p:cNvSpPr/>
          <p:nvPr/>
        </p:nvSpPr>
        <p:spPr>
          <a:xfrm>
            <a:off x="868680" y="32278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I</a:t>
            </a:r>
            <a:endParaRPr lang="en-US" sz="1400" dirty="0"/>
          </a:p>
        </p:txBody>
      </p:sp>
      <p:sp>
        <p:nvSpPr>
          <p:cNvPr id="16" name="Text 14"/>
          <p:cNvSpPr/>
          <p:nvPr/>
        </p:nvSpPr>
        <p:spPr>
          <a:xfrm>
            <a:off x="1508760" y="3108960"/>
            <a:ext cx="978408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Este greu de imitat?</a:t>
            </a:r>
            <a:endParaRPr lang="en-US" sz="1800" dirty="0"/>
          </a:p>
        </p:txBody>
      </p:sp>
      <p:sp>
        <p:nvSpPr>
          <p:cNvPr id="17" name="Shape 15"/>
          <p:cNvSpPr/>
          <p:nvPr/>
        </p:nvSpPr>
        <p:spPr>
          <a:xfrm>
            <a:off x="594360" y="3886200"/>
            <a:ext cx="10972800" cy="658368"/>
          </a:xfrm>
          <a:prstGeom prst="roundRect">
            <a:avLst>
              <a:gd name="adj" fmla="val 12500"/>
            </a:avLst>
          </a:prstGeom>
          <a:solidFill>
            <a:srgbClr val="1D1F2B"/>
          </a:solidFill>
          <a:ln w="12700">
            <a:solidFill>
              <a:srgbClr val="1D1F2B"/>
            </a:solidFill>
            <a:prstDash val="solid"/>
          </a:ln>
        </p:spPr>
      </p:sp>
      <p:sp>
        <p:nvSpPr>
          <p:cNvPr id="18" name="Shape 16"/>
          <p:cNvSpPr/>
          <p:nvPr/>
        </p:nvSpPr>
        <p:spPr>
          <a:xfrm>
            <a:off x="868680" y="4005072"/>
            <a:ext cx="420624" cy="420624"/>
          </a:xfrm>
          <a:prstGeom prst="ellipse">
            <a:avLst/>
          </a:prstGeom>
          <a:solidFill>
            <a:srgbClr val="FFC24B"/>
          </a:solidFill>
          <a:ln/>
        </p:spPr>
      </p:sp>
      <p:sp>
        <p:nvSpPr>
          <p:cNvPr id="19" name="Text 17"/>
          <p:cNvSpPr/>
          <p:nvPr/>
        </p:nvSpPr>
        <p:spPr>
          <a:xfrm>
            <a:off x="868680" y="40050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O</a:t>
            </a:r>
            <a:endParaRPr lang="en-US" sz="1400" dirty="0"/>
          </a:p>
        </p:txBody>
      </p:sp>
      <p:sp>
        <p:nvSpPr>
          <p:cNvPr id="20" name="Text 18"/>
          <p:cNvSpPr/>
          <p:nvPr/>
        </p:nvSpPr>
        <p:spPr>
          <a:xfrm>
            <a:off x="1508760" y="3886200"/>
            <a:ext cx="978408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Este organizația pregătită să o folosească?</a:t>
            </a:r>
            <a:endParaRPr lang="en-US" sz="1800" dirty="0"/>
          </a:p>
        </p:txBody>
      </p:sp>
      <p:sp>
        <p:nvSpPr>
          <p:cNvPr id="21" name="Shape 19"/>
          <p:cNvSpPr/>
          <p:nvPr/>
        </p:nvSpPr>
        <p:spPr>
          <a:xfrm>
            <a:off x="594360" y="4754880"/>
            <a:ext cx="10972800" cy="868680"/>
          </a:xfrm>
          <a:prstGeom prst="roundRect">
            <a:avLst>
              <a:gd name="adj" fmla="val 9474"/>
            </a:avLst>
          </a:prstGeom>
          <a:solidFill>
            <a:srgbClr val="07564B"/>
          </a:solidFill>
          <a:ln w="12700">
            <a:solidFill>
              <a:srgbClr val="07564B"/>
            </a:solidFill>
            <a:prstDash val="solid"/>
          </a:ln>
        </p:spPr>
      </p:sp>
      <p:sp>
        <p:nvSpPr>
          <p:cNvPr id="22" name="Text 20"/>
          <p:cNvSpPr/>
          <p:nvPr/>
        </p:nvSpPr>
        <p:spPr>
          <a:xfrm>
            <a:off x="868680" y="4754880"/>
            <a:ext cx="10424160" cy="86868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În cuvinte de zi cu zi: contează, nu are aproape nimeni, nu se copiază repede și chiar știți s-o folosiți.</a:t>
            </a:r>
            <a:endParaRPr lang="en-US" sz="1700" dirty="0"/>
          </a:p>
        </p:txBody>
      </p:sp>
      <p:sp>
        <p:nvSpPr>
          <p:cNvPr id="23" name="Text 2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Formularea în patru întrebări aparține fișei disciplinei.</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FEL DE AVANTAJ</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O scară construită pentru curs</a:t>
            </a:r>
            <a:endParaRPr lang="en-US" sz="3200" dirty="0"/>
          </a:p>
        </p:txBody>
      </p:sp>
      <p:sp>
        <p:nvSpPr>
          <p:cNvPr id="4" name="Shape 2"/>
          <p:cNvSpPr/>
          <p:nvPr/>
        </p:nvSpPr>
        <p:spPr>
          <a:xfrm>
            <a:off x="594360" y="4343400"/>
            <a:ext cx="6035040" cy="1051560"/>
          </a:xfrm>
          <a:prstGeom prst="roundRect">
            <a:avLst>
              <a:gd name="adj" fmla="val 7826"/>
            </a:avLst>
          </a:prstGeom>
          <a:solidFill>
            <a:srgbClr val="ECEAE4"/>
          </a:solidFill>
          <a:ln w="12700">
            <a:solidFill>
              <a:srgbClr val="ECEAE4"/>
            </a:solidFill>
            <a:prstDash val="solid"/>
          </a:ln>
        </p:spPr>
      </p:sp>
      <p:sp>
        <p:nvSpPr>
          <p:cNvPr id="5" name="Text 3"/>
          <p:cNvSpPr/>
          <p:nvPr/>
        </p:nvSpPr>
        <p:spPr>
          <a:xfrm>
            <a:off x="822960" y="4434840"/>
            <a:ext cx="5486400" cy="45720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Valoroasă, dar comună</a:t>
            </a:r>
            <a:endParaRPr lang="en-US" sz="1500" dirty="0"/>
          </a:p>
        </p:txBody>
      </p:sp>
      <p:sp>
        <p:nvSpPr>
          <p:cNvPr id="6" name="Text 4"/>
          <p:cNvSpPr/>
          <p:nvPr/>
        </p:nvSpPr>
        <p:spPr>
          <a:xfrm>
            <a:off x="822960" y="4892040"/>
            <a:ext cx="5486400" cy="41148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 condiția de a rămâne în joc</a:t>
            </a:r>
            <a:endParaRPr lang="en-US" sz="1500" dirty="0"/>
          </a:p>
        </p:txBody>
      </p:sp>
      <p:sp>
        <p:nvSpPr>
          <p:cNvPr id="7" name="Shape 5"/>
          <p:cNvSpPr/>
          <p:nvPr/>
        </p:nvSpPr>
        <p:spPr>
          <a:xfrm>
            <a:off x="1051560" y="3108960"/>
            <a:ext cx="5577840" cy="1051560"/>
          </a:xfrm>
          <a:prstGeom prst="roundRect">
            <a:avLst>
              <a:gd name="adj" fmla="val 7826"/>
            </a:avLst>
          </a:prstGeom>
          <a:solidFill>
            <a:srgbClr val="ECEAE4"/>
          </a:solidFill>
          <a:ln w="12700">
            <a:solidFill>
              <a:srgbClr val="ECEAE4"/>
            </a:solidFill>
            <a:prstDash val="solid"/>
          </a:ln>
        </p:spPr>
      </p:sp>
      <p:sp>
        <p:nvSpPr>
          <p:cNvPr id="8" name="Text 6"/>
          <p:cNvSpPr/>
          <p:nvPr/>
        </p:nvSpPr>
        <p:spPr>
          <a:xfrm>
            <a:off x="1280160" y="3200400"/>
            <a:ext cx="5029200" cy="45720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Valoroasă și rară, dar ușor de copiat</a:t>
            </a:r>
            <a:endParaRPr lang="en-US" sz="1500" dirty="0"/>
          </a:p>
        </p:txBody>
      </p:sp>
      <p:sp>
        <p:nvSpPr>
          <p:cNvPr id="9" name="Text 7"/>
          <p:cNvSpPr/>
          <p:nvPr/>
        </p:nvSpPr>
        <p:spPr>
          <a:xfrm>
            <a:off x="1280160" y="3657600"/>
            <a:ext cx="5029200" cy="411480"/>
          </a:xfrm>
          <a:prstGeom prst="rect">
            <a:avLst/>
          </a:prstGeom>
          <a:noFill/>
          <a:ln/>
        </p:spPr>
        <p:txBody>
          <a:bodyPr wrap="square" lIns="0" tIns="0" rIns="0" bIns="0" rtlCol="0" anchor="t"/>
          <a:lstStyle/>
          <a:p>
            <a:pPr indent="0" marL="0">
              <a:buNone/>
            </a:pPr>
            <a:r>
              <a:rPr lang="en-US" sz="1500" dirty="0">
                <a:solidFill>
                  <a:srgbClr val="8A6100"/>
                </a:solidFill>
                <a:latin typeface="Palatino Linotype" pitchFamily="34" charset="0"/>
                <a:ea typeface="Palatino Linotype" pitchFamily="34" charset="-122"/>
                <a:cs typeface="Palatino Linotype" pitchFamily="34" charset="-120"/>
              </a:rPr>
              <a:t>→ avantaj de scurtă durată</a:t>
            </a:r>
            <a:endParaRPr lang="en-US" sz="1500" dirty="0"/>
          </a:p>
        </p:txBody>
      </p:sp>
      <p:sp>
        <p:nvSpPr>
          <p:cNvPr id="10" name="Shape 8"/>
          <p:cNvSpPr/>
          <p:nvPr/>
        </p:nvSpPr>
        <p:spPr>
          <a:xfrm>
            <a:off x="1508760" y="1874520"/>
            <a:ext cx="5120640" cy="1051560"/>
          </a:xfrm>
          <a:prstGeom prst="roundRect">
            <a:avLst>
              <a:gd name="adj" fmla="val 7826"/>
            </a:avLst>
          </a:prstGeom>
          <a:solidFill>
            <a:srgbClr val="07564B"/>
          </a:solidFill>
          <a:ln w="12700">
            <a:solidFill>
              <a:srgbClr val="07564B"/>
            </a:solidFill>
            <a:prstDash val="solid"/>
          </a:ln>
        </p:spPr>
      </p:sp>
      <p:sp>
        <p:nvSpPr>
          <p:cNvPr id="11" name="Text 9"/>
          <p:cNvSpPr/>
          <p:nvPr/>
        </p:nvSpPr>
        <p:spPr>
          <a:xfrm>
            <a:off x="1737360" y="1965960"/>
            <a:ext cx="4572000" cy="457200"/>
          </a:xfrm>
          <a:prstGeom prst="rect">
            <a:avLst/>
          </a:prstGeom>
          <a:noFill/>
          <a:ln/>
        </p:spPr>
        <p:txBody>
          <a:bodyPr wrap="square" lIns="0" tIns="0" rIns="0" bIns="0" rtlCol="0" anchor="t"/>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Valoroasă, rară, greu de imitat, bine organizată</a:t>
            </a:r>
            <a:endParaRPr lang="en-US" sz="1500" dirty="0"/>
          </a:p>
        </p:txBody>
      </p:sp>
      <p:sp>
        <p:nvSpPr>
          <p:cNvPr id="12" name="Text 10"/>
          <p:cNvSpPr/>
          <p:nvPr/>
        </p:nvSpPr>
        <p:spPr>
          <a:xfrm>
            <a:off x="1737360" y="2423160"/>
            <a:ext cx="4572000" cy="411480"/>
          </a:xfrm>
          <a:prstGeom prst="rect">
            <a:avLst/>
          </a:prstGeom>
          <a:noFill/>
          <a:ln/>
        </p:spPr>
        <p:txBody>
          <a:bodyPr wrap="square" lIns="0" tIns="0" rIns="0" bIns="0" rtlCol="0" anchor="t"/>
          <a:lstStyle/>
          <a:p>
            <a:pPr indent="0" marL="0">
              <a:buNone/>
            </a:pPr>
            <a:r>
              <a:rPr lang="en-US" sz="1500" dirty="0">
                <a:solidFill>
                  <a:srgbClr val="D7F3EE"/>
                </a:solidFill>
                <a:latin typeface="Palatino Linotype" pitchFamily="34" charset="0"/>
                <a:ea typeface="Palatino Linotype" pitchFamily="34" charset="-122"/>
                <a:cs typeface="Palatino Linotype" pitchFamily="34" charset="-120"/>
              </a:rPr>
              <a:t>→ avantaj durabil</a:t>
            </a:r>
            <a:endParaRPr lang="en-US" sz="1500" dirty="0"/>
          </a:p>
        </p:txBody>
      </p:sp>
      <p:sp>
        <p:nvSpPr>
          <p:cNvPr id="13" name="Shape 11"/>
          <p:cNvSpPr/>
          <p:nvPr/>
        </p:nvSpPr>
        <p:spPr>
          <a:xfrm>
            <a:off x="6995160" y="1600200"/>
            <a:ext cx="4572000" cy="3794760"/>
          </a:xfrm>
          <a:prstGeom prst="roundRect">
            <a:avLst>
              <a:gd name="adj" fmla="val 2169"/>
            </a:avLst>
          </a:prstGeom>
          <a:solidFill>
            <a:srgbClr val="1D1F2B"/>
          </a:solidFill>
          <a:ln w="12700">
            <a:solidFill>
              <a:srgbClr val="1D1F2B"/>
            </a:solidFill>
            <a:prstDash val="solid"/>
          </a:ln>
        </p:spPr>
      </p:sp>
      <p:sp>
        <p:nvSpPr>
          <p:cNvPr id="14" name="Text 12"/>
          <p:cNvSpPr/>
          <p:nvPr/>
        </p:nvSpPr>
        <p:spPr>
          <a:xfrm>
            <a:off x="7269480" y="1783080"/>
            <a:ext cx="4023360" cy="32004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WALSTON</a:t>
            </a:r>
            <a:endParaRPr lang="en-US" sz="1300" dirty="0"/>
          </a:p>
        </p:txBody>
      </p:sp>
      <p:sp>
        <p:nvSpPr>
          <p:cNvPr id="15" name="Text 13"/>
          <p:cNvSpPr/>
          <p:nvPr/>
        </p:nvSpPr>
        <p:spPr>
          <a:xfrm>
            <a:off x="7269480" y="2240280"/>
            <a:ext cx="4069080" cy="3017520"/>
          </a:xfrm>
          <a:prstGeom prst="rect">
            <a:avLst/>
          </a:prstGeom>
          <a:noFill/>
          <a:ln/>
        </p:spPr>
        <p:txBody>
          <a:bodyPr wrap="square" lIns="0" tIns="0" rIns="0" bIns="0" rtlCol="0" anchor="t"/>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Chiar și dotările specializate, rare și scumpe, pot să nu susțină avantajul dacă concurenții creează ușor înlocuitori.</a:t>
            </a:r>
            <a:endParaRPr lang="en-US" sz="165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Walston, capitolul 8. Scara nu e preluată dintr-un manual.</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DECIZIA 2</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Care resursă poate susține un avantaj durabil?</a:t>
            </a:r>
            <a:endParaRPr lang="en-US" sz="3100" dirty="0"/>
          </a:p>
        </p:txBody>
      </p:sp>
      <p:sp>
        <p:nvSpPr>
          <p:cNvPr id="6" name="Shape 4"/>
          <p:cNvSpPr/>
          <p:nvPr/>
        </p:nvSpPr>
        <p:spPr>
          <a:xfrm>
            <a:off x="594360" y="1828800"/>
            <a:ext cx="10972800" cy="713232"/>
          </a:xfrm>
          <a:prstGeom prst="roundRect">
            <a:avLst>
              <a:gd name="adj" fmla="val 11538"/>
            </a:avLst>
          </a:prstGeom>
          <a:solidFill>
            <a:srgbClr val="1D1F2B"/>
          </a:solidFill>
          <a:ln w="12700">
            <a:solidFill>
              <a:srgbClr val="1D1F2B"/>
            </a:solidFill>
            <a:prstDash val="solid"/>
          </a:ln>
        </p:spPr>
      </p:sp>
      <p:sp>
        <p:nvSpPr>
          <p:cNvPr id="7" name="Shape 5"/>
          <p:cNvSpPr/>
          <p:nvPr/>
        </p:nvSpPr>
        <p:spPr>
          <a:xfrm>
            <a:off x="868680" y="1975104"/>
            <a:ext cx="420624" cy="420624"/>
          </a:xfrm>
          <a:prstGeom prst="ellipse">
            <a:avLst/>
          </a:prstGeom>
          <a:solidFill>
            <a:srgbClr val="FFC24B"/>
          </a:solidFill>
          <a:ln/>
        </p:spPr>
      </p:sp>
      <p:sp>
        <p:nvSpPr>
          <p:cNvPr id="8" name="Text 6"/>
          <p:cNvSpPr/>
          <p:nvPr/>
        </p:nvSpPr>
        <p:spPr>
          <a:xfrm>
            <a:off x="868680" y="1975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828800"/>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Un aparat RMN nou, mai performant decât ale Rețelei C</a:t>
            </a:r>
            <a:endParaRPr lang="en-US" sz="1900" dirty="0"/>
          </a:p>
        </p:txBody>
      </p:sp>
      <p:sp>
        <p:nvSpPr>
          <p:cNvPr id="10" name="Shape 8"/>
          <p:cNvSpPr/>
          <p:nvPr/>
        </p:nvSpPr>
        <p:spPr>
          <a:xfrm>
            <a:off x="594360" y="2670048"/>
            <a:ext cx="10972800" cy="713232"/>
          </a:xfrm>
          <a:prstGeom prst="roundRect">
            <a:avLst>
              <a:gd name="adj" fmla="val 11538"/>
            </a:avLst>
          </a:prstGeom>
          <a:solidFill>
            <a:srgbClr val="1D1F2B"/>
          </a:solidFill>
          <a:ln w="12700">
            <a:solidFill>
              <a:srgbClr val="1D1F2B"/>
            </a:solidFill>
            <a:prstDash val="solid"/>
          </a:ln>
        </p:spPr>
      </p:sp>
      <p:sp>
        <p:nvSpPr>
          <p:cNvPr id="11" name="Shape 9"/>
          <p:cNvSpPr/>
          <p:nvPr/>
        </p:nvSpPr>
        <p:spPr>
          <a:xfrm>
            <a:off x="868680" y="2816352"/>
            <a:ext cx="420624" cy="420624"/>
          </a:xfrm>
          <a:prstGeom prst="ellipse">
            <a:avLst/>
          </a:prstGeom>
          <a:solidFill>
            <a:srgbClr val="FFC24B"/>
          </a:solidFill>
          <a:ln/>
        </p:spPr>
      </p:sp>
      <p:sp>
        <p:nvSpPr>
          <p:cNvPr id="12" name="Text 10"/>
          <p:cNvSpPr/>
          <p:nvPr/>
        </p:nvSpPr>
        <p:spPr>
          <a:xfrm>
            <a:off x="868680" y="28163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670048"/>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Echipa de cardiologie intervențională, la orice oră, cu circuitul stabilit cu ambulanța</a:t>
            </a:r>
            <a:endParaRPr lang="en-US" sz="1900" dirty="0"/>
          </a:p>
        </p:txBody>
      </p:sp>
      <p:sp>
        <p:nvSpPr>
          <p:cNvPr id="14" name="Shape 12"/>
          <p:cNvSpPr/>
          <p:nvPr/>
        </p:nvSpPr>
        <p:spPr>
          <a:xfrm>
            <a:off x="594360" y="3511296"/>
            <a:ext cx="10972800" cy="713232"/>
          </a:xfrm>
          <a:prstGeom prst="roundRect">
            <a:avLst>
              <a:gd name="adj" fmla="val 11538"/>
            </a:avLst>
          </a:prstGeom>
          <a:solidFill>
            <a:srgbClr val="1D1F2B"/>
          </a:solidFill>
          <a:ln w="12700">
            <a:solidFill>
              <a:srgbClr val="1D1F2B"/>
            </a:solidFill>
            <a:prstDash val="solid"/>
          </a:ln>
        </p:spPr>
      </p:sp>
      <p:sp>
        <p:nvSpPr>
          <p:cNvPr id="15" name="Shape 13"/>
          <p:cNvSpPr/>
          <p:nvPr/>
        </p:nvSpPr>
        <p:spPr>
          <a:xfrm>
            <a:off x="868680" y="3657600"/>
            <a:ext cx="420624" cy="420624"/>
          </a:xfrm>
          <a:prstGeom prst="ellipse">
            <a:avLst/>
          </a:prstGeom>
          <a:solidFill>
            <a:srgbClr val="FFC24B"/>
          </a:solidFill>
          <a:ln/>
        </p:spPr>
      </p:sp>
      <p:sp>
        <p:nvSpPr>
          <p:cNvPr id="16" name="Text 14"/>
          <p:cNvSpPr/>
          <p:nvPr/>
        </p:nvSpPr>
        <p:spPr>
          <a:xfrm>
            <a:off x="868680" y="3657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511296"/>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Contractul cu casa de asigurări</a:t>
            </a:r>
            <a:endParaRPr lang="en-US" sz="1900" dirty="0"/>
          </a:p>
        </p:txBody>
      </p:sp>
      <p:sp>
        <p:nvSpPr>
          <p:cNvPr id="18" name="Shape 16"/>
          <p:cNvSpPr/>
          <p:nvPr/>
        </p:nvSpPr>
        <p:spPr>
          <a:xfrm>
            <a:off x="594360" y="4352544"/>
            <a:ext cx="10972800" cy="713232"/>
          </a:xfrm>
          <a:prstGeom prst="roundRect">
            <a:avLst>
              <a:gd name="adj" fmla="val 11538"/>
            </a:avLst>
          </a:prstGeom>
          <a:solidFill>
            <a:srgbClr val="1D1F2B"/>
          </a:solidFill>
          <a:ln w="12700">
            <a:solidFill>
              <a:srgbClr val="1D1F2B"/>
            </a:solidFill>
            <a:prstDash val="solid"/>
          </a:ln>
        </p:spPr>
      </p:sp>
      <p:sp>
        <p:nvSpPr>
          <p:cNvPr id="19" name="Shape 17"/>
          <p:cNvSpPr/>
          <p:nvPr/>
        </p:nvSpPr>
        <p:spPr>
          <a:xfrm>
            <a:off x="868680" y="4498848"/>
            <a:ext cx="420624" cy="420624"/>
          </a:xfrm>
          <a:prstGeom prst="ellipse">
            <a:avLst/>
          </a:prstGeom>
          <a:solidFill>
            <a:srgbClr val="FFC24B"/>
          </a:solidFill>
          <a:ln/>
        </p:spPr>
      </p:sp>
      <p:sp>
        <p:nvSpPr>
          <p:cNvPr id="20" name="Text 18"/>
          <p:cNvSpPr/>
          <p:nvPr/>
        </p:nvSpPr>
        <p:spPr>
          <a:xfrm>
            <a:off x="868680" y="4498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4352544"/>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Clădirea renovată a ambulatoriului</a:t>
            </a:r>
            <a:endParaRPr lang="en-US" sz="1900" dirty="0"/>
          </a:p>
        </p:txBody>
      </p:sp>
      <p:sp>
        <p:nvSpPr>
          <p:cNvPr id="22" name="Text 20"/>
          <p:cNvSpPr/>
          <p:nvPr/>
        </p:nvSpPr>
        <p:spPr>
          <a:xfrm>
            <a:off x="594360" y="5376672"/>
            <a:ext cx="10972800" cy="4572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Vot individual, fără discuție. Rezultatele rămân ascunse.</a:t>
            </a:r>
            <a:endParaRPr lang="en-US" sz="1700" dirty="0"/>
          </a:p>
        </p:txBody>
      </p:sp>
      <p:sp>
        <p:nvSpPr>
          <p:cNvPr id="23" name="Text 21"/>
          <p:cNvSpPr/>
          <p:nvPr/>
        </p:nvSpPr>
        <p:spPr>
          <a:xfrm>
            <a:off x="594360" y="57607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REVOT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DECIZIA 2 · DUPĂ DISCUȚIE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Convingeți-l pe colegul care a votat altfel</a:t>
            </a:r>
            <a:endParaRPr lang="en-US" sz="3000" dirty="0"/>
          </a:p>
        </p:txBody>
      </p:sp>
      <p:sp>
        <p:nvSpPr>
          <p:cNvPr id="6" name="Text 4"/>
          <p:cNvSpPr/>
          <p:nvPr/>
        </p:nvSpPr>
        <p:spPr>
          <a:xfrm>
            <a:off x="594360" y="1600200"/>
            <a:ext cx="10972800" cy="73152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Două minute cu colegul de bancă. Apoi votați din nou: care resursă poate susține un avantaj durabil?</a:t>
            </a:r>
            <a:endParaRPr lang="en-US" sz="1800" dirty="0"/>
          </a:p>
        </p:txBody>
      </p:sp>
      <p:sp>
        <p:nvSpPr>
          <p:cNvPr id="7" name="Shape 5"/>
          <p:cNvSpPr/>
          <p:nvPr/>
        </p:nvSpPr>
        <p:spPr>
          <a:xfrm>
            <a:off x="594360" y="2514600"/>
            <a:ext cx="5349240" cy="3017520"/>
          </a:xfrm>
          <a:prstGeom prst="roundRect">
            <a:avLst>
              <a:gd name="adj" fmla="val 2727"/>
            </a:avLst>
          </a:prstGeom>
          <a:solidFill>
            <a:srgbClr val="1D1F2B"/>
          </a:solidFill>
          <a:ln w="12700">
            <a:solidFill>
              <a:srgbClr val="1D1F2B"/>
            </a:solidFill>
            <a:prstDash val="solid"/>
          </a:ln>
        </p:spPr>
      </p:sp>
      <p:sp>
        <p:nvSpPr>
          <p:cNvPr id="8" name="Text 6"/>
          <p:cNvSpPr/>
          <p:nvPr/>
        </p:nvSpPr>
        <p:spPr>
          <a:xfrm>
            <a:off x="868680" y="2670048"/>
            <a:ext cx="4846320" cy="32004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PRIMUL VOT</a:t>
            </a:r>
            <a:endParaRPr lang="en-US" sz="1300" dirty="0"/>
          </a:p>
        </p:txBody>
      </p:sp>
      <p:sp>
        <p:nvSpPr>
          <p:cNvPr id="9" name="Text 7"/>
          <p:cNvSpPr/>
          <p:nvPr/>
        </p:nvSpPr>
        <p:spPr>
          <a:xfrm>
            <a:off x="868680" y="315468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A</a:t>
            </a:r>
            <a:endParaRPr lang="en-US" sz="1600" dirty="0"/>
          </a:p>
        </p:txBody>
      </p:sp>
      <p:sp>
        <p:nvSpPr>
          <p:cNvPr id="10" name="Shape 8"/>
          <p:cNvSpPr/>
          <p:nvPr/>
        </p:nvSpPr>
        <p:spPr>
          <a:xfrm>
            <a:off x="1325880" y="3246120"/>
            <a:ext cx="4297680" cy="237744"/>
          </a:xfrm>
          <a:prstGeom prst="rect">
            <a:avLst/>
          </a:prstGeom>
          <a:solidFill>
            <a:srgbClr val="272A38"/>
          </a:solidFill>
          <a:ln w="12700">
            <a:solidFill>
              <a:srgbClr val="272A38"/>
            </a:solidFill>
            <a:prstDash val="solid"/>
          </a:ln>
        </p:spPr>
      </p:sp>
      <p:sp>
        <p:nvSpPr>
          <p:cNvPr id="11" name="Text 9"/>
          <p:cNvSpPr/>
          <p:nvPr/>
        </p:nvSpPr>
        <p:spPr>
          <a:xfrm>
            <a:off x="868680" y="370332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B</a:t>
            </a:r>
            <a:endParaRPr lang="en-US" sz="1600" dirty="0"/>
          </a:p>
        </p:txBody>
      </p:sp>
      <p:sp>
        <p:nvSpPr>
          <p:cNvPr id="12" name="Shape 10"/>
          <p:cNvSpPr/>
          <p:nvPr/>
        </p:nvSpPr>
        <p:spPr>
          <a:xfrm>
            <a:off x="1325880" y="3794760"/>
            <a:ext cx="4297680" cy="237744"/>
          </a:xfrm>
          <a:prstGeom prst="rect">
            <a:avLst/>
          </a:prstGeom>
          <a:solidFill>
            <a:srgbClr val="272A38"/>
          </a:solidFill>
          <a:ln w="12700">
            <a:solidFill>
              <a:srgbClr val="272A38"/>
            </a:solidFill>
            <a:prstDash val="solid"/>
          </a:ln>
        </p:spPr>
      </p:sp>
      <p:sp>
        <p:nvSpPr>
          <p:cNvPr id="13" name="Text 11"/>
          <p:cNvSpPr/>
          <p:nvPr/>
        </p:nvSpPr>
        <p:spPr>
          <a:xfrm>
            <a:off x="868680" y="425196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C</a:t>
            </a:r>
            <a:endParaRPr lang="en-US" sz="1600" dirty="0"/>
          </a:p>
        </p:txBody>
      </p:sp>
      <p:sp>
        <p:nvSpPr>
          <p:cNvPr id="14" name="Shape 12"/>
          <p:cNvSpPr/>
          <p:nvPr/>
        </p:nvSpPr>
        <p:spPr>
          <a:xfrm>
            <a:off x="1325880" y="4343400"/>
            <a:ext cx="4297680" cy="237744"/>
          </a:xfrm>
          <a:prstGeom prst="rect">
            <a:avLst/>
          </a:prstGeom>
          <a:solidFill>
            <a:srgbClr val="272A38"/>
          </a:solidFill>
          <a:ln w="12700">
            <a:solidFill>
              <a:srgbClr val="272A38"/>
            </a:solidFill>
            <a:prstDash val="solid"/>
          </a:ln>
        </p:spPr>
      </p:sp>
      <p:sp>
        <p:nvSpPr>
          <p:cNvPr id="15" name="Text 13"/>
          <p:cNvSpPr/>
          <p:nvPr/>
        </p:nvSpPr>
        <p:spPr>
          <a:xfrm>
            <a:off x="868680" y="480060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D</a:t>
            </a:r>
            <a:endParaRPr lang="en-US" sz="1600" dirty="0"/>
          </a:p>
        </p:txBody>
      </p:sp>
      <p:sp>
        <p:nvSpPr>
          <p:cNvPr id="16" name="Shape 14"/>
          <p:cNvSpPr/>
          <p:nvPr/>
        </p:nvSpPr>
        <p:spPr>
          <a:xfrm>
            <a:off x="1325880" y="4892040"/>
            <a:ext cx="4297680" cy="237744"/>
          </a:xfrm>
          <a:prstGeom prst="rect">
            <a:avLst/>
          </a:prstGeom>
          <a:solidFill>
            <a:srgbClr val="272A38"/>
          </a:solidFill>
          <a:ln w="12700">
            <a:solidFill>
              <a:srgbClr val="272A38"/>
            </a:solidFill>
            <a:prstDash val="solid"/>
          </a:ln>
        </p:spPr>
      </p:sp>
      <p:sp>
        <p:nvSpPr>
          <p:cNvPr id="17" name="Shape 15"/>
          <p:cNvSpPr/>
          <p:nvPr/>
        </p:nvSpPr>
        <p:spPr>
          <a:xfrm>
            <a:off x="6217920" y="2514600"/>
            <a:ext cx="5349240" cy="3017520"/>
          </a:xfrm>
          <a:prstGeom prst="roundRect">
            <a:avLst>
              <a:gd name="adj" fmla="val 2727"/>
            </a:avLst>
          </a:prstGeom>
          <a:solidFill>
            <a:srgbClr val="1D1F2B"/>
          </a:solidFill>
          <a:ln w="12700">
            <a:solidFill>
              <a:srgbClr val="1D1F2B"/>
            </a:solidFill>
            <a:prstDash val="solid"/>
          </a:ln>
        </p:spPr>
      </p:sp>
      <p:sp>
        <p:nvSpPr>
          <p:cNvPr id="18" name="Text 16"/>
          <p:cNvSpPr/>
          <p:nvPr/>
        </p:nvSpPr>
        <p:spPr>
          <a:xfrm>
            <a:off x="6492240" y="2670048"/>
            <a:ext cx="4846320" cy="32004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REVOTUL, DUPĂ DISCUȚIE</a:t>
            </a:r>
            <a:endParaRPr lang="en-US" sz="1300" dirty="0"/>
          </a:p>
        </p:txBody>
      </p:sp>
      <p:sp>
        <p:nvSpPr>
          <p:cNvPr id="19" name="Text 17"/>
          <p:cNvSpPr/>
          <p:nvPr/>
        </p:nvSpPr>
        <p:spPr>
          <a:xfrm>
            <a:off x="6492240" y="315468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A</a:t>
            </a:r>
            <a:endParaRPr lang="en-US" sz="1600" dirty="0"/>
          </a:p>
        </p:txBody>
      </p:sp>
      <p:sp>
        <p:nvSpPr>
          <p:cNvPr id="20" name="Shape 18"/>
          <p:cNvSpPr/>
          <p:nvPr/>
        </p:nvSpPr>
        <p:spPr>
          <a:xfrm>
            <a:off x="6949440" y="3246120"/>
            <a:ext cx="4297680" cy="237744"/>
          </a:xfrm>
          <a:prstGeom prst="rect">
            <a:avLst/>
          </a:prstGeom>
          <a:solidFill>
            <a:srgbClr val="272A38"/>
          </a:solidFill>
          <a:ln w="12700">
            <a:solidFill>
              <a:srgbClr val="272A38"/>
            </a:solidFill>
            <a:prstDash val="solid"/>
          </a:ln>
        </p:spPr>
      </p:sp>
      <p:sp>
        <p:nvSpPr>
          <p:cNvPr id="21" name="Text 19"/>
          <p:cNvSpPr/>
          <p:nvPr/>
        </p:nvSpPr>
        <p:spPr>
          <a:xfrm>
            <a:off x="6492240" y="370332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B</a:t>
            </a:r>
            <a:endParaRPr lang="en-US" sz="1600" dirty="0"/>
          </a:p>
        </p:txBody>
      </p:sp>
      <p:sp>
        <p:nvSpPr>
          <p:cNvPr id="22" name="Shape 20"/>
          <p:cNvSpPr/>
          <p:nvPr/>
        </p:nvSpPr>
        <p:spPr>
          <a:xfrm>
            <a:off x="6949440" y="3794760"/>
            <a:ext cx="4297680" cy="237744"/>
          </a:xfrm>
          <a:prstGeom prst="rect">
            <a:avLst/>
          </a:prstGeom>
          <a:solidFill>
            <a:srgbClr val="272A38"/>
          </a:solidFill>
          <a:ln w="12700">
            <a:solidFill>
              <a:srgbClr val="272A38"/>
            </a:solidFill>
            <a:prstDash val="solid"/>
          </a:ln>
        </p:spPr>
      </p:sp>
      <p:sp>
        <p:nvSpPr>
          <p:cNvPr id="23" name="Text 21"/>
          <p:cNvSpPr/>
          <p:nvPr/>
        </p:nvSpPr>
        <p:spPr>
          <a:xfrm>
            <a:off x="6492240" y="425196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C</a:t>
            </a:r>
            <a:endParaRPr lang="en-US" sz="1600" dirty="0"/>
          </a:p>
        </p:txBody>
      </p:sp>
      <p:sp>
        <p:nvSpPr>
          <p:cNvPr id="24" name="Shape 22"/>
          <p:cNvSpPr/>
          <p:nvPr/>
        </p:nvSpPr>
        <p:spPr>
          <a:xfrm>
            <a:off x="6949440" y="4343400"/>
            <a:ext cx="4297680" cy="237744"/>
          </a:xfrm>
          <a:prstGeom prst="rect">
            <a:avLst/>
          </a:prstGeom>
          <a:solidFill>
            <a:srgbClr val="272A38"/>
          </a:solidFill>
          <a:ln w="12700">
            <a:solidFill>
              <a:srgbClr val="272A38"/>
            </a:solidFill>
            <a:prstDash val="solid"/>
          </a:ln>
        </p:spPr>
      </p:sp>
      <p:sp>
        <p:nvSpPr>
          <p:cNvPr id="25" name="Text 23"/>
          <p:cNvSpPr/>
          <p:nvPr/>
        </p:nvSpPr>
        <p:spPr>
          <a:xfrm>
            <a:off x="6492240" y="4800600"/>
            <a:ext cx="36576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D</a:t>
            </a:r>
            <a:endParaRPr lang="en-US" sz="1600" dirty="0"/>
          </a:p>
        </p:txBody>
      </p:sp>
      <p:sp>
        <p:nvSpPr>
          <p:cNvPr id="26" name="Shape 24"/>
          <p:cNvSpPr/>
          <p:nvPr/>
        </p:nvSpPr>
        <p:spPr>
          <a:xfrm>
            <a:off x="6949440" y="4892040"/>
            <a:ext cx="4297680" cy="237744"/>
          </a:xfrm>
          <a:prstGeom prst="rect">
            <a:avLst/>
          </a:prstGeom>
          <a:solidFill>
            <a:srgbClr val="272A38"/>
          </a:solidFill>
          <a:ln w="12700">
            <a:solidFill>
              <a:srgbClr val="272A38"/>
            </a:solidFill>
            <a:prstDash val="solid"/>
          </a:ln>
        </p:spPr>
      </p:sp>
      <p:sp>
        <p:nvSpPr>
          <p:cNvPr id="27" name="Text 25"/>
          <p:cNvSpPr/>
          <p:nvPr/>
        </p:nvSpPr>
        <p:spPr>
          <a:xfrm>
            <a:off x="594360" y="57607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TESTUL VRIO PE CELE PATRU VARIANTE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Echipa trece toate cele patru întrebări</a:t>
            </a:r>
            <a:endParaRPr lang="en-US" sz="2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94360" y="1554480"/>
          <a:ext cx="10972800" cy="914400"/>
        </p:xfrm>
        <a:graphic>
          <a:graphicData uri="http://schemas.openxmlformats.org/drawingml/2006/table">
            <a:tbl>
              <a:tblPr/>
              <a:tblGrid>
                <a:gridCol w="2286000"/>
                <a:gridCol w="1920240"/>
                <a:gridCol w="1737360"/>
                <a:gridCol w="1828800"/>
                <a:gridCol w="1737360"/>
                <a:gridCol w="1463040"/>
              </a:tblGrid>
              <a:tr h="731520">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Varianta</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Valoroasă</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Rară</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Greu de imitat</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Organizată</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Ce avantaj</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r>
              <a:tr h="731520">
                <a:tc>
                  <a:txBody>
                    <a:bodyP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A · Aparatul RMN</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da</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nu: C cumpără unul la fel</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de scurtă durată</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r>
              <a:tr h="731520">
                <a:tc>
                  <a:txBody>
                    <a:bodyP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B · Echipa și circuitul</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c>
                  <a:txBody>
                    <a:bodyP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da</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c>
                  <a:txBody>
                    <a:bodyP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da: singura din județ</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c>
                  <a:txBody>
                    <a:bodyP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da</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c>
                  <a:txBody>
                    <a:bodyP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da, dacă regulile sunt scrise</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c>
                  <a:txBody>
                    <a:bodyP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durabil</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r>
              <a:tr h="731520">
                <a:tc>
                  <a:txBody>
                    <a:bodyP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C · Contractul cu casa</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da</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nu: îl are și C</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rămâne în joc</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r>
              <a:tr h="731520">
                <a:tc>
                  <a:txBody>
                    <a:bodyP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D · Clădirea renovată</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confort, nu factor critic</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nu</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niciunul</a:t>
                      </a:r>
                      <a:endParaRPr lang="en-US" sz="135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r>
            </a:tbl>
          </a:graphicData>
        </a:graphic>
      </p:graphicFrame>
      <p:sp>
        <p:nvSpPr>
          <p:cNvPr id="5" name="Text 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Liniuța: criteriul nu mai schimbă concluzia.</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 CONFUZIE FRECVENTĂ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Cine racolează un medic nu a copiat echipa</a:t>
            </a:r>
            <a:endParaRPr lang="en-US" sz="3000" dirty="0"/>
          </a:p>
        </p:txBody>
      </p:sp>
      <p:sp>
        <p:nvSpPr>
          <p:cNvPr id="4" name="Shape 2"/>
          <p:cNvSpPr/>
          <p:nvPr/>
        </p:nvSpPr>
        <p:spPr>
          <a:xfrm>
            <a:off x="594360" y="1600200"/>
            <a:ext cx="5349240" cy="1463040"/>
          </a:xfrm>
          <a:prstGeom prst="roundRect">
            <a:avLst>
              <a:gd name="adj" fmla="val 5625"/>
            </a:avLst>
          </a:prstGeom>
          <a:solidFill>
            <a:srgbClr val="ECEAE4"/>
          </a:solidFill>
          <a:ln w="12700">
            <a:solidFill>
              <a:srgbClr val="ECEAE4"/>
            </a:solidFill>
            <a:prstDash val="solid"/>
          </a:ln>
        </p:spPr>
      </p:sp>
      <p:sp>
        <p:nvSpPr>
          <p:cNvPr id="5" name="Text 3"/>
          <p:cNvSpPr/>
          <p:nvPr/>
        </p:nvSpPr>
        <p:spPr>
          <a:xfrm>
            <a:off x="868680" y="1783080"/>
            <a:ext cx="4846320" cy="32004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PERSONALUL</a:t>
            </a:r>
            <a:endParaRPr lang="en-US" sz="1300" dirty="0"/>
          </a:p>
        </p:txBody>
      </p:sp>
      <p:sp>
        <p:nvSpPr>
          <p:cNvPr id="6" name="Text 4"/>
          <p:cNvSpPr/>
          <p:nvPr/>
        </p:nvSpPr>
        <p:spPr>
          <a:xfrm>
            <a:off x="868680" y="2240280"/>
            <a:ext cx="4846320" cy="640080"/>
          </a:xfrm>
          <a:prstGeom prst="rect">
            <a:avLst/>
          </a:prstGeom>
          <a:noFill/>
          <a:ln/>
        </p:spPr>
        <p:txBody>
          <a:bodyPr wrap="square" lIns="0" tIns="0" rIns="0" bIns="0" rtlCol="0" anchor="t"/>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resursă tangibilă</a:t>
            </a:r>
            <a:endParaRPr lang="en-US" sz="2000" dirty="0"/>
          </a:p>
        </p:txBody>
      </p:sp>
      <p:sp>
        <p:nvSpPr>
          <p:cNvPr id="7" name="Shape 5"/>
          <p:cNvSpPr/>
          <p:nvPr/>
        </p:nvSpPr>
        <p:spPr>
          <a:xfrm>
            <a:off x="6217920" y="1600200"/>
            <a:ext cx="5349240" cy="1463040"/>
          </a:xfrm>
          <a:prstGeom prst="roundRect">
            <a:avLst>
              <a:gd name="adj" fmla="val 5625"/>
            </a:avLst>
          </a:prstGeom>
          <a:solidFill>
            <a:srgbClr val="ECEAE4"/>
          </a:solidFill>
          <a:ln w="12700">
            <a:solidFill>
              <a:srgbClr val="ECEAE4"/>
            </a:solidFill>
            <a:prstDash val="solid"/>
          </a:ln>
        </p:spPr>
      </p:sp>
      <p:sp>
        <p:nvSpPr>
          <p:cNvPr id="8" name="Text 6"/>
          <p:cNvSpPr/>
          <p:nvPr/>
        </p:nvSpPr>
        <p:spPr>
          <a:xfrm>
            <a:off x="6492240" y="1783080"/>
            <a:ext cx="484632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COMPETENȚELE ȘI LUCRUL ÎMPREUNĂ</a:t>
            </a:r>
            <a:endParaRPr lang="en-US" sz="1300" dirty="0"/>
          </a:p>
        </p:txBody>
      </p:sp>
      <p:sp>
        <p:nvSpPr>
          <p:cNvPr id="9" name="Text 7"/>
          <p:cNvSpPr/>
          <p:nvPr/>
        </p:nvSpPr>
        <p:spPr>
          <a:xfrm>
            <a:off x="6492240" y="2240280"/>
            <a:ext cx="4846320" cy="640080"/>
          </a:xfrm>
          <a:prstGeom prst="rect">
            <a:avLst/>
          </a:prstGeom>
          <a:noFill/>
          <a:ln/>
        </p:spPr>
        <p:txBody>
          <a:bodyPr wrap="square" lIns="0" tIns="0" rIns="0" bIns="0" rtlCol="0" anchor="t"/>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resurse intangibile</a:t>
            </a:r>
            <a:endParaRPr lang="en-US" sz="2000" dirty="0"/>
          </a:p>
        </p:txBody>
      </p:sp>
      <p:sp>
        <p:nvSpPr>
          <p:cNvPr id="10" name="Text 8"/>
          <p:cNvSpPr/>
          <p:nvPr/>
        </p:nvSpPr>
        <p:spPr>
          <a:xfrm>
            <a:off x="594360" y="3337560"/>
            <a:ext cx="10972800" cy="109728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Racolarea nu e imitație: îi ia spitalului o parte din capabilitate. De aceea, plecarea oamenilor e riscul principal al variantei B.</a:t>
            </a:r>
            <a:endParaRPr lang="en-US" sz="1900" dirty="0"/>
          </a:p>
        </p:txBody>
      </p:sp>
      <p:sp>
        <p:nvSpPr>
          <p:cNvPr id="11" name="Shape 9"/>
          <p:cNvSpPr/>
          <p:nvPr/>
        </p:nvSpPr>
        <p:spPr>
          <a:xfrm>
            <a:off x="594360" y="4663440"/>
            <a:ext cx="10972800" cy="1005840"/>
          </a:xfrm>
          <a:prstGeom prst="roundRect">
            <a:avLst>
              <a:gd name="adj" fmla="val 8182"/>
            </a:avLst>
          </a:prstGeom>
          <a:solidFill>
            <a:srgbClr val="1D1F2B"/>
          </a:solidFill>
          <a:ln w="12700">
            <a:solidFill>
              <a:srgbClr val="1D1F2B"/>
            </a:solidFill>
            <a:prstDash val="solid"/>
          </a:ln>
        </p:spPr>
      </p:sp>
      <p:sp>
        <p:nvSpPr>
          <p:cNvPr id="12" name="Text 10"/>
          <p:cNvSpPr/>
          <p:nvPr/>
        </p:nvSpPr>
        <p:spPr>
          <a:xfrm>
            <a:off x="868680" y="4663440"/>
            <a:ext cx="10424160" cy="100584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Contractul cu casa: Rețeaua C îl are și ea, pentru imagistică. E condiția de a rămâne în joc.</a:t>
            </a:r>
            <a:endParaRPr lang="en-US" sz="17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Walston, capitolul 8, pentru resursele tangibile și intangibile.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CELE 100 DE PUNCTE · REGULILE CAZULUI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aduce fiecare punct</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94360" y="1554480"/>
          <a:ext cx="10972800" cy="914400"/>
        </p:xfrm>
        <a:graphic>
          <a:graphicData uri="http://schemas.openxmlformats.org/drawingml/2006/table">
            <a:tbl>
              <a:tblPr/>
              <a:tblGrid>
                <a:gridCol w="2651760"/>
                <a:gridCol w="2011680"/>
                <a:gridCol w="1645920"/>
                <a:gridCol w="1463040"/>
                <a:gridCol w="1554480"/>
                <a:gridCol w="1645920"/>
              </a:tblGrid>
              <a:tr h="566928">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Linia</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Pierduți sau fără serviciu, pe an</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Recâștigați pe punct</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Plafonul</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Prag minim (puncte)</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Rămâne în al treilea an</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r>
              <a:tr h="566928">
                <a:tc>
                  <a:txBody>
                    <a:bodyP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Examenele RMN</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2 400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60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1 800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40%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r>
              <a:tr h="566928">
                <a:tc>
                  <a:txBody>
                    <a:bodyP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Chirurgia de o zi</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1 200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40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1 000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50%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r>
              <a:tr h="566928">
                <a:tc>
                  <a:txBody>
                    <a:bodyP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Cardiologia intervențională</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300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20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300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90%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r>
              <a:tr h="566928">
                <a:tc>
                  <a:txBody>
                    <a:bodyP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Radioterapia</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900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15</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600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40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80%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r>
              <a:tr h="566928">
                <a:tc>
                  <a:txBody>
                    <a:bodyP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Recuperarea</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700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25</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700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80%</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r>
            </a:tbl>
          </a:graphicData>
        </a:graphic>
      </p:graphicFrame>
      <p:sp>
        <p:nvSpPr>
          <p:cNvPr id="5" name="Text 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Valori ipotetice, construite pentru curs.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100 DE PUNCTE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ACUM SUNTEȚI MANAGERUL SPITALULUI 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Împărțiți fondul de dezvoltare</a:t>
            </a:r>
            <a:endParaRPr lang="en-US" sz="3400" dirty="0"/>
          </a:p>
        </p:txBody>
      </p:sp>
      <p:sp>
        <p:nvSpPr>
          <p:cNvPr id="6" name="Text 4"/>
          <p:cNvSpPr/>
          <p:nvPr/>
        </p:nvSpPr>
        <p:spPr>
          <a:xfrm>
            <a:off x="594360" y="1691640"/>
            <a:ext cx="3291840" cy="50292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Examenele RMN</a:t>
            </a:r>
            <a:endParaRPr lang="en-US" sz="1700" dirty="0"/>
          </a:p>
        </p:txBody>
      </p:sp>
      <p:sp>
        <p:nvSpPr>
          <p:cNvPr id="7" name="Shape 5"/>
          <p:cNvSpPr/>
          <p:nvPr/>
        </p:nvSpPr>
        <p:spPr>
          <a:xfrm>
            <a:off x="4023360" y="1801368"/>
            <a:ext cx="5486400" cy="292608"/>
          </a:xfrm>
          <a:prstGeom prst="rect">
            <a:avLst/>
          </a:prstGeom>
          <a:solidFill>
            <a:srgbClr val="272A38"/>
          </a:solidFill>
          <a:ln w="12700">
            <a:solidFill>
              <a:srgbClr val="FF4757"/>
            </a:solidFill>
            <a:prstDash val="solid"/>
          </a:ln>
        </p:spPr>
      </p:sp>
      <p:sp>
        <p:nvSpPr>
          <p:cNvPr id="8" name="Text 6"/>
          <p:cNvSpPr/>
          <p:nvPr/>
        </p:nvSpPr>
        <p:spPr>
          <a:xfrm>
            <a:off x="9692640" y="1691640"/>
            <a:ext cx="1828800" cy="502920"/>
          </a:xfrm>
          <a:prstGeom prst="rect">
            <a:avLst/>
          </a:prstGeom>
          <a:noFill/>
          <a:ln/>
        </p:spPr>
        <p:txBody>
          <a:bodyPr wrap="square" lIns="0" tIns="0" rIns="0" bIns="0" rtlCol="0" anchor="ctr"/>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 puncte</a:t>
            </a:r>
            <a:endParaRPr lang="en-US" sz="1500" dirty="0"/>
          </a:p>
        </p:txBody>
      </p:sp>
      <p:sp>
        <p:nvSpPr>
          <p:cNvPr id="9" name="Text 7"/>
          <p:cNvSpPr/>
          <p:nvPr/>
        </p:nvSpPr>
        <p:spPr>
          <a:xfrm>
            <a:off x="594360" y="2350008"/>
            <a:ext cx="3291840" cy="50292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Chirurgia de o zi</a:t>
            </a:r>
            <a:endParaRPr lang="en-US" sz="1700" dirty="0"/>
          </a:p>
        </p:txBody>
      </p:sp>
      <p:sp>
        <p:nvSpPr>
          <p:cNvPr id="10" name="Shape 8"/>
          <p:cNvSpPr/>
          <p:nvPr/>
        </p:nvSpPr>
        <p:spPr>
          <a:xfrm>
            <a:off x="4023360" y="2459736"/>
            <a:ext cx="5486400" cy="292608"/>
          </a:xfrm>
          <a:prstGeom prst="rect">
            <a:avLst/>
          </a:prstGeom>
          <a:solidFill>
            <a:srgbClr val="272A38"/>
          </a:solidFill>
          <a:ln w="12700">
            <a:solidFill>
              <a:srgbClr val="FFC24B"/>
            </a:solidFill>
            <a:prstDash val="solid"/>
          </a:ln>
        </p:spPr>
      </p:sp>
      <p:sp>
        <p:nvSpPr>
          <p:cNvPr id="11" name="Text 9"/>
          <p:cNvSpPr/>
          <p:nvPr/>
        </p:nvSpPr>
        <p:spPr>
          <a:xfrm>
            <a:off x="9692640" y="2350008"/>
            <a:ext cx="1828800" cy="502920"/>
          </a:xfrm>
          <a:prstGeom prst="rect">
            <a:avLst/>
          </a:prstGeom>
          <a:noFill/>
          <a:ln/>
        </p:spPr>
        <p:txBody>
          <a:bodyPr wrap="square" lIns="0" tIns="0" rIns="0" bIns="0" rtlCol="0" anchor="ctr"/>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 puncte</a:t>
            </a:r>
            <a:endParaRPr lang="en-US" sz="1500" dirty="0"/>
          </a:p>
        </p:txBody>
      </p:sp>
      <p:sp>
        <p:nvSpPr>
          <p:cNvPr id="12" name="Text 10"/>
          <p:cNvSpPr/>
          <p:nvPr/>
        </p:nvSpPr>
        <p:spPr>
          <a:xfrm>
            <a:off x="594360" y="3008376"/>
            <a:ext cx="3291840" cy="50292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Cardiologia intervențională</a:t>
            </a:r>
            <a:endParaRPr lang="en-US" sz="1700" dirty="0"/>
          </a:p>
        </p:txBody>
      </p:sp>
      <p:sp>
        <p:nvSpPr>
          <p:cNvPr id="13" name="Shape 11"/>
          <p:cNvSpPr/>
          <p:nvPr/>
        </p:nvSpPr>
        <p:spPr>
          <a:xfrm>
            <a:off x="4023360" y="3118104"/>
            <a:ext cx="5486400" cy="292608"/>
          </a:xfrm>
          <a:prstGeom prst="rect">
            <a:avLst/>
          </a:prstGeom>
          <a:solidFill>
            <a:srgbClr val="272A38"/>
          </a:solidFill>
          <a:ln w="12700">
            <a:solidFill>
              <a:srgbClr val="27D3BE"/>
            </a:solidFill>
            <a:prstDash val="solid"/>
          </a:ln>
        </p:spPr>
      </p:sp>
      <p:sp>
        <p:nvSpPr>
          <p:cNvPr id="14" name="Text 12"/>
          <p:cNvSpPr/>
          <p:nvPr/>
        </p:nvSpPr>
        <p:spPr>
          <a:xfrm>
            <a:off x="9692640" y="3008376"/>
            <a:ext cx="1828800" cy="502920"/>
          </a:xfrm>
          <a:prstGeom prst="rect">
            <a:avLst/>
          </a:prstGeom>
          <a:noFill/>
          <a:ln/>
        </p:spPr>
        <p:txBody>
          <a:bodyPr wrap="square" lIns="0" tIns="0" rIns="0" bIns="0" rtlCol="0" anchor="ctr"/>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 puncte</a:t>
            </a:r>
            <a:endParaRPr lang="en-US" sz="1500" dirty="0"/>
          </a:p>
        </p:txBody>
      </p:sp>
      <p:sp>
        <p:nvSpPr>
          <p:cNvPr id="15" name="Text 13"/>
          <p:cNvSpPr/>
          <p:nvPr/>
        </p:nvSpPr>
        <p:spPr>
          <a:xfrm>
            <a:off x="594360" y="3666744"/>
            <a:ext cx="3291840" cy="50292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Radioterapia</a:t>
            </a:r>
            <a:endParaRPr lang="en-US" sz="1700" dirty="0"/>
          </a:p>
        </p:txBody>
      </p:sp>
      <p:sp>
        <p:nvSpPr>
          <p:cNvPr id="16" name="Shape 14"/>
          <p:cNvSpPr/>
          <p:nvPr/>
        </p:nvSpPr>
        <p:spPr>
          <a:xfrm>
            <a:off x="4023360" y="3776472"/>
            <a:ext cx="5486400" cy="292608"/>
          </a:xfrm>
          <a:prstGeom prst="rect">
            <a:avLst/>
          </a:prstGeom>
          <a:solidFill>
            <a:srgbClr val="272A38"/>
          </a:solidFill>
          <a:ln w="12700">
            <a:solidFill>
              <a:srgbClr val="9B7EF7"/>
            </a:solidFill>
            <a:prstDash val="solid"/>
          </a:ln>
        </p:spPr>
      </p:sp>
      <p:sp>
        <p:nvSpPr>
          <p:cNvPr id="17" name="Text 15"/>
          <p:cNvSpPr/>
          <p:nvPr/>
        </p:nvSpPr>
        <p:spPr>
          <a:xfrm>
            <a:off x="9692640" y="3666744"/>
            <a:ext cx="1828800" cy="502920"/>
          </a:xfrm>
          <a:prstGeom prst="rect">
            <a:avLst/>
          </a:prstGeom>
          <a:noFill/>
          <a:ln/>
        </p:spPr>
        <p:txBody>
          <a:bodyPr wrap="square" lIns="0" tIns="0" rIns="0" bIns="0" rtlCol="0" anchor="ctr"/>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 puncte</a:t>
            </a:r>
            <a:endParaRPr lang="en-US" sz="1500" dirty="0"/>
          </a:p>
        </p:txBody>
      </p:sp>
      <p:sp>
        <p:nvSpPr>
          <p:cNvPr id="18" name="Text 16"/>
          <p:cNvSpPr/>
          <p:nvPr/>
        </p:nvSpPr>
        <p:spPr>
          <a:xfrm>
            <a:off x="594360" y="4325112"/>
            <a:ext cx="3291840" cy="50292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Recuperarea</a:t>
            </a:r>
            <a:endParaRPr lang="en-US" sz="1700" dirty="0"/>
          </a:p>
        </p:txBody>
      </p:sp>
      <p:sp>
        <p:nvSpPr>
          <p:cNvPr id="19" name="Shape 17"/>
          <p:cNvSpPr/>
          <p:nvPr/>
        </p:nvSpPr>
        <p:spPr>
          <a:xfrm>
            <a:off x="4023360" y="4434840"/>
            <a:ext cx="5486400" cy="292608"/>
          </a:xfrm>
          <a:prstGeom prst="rect">
            <a:avLst/>
          </a:prstGeom>
          <a:solidFill>
            <a:srgbClr val="272A38"/>
          </a:solidFill>
          <a:ln w="12700">
            <a:solidFill>
              <a:srgbClr val="FF8A3D"/>
            </a:solidFill>
            <a:prstDash val="solid"/>
          </a:ln>
        </p:spPr>
      </p:sp>
      <p:sp>
        <p:nvSpPr>
          <p:cNvPr id="20" name="Text 18"/>
          <p:cNvSpPr/>
          <p:nvPr/>
        </p:nvSpPr>
        <p:spPr>
          <a:xfrm>
            <a:off x="9692640" y="4325112"/>
            <a:ext cx="1828800" cy="502920"/>
          </a:xfrm>
          <a:prstGeom prst="rect">
            <a:avLst/>
          </a:prstGeom>
          <a:noFill/>
          <a:ln/>
        </p:spPr>
        <p:txBody>
          <a:bodyPr wrap="square" lIns="0" tIns="0" rIns="0" bIns="0" rtlCol="0" anchor="ctr"/>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 puncte</a:t>
            </a:r>
            <a:endParaRPr lang="en-US" sz="1500" dirty="0"/>
          </a:p>
        </p:txBody>
      </p:sp>
      <p:sp>
        <p:nvSpPr>
          <p:cNvPr id="21" name="Text 19"/>
          <p:cNvSpPr/>
          <p:nvPr/>
        </p:nvSpPr>
        <p:spPr>
          <a:xfrm>
            <a:off x="594360" y="5120640"/>
            <a:ext cx="10972800" cy="50292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Individual. Apoi: alocarea medie și profilul cel mai apropiat, calculat dinainte.</a:t>
            </a:r>
            <a:endParaRPr lang="en-US" sz="1700" dirty="0"/>
          </a:p>
        </p:txBody>
      </p:sp>
      <p:sp>
        <p:nvSpPr>
          <p:cNvPr id="22" name="Text 20"/>
          <p:cNvSpPr/>
          <p:nvPr/>
        </p:nvSpPr>
        <p:spPr>
          <a:xfrm>
            <a:off x="594360" y="57607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TREI PROFILURI CALCULATE DINAINTE · VALORI IPOTETICE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Ce urmează după fiecare alocare</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94360" y="1554480"/>
          <a:ext cx="10972800" cy="914400"/>
        </p:xfrm>
        <a:graphic>
          <a:graphicData uri="http://schemas.openxmlformats.org/drawingml/2006/table">
            <a:tbl>
              <a:tblPr/>
              <a:tblGrid>
                <a:gridCol w="2103120"/>
                <a:gridCol w="731520"/>
                <a:gridCol w="960120"/>
                <a:gridCol w="868680"/>
                <a:gridCol w="777240"/>
                <a:gridCol w="777240"/>
                <a:gridCol w="1188720"/>
                <a:gridCol w="1280160"/>
                <a:gridCol w="1097280"/>
                <a:gridCol w="1188720"/>
              </a:tblGrid>
              <a:tr h="685800">
                <a:tc>
                  <a:txBody>
                    <a:bodyPr/>
                    <a:lstStyle/>
                    <a:p>
                      <a:pPr indent="0" marL="0">
                        <a:buNone/>
                      </a:pPr>
                      <a:r>
                        <a:rPr lang="en-US" sz="1100" b="1" dirty="0">
                          <a:solidFill>
                            <a:srgbClr val="FFFFFF"/>
                          </a:solidFill>
                          <a:latin typeface="Palatino Linotype" pitchFamily="34" charset="0"/>
                          <a:ea typeface="Palatino Linotype" pitchFamily="34" charset="-122"/>
                          <a:cs typeface="Palatino Linotype" pitchFamily="34" charset="-120"/>
                        </a:rPr>
                        <a:t>Profilul</a:t>
                      </a:r>
                      <a:endParaRPr lang="en-US" sz="11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100" b="1" dirty="0">
                          <a:solidFill>
                            <a:srgbClr val="FFFFFF"/>
                          </a:solidFill>
                          <a:latin typeface="Palatino Linotype" pitchFamily="34" charset="0"/>
                          <a:ea typeface="Palatino Linotype" pitchFamily="34" charset="-122"/>
                          <a:cs typeface="Palatino Linotype" pitchFamily="34" charset="-120"/>
                        </a:rPr>
                        <a:t>RMN</a:t>
                      </a:r>
                      <a:endParaRPr lang="en-US" sz="11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100" b="1" dirty="0">
                          <a:solidFill>
                            <a:srgbClr val="FFFFFF"/>
                          </a:solidFill>
                          <a:latin typeface="Palatino Linotype" pitchFamily="34" charset="0"/>
                          <a:ea typeface="Palatino Linotype" pitchFamily="34" charset="-122"/>
                          <a:cs typeface="Palatino Linotype" pitchFamily="34" charset="-120"/>
                        </a:rPr>
                        <a:t>Chir. de o zi</a:t>
                      </a:r>
                      <a:endParaRPr lang="en-US" sz="11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100" b="1" dirty="0">
                          <a:solidFill>
                            <a:srgbClr val="FFFFFF"/>
                          </a:solidFill>
                          <a:latin typeface="Palatino Linotype" pitchFamily="34" charset="0"/>
                          <a:ea typeface="Palatino Linotype" pitchFamily="34" charset="-122"/>
                          <a:cs typeface="Palatino Linotype" pitchFamily="34" charset="-120"/>
                        </a:rPr>
                        <a:t>Cardio.</a:t>
                      </a:r>
                      <a:endParaRPr lang="en-US" sz="11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100" b="1" dirty="0">
                          <a:solidFill>
                            <a:srgbClr val="FFFFFF"/>
                          </a:solidFill>
                          <a:latin typeface="Palatino Linotype" pitchFamily="34" charset="0"/>
                          <a:ea typeface="Palatino Linotype" pitchFamily="34" charset="-122"/>
                          <a:cs typeface="Palatino Linotype" pitchFamily="34" charset="-120"/>
                        </a:rPr>
                        <a:t>Radio.</a:t>
                      </a:r>
                      <a:endParaRPr lang="en-US" sz="11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100" b="1" dirty="0">
                          <a:solidFill>
                            <a:srgbClr val="FFFFFF"/>
                          </a:solidFill>
                          <a:latin typeface="Palatino Linotype" pitchFamily="34" charset="0"/>
                          <a:ea typeface="Palatino Linotype" pitchFamily="34" charset="-122"/>
                          <a:cs typeface="Palatino Linotype" pitchFamily="34" charset="-120"/>
                        </a:rPr>
                        <a:t>Recup.</a:t>
                      </a:r>
                      <a:endParaRPr lang="en-US" sz="11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100" b="1" dirty="0">
                          <a:solidFill>
                            <a:srgbClr val="FFFFFF"/>
                          </a:solidFill>
                          <a:latin typeface="Palatino Linotype" pitchFamily="34" charset="0"/>
                          <a:ea typeface="Palatino Linotype" pitchFamily="34" charset="-122"/>
                          <a:cs typeface="Palatino Linotype" pitchFamily="34" charset="-120"/>
                        </a:rPr>
                        <a:t>Primul an</a:t>
                      </a:r>
                      <a:endParaRPr lang="en-US" sz="11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100" b="1" dirty="0">
                          <a:solidFill>
                            <a:srgbClr val="FFFFFF"/>
                          </a:solidFill>
                          <a:latin typeface="Palatino Linotype" pitchFamily="34" charset="0"/>
                          <a:ea typeface="Palatino Linotype" pitchFamily="34" charset="-122"/>
                          <a:cs typeface="Palatino Linotype" pitchFamily="34" charset="-120"/>
                        </a:rPr>
                        <a:t>Al treilea an</a:t>
                      </a:r>
                      <a:endParaRPr lang="en-US" sz="11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100" b="1" dirty="0">
                          <a:solidFill>
                            <a:srgbClr val="FFFFFF"/>
                          </a:solidFill>
                          <a:latin typeface="Palatino Linotype" pitchFamily="34" charset="0"/>
                          <a:ea typeface="Palatino Linotype" pitchFamily="34" charset="-122"/>
                          <a:cs typeface="Palatino Linotype" pitchFamily="34" charset="-120"/>
                        </a:rPr>
                        <a:t>Fără efect</a:t>
                      </a:r>
                      <a:endParaRPr lang="en-US" sz="11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100" b="1" dirty="0">
                          <a:solidFill>
                            <a:srgbClr val="FFFFFF"/>
                          </a:solidFill>
                          <a:latin typeface="Palatino Linotype" pitchFamily="34" charset="0"/>
                          <a:ea typeface="Palatino Linotype" pitchFamily="34" charset="-122"/>
                          <a:cs typeface="Palatino Linotype" pitchFamily="34" charset="-120"/>
                        </a:rPr>
                        <a:t>Fără serviciu</a:t>
                      </a:r>
                      <a:endParaRPr lang="en-US" sz="11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r>
              <a:tr h="685800">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Răspunsul la rival</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50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30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10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10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3 250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1 600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25</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1 450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r>
              <a:tr h="685800">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Împărțit egal</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20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20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20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20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20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2 800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1 550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25</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1 100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r>
              <a:tr h="685800">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Ce nu se poate copia</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10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10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15</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40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25</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2 525</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1 690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0</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375</a:t>
                      </a:r>
                      <a:endParaRPr lang="en-US" sz="14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D7F3EE"/>
                    </a:solidFill>
                  </a:tcPr>
                </a:tc>
              </a:tr>
            </a:tbl>
          </a:graphicData>
        </a:graphic>
      </p:graphicFrame>
      <p:sp>
        <p:nvSpPr>
          <p:cNvPr id="5" name="Text 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Pacienți câștigați pe an; puncte fără efect; pacienți fără serviciu în județ. Caz construit.</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CÂT DE SIGURĂ E CONCLUZIA · VALORI IPOTETICE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Dacă la RMN ar rămâne 50%, nu 40%</a:t>
            </a:r>
            <a:endParaRPr lang="en-US" sz="3200" dirty="0"/>
          </a:p>
        </p:txBody>
      </p:sp>
      <p:sp>
        <p:nvSpPr>
          <p:cNvPr id="4" name="Shape 2"/>
          <p:cNvSpPr/>
          <p:nvPr/>
        </p:nvSpPr>
        <p:spPr>
          <a:xfrm>
            <a:off x="594360" y="1645920"/>
            <a:ext cx="5349240" cy="1554480"/>
          </a:xfrm>
          <a:prstGeom prst="roundRect">
            <a:avLst>
              <a:gd name="adj" fmla="val 5294"/>
            </a:avLst>
          </a:prstGeom>
          <a:solidFill>
            <a:srgbClr val="1D1F2B"/>
          </a:solidFill>
          <a:ln w="12700">
            <a:solidFill>
              <a:srgbClr val="1D1F2B"/>
            </a:solidFill>
            <a:prstDash val="solid"/>
          </a:ln>
        </p:spPr>
      </p:sp>
      <p:sp>
        <p:nvSpPr>
          <p:cNvPr id="5" name="Text 3"/>
          <p:cNvSpPr/>
          <p:nvPr/>
        </p:nvSpPr>
        <p:spPr>
          <a:xfrm>
            <a:off x="868680" y="1755648"/>
            <a:ext cx="4800600" cy="777240"/>
          </a:xfrm>
          <a:prstGeom prst="rect">
            <a:avLst/>
          </a:prstGeom>
          <a:noFill/>
          <a:ln/>
        </p:spPr>
        <p:txBody>
          <a:bodyPr wrap="square" lIns="0" tIns="0" rIns="0" bIns="0" rtlCol="0" anchor="ctr"/>
          <a:lstStyle/>
          <a:p>
            <a:pPr indent="0" marL="0">
              <a:buNone/>
            </a:pPr>
            <a:r>
              <a:rPr lang="en-US" sz="4000" b="1" dirty="0">
                <a:solidFill>
                  <a:srgbClr val="FFC24B"/>
                </a:solidFill>
                <a:latin typeface="Palatino Linotype" pitchFamily="34" charset="0"/>
                <a:ea typeface="Palatino Linotype" pitchFamily="34" charset="-122"/>
                <a:cs typeface="Palatino Linotype" pitchFamily="34" charset="-120"/>
              </a:rPr>
              <a:t>1 780</a:t>
            </a:r>
            <a:endParaRPr lang="en-US" sz="4000" dirty="0"/>
          </a:p>
        </p:txBody>
      </p:sp>
      <p:sp>
        <p:nvSpPr>
          <p:cNvPr id="6" name="Text 4"/>
          <p:cNvSpPr/>
          <p:nvPr/>
        </p:nvSpPr>
        <p:spPr>
          <a:xfrm>
            <a:off x="868680" y="2441448"/>
            <a:ext cx="4800600" cy="715061"/>
          </a:xfrm>
          <a:prstGeom prst="rect">
            <a:avLst/>
          </a:prstGeom>
          <a:noFill/>
          <a:ln/>
        </p:spPr>
        <p:txBody>
          <a:bodyPr wrap="square" lIns="0" tIns="0" rIns="0" bIns="0" rtlCol="0" anchor="t"/>
          <a:lstStyle/>
          <a:p>
            <a:pPr indent="0" marL="0">
              <a:buNone/>
            </a:pPr>
            <a:r>
              <a:rPr lang="en-US" sz="1200" dirty="0">
                <a:solidFill>
                  <a:srgbClr val="E6E8EF"/>
                </a:solidFill>
                <a:latin typeface="Palatino Linotype" pitchFamily="34" charset="0"/>
                <a:ea typeface="Palatino Linotype" pitchFamily="34" charset="-122"/>
                <a:cs typeface="Palatino Linotype" pitchFamily="34" charset="-120"/>
              </a:rPr>
              <a:t>Răspunsul la rival: pacienți câștigați în al treilea an</a:t>
            </a:r>
            <a:endParaRPr lang="en-US" sz="1200" dirty="0"/>
          </a:p>
        </p:txBody>
      </p:sp>
      <p:sp>
        <p:nvSpPr>
          <p:cNvPr id="7" name="Shape 5"/>
          <p:cNvSpPr/>
          <p:nvPr/>
        </p:nvSpPr>
        <p:spPr>
          <a:xfrm>
            <a:off x="6217920" y="1645920"/>
            <a:ext cx="5349240" cy="1554480"/>
          </a:xfrm>
          <a:prstGeom prst="roundRect">
            <a:avLst>
              <a:gd name="adj" fmla="val 5294"/>
            </a:avLst>
          </a:prstGeom>
          <a:solidFill>
            <a:srgbClr val="1D1F2B"/>
          </a:solidFill>
          <a:ln w="12700">
            <a:solidFill>
              <a:srgbClr val="1D1F2B"/>
            </a:solidFill>
            <a:prstDash val="solid"/>
          </a:ln>
        </p:spPr>
      </p:sp>
      <p:sp>
        <p:nvSpPr>
          <p:cNvPr id="8" name="Text 6"/>
          <p:cNvSpPr/>
          <p:nvPr/>
        </p:nvSpPr>
        <p:spPr>
          <a:xfrm>
            <a:off x="6492240" y="1755648"/>
            <a:ext cx="4800600" cy="777240"/>
          </a:xfrm>
          <a:prstGeom prst="rect">
            <a:avLst/>
          </a:prstGeom>
          <a:noFill/>
          <a:ln/>
        </p:spPr>
        <p:txBody>
          <a:bodyPr wrap="square" lIns="0" tIns="0" rIns="0" bIns="0" rtlCol="0" anchor="ctr"/>
          <a:lstStyle/>
          <a:p>
            <a:pPr indent="0" marL="0">
              <a:buNone/>
            </a:pPr>
            <a:r>
              <a:rPr lang="en-US" sz="4000" b="1" dirty="0">
                <a:solidFill>
                  <a:srgbClr val="27D3BE"/>
                </a:solidFill>
                <a:latin typeface="Palatino Linotype" pitchFamily="34" charset="0"/>
                <a:ea typeface="Palatino Linotype" pitchFamily="34" charset="-122"/>
                <a:cs typeface="Palatino Linotype" pitchFamily="34" charset="-120"/>
              </a:rPr>
              <a:t>1 750</a:t>
            </a:r>
            <a:endParaRPr lang="en-US" sz="4000" dirty="0"/>
          </a:p>
        </p:txBody>
      </p:sp>
      <p:sp>
        <p:nvSpPr>
          <p:cNvPr id="9" name="Text 7"/>
          <p:cNvSpPr/>
          <p:nvPr/>
        </p:nvSpPr>
        <p:spPr>
          <a:xfrm>
            <a:off x="6492240" y="2441448"/>
            <a:ext cx="4800600" cy="715061"/>
          </a:xfrm>
          <a:prstGeom prst="rect">
            <a:avLst/>
          </a:prstGeom>
          <a:noFill/>
          <a:ln/>
        </p:spPr>
        <p:txBody>
          <a:bodyPr wrap="square" lIns="0" tIns="0" rIns="0" bIns="0" rtlCol="0" anchor="t"/>
          <a:lstStyle/>
          <a:p>
            <a:pPr indent="0" marL="0">
              <a:buNone/>
            </a:pPr>
            <a:r>
              <a:rPr lang="en-US" sz="1200" dirty="0">
                <a:solidFill>
                  <a:srgbClr val="E6E8EF"/>
                </a:solidFill>
                <a:latin typeface="Palatino Linotype" pitchFamily="34" charset="0"/>
                <a:ea typeface="Palatino Linotype" pitchFamily="34" charset="-122"/>
                <a:cs typeface="Palatino Linotype" pitchFamily="34" charset="-120"/>
              </a:rPr>
              <a:t>Ce nu se poate copia: pacienți câștigați în al treilea an</a:t>
            </a:r>
            <a:endParaRPr lang="en-US" sz="1200" dirty="0"/>
          </a:p>
        </p:txBody>
      </p:sp>
      <p:sp>
        <p:nvSpPr>
          <p:cNvPr id="10" name="Text 8"/>
          <p:cNvSpPr/>
          <p:nvPr/>
        </p:nvSpPr>
        <p:spPr>
          <a:xfrm>
            <a:off x="594360" y="3474720"/>
            <a:ext cx="10972800" cy="548640"/>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Argumentul care nu depinde de presupunere: pacienții fără serviciu în județ.</a:t>
            </a:r>
            <a:endParaRPr lang="en-US" sz="1800" dirty="0"/>
          </a:p>
        </p:txBody>
      </p:sp>
      <p:sp>
        <p:nvSpPr>
          <p:cNvPr id="11" name="Shape 9"/>
          <p:cNvSpPr/>
          <p:nvPr/>
        </p:nvSpPr>
        <p:spPr>
          <a:xfrm>
            <a:off x="594360" y="4114800"/>
            <a:ext cx="5349240" cy="1554480"/>
          </a:xfrm>
          <a:prstGeom prst="roundRect">
            <a:avLst>
              <a:gd name="adj" fmla="val 5294"/>
            </a:avLst>
          </a:prstGeom>
          <a:solidFill>
            <a:srgbClr val="272A38"/>
          </a:solidFill>
          <a:ln w="12700">
            <a:solidFill>
              <a:srgbClr val="272A38"/>
            </a:solidFill>
            <a:prstDash val="solid"/>
          </a:ln>
        </p:spPr>
      </p:sp>
      <p:sp>
        <p:nvSpPr>
          <p:cNvPr id="12" name="Text 10"/>
          <p:cNvSpPr/>
          <p:nvPr/>
        </p:nvSpPr>
        <p:spPr>
          <a:xfrm>
            <a:off x="868680" y="4224528"/>
            <a:ext cx="4800600" cy="777240"/>
          </a:xfrm>
          <a:prstGeom prst="rect">
            <a:avLst/>
          </a:prstGeom>
          <a:noFill/>
          <a:ln/>
        </p:spPr>
        <p:txBody>
          <a:bodyPr wrap="square" lIns="0" tIns="0" rIns="0" bIns="0" rtlCol="0" anchor="ctr"/>
          <a:lstStyle/>
          <a:p>
            <a:pPr indent="0" marL="0">
              <a:buNone/>
            </a:pPr>
            <a:r>
              <a:rPr lang="en-US" sz="4000" b="1" dirty="0">
                <a:solidFill>
                  <a:srgbClr val="FF4757"/>
                </a:solidFill>
                <a:latin typeface="Palatino Linotype" pitchFamily="34" charset="0"/>
                <a:ea typeface="Palatino Linotype" pitchFamily="34" charset="-122"/>
                <a:cs typeface="Palatino Linotype" pitchFamily="34" charset="-120"/>
              </a:rPr>
              <a:t>1 450</a:t>
            </a:r>
            <a:endParaRPr lang="en-US" sz="4000" dirty="0"/>
          </a:p>
        </p:txBody>
      </p:sp>
      <p:sp>
        <p:nvSpPr>
          <p:cNvPr id="13" name="Text 11"/>
          <p:cNvSpPr/>
          <p:nvPr/>
        </p:nvSpPr>
        <p:spPr>
          <a:xfrm>
            <a:off x="868680" y="4910328"/>
            <a:ext cx="4800600" cy="715061"/>
          </a:xfrm>
          <a:prstGeom prst="rect">
            <a:avLst/>
          </a:prstGeom>
          <a:noFill/>
          <a:ln/>
        </p:spPr>
        <p:txBody>
          <a:bodyPr wrap="square" lIns="0" tIns="0" rIns="0" bIns="0" rtlCol="0" anchor="t"/>
          <a:lstStyle/>
          <a:p>
            <a:pPr indent="0" marL="0">
              <a:buNone/>
            </a:pPr>
            <a:r>
              <a:rPr lang="en-US" sz="1200" dirty="0">
                <a:solidFill>
                  <a:srgbClr val="E6E8EF"/>
                </a:solidFill>
                <a:latin typeface="Palatino Linotype" pitchFamily="34" charset="0"/>
                <a:ea typeface="Palatino Linotype" pitchFamily="34" charset="-122"/>
                <a:cs typeface="Palatino Linotype" pitchFamily="34" charset="-120"/>
              </a:rPr>
              <a:t>Răspunsul la rival</a:t>
            </a:r>
            <a:endParaRPr lang="en-US" sz="1200" dirty="0"/>
          </a:p>
        </p:txBody>
      </p:sp>
      <p:sp>
        <p:nvSpPr>
          <p:cNvPr id="14" name="Shape 12"/>
          <p:cNvSpPr/>
          <p:nvPr/>
        </p:nvSpPr>
        <p:spPr>
          <a:xfrm>
            <a:off x="6217920" y="4114800"/>
            <a:ext cx="5349240" cy="1554480"/>
          </a:xfrm>
          <a:prstGeom prst="roundRect">
            <a:avLst>
              <a:gd name="adj" fmla="val 5294"/>
            </a:avLst>
          </a:prstGeom>
          <a:solidFill>
            <a:srgbClr val="272A38"/>
          </a:solidFill>
          <a:ln w="12700">
            <a:solidFill>
              <a:srgbClr val="272A38"/>
            </a:solidFill>
            <a:prstDash val="solid"/>
          </a:ln>
        </p:spPr>
      </p:sp>
      <p:sp>
        <p:nvSpPr>
          <p:cNvPr id="15" name="Text 13"/>
          <p:cNvSpPr/>
          <p:nvPr/>
        </p:nvSpPr>
        <p:spPr>
          <a:xfrm>
            <a:off x="6492240" y="4224528"/>
            <a:ext cx="4800600" cy="777240"/>
          </a:xfrm>
          <a:prstGeom prst="rect">
            <a:avLst/>
          </a:prstGeom>
          <a:noFill/>
          <a:ln/>
        </p:spPr>
        <p:txBody>
          <a:bodyPr wrap="square" lIns="0" tIns="0" rIns="0" bIns="0" rtlCol="0" anchor="ctr"/>
          <a:lstStyle/>
          <a:p>
            <a:pPr indent="0" marL="0">
              <a:buNone/>
            </a:pPr>
            <a:r>
              <a:rPr lang="en-US" sz="4000" b="1" dirty="0">
                <a:solidFill>
                  <a:srgbClr val="27D3BE"/>
                </a:solidFill>
                <a:latin typeface="Palatino Linotype" pitchFamily="34" charset="0"/>
                <a:ea typeface="Palatino Linotype" pitchFamily="34" charset="-122"/>
                <a:cs typeface="Palatino Linotype" pitchFamily="34" charset="-120"/>
              </a:rPr>
              <a:t>375</a:t>
            </a:r>
            <a:endParaRPr lang="en-US" sz="4000" dirty="0"/>
          </a:p>
        </p:txBody>
      </p:sp>
      <p:sp>
        <p:nvSpPr>
          <p:cNvPr id="16" name="Text 14"/>
          <p:cNvSpPr/>
          <p:nvPr/>
        </p:nvSpPr>
        <p:spPr>
          <a:xfrm>
            <a:off x="6492240" y="4910328"/>
            <a:ext cx="4800600" cy="715061"/>
          </a:xfrm>
          <a:prstGeom prst="rect">
            <a:avLst/>
          </a:prstGeom>
          <a:noFill/>
          <a:ln/>
        </p:spPr>
        <p:txBody>
          <a:bodyPr wrap="square" lIns="0" tIns="0" rIns="0" bIns="0" rtlCol="0" anchor="t"/>
          <a:lstStyle/>
          <a:p>
            <a:pPr indent="0" marL="0">
              <a:buNone/>
            </a:pPr>
            <a:r>
              <a:rPr lang="en-US" sz="1200" dirty="0">
                <a:solidFill>
                  <a:srgbClr val="E6E8EF"/>
                </a:solidFill>
                <a:latin typeface="Palatino Linotype" pitchFamily="34" charset="0"/>
                <a:ea typeface="Palatino Linotype" pitchFamily="34" charset="-122"/>
                <a:cs typeface="Palatino Linotype" pitchFamily="34" charset="-120"/>
              </a:rPr>
              <a:t>Ce nu se poate copia</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DISCUȚIE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DUPĂ ALOCARE</a:t>
            </a:r>
            <a:endParaRPr lang="en-US" sz="1300" dirty="0"/>
          </a:p>
        </p:txBody>
      </p:sp>
      <p:sp>
        <p:nvSpPr>
          <p:cNvPr id="5" name="Text 3"/>
          <p:cNvSpPr/>
          <p:nvPr/>
        </p:nvSpPr>
        <p:spPr>
          <a:xfrm>
            <a:off x="594360" y="1097280"/>
            <a:ext cx="10789920" cy="1737360"/>
          </a:xfrm>
          <a:prstGeom prst="rect">
            <a:avLst/>
          </a:prstGeom>
          <a:noFill/>
          <a:ln/>
        </p:spPr>
        <p:txBody>
          <a:bodyPr wrap="square" lIns="0" tIns="0" rIns="0" bIns="0" rtlCol="0" anchor="ctr"/>
          <a:lstStyle/>
          <a:p>
            <a:pPr indent="0" marL="0">
              <a:buNone/>
            </a:pPr>
            <a:r>
              <a:rPr lang="en-US" sz="4200" b="1" dirty="0">
                <a:solidFill>
                  <a:srgbClr val="FFFFFF"/>
                </a:solidFill>
                <a:latin typeface="Palatino Linotype" pitchFamily="34" charset="0"/>
                <a:ea typeface="Palatino Linotype" pitchFamily="34" charset="-122"/>
                <a:cs typeface="Palatino Linotype" pitchFamily="34" charset="-120"/>
              </a:rPr>
              <a:t>Ce ați sacrificat fără să vă dați seama?</a:t>
            </a:r>
            <a:endParaRPr lang="en-US" sz="4200" dirty="0"/>
          </a:p>
        </p:txBody>
      </p:sp>
      <p:sp>
        <p:nvSpPr>
          <p:cNvPr id="6" name="Shape 4"/>
          <p:cNvSpPr/>
          <p:nvPr/>
        </p:nvSpPr>
        <p:spPr>
          <a:xfrm>
            <a:off x="594360" y="3063240"/>
            <a:ext cx="1280160" cy="36576"/>
          </a:xfrm>
          <a:prstGeom prst="rect">
            <a:avLst/>
          </a:prstGeom>
          <a:solidFill>
            <a:srgbClr val="27D3BE"/>
          </a:solidFill>
          <a:ln/>
        </p:spPr>
      </p:sp>
      <p:sp>
        <p:nvSpPr>
          <p:cNvPr id="7" name="Text 5"/>
          <p:cNvSpPr/>
          <p:nvPr/>
        </p:nvSpPr>
        <p:spPr>
          <a:xfrm>
            <a:off x="594360" y="3383280"/>
            <a:ext cx="10424160" cy="1463040"/>
          </a:xfrm>
          <a:prstGeom prst="rect">
            <a:avLst/>
          </a:prstGeom>
          <a:noFill/>
          <a:ln/>
        </p:spPr>
        <p:txBody>
          <a:bodyPr wrap="square" lIns="0" tIns="0" rIns="0" bIns="0" rtlCol="0" anchor="t"/>
          <a:lstStyle/>
          <a:p>
            <a:pPr indent="0" marL="0">
              <a:buNone/>
            </a:pPr>
            <a:r>
              <a:rPr lang="en-US" sz="2400" dirty="0">
                <a:solidFill>
                  <a:srgbClr val="959BB0"/>
                </a:solidFill>
                <a:latin typeface="Palatino Linotype" pitchFamily="34" charset="0"/>
                <a:ea typeface="Palatino Linotype" pitchFamily="34" charset="-122"/>
                <a:cs typeface="Palatino Linotype" pitchFamily="34" charset="-120"/>
              </a:rPr>
              <a:t>Și ce s-ar schimba dacă Rețeaua C ar copia aparatul RMN mai greu decât presupun regulile?</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822960" y="2011680"/>
            <a:ext cx="10058400" cy="1463040"/>
          </a:xfrm>
          <a:prstGeom prst="rect">
            <a:avLst/>
          </a:prstGeom>
          <a:noFill/>
          <a:ln/>
        </p:spPr>
        <p:txBody>
          <a:bodyPr wrap="square" lIns="0" tIns="0" rIns="0" bIns="0" rtlCol="0" anchor="ctr"/>
          <a:lstStyle/>
          <a:p>
            <a:pPr indent="0" marL="0">
              <a:buNone/>
            </a:pPr>
            <a:r>
              <a:rPr lang="en-US" sz="8000" b="1" dirty="0">
                <a:solidFill>
                  <a:srgbClr val="FFFFFF"/>
                </a:solidFill>
                <a:latin typeface="Palatino Linotype" pitchFamily="34" charset="0"/>
                <a:ea typeface="Palatino Linotype" pitchFamily="34" charset="-122"/>
                <a:cs typeface="Palatino Linotype" pitchFamily="34" charset="-120"/>
              </a:rPr>
              <a:t>Pauză</a:t>
            </a:r>
            <a:endParaRPr lang="en-US" sz="8000" dirty="0"/>
          </a:p>
        </p:txBody>
      </p:sp>
      <p:sp>
        <p:nvSpPr>
          <p:cNvPr id="3" name="Shape 1"/>
          <p:cNvSpPr/>
          <p:nvPr/>
        </p:nvSpPr>
        <p:spPr>
          <a:xfrm>
            <a:off x="868680" y="3657600"/>
            <a:ext cx="1280160" cy="36576"/>
          </a:xfrm>
          <a:prstGeom prst="rect">
            <a:avLst/>
          </a:prstGeom>
          <a:solidFill>
            <a:srgbClr val="FFC24B"/>
          </a:solidFill>
          <a:ln/>
        </p:spPr>
      </p:sp>
      <p:sp>
        <p:nvSpPr>
          <p:cNvPr id="4" name="Text 2"/>
          <p:cNvSpPr/>
          <p:nvPr/>
        </p:nvSpPr>
        <p:spPr>
          <a:xfrm>
            <a:off x="822960" y="3931920"/>
            <a:ext cx="10058400" cy="731520"/>
          </a:xfrm>
          <a:prstGeom prst="rect">
            <a:avLst/>
          </a:prstGeom>
          <a:noFill/>
          <a:ln/>
        </p:spPr>
        <p:txBody>
          <a:bodyPr wrap="square" lIns="0" tIns="0" rIns="0" bIns="0" rtlCol="0" anchor="t"/>
          <a:lstStyle/>
          <a:p>
            <a:pPr indent="0" marL="0">
              <a:buNone/>
            </a:pPr>
            <a:r>
              <a:rPr lang="en-US" sz="2600" dirty="0">
                <a:solidFill>
                  <a:srgbClr val="959BB0"/>
                </a:solidFill>
                <a:latin typeface="Palatino Linotype" pitchFamily="34" charset="0"/>
                <a:ea typeface="Palatino Linotype" pitchFamily="34" charset="-122"/>
                <a:cs typeface="Palatino Linotype" pitchFamily="34" charset="-120"/>
              </a:rPr>
              <a:t>Zece minute.</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594360" y="292608"/>
            <a:ext cx="274320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594360" y="292608"/>
            <a:ext cx="2743200" cy="329184"/>
          </a:xfrm>
          <a:prstGeom prst="rect">
            <a:avLst/>
          </a:prstGeom>
          <a:noFill/>
          <a:ln/>
        </p:spPr>
        <p:txBody>
          <a:bodyPr wrap="square" lIns="0" tIns="0" rIns="0" bIns="0" rtlCol="0" anchor="ctr"/>
          <a:lstStyle/>
          <a:p>
            <a:pPr algn="ctr" indent="0" marL="0">
              <a:buNone/>
            </a:pPr>
            <a:r>
              <a:rPr lang="en-US" sz="1250" b="1" dirty="0">
                <a:solidFill>
                  <a:srgbClr val="2E060B"/>
                </a:solidFill>
                <a:latin typeface="Palatino Linotype" pitchFamily="34" charset="0"/>
                <a:ea typeface="Palatino Linotype" pitchFamily="34" charset="-122"/>
                <a:cs typeface="Palatino Linotype" pitchFamily="34" charset="-120"/>
              </a:rPr>
              <a:t>ACTUL 3 · DEZNODĂMÂNTUL</a:t>
            </a:r>
            <a:endParaRPr lang="en-US" sz="1250" dirty="0"/>
          </a:p>
        </p:txBody>
      </p:sp>
      <p:sp>
        <p:nvSpPr>
          <p:cNvPr id="4" name="Text 2"/>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Spitalul A, peste trei ani</a:t>
            </a:r>
            <a:endParaRPr lang="en-US" sz="3200" dirty="0"/>
          </a:p>
        </p:txBody>
      </p:sp>
      <p:sp>
        <p:nvSpPr>
          <p:cNvPr id="5" name="Text 3"/>
          <p:cNvSpPr/>
          <p:nvPr/>
        </p:nvSpPr>
        <p:spPr>
          <a:xfrm>
            <a:off x="594360" y="1417320"/>
            <a:ext cx="10972800" cy="548640"/>
          </a:xfrm>
          <a:prstGeom prst="rect">
            <a:avLst/>
          </a:prstGeom>
          <a:noFill/>
          <a:ln/>
        </p:spPr>
        <p:txBody>
          <a:bodyPr wrap="square" lIns="0" tIns="0" rIns="0" bIns="0" rtlCol="0" anchor="t"/>
          <a:lstStyle/>
          <a:p>
            <a:pPr indent="0" marL="0">
              <a:buNone/>
            </a:pPr>
            <a:r>
              <a:rPr lang="en-US" sz="1700" i="1" dirty="0">
                <a:solidFill>
                  <a:srgbClr val="585A64"/>
                </a:solidFill>
                <a:latin typeface="Palatino Linotype" pitchFamily="34" charset="0"/>
                <a:ea typeface="Palatino Linotype" pitchFamily="34" charset="-122"/>
                <a:cs typeface="Palatino Linotype" pitchFamily="34" charset="-120"/>
              </a:rPr>
              <a:t>Dacă managerul alege un profil apropiat de „ce nu se poate copia”:</a:t>
            </a:r>
            <a:endParaRPr lang="en-US" sz="1700" dirty="0"/>
          </a:p>
        </p:txBody>
      </p:sp>
      <p:sp>
        <p:nvSpPr>
          <p:cNvPr id="6" name="Shape 4"/>
          <p:cNvSpPr/>
          <p:nvPr/>
        </p:nvSpPr>
        <p:spPr>
          <a:xfrm>
            <a:off x="594360" y="2103120"/>
            <a:ext cx="5349240" cy="105156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sp>
      <p:sp>
        <p:nvSpPr>
          <p:cNvPr id="7" name="Shape 5"/>
          <p:cNvSpPr/>
          <p:nvPr/>
        </p:nvSpPr>
        <p:spPr>
          <a:xfrm>
            <a:off x="594360" y="2103120"/>
            <a:ext cx="5349240" cy="91440"/>
          </a:xfrm>
          <a:prstGeom prst="rect">
            <a:avLst/>
          </a:prstGeom>
          <a:solidFill>
            <a:srgbClr val="B02532"/>
          </a:solidFill>
          <a:ln w="12700">
            <a:solidFill>
              <a:srgbClr val="B02532"/>
            </a:solidFill>
            <a:prstDash val="solid"/>
          </a:ln>
        </p:spPr>
      </p:sp>
      <p:sp>
        <p:nvSpPr>
          <p:cNvPr id="8" name="Text 6"/>
          <p:cNvSpPr/>
          <p:nvPr/>
        </p:nvSpPr>
        <p:spPr>
          <a:xfrm>
            <a:off x="868680" y="2194560"/>
            <a:ext cx="4846320" cy="914400"/>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Rețeaua C a luat o parte din pacienții RMN, cum se aștepta.</a:t>
            </a:r>
            <a:endParaRPr lang="en-US" sz="1650" dirty="0"/>
          </a:p>
        </p:txBody>
      </p:sp>
      <p:sp>
        <p:nvSpPr>
          <p:cNvPr id="9" name="Shape 7"/>
          <p:cNvSpPr/>
          <p:nvPr/>
        </p:nvSpPr>
        <p:spPr>
          <a:xfrm>
            <a:off x="6217920" y="2103120"/>
            <a:ext cx="5349240" cy="105156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sp>
      <p:sp>
        <p:nvSpPr>
          <p:cNvPr id="10" name="Shape 8"/>
          <p:cNvSpPr/>
          <p:nvPr/>
        </p:nvSpPr>
        <p:spPr>
          <a:xfrm>
            <a:off x="6217920" y="2103120"/>
            <a:ext cx="5349240" cy="91440"/>
          </a:xfrm>
          <a:prstGeom prst="rect">
            <a:avLst/>
          </a:prstGeom>
          <a:solidFill>
            <a:srgbClr val="0E7C6B"/>
          </a:solidFill>
          <a:ln w="12700">
            <a:solidFill>
              <a:srgbClr val="0E7C6B"/>
            </a:solidFill>
            <a:prstDash val="solid"/>
          </a:ln>
        </p:spPr>
      </p:sp>
      <p:sp>
        <p:nvSpPr>
          <p:cNvPr id="11" name="Text 9"/>
          <p:cNvSpPr/>
          <p:nvPr/>
        </p:nvSpPr>
        <p:spPr>
          <a:xfrm>
            <a:off x="6492240" y="2194560"/>
            <a:ext cx="4846320" cy="914400"/>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Echipa de cardiologie a rămas întreagă.</a:t>
            </a:r>
            <a:endParaRPr lang="en-US" sz="1650" dirty="0"/>
          </a:p>
        </p:txBody>
      </p:sp>
      <p:sp>
        <p:nvSpPr>
          <p:cNvPr id="12" name="Shape 10"/>
          <p:cNvSpPr/>
          <p:nvPr/>
        </p:nvSpPr>
        <p:spPr>
          <a:xfrm>
            <a:off x="594360" y="3337560"/>
            <a:ext cx="5349240" cy="105156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sp>
      <p:sp>
        <p:nvSpPr>
          <p:cNvPr id="13" name="Shape 11"/>
          <p:cNvSpPr/>
          <p:nvPr/>
        </p:nvSpPr>
        <p:spPr>
          <a:xfrm>
            <a:off x="594360" y="3337560"/>
            <a:ext cx="5349240" cy="91440"/>
          </a:xfrm>
          <a:prstGeom prst="rect">
            <a:avLst/>
          </a:prstGeom>
          <a:solidFill>
            <a:srgbClr val="0E7C6B"/>
          </a:solidFill>
          <a:ln w="12700">
            <a:solidFill>
              <a:srgbClr val="0E7C6B"/>
            </a:solidFill>
            <a:prstDash val="solid"/>
          </a:ln>
        </p:spPr>
      </p:sp>
      <p:sp>
        <p:nvSpPr>
          <p:cNvPr id="14" name="Text 12"/>
          <p:cNvSpPr/>
          <p:nvPr/>
        </p:nvSpPr>
        <p:spPr>
          <a:xfrm>
            <a:off x="868680" y="3429000"/>
            <a:ext cx="4846320" cy="914400"/>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Pacienții cu cancer încep radioterapia aproape de casă.</a:t>
            </a:r>
            <a:endParaRPr lang="en-US" sz="1650" dirty="0"/>
          </a:p>
        </p:txBody>
      </p:sp>
      <p:sp>
        <p:nvSpPr>
          <p:cNvPr id="15" name="Shape 13"/>
          <p:cNvSpPr/>
          <p:nvPr/>
        </p:nvSpPr>
        <p:spPr>
          <a:xfrm>
            <a:off x="6217920" y="3337560"/>
            <a:ext cx="5349240" cy="105156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sp>
      <p:sp>
        <p:nvSpPr>
          <p:cNvPr id="16" name="Shape 14"/>
          <p:cNvSpPr/>
          <p:nvPr/>
        </p:nvSpPr>
        <p:spPr>
          <a:xfrm>
            <a:off x="6217920" y="3337560"/>
            <a:ext cx="5349240" cy="91440"/>
          </a:xfrm>
          <a:prstGeom prst="rect">
            <a:avLst/>
          </a:prstGeom>
          <a:solidFill>
            <a:srgbClr val="0E7C6B"/>
          </a:solidFill>
          <a:ln w="12700">
            <a:solidFill>
              <a:srgbClr val="0E7C6B"/>
            </a:solidFill>
            <a:prstDash val="solid"/>
          </a:ln>
        </p:spPr>
      </p:sp>
      <p:sp>
        <p:nvSpPr>
          <p:cNvPr id="17" name="Text 15"/>
          <p:cNvSpPr/>
          <p:nvPr/>
        </p:nvSpPr>
        <p:spPr>
          <a:xfrm>
            <a:off x="6492240" y="3429000"/>
            <a:ext cx="4846320" cy="914400"/>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Recuperarea după un accident vascular se face în județ.</a:t>
            </a:r>
            <a:endParaRPr lang="en-US" sz="1650" dirty="0"/>
          </a:p>
        </p:txBody>
      </p:sp>
      <p:sp>
        <p:nvSpPr>
          <p:cNvPr id="18" name="Text 16"/>
          <p:cNvSpPr/>
          <p:nvPr/>
        </p:nvSpPr>
        <p:spPr>
          <a:xfrm>
            <a:off x="594360" y="4709160"/>
            <a:ext cx="10972800" cy="82296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Pe hârtie, mai puțini pacienți „recâștigați”. În realitate, banii au mers unde concurenții nu pot sau nu vor să meargă.</a:t>
            </a:r>
            <a:endParaRPr lang="en-US" sz="1700" dirty="0"/>
          </a:p>
        </p:txBody>
      </p:sp>
      <p:sp>
        <p:nvSpPr>
          <p:cNvPr id="19" name="Text 17"/>
          <p:cNvSpPr/>
          <p:nvPr/>
        </p:nvSpPr>
        <p:spPr>
          <a:xfrm>
            <a:off x="594360" y="5760720"/>
            <a:ext cx="1097280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Caz construit pentru curs; detaliile sunt plauzibile, nu reale.</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COMPARAȚI CU ALOCAREA VOASTRĂ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Unde ați pus majoritatea punctelor?</a:t>
            </a:r>
            <a:endParaRPr lang="en-US" sz="3200" dirty="0"/>
          </a:p>
        </p:txBody>
      </p:sp>
      <p:sp>
        <p:nvSpPr>
          <p:cNvPr id="4" name="Shape 2"/>
          <p:cNvSpPr/>
          <p:nvPr/>
        </p:nvSpPr>
        <p:spPr>
          <a:xfrm>
            <a:off x="594360" y="1645920"/>
            <a:ext cx="10972800" cy="868680"/>
          </a:xfrm>
          <a:prstGeom prst="roundRect">
            <a:avLst>
              <a:gd name="adj" fmla="val 9474"/>
            </a:avLst>
          </a:prstGeom>
          <a:solidFill>
            <a:srgbClr val="1D1F2B"/>
          </a:solidFill>
          <a:ln w="12700">
            <a:solidFill>
              <a:srgbClr val="1D1F2B"/>
            </a:solidFill>
            <a:prstDash val="solid"/>
          </a:ln>
        </p:spPr>
      </p:sp>
      <p:sp>
        <p:nvSpPr>
          <p:cNvPr id="5" name="Shape 3"/>
          <p:cNvSpPr/>
          <p:nvPr/>
        </p:nvSpPr>
        <p:spPr>
          <a:xfrm>
            <a:off x="868680" y="1869948"/>
            <a:ext cx="420624" cy="420624"/>
          </a:xfrm>
          <a:prstGeom prst="ellipse">
            <a:avLst/>
          </a:prstGeom>
          <a:solidFill>
            <a:srgbClr val="FFC24B"/>
          </a:solidFill>
          <a:ln/>
        </p:spPr>
      </p:sp>
      <p:sp>
        <p:nvSpPr>
          <p:cNvPr id="6" name="Text 4"/>
          <p:cNvSpPr/>
          <p:nvPr/>
        </p:nvSpPr>
        <p:spPr>
          <a:xfrm>
            <a:off x="868680" y="18699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45920"/>
            <a:ext cx="9784080" cy="8686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Pe RMN și chirurgia de o zi: ați reacționat la rivalul cel mai vizibil.</a:t>
            </a:r>
            <a:endParaRPr lang="en-US" sz="1800" dirty="0"/>
          </a:p>
        </p:txBody>
      </p:sp>
      <p:sp>
        <p:nvSpPr>
          <p:cNvPr id="8" name="Shape 6"/>
          <p:cNvSpPr/>
          <p:nvPr/>
        </p:nvSpPr>
        <p:spPr>
          <a:xfrm>
            <a:off x="594360" y="2651760"/>
            <a:ext cx="10972800" cy="868680"/>
          </a:xfrm>
          <a:prstGeom prst="roundRect">
            <a:avLst>
              <a:gd name="adj" fmla="val 9474"/>
            </a:avLst>
          </a:prstGeom>
          <a:solidFill>
            <a:srgbClr val="1D1F2B"/>
          </a:solidFill>
          <a:ln w="12700">
            <a:solidFill>
              <a:srgbClr val="1D1F2B"/>
            </a:solidFill>
            <a:prstDash val="solid"/>
          </a:ln>
        </p:spPr>
      </p:sp>
      <p:sp>
        <p:nvSpPr>
          <p:cNvPr id="9" name="Shape 7"/>
          <p:cNvSpPr/>
          <p:nvPr/>
        </p:nvSpPr>
        <p:spPr>
          <a:xfrm>
            <a:off x="868680" y="2875788"/>
            <a:ext cx="420624" cy="420624"/>
          </a:xfrm>
          <a:prstGeom prst="ellipse">
            <a:avLst/>
          </a:prstGeom>
          <a:solidFill>
            <a:srgbClr val="FFC24B"/>
          </a:solidFill>
          <a:ln/>
        </p:spPr>
      </p:sp>
      <p:sp>
        <p:nvSpPr>
          <p:cNvPr id="10" name="Text 8"/>
          <p:cNvSpPr/>
          <p:nvPr/>
        </p:nvSpPr>
        <p:spPr>
          <a:xfrm>
            <a:off x="868680" y="28757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651760"/>
            <a:ext cx="9784080" cy="8686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Împărțit egal: ați uitat că unele investiții au un prag.</a:t>
            </a:r>
            <a:endParaRPr lang="en-US" sz="1800" dirty="0"/>
          </a:p>
        </p:txBody>
      </p:sp>
      <p:sp>
        <p:nvSpPr>
          <p:cNvPr id="12" name="Shape 10"/>
          <p:cNvSpPr/>
          <p:nvPr/>
        </p:nvSpPr>
        <p:spPr>
          <a:xfrm>
            <a:off x="594360" y="3657600"/>
            <a:ext cx="10972800" cy="868680"/>
          </a:xfrm>
          <a:prstGeom prst="roundRect">
            <a:avLst>
              <a:gd name="adj" fmla="val 9474"/>
            </a:avLst>
          </a:prstGeom>
          <a:solidFill>
            <a:srgbClr val="1D1F2B"/>
          </a:solidFill>
          <a:ln w="12700">
            <a:solidFill>
              <a:srgbClr val="1D1F2B"/>
            </a:solidFill>
            <a:prstDash val="solid"/>
          </a:ln>
        </p:spPr>
      </p:sp>
      <p:sp>
        <p:nvSpPr>
          <p:cNvPr id="13" name="Shape 11"/>
          <p:cNvSpPr/>
          <p:nvPr/>
        </p:nvSpPr>
        <p:spPr>
          <a:xfrm>
            <a:off x="868680" y="3881628"/>
            <a:ext cx="420624" cy="420624"/>
          </a:xfrm>
          <a:prstGeom prst="ellipse">
            <a:avLst/>
          </a:prstGeom>
          <a:solidFill>
            <a:srgbClr val="FFC24B"/>
          </a:solidFill>
          <a:ln/>
        </p:spPr>
      </p:sp>
      <p:sp>
        <p:nvSpPr>
          <p:cNvPr id="14" name="Text 12"/>
          <p:cNvSpPr/>
          <p:nvPr/>
        </p:nvSpPr>
        <p:spPr>
          <a:xfrm>
            <a:off x="868680" y="38816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657600"/>
            <a:ext cx="9784080" cy="8686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Ca managerul din deznodământ: concurenții pe fiecare linie, apoi ce nu pot copia ei.</a:t>
            </a:r>
            <a:endParaRPr lang="en-US" sz="1800" dirty="0"/>
          </a:p>
        </p:txBody>
      </p:sp>
      <p:sp>
        <p:nvSpPr>
          <p:cNvPr id="16" name="Text 14"/>
          <p:cNvSpPr/>
          <p:nvPr/>
        </p:nvSpPr>
        <p:spPr>
          <a:xfrm>
            <a:off x="594360" y="4846320"/>
            <a:ext cx="10972800" cy="914400"/>
          </a:xfrm>
          <a:prstGeom prst="rect">
            <a:avLst/>
          </a:prstGeom>
          <a:noFill/>
          <a:ln/>
        </p:spPr>
        <p:txBody>
          <a:bodyPr wrap="square" lIns="0" tIns="0" rIns="0" bIns="0" rtlCol="0" anchor="t"/>
          <a:lstStyle/>
          <a:p>
            <a:pPr indent="0" marL="0">
              <a:buNone/>
            </a:pPr>
            <a:r>
              <a:rPr lang="en-US" sz="1700" i="1" dirty="0">
                <a:solidFill>
                  <a:srgbClr val="E6E8EF"/>
                </a:solidFill>
                <a:latin typeface="Palatino Linotype" pitchFamily="34" charset="0"/>
                <a:ea typeface="Palatino Linotype" pitchFamily="34" charset="-122"/>
                <a:cs typeface="Palatino Linotype" pitchFamily="34" charset="-120"/>
              </a:rPr>
              <a:t>Niciun profil nu e „corect” în orice spital: aici regulile sunt construite; într-un spital real, ele se estimează din date.</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DRUMUL PACIENTULUI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Lanțul valorii în sănătate</a:t>
            </a:r>
            <a:endParaRPr lang="en-US" sz="3200" dirty="0"/>
          </a:p>
        </p:txBody>
      </p:sp>
      <p:sp>
        <p:nvSpPr>
          <p:cNvPr id="4" name="Shape 2"/>
          <p:cNvSpPr/>
          <p:nvPr/>
        </p:nvSpPr>
        <p:spPr>
          <a:xfrm>
            <a:off x="594360" y="1737360"/>
            <a:ext cx="2148840" cy="1005840"/>
          </a:xfrm>
          <a:prstGeom prst="chevron">
            <a:avLst/>
          </a:prstGeom>
          <a:solidFill>
            <a:srgbClr val="07564B"/>
          </a:solidFill>
          <a:ln w="12700">
            <a:solidFill>
              <a:srgbClr val="FFFFFF"/>
            </a:solidFill>
            <a:prstDash val="solid"/>
          </a:ln>
        </p:spPr>
      </p:sp>
      <p:sp>
        <p:nvSpPr>
          <p:cNvPr id="5" name="Text 3"/>
          <p:cNvSpPr/>
          <p:nvPr/>
        </p:nvSpPr>
        <p:spPr>
          <a:xfrm>
            <a:off x="914400" y="1737360"/>
            <a:ext cx="1600200" cy="1005840"/>
          </a:xfrm>
          <a:prstGeom prst="rect">
            <a:avLst/>
          </a:prstGeom>
          <a:noFill/>
          <a:ln/>
        </p:spPr>
        <p:txBody>
          <a:bodyPr wrap="square" lIns="0" tIns="0" rIns="0" bIns="0" rtlCol="0" anchor="ctr"/>
          <a:lstStyle/>
          <a:p>
            <a:pPr algn="ctr" indent="0" marL="0">
              <a:buNone/>
            </a:pPr>
            <a:r>
              <a:rPr lang="en-US" sz="1450" b="1" dirty="0">
                <a:solidFill>
                  <a:srgbClr val="FFFFFF"/>
                </a:solidFill>
                <a:latin typeface="Palatino Linotype" pitchFamily="34" charset="0"/>
                <a:ea typeface="Palatino Linotype" pitchFamily="34" charset="-122"/>
                <a:cs typeface="Palatino Linotype" pitchFamily="34" charset="-120"/>
              </a:rPr>
              <a:t>Programarea</a:t>
            </a:r>
            <a:endParaRPr lang="en-US" sz="1450" dirty="0"/>
          </a:p>
        </p:txBody>
      </p:sp>
      <p:sp>
        <p:nvSpPr>
          <p:cNvPr id="6" name="Shape 4"/>
          <p:cNvSpPr/>
          <p:nvPr/>
        </p:nvSpPr>
        <p:spPr>
          <a:xfrm>
            <a:off x="2834640" y="1737360"/>
            <a:ext cx="2148840" cy="1005840"/>
          </a:xfrm>
          <a:prstGeom prst="chevron">
            <a:avLst/>
          </a:prstGeom>
          <a:solidFill>
            <a:srgbClr val="0E7C6B"/>
          </a:solidFill>
          <a:ln w="12700">
            <a:solidFill>
              <a:srgbClr val="FFFFFF"/>
            </a:solidFill>
            <a:prstDash val="solid"/>
          </a:ln>
        </p:spPr>
      </p:sp>
      <p:sp>
        <p:nvSpPr>
          <p:cNvPr id="7" name="Text 5"/>
          <p:cNvSpPr/>
          <p:nvPr/>
        </p:nvSpPr>
        <p:spPr>
          <a:xfrm>
            <a:off x="3154680" y="1737360"/>
            <a:ext cx="1600200" cy="1005840"/>
          </a:xfrm>
          <a:prstGeom prst="rect">
            <a:avLst/>
          </a:prstGeom>
          <a:noFill/>
          <a:ln/>
        </p:spPr>
        <p:txBody>
          <a:bodyPr wrap="square" lIns="0" tIns="0" rIns="0" bIns="0" rtlCol="0" anchor="ctr"/>
          <a:lstStyle/>
          <a:p>
            <a:pPr algn="ctr" indent="0" marL="0">
              <a:buNone/>
            </a:pPr>
            <a:r>
              <a:rPr lang="en-US" sz="1450" b="1" dirty="0">
                <a:solidFill>
                  <a:srgbClr val="FFFFFF"/>
                </a:solidFill>
                <a:latin typeface="Palatino Linotype" pitchFamily="34" charset="0"/>
                <a:ea typeface="Palatino Linotype" pitchFamily="34" charset="-122"/>
                <a:cs typeface="Palatino Linotype" pitchFamily="34" charset="-120"/>
              </a:rPr>
              <a:t>Diagnosticul</a:t>
            </a:r>
            <a:endParaRPr lang="en-US" sz="1450" dirty="0"/>
          </a:p>
        </p:txBody>
      </p:sp>
      <p:sp>
        <p:nvSpPr>
          <p:cNvPr id="8" name="Shape 6"/>
          <p:cNvSpPr/>
          <p:nvPr/>
        </p:nvSpPr>
        <p:spPr>
          <a:xfrm>
            <a:off x="5074920" y="1737360"/>
            <a:ext cx="2148840" cy="1005840"/>
          </a:xfrm>
          <a:prstGeom prst="chevron">
            <a:avLst/>
          </a:prstGeom>
          <a:solidFill>
            <a:srgbClr val="07564B"/>
          </a:solidFill>
          <a:ln w="12700">
            <a:solidFill>
              <a:srgbClr val="FFFFFF"/>
            </a:solidFill>
            <a:prstDash val="solid"/>
          </a:ln>
        </p:spPr>
      </p:sp>
      <p:sp>
        <p:nvSpPr>
          <p:cNvPr id="9" name="Text 7"/>
          <p:cNvSpPr/>
          <p:nvPr/>
        </p:nvSpPr>
        <p:spPr>
          <a:xfrm>
            <a:off x="5394960" y="1737360"/>
            <a:ext cx="1600200" cy="1005840"/>
          </a:xfrm>
          <a:prstGeom prst="rect">
            <a:avLst/>
          </a:prstGeom>
          <a:noFill/>
          <a:ln/>
        </p:spPr>
        <p:txBody>
          <a:bodyPr wrap="square" lIns="0" tIns="0" rIns="0" bIns="0" rtlCol="0" anchor="ctr"/>
          <a:lstStyle/>
          <a:p>
            <a:pPr algn="ctr" indent="0" marL="0">
              <a:buNone/>
            </a:pPr>
            <a:r>
              <a:rPr lang="en-US" sz="1450" b="1" dirty="0">
                <a:solidFill>
                  <a:srgbClr val="FFFFFF"/>
                </a:solidFill>
                <a:latin typeface="Palatino Linotype" pitchFamily="34" charset="0"/>
                <a:ea typeface="Palatino Linotype" pitchFamily="34" charset="-122"/>
                <a:cs typeface="Palatino Linotype" pitchFamily="34" charset="-120"/>
              </a:rPr>
              <a:t>Tratamentul</a:t>
            </a:r>
            <a:endParaRPr lang="en-US" sz="1450" dirty="0"/>
          </a:p>
        </p:txBody>
      </p:sp>
      <p:sp>
        <p:nvSpPr>
          <p:cNvPr id="10" name="Shape 8"/>
          <p:cNvSpPr/>
          <p:nvPr/>
        </p:nvSpPr>
        <p:spPr>
          <a:xfrm>
            <a:off x="7315200" y="1737360"/>
            <a:ext cx="2148840" cy="1005840"/>
          </a:xfrm>
          <a:prstGeom prst="chevron">
            <a:avLst/>
          </a:prstGeom>
          <a:solidFill>
            <a:srgbClr val="0E7C6B"/>
          </a:solidFill>
          <a:ln w="12700">
            <a:solidFill>
              <a:srgbClr val="FFFFFF"/>
            </a:solidFill>
            <a:prstDash val="solid"/>
          </a:ln>
        </p:spPr>
      </p:sp>
      <p:sp>
        <p:nvSpPr>
          <p:cNvPr id="11" name="Text 9"/>
          <p:cNvSpPr/>
          <p:nvPr/>
        </p:nvSpPr>
        <p:spPr>
          <a:xfrm>
            <a:off x="7635240" y="1737360"/>
            <a:ext cx="1600200" cy="1005840"/>
          </a:xfrm>
          <a:prstGeom prst="rect">
            <a:avLst/>
          </a:prstGeom>
          <a:noFill/>
          <a:ln/>
        </p:spPr>
        <p:txBody>
          <a:bodyPr wrap="square" lIns="0" tIns="0" rIns="0" bIns="0" rtlCol="0" anchor="ctr"/>
          <a:lstStyle/>
          <a:p>
            <a:pPr algn="ctr" indent="0" marL="0">
              <a:buNone/>
            </a:pPr>
            <a:r>
              <a:rPr lang="en-US" sz="1450" b="1" dirty="0">
                <a:solidFill>
                  <a:srgbClr val="FFFFFF"/>
                </a:solidFill>
                <a:latin typeface="Palatino Linotype" pitchFamily="34" charset="0"/>
                <a:ea typeface="Palatino Linotype" pitchFamily="34" charset="-122"/>
                <a:cs typeface="Palatino Linotype" pitchFamily="34" charset="-120"/>
              </a:rPr>
              <a:t>Externarea</a:t>
            </a:r>
            <a:endParaRPr lang="en-US" sz="1450" dirty="0"/>
          </a:p>
        </p:txBody>
      </p:sp>
      <p:sp>
        <p:nvSpPr>
          <p:cNvPr id="12" name="Shape 10"/>
          <p:cNvSpPr/>
          <p:nvPr/>
        </p:nvSpPr>
        <p:spPr>
          <a:xfrm>
            <a:off x="9555480" y="1737360"/>
            <a:ext cx="2148840" cy="1005840"/>
          </a:xfrm>
          <a:prstGeom prst="chevron">
            <a:avLst/>
          </a:prstGeom>
          <a:solidFill>
            <a:srgbClr val="07564B"/>
          </a:solidFill>
          <a:ln w="12700">
            <a:solidFill>
              <a:srgbClr val="FFFFFF"/>
            </a:solidFill>
            <a:prstDash val="solid"/>
          </a:ln>
        </p:spPr>
      </p:sp>
      <p:sp>
        <p:nvSpPr>
          <p:cNvPr id="13" name="Text 11"/>
          <p:cNvSpPr/>
          <p:nvPr/>
        </p:nvSpPr>
        <p:spPr>
          <a:xfrm>
            <a:off x="9875520" y="1737360"/>
            <a:ext cx="1600200" cy="1005840"/>
          </a:xfrm>
          <a:prstGeom prst="rect">
            <a:avLst/>
          </a:prstGeom>
          <a:noFill/>
          <a:ln/>
        </p:spPr>
        <p:txBody>
          <a:bodyPr wrap="square" lIns="0" tIns="0" rIns="0" bIns="0" rtlCol="0" anchor="ctr"/>
          <a:lstStyle/>
          <a:p>
            <a:pPr algn="ctr" indent="0" marL="0">
              <a:buNone/>
            </a:pPr>
            <a:r>
              <a:rPr lang="en-US" sz="1450" b="1" dirty="0">
                <a:solidFill>
                  <a:srgbClr val="FFFFFF"/>
                </a:solidFill>
                <a:latin typeface="Palatino Linotype" pitchFamily="34" charset="0"/>
                <a:ea typeface="Palatino Linotype" pitchFamily="34" charset="-122"/>
                <a:cs typeface="Palatino Linotype" pitchFamily="34" charset="-120"/>
              </a:rPr>
              <a:t>Urmărirea</a:t>
            </a:r>
            <a:endParaRPr lang="en-US" sz="1450" dirty="0"/>
          </a:p>
        </p:txBody>
      </p:sp>
      <p:sp>
        <p:nvSpPr>
          <p:cNvPr id="14" name="Shape 12"/>
          <p:cNvSpPr/>
          <p:nvPr/>
        </p:nvSpPr>
        <p:spPr>
          <a:xfrm>
            <a:off x="594360" y="2971800"/>
            <a:ext cx="10972800" cy="777240"/>
          </a:xfrm>
          <a:prstGeom prst="roundRect">
            <a:avLst>
              <a:gd name="adj" fmla="val 10588"/>
            </a:avLst>
          </a:prstGeom>
          <a:solidFill>
            <a:srgbClr val="ECEAE4"/>
          </a:solidFill>
          <a:ln w="12700">
            <a:solidFill>
              <a:srgbClr val="ECEAE4"/>
            </a:solidFill>
            <a:prstDash val="solid"/>
          </a:ln>
        </p:spPr>
      </p:sp>
      <p:sp>
        <p:nvSpPr>
          <p:cNvPr id="15" name="Text 13"/>
          <p:cNvSpPr/>
          <p:nvPr/>
        </p:nvSpPr>
        <p:spPr>
          <a:xfrm>
            <a:off x="868680" y="2971800"/>
            <a:ext cx="10424160" cy="7772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Activitățile de sprijin: resursele umane, informatica, aprovizionarea.</a:t>
            </a:r>
            <a:endParaRPr lang="en-US" sz="1700" dirty="0"/>
          </a:p>
        </p:txBody>
      </p:sp>
      <p:sp>
        <p:nvSpPr>
          <p:cNvPr id="16" name="Text 14"/>
          <p:cNvSpPr/>
          <p:nvPr/>
        </p:nvSpPr>
        <p:spPr>
          <a:xfrm>
            <a:off x="594360" y="4023360"/>
            <a:ext cx="10972800" cy="9144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Un examen rapid nu ajută dacă rezultatul așteaptă o săptămână până ajunge la medicul care tratează.</a:t>
            </a:r>
            <a:endParaRPr lang="en-US" sz="20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Ginter: pașii furnizării serviciilor, înainte, în timpul și după serviciu. Analiza detaliată: cursul următor.</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VALOAREA PENTRU PACIENT</a:t>
            </a:r>
            <a:endParaRPr lang="en-US" sz="1300" dirty="0"/>
          </a:p>
        </p:txBody>
      </p:sp>
      <p:sp>
        <p:nvSpPr>
          <p:cNvPr id="3" name="Text 1"/>
          <p:cNvSpPr/>
          <p:nvPr/>
        </p:nvSpPr>
        <p:spPr>
          <a:xfrm>
            <a:off x="594360" y="822960"/>
            <a:ext cx="10972800" cy="914400"/>
          </a:xfrm>
          <a:prstGeom prst="rect">
            <a:avLst/>
          </a:prstGeom>
          <a:noFill/>
          <a:ln/>
        </p:spPr>
        <p:txBody>
          <a:bodyPr wrap="square" lIns="0" tIns="0" rIns="0" bIns="0" rtlCol="0" anchor="t"/>
          <a:lstStyle/>
          <a:p>
            <a:pPr indent="0" marL="0">
              <a:buNone/>
            </a:pPr>
            <a:r>
              <a:rPr lang="en-US" sz="3400" b="1" i="1" dirty="0">
                <a:solidFill>
                  <a:srgbClr val="FFFFFF"/>
                </a:solidFill>
                <a:latin typeface="Palatino Linotype" pitchFamily="34" charset="0"/>
                <a:ea typeface="Palatino Linotype" pitchFamily="34" charset="-122"/>
                <a:cs typeface="Palatino Linotype" pitchFamily="34" charset="-120"/>
              </a:rPr>
              <a:t>„health outcomes achieved per dollar spent”</a:t>
            </a:r>
            <a:endParaRPr lang="en-US" sz="3400" dirty="0"/>
          </a:p>
        </p:txBody>
      </p:sp>
      <p:sp>
        <p:nvSpPr>
          <p:cNvPr id="4" name="Text 2"/>
          <p:cNvSpPr/>
          <p:nvPr/>
        </p:nvSpPr>
        <p:spPr>
          <a:xfrm>
            <a:off x="594360" y="1783080"/>
            <a:ext cx="10972800" cy="73152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rezultatele de sănătate obținute pentru fiecare unitate de bani cheltuită; formula e atribuită lui Michael Porter</a:t>
            </a:r>
            <a:endParaRPr lang="en-US" sz="1700" dirty="0"/>
          </a:p>
        </p:txBody>
      </p:sp>
      <p:sp>
        <p:nvSpPr>
          <p:cNvPr id="5" name="Shape 3"/>
          <p:cNvSpPr/>
          <p:nvPr/>
        </p:nvSpPr>
        <p:spPr>
          <a:xfrm>
            <a:off x="594360" y="2697480"/>
            <a:ext cx="10972800" cy="1234440"/>
          </a:xfrm>
          <a:prstGeom prst="roundRect">
            <a:avLst>
              <a:gd name="adj" fmla="val 6667"/>
            </a:avLst>
          </a:prstGeom>
          <a:solidFill>
            <a:srgbClr val="1D1F2B"/>
          </a:solidFill>
          <a:ln w="12700">
            <a:solidFill>
              <a:srgbClr val="1D1F2B"/>
            </a:solidFill>
            <a:prstDash val="solid"/>
          </a:ln>
        </p:spPr>
      </p:sp>
      <p:sp>
        <p:nvSpPr>
          <p:cNvPr id="6" name="Text 4"/>
          <p:cNvSpPr/>
          <p:nvPr/>
        </p:nvSpPr>
        <p:spPr>
          <a:xfrm>
            <a:off x="868680" y="2697480"/>
            <a:ext cx="10424160" cy="12344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Raportul din 2019 al grupului european de experți o consideră prea îngustă și propune patru dimensiuni: personală, tehnică, alocativă și socială.</a:t>
            </a:r>
            <a:endParaRPr lang="en-US" sz="1800" dirty="0"/>
          </a:p>
        </p:txBody>
      </p:sp>
      <p:sp>
        <p:nvSpPr>
          <p:cNvPr id="7" name="Shape 5"/>
          <p:cNvSpPr/>
          <p:nvPr/>
        </p:nvSpPr>
        <p:spPr>
          <a:xfrm>
            <a:off x="594360" y="4160520"/>
            <a:ext cx="10972800" cy="1371600"/>
          </a:xfrm>
          <a:prstGeom prst="roundRect">
            <a:avLst>
              <a:gd name="adj" fmla="val 6000"/>
            </a:avLst>
          </a:prstGeom>
          <a:solidFill>
            <a:srgbClr val="07564B"/>
          </a:solidFill>
          <a:ln w="12700">
            <a:solidFill>
              <a:srgbClr val="07564B"/>
            </a:solidFill>
            <a:prstDash val="solid"/>
          </a:ln>
        </p:spPr>
      </p:sp>
      <p:sp>
        <p:nvSpPr>
          <p:cNvPr id="8" name="Text 6"/>
          <p:cNvSpPr/>
          <p:nvPr/>
        </p:nvSpPr>
        <p:spPr>
          <a:xfrm>
            <a:off x="868680" y="4160520"/>
            <a:ext cx="10424160" cy="137160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Nu „câți pacienți am luat de la C?”, ci „ce rezultate obțin pacienții noștri și cu ce cost?”</a:t>
            </a:r>
            <a:endParaRPr lang="en-US" sz="2100" dirty="0"/>
          </a:p>
        </p:txBody>
      </p:sp>
      <p:sp>
        <p:nvSpPr>
          <p:cNvPr id="9" name="Text 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Grupul european de experți (EXPH), 2019; Porter, 2010, în fișa disciplinei.</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CUM ȘTIE MANAGERUL PESTE UN AN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Structură, proces, rezultat</a:t>
            </a:r>
            <a:endParaRPr lang="en-US" sz="3200" dirty="0"/>
          </a:p>
        </p:txBody>
      </p:sp>
      <p:sp>
        <p:nvSpPr>
          <p:cNvPr id="4" name="Shape 2"/>
          <p:cNvSpPr/>
          <p:nvPr/>
        </p:nvSpPr>
        <p:spPr>
          <a:xfrm>
            <a:off x="594360" y="1600200"/>
            <a:ext cx="3520440" cy="2651760"/>
          </a:xfrm>
          <a:prstGeom prst="roundRect">
            <a:avLst>
              <a:gd name="adj" fmla="val 3103"/>
            </a:avLst>
          </a:prstGeom>
          <a:solidFill>
            <a:srgbClr val="ECEAE4"/>
          </a:solidFill>
          <a:ln w="12700">
            <a:solidFill>
              <a:srgbClr val="ECEAE4"/>
            </a:solidFill>
            <a:prstDash val="solid"/>
          </a:ln>
        </p:spPr>
      </p:sp>
      <p:sp>
        <p:nvSpPr>
          <p:cNvPr id="5" name="Shape 3"/>
          <p:cNvSpPr/>
          <p:nvPr/>
        </p:nvSpPr>
        <p:spPr>
          <a:xfrm>
            <a:off x="594360" y="1600200"/>
            <a:ext cx="3520440" cy="91440"/>
          </a:xfrm>
          <a:prstGeom prst="rect">
            <a:avLst/>
          </a:prstGeom>
          <a:solidFill>
            <a:srgbClr val="0E7C6B"/>
          </a:solidFill>
          <a:ln w="12700">
            <a:solidFill>
              <a:srgbClr val="0E7C6B"/>
            </a:solidFill>
            <a:prstDash val="solid"/>
          </a:ln>
        </p:spPr>
      </p:sp>
      <p:sp>
        <p:nvSpPr>
          <p:cNvPr id="6" name="Text 4"/>
          <p:cNvSpPr/>
          <p:nvPr/>
        </p:nvSpPr>
        <p:spPr>
          <a:xfrm>
            <a:off x="822960" y="1828800"/>
            <a:ext cx="3108960" cy="32004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STRUCTURA</a:t>
            </a:r>
            <a:endParaRPr lang="en-US" sz="1300" dirty="0"/>
          </a:p>
        </p:txBody>
      </p:sp>
      <p:sp>
        <p:nvSpPr>
          <p:cNvPr id="7" name="Text 5"/>
          <p:cNvSpPr/>
          <p:nvPr/>
        </p:nvSpPr>
        <p:spPr>
          <a:xfrm>
            <a:off x="822960" y="2240280"/>
            <a:ext cx="3108960" cy="8229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cadrul îngrijirii și mijloacele ei</a:t>
            </a:r>
            <a:endParaRPr lang="en-US" sz="1700" dirty="0"/>
          </a:p>
        </p:txBody>
      </p:sp>
      <p:sp>
        <p:nvSpPr>
          <p:cNvPr id="8" name="Text 6"/>
          <p:cNvSpPr/>
          <p:nvPr/>
        </p:nvSpPr>
        <p:spPr>
          <a:xfrm>
            <a:off x="822960" y="3200400"/>
            <a:ext cx="3108960" cy="914400"/>
          </a:xfrm>
          <a:prstGeom prst="rect">
            <a:avLst/>
          </a:prstGeom>
          <a:noFill/>
          <a:ln/>
        </p:spPr>
        <p:txBody>
          <a:bodyPr wrap="square" lIns="0" tIns="0" rIns="0" bIns="0" rtlCol="0" anchor="t"/>
          <a:lstStyle/>
          <a:p>
            <a:pPr indent="0" marL="0">
              <a:buNone/>
            </a:pPr>
            <a:r>
              <a:rPr lang="en-US" sz="1450" i="1" dirty="0">
                <a:solidFill>
                  <a:srgbClr val="585A64"/>
                </a:solidFill>
                <a:latin typeface="Palatino Linotype" pitchFamily="34" charset="0"/>
                <a:ea typeface="Palatino Linotype" pitchFamily="34" charset="-122"/>
                <a:cs typeface="Palatino Linotype" pitchFamily="34" charset="-120"/>
              </a:rPr>
              <a:t>De exemplu: echipa de gardă la orice oră</a:t>
            </a:r>
            <a:endParaRPr lang="en-US" sz="1450" dirty="0"/>
          </a:p>
        </p:txBody>
      </p:sp>
      <p:sp>
        <p:nvSpPr>
          <p:cNvPr id="9" name="Shape 7"/>
          <p:cNvSpPr/>
          <p:nvPr/>
        </p:nvSpPr>
        <p:spPr>
          <a:xfrm>
            <a:off x="4343400" y="1600200"/>
            <a:ext cx="3520440" cy="2651760"/>
          </a:xfrm>
          <a:prstGeom prst="roundRect">
            <a:avLst>
              <a:gd name="adj" fmla="val 3103"/>
            </a:avLst>
          </a:prstGeom>
          <a:solidFill>
            <a:srgbClr val="ECEAE4"/>
          </a:solidFill>
          <a:ln w="12700">
            <a:solidFill>
              <a:srgbClr val="ECEAE4"/>
            </a:solidFill>
            <a:prstDash val="solid"/>
          </a:ln>
        </p:spPr>
      </p:sp>
      <p:sp>
        <p:nvSpPr>
          <p:cNvPr id="10" name="Shape 8"/>
          <p:cNvSpPr/>
          <p:nvPr/>
        </p:nvSpPr>
        <p:spPr>
          <a:xfrm>
            <a:off x="4343400" y="1600200"/>
            <a:ext cx="3520440" cy="91440"/>
          </a:xfrm>
          <a:prstGeom prst="rect">
            <a:avLst/>
          </a:prstGeom>
          <a:solidFill>
            <a:srgbClr val="8A6100"/>
          </a:solidFill>
          <a:ln w="12700">
            <a:solidFill>
              <a:srgbClr val="8A6100"/>
            </a:solidFill>
            <a:prstDash val="solid"/>
          </a:ln>
        </p:spPr>
      </p:sp>
      <p:sp>
        <p:nvSpPr>
          <p:cNvPr id="11" name="Text 9"/>
          <p:cNvSpPr/>
          <p:nvPr/>
        </p:nvSpPr>
        <p:spPr>
          <a:xfrm>
            <a:off x="4572000" y="1828800"/>
            <a:ext cx="3108960" cy="320040"/>
          </a:xfrm>
          <a:prstGeom prst="rect">
            <a:avLst/>
          </a:prstGeom>
          <a:noFill/>
          <a:ln/>
        </p:spPr>
        <p:txBody>
          <a:bodyPr wrap="square" lIns="0" tIns="0" rIns="0" bIns="0" rtlCol="0" anchor="t"/>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PROCESUL</a:t>
            </a:r>
            <a:endParaRPr lang="en-US" sz="1300" dirty="0"/>
          </a:p>
        </p:txBody>
      </p:sp>
      <p:sp>
        <p:nvSpPr>
          <p:cNvPr id="12" name="Text 10"/>
          <p:cNvSpPr/>
          <p:nvPr/>
        </p:nvSpPr>
        <p:spPr>
          <a:xfrm>
            <a:off x="4572000" y="2240280"/>
            <a:ext cx="3108960" cy="8229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îngrijirea însăși</a:t>
            </a:r>
            <a:endParaRPr lang="en-US" sz="1700" dirty="0"/>
          </a:p>
        </p:txBody>
      </p:sp>
      <p:sp>
        <p:nvSpPr>
          <p:cNvPr id="13" name="Text 11"/>
          <p:cNvSpPr/>
          <p:nvPr/>
        </p:nvSpPr>
        <p:spPr>
          <a:xfrm>
            <a:off x="4572000" y="3200400"/>
            <a:ext cx="3108960" cy="914400"/>
          </a:xfrm>
          <a:prstGeom prst="rect">
            <a:avLst/>
          </a:prstGeom>
          <a:noFill/>
          <a:ln/>
        </p:spPr>
        <p:txBody>
          <a:bodyPr wrap="square" lIns="0" tIns="0" rIns="0" bIns="0" rtlCol="0" anchor="t"/>
          <a:lstStyle/>
          <a:p>
            <a:pPr indent="0" marL="0">
              <a:buNone/>
            </a:pPr>
            <a:r>
              <a:rPr lang="en-US" sz="1450" i="1" dirty="0">
                <a:solidFill>
                  <a:srgbClr val="585A64"/>
                </a:solidFill>
                <a:latin typeface="Palatino Linotype" pitchFamily="34" charset="0"/>
                <a:ea typeface="Palatino Linotype" pitchFamily="34" charset="-122"/>
                <a:cs typeface="Palatino Linotype" pitchFamily="34" charset="-120"/>
              </a:rPr>
              <a:t>De exemplu: timpul până la dilatarea arterei</a:t>
            </a:r>
            <a:endParaRPr lang="en-US" sz="1450" dirty="0"/>
          </a:p>
        </p:txBody>
      </p:sp>
      <p:sp>
        <p:nvSpPr>
          <p:cNvPr id="14" name="Shape 12"/>
          <p:cNvSpPr/>
          <p:nvPr/>
        </p:nvSpPr>
        <p:spPr>
          <a:xfrm>
            <a:off x="8092440" y="1600200"/>
            <a:ext cx="3520440" cy="2651760"/>
          </a:xfrm>
          <a:prstGeom prst="roundRect">
            <a:avLst>
              <a:gd name="adj" fmla="val 3103"/>
            </a:avLst>
          </a:prstGeom>
          <a:solidFill>
            <a:srgbClr val="ECEAE4"/>
          </a:solidFill>
          <a:ln w="12700">
            <a:solidFill>
              <a:srgbClr val="ECEAE4"/>
            </a:solidFill>
            <a:prstDash val="solid"/>
          </a:ln>
        </p:spPr>
      </p:sp>
      <p:sp>
        <p:nvSpPr>
          <p:cNvPr id="15" name="Shape 13"/>
          <p:cNvSpPr/>
          <p:nvPr/>
        </p:nvSpPr>
        <p:spPr>
          <a:xfrm>
            <a:off x="8092440" y="1600200"/>
            <a:ext cx="3520440" cy="91440"/>
          </a:xfrm>
          <a:prstGeom prst="rect">
            <a:avLst/>
          </a:prstGeom>
          <a:solidFill>
            <a:srgbClr val="B02532"/>
          </a:solidFill>
          <a:ln w="12700">
            <a:solidFill>
              <a:srgbClr val="B02532"/>
            </a:solidFill>
            <a:prstDash val="solid"/>
          </a:ln>
        </p:spPr>
      </p:sp>
      <p:sp>
        <p:nvSpPr>
          <p:cNvPr id="16" name="Text 14"/>
          <p:cNvSpPr/>
          <p:nvPr/>
        </p:nvSpPr>
        <p:spPr>
          <a:xfrm>
            <a:off x="8321040" y="1828800"/>
            <a:ext cx="310896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REZULTATUL</a:t>
            </a:r>
            <a:endParaRPr lang="en-US" sz="1300" dirty="0"/>
          </a:p>
        </p:txBody>
      </p:sp>
      <p:sp>
        <p:nvSpPr>
          <p:cNvPr id="17" name="Text 15"/>
          <p:cNvSpPr/>
          <p:nvPr/>
        </p:nvSpPr>
        <p:spPr>
          <a:xfrm>
            <a:off x="8321040" y="2240280"/>
            <a:ext cx="3108960" cy="8229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ce se întâmplă cu pacientul</a:t>
            </a:r>
            <a:endParaRPr lang="en-US" sz="1700" dirty="0"/>
          </a:p>
        </p:txBody>
      </p:sp>
      <p:sp>
        <p:nvSpPr>
          <p:cNvPr id="18" name="Text 16"/>
          <p:cNvSpPr/>
          <p:nvPr/>
        </p:nvSpPr>
        <p:spPr>
          <a:xfrm>
            <a:off x="8321040" y="3200400"/>
            <a:ext cx="3108960" cy="914400"/>
          </a:xfrm>
          <a:prstGeom prst="rect">
            <a:avLst/>
          </a:prstGeom>
          <a:noFill/>
          <a:ln/>
        </p:spPr>
        <p:txBody>
          <a:bodyPr wrap="square" lIns="0" tIns="0" rIns="0" bIns="0" rtlCol="0" anchor="t"/>
          <a:lstStyle/>
          <a:p>
            <a:pPr indent="0" marL="0">
              <a:buNone/>
            </a:pPr>
            <a:r>
              <a:rPr lang="en-US" sz="1450" i="1" dirty="0">
                <a:solidFill>
                  <a:srgbClr val="585A64"/>
                </a:solidFill>
                <a:latin typeface="Palatino Linotype" pitchFamily="34" charset="0"/>
                <a:ea typeface="Palatino Linotype" pitchFamily="34" charset="-122"/>
                <a:cs typeface="Palatino Linotype" pitchFamily="34" charset="-120"/>
              </a:rPr>
              <a:t>De exemplu: supraviețuirea la o lună</a:t>
            </a:r>
            <a:endParaRPr lang="en-US" sz="1450" dirty="0"/>
          </a:p>
        </p:txBody>
      </p:sp>
      <p:sp>
        <p:nvSpPr>
          <p:cNvPr id="19" name="Text 17"/>
          <p:cNvSpPr/>
          <p:nvPr/>
        </p:nvSpPr>
        <p:spPr>
          <a:xfrm>
            <a:off x="594360" y="4526280"/>
            <a:ext cx="10972800" cy="10972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Clasificarea lui Donabedian este cel mai folosit cadru pentru tipurile de indicatori de calitate. Cursul adaugă costul pe episodul de îngrijire.</a:t>
            </a:r>
            <a:endParaRPr lang="en-US" sz="1700" dirty="0"/>
          </a:p>
        </p:txBody>
      </p:sp>
      <p:sp>
        <p:nvSpPr>
          <p:cNvPr id="20" name="Text 1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Observatorul European, volumul din 2019 despre calitatea îngrijirii; Donabedian, 1966.</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 ROMÂNIA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Spitalul public are deja indicatori</a:t>
            </a:r>
            <a:endParaRPr lang="en-US" sz="3200" dirty="0"/>
          </a:p>
        </p:txBody>
      </p:sp>
      <p:sp>
        <p:nvSpPr>
          <p:cNvPr id="4" name="Shape 2"/>
          <p:cNvSpPr/>
          <p:nvPr/>
        </p:nvSpPr>
        <p:spPr>
          <a:xfrm>
            <a:off x="594360" y="1600200"/>
            <a:ext cx="6583680" cy="402336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sp>
      <p:sp>
        <p:nvSpPr>
          <p:cNvPr id="5" name="Shape 3"/>
          <p:cNvSpPr/>
          <p:nvPr/>
        </p:nvSpPr>
        <p:spPr>
          <a:xfrm>
            <a:off x="594360" y="1600200"/>
            <a:ext cx="6583680" cy="91440"/>
          </a:xfrm>
          <a:prstGeom prst="rect">
            <a:avLst/>
          </a:prstGeom>
          <a:solidFill>
            <a:srgbClr val="0E7C6B"/>
          </a:solidFill>
          <a:ln w="12700">
            <a:solidFill>
              <a:srgbClr val="0E7C6B"/>
            </a:solidFill>
            <a:prstDash val="solid"/>
          </a:ln>
        </p:spPr>
      </p:sp>
      <p:sp>
        <p:nvSpPr>
          <p:cNvPr id="6" name="Text 4"/>
          <p:cNvSpPr/>
          <p:nvPr/>
        </p:nvSpPr>
        <p:spPr>
          <a:xfrm>
            <a:off x="868680" y="1828800"/>
            <a:ext cx="6126480" cy="320040"/>
          </a:xfrm>
          <a:prstGeom prst="rect">
            <a:avLst/>
          </a:prstGeom>
          <a:noFill/>
          <a:ln/>
        </p:spPr>
        <p:txBody>
          <a:bodyPr wrap="square" lIns="0" tIns="0" rIns="0" bIns="0" rtlCol="0" anchor="t"/>
          <a:lstStyle/>
          <a:p>
            <a:pPr indent="0" marL="0">
              <a:buNone/>
            </a:pPr>
            <a:r>
              <a:rPr lang="en-US" sz="1250" b="1" spc="100" kern="0" dirty="0">
                <a:solidFill>
                  <a:srgbClr val="0E7C6B"/>
                </a:solidFill>
                <a:latin typeface="Palatino Linotype" pitchFamily="34" charset="0"/>
                <a:ea typeface="Palatino Linotype" pitchFamily="34" charset="-122"/>
                <a:cs typeface="Palatino Linotype" pitchFamily="34" charset="-120"/>
              </a:rPr>
              <a:t>ORDINUL MINISTRULUI SĂNĂTĂȚII NR. 1384/2010</a:t>
            </a:r>
            <a:endParaRPr lang="en-US" sz="1250" dirty="0"/>
          </a:p>
        </p:txBody>
      </p:sp>
      <p:sp>
        <p:nvSpPr>
          <p:cNvPr id="7" name="Text 5"/>
          <p:cNvSpPr/>
          <p:nvPr/>
        </p:nvSpPr>
        <p:spPr>
          <a:xfrm>
            <a:off x="868680" y="2240280"/>
            <a:ext cx="603504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Indicatori de performanță în cinci categorii, în contractul de management. Printre cei de utilizare a serviciilor:</a:t>
            </a:r>
            <a:endParaRPr lang="en-US" sz="1550" dirty="0"/>
          </a:p>
        </p:txBody>
      </p:sp>
      <p:sp>
        <p:nvSpPr>
          <p:cNvPr id="8" name="Text 6"/>
          <p:cNvSpPr/>
          <p:nvPr/>
        </p:nvSpPr>
        <p:spPr>
          <a:xfrm>
            <a:off x="868680" y="3246120"/>
            <a:ext cx="6035040" cy="502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 durata medie de spitalizare</a:t>
            </a:r>
            <a:endParaRPr lang="en-US" sz="1600" dirty="0"/>
          </a:p>
        </p:txBody>
      </p:sp>
      <p:sp>
        <p:nvSpPr>
          <p:cNvPr id="9" name="Text 7"/>
          <p:cNvSpPr/>
          <p:nvPr/>
        </p:nvSpPr>
        <p:spPr>
          <a:xfrm>
            <a:off x="868680" y="3794760"/>
            <a:ext cx="6035040" cy="502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 rata de utilizare a paturilor</a:t>
            </a:r>
            <a:endParaRPr lang="en-US" sz="1600" dirty="0"/>
          </a:p>
        </p:txBody>
      </p:sp>
      <p:sp>
        <p:nvSpPr>
          <p:cNvPr id="10" name="Text 8"/>
          <p:cNvSpPr/>
          <p:nvPr/>
        </p:nvSpPr>
        <p:spPr>
          <a:xfrm>
            <a:off x="868680" y="4343400"/>
            <a:ext cx="6035040" cy="502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 indicele de complexitate a cazurilor</a:t>
            </a:r>
            <a:endParaRPr lang="en-US" sz="1600" dirty="0"/>
          </a:p>
        </p:txBody>
      </p:sp>
      <p:sp>
        <p:nvSpPr>
          <p:cNvPr id="11" name="Text 9"/>
          <p:cNvSpPr/>
          <p:nvPr/>
        </p:nvSpPr>
        <p:spPr>
          <a:xfrm>
            <a:off x="868680" y="4892040"/>
            <a:ext cx="6035040" cy="502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 ponderea spitalizărilor de zi</a:t>
            </a:r>
            <a:endParaRPr lang="en-US" sz="1600" dirty="0"/>
          </a:p>
        </p:txBody>
      </p:sp>
      <p:sp>
        <p:nvSpPr>
          <p:cNvPr id="12" name="Shape 10"/>
          <p:cNvSpPr/>
          <p:nvPr/>
        </p:nvSpPr>
        <p:spPr>
          <a:xfrm>
            <a:off x="7452360" y="1600200"/>
            <a:ext cx="4114800" cy="4023360"/>
          </a:xfrm>
          <a:prstGeom prst="roundRect">
            <a:avLst>
              <a:gd name="adj" fmla="val 2045"/>
            </a:avLst>
          </a:prstGeom>
          <a:solidFill>
            <a:srgbClr val="1D1F2B"/>
          </a:solidFill>
          <a:ln w="12700">
            <a:solidFill>
              <a:srgbClr val="1D1F2B"/>
            </a:solidFill>
            <a:prstDash val="solid"/>
          </a:ln>
        </p:spPr>
      </p:sp>
      <p:sp>
        <p:nvSpPr>
          <p:cNvPr id="13" name="Text 11"/>
          <p:cNvSpPr/>
          <p:nvPr/>
        </p:nvSpPr>
        <p:spPr>
          <a:xfrm>
            <a:off x="7726680" y="1828800"/>
            <a:ext cx="3611880" cy="15544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Casa Națională de Asigurări de Sănătate publică indicatori pe fiecare spital public.</a:t>
            </a:r>
            <a:endParaRPr lang="en-US" sz="1600" dirty="0"/>
          </a:p>
        </p:txBody>
      </p:sp>
      <p:sp>
        <p:nvSpPr>
          <p:cNvPr id="14" name="Text 12"/>
          <p:cNvSpPr/>
          <p:nvPr/>
        </p:nvSpPr>
        <p:spPr>
          <a:xfrm>
            <a:off x="7726680" y="3474720"/>
            <a:ext cx="3611880" cy="20116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Sunt indicatori operaționali. Pentru valoarea pentru pacient e nevoie și de rezultate pe fiecare linie.</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CAZ CONSTRUIT · EXEMPLELE CURSULUI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Câțiva indicatori pe liniile Spitalului A</a:t>
            </a:r>
            <a:endParaRPr lang="en-US" sz="2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94360" y="1554480"/>
          <a:ext cx="10972800" cy="914400"/>
        </p:xfrm>
        <a:graphic>
          <a:graphicData uri="http://schemas.openxmlformats.org/drawingml/2006/table">
            <a:tbl>
              <a:tblPr/>
              <a:tblGrid>
                <a:gridCol w="2743200"/>
                <a:gridCol w="2743200"/>
                <a:gridCol w="2743200"/>
                <a:gridCol w="2743200"/>
              </a:tblGrid>
              <a:tr h="822960">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Linia</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Structura</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Procesul</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c>
                  <a:txBody>
                    <a:bodyPr/>
                    <a:lstStyle/>
                    <a:p>
                      <a:pPr indent="0" marL="0">
                        <a:buNone/>
                      </a:pPr>
                      <a:r>
                        <a:rPr lang="en-US" sz="1200" b="1" dirty="0">
                          <a:solidFill>
                            <a:srgbClr val="FFFFFF"/>
                          </a:solidFill>
                          <a:latin typeface="Palatino Linotype" pitchFamily="34" charset="0"/>
                          <a:ea typeface="Palatino Linotype" pitchFamily="34" charset="-122"/>
                          <a:cs typeface="Palatino Linotype" pitchFamily="34" charset="-120"/>
                        </a:rPr>
                        <a:t>Rezultatul</a:t>
                      </a:r>
                      <a:endParaRPr lang="en-US" sz="12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07564B"/>
                    </a:solidFill>
                  </a:tcPr>
                </a:tc>
              </a:tr>
              <a:tr h="822960">
                <a:tc>
                  <a:txBody>
                    <a:bodyP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Cardiologia intervențională</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echipa de gardă la orice oră</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timpul până la dilatarea arterei</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supraviețuirea la o lună</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r>
              <a:tr h="822960">
                <a:tc>
                  <a:txBody>
                    <a:bodyP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Radioterapia</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aparatele funcționale și personalul</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timpul de la indicație la prima ședință</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tratamentul planificat, terminat</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r>
              <a:tr h="822960">
                <a:tc>
                  <a:txBody>
                    <a:bodyP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Recuperarea</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locurile și kinetoterapeuții</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timpul de la externare la prima ședință</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pacientul se îngrijește singur</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r>
              <a:tr h="822960">
                <a:tc>
                  <a:txBody>
                    <a:bodyP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Examenele RMN</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orele de program pe săptămână</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așteptarea până la examen</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rezultatul ajuns la timp la medic</a:t>
                      </a:r>
                      <a:endParaRPr lang="en-US" sz="1500" dirty="0">
                        <a:latin typeface="Palatino Linotype" charset="0"/>
                        <a:ea typeface="Palatino Linotype" charset="0"/>
                        <a:cs typeface="Palatino Linotype" charset="0"/>
                      </a:endParaRPr>
                    </a:p>
                  </a:txBody>
                  <a:tcPr marL="64008" marR="64008" marT="64008" marB="64008"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DECIZIA 3 · CAZ CONSTRUIT PENTRU CURS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Spitalul municipal M</a:t>
            </a:r>
            <a:endParaRPr lang="en-US" sz="3400" dirty="0"/>
          </a:p>
        </p:txBody>
      </p:sp>
      <p:sp>
        <p:nvSpPr>
          <p:cNvPr id="4" name="Shape 2"/>
          <p:cNvSpPr/>
          <p:nvPr/>
        </p:nvSpPr>
        <p:spPr>
          <a:xfrm>
            <a:off x="594360" y="1645920"/>
            <a:ext cx="10972800" cy="301752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sp>
      <p:sp>
        <p:nvSpPr>
          <p:cNvPr id="5" name="Shape 3"/>
          <p:cNvSpPr/>
          <p:nvPr/>
        </p:nvSpPr>
        <p:spPr>
          <a:xfrm>
            <a:off x="594360" y="1645920"/>
            <a:ext cx="10972800" cy="91440"/>
          </a:xfrm>
          <a:prstGeom prst="rect">
            <a:avLst/>
          </a:prstGeom>
          <a:solidFill>
            <a:srgbClr val="8A6100"/>
          </a:solidFill>
          <a:ln w="12700">
            <a:solidFill>
              <a:srgbClr val="8A6100"/>
            </a:solidFill>
            <a:prstDash val="solid"/>
          </a:ln>
        </p:spPr>
      </p:sp>
      <p:sp>
        <p:nvSpPr>
          <p:cNvPr id="6" name="Text 4"/>
          <p:cNvSpPr/>
          <p:nvPr/>
        </p:nvSpPr>
        <p:spPr>
          <a:xfrm>
            <a:off x="914400" y="1920240"/>
            <a:ext cx="10332720" cy="1280160"/>
          </a:xfrm>
          <a:prstGeom prst="rect">
            <a:avLst/>
          </a:prstGeom>
          <a:noFill/>
          <a:ln/>
        </p:spPr>
        <p:txBody>
          <a:bodyPr wrap="square" lIns="0" tIns="0" rIns="0" bIns="0" rtlCol="0" anchor="t"/>
          <a:lstStyle/>
          <a:p>
            <a:pPr indent="0" marL="0">
              <a:buNone/>
            </a:pPr>
            <a:r>
              <a:rPr lang="en-US" sz="2100" dirty="0">
                <a:solidFill>
                  <a:srgbClr val="11121A"/>
                </a:solidFill>
                <a:latin typeface="Palatino Linotype" pitchFamily="34" charset="0"/>
                <a:ea typeface="Palatino Linotype" pitchFamily="34" charset="-122"/>
                <a:cs typeface="Palatino Linotype" pitchFamily="34" charset="-120"/>
              </a:rPr>
              <a:t>Dintr-un alt județ. A deschis chirurgia de o zi cu program prelungit, ca să nu mai piardă pacienți către un ambulatoriu privat.</a:t>
            </a:r>
            <a:endParaRPr lang="en-US" sz="2100" dirty="0"/>
          </a:p>
        </p:txBody>
      </p:sp>
      <p:sp>
        <p:nvSpPr>
          <p:cNvPr id="7" name="Text 5"/>
          <p:cNvSpPr/>
          <p:nvPr/>
        </p:nvSpPr>
        <p:spPr>
          <a:xfrm>
            <a:off x="914400" y="3383280"/>
            <a:ext cx="10332720" cy="1005840"/>
          </a:xfrm>
          <a:prstGeom prst="rect">
            <a:avLst/>
          </a:prstGeom>
          <a:noFill/>
          <a:ln/>
        </p:spPr>
        <p:txBody>
          <a:bodyPr wrap="square" lIns="0" tIns="0" rIns="0" bIns="0" rtlCol="0" anchor="t"/>
          <a:lstStyle/>
          <a:p>
            <a:pPr indent="0" marL="0">
              <a:buNone/>
            </a:pPr>
            <a:r>
              <a:rPr lang="en-US" sz="2100" b="1" dirty="0">
                <a:solidFill>
                  <a:srgbClr val="11121A"/>
                </a:solidFill>
                <a:latin typeface="Palatino Linotype" pitchFamily="34" charset="0"/>
                <a:ea typeface="Palatino Linotype" pitchFamily="34" charset="-122"/>
                <a:cs typeface="Palatino Linotype" pitchFamily="34" charset="-120"/>
              </a:rPr>
              <a:t>După un an, conducerea vrea să afle dacă decizia a creat valoare pentru pacienți.</a:t>
            </a:r>
            <a:endParaRPr lang="en-US" sz="2100" dirty="0"/>
          </a:p>
        </p:txBody>
      </p:sp>
      <p:sp>
        <p:nvSpPr>
          <p:cNvPr id="8" name="Text 6"/>
          <p:cNvSpPr/>
          <p:nvPr/>
        </p:nvSpPr>
        <p:spPr>
          <a:xfrm>
            <a:off x="594360" y="5029200"/>
            <a:ext cx="1097280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Caz construit pentru curs; detaliile sunt plauzibile, nu reale.</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DECIZIA 3</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Ce urmărește întâi conducerea Spitalului M?</a:t>
            </a:r>
            <a:endParaRPr lang="en-US" sz="3100" dirty="0"/>
          </a:p>
        </p:txBody>
      </p:sp>
      <p:sp>
        <p:nvSpPr>
          <p:cNvPr id="6" name="Shape 4"/>
          <p:cNvSpPr/>
          <p:nvPr/>
        </p:nvSpPr>
        <p:spPr>
          <a:xfrm>
            <a:off x="594360" y="1828800"/>
            <a:ext cx="10972800" cy="713232"/>
          </a:xfrm>
          <a:prstGeom prst="roundRect">
            <a:avLst>
              <a:gd name="adj" fmla="val 11538"/>
            </a:avLst>
          </a:prstGeom>
          <a:solidFill>
            <a:srgbClr val="1D1F2B"/>
          </a:solidFill>
          <a:ln w="12700">
            <a:solidFill>
              <a:srgbClr val="1D1F2B"/>
            </a:solidFill>
            <a:prstDash val="solid"/>
          </a:ln>
        </p:spPr>
      </p:sp>
      <p:sp>
        <p:nvSpPr>
          <p:cNvPr id="7" name="Shape 5"/>
          <p:cNvSpPr/>
          <p:nvPr/>
        </p:nvSpPr>
        <p:spPr>
          <a:xfrm>
            <a:off x="868680" y="1975104"/>
            <a:ext cx="420624" cy="420624"/>
          </a:xfrm>
          <a:prstGeom prst="ellipse">
            <a:avLst/>
          </a:prstGeom>
          <a:solidFill>
            <a:srgbClr val="FFC24B"/>
          </a:solidFill>
          <a:ln/>
        </p:spPr>
      </p:sp>
      <p:sp>
        <p:nvSpPr>
          <p:cNvPr id="8" name="Text 6"/>
          <p:cNvSpPr/>
          <p:nvPr/>
        </p:nvSpPr>
        <p:spPr>
          <a:xfrm>
            <a:off x="868680" y="1975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828800"/>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Numărul de operații făcute în cursul anului</a:t>
            </a:r>
            <a:endParaRPr lang="en-US" sz="1900" dirty="0"/>
          </a:p>
        </p:txBody>
      </p:sp>
      <p:sp>
        <p:nvSpPr>
          <p:cNvPr id="10" name="Shape 8"/>
          <p:cNvSpPr/>
          <p:nvPr/>
        </p:nvSpPr>
        <p:spPr>
          <a:xfrm>
            <a:off x="594360" y="2670048"/>
            <a:ext cx="10972800" cy="713232"/>
          </a:xfrm>
          <a:prstGeom prst="roundRect">
            <a:avLst>
              <a:gd name="adj" fmla="val 11538"/>
            </a:avLst>
          </a:prstGeom>
          <a:solidFill>
            <a:srgbClr val="1D1F2B"/>
          </a:solidFill>
          <a:ln w="12700">
            <a:solidFill>
              <a:srgbClr val="1D1F2B"/>
            </a:solidFill>
            <a:prstDash val="solid"/>
          </a:ln>
        </p:spPr>
      </p:sp>
      <p:sp>
        <p:nvSpPr>
          <p:cNvPr id="11" name="Shape 9"/>
          <p:cNvSpPr/>
          <p:nvPr/>
        </p:nvSpPr>
        <p:spPr>
          <a:xfrm>
            <a:off x="868680" y="2816352"/>
            <a:ext cx="420624" cy="420624"/>
          </a:xfrm>
          <a:prstGeom prst="ellipse">
            <a:avLst/>
          </a:prstGeom>
          <a:solidFill>
            <a:srgbClr val="FFC24B"/>
          </a:solidFill>
          <a:ln/>
        </p:spPr>
      </p:sp>
      <p:sp>
        <p:nvSpPr>
          <p:cNvPr id="12" name="Text 10"/>
          <p:cNvSpPr/>
          <p:nvPr/>
        </p:nvSpPr>
        <p:spPr>
          <a:xfrm>
            <a:off x="868680" y="28163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670048"/>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Cota de piață câștigată față de ambulatoriul privat</a:t>
            </a:r>
            <a:endParaRPr lang="en-US" sz="1900" dirty="0"/>
          </a:p>
        </p:txBody>
      </p:sp>
      <p:sp>
        <p:nvSpPr>
          <p:cNvPr id="14" name="Shape 12"/>
          <p:cNvSpPr/>
          <p:nvPr/>
        </p:nvSpPr>
        <p:spPr>
          <a:xfrm>
            <a:off x="594360" y="3511296"/>
            <a:ext cx="10972800" cy="713232"/>
          </a:xfrm>
          <a:prstGeom prst="roundRect">
            <a:avLst>
              <a:gd name="adj" fmla="val 11538"/>
            </a:avLst>
          </a:prstGeom>
          <a:solidFill>
            <a:srgbClr val="1D1F2B"/>
          </a:solidFill>
          <a:ln w="12700">
            <a:solidFill>
              <a:srgbClr val="1D1F2B"/>
            </a:solidFill>
            <a:prstDash val="solid"/>
          </a:ln>
        </p:spPr>
      </p:sp>
      <p:sp>
        <p:nvSpPr>
          <p:cNvPr id="15" name="Shape 13"/>
          <p:cNvSpPr/>
          <p:nvPr/>
        </p:nvSpPr>
        <p:spPr>
          <a:xfrm>
            <a:off x="868680" y="3657600"/>
            <a:ext cx="420624" cy="420624"/>
          </a:xfrm>
          <a:prstGeom prst="ellipse">
            <a:avLst/>
          </a:prstGeom>
          <a:solidFill>
            <a:srgbClr val="FFC24B"/>
          </a:solidFill>
          <a:ln/>
        </p:spPr>
      </p:sp>
      <p:sp>
        <p:nvSpPr>
          <p:cNvPr id="16" name="Text 14"/>
          <p:cNvSpPr/>
          <p:nvPr/>
        </p:nvSpPr>
        <p:spPr>
          <a:xfrm>
            <a:off x="868680" y="3657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511296"/>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Așteptarea, complicațiile și revenirile, raportate la costul pe pacient</a:t>
            </a:r>
            <a:endParaRPr lang="en-US" sz="1900" dirty="0"/>
          </a:p>
        </p:txBody>
      </p:sp>
      <p:sp>
        <p:nvSpPr>
          <p:cNvPr id="18" name="Shape 16"/>
          <p:cNvSpPr/>
          <p:nvPr/>
        </p:nvSpPr>
        <p:spPr>
          <a:xfrm>
            <a:off x="594360" y="4352544"/>
            <a:ext cx="10972800" cy="713232"/>
          </a:xfrm>
          <a:prstGeom prst="roundRect">
            <a:avLst>
              <a:gd name="adj" fmla="val 11538"/>
            </a:avLst>
          </a:prstGeom>
          <a:solidFill>
            <a:srgbClr val="1D1F2B"/>
          </a:solidFill>
          <a:ln w="12700">
            <a:solidFill>
              <a:srgbClr val="1D1F2B"/>
            </a:solidFill>
            <a:prstDash val="solid"/>
          </a:ln>
        </p:spPr>
      </p:sp>
      <p:sp>
        <p:nvSpPr>
          <p:cNvPr id="19" name="Shape 17"/>
          <p:cNvSpPr/>
          <p:nvPr/>
        </p:nvSpPr>
        <p:spPr>
          <a:xfrm>
            <a:off x="868680" y="4498848"/>
            <a:ext cx="420624" cy="420624"/>
          </a:xfrm>
          <a:prstGeom prst="ellipse">
            <a:avLst/>
          </a:prstGeom>
          <a:solidFill>
            <a:srgbClr val="FFC24B"/>
          </a:solidFill>
          <a:ln/>
        </p:spPr>
      </p:sp>
      <p:sp>
        <p:nvSpPr>
          <p:cNvPr id="20" name="Text 18"/>
          <p:cNvSpPr/>
          <p:nvPr/>
        </p:nvSpPr>
        <p:spPr>
          <a:xfrm>
            <a:off x="868680" y="4498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4352544"/>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Satisfacția pacienților față de saloanele renovate</a:t>
            </a:r>
            <a:endParaRPr lang="en-US" sz="1900" dirty="0"/>
          </a:p>
        </p:txBody>
      </p:sp>
      <p:sp>
        <p:nvSpPr>
          <p:cNvPr id="22" name="Text 20"/>
          <p:cNvSpPr/>
          <p:nvPr/>
        </p:nvSpPr>
        <p:spPr>
          <a:xfrm>
            <a:off x="594360" y="5376672"/>
            <a:ext cx="10972800" cy="4572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Un singur vot, fără revot.</a:t>
            </a:r>
            <a:endParaRPr lang="en-US" sz="1700" dirty="0"/>
          </a:p>
        </p:txBody>
      </p:sp>
      <p:sp>
        <p:nvSpPr>
          <p:cNvPr id="23" name="Text 21"/>
          <p:cNvSpPr/>
          <p:nvPr/>
        </p:nvSpPr>
        <p:spPr>
          <a:xfrm>
            <a:off x="594360" y="57607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SPUN VARIANTELE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Rezultatele, raportate la cost</a:t>
            </a:r>
            <a:endParaRPr lang="en-US" sz="3200" dirty="0"/>
          </a:p>
        </p:txBody>
      </p:sp>
      <p:sp>
        <p:nvSpPr>
          <p:cNvPr id="4" name="Shape 2"/>
          <p:cNvSpPr/>
          <p:nvPr/>
        </p:nvSpPr>
        <p:spPr>
          <a:xfrm>
            <a:off x="594360" y="1554480"/>
            <a:ext cx="10972800" cy="1463040"/>
          </a:xfrm>
          <a:prstGeom prst="roundRect">
            <a:avLst>
              <a:gd name="adj" fmla="val 5625"/>
            </a:avLst>
          </a:prstGeom>
          <a:solidFill>
            <a:srgbClr val="07564B"/>
          </a:solidFill>
          <a:ln w="12700">
            <a:solidFill>
              <a:srgbClr val="07564B"/>
            </a:solidFill>
            <a:prstDash val="solid"/>
          </a:ln>
        </p:spPr>
      </p:sp>
      <p:sp>
        <p:nvSpPr>
          <p:cNvPr id="5" name="Text 3"/>
          <p:cNvSpPr/>
          <p:nvPr/>
        </p:nvSpPr>
        <p:spPr>
          <a:xfrm>
            <a:off x="868680" y="1554480"/>
            <a:ext cx="10424160" cy="1463040"/>
          </a:xfrm>
          <a:prstGeom prst="rect">
            <a:avLst/>
          </a:prstGeom>
          <a:noFill/>
          <a:ln/>
        </p:spPr>
        <p:txBody>
          <a:bodyPr wrap="square" lIns="0" tIns="0" rIns="0" bIns="0" rtlCol="0" anchor="ctr"/>
          <a:lstStyle/>
          <a:p>
            <a:pPr indent="0" marL="0">
              <a:buNone/>
            </a:pPr>
            <a:r>
              <a:rPr lang="en-US" sz="1750" dirty="0">
                <a:solidFill>
                  <a:srgbClr val="FFFFFF"/>
                </a:solidFill>
                <a:latin typeface="Palatino Linotype" pitchFamily="34" charset="0"/>
                <a:ea typeface="Palatino Linotype" pitchFamily="34" charset="-122"/>
                <a:cs typeface="Palatino Linotype" pitchFamily="34" charset="-120"/>
              </a:rPr>
              <a:t>C leagă un indicator de proces (așteptarea) și indicatori de rezultat (complicațiile, revenirile) de cost. Se potrivește cu factorii critici ai chirurgiei de o zi: programul și așteptarea.</a:t>
            </a:r>
            <a:endParaRPr lang="en-US" sz="1750" dirty="0"/>
          </a:p>
        </p:txBody>
      </p:sp>
      <p:sp>
        <p:nvSpPr>
          <p:cNvPr id="6" name="Shape 4"/>
          <p:cNvSpPr/>
          <p:nvPr/>
        </p:nvSpPr>
        <p:spPr>
          <a:xfrm>
            <a:off x="594360" y="3246120"/>
            <a:ext cx="10972800" cy="749808"/>
          </a:xfrm>
          <a:prstGeom prst="roundRect">
            <a:avLst>
              <a:gd name="adj" fmla="val 10976"/>
            </a:avLst>
          </a:prstGeom>
          <a:solidFill>
            <a:srgbClr val="ECEAE4"/>
          </a:solidFill>
          <a:ln w="12700">
            <a:solidFill>
              <a:srgbClr val="ECEAE4"/>
            </a:solidFill>
            <a:prstDash val="solid"/>
          </a:ln>
        </p:spPr>
      </p:sp>
      <p:sp>
        <p:nvSpPr>
          <p:cNvPr id="7" name="Shape 5"/>
          <p:cNvSpPr/>
          <p:nvPr/>
        </p:nvSpPr>
        <p:spPr>
          <a:xfrm>
            <a:off x="822960" y="3410712"/>
            <a:ext cx="420624" cy="420624"/>
          </a:xfrm>
          <a:prstGeom prst="ellipse">
            <a:avLst/>
          </a:prstGeom>
          <a:solidFill>
            <a:srgbClr val="FF4757"/>
          </a:solidFill>
          <a:ln/>
        </p:spPr>
      </p:sp>
      <p:sp>
        <p:nvSpPr>
          <p:cNvPr id="8" name="Text 6"/>
          <p:cNvSpPr/>
          <p:nvPr/>
        </p:nvSpPr>
        <p:spPr>
          <a:xfrm>
            <a:off x="822960" y="341071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463040" y="3246120"/>
            <a:ext cx="9921240" cy="749808"/>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Volumul, nu valoarea: nu spune ce s-a întâmplat cu pacienții.</a:t>
            </a:r>
            <a:endParaRPr lang="en-US" sz="1550" dirty="0"/>
          </a:p>
        </p:txBody>
      </p:sp>
      <p:sp>
        <p:nvSpPr>
          <p:cNvPr id="10" name="Shape 8"/>
          <p:cNvSpPr/>
          <p:nvPr/>
        </p:nvSpPr>
        <p:spPr>
          <a:xfrm>
            <a:off x="594360" y="4114800"/>
            <a:ext cx="10972800" cy="749808"/>
          </a:xfrm>
          <a:prstGeom prst="roundRect">
            <a:avLst>
              <a:gd name="adj" fmla="val 10976"/>
            </a:avLst>
          </a:prstGeom>
          <a:solidFill>
            <a:srgbClr val="F9F8F5"/>
          </a:solidFill>
          <a:ln w="12700">
            <a:solidFill>
              <a:srgbClr val="F9F8F5"/>
            </a:solidFill>
            <a:prstDash val="solid"/>
          </a:ln>
        </p:spPr>
      </p:sp>
      <p:sp>
        <p:nvSpPr>
          <p:cNvPr id="11" name="Shape 9"/>
          <p:cNvSpPr/>
          <p:nvPr/>
        </p:nvSpPr>
        <p:spPr>
          <a:xfrm>
            <a:off x="822960" y="4279392"/>
            <a:ext cx="420624" cy="420624"/>
          </a:xfrm>
          <a:prstGeom prst="ellipse">
            <a:avLst/>
          </a:prstGeom>
          <a:solidFill>
            <a:srgbClr val="FF4757"/>
          </a:solidFill>
          <a:ln/>
        </p:spPr>
      </p:sp>
      <p:sp>
        <p:nvSpPr>
          <p:cNvPr id="12" name="Text 10"/>
          <p:cNvSpPr/>
          <p:nvPr/>
        </p:nvSpPr>
        <p:spPr>
          <a:xfrm>
            <a:off x="822960" y="427939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463040" y="4114800"/>
            <a:ext cx="9921240" cy="749808"/>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Poziția față de concurent, nu ce primește pacientul.</a:t>
            </a:r>
            <a:endParaRPr lang="en-US" sz="1550" dirty="0"/>
          </a:p>
        </p:txBody>
      </p:sp>
      <p:sp>
        <p:nvSpPr>
          <p:cNvPr id="14" name="Shape 12"/>
          <p:cNvSpPr/>
          <p:nvPr/>
        </p:nvSpPr>
        <p:spPr>
          <a:xfrm>
            <a:off x="594360" y="4983480"/>
            <a:ext cx="10972800" cy="749808"/>
          </a:xfrm>
          <a:prstGeom prst="roundRect">
            <a:avLst>
              <a:gd name="adj" fmla="val 10976"/>
            </a:avLst>
          </a:prstGeom>
          <a:solidFill>
            <a:srgbClr val="ECEAE4"/>
          </a:solidFill>
          <a:ln w="12700">
            <a:solidFill>
              <a:srgbClr val="ECEAE4"/>
            </a:solidFill>
            <a:prstDash val="solid"/>
          </a:ln>
        </p:spPr>
      </p:sp>
      <p:sp>
        <p:nvSpPr>
          <p:cNvPr id="15" name="Shape 13"/>
          <p:cNvSpPr/>
          <p:nvPr/>
        </p:nvSpPr>
        <p:spPr>
          <a:xfrm>
            <a:off x="822960" y="5148072"/>
            <a:ext cx="420624" cy="420624"/>
          </a:xfrm>
          <a:prstGeom prst="ellipse">
            <a:avLst/>
          </a:prstGeom>
          <a:solidFill>
            <a:srgbClr val="FF4757"/>
          </a:solidFill>
          <a:ln/>
        </p:spPr>
      </p:sp>
      <p:sp>
        <p:nvSpPr>
          <p:cNvPr id="16" name="Text 14"/>
          <p:cNvSpPr/>
          <p:nvPr/>
        </p:nvSpPr>
        <p:spPr>
          <a:xfrm>
            <a:off x="822960" y="514807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D</a:t>
            </a:r>
            <a:endParaRPr lang="en-US" sz="1400" dirty="0"/>
          </a:p>
        </p:txBody>
      </p:sp>
      <p:sp>
        <p:nvSpPr>
          <p:cNvPr id="17" name="Text 15"/>
          <p:cNvSpPr/>
          <p:nvPr/>
        </p:nvSpPr>
        <p:spPr>
          <a:xfrm>
            <a:off x="1463040" y="4983480"/>
            <a:ext cx="9921240" cy="749808"/>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Raportul din 2019 adaugă experiența pacientului rezultatelor, dar D o reduce la saloane, fără rezultat și fără cost.</a:t>
            </a:r>
            <a:endParaRPr lang="en-US" sz="15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AȚI FĂCUT AZI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Cei șapte pași ai analizei</a:t>
            </a:r>
            <a:endParaRPr lang="en-US" sz="3200" dirty="0"/>
          </a:p>
        </p:txBody>
      </p:sp>
      <p:sp>
        <p:nvSpPr>
          <p:cNvPr id="4" name="Shape 2"/>
          <p:cNvSpPr/>
          <p:nvPr/>
        </p:nvSpPr>
        <p:spPr>
          <a:xfrm>
            <a:off x="594360" y="1600200"/>
            <a:ext cx="5349240" cy="804672"/>
          </a:xfrm>
          <a:prstGeom prst="roundRect">
            <a:avLst>
              <a:gd name="adj" fmla="val 10227"/>
            </a:avLst>
          </a:prstGeom>
          <a:solidFill>
            <a:srgbClr val="ECEAE4"/>
          </a:solidFill>
          <a:ln w="12700">
            <a:solidFill>
              <a:srgbClr val="ECEAE4"/>
            </a:solidFill>
            <a:prstDash val="solid"/>
          </a:ln>
        </p:spPr>
      </p:sp>
      <p:sp>
        <p:nvSpPr>
          <p:cNvPr id="5" name="Shape 3"/>
          <p:cNvSpPr/>
          <p:nvPr/>
        </p:nvSpPr>
        <p:spPr>
          <a:xfrm>
            <a:off x="822960" y="1792224"/>
            <a:ext cx="420624" cy="420624"/>
          </a:xfrm>
          <a:prstGeom prst="ellipse">
            <a:avLst/>
          </a:prstGeom>
          <a:solidFill>
            <a:srgbClr val="FF4757"/>
          </a:solidFill>
          <a:ln/>
        </p:spPr>
      </p:sp>
      <p:sp>
        <p:nvSpPr>
          <p:cNvPr id="6" name="Text 4"/>
          <p:cNvSpPr/>
          <p:nvPr/>
        </p:nvSpPr>
        <p:spPr>
          <a:xfrm>
            <a:off x="822960" y="179222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17320" y="1600200"/>
            <a:ext cx="4389120" cy="804672"/>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Problemele mediului general, ale sistemului și ale ariei</a:t>
            </a:r>
            <a:endParaRPr lang="en-US" sz="1500" dirty="0"/>
          </a:p>
        </p:txBody>
      </p:sp>
      <p:sp>
        <p:nvSpPr>
          <p:cNvPr id="8" name="Shape 6"/>
          <p:cNvSpPr/>
          <p:nvPr/>
        </p:nvSpPr>
        <p:spPr>
          <a:xfrm>
            <a:off x="594360" y="2560320"/>
            <a:ext cx="5349240" cy="804672"/>
          </a:xfrm>
          <a:prstGeom prst="roundRect">
            <a:avLst>
              <a:gd name="adj" fmla="val 10227"/>
            </a:avLst>
          </a:prstGeom>
          <a:solidFill>
            <a:srgbClr val="F9F8F5"/>
          </a:solidFill>
          <a:ln w="12700">
            <a:solidFill>
              <a:srgbClr val="F9F8F5"/>
            </a:solidFill>
            <a:prstDash val="solid"/>
          </a:ln>
        </p:spPr>
      </p:sp>
      <p:sp>
        <p:nvSpPr>
          <p:cNvPr id="9" name="Shape 7"/>
          <p:cNvSpPr/>
          <p:nvPr/>
        </p:nvSpPr>
        <p:spPr>
          <a:xfrm>
            <a:off x="822960" y="2752344"/>
            <a:ext cx="420624" cy="420624"/>
          </a:xfrm>
          <a:prstGeom prst="ellipse">
            <a:avLst/>
          </a:prstGeom>
          <a:solidFill>
            <a:srgbClr val="FF4757"/>
          </a:solidFill>
          <a:ln/>
        </p:spPr>
      </p:sp>
      <p:sp>
        <p:nvSpPr>
          <p:cNvPr id="10" name="Text 8"/>
          <p:cNvSpPr/>
          <p:nvPr/>
        </p:nvSpPr>
        <p:spPr>
          <a:xfrm>
            <a:off x="822960" y="275234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17320" y="2560320"/>
            <a:ext cx="4389120" cy="804672"/>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Structura ariei: cele cinci presiuni</a:t>
            </a:r>
            <a:endParaRPr lang="en-US" sz="1500" dirty="0"/>
          </a:p>
        </p:txBody>
      </p:sp>
      <p:sp>
        <p:nvSpPr>
          <p:cNvPr id="12" name="Shape 10"/>
          <p:cNvSpPr/>
          <p:nvPr/>
        </p:nvSpPr>
        <p:spPr>
          <a:xfrm>
            <a:off x="594360" y="3520440"/>
            <a:ext cx="5349240" cy="804672"/>
          </a:xfrm>
          <a:prstGeom prst="roundRect">
            <a:avLst>
              <a:gd name="adj" fmla="val 10227"/>
            </a:avLst>
          </a:prstGeom>
          <a:solidFill>
            <a:srgbClr val="ECEAE4"/>
          </a:solidFill>
          <a:ln w="12700">
            <a:solidFill>
              <a:srgbClr val="ECEAE4"/>
            </a:solidFill>
            <a:prstDash val="solid"/>
          </a:ln>
        </p:spPr>
      </p:sp>
      <p:sp>
        <p:nvSpPr>
          <p:cNvPr id="13" name="Shape 11"/>
          <p:cNvSpPr/>
          <p:nvPr/>
        </p:nvSpPr>
        <p:spPr>
          <a:xfrm>
            <a:off x="822960" y="3712464"/>
            <a:ext cx="420624" cy="420624"/>
          </a:xfrm>
          <a:prstGeom prst="ellipse">
            <a:avLst/>
          </a:prstGeom>
          <a:solidFill>
            <a:srgbClr val="FF4757"/>
          </a:solidFill>
          <a:ln/>
        </p:spPr>
      </p:sp>
      <p:sp>
        <p:nvSpPr>
          <p:cNvPr id="14" name="Text 12"/>
          <p:cNvSpPr/>
          <p:nvPr/>
        </p:nvSpPr>
        <p:spPr>
          <a:xfrm>
            <a:off x="822960" y="371246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17320" y="3520440"/>
            <a:ext cx="4389120" cy="804672"/>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Punctele tari și slabe ale concurenților</a:t>
            </a:r>
            <a:endParaRPr lang="en-US" sz="1500" dirty="0"/>
          </a:p>
        </p:txBody>
      </p:sp>
      <p:sp>
        <p:nvSpPr>
          <p:cNvPr id="16" name="Shape 14"/>
          <p:cNvSpPr/>
          <p:nvPr/>
        </p:nvSpPr>
        <p:spPr>
          <a:xfrm>
            <a:off x="594360" y="4480560"/>
            <a:ext cx="5349240" cy="804672"/>
          </a:xfrm>
          <a:prstGeom prst="roundRect">
            <a:avLst>
              <a:gd name="adj" fmla="val 10227"/>
            </a:avLst>
          </a:prstGeom>
          <a:solidFill>
            <a:srgbClr val="F9F8F5"/>
          </a:solidFill>
          <a:ln w="12700">
            <a:solidFill>
              <a:srgbClr val="F9F8F5"/>
            </a:solidFill>
            <a:prstDash val="solid"/>
          </a:ln>
        </p:spPr>
      </p:sp>
      <p:sp>
        <p:nvSpPr>
          <p:cNvPr id="17" name="Shape 15"/>
          <p:cNvSpPr/>
          <p:nvPr/>
        </p:nvSpPr>
        <p:spPr>
          <a:xfrm>
            <a:off x="822960" y="4672584"/>
            <a:ext cx="420624" cy="420624"/>
          </a:xfrm>
          <a:prstGeom prst="ellipse">
            <a:avLst/>
          </a:prstGeom>
          <a:solidFill>
            <a:srgbClr val="FF4757"/>
          </a:solidFill>
          <a:ln/>
        </p:spPr>
      </p:sp>
      <p:sp>
        <p:nvSpPr>
          <p:cNvPr id="18" name="Text 16"/>
          <p:cNvSpPr/>
          <p:nvPr/>
        </p:nvSpPr>
        <p:spPr>
          <a:xfrm>
            <a:off x="822960" y="467258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417320" y="4480560"/>
            <a:ext cx="4389120" cy="804672"/>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Factorii critici de succes</a:t>
            </a:r>
            <a:endParaRPr lang="en-US" sz="1500" dirty="0"/>
          </a:p>
        </p:txBody>
      </p:sp>
      <p:sp>
        <p:nvSpPr>
          <p:cNvPr id="20" name="Shape 18"/>
          <p:cNvSpPr/>
          <p:nvPr/>
        </p:nvSpPr>
        <p:spPr>
          <a:xfrm>
            <a:off x="6217920" y="1600200"/>
            <a:ext cx="5349240" cy="804672"/>
          </a:xfrm>
          <a:prstGeom prst="roundRect">
            <a:avLst>
              <a:gd name="adj" fmla="val 10227"/>
            </a:avLst>
          </a:prstGeom>
          <a:solidFill>
            <a:srgbClr val="ECEAE4"/>
          </a:solidFill>
          <a:ln w="12700">
            <a:solidFill>
              <a:srgbClr val="ECEAE4"/>
            </a:solidFill>
            <a:prstDash val="solid"/>
          </a:ln>
        </p:spPr>
      </p:sp>
      <p:sp>
        <p:nvSpPr>
          <p:cNvPr id="21" name="Shape 19"/>
          <p:cNvSpPr/>
          <p:nvPr/>
        </p:nvSpPr>
        <p:spPr>
          <a:xfrm>
            <a:off x="6446520" y="1792224"/>
            <a:ext cx="420624" cy="420624"/>
          </a:xfrm>
          <a:prstGeom prst="ellipse">
            <a:avLst/>
          </a:prstGeom>
          <a:solidFill>
            <a:srgbClr val="FF4757"/>
          </a:solidFill>
          <a:ln/>
        </p:spPr>
      </p:sp>
      <p:sp>
        <p:nvSpPr>
          <p:cNvPr id="22" name="Text 20"/>
          <p:cNvSpPr/>
          <p:nvPr/>
        </p:nvSpPr>
        <p:spPr>
          <a:xfrm>
            <a:off x="6446520" y="179222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7040880" y="1600200"/>
            <a:ext cx="4389120" cy="804672"/>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Grupurile strategice</a:t>
            </a:r>
            <a:endParaRPr lang="en-US" sz="1500" dirty="0"/>
          </a:p>
        </p:txBody>
      </p:sp>
      <p:sp>
        <p:nvSpPr>
          <p:cNvPr id="24" name="Shape 22"/>
          <p:cNvSpPr/>
          <p:nvPr/>
        </p:nvSpPr>
        <p:spPr>
          <a:xfrm>
            <a:off x="6217920" y="2560320"/>
            <a:ext cx="5349240" cy="804672"/>
          </a:xfrm>
          <a:prstGeom prst="roundRect">
            <a:avLst>
              <a:gd name="adj" fmla="val 10227"/>
            </a:avLst>
          </a:prstGeom>
          <a:solidFill>
            <a:srgbClr val="F9F8F5"/>
          </a:solidFill>
          <a:ln w="12700">
            <a:solidFill>
              <a:srgbClr val="F9F8F5"/>
            </a:solidFill>
            <a:prstDash val="solid"/>
          </a:ln>
        </p:spPr>
      </p:sp>
      <p:sp>
        <p:nvSpPr>
          <p:cNvPr id="25" name="Shape 23"/>
          <p:cNvSpPr/>
          <p:nvPr/>
        </p:nvSpPr>
        <p:spPr>
          <a:xfrm>
            <a:off x="6446520" y="2752344"/>
            <a:ext cx="420624" cy="420624"/>
          </a:xfrm>
          <a:prstGeom prst="ellipse">
            <a:avLst/>
          </a:prstGeom>
          <a:solidFill>
            <a:srgbClr val="FF4757"/>
          </a:solidFill>
          <a:ln/>
        </p:spPr>
      </p:sp>
      <p:sp>
        <p:nvSpPr>
          <p:cNvPr id="26" name="Text 24"/>
          <p:cNvSpPr/>
          <p:nvPr/>
        </p:nvSpPr>
        <p:spPr>
          <a:xfrm>
            <a:off x="6446520" y="275234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6</a:t>
            </a:r>
            <a:endParaRPr lang="en-US" sz="1400" dirty="0"/>
          </a:p>
        </p:txBody>
      </p:sp>
      <p:sp>
        <p:nvSpPr>
          <p:cNvPr id="27" name="Text 25"/>
          <p:cNvSpPr/>
          <p:nvPr/>
        </p:nvSpPr>
        <p:spPr>
          <a:xfrm>
            <a:off x="7040880" y="2560320"/>
            <a:ext cx="4389120" cy="804672"/>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Mișcările probabile ale concurenților</a:t>
            </a:r>
            <a:endParaRPr lang="en-US" sz="1500" dirty="0"/>
          </a:p>
        </p:txBody>
      </p:sp>
      <p:sp>
        <p:nvSpPr>
          <p:cNvPr id="28" name="Shape 26"/>
          <p:cNvSpPr/>
          <p:nvPr/>
        </p:nvSpPr>
        <p:spPr>
          <a:xfrm>
            <a:off x="6217920" y="3520440"/>
            <a:ext cx="5349240" cy="804672"/>
          </a:xfrm>
          <a:prstGeom prst="roundRect">
            <a:avLst>
              <a:gd name="adj" fmla="val 10227"/>
            </a:avLst>
          </a:prstGeom>
          <a:solidFill>
            <a:srgbClr val="ECEAE4"/>
          </a:solidFill>
          <a:ln w="12700">
            <a:solidFill>
              <a:srgbClr val="ECEAE4"/>
            </a:solidFill>
            <a:prstDash val="solid"/>
          </a:ln>
        </p:spPr>
      </p:sp>
      <p:sp>
        <p:nvSpPr>
          <p:cNvPr id="29" name="Shape 27"/>
          <p:cNvSpPr/>
          <p:nvPr/>
        </p:nvSpPr>
        <p:spPr>
          <a:xfrm>
            <a:off x="6446520" y="3712464"/>
            <a:ext cx="420624" cy="420624"/>
          </a:xfrm>
          <a:prstGeom prst="ellipse">
            <a:avLst/>
          </a:prstGeom>
          <a:solidFill>
            <a:srgbClr val="FF4757"/>
          </a:solidFill>
          <a:ln/>
        </p:spPr>
      </p:sp>
      <p:sp>
        <p:nvSpPr>
          <p:cNvPr id="30" name="Text 28"/>
          <p:cNvSpPr/>
          <p:nvPr/>
        </p:nvSpPr>
        <p:spPr>
          <a:xfrm>
            <a:off x="6446520" y="371246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7</a:t>
            </a:r>
            <a:endParaRPr lang="en-US" sz="1400" dirty="0"/>
          </a:p>
        </p:txBody>
      </p:sp>
      <p:sp>
        <p:nvSpPr>
          <p:cNvPr id="31" name="Text 29"/>
          <p:cNvSpPr/>
          <p:nvPr/>
        </p:nvSpPr>
        <p:spPr>
          <a:xfrm>
            <a:off x="7040880" y="3520440"/>
            <a:ext cx="4389120" cy="804672"/>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Sinteza: câteva concluzii strategice</a:t>
            </a:r>
            <a:endParaRPr lang="en-US" sz="1500" dirty="0"/>
          </a:p>
        </p:txBody>
      </p:sp>
      <p:sp>
        <p:nvSpPr>
          <p:cNvPr id="32" name="Text 30"/>
          <p:cNvSpPr/>
          <p:nvPr/>
        </p:nvSpPr>
        <p:spPr>
          <a:xfrm>
            <a:off x="6217920" y="4526280"/>
            <a:ext cx="5349240" cy="914400"/>
          </a:xfrm>
          <a:prstGeom prst="rect">
            <a:avLst/>
          </a:prstGeom>
          <a:noFill/>
          <a:ln/>
        </p:spPr>
        <p:txBody>
          <a:bodyPr wrap="square" lIns="0" tIns="0" rIns="0" bIns="0" rtlCol="0" anchor="t"/>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Ca să nu vă pierdeți în informații: câteva probleme-cheie, cu efectul lor probabil.</a:t>
            </a:r>
            <a:endParaRPr lang="en-US" sz="1500" dirty="0"/>
          </a:p>
        </p:txBody>
      </p:sp>
      <p:sp>
        <p:nvSpPr>
          <p:cNvPr id="33" name="Text 3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manualul cursului, capitolul 3.</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 · NU SE NOTEAZĂ</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TESTUL DE LA FINAL</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Zece întrebări despre ideile ședinței</a:t>
            </a:r>
            <a:endParaRPr lang="en-US" sz="3400" dirty="0"/>
          </a:p>
        </p:txBody>
      </p:sp>
      <p:sp>
        <p:nvSpPr>
          <p:cNvPr id="6" name="Shape 4"/>
          <p:cNvSpPr/>
          <p:nvPr/>
        </p:nvSpPr>
        <p:spPr>
          <a:xfrm>
            <a:off x="594360" y="1783080"/>
            <a:ext cx="6766560" cy="621792"/>
          </a:xfrm>
          <a:prstGeom prst="roundRect">
            <a:avLst>
              <a:gd name="adj" fmla="val 13235"/>
            </a:avLst>
          </a:prstGeom>
          <a:solidFill>
            <a:srgbClr val="1D1F2B"/>
          </a:solidFill>
          <a:ln w="12700">
            <a:solidFill>
              <a:srgbClr val="1D1F2B"/>
            </a:solidFill>
            <a:prstDash val="solid"/>
          </a:ln>
        </p:spPr>
      </p:sp>
      <p:sp>
        <p:nvSpPr>
          <p:cNvPr id="7" name="Shape 5"/>
          <p:cNvSpPr/>
          <p:nvPr/>
        </p:nvSpPr>
        <p:spPr>
          <a:xfrm>
            <a:off x="777240" y="1883664"/>
            <a:ext cx="420624" cy="420624"/>
          </a:xfrm>
          <a:prstGeom prst="ellipse">
            <a:avLst/>
          </a:prstGeom>
          <a:solidFill>
            <a:srgbClr val="FFC24B"/>
          </a:solidFill>
          <a:ln/>
        </p:spPr>
      </p:sp>
      <p:sp>
        <p:nvSpPr>
          <p:cNvPr id="8" name="Text 6"/>
          <p:cNvSpPr/>
          <p:nvPr/>
        </p:nvSpPr>
        <p:spPr>
          <a:xfrm>
            <a:off x="777240" y="18836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371600" y="1783080"/>
            <a:ext cx="5852160" cy="621792"/>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Concurenții pe fiecare linie, cele cinci presiuni</a:t>
            </a:r>
            <a:endParaRPr lang="en-US" sz="1650" dirty="0"/>
          </a:p>
        </p:txBody>
      </p:sp>
      <p:sp>
        <p:nvSpPr>
          <p:cNvPr id="10" name="Shape 8"/>
          <p:cNvSpPr/>
          <p:nvPr/>
        </p:nvSpPr>
        <p:spPr>
          <a:xfrm>
            <a:off x="594360" y="2514600"/>
            <a:ext cx="6766560" cy="621792"/>
          </a:xfrm>
          <a:prstGeom prst="roundRect">
            <a:avLst>
              <a:gd name="adj" fmla="val 13235"/>
            </a:avLst>
          </a:prstGeom>
          <a:solidFill>
            <a:srgbClr val="1D1F2B"/>
          </a:solidFill>
          <a:ln w="12700">
            <a:solidFill>
              <a:srgbClr val="1D1F2B"/>
            </a:solidFill>
            <a:prstDash val="solid"/>
          </a:ln>
        </p:spPr>
      </p:sp>
      <p:sp>
        <p:nvSpPr>
          <p:cNvPr id="11" name="Shape 9"/>
          <p:cNvSpPr/>
          <p:nvPr/>
        </p:nvSpPr>
        <p:spPr>
          <a:xfrm>
            <a:off x="777240" y="2615184"/>
            <a:ext cx="420624" cy="420624"/>
          </a:xfrm>
          <a:prstGeom prst="ellipse">
            <a:avLst/>
          </a:prstGeom>
          <a:solidFill>
            <a:srgbClr val="FFC24B"/>
          </a:solidFill>
          <a:ln/>
        </p:spPr>
      </p:sp>
      <p:sp>
        <p:nvSpPr>
          <p:cNvPr id="12" name="Text 10"/>
          <p:cNvSpPr/>
          <p:nvPr/>
        </p:nvSpPr>
        <p:spPr>
          <a:xfrm>
            <a:off x="777240" y="26151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371600" y="2514600"/>
            <a:ext cx="5852160" cy="621792"/>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Factorii critici de succes, grupurile strategice</a:t>
            </a:r>
            <a:endParaRPr lang="en-US" sz="1650" dirty="0"/>
          </a:p>
        </p:txBody>
      </p:sp>
      <p:sp>
        <p:nvSpPr>
          <p:cNvPr id="14" name="Shape 12"/>
          <p:cNvSpPr/>
          <p:nvPr/>
        </p:nvSpPr>
        <p:spPr>
          <a:xfrm>
            <a:off x="594360" y="3246120"/>
            <a:ext cx="6766560" cy="621792"/>
          </a:xfrm>
          <a:prstGeom prst="roundRect">
            <a:avLst>
              <a:gd name="adj" fmla="val 13235"/>
            </a:avLst>
          </a:prstGeom>
          <a:solidFill>
            <a:srgbClr val="1D1F2B"/>
          </a:solidFill>
          <a:ln w="12700">
            <a:solidFill>
              <a:srgbClr val="1D1F2B"/>
            </a:solidFill>
            <a:prstDash val="solid"/>
          </a:ln>
        </p:spPr>
      </p:sp>
      <p:sp>
        <p:nvSpPr>
          <p:cNvPr id="15" name="Shape 13"/>
          <p:cNvSpPr/>
          <p:nvPr/>
        </p:nvSpPr>
        <p:spPr>
          <a:xfrm>
            <a:off x="777240" y="3346704"/>
            <a:ext cx="420624" cy="420624"/>
          </a:xfrm>
          <a:prstGeom prst="ellipse">
            <a:avLst/>
          </a:prstGeom>
          <a:solidFill>
            <a:srgbClr val="FFC24B"/>
          </a:solidFill>
          <a:ln/>
        </p:spPr>
      </p:sp>
      <p:sp>
        <p:nvSpPr>
          <p:cNvPr id="16" name="Text 14"/>
          <p:cNvSpPr/>
          <p:nvPr/>
        </p:nvSpPr>
        <p:spPr>
          <a:xfrm>
            <a:off x="777240" y="33467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371600" y="3246120"/>
            <a:ext cx="5852160" cy="621792"/>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Resursele și testul VRIO</a:t>
            </a:r>
            <a:endParaRPr lang="en-US" sz="1650" dirty="0"/>
          </a:p>
        </p:txBody>
      </p:sp>
      <p:sp>
        <p:nvSpPr>
          <p:cNvPr id="18" name="Shape 16"/>
          <p:cNvSpPr/>
          <p:nvPr/>
        </p:nvSpPr>
        <p:spPr>
          <a:xfrm>
            <a:off x="594360" y="3977640"/>
            <a:ext cx="6766560" cy="621792"/>
          </a:xfrm>
          <a:prstGeom prst="roundRect">
            <a:avLst>
              <a:gd name="adj" fmla="val 13235"/>
            </a:avLst>
          </a:prstGeom>
          <a:solidFill>
            <a:srgbClr val="1D1F2B"/>
          </a:solidFill>
          <a:ln w="12700">
            <a:solidFill>
              <a:srgbClr val="1D1F2B"/>
            </a:solidFill>
            <a:prstDash val="solid"/>
          </a:ln>
        </p:spPr>
      </p:sp>
      <p:sp>
        <p:nvSpPr>
          <p:cNvPr id="19" name="Shape 17"/>
          <p:cNvSpPr/>
          <p:nvPr/>
        </p:nvSpPr>
        <p:spPr>
          <a:xfrm>
            <a:off x="777240" y="4078224"/>
            <a:ext cx="420624" cy="420624"/>
          </a:xfrm>
          <a:prstGeom prst="ellipse">
            <a:avLst/>
          </a:prstGeom>
          <a:solidFill>
            <a:srgbClr val="FFC24B"/>
          </a:solidFill>
          <a:ln/>
        </p:spPr>
      </p:sp>
      <p:sp>
        <p:nvSpPr>
          <p:cNvPr id="20" name="Text 18"/>
          <p:cNvSpPr/>
          <p:nvPr/>
        </p:nvSpPr>
        <p:spPr>
          <a:xfrm>
            <a:off x="777240" y="40782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371600" y="3977640"/>
            <a:ext cx="5852160" cy="621792"/>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Valoarea pentru pacient și indicatorii</a:t>
            </a:r>
            <a:endParaRPr lang="en-US" sz="1650" dirty="0"/>
          </a:p>
        </p:txBody>
      </p:sp>
      <p:sp>
        <p:nvSpPr>
          <p:cNvPr id="22" name="Shape 20"/>
          <p:cNvSpPr/>
          <p:nvPr/>
        </p:nvSpPr>
        <p:spPr>
          <a:xfrm>
            <a:off x="7680960" y="1783080"/>
            <a:ext cx="3886200" cy="2743200"/>
          </a:xfrm>
          <a:prstGeom prst="roundRect">
            <a:avLst>
              <a:gd name="adj" fmla="val 3000"/>
            </a:avLst>
          </a:prstGeom>
          <a:solidFill>
            <a:srgbClr val="272A38"/>
          </a:solidFill>
          <a:ln w="12700">
            <a:solidFill>
              <a:srgbClr val="272A38"/>
            </a:solidFill>
            <a:prstDash val="solid"/>
          </a:ln>
        </p:spPr>
      </p:sp>
      <p:sp>
        <p:nvSpPr>
          <p:cNvPr id="23" name="Text 21"/>
          <p:cNvSpPr/>
          <p:nvPr/>
        </p:nvSpPr>
        <p:spPr>
          <a:xfrm>
            <a:off x="7909560" y="1783080"/>
            <a:ext cx="3474720" cy="2743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Testul nu se notează. Rezultatele arată ce idei se reiau la începutul cursului următor.</a:t>
            </a:r>
            <a:endParaRPr lang="en-US" sz="1700" dirty="0"/>
          </a:p>
        </p:txBody>
      </p:sp>
      <p:sp>
        <p:nvSpPr>
          <p:cNvPr id="24" name="Text 22"/>
          <p:cNvSpPr/>
          <p:nvPr/>
        </p:nvSpPr>
        <p:spPr>
          <a:xfrm>
            <a:off x="594360" y="5029200"/>
            <a:ext cx="10972800" cy="45720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LA ÎNTREBAREA ȘEDINȚEI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Cu cine se luptă, de fapt, Spitalul A</a:t>
            </a:r>
            <a:endParaRPr lang="en-US" sz="3000" dirty="0"/>
          </a:p>
        </p:txBody>
      </p:sp>
      <p:sp>
        <p:nvSpPr>
          <p:cNvPr id="4" name="Shape 2"/>
          <p:cNvSpPr/>
          <p:nvPr/>
        </p:nvSpPr>
        <p:spPr>
          <a:xfrm>
            <a:off x="594360" y="1554480"/>
            <a:ext cx="6492240" cy="914400"/>
          </a:xfrm>
          <a:prstGeom prst="roundRect">
            <a:avLst>
              <a:gd name="adj" fmla="val 9000"/>
            </a:avLst>
          </a:prstGeom>
          <a:solidFill>
            <a:srgbClr val="ECEAE4"/>
          </a:solidFill>
          <a:ln w="12700">
            <a:solidFill>
              <a:srgbClr val="ECEAE4"/>
            </a:solidFill>
            <a:prstDash val="solid"/>
          </a:ln>
        </p:spPr>
      </p:sp>
      <p:sp>
        <p:nvSpPr>
          <p:cNvPr id="5" name="Shape 3"/>
          <p:cNvSpPr/>
          <p:nvPr/>
        </p:nvSpPr>
        <p:spPr>
          <a:xfrm>
            <a:off x="822960" y="1801368"/>
            <a:ext cx="420624" cy="420624"/>
          </a:xfrm>
          <a:prstGeom prst="ellipse">
            <a:avLst/>
          </a:prstGeom>
          <a:solidFill>
            <a:srgbClr val="FF4757"/>
          </a:solidFill>
          <a:ln/>
        </p:spPr>
      </p:sp>
      <p:sp>
        <p:nvSpPr>
          <p:cNvPr id="6" name="Text 4"/>
          <p:cNvSpPr/>
          <p:nvPr/>
        </p:nvSpPr>
        <p:spPr>
          <a:xfrm>
            <a:off x="822960" y="18013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17320" y="1554480"/>
            <a:ext cx="5532120" cy="91440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Concurenții se caută pe fiecare linie de servicii și în aria ei.</a:t>
            </a:r>
            <a:endParaRPr lang="en-US" sz="1550" dirty="0"/>
          </a:p>
        </p:txBody>
      </p:sp>
      <p:sp>
        <p:nvSpPr>
          <p:cNvPr id="8" name="Shape 6"/>
          <p:cNvSpPr/>
          <p:nvPr/>
        </p:nvSpPr>
        <p:spPr>
          <a:xfrm>
            <a:off x="594360" y="2606040"/>
            <a:ext cx="6492240" cy="914400"/>
          </a:xfrm>
          <a:prstGeom prst="roundRect">
            <a:avLst>
              <a:gd name="adj" fmla="val 9000"/>
            </a:avLst>
          </a:prstGeom>
          <a:solidFill>
            <a:srgbClr val="F9F8F5"/>
          </a:solidFill>
          <a:ln w="12700">
            <a:solidFill>
              <a:srgbClr val="F9F8F5"/>
            </a:solidFill>
            <a:prstDash val="solid"/>
          </a:ln>
        </p:spPr>
      </p:sp>
      <p:sp>
        <p:nvSpPr>
          <p:cNvPr id="9" name="Shape 7"/>
          <p:cNvSpPr/>
          <p:nvPr/>
        </p:nvSpPr>
        <p:spPr>
          <a:xfrm>
            <a:off x="822960" y="2852928"/>
            <a:ext cx="420624" cy="420624"/>
          </a:xfrm>
          <a:prstGeom prst="ellipse">
            <a:avLst/>
          </a:prstGeom>
          <a:solidFill>
            <a:srgbClr val="FF4757"/>
          </a:solidFill>
          <a:ln/>
        </p:spPr>
      </p:sp>
      <p:sp>
        <p:nvSpPr>
          <p:cNvPr id="10" name="Text 8"/>
          <p:cNvSpPr/>
          <p:nvPr/>
        </p:nvSpPr>
        <p:spPr>
          <a:xfrm>
            <a:off x="822960" y="285292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17320" y="2606040"/>
            <a:ext cx="5532120" cy="91440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Pe fiecare linie: cinci presiuni și câțiva factori critici de succes.</a:t>
            </a:r>
            <a:endParaRPr lang="en-US" sz="1550" dirty="0"/>
          </a:p>
        </p:txBody>
      </p:sp>
      <p:sp>
        <p:nvSpPr>
          <p:cNvPr id="12" name="Shape 10"/>
          <p:cNvSpPr/>
          <p:nvPr/>
        </p:nvSpPr>
        <p:spPr>
          <a:xfrm>
            <a:off x="594360" y="3657600"/>
            <a:ext cx="6492240" cy="914400"/>
          </a:xfrm>
          <a:prstGeom prst="roundRect">
            <a:avLst>
              <a:gd name="adj" fmla="val 9000"/>
            </a:avLst>
          </a:prstGeom>
          <a:solidFill>
            <a:srgbClr val="ECEAE4"/>
          </a:solidFill>
          <a:ln w="12700">
            <a:solidFill>
              <a:srgbClr val="ECEAE4"/>
            </a:solidFill>
            <a:prstDash val="solid"/>
          </a:ln>
        </p:spPr>
      </p:sp>
      <p:sp>
        <p:nvSpPr>
          <p:cNvPr id="13" name="Shape 11"/>
          <p:cNvSpPr/>
          <p:nvPr/>
        </p:nvSpPr>
        <p:spPr>
          <a:xfrm>
            <a:off x="822960" y="3904488"/>
            <a:ext cx="420624" cy="420624"/>
          </a:xfrm>
          <a:prstGeom prst="ellipse">
            <a:avLst/>
          </a:prstGeom>
          <a:solidFill>
            <a:srgbClr val="FF4757"/>
          </a:solidFill>
          <a:ln/>
        </p:spPr>
      </p:sp>
      <p:sp>
        <p:nvSpPr>
          <p:cNvPr id="14" name="Text 12"/>
          <p:cNvSpPr/>
          <p:nvPr/>
        </p:nvSpPr>
        <p:spPr>
          <a:xfrm>
            <a:off x="822960" y="390448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17320" y="3657600"/>
            <a:ext cx="5532120" cy="91440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Avantajul durabil: resurse valoroase, rare, greu de imitat, bine organizate.</a:t>
            </a:r>
            <a:endParaRPr lang="en-US" sz="1550" dirty="0"/>
          </a:p>
        </p:txBody>
      </p:sp>
      <p:sp>
        <p:nvSpPr>
          <p:cNvPr id="16" name="Shape 14"/>
          <p:cNvSpPr/>
          <p:nvPr/>
        </p:nvSpPr>
        <p:spPr>
          <a:xfrm>
            <a:off x="594360" y="4709160"/>
            <a:ext cx="6492240" cy="914400"/>
          </a:xfrm>
          <a:prstGeom prst="roundRect">
            <a:avLst>
              <a:gd name="adj" fmla="val 9000"/>
            </a:avLst>
          </a:prstGeom>
          <a:solidFill>
            <a:srgbClr val="F9F8F5"/>
          </a:solidFill>
          <a:ln w="12700">
            <a:solidFill>
              <a:srgbClr val="F9F8F5"/>
            </a:solidFill>
            <a:prstDash val="solid"/>
          </a:ln>
        </p:spPr>
      </p:sp>
      <p:sp>
        <p:nvSpPr>
          <p:cNvPr id="17" name="Shape 15"/>
          <p:cNvSpPr/>
          <p:nvPr/>
        </p:nvSpPr>
        <p:spPr>
          <a:xfrm>
            <a:off x="822960" y="4956048"/>
            <a:ext cx="420624" cy="420624"/>
          </a:xfrm>
          <a:prstGeom prst="ellipse">
            <a:avLst/>
          </a:prstGeom>
          <a:solidFill>
            <a:srgbClr val="FF4757"/>
          </a:solidFill>
          <a:ln/>
        </p:spPr>
      </p:sp>
      <p:sp>
        <p:nvSpPr>
          <p:cNvPr id="18" name="Text 16"/>
          <p:cNvSpPr/>
          <p:nvPr/>
        </p:nvSpPr>
        <p:spPr>
          <a:xfrm>
            <a:off x="822960" y="495604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417320" y="4709160"/>
            <a:ext cx="5532120" cy="91440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Alegerea se judecă după rezultatele pacienților, raportate la cost.</a:t>
            </a:r>
            <a:endParaRPr lang="en-US" sz="1550" dirty="0"/>
          </a:p>
        </p:txBody>
      </p:sp>
      <p:sp>
        <p:nvSpPr>
          <p:cNvPr id="20" name="Shape 18"/>
          <p:cNvSpPr/>
          <p:nvPr/>
        </p:nvSpPr>
        <p:spPr>
          <a:xfrm>
            <a:off x="7360920" y="1554480"/>
            <a:ext cx="4206240" cy="4069080"/>
          </a:xfrm>
          <a:prstGeom prst="roundRect">
            <a:avLst>
              <a:gd name="adj" fmla="val 2022"/>
            </a:avLst>
          </a:prstGeom>
          <a:solidFill>
            <a:srgbClr val="1D1F2B"/>
          </a:solidFill>
          <a:ln w="12700">
            <a:solidFill>
              <a:srgbClr val="1D1F2B"/>
            </a:solidFill>
            <a:prstDash val="solid"/>
          </a:ln>
        </p:spPr>
      </p:sp>
      <p:sp>
        <p:nvSpPr>
          <p:cNvPr id="21" name="Text 19"/>
          <p:cNvSpPr/>
          <p:nvPr/>
        </p:nvSpPr>
        <p:spPr>
          <a:xfrm>
            <a:off x="7589520" y="1737360"/>
            <a:ext cx="3749040" cy="320040"/>
          </a:xfrm>
          <a:prstGeom prst="rect">
            <a:avLst/>
          </a:prstGeom>
          <a:noFill/>
          <a:ln/>
        </p:spPr>
        <p:txBody>
          <a:bodyPr wrap="square" lIns="0" tIns="0" rIns="0" bIns="0" rtlCol="0" anchor="t"/>
          <a:lstStyle/>
          <a:p>
            <a:pPr indent="0" marL="0">
              <a:buNone/>
            </a:pPr>
            <a:r>
              <a:rPr lang="en-US" sz="1200" b="1" spc="200" kern="0" dirty="0">
                <a:solidFill>
                  <a:srgbClr val="FFC24B"/>
                </a:solidFill>
                <a:latin typeface="Palatino Linotype" pitchFamily="34" charset="0"/>
                <a:ea typeface="Palatino Linotype" pitchFamily="34" charset="-122"/>
                <a:cs typeface="Palatino Linotype" pitchFamily="34" charset="-120"/>
              </a:rPr>
              <a:t>PENTRU SPITALUL A</a:t>
            </a:r>
            <a:endParaRPr lang="en-US" sz="1200" dirty="0"/>
          </a:p>
        </p:txBody>
      </p:sp>
      <p:sp>
        <p:nvSpPr>
          <p:cNvPr id="22" name="Text 20"/>
          <p:cNvSpPr/>
          <p:nvPr/>
        </p:nvSpPr>
        <p:spPr>
          <a:xfrm>
            <a:off x="7589520" y="2194560"/>
            <a:ext cx="3749040" cy="1005840"/>
          </a:xfrm>
          <a:prstGeom prst="rect">
            <a:avLst/>
          </a:prstGeom>
          <a:noFill/>
          <a:ln/>
        </p:spPr>
        <p:txBody>
          <a:bodyPr wrap="square" lIns="0" tIns="0" rIns="0" bIns="0" rtlCol="0" anchor="t"/>
          <a:lstStyle/>
          <a:p>
            <a:pPr indent="0" marL="0">
              <a:buNone/>
            </a:pPr>
            <a:r>
              <a:rPr lang="en-US" sz="1650" b="1" dirty="0">
                <a:solidFill>
                  <a:srgbClr val="27D3BE"/>
                </a:solidFill>
                <a:latin typeface="Palatino Linotype" pitchFamily="34" charset="0"/>
                <a:ea typeface="Palatino Linotype" pitchFamily="34" charset="-122"/>
                <a:cs typeface="Palatino Linotype" pitchFamily="34" charset="-120"/>
              </a:rPr>
              <a:t>RMN și chirurgia de o zi: </a:t>
            </a:r>
            <a:pPr indent="0" marL="0">
              <a:buNone/>
            </a:pPr>
            <a:r>
              <a:rPr lang="en-US" sz="1650" dirty="0">
                <a:solidFill>
                  <a:srgbClr val="FFFFFF"/>
                </a:solidFill>
                <a:latin typeface="Palatino Linotype" pitchFamily="34" charset="0"/>
                <a:ea typeface="Palatino Linotype" pitchFamily="34" charset="-122"/>
                <a:cs typeface="Palatino Linotype" pitchFamily="34" charset="-120"/>
              </a:rPr>
              <a:t>ține pasul</a:t>
            </a:r>
            <a:endParaRPr lang="en-US" sz="1650" dirty="0"/>
          </a:p>
        </p:txBody>
      </p:sp>
      <p:sp>
        <p:nvSpPr>
          <p:cNvPr id="23" name="Text 21"/>
          <p:cNvSpPr/>
          <p:nvPr/>
        </p:nvSpPr>
        <p:spPr>
          <a:xfrm>
            <a:off x="7589520" y="3291840"/>
            <a:ext cx="3749040" cy="1005840"/>
          </a:xfrm>
          <a:prstGeom prst="rect">
            <a:avLst/>
          </a:prstGeom>
          <a:noFill/>
          <a:ln/>
        </p:spPr>
        <p:txBody>
          <a:bodyPr wrap="square" lIns="0" tIns="0" rIns="0" bIns="0" rtlCol="0" anchor="t"/>
          <a:lstStyle/>
          <a:p>
            <a:pPr indent="0" marL="0">
              <a:buNone/>
            </a:pPr>
            <a:r>
              <a:rPr lang="en-US" sz="1650" b="1" dirty="0">
                <a:solidFill>
                  <a:srgbClr val="27D3BE"/>
                </a:solidFill>
                <a:latin typeface="Palatino Linotype" pitchFamily="34" charset="0"/>
                <a:ea typeface="Palatino Linotype" pitchFamily="34" charset="-122"/>
                <a:cs typeface="Palatino Linotype" pitchFamily="34" charset="-120"/>
              </a:rPr>
              <a:t>Cardiologia: </a:t>
            </a:r>
            <a:pPr indent="0" marL="0">
              <a:buNone/>
            </a:pPr>
            <a:r>
              <a:rPr lang="en-US" sz="1650" dirty="0">
                <a:solidFill>
                  <a:srgbClr val="FFFFFF"/>
                </a:solidFill>
                <a:latin typeface="Palatino Linotype" pitchFamily="34" charset="0"/>
                <a:ea typeface="Palatino Linotype" pitchFamily="34" charset="-122"/>
                <a:cs typeface="Palatino Linotype" pitchFamily="34" charset="-120"/>
              </a:rPr>
              <a:t>un avantaj de apărat</a:t>
            </a:r>
            <a:endParaRPr lang="en-US" sz="1650" dirty="0"/>
          </a:p>
        </p:txBody>
      </p:sp>
      <p:sp>
        <p:nvSpPr>
          <p:cNvPr id="24" name="Text 22"/>
          <p:cNvSpPr/>
          <p:nvPr/>
        </p:nvSpPr>
        <p:spPr>
          <a:xfrm>
            <a:off x="7589520" y="4389120"/>
            <a:ext cx="3749040" cy="1005840"/>
          </a:xfrm>
          <a:prstGeom prst="rect">
            <a:avLst/>
          </a:prstGeom>
          <a:noFill/>
          <a:ln/>
        </p:spPr>
        <p:txBody>
          <a:bodyPr wrap="square" lIns="0" tIns="0" rIns="0" bIns="0" rtlCol="0" anchor="t"/>
          <a:lstStyle/>
          <a:p>
            <a:pPr indent="0" marL="0">
              <a:buNone/>
            </a:pPr>
            <a:r>
              <a:rPr lang="en-US" sz="1650" b="1" dirty="0">
                <a:solidFill>
                  <a:srgbClr val="27D3BE"/>
                </a:solidFill>
                <a:latin typeface="Palatino Linotype" pitchFamily="34" charset="0"/>
                <a:ea typeface="Palatino Linotype" pitchFamily="34" charset="-122"/>
                <a:cs typeface="Palatino Linotype" pitchFamily="34" charset="-120"/>
              </a:rPr>
              <a:t>Radioterapia și recuperarea: </a:t>
            </a:r>
            <a:pPr indent="0" marL="0">
              <a:buNone/>
            </a:pPr>
            <a:r>
              <a:rPr lang="en-US" sz="1650" dirty="0">
                <a:solidFill>
                  <a:srgbClr val="FFFFFF"/>
                </a:solidFill>
                <a:latin typeface="Palatino Linotype" pitchFamily="34" charset="0"/>
                <a:ea typeface="Palatino Linotype" pitchFamily="34" charset="-122"/>
                <a:cs typeface="Palatino Linotype" pitchFamily="34" charset="-120"/>
              </a:rPr>
              <a:t>o nevoie pe care nu o acoperă nimeni</a:t>
            </a:r>
            <a:endParaRPr lang="en-US" sz="16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MÂINE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Ce faceți diferit</a:t>
            </a:r>
            <a:endParaRPr lang="en-US" sz="3400" dirty="0"/>
          </a:p>
        </p:txBody>
      </p:sp>
      <p:sp>
        <p:nvSpPr>
          <p:cNvPr id="4" name="Shape 2"/>
          <p:cNvSpPr/>
          <p:nvPr/>
        </p:nvSpPr>
        <p:spPr>
          <a:xfrm>
            <a:off x="594360" y="1554480"/>
            <a:ext cx="10972800" cy="786384"/>
          </a:xfrm>
          <a:prstGeom prst="roundRect">
            <a:avLst>
              <a:gd name="adj" fmla="val 10465"/>
            </a:avLst>
          </a:prstGeom>
          <a:solidFill>
            <a:srgbClr val="ECEAE4"/>
          </a:solidFill>
          <a:ln w="12700">
            <a:solidFill>
              <a:srgbClr val="ECEAE4"/>
            </a:solidFill>
            <a:prstDash val="solid"/>
          </a:ln>
        </p:spPr>
      </p:sp>
      <p:sp>
        <p:nvSpPr>
          <p:cNvPr id="5" name="Shape 3"/>
          <p:cNvSpPr/>
          <p:nvPr/>
        </p:nvSpPr>
        <p:spPr>
          <a:xfrm>
            <a:off x="822960" y="1737360"/>
            <a:ext cx="420624" cy="420624"/>
          </a:xfrm>
          <a:prstGeom prst="ellipse">
            <a:avLst/>
          </a:prstGeom>
          <a:solidFill>
            <a:srgbClr val="FF4757"/>
          </a:solidFill>
          <a:ln/>
        </p:spPr>
      </p:sp>
      <p:sp>
        <p:nvSpPr>
          <p:cNvPr id="6" name="Text 4"/>
          <p:cNvSpPr/>
          <p:nvPr/>
        </p:nvSpPr>
        <p:spPr>
          <a:xfrm>
            <a:off x="822960" y="17373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554480"/>
            <a:ext cx="992124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„Spitalul pierde pacienți la privat”: pe ce linie, și ce oferă celălalt acolo?</a:t>
            </a:r>
            <a:endParaRPr lang="en-US" sz="1600" dirty="0"/>
          </a:p>
        </p:txBody>
      </p:sp>
      <p:sp>
        <p:nvSpPr>
          <p:cNvPr id="8" name="Shape 6"/>
          <p:cNvSpPr/>
          <p:nvPr/>
        </p:nvSpPr>
        <p:spPr>
          <a:xfrm>
            <a:off x="594360" y="2468880"/>
            <a:ext cx="10972800" cy="786384"/>
          </a:xfrm>
          <a:prstGeom prst="roundRect">
            <a:avLst>
              <a:gd name="adj" fmla="val 10465"/>
            </a:avLst>
          </a:prstGeom>
          <a:solidFill>
            <a:srgbClr val="F9F8F5"/>
          </a:solidFill>
          <a:ln w="12700">
            <a:solidFill>
              <a:srgbClr val="F9F8F5"/>
            </a:solidFill>
            <a:prstDash val="solid"/>
          </a:ln>
        </p:spPr>
      </p:sp>
      <p:sp>
        <p:nvSpPr>
          <p:cNvPr id="9" name="Shape 7"/>
          <p:cNvSpPr/>
          <p:nvPr/>
        </p:nvSpPr>
        <p:spPr>
          <a:xfrm>
            <a:off x="822960" y="2651760"/>
            <a:ext cx="420624" cy="420624"/>
          </a:xfrm>
          <a:prstGeom prst="ellipse">
            <a:avLst/>
          </a:prstGeom>
          <a:solidFill>
            <a:srgbClr val="FF4757"/>
          </a:solidFill>
          <a:ln/>
        </p:spPr>
      </p:sp>
      <p:sp>
        <p:nvSpPr>
          <p:cNvPr id="10" name="Text 8"/>
          <p:cNvSpPr/>
          <p:nvPr/>
        </p:nvSpPr>
        <p:spPr>
          <a:xfrm>
            <a:off x="822960" y="26517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2468880"/>
            <a:ext cx="992124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 aparat cumpărat ca să țineți pasul: cât de repede îl cumpără și concurentul?</a:t>
            </a:r>
            <a:endParaRPr lang="en-US" sz="1600" dirty="0"/>
          </a:p>
        </p:txBody>
      </p:sp>
      <p:sp>
        <p:nvSpPr>
          <p:cNvPr id="12" name="Shape 10"/>
          <p:cNvSpPr/>
          <p:nvPr/>
        </p:nvSpPr>
        <p:spPr>
          <a:xfrm>
            <a:off x="594360" y="3383280"/>
            <a:ext cx="10972800" cy="786384"/>
          </a:xfrm>
          <a:prstGeom prst="roundRect">
            <a:avLst>
              <a:gd name="adj" fmla="val 10465"/>
            </a:avLst>
          </a:prstGeom>
          <a:solidFill>
            <a:srgbClr val="ECEAE4"/>
          </a:solidFill>
          <a:ln w="12700">
            <a:solidFill>
              <a:srgbClr val="ECEAE4"/>
            </a:solidFill>
            <a:prstDash val="solid"/>
          </a:ln>
        </p:spPr>
      </p:sp>
      <p:sp>
        <p:nvSpPr>
          <p:cNvPr id="13" name="Shape 11"/>
          <p:cNvSpPr/>
          <p:nvPr/>
        </p:nvSpPr>
        <p:spPr>
          <a:xfrm>
            <a:off x="822960" y="3566160"/>
            <a:ext cx="420624" cy="420624"/>
          </a:xfrm>
          <a:prstGeom prst="ellipse">
            <a:avLst/>
          </a:prstGeom>
          <a:solidFill>
            <a:srgbClr val="FF4757"/>
          </a:solidFill>
          <a:ln/>
        </p:spPr>
      </p:sp>
      <p:sp>
        <p:nvSpPr>
          <p:cNvPr id="14" name="Text 12"/>
          <p:cNvSpPr/>
          <p:nvPr/>
        </p:nvSpPr>
        <p:spPr>
          <a:xfrm>
            <a:off x="822960" y="35661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63040" y="3383280"/>
            <a:ext cx="992124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Două organizații comparate: întâi ce fac foarte bine, nu ce dotări au.</a:t>
            </a:r>
            <a:endParaRPr lang="en-US" sz="1600" dirty="0"/>
          </a:p>
        </p:txBody>
      </p:sp>
      <p:sp>
        <p:nvSpPr>
          <p:cNvPr id="16" name="Shape 14"/>
          <p:cNvSpPr/>
          <p:nvPr/>
        </p:nvSpPr>
        <p:spPr>
          <a:xfrm>
            <a:off x="594360" y="4297680"/>
            <a:ext cx="10972800" cy="786384"/>
          </a:xfrm>
          <a:prstGeom prst="roundRect">
            <a:avLst>
              <a:gd name="adj" fmla="val 10465"/>
            </a:avLst>
          </a:prstGeom>
          <a:solidFill>
            <a:srgbClr val="F9F8F5"/>
          </a:solidFill>
          <a:ln w="12700">
            <a:solidFill>
              <a:srgbClr val="F9F8F5"/>
            </a:solidFill>
            <a:prstDash val="solid"/>
          </a:ln>
        </p:spPr>
      </p:sp>
      <p:sp>
        <p:nvSpPr>
          <p:cNvPr id="17" name="Shape 15"/>
          <p:cNvSpPr/>
          <p:nvPr/>
        </p:nvSpPr>
        <p:spPr>
          <a:xfrm>
            <a:off x="822960" y="4480560"/>
            <a:ext cx="420624" cy="420624"/>
          </a:xfrm>
          <a:prstGeom prst="ellipse">
            <a:avLst/>
          </a:prstGeom>
          <a:solidFill>
            <a:srgbClr val="FF4757"/>
          </a:solidFill>
          <a:ln/>
        </p:spPr>
      </p:sp>
      <p:sp>
        <p:nvSpPr>
          <p:cNvPr id="18" name="Text 16"/>
          <p:cNvSpPr/>
          <p:nvPr/>
        </p:nvSpPr>
        <p:spPr>
          <a:xfrm>
            <a:off x="822960" y="44805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463040" y="4297680"/>
            <a:ext cx="992124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 succes anunțat: ce rezultat au obținut pacienții și cu ce cost?</a:t>
            </a:r>
            <a:endParaRPr lang="en-US" sz="1600" dirty="0"/>
          </a:p>
        </p:txBody>
      </p:sp>
      <p:sp>
        <p:nvSpPr>
          <p:cNvPr id="20" name="Text 18"/>
          <p:cNvSpPr/>
          <p:nvPr/>
        </p:nvSpPr>
        <p:spPr>
          <a:xfrm>
            <a:off x="594360" y="5349240"/>
            <a:ext cx="10972800" cy="73152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Săptămâna viitoare: analiza mediului intern și a avantajului competitiv. Săptămâna aceasta nu are seminar.</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420624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85800" y="822960"/>
            <a:ext cx="42062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 azi?</a:t>
            </a:r>
            <a:endParaRPr lang="en-US" sz="2200" dirty="0"/>
          </a:p>
        </p:txBody>
      </p:sp>
      <p:sp>
        <p:nvSpPr>
          <p:cNvPr id="8" name="Shape 6"/>
          <p:cNvSpPr/>
          <p:nvPr/>
        </p:nvSpPr>
        <p:spPr>
          <a:xfrm>
            <a:off x="914400" y="3538728"/>
            <a:ext cx="420624" cy="420624"/>
          </a:xfrm>
          <a:prstGeom prst="ellipse">
            <a:avLst/>
          </a:prstGeom>
          <a:solidFill>
            <a:srgbClr val="FFC24B"/>
          </a:solidFill>
          <a:ln/>
        </p:spPr>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v-am pierdut?</a:t>
            </a:r>
            <a:endParaRPr lang="en-US" sz="2200" dirty="0"/>
          </a:p>
        </p:txBody>
      </p:sp>
      <p:sp>
        <p:nvSpPr>
          <p:cNvPr id="11" name="Shape 9"/>
          <p:cNvSpPr/>
          <p:nvPr/>
        </p:nvSpPr>
        <p:spPr>
          <a:xfrm>
            <a:off x="914400" y="4407408"/>
            <a:ext cx="420624" cy="420624"/>
          </a:xfrm>
          <a:prstGeom prst="ellipse">
            <a:avLst/>
          </a:prstGeom>
          <a:solidFill>
            <a:srgbClr val="FFC24B"/>
          </a:solidFill>
          <a:ln/>
        </p:spPr>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200" dirty="0"/>
          </a:p>
        </p:txBody>
      </p:sp>
      <p:sp>
        <p:nvSpPr>
          <p:cNvPr id="14" name="Shape 12"/>
          <p:cNvSpPr/>
          <p:nvPr/>
        </p:nvSpPr>
        <p:spPr>
          <a:xfrm>
            <a:off x="8549640" y="2331720"/>
            <a:ext cx="3017520" cy="2743200"/>
          </a:xfrm>
          <a:prstGeom prst="roundRect">
            <a:avLst>
              <a:gd name="adj" fmla="val 3000"/>
            </a:avLst>
          </a:prstGeom>
          <a:solidFill>
            <a:srgbClr val="FFFFFF"/>
          </a:solidFill>
          <a:ln w="12700">
            <a:solidFill>
              <a:srgbClr val="FFFFFF"/>
            </a:solidFill>
            <a:prstDash val="solid"/>
          </a:ln>
        </p:spPr>
      </p:sp>
      <p:sp>
        <p:nvSpPr>
          <p:cNvPr id="15" name="Text 13"/>
          <p:cNvSpPr/>
          <p:nvPr/>
        </p:nvSpPr>
        <p:spPr>
          <a:xfrm>
            <a:off x="8549640" y="2331720"/>
            <a:ext cx="3017520" cy="2743200"/>
          </a:xfrm>
          <a:prstGeom prst="rect">
            <a:avLst/>
          </a:prstGeom>
          <a:noFill/>
          <a:ln/>
        </p:spPr>
        <p:txBody>
          <a:bodyPr wrap="square" lIns="0" tIns="0" rIns="0" bIns="0" rtlCol="0" anchor="ctr"/>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[codul QR Mentimeter]</a:t>
            </a:r>
            <a:endParaRPr lang="en-US" sz="1400" dirty="0"/>
          </a:p>
        </p:txBody>
      </p:sp>
      <p:sp>
        <p:nvSpPr>
          <p:cNvPr id="16" name="Text 14"/>
          <p:cNvSpPr/>
          <p:nvPr/>
        </p:nvSpPr>
        <p:spPr>
          <a:xfrm>
            <a:off x="594360" y="5349240"/>
            <a:ext cx="10972800" cy="6400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Mentimeter, anonim. Răspunsurile stau la baza a două modificări, anunțate la începutul ședinței următoare.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Ședința 4 - Analiza competitorilor din aria de servicii de sănătate</dc:title>
  <dc:subject>PptxGenJS Presentation</dc:subject>
  <dc:creator>Conf. Univ. Dr. Adrian Pana</dc:creator>
  <cp:lastModifiedBy>Conf. Univ. Dr. Adrian Pana</cp:lastModifiedBy>
  <cp:revision>1</cp:revision>
  <dcterms:created xsi:type="dcterms:W3CDTF">2026-10-24T13:27:21Z</dcterms:created>
  <dcterms:modified xsi:type="dcterms:W3CDTF">2026-10-24T13:27:21Z</dcterms:modified>
  <cp:keywords>sursa_amprenta=617e0ea0f837892a; proiectie</cp:keywords>
</cp:coreProperties>
</file>