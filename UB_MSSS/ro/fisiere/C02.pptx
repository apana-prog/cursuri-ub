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3-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Întrebarea ședinței este cea din titlu: ce trebuie să vadă un spital dincolo de zidurile 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seminarul de săptămâna trecută, doi colegi au scris că s-au pierdut la exemplul cu ceasul și orașul, iar un coleg a pierdut codul pentru formarea echipei. La curs, întrebările de la final nu au mai apucat să se deschidă.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ceas se repară piesă cu piesă; un spital seamănă mai mult cu traficul dintr-un oraș, în care fiecare se adaptează la ceilalți. Când un chirurg tânăr pleacă dintr-un spital mic, nu dispare o rotiță care se înlocuiește a doua 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se schimbă de azi: fiecare parte a ședinței pornește de la un caz, nu de la o definiție; ședința are cel mult trei termeni noi, fiecare spus și în cuvinte de zi cu zi; jumătate din timp lucrați voi; evaluarea stă pe o singură pagină, pe site; ultimele cinci minute sunt ale voastre.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Întrebarea ședinței este cea din titlu: ce trebuie să vadă un spital dincolo de zidurile lui? Răspunsul începe cu un plan pe care îl cunoașteți bine, planul vostru pentru sesiune.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Imaginați-vă că, la trei săptămâni după ce v-ați făcut orarul, se întâmplă trei lucruri pe care nu le-ați hotărât voi. Planul vostru nu s-a schimbat. Lumea din jurul lui, 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 anonim pe telefon: care dintre cele trei schimbări vă strică cel mai mult planul? O singură variantă.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spital, ca și studentul în sesiune, își face planurile pe baza unor presupuneri despre ce va urma. Una este arta, adică gândirea strategică. Cealaltă este știința, adică analiza riguroasă a mediului extern. Restul ședinței arată cum se face partea de știință într-un spital adevărat.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Mentimeter, un singur cuvânt: ce s-a schimbat în ultimii ani în jurul spitalului din orașul vostru? Schimbările din jurul unui spital sunt de mai multe feluri: unele privesc oamenii, altele medicii, altele banii, legile sau tehnologia.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cuvinte de zi cu zi, analiza mediului extern înseamnă a privi sistematic ce se schimbă în afara organizației și a hotărî ce contează pentru ea. Definiția are trei verbe. A identifica înseamnă a observa schimbarea. A aduna înseamnă a pune laolaltă semnale venite din locuri diferite. A interpreta înseamnă a spune ce înseamnă pentru organizația voastră.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Analiza mediului extern face parte din primul pas al procesului strategic din prima ședință, analiza situației. Este întrebarea „unde suntem?”, pusă despre lumea din afara organizației. Partea despre organizația însăși, analiza mediului intern, vine mai târziu în semestru.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Situația este construită pentru acest curs. Spitalul nu există, nu are nume și nu descrie o unitate reală. Cele trei schimbări din jurul lui sunt, în schimb, reale: fiecare este documentată în surse oficiale.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Fiecare semnal are argumentele lui. Înainte de a alege, managerul are nevoie să afle două lucruri: dacă semnalul este real și cât de mare este schimbarea din spatele 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Primul semnal, pacienții tot mai vârstnici, corespunde unei schimbări demografice a întregii țări. Astăzi, în România, la trei adulți între 15 și 64 de ani revine aproximativ un vârstnic. Până în 2050, raportul ar urma să ajungă la aproximativ un vârstnic la doi adulți.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doilea semnal, medicii care pleacă, are un corespondent în profilul de țară publicat în 2025 de OCDE împreună cu Observatorul European al Sistemelor și Politicilor de Sănătate. Lipsurile de personal sunt explicate, în mare parte, de plecarea atât a absolvenților noi, cât și a profesioniștilor cu experiență.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treilea semnal, pacienții care renunță la consultații, are și el un corespondent. Întrebarea medicului de familie nu este, așadar, o idee izolată: atinge o problemă de acces documentată la nivelul țării.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 trei semnale au venit de la trei oameni diferiți, dar datele arată că fiecare face parte dintr-o schimbare mai mare. Acesta este primul folos al analizei mediului extern: o observație de pe o secție devine o problemă pe care conducerea o poate cântări. Un semnal slab este un indiciu timpuriu al unei tendințe care abia începe.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 trei semnale nu sunt încă decizii. Ele sunt ceea ce manualul numește probleme strategice. Cuvântul „problemă” nu înseamnă aici ceva rău.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Manualul face o recomandare care pare, la început, ciudată: la privirea în jur, conducătorii ar face bine să nu eticheteze schimbările drept oportunități sau amenințări și să se uite la consecințele schimbării înseși.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ecran apare un titlu real de presă, publicat de Antena 3 CNN la 19 ianuarie 2025. Titlul descrie cazul; cifrele se verifică în sursele oficiale.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Datele publice spun ceva mai nuanțat. Prima parte a titlului exagerează. A doua parte are un sprijin real. Titlul pune alături un semnal real, lipsa de medici, și un superlativ pe care datele nu îl susțin.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Analiza mediului extern este necesară, dar manualul avertizează că nu garantează succesul și are limite practice. Manualul consideră că ultima limită este, probabil, cea mai importantă. Analiza mediului extern lasă decizia în seama judecății conducătorilor, dar o face mai puțin oarbă. Ea reduce surpriza, dar nu o elimină.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 trei semnale din caz s-au produs în locuri diferite. Îmbătrânirea privește toată societatea. Plecarea medicilor privește sistemul de sănătate. Drumul lung până la consultații privește zona din care vin pacienții spitalului.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Mediul general este stratul cel mai larg. În el, instituțiile statului, firmele, școlile și universitățile, instituțiile religioase, organizațiile de cercetare și fundațiile, precum și persoanele și consumatorii produc schimbări care ajung, în timp, în multe domenii, inclusiv în sănătate.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Sistemul de sănătate cuprinde organizațiile și oamenii implicați direct sau indirect în îngrijirea sănătății. Manualul îl împarte în cinci segmente. În România, exemplele sunt ușor de recunoscut: Ministerul Sănătății, spitalele și cabinetele, universitățile de medicină, casele de asigurări de sănătate, colegiile profesionale, pacienții.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Aria de servicii este zona din care vin pacienții unei organizații și în care se află concurenții ei direcți. Organizația este, în centru, spitalul însuși; ea nu face parte din mediul extern, ci îl analizează.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Straturile nu sunt separate. O schimbare produsă într-unul dintre ele se propagă, de regulă, în celelalte. Uneori, o schimbare atinge mai multe straturi deodată; prezentarea cursului dă ca exemple șocurile tehnologice și epidemiile.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 se împarte în două tabere. Ambele tabere au o parte de adevăr, iar dezbaterea arată de ce straturile se analizează separat. La nivelul sistemului, profilul de țară arată că păstrarea personalului din sănătate rămâne dificilă în fața salariilor mai mari și a condițiilor de lucru mai bune din alte țări ale Uniunii; un spital nu le poate schimba singur.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Manualul grupează schimbările din fiecare strat în cinci categorii. Cele trei semnale din caz se așază ușor. O problemă poate ține de mai multe categorii, iar discuția despre categoria ei este, ea însăși, un exercițiu de gândire strategică. În cursul următor, aceste cinci categorii sunt parcurse una câte una pentru România.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Dacă straturile mediului se scriu pe o latură a unui tabel, iar cele cinci categorii pe cealaltă, se obține instrumentul central al analizei mediului extern. În cuvinte de zi cu zi, harta problemelor este tabelul în care o echipă scrie, în același loc și în aceeași ordine, tot ce s-a schimbat în jurul organizației.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 anonim pe telefon, pentru fiecare dintre cele trei semnale, pe rând: în ce strat l-ați scrie pe hartă? Îmbătrânirea populației ține de mediul general, stratul în care se produc schimbările sociale și demografice ale țării. Regula este ca echipa să știe de ce a ales căsuța și să nu amestece straturile.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Analiza mediului extern pare copleșitoare: semnalele sunt multe, vin din toate direcțiile și nu au etichete. Manualul o împarte, de aceea, în șase pași. În sală se folosesc mai ales cuvintele obișnuite.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Primul pas: organizarea. Echipa împarte mediul extern pe straturi și schimbările pe categorii și pregătește harta problemelor, încă goală. Al doilea pas: privirea în jur. Pentru România, o parte din datele publice se găsesc în câteva locuri cunoscute.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treilea pas: urmărirea și confirmarea. Al patrulea pas: prognoza. Proiecțiile alternative contează: un singur viitor „probabil” ascunde incertitudinea. Al cincilea pas: evaluarea. Al șaselea pas: completarea hărții problemelor.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Valori ipotetice. Exemplul arată ce face fiecare pas, dar și ce nu face. Analiza mediului extern nu alege încă soluția: prelungirea programului, un parteneriat cu un furnizor privat sau un aparat nou sunt opțiuni care vin mai târziu în procesul strategic, după analiza internă.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 voluntari joacă o scenă de cel mult trei minute. Unul este managerul spitalului municipal din caz. Celălalt este șeful secției de chirurgie, care tocmai a pierdut al doilea medic tânăr. După scenă, sala votează pe telefon.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 cea mai importantă este simplă: pe hartă nu intră nimic fără o sursă care poate fi găsită de altcineva. Harta problemelor nu se completează o dată pentru totdeauna. Manualul propune un set de întrebări pentru verificarea presupunerilor pe care se sprijină strategia.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Două minute cu colegul de bancă: gândiți-vă la organizația aleasă de echipa voastră la seminar. Care este primul semnal din afara ei pe care l-ați scrie pe harta problemelor și în ce căsuță?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formativ pe Kahoot, zece întrebări despre ideile ședinței. Testul nu se notează. Rezultatele arată ce idei trebuie reluate la începutul cursului următor.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Întrebarea din titlu are acum un răspuns mai complet. O strategie se sprijină pe presupuneri despre viitor, iar analiza mediului extern le face cât mai bine informate. Săptămâna viitoare, cursul despre analiza mediului extern continuă cu partea a doua.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întrebări, anonim, pe Mentimeter, prin codul QR. Răspunsurile stau la baza a două modificări, anunțate la începutul ședinței următoare.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MSSS/active/img/C01_trafic_oras.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705295" y="6053328"/>
            <a:ext cx="5486400" cy="804672"/>
          </a:xfrm>
          <a:prstGeom prst="rect">
            <a:avLst/>
          </a:prstGeom>
          <a:solidFill>
            <a:srgbClr val="11121A">
              <a:alpha val="80000"/>
            </a:srgbClr>
          </a:solidFill>
          <a:ln w="12700">
            <a:solidFill>
              <a:srgbClr val="11121A"/>
            </a:solidFill>
            <a:prstDash val="solid"/>
          </a:ln>
        </p:spPr>
        <p:txBody>
          <a:bodyPr/>
          <a:p/>
        </p:txBody>
      </p:sp>
      <p:sp>
        <p:nvSpPr>
          <p:cNvPr id="4" name="Text 1"/>
          <p:cNvSpPr/>
          <p:nvPr/>
        </p:nvSpPr>
        <p:spPr>
          <a:xfrm>
            <a:off x="6979615"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Orașul din jurul spitalului</a:t>
            </a:r>
            <a:endParaRPr lang="en-US" sz="1100" dirty="0"/>
          </a:p>
        </p:txBody>
      </p:sp>
      <p:sp>
        <p:nvSpPr>
          <p:cNvPr id="5" name="Text 2"/>
          <p:cNvSpPr/>
          <p:nvPr/>
        </p:nvSpPr>
        <p:spPr>
          <a:xfrm>
            <a:off x="6979615"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foto ProtoplasmaKid · CC BY-SA 4.0 · Wikimedia Commons</a:t>
            </a:r>
            <a:endParaRPr lang="en-US" sz="850" dirty="0"/>
          </a:p>
        </p:txBody>
      </p:sp>
      <p:sp>
        <p:nvSpPr>
          <p:cNvPr id="6" name="Shape 3"/>
          <p:cNvSpPr/>
          <p:nvPr/>
        </p:nvSpPr>
        <p:spPr>
          <a:xfrm>
            <a:off x="640080" y="777240"/>
            <a:ext cx="3108960" cy="329184"/>
          </a:xfrm>
          <a:prstGeom prst="roundRect">
            <a:avLst>
              <a:gd name="adj" fmla="val 50000"/>
            </a:avLst>
          </a:prstGeom>
          <a:solidFill>
            <a:srgbClr val="FF4757"/>
          </a:solidFill>
          <a:ln w="12700">
            <a:solidFill>
              <a:srgbClr val="FF4757"/>
            </a:solidFill>
            <a:prstDash val="solid"/>
          </a:ln>
        </p:spPr>
        <p:txBody>
          <a:bodyPr/>
          <a:p/>
        </p:txBody>
      </p:sp>
      <p:sp>
        <p:nvSpPr>
          <p:cNvPr id="7" name="Text 4"/>
          <p:cNvSpPr/>
          <p:nvPr/>
        </p:nvSpPr>
        <p:spPr>
          <a:xfrm>
            <a:off x="640080" y="777240"/>
            <a:ext cx="310896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ȘEDINȚA A DOUA</a:t>
            </a:r>
            <a:endParaRPr lang="en-US" sz="1300" dirty="0"/>
          </a:p>
        </p:txBody>
      </p:sp>
      <p:sp>
        <p:nvSpPr>
          <p:cNvPr id="8" name="Text 5"/>
          <p:cNvSpPr/>
          <p:nvPr/>
        </p:nvSpPr>
        <p:spPr>
          <a:xfrm>
            <a:off x="640080" y="1325880"/>
            <a:ext cx="5760720" cy="155448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Analiza mediului extern (I)</a:t>
            </a:r>
            <a:endParaRPr lang="en-US" sz="4000" dirty="0"/>
          </a:p>
        </p:txBody>
      </p:sp>
      <p:sp>
        <p:nvSpPr>
          <p:cNvPr id="9" name="Shape 6"/>
          <p:cNvSpPr/>
          <p:nvPr/>
        </p:nvSpPr>
        <p:spPr>
          <a:xfrm>
            <a:off x="667512" y="3017520"/>
            <a:ext cx="1280160" cy="27432"/>
          </a:xfrm>
          <a:prstGeom prst="rect">
            <a:avLst/>
          </a:prstGeom>
          <a:solidFill>
            <a:srgbClr val="FF4757"/>
          </a:solidFill>
          <a:ln/>
        </p:spPr>
        <p:txBody>
          <a:bodyPr/>
          <a:p/>
        </p:txBody>
      </p:sp>
      <p:sp>
        <p:nvSpPr>
          <p:cNvPr id="10" name="Text 7"/>
          <p:cNvSpPr/>
          <p:nvPr/>
        </p:nvSpPr>
        <p:spPr>
          <a:xfrm>
            <a:off x="640080" y="3200400"/>
            <a:ext cx="5760720" cy="1097280"/>
          </a:xfrm>
          <a:prstGeom prst="rect">
            <a:avLst/>
          </a:prstGeom>
          <a:noFill/>
          <a:ln/>
        </p:spPr>
        <p:txBody>
          <a:bodyPr wrap="square" lIns="0" tIns="0" rIns="0" bIns="0" rtlCol="0" anchor="t"/>
          <a:lstStyle/>
          <a:p>
            <a:pPr indent="0" marL="0">
              <a:buNone/>
            </a:pPr>
            <a:r>
              <a:rPr lang="en-US" sz="2400" i="1" dirty="0">
                <a:solidFill>
                  <a:srgbClr val="27D3BE"/>
                </a:solidFill>
                <a:latin typeface="Palatino Linotype" pitchFamily="34" charset="0"/>
                <a:ea typeface="Palatino Linotype" pitchFamily="34" charset="-122"/>
                <a:cs typeface="Palatino Linotype" pitchFamily="34" charset="-120"/>
              </a:rPr>
              <a:t>Ce trebuie să vadă un spital dincolo de zidurile lui?</a:t>
            </a:r>
            <a:endParaRPr lang="en-US" sz="2400" dirty="0"/>
          </a:p>
        </p:txBody>
      </p:sp>
      <p:sp>
        <p:nvSpPr>
          <p:cNvPr id="11" name="Text 8"/>
          <p:cNvSpPr/>
          <p:nvPr/>
        </p:nvSpPr>
        <p:spPr>
          <a:xfrm>
            <a:off x="640080" y="4572000"/>
            <a:ext cx="5760720" cy="1005840"/>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Management strategic în sănătate</a:t>
            </a:r>
            <a:endParaRPr lang="en-US" sz="1400" dirty="0"/>
          </a:p>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Servicii și politici de sănătate publică, anul II</a:t>
            </a:r>
            <a:endParaRPr lang="en-US" sz="1400" dirty="0"/>
          </a:p>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Conf. univ. dr. Adrian Pană</a:t>
            </a:r>
            <a:endParaRPr lang="en-US" sz="1400" dirty="0"/>
          </a:p>
        </p:txBody>
      </p:sp>
      <p:sp>
        <p:nvSpPr>
          <p:cNvPr id="12" name="Text 9"/>
          <p:cNvSpPr/>
          <p:nvPr/>
        </p:nvSpPr>
        <p:spPr>
          <a:xfrm>
            <a:off x="640080" y="5852160"/>
            <a:ext cx="5760720" cy="365760"/>
          </a:xfrm>
          <a:prstGeom prst="rect">
            <a:avLst/>
          </a:prstGeom>
          <a:noFill/>
          <a:ln/>
        </p:spPr>
        <p:txBody>
          <a:bodyPr wrap="square" lIns="0" tIns="0" rIns="0" bIns="0" rtlCol="0" anchor="t"/>
          <a:lstStyle/>
          <a:p>
            <a:pPr indent="0" marL="0">
              <a:buNone/>
            </a:pPr>
            <a:r>
              <a:rPr lang="en-US" sz="13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DESCHIDERE · CE SE SCHIMBĂ DE AZI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Ce mi-ați spus</a:t>
            </a:r>
            <a:endParaRPr lang="en-US" sz="3400" dirty="0"/>
          </a:p>
        </p:txBody>
      </p:sp>
      <p:sp>
        <p:nvSpPr>
          <p:cNvPr id="4" name="Shape 2"/>
          <p:cNvSpPr/>
          <p:nvPr/>
        </p:nvSpPr>
        <p:spPr>
          <a:xfrm>
            <a:off x="594360" y="1600200"/>
            <a:ext cx="5029200" cy="4297680"/>
          </a:xfrm>
          <a:prstGeom prst="roundRect">
            <a:avLst>
              <a:gd name="adj" fmla="val 1915"/>
            </a:avLst>
          </a:prstGeom>
          <a:solidFill>
            <a:srgbClr val="ECEAE4"/>
          </a:solidFill>
          <a:ln w="12700">
            <a:solidFill>
              <a:srgbClr val="ECEAE4"/>
            </a:solidFill>
            <a:prstDash val="solid"/>
          </a:ln>
        </p:spPr>
        <p:txBody>
          <a:bodyPr/>
          <a:p/>
        </p:txBody>
      </p:sp>
      <p:sp>
        <p:nvSpPr>
          <p:cNvPr id="5" name="Text 3"/>
          <p:cNvSpPr/>
          <p:nvPr/>
        </p:nvSpPr>
        <p:spPr>
          <a:xfrm>
            <a:off x="868680" y="1783080"/>
            <a:ext cx="457200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DIN RĂSPUNSURILE VOASTRE</a:t>
            </a:r>
            <a:endParaRPr lang="en-US" sz="1300" dirty="0"/>
          </a:p>
        </p:txBody>
      </p:sp>
      <p:sp>
        <p:nvSpPr>
          <p:cNvPr id="6" name="Shape 4"/>
          <p:cNvSpPr/>
          <p:nvPr/>
        </p:nvSpPr>
        <p:spPr>
          <a:xfrm>
            <a:off x="868680" y="2331720"/>
            <a:ext cx="54864" cy="868680"/>
          </a:xfrm>
          <a:prstGeom prst="rect">
            <a:avLst/>
          </a:prstGeom>
          <a:solidFill>
            <a:srgbClr val="B02532"/>
          </a:solidFill>
          <a:ln w="12700">
            <a:solidFill>
              <a:srgbClr val="B02532"/>
            </a:solidFill>
            <a:prstDash val="solid"/>
          </a:ln>
        </p:spPr>
        <p:txBody>
          <a:bodyPr/>
          <a:p/>
        </p:txBody>
      </p:sp>
      <p:sp>
        <p:nvSpPr>
          <p:cNvPr id="7" name="Text 5"/>
          <p:cNvSpPr/>
          <p:nvPr/>
        </p:nvSpPr>
        <p:spPr>
          <a:xfrm>
            <a:off x="1143000" y="2331720"/>
            <a:ext cx="4297680" cy="86868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Doi colegi s-au pierdut la ceasul și orașul.</a:t>
            </a:r>
            <a:endParaRPr lang="en-US" sz="1900" dirty="0"/>
          </a:p>
        </p:txBody>
      </p:sp>
      <p:sp>
        <p:nvSpPr>
          <p:cNvPr id="8" name="Shape 6"/>
          <p:cNvSpPr/>
          <p:nvPr/>
        </p:nvSpPr>
        <p:spPr>
          <a:xfrm>
            <a:off x="868680" y="3474720"/>
            <a:ext cx="54864" cy="868680"/>
          </a:xfrm>
          <a:prstGeom prst="rect">
            <a:avLst/>
          </a:prstGeom>
          <a:solidFill>
            <a:srgbClr val="B02532"/>
          </a:solidFill>
          <a:ln w="12700">
            <a:solidFill>
              <a:srgbClr val="B02532"/>
            </a:solidFill>
            <a:prstDash val="solid"/>
          </a:ln>
        </p:spPr>
        <p:txBody>
          <a:bodyPr/>
          <a:p/>
        </p:txBody>
      </p:sp>
      <p:sp>
        <p:nvSpPr>
          <p:cNvPr id="9" name="Text 7"/>
          <p:cNvSpPr/>
          <p:nvPr/>
        </p:nvSpPr>
        <p:spPr>
          <a:xfrm>
            <a:off x="1143000" y="3474720"/>
            <a:ext cx="4297680" cy="86868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Un coleg a pierdut codul echipei.</a:t>
            </a:r>
            <a:endParaRPr lang="en-US" sz="1900" dirty="0"/>
          </a:p>
        </p:txBody>
      </p:sp>
      <p:sp>
        <p:nvSpPr>
          <p:cNvPr id="10" name="Shape 8"/>
          <p:cNvSpPr/>
          <p:nvPr/>
        </p:nvSpPr>
        <p:spPr>
          <a:xfrm>
            <a:off x="868680" y="4617720"/>
            <a:ext cx="54864" cy="868680"/>
          </a:xfrm>
          <a:prstGeom prst="rect">
            <a:avLst/>
          </a:prstGeom>
          <a:solidFill>
            <a:srgbClr val="B02532"/>
          </a:solidFill>
          <a:ln w="12700">
            <a:solidFill>
              <a:srgbClr val="B02532"/>
            </a:solidFill>
            <a:prstDash val="solid"/>
          </a:ln>
        </p:spPr>
        <p:txBody>
          <a:bodyPr/>
          <a:p/>
        </p:txBody>
      </p:sp>
      <p:sp>
        <p:nvSpPr>
          <p:cNvPr id="11" name="Text 9"/>
          <p:cNvSpPr/>
          <p:nvPr/>
        </p:nvSpPr>
        <p:spPr>
          <a:xfrm>
            <a:off x="1143000" y="4617720"/>
            <a:ext cx="4297680" cy="86868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La curs, întrebările de final nu s-au deschis.</a:t>
            </a:r>
            <a:endParaRPr lang="en-US" sz="1900" dirty="0"/>
          </a:p>
        </p:txBody>
      </p:sp>
      <p:sp>
        <p:nvSpPr>
          <p:cNvPr id="12" name="Shape 10"/>
          <p:cNvSpPr/>
          <p:nvPr/>
        </p:nvSpPr>
        <p:spPr>
          <a:xfrm>
            <a:off x="5897880" y="1600200"/>
            <a:ext cx="5669280" cy="4297680"/>
          </a:xfrm>
          <a:prstGeom prst="roundRect">
            <a:avLst>
              <a:gd name="adj" fmla="val 1915"/>
            </a:avLst>
          </a:prstGeom>
          <a:solidFill>
            <a:srgbClr val="07564B"/>
          </a:solidFill>
          <a:ln w="12700">
            <a:solidFill>
              <a:srgbClr val="07564B"/>
            </a:solidFill>
            <a:prstDash val="solid"/>
          </a:ln>
        </p:spPr>
        <p:txBody>
          <a:bodyPr/>
          <a:p/>
        </p:txBody>
      </p:sp>
      <p:sp>
        <p:nvSpPr>
          <p:cNvPr id="13" name="Text 11"/>
          <p:cNvSpPr/>
          <p:nvPr/>
        </p:nvSpPr>
        <p:spPr>
          <a:xfrm>
            <a:off x="6172200" y="1783080"/>
            <a:ext cx="5212080" cy="548640"/>
          </a:xfrm>
          <a:prstGeom prst="rect">
            <a:avLst/>
          </a:prstGeom>
          <a:noFill/>
          <a:ln/>
        </p:spPr>
        <p:txBody>
          <a:bodyPr wrap="square" lIns="0" tIns="0" rIns="0" bIns="0" rtlCol="0" anchor="t"/>
          <a:lstStyle/>
          <a:p>
            <a:pPr indent="0" marL="0">
              <a:buNone/>
            </a:pPr>
            <a:r>
              <a:rPr lang="en-US" sz="1300" b="1" spc="200" kern="0" dirty="0">
                <a:solidFill>
                  <a:srgbClr val="FFFFFF"/>
                </a:solidFill>
                <a:latin typeface="Palatino Linotype" pitchFamily="34" charset="0"/>
                <a:ea typeface="Palatino Linotype" pitchFamily="34" charset="-122"/>
                <a:cs typeface="Palatino Linotype" pitchFamily="34" charset="-120"/>
              </a:rPr>
              <a:t>CE AM SCHIMBAT DUPĂ RĂSPUNSURILE VOASTRE</a:t>
            </a:r>
            <a:endParaRPr lang="en-US" sz="1300" dirty="0"/>
          </a:p>
        </p:txBody>
      </p:sp>
      <p:sp>
        <p:nvSpPr>
          <p:cNvPr id="14" name="Shape 12"/>
          <p:cNvSpPr/>
          <p:nvPr/>
        </p:nvSpPr>
        <p:spPr>
          <a:xfrm>
            <a:off x="6172200" y="2606040"/>
            <a:ext cx="420624" cy="420624"/>
          </a:xfrm>
          <a:prstGeom prst="ellipse">
            <a:avLst/>
          </a:prstGeom>
          <a:solidFill>
            <a:srgbClr val="FFC24B"/>
          </a:solidFill>
          <a:ln/>
        </p:spPr>
        <p:txBody>
          <a:bodyPr/>
          <a:p/>
        </p:txBody>
      </p:sp>
      <p:sp>
        <p:nvSpPr>
          <p:cNvPr id="15" name="Text 13"/>
          <p:cNvSpPr/>
          <p:nvPr/>
        </p:nvSpPr>
        <p:spPr>
          <a:xfrm>
            <a:off x="6172200" y="26060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6" name="Text 14"/>
          <p:cNvSpPr/>
          <p:nvPr/>
        </p:nvSpPr>
        <p:spPr>
          <a:xfrm>
            <a:off x="6766560" y="2514600"/>
            <a:ext cx="4572000" cy="15087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„Ceasul și orașul” (spitalul ca sistem complex) se reia la începutul cursului 2, cu un caz din spital.</a:t>
            </a:r>
            <a:endParaRPr lang="en-US" sz="1800" dirty="0"/>
          </a:p>
        </p:txBody>
      </p:sp>
      <p:sp>
        <p:nvSpPr>
          <p:cNvPr id="17" name="Shape 15"/>
          <p:cNvSpPr/>
          <p:nvPr/>
        </p:nvSpPr>
        <p:spPr>
          <a:xfrm>
            <a:off x="6172200" y="4297680"/>
            <a:ext cx="420624" cy="420624"/>
          </a:xfrm>
          <a:prstGeom prst="ellipse">
            <a:avLst/>
          </a:prstGeom>
          <a:solidFill>
            <a:srgbClr val="FFC24B"/>
          </a:solidFill>
          <a:ln/>
        </p:spPr>
        <p:txBody>
          <a:bodyPr/>
          <a:p/>
        </p:txBody>
      </p:sp>
      <p:sp>
        <p:nvSpPr>
          <p:cNvPr id="18" name="Text 16"/>
          <p:cNvSpPr/>
          <p:nvPr/>
        </p:nvSpPr>
        <p:spPr>
          <a:xfrm>
            <a:off x="6172200" y="42976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9" name="Text 17"/>
          <p:cNvSpPr/>
          <p:nvPr/>
        </p:nvSpPr>
        <p:spPr>
          <a:xfrm>
            <a:off x="6766560" y="4206240"/>
            <a:ext cx="4572000" cy="150876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Linkul și codul QR ale formularului de echipă rămân pe ecran, pe pagina seminarului și în e-mail.</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CEASUL ȘI ORAȘUL, PE UN CAZ DIN SPITAL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Spitalul nu este un ceas</a:t>
            </a:r>
            <a:endParaRPr lang="en-US" sz="3400" dirty="0"/>
          </a:p>
        </p:txBody>
      </p:sp>
      <p:pic>
        <p:nvPicPr>
          <p:cNvPr id="4" name="Image 0" descr="/Users/adrianpana/Downloads/UMF_Cluj_SP/Materiale SP/Atelier_didactic/discipline/UB_MSSS/active/img/C01_mecanism_ceas.jpg">    </p:cNvPr>
          <p:cNvPicPr>
            <a:picLocks noChangeAspect="1"/>
          </p:cNvPicPr>
          <p:nvPr/>
        </p:nvPicPr>
        <p:blipFill>
          <a:blip r:embed="rId1"/>
          <a:stretch>
            <a:fillRect/>
          </a:stretch>
        </p:blipFill>
        <p:spPr>
          <a:xfrm>
            <a:off x="594360" y="1600200"/>
            <a:ext cx="5120640" cy="3200400"/>
          </a:xfrm>
          <a:prstGeom prst="rect">
            <a:avLst/>
          </a:prstGeom>
        </p:spPr>
      </p:pic>
      <p:sp>
        <p:nvSpPr>
          <p:cNvPr id="5" name="Text 2"/>
          <p:cNvSpPr/>
          <p:nvPr/>
        </p:nvSpPr>
        <p:spPr>
          <a:xfrm>
            <a:off x="594360" y="4846320"/>
            <a:ext cx="5120640" cy="219456"/>
          </a:xfrm>
          <a:prstGeom prst="rect">
            <a:avLst/>
          </a:prstGeom>
          <a:noFill/>
          <a:ln/>
        </p:spPr>
        <p:txBody>
          <a:bodyPr wrap="square" lIns="0" tIns="0" rIns="0" bIns="0" rtlCol="0" anchor="ctr"/>
          <a:lstStyle/>
          <a:p>
            <a:pPr algn="l" indent="0" marL="0">
              <a:buNone/>
            </a:pPr>
            <a:r>
              <a:rPr lang="en-US" sz="850" i="1" dirty="0">
                <a:solidFill>
                  <a:srgbClr val="585A64"/>
                </a:solidFill>
                <a:latin typeface="Palatino Linotype" pitchFamily="34" charset="0"/>
                <a:ea typeface="Palatino Linotype" pitchFamily="34" charset="-122"/>
                <a:cs typeface="Palatino Linotype" pitchFamily="34" charset="-120"/>
              </a:rPr>
              <a:t>Sursa: foto Emdx · CC BY-SA 3.0 · Wikimedia Commons (mecanism de ceas)</a:t>
            </a:r>
            <a:endParaRPr lang="en-US" sz="850" dirty="0"/>
          </a:p>
        </p:txBody>
      </p:sp>
      <p:sp>
        <p:nvSpPr>
          <p:cNvPr id="6" name="Text 3"/>
          <p:cNvSpPr/>
          <p:nvPr/>
        </p:nvSpPr>
        <p:spPr>
          <a:xfrm>
            <a:off x="594360" y="5257800"/>
            <a:ext cx="5120640" cy="9144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Un ceas se repară piesă cu piesă. Un spital seamănă mai mult cu traficul dintr-un oraș: fiecare se adaptează la ceilalți.</a:t>
            </a:r>
            <a:endParaRPr lang="en-US" sz="1600" dirty="0"/>
          </a:p>
        </p:txBody>
      </p:sp>
      <p:sp>
        <p:nvSpPr>
          <p:cNvPr id="7" name="Shape 4"/>
          <p:cNvSpPr/>
          <p:nvPr/>
        </p:nvSpPr>
        <p:spPr>
          <a:xfrm>
            <a:off x="6172200" y="1600200"/>
            <a:ext cx="5394960" cy="804672"/>
          </a:xfrm>
          <a:prstGeom prst="roundRect">
            <a:avLst>
              <a:gd name="adj" fmla="val 10227"/>
            </a:avLst>
          </a:prstGeom>
          <a:solidFill>
            <a:srgbClr val="ECEAE4"/>
          </a:solidFill>
          <a:ln w="12700">
            <a:solidFill>
              <a:srgbClr val="ECEAE4"/>
            </a:solidFill>
            <a:prstDash val="solid"/>
          </a:ln>
        </p:spPr>
        <p:txBody>
          <a:bodyPr/>
          <a:p/>
        </p:txBody>
      </p:sp>
      <p:sp>
        <p:nvSpPr>
          <p:cNvPr id="8" name="Shape 5"/>
          <p:cNvSpPr/>
          <p:nvPr/>
        </p:nvSpPr>
        <p:spPr>
          <a:xfrm>
            <a:off x="6355080" y="1792224"/>
            <a:ext cx="420624" cy="420624"/>
          </a:xfrm>
          <a:prstGeom prst="ellipse">
            <a:avLst/>
          </a:prstGeom>
          <a:solidFill>
            <a:srgbClr val="FF4757"/>
          </a:solidFill>
          <a:ln/>
        </p:spPr>
        <p:txBody>
          <a:bodyPr/>
          <a:p/>
        </p:txBody>
      </p:sp>
      <p:sp>
        <p:nvSpPr>
          <p:cNvPr id="9" name="Text 6"/>
          <p:cNvSpPr/>
          <p:nvPr/>
        </p:nvSpPr>
        <p:spPr>
          <a:xfrm>
            <a:off x="6355080" y="179222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10" name="Text 7"/>
          <p:cNvSpPr/>
          <p:nvPr/>
        </p:nvSpPr>
        <p:spPr>
          <a:xfrm>
            <a:off x="6949440" y="1600200"/>
            <a:ext cx="4480560" cy="80467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 chirurg tânăr pleacă dintr-un spital mic.</a:t>
            </a:r>
            <a:endParaRPr lang="en-US" sz="1700" dirty="0"/>
          </a:p>
        </p:txBody>
      </p:sp>
      <p:sp>
        <p:nvSpPr>
          <p:cNvPr id="11" name="Shape 8"/>
          <p:cNvSpPr/>
          <p:nvPr/>
        </p:nvSpPr>
        <p:spPr>
          <a:xfrm>
            <a:off x="8869680" y="2423160"/>
            <a:ext cx="9144" cy="256032"/>
          </a:xfrm>
          <a:prstGeom prst="line">
            <a:avLst/>
          </a:prstGeom>
          <a:noFill/>
          <a:ln w="25400">
            <a:solidFill>
              <a:srgbClr val="585A64"/>
            </a:solidFill>
            <a:prstDash val="solid"/>
            <a:tailEnd type="triangle"/>
          </a:ln>
        </p:spPr>
        <p:txBody>
          <a:bodyPr/>
          <a:p/>
        </p:txBody>
      </p:sp>
      <p:sp>
        <p:nvSpPr>
          <p:cNvPr id="12" name="Shape 9"/>
          <p:cNvSpPr/>
          <p:nvPr/>
        </p:nvSpPr>
        <p:spPr>
          <a:xfrm>
            <a:off x="6172200" y="2697480"/>
            <a:ext cx="5394960" cy="804672"/>
          </a:xfrm>
          <a:prstGeom prst="roundRect">
            <a:avLst>
              <a:gd name="adj" fmla="val 10227"/>
            </a:avLst>
          </a:prstGeom>
          <a:solidFill>
            <a:srgbClr val="F9F8F5"/>
          </a:solidFill>
          <a:ln w="12700">
            <a:solidFill>
              <a:srgbClr val="F9F8F5"/>
            </a:solidFill>
            <a:prstDash val="solid"/>
          </a:ln>
        </p:spPr>
        <p:txBody>
          <a:bodyPr/>
          <a:p/>
        </p:txBody>
      </p:sp>
      <p:sp>
        <p:nvSpPr>
          <p:cNvPr id="13" name="Shape 10"/>
          <p:cNvSpPr/>
          <p:nvPr/>
        </p:nvSpPr>
        <p:spPr>
          <a:xfrm>
            <a:off x="6355080" y="2889504"/>
            <a:ext cx="420624" cy="420624"/>
          </a:xfrm>
          <a:prstGeom prst="ellipse">
            <a:avLst/>
          </a:prstGeom>
          <a:solidFill>
            <a:srgbClr val="FF4757"/>
          </a:solidFill>
          <a:ln/>
        </p:spPr>
        <p:txBody>
          <a:bodyPr/>
          <a:p/>
        </p:txBody>
      </p:sp>
      <p:sp>
        <p:nvSpPr>
          <p:cNvPr id="14" name="Text 11"/>
          <p:cNvSpPr/>
          <p:nvPr/>
        </p:nvSpPr>
        <p:spPr>
          <a:xfrm>
            <a:off x="6355080" y="288950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5" name="Text 12"/>
          <p:cNvSpPr/>
          <p:nvPr/>
        </p:nvSpPr>
        <p:spPr>
          <a:xfrm>
            <a:off x="6949440" y="2697480"/>
            <a:ext cx="4480560" cy="80467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Colegii lui fac mai multe gărzi.</a:t>
            </a:r>
            <a:endParaRPr lang="en-US" sz="1700" dirty="0"/>
          </a:p>
        </p:txBody>
      </p:sp>
      <p:sp>
        <p:nvSpPr>
          <p:cNvPr id="16" name="Shape 13"/>
          <p:cNvSpPr/>
          <p:nvPr/>
        </p:nvSpPr>
        <p:spPr>
          <a:xfrm>
            <a:off x="8869680" y="3520440"/>
            <a:ext cx="9144" cy="256032"/>
          </a:xfrm>
          <a:prstGeom prst="line">
            <a:avLst/>
          </a:prstGeom>
          <a:noFill/>
          <a:ln w="25400">
            <a:solidFill>
              <a:srgbClr val="585A64"/>
            </a:solidFill>
            <a:prstDash val="solid"/>
            <a:tailEnd type="triangle"/>
          </a:ln>
        </p:spPr>
        <p:txBody>
          <a:bodyPr/>
          <a:p/>
        </p:txBody>
      </p:sp>
      <p:sp>
        <p:nvSpPr>
          <p:cNvPr id="17" name="Shape 14"/>
          <p:cNvSpPr/>
          <p:nvPr/>
        </p:nvSpPr>
        <p:spPr>
          <a:xfrm>
            <a:off x="6172200" y="3794760"/>
            <a:ext cx="5394960" cy="804672"/>
          </a:xfrm>
          <a:prstGeom prst="roundRect">
            <a:avLst>
              <a:gd name="adj" fmla="val 10227"/>
            </a:avLst>
          </a:prstGeom>
          <a:solidFill>
            <a:srgbClr val="ECEAE4"/>
          </a:solidFill>
          <a:ln w="12700">
            <a:solidFill>
              <a:srgbClr val="ECEAE4"/>
            </a:solidFill>
            <a:prstDash val="solid"/>
          </a:ln>
        </p:spPr>
        <p:txBody>
          <a:bodyPr/>
          <a:p/>
        </p:txBody>
      </p:sp>
      <p:sp>
        <p:nvSpPr>
          <p:cNvPr id="18" name="Shape 15"/>
          <p:cNvSpPr/>
          <p:nvPr/>
        </p:nvSpPr>
        <p:spPr>
          <a:xfrm>
            <a:off x="6355080" y="3986784"/>
            <a:ext cx="420624" cy="420624"/>
          </a:xfrm>
          <a:prstGeom prst="ellipse">
            <a:avLst/>
          </a:prstGeom>
          <a:solidFill>
            <a:srgbClr val="FF4757"/>
          </a:solidFill>
          <a:ln/>
        </p:spPr>
        <p:txBody>
          <a:bodyPr/>
          <a:p/>
        </p:txBody>
      </p:sp>
      <p:sp>
        <p:nvSpPr>
          <p:cNvPr id="19" name="Text 16"/>
          <p:cNvSpPr/>
          <p:nvPr/>
        </p:nvSpPr>
        <p:spPr>
          <a:xfrm>
            <a:off x="6355080" y="398678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20" name="Text 17"/>
          <p:cNvSpPr/>
          <p:nvPr/>
        </p:nvSpPr>
        <p:spPr>
          <a:xfrm>
            <a:off x="6949440" y="3794760"/>
            <a:ext cx="4480560" cy="80467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Unii pacienți încep să meargă la alt spital.</a:t>
            </a:r>
            <a:endParaRPr lang="en-US" sz="1700" dirty="0"/>
          </a:p>
        </p:txBody>
      </p:sp>
      <p:sp>
        <p:nvSpPr>
          <p:cNvPr id="21" name="Shape 18"/>
          <p:cNvSpPr/>
          <p:nvPr/>
        </p:nvSpPr>
        <p:spPr>
          <a:xfrm>
            <a:off x="8869680" y="4617720"/>
            <a:ext cx="9144" cy="256032"/>
          </a:xfrm>
          <a:prstGeom prst="line">
            <a:avLst/>
          </a:prstGeom>
          <a:noFill/>
          <a:ln w="25400">
            <a:solidFill>
              <a:srgbClr val="585A64"/>
            </a:solidFill>
            <a:prstDash val="solid"/>
            <a:tailEnd type="triangle"/>
          </a:ln>
        </p:spPr>
        <p:txBody>
          <a:bodyPr/>
          <a:p/>
        </p:txBody>
      </p:sp>
      <p:sp>
        <p:nvSpPr>
          <p:cNvPr id="22" name="Shape 19"/>
          <p:cNvSpPr/>
          <p:nvPr/>
        </p:nvSpPr>
        <p:spPr>
          <a:xfrm>
            <a:off x="6172200" y="4892040"/>
            <a:ext cx="5394960" cy="804672"/>
          </a:xfrm>
          <a:prstGeom prst="roundRect">
            <a:avLst>
              <a:gd name="adj" fmla="val 10227"/>
            </a:avLst>
          </a:prstGeom>
          <a:solidFill>
            <a:srgbClr val="F9F8F5"/>
          </a:solidFill>
          <a:ln w="12700">
            <a:solidFill>
              <a:srgbClr val="F9F8F5"/>
            </a:solidFill>
            <a:prstDash val="solid"/>
          </a:ln>
        </p:spPr>
        <p:txBody>
          <a:bodyPr/>
          <a:p/>
        </p:txBody>
      </p:sp>
      <p:sp>
        <p:nvSpPr>
          <p:cNvPr id="23" name="Shape 20"/>
          <p:cNvSpPr/>
          <p:nvPr/>
        </p:nvSpPr>
        <p:spPr>
          <a:xfrm>
            <a:off x="6355080" y="5084064"/>
            <a:ext cx="420624" cy="420624"/>
          </a:xfrm>
          <a:prstGeom prst="ellipse">
            <a:avLst/>
          </a:prstGeom>
          <a:solidFill>
            <a:srgbClr val="FF4757"/>
          </a:solidFill>
          <a:ln/>
        </p:spPr>
        <p:txBody>
          <a:bodyPr/>
          <a:p/>
        </p:txBody>
      </p:sp>
      <p:sp>
        <p:nvSpPr>
          <p:cNvPr id="24" name="Text 21"/>
          <p:cNvSpPr/>
          <p:nvPr/>
        </p:nvSpPr>
        <p:spPr>
          <a:xfrm>
            <a:off x="6355080" y="508406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25" name="Text 22"/>
          <p:cNvSpPr/>
          <p:nvPr/>
        </p:nvSpPr>
        <p:spPr>
          <a:xfrm>
            <a:off x="6949440" y="4892040"/>
            <a:ext cx="4480560" cy="80467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Postul scos la concurs poate rămâne fără candidat.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ȘEDINȚA DE AZI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Ce se schimbă de azi</a:t>
            </a:r>
            <a:endParaRPr lang="en-US" sz="3400" dirty="0"/>
          </a:p>
        </p:txBody>
      </p:sp>
      <p:sp>
        <p:nvSpPr>
          <p:cNvPr id="4" name="Shape 2"/>
          <p:cNvSpPr/>
          <p:nvPr/>
        </p:nvSpPr>
        <p:spPr>
          <a:xfrm>
            <a:off x="594360" y="160020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5" name="Shape 3"/>
          <p:cNvSpPr/>
          <p:nvPr/>
        </p:nvSpPr>
        <p:spPr>
          <a:xfrm>
            <a:off x="822960" y="1755648"/>
            <a:ext cx="420624" cy="420624"/>
          </a:xfrm>
          <a:prstGeom prst="ellipse">
            <a:avLst/>
          </a:prstGeom>
          <a:solidFill>
            <a:srgbClr val="FF4757"/>
          </a:solidFill>
          <a:ln/>
        </p:spPr>
        <p:txBody>
          <a:bodyPr/>
          <a:p/>
        </p:txBody>
      </p:sp>
      <p:sp>
        <p:nvSpPr>
          <p:cNvPr id="6" name="Text 4"/>
          <p:cNvSpPr/>
          <p:nvPr/>
        </p:nvSpPr>
        <p:spPr>
          <a:xfrm>
            <a:off x="822960" y="175564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600200"/>
            <a:ext cx="9921240" cy="73152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Fiecare parte pornește de la un caz, nu de la o definiție.</a:t>
            </a:r>
            <a:endParaRPr lang="en-US" sz="2000" dirty="0"/>
          </a:p>
        </p:txBody>
      </p:sp>
      <p:sp>
        <p:nvSpPr>
          <p:cNvPr id="8" name="Shape 6"/>
          <p:cNvSpPr/>
          <p:nvPr/>
        </p:nvSpPr>
        <p:spPr>
          <a:xfrm>
            <a:off x="594360" y="2468880"/>
            <a:ext cx="10972800" cy="731520"/>
          </a:xfrm>
          <a:prstGeom prst="roundRect">
            <a:avLst>
              <a:gd name="adj" fmla="val 11250"/>
            </a:avLst>
          </a:prstGeom>
          <a:solidFill>
            <a:srgbClr val="F9F8F5"/>
          </a:solidFill>
          <a:ln w="12700">
            <a:solidFill>
              <a:srgbClr val="F9F8F5"/>
            </a:solidFill>
            <a:prstDash val="solid"/>
          </a:ln>
        </p:spPr>
        <p:txBody>
          <a:bodyPr/>
          <a:p/>
        </p:txBody>
      </p:sp>
      <p:sp>
        <p:nvSpPr>
          <p:cNvPr id="9" name="Shape 7"/>
          <p:cNvSpPr/>
          <p:nvPr/>
        </p:nvSpPr>
        <p:spPr>
          <a:xfrm>
            <a:off x="822960" y="2624328"/>
            <a:ext cx="420624" cy="420624"/>
          </a:xfrm>
          <a:prstGeom prst="ellipse">
            <a:avLst/>
          </a:prstGeom>
          <a:solidFill>
            <a:srgbClr val="FF4757"/>
          </a:solidFill>
          <a:ln/>
        </p:spPr>
        <p:txBody>
          <a:bodyPr/>
          <a:p/>
        </p:txBody>
      </p:sp>
      <p:sp>
        <p:nvSpPr>
          <p:cNvPr id="10" name="Text 8"/>
          <p:cNvSpPr/>
          <p:nvPr/>
        </p:nvSpPr>
        <p:spPr>
          <a:xfrm>
            <a:off x="822960" y="262432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63040" y="2468880"/>
            <a:ext cx="9921240" cy="73152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Cel mult trei termeni noi, spuși și în cuvinte de zi cu zi.</a:t>
            </a:r>
            <a:endParaRPr lang="en-US" sz="2000" dirty="0"/>
          </a:p>
        </p:txBody>
      </p:sp>
      <p:sp>
        <p:nvSpPr>
          <p:cNvPr id="12" name="Shape 10"/>
          <p:cNvSpPr/>
          <p:nvPr/>
        </p:nvSpPr>
        <p:spPr>
          <a:xfrm>
            <a:off x="594360" y="333756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13" name="Shape 11"/>
          <p:cNvSpPr/>
          <p:nvPr/>
        </p:nvSpPr>
        <p:spPr>
          <a:xfrm>
            <a:off x="822960" y="3493008"/>
            <a:ext cx="420624" cy="420624"/>
          </a:xfrm>
          <a:prstGeom prst="ellipse">
            <a:avLst/>
          </a:prstGeom>
          <a:solidFill>
            <a:srgbClr val="FF4757"/>
          </a:solidFill>
          <a:ln/>
        </p:spPr>
        <p:txBody>
          <a:bodyPr/>
          <a:p/>
        </p:txBody>
      </p:sp>
      <p:sp>
        <p:nvSpPr>
          <p:cNvPr id="14" name="Text 12"/>
          <p:cNvSpPr/>
          <p:nvPr/>
        </p:nvSpPr>
        <p:spPr>
          <a:xfrm>
            <a:off x="822960" y="349300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63040" y="3337560"/>
            <a:ext cx="9921240" cy="73152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Jumătate din timp lucrați voi.</a:t>
            </a:r>
            <a:endParaRPr lang="en-US" sz="2000" dirty="0"/>
          </a:p>
        </p:txBody>
      </p:sp>
      <p:sp>
        <p:nvSpPr>
          <p:cNvPr id="16" name="Shape 14"/>
          <p:cNvSpPr/>
          <p:nvPr/>
        </p:nvSpPr>
        <p:spPr>
          <a:xfrm>
            <a:off x="594360" y="4206240"/>
            <a:ext cx="10972800" cy="731520"/>
          </a:xfrm>
          <a:prstGeom prst="roundRect">
            <a:avLst>
              <a:gd name="adj" fmla="val 11250"/>
            </a:avLst>
          </a:prstGeom>
          <a:solidFill>
            <a:srgbClr val="F9F8F5"/>
          </a:solidFill>
          <a:ln w="12700">
            <a:solidFill>
              <a:srgbClr val="F9F8F5"/>
            </a:solidFill>
            <a:prstDash val="solid"/>
          </a:ln>
        </p:spPr>
        <p:txBody>
          <a:bodyPr/>
          <a:p/>
        </p:txBody>
      </p:sp>
      <p:sp>
        <p:nvSpPr>
          <p:cNvPr id="17" name="Shape 15"/>
          <p:cNvSpPr/>
          <p:nvPr/>
        </p:nvSpPr>
        <p:spPr>
          <a:xfrm>
            <a:off x="822960" y="4361688"/>
            <a:ext cx="420624" cy="420624"/>
          </a:xfrm>
          <a:prstGeom prst="ellipse">
            <a:avLst/>
          </a:prstGeom>
          <a:solidFill>
            <a:srgbClr val="FF4757"/>
          </a:solidFill>
          <a:ln/>
        </p:spPr>
        <p:txBody>
          <a:bodyPr/>
          <a:p/>
        </p:txBody>
      </p:sp>
      <p:sp>
        <p:nvSpPr>
          <p:cNvPr id="18" name="Text 16"/>
          <p:cNvSpPr/>
          <p:nvPr/>
        </p:nvSpPr>
        <p:spPr>
          <a:xfrm>
            <a:off x="822960" y="436168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463040" y="4206240"/>
            <a:ext cx="9921240" cy="73152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Evaluarea stă pe o singură pagină, pe site.</a:t>
            </a:r>
            <a:endParaRPr lang="en-US" sz="2000" dirty="0"/>
          </a:p>
        </p:txBody>
      </p:sp>
      <p:sp>
        <p:nvSpPr>
          <p:cNvPr id="20" name="Shape 18"/>
          <p:cNvSpPr/>
          <p:nvPr/>
        </p:nvSpPr>
        <p:spPr>
          <a:xfrm>
            <a:off x="594360" y="507492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21" name="Shape 19"/>
          <p:cNvSpPr/>
          <p:nvPr/>
        </p:nvSpPr>
        <p:spPr>
          <a:xfrm>
            <a:off x="822960" y="5230368"/>
            <a:ext cx="420624" cy="420624"/>
          </a:xfrm>
          <a:prstGeom prst="ellipse">
            <a:avLst/>
          </a:prstGeom>
          <a:solidFill>
            <a:srgbClr val="FF4757"/>
          </a:solidFill>
          <a:ln/>
        </p:spPr>
        <p:txBody>
          <a:bodyPr/>
          <a:p/>
        </p:txBody>
      </p:sp>
      <p:sp>
        <p:nvSpPr>
          <p:cNvPr id="22" name="Text 20"/>
          <p:cNvSpPr/>
          <p:nvPr/>
        </p:nvSpPr>
        <p:spPr>
          <a:xfrm>
            <a:off x="822960" y="52303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463040" y="5074920"/>
            <a:ext cx="9921240" cy="73152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Ultimele cinci minute sunt ale voastre.</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ÎNTREBAREA ȘEDINȚEI</a:t>
            </a:r>
            <a:endParaRPr lang="en-US" sz="1300" dirty="0"/>
          </a:p>
        </p:txBody>
      </p:sp>
      <p:sp>
        <p:nvSpPr>
          <p:cNvPr id="3" name="Text 1"/>
          <p:cNvSpPr/>
          <p:nvPr/>
        </p:nvSpPr>
        <p:spPr>
          <a:xfrm>
            <a:off x="594360" y="1188720"/>
            <a:ext cx="10789920" cy="2651760"/>
          </a:xfrm>
          <a:prstGeom prst="rect">
            <a:avLst/>
          </a:prstGeom>
          <a:noFill/>
          <a:ln/>
        </p:spPr>
        <p:txBody>
          <a:bodyPr wrap="square" lIns="0" tIns="0" rIns="0" bIns="0" rtlCol="0" anchor="ctr"/>
          <a:lstStyle/>
          <a:p>
            <a:pPr indent="0" marL="0">
              <a:buNone/>
            </a:pPr>
            <a:r>
              <a:rPr lang="en-US" sz="4600" b="1" dirty="0">
                <a:solidFill>
                  <a:srgbClr val="FFFFFF"/>
                </a:solidFill>
                <a:latin typeface="Palatino Linotype" pitchFamily="34" charset="0"/>
                <a:ea typeface="Palatino Linotype" pitchFamily="34" charset="-122"/>
                <a:cs typeface="Palatino Linotype" pitchFamily="34" charset="-120"/>
              </a:rPr>
              <a:t>Ce trebuie să vadă un spital dincolo de zidurile lui?</a:t>
            </a:r>
            <a:endParaRPr lang="en-US" sz="4600" dirty="0"/>
          </a:p>
        </p:txBody>
      </p:sp>
      <p:sp>
        <p:nvSpPr>
          <p:cNvPr id="4" name="Shape 2"/>
          <p:cNvSpPr/>
          <p:nvPr/>
        </p:nvSpPr>
        <p:spPr>
          <a:xfrm>
            <a:off x="594360" y="4069080"/>
            <a:ext cx="1280160" cy="36576"/>
          </a:xfrm>
          <a:prstGeom prst="rect">
            <a:avLst/>
          </a:prstGeom>
          <a:solidFill>
            <a:srgbClr val="27D3BE"/>
          </a:solidFill>
          <a:ln/>
        </p:spPr>
        <p:txBody>
          <a:bodyPr/>
          <a:p/>
        </p:txBody>
      </p:sp>
      <p:sp>
        <p:nvSpPr>
          <p:cNvPr id="5" name="Text 3"/>
          <p:cNvSpPr/>
          <p:nvPr/>
        </p:nvSpPr>
        <p:spPr>
          <a:xfrm>
            <a:off x="594360" y="4389120"/>
            <a:ext cx="10058400" cy="91440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Răspunsul începe cu un plan pe care îl cunoașteți bine: planul vostru pentru sesiune.</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PLANUL VOSTRU PENTRU SESIUNE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Trei schimbări pe care nu le-ați hotărât voi</a:t>
            </a:r>
            <a:endParaRPr lang="en-US" sz="3000" dirty="0"/>
          </a:p>
        </p:txBody>
      </p:sp>
      <p:sp>
        <p:nvSpPr>
          <p:cNvPr id="4" name="Shape 2"/>
          <p:cNvSpPr/>
          <p:nvPr/>
        </p:nvSpPr>
        <p:spPr>
          <a:xfrm>
            <a:off x="594360" y="1600200"/>
            <a:ext cx="3520440" cy="237744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txBody>
          <a:bodyPr/>
          <a:p/>
        </p:txBody>
      </p:sp>
      <p:sp>
        <p:nvSpPr>
          <p:cNvPr id="5" name="Shape 3"/>
          <p:cNvSpPr/>
          <p:nvPr/>
        </p:nvSpPr>
        <p:spPr>
          <a:xfrm>
            <a:off x="594360" y="1600200"/>
            <a:ext cx="3520440" cy="91440"/>
          </a:xfrm>
          <a:prstGeom prst="rect">
            <a:avLst/>
          </a:prstGeom>
          <a:solidFill>
            <a:srgbClr val="FF4757"/>
          </a:solidFill>
          <a:ln w="12700">
            <a:solidFill>
              <a:srgbClr val="FF4757"/>
            </a:solidFill>
            <a:prstDash val="solid"/>
          </a:ln>
        </p:spPr>
        <p:txBody>
          <a:bodyPr/>
          <a:p/>
        </p:txBody>
      </p:sp>
      <p:sp>
        <p:nvSpPr>
          <p:cNvPr id="6" name="Text 4"/>
          <p:cNvSpPr/>
          <p:nvPr/>
        </p:nvSpPr>
        <p:spPr>
          <a:xfrm>
            <a:off x="868680" y="1828800"/>
            <a:ext cx="3017520" cy="320040"/>
          </a:xfrm>
          <a:prstGeom prst="rect">
            <a:avLst/>
          </a:prstGeom>
          <a:noFill/>
          <a:ln/>
        </p:spPr>
        <p:txBody>
          <a:bodyPr wrap="square" lIns="0" tIns="0" rIns="0" bIns="0" rtlCol="0" anchor="t"/>
          <a:lstStyle/>
          <a:p>
            <a:pPr indent="0" marL="0">
              <a:buNone/>
            </a:pPr>
            <a:r>
              <a:rPr lang="en-US" sz="1300" b="1" spc="200" kern="0" dirty="0">
                <a:solidFill>
                  <a:srgbClr val="11121A"/>
                </a:solidFill>
                <a:latin typeface="Palatino Linotype" pitchFamily="34" charset="0"/>
                <a:ea typeface="Palatino Linotype" pitchFamily="34" charset="-122"/>
                <a:cs typeface="Palatino Linotype" pitchFamily="34" charset="-120"/>
              </a:rPr>
              <a:t>EXAMENUL</a:t>
            </a:r>
            <a:endParaRPr lang="en-US" sz="1300" dirty="0"/>
          </a:p>
        </p:txBody>
      </p:sp>
      <p:sp>
        <p:nvSpPr>
          <p:cNvPr id="7" name="Text 5"/>
          <p:cNvSpPr/>
          <p:nvPr/>
        </p:nvSpPr>
        <p:spPr>
          <a:xfrm>
            <a:off x="868680" y="2240280"/>
            <a:ext cx="3017520" cy="164592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Facultatea mută un examen cu o săptămână mai devreme.</a:t>
            </a:r>
            <a:endParaRPr lang="en-US" sz="1900" dirty="0"/>
          </a:p>
        </p:txBody>
      </p:sp>
      <p:sp>
        <p:nvSpPr>
          <p:cNvPr id="8" name="Shape 6"/>
          <p:cNvSpPr/>
          <p:nvPr/>
        </p:nvSpPr>
        <p:spPr>
          <a:xfrm>
            <a:off x="4343400" y="1600200"/>
            <a:ext cx="3520440" cy="237744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txBody>
          <a:bodyPr/>
          <a:p/>
        </p:txBody>
      </p:sp>
      <p:sp>
        <p:nvSpPr>
          <p:cNvPr id="9" name="Shape 7"/>
          <p:cNvSpPr/>
          <p:nvPr/>
        </p:nvSpPr>
        <p:spPr>
          <a:xfrm>
            <a:off x="4343400" y="1600200"/>
            <a:ext cx="3520440" cy="91440"/>
          </a:xfrm>
          <a:prstGeom prst="rect">
            <a:avLst/>
          </a:prstGeom>
          <a:solidFill>
            <a:srgbClr val="FFC24B"/>
          </a:solidFill>
          <a:ln w="12700">
            <a:solidFill>
              <a:srgbClr val="FFC24B"/>
            </a:solidFill>
            <a:prstDash val="solid"/>
          </a:ln>
        </p:spPr>
        <p:txBody>
          <a:bodyPr/>
          <a:p/>
        </p:txBody>
      </p:sp>
      <p:sp>
        <p:nvSpPr>
          <p:cNvPr id="10" name="Text 8"/>
          <p:cNvSpPr/>
          <p:nvPr/>
        </p:nvSpPr>
        <p:spPr>
          <a:xfrm>
            <a:off x="4617720" y="1828800"/>
            <a:ext cx="3017520" cy="320040"/>
          </a:xfrm>
          <a:prstGeom prst="rect">
            <a:avLst/>
          </a:prstGeom>
          <a:noFill/>
          <a:ln/>
        </p:spPr>
        <p:txBody>
          <a:bodyPr wrap="square" lIns="0" tIns="0" rIns="0" bIns="0" rtlCol="0" anchor="t"/>
          <a:lstStyle/>
          <a:p>
            <a:pPr indent="0" marL="0">
              <a:buNone/>
            </a:pPr>
            <a:r>
              <a:rPr lang="en-US" sz="1300" b="1" spc="200" kern="0" dirty="0">
                <a:solidFill>
                  <a:srgbClr val="11121A"/>
                </a:solidFill>
                <a:latin typeface="Palatino Linotype" pitchFamily="34" charset="0"/>
                <a:ea typeface="Palatino Linotype" pitchFamily="34" charset="-122"/>
                <a:cs typeface="Palatino Linotype" pitchFamily="34" charset="-120"/>
              </a:rPr>
              <a:t>PROFESORUL</a:t>
            </a:r>
            <a:endParaRPr lang="en-US" sz="1300" dirty="0"/>
          </a:p>
        </p:txBody>
      </p:sp>
      <p:sp>
        <p:nvSpPr>
          <p:cNvPr id="11" name="Text 9"/>
          <p:cNvSpPr/>
          <p:nvPr/>
        </p:nvSpPr>
        <p:spPr>
          <a:xfrm>
            <a:off x="4617720" y="2240280"/>
            <a:ext cx="3017520" cy="164592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Profesorul unei discipline pleacă; cel care îl înlocuiește anunță o bibliografie nouă.</a:t>
            </a:r>
            <a:endParaRPr lang="en-US" sz="1900" dirty="0"/>
          </a:p>
        </p:txBody>
      </p:sp>
      <p:sp>
        <p:nvSpPr>
          <p:cNvPr id="12" name="Shape 10"/>
          <p:cNvSpPr/>
          <p:nvPr/>
        </p:nvSpPr>
        <p:spPr>
          <a:xfrm>
            <a:off x="8092440" y="1600200"/>
            <a:ext cx="3520440" cy="237744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txBody>
          <a:bodyPr/>
          <a:p/>
        </p:txBody>
      </p:sp>
      <p:sp>
        <p:nvSpPr>
          <p:cNvPr id="13" name="Shape 11"/>
          <p:cNvSpPr/>
          <p:nvPr/>
        </p:nvSpPr>
        <p:spPr>
          <a:xfrm>
            <a:off x="8092440" y="1600200"/>
            <a:ext cx="3520440" cy="91440"/>
          </a:xfrm>
          <a:prstGeom prst="rect">
            <a:avLst/>
          </a:prstGeom>
          <a:solidFill>
            <a:srgbClr val="27D3BE"/>
          </a:solidFill>
          <a:ln w="12700">
            <a:solidFill>
              <a:srgbClr val="27D3BE"/>
            </a:solidFill>
            <a:prstDash val="solid"/>
          </a:ln>
        </p:spPr>
        <p:txBody>
          <a:bodyPr/>
          <a:p/>
        </p:txBody>
      </p:sp>
      <p:sp>
        <p:nvSpPr>
          <p:cNvPr id="14" name="Text 12"/>
          <p:cNvSpPr/>
          <p:nvPr/>
        </p:nvSpPr>
        <p:spPr>
          <a:xfrm>
            <a:off x="8366760" y="1828800"/>
            <a:ext cx="3017520" cy="320040"/>
          </a:xfrm>
          <a:prstGeom prst="rect">
            <a:avLst/>
          </a:prstGeom>
          <a:noFill/>
          <a:ln/>
        </p:spPr>
        <p:txBody>
          <a:bodyPr wrap="square" lIns="0" tIns="0" rIns="0" bIns="0" rtlCol="0" anchor="t"/>
          <a:lstStyle/>
          <a:p>
            <a:pPr indent="0" marL="0">
              <a:buNone/>
            </a:pPr>
            <a:r>
              <a:rPr lang="en-US" sz="1300" b="1" spc="200" kern="0" dirty="0">
                <a:solidFill>
                  <a:srgbClr val="11121A"/>
                </a:solidFill>
                <a:latin typeface="Palatino Linotype" pitchFamily="34" charset="0"/>
                <a:ea typeface="Palatino Linotype" pitchFamily="34" charset="-122"/>
                <a:cs typeface="Palatino Linotype" pitchFamily="34" charset="-120"/>
              </a:rPr>
              <a:t>ANUL MARE</a:t>
            </a:r>
            <a:endParaRPr lang="en-US" sz="1300" dirty="0"/>
          </a:p>
        </p:txBody>
      </p:sp>
      <p:sp>
        <p:nvSpPr>
          <p:cNvPr id="15" name="Text 13"/>
          <p:cNvSpPr/>
          <p:nvPr/>
        </p:nvSpPr>
        <p:spPr>
          <a:xfrm>
            <a:off x="8366760" y="2240280"/>
            <a:ext cx="3017520" cy="164592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Colegii vă spun că un examen considerat ușor a devenit, anul trecut, cel mai greu.</a:t>
            </a:r>
            <a:endParaRPr lang="en-US" sz="1900" dirty="0"/>
          </a:p>
        </p:txBody>
      </p:sp>
      <p:sp>
        <p:nvSpPr>
          <p:cNvPr id="16" name="Text 14"/>
          <p:cNvSpPr/>
          <p:nvPr/>
        </p:nvSpPr>
        <p:spPr>
          <a:xfrm>
            <a:off x="594360" y="4343400"/>
            <a:ext cx="10972800" cy="548640"/>
          </a:xfrm>
          <a:prstGeom prst="rect">
            <a:avLst/>
          </a:prstGeom>
          <a:noFill/>
          <a:ln/>
        </p:spPr>
        <p:txBody>
          <a:bodyPr wrap="square" lIns="0" tIns="0" rIns="0" bIns="0" rtlCol="0" anchor="t"/>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Planul vostru nu s-a schimbat. Lumea din jurul lui, da.</a:t>
            </a:r>
            <a:endParaRPr lang="en-US" sz="2400" dirty="0"/>
          </a:p>
        </p:txBody>
      </p:sp>
      <p:sp>
        <p:nvSpPr>
          <p:cNvPr id="17" name="Text 15"/>
          <p:cNvSpPr/>
          <p:nvPr/>
        </p:nvSpPr>
        <p:spPr>
          <a:xfrm>
            <a:off x="594360" y="4983480"/>
            <a:ext cx="10607040" cy="9144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Un orar respectat cu disciplină vă poate duce, totuși, în locul greșit.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ÎNTREBAREA 1</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Care schimbare vă strică cel mai mult planul?</a:t>
            </a:r>
            <a:endParaRPr lang="en-US" sz="3200" dirty="0"/>
          </a:p>
        </p:txBody>
      </p:sp>
      <p:sp>
        <p:nvSpPr>
          <p:cNvPr id="6" name="Shape 4"/>
          <p:cNvSpPr/>
          <p:nvPr/>
        </p:nvSpPr>
        <p:spPr>
          <a:xfrm>
            <a:off x="594360" y="1828800"/>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868680" y="1993392"/>
            <a:ext cx="420624" cy="420624"/>
          </a:xfrm>
          <a:prstGeom prst="ellipse">
            <a:avLst/>
          </a:prstGeom>
          <a:solidFill>
            <a:srgbClr val="FFC24B"/>
          </a:solidFill>
          <a:ln/>
        </p:spPr>
        <p:txBody>
          <a:bodyPr/>
          <a:p/>
        </p:txBody>
      </p:sp>
      <p:sp>
        <p:nvSpPr>
          <p:cNvPr id="8" name="Text 6"/>
          <p:cNvSpPr/>
          <p:nvPr/>
        </p:nvSpPr>
        <p:spPr>
          <a:xfrm>
            <a:off x="868680" y="19933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828800"/>
            <a:ext cx="9784080" cy="749808"/>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Examenul mutat mai devreme</a:t>
            </a:r>
            <a:endParaRPr lang="en-US" sz="2100" dirty="0"/>
          </a:p>
        </p:txBody>
      </p:sp>
      <p:sp>
        <p:nvSpPr>
          <p:cNvPr id="10" name="Shape 8"/>
          <p:cNvSpPr/>
          <p:nvPr/>
        </p:nvSpPr>
        <p:spPr>
          <a:xfrm>
            <a:off x="594360" y="2743200"/>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868680" y="2907792"/>
            <a:ext cx="420624" cy="420624"/>
          </a:xfrm>
          <a:prstGeom prst="ellipse">
            <a:avLst/>
          </a:prstGeom>
          <a:solidFill>
            <a:srgbClr val="FFC24B"/>
          </a:solidFill>
          <a:ln/>
        </p:spPr>
        <p:txBody>
          <a:bodyPr/>
          <a:p/>
        </p:txBody>
      </p:sp>
      <p:sp>
        <p:nvSpPr>
          <p:cNvPr id="12" name="Text 10"/>
          <p:cNvSpPr/>
          <p:nvPr/>
        </p:nvSpPr>
        <p:spPr>
          <a:xfrm>
            <a:off x="868680" y="29077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743200"/>
            <a:ext cx="9784080" cy="749808"/>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Profesorul nou, cu bibliografie nouă</a:t>
            </a:r>
            <a:endParaRPr lang="en-US" sz="2100" dirty="0"/>
          </a:p>
        </p:txBody>
      </p:sp>
      <p:sp>
        <p:nvSpPr>
          <p:cNvPr id="14" name="Shape 12"/>
          <p:cNvSpPr/>
          <p:nvPr/>
        </p:nvSpPr>
        <p:spPr>
          <a:xfrm>
            <a:off x="594360" y="3657600"/>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868680" y="3822192"/>
            <a:ext cx="420624" cy="420624"/>
          </a:xfrm>
          <a:prstGeom prst="ellipse">
            <a:avLst/>
          </a:prstGeom>
          <a:solidFill>
            <a:srgbClr val="FFC24B"/>
          </a:solidFill>
          <a:ln/>
        </p:spPr>
        <p:txBody>
          <a:bodyPr/>
          <a:p/>
        </p:txBody>
      </p:sp>
      <p:sp>
        <p:nvSpPr>
          <p:cNvPr id="16" name="Text 14"/>
          <p:cNvSpPr/>
          <p:nvPr/>
        </p:nvSpPr>
        <p:spPr>
          <a:xfrm>
            <a:off x="868680" y="38221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657600"/>
            <a:ext cx="9784080" cy="749808"/>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Examenul care a devenit greu</a:t>
            </a:r>
            <a:endParaRPr lang="en-US" sz="2100" dirty="0"/>
          </a:p>
        </p:txBody>
      </p:sp>
      <p:sp>
        <p:nvSpPr>
          <p:cNvPr id="18" name="Text 16"/>
          <p:cNvSpPr/>
          <p:nvPr/>
        </p:nvSpPr>
        <p:spPr>
          <a:xfrm>
            <a:off x="594360" y="4754880"/>
            <a:ext cx="10972800" cy="4572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O singură variantă. Rezultatele apar după închiderea votului.</a:t>
            </a:r>
            <a:endParaRPr lang="en-US" sz="1700" dirty="0"/>
          </a:p>
        </p:txBody>
      </p:sp>
      <p:sp>
        <p:nvSpPr>
          <p:cNvPr id="19" name="Text 17"/>
          <p:cNvSpPr/>
          <p:nvPr/>
        </p:nvSpPr>
        <p:spPr>
          <a:xfrm>
            <a:off x="594360" y="544068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PRIM RĂSPUNS, PROVIZORIU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Planul se sprijină pe presupuneri despre viitor</a:t>
            </a:r>
            <a:endParaRPr lang="en-US" sz="3000" dirty="0"/>
          </a:p>
        </p:txBody>
      </p:sp>
      <p:sp>
        <p:nvSpPr>
          <p:cNvPr id="4" name="Shape 2"/>
          <p:cNvSpPr/>
          <p:nvPr/>
        </p:nvSpPr>
        <p:spPr>
          <a:xfrm>
            <a:off x="594360" y="1600200"/>
            <a:ext cx="10972800" cy="1554480"/>
          </a:xfrm>
          <a:prstGeom prst="roundRect">
            <a:avLst>
              <a:gd name="adj" fmla="val 5294"/>
            </a:avLst>
          </a:prstGeom>
          <a:solidFill>
            <a:srgbClr val="ECEAE4"/>
          </a:solidFill>
          <a:ln w="12700">
            <a:solidFill>
              <a:srgbClr val="ECEAE4"/>
            </a:solidFill>
            <a:prstDash val="solid"/>
          </a:ln>
        </p:spPr>
        <p:txBody>
          <a:bodyPr/>
          <a:p/>
        </p:txBody>
      </p:sp>
      <p:sp>
        <p:nvSpPr>
          <p:cNvPr id="5" name="Text 3"/>
          <p:cNvSpPr/>
          <p:nvPr/>
        </p:nvSpPr>
        <p:spPr>
          <a:xfrm>
            <a:off x="868680" y="1600200"/>
            <a:ext cx="10424160" cy="1554480"/>
          </a:xfrm>
          <a:prstGeom prst="rect">
            <a:avLst/>
          </a:prstGeom>
          <a:noFill/>
          <a:ln/>
        </p:spPr>
        <p:txBody>
          <a:bodyPr wrap="square" lIns="0" tIns="0" rIns="0" bIns="0" rtlCol="0" anchor="ctr"/>
          <a:lstStyle/>
          <a:p>
            <a:pPr indent="0" marL="0">
              <a:buNone/>
            </a:pPr>
            <a:r>
              <a:rPr lang="en-US" sz="2100" b="1" dirty="0">
                <a:solidFill>
                  <a:srgbClr val="11121A"/>
                </a:solidFill>
                <a:latin typeface="Palatino Linotype" pitchFamily="34" charset="0"/>
                <a:ea typeface="Palatino Linotype" pitchFamily="34" charset="-122"/>
                <a:cs typeface="Palatino Linotype" pitchFamily="34" charset="-120"/>
              </a:rPr>
              <a:t>Succesul unei organizații depinde de o strategie potrivită nu trecutului și nici prezentului, ci unor presupuneri bine informate și credibile despre viitor.</a:t>
            </a:r>
            <a:endParaRPr lang="en-US" sz="2100" dirty="0"/>
          </a:p>
        </p:txBody>
      </p:sp>
      <p:sp>
        <p:nvSpPr>
          <p:cNvPr id="6" name="Shape 4"/>
          <p:cNvSpPr/>
          <p:nvPr/>
        </p:nvSpPr>
        <p:spPr>
          <a:xfrm>
            <a:off x="594360" y="3474720"/>
            <a:ext cx="54864" cy="1234440"/>
          </a:xfrm>
          <a:prstGeom prst="rect">
            <a:avLst/>
          </a:prstGeom>
          <a:solidFill>
            <a:srgbClr val="B02532"/>
          </a:solidFill>
          <a:ln w="12700">
            <a:solidFill>
              <a:srgbClr val="B02532"/>
            </a:solidFill>
            <a:prstDash val="solid"/>
          </a:ln>
        </p:spPr>
        <p:txBody>
          <a:bodyPr/>
          <a:p/>
        </p:txBody>
      </p:sp>
      <p:sp>
        <p:nvSpPr>
          <p:cNvPr id="7" name="Text 5"/>
          <p:cNvSpPr/>
          <p:nvPr/>
        </p:nvSpPr>
        <p:spPr>
          <a:xfrm>
            <a:off x="868680" y="3474720"/>
            <a:ext cx="4937760" cy="365760"/>
          </a:xfrm>
          <a:prstGeom prst="rect">
            <a:avLst/>
          </a:prstGeom>
          <a:noFill/>
          <a:ln/>
        </p:spPr>
        <p:txBody>
          <a:bodyPr wrap="square" lIns="0" tIns="0" rIns="0" bIns="0" rtlCol="0" anchor="t"/>
          <a:lstStyle/>
          <a:p>
            <a:pPr indent="0" marL="0">
              <a:buNone/>
            </a:pPr>
            <a:r>
              <a:rPr lang="en-US" sz="1400" b="1" spc="200" kern="0" dirty="0">
                <a:solidFill>
                  <a:srgbClr val="B02532"/>
                </a:solidFill>
                <a:latin typeface="Palatino Linotype" pitchFamily="34" charset="0"/>
                <a:ea typeface="Palatino Linotype" pitchFamily="34" charset="-122"/>
                <a:cs typeface="Palatino Linotype" pitchFamily="34" charset="-120"/>
              </a:rPr>
              <a:t>ARTA</a:t>
            </a:r>
            <a:endParaRPr lang="en-US" sz="1400" dirty="0"/>
          </a:p>
        </p:txBody>
      </p:sp>
      <p:sp>
        <p:nvSpPr>
          <p:cNvPr id="8" name="Text 6"/>
          <p:cNvSpPr/>
          <p:nvPr/>
        </p:nvSpPr>
        <p:spPr>
          <a:xfrm>
            <a:off x="868680" y="3886200"/>
            <a:ext cx="4937760" cy="82296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Gândirea strategică, din prima ședință.</a:t>
            </a:r>
            <a:endParaRPr lang="en-US" sz="1900" dirty="0"/>
          </a:p>
        </p:txBody>
      </p:sp>
      <p:sp>
        <p:nvSpPr>
          <p:cNvPr id="9" name="Shape 7"/>
          <p:cNvSpPr/>
          <p:nvPr/>
        </p:nvSpPr>
        <p:spPr>
          <a:xfrm>
            <a:off x="6172200" y="3474720"/>
            <a:ext cx="54864" cy="1234440"/>
          </a:xfrm>
          <a:prstGeom prst="rect">
            <a:avLst/>
          </a:prstGeom>
          <a:solidFill>
            <a:srgbClr val="0E7C6B"/>
          </a:solidFill>
          <a:ln w="12700">
            <a:solidFill>
              <a:srgbClr val="0E7C6B"/>
            </a:solidFill>
            <a:prstDash val="solid"/>
          </a:ln>
        </p:spPr>
        <p:txBody>
          <a:bodyPr/>
          <a:p/>
        </p:txBody>
      </p:sp>
      <p:sp>
        <p:nvSpPr>
          <p:cNvPr id="10" name="Text 8"/>
          <p:cNvSpPr/>
          <p:nvPr/>
        </p:nvSpPr>
        <p:spPr>
          <a:xfrm>
            <a:off x="6446520" y="3474720"/>
            <a:ext cx="4937760" cy="365760"/>
          </a:xfrm>
          <a:prstGeom prst="rect">
            <a:avLst/>
          </a:prstGeom>
          <a:noFill/>
          <a:ln/>
        </p:spPr>
        <p:txBody>
          <a:bodyPr wrap="square" lIns="0" tIns="0" rIns="0" bIns="0" rtlCol="0" anchor="t"/>
          <a:lstStyle/>
          <a:p>
            <a:pPr indent="0" marL="0">
              <a:buNone/>
            </a:pPr>
            <a:r>
              <a:rPr lang="en-US" sz="1400" b="1" spc="200" kern="0" dirty="0">
                <a:solidFill>
                  <a:srgbClr val="0E7C6B"/>
                </a:solidFill>
                <a:latin typeface="Palatino Linotype" pitchFamily="34" charset="0"/>
                <a:ea typeface="Palatino Linotype" pitchFamily="34" charset="-122"/>
                <a:cs typeface="Palatino Linotype" pitchFamily="34" charset="-120"/>
              </a:rPr>
              <a:t>ȘTIINȚA</a:t>
            </a:r>
            <a:endParaRPr lang="en-US" sz="1400" dirty="0"/>
          </a:p>
        </p:txBody>
      </p:sp>
      <p:sp>
        <p:nvSpPr>
          <p:cNvPr id="11" name="Text 9"/>
          <p:cNvSpPr/>
          <p:nvPr/>
        </p:nvSpPr>
        <p:spPr>
          <a:xfrm>
            <a:off x="6446520" y="3886200"/>
            <a:ext cx="4937760" cy="82296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Analiza riguroasă a mediului extern, tema ședinței de azi.</a:t>
            </a:r>
            <a:endParaRPr lang="en-US" sz="1900" dirty="0"/>
          </a:p>
        </p:txBody>
      </p:sp>
      <p:sp>
        <p:nvSpPr>
          <p:cNvPr id="12" name="Text 10"/>
          <p:cNvSpPr/>
          <p:nvPr/>
        </p:nvSpPr>
        <p:spPr>
          <a:xfrm>
            <a:off x="594360" y="5120640"/>
            <a:ext cx="10972800" cy="73152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Împreună, ele dau presupuneri realiste despre viitor, pe care se poate construi o strategie.</a:t>
            </a:r>
            <a:endParaRPr lang="en-US" sz="19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NOR DE CUVINTE</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SINGUR CUVÂNT</a:t>
            </a:r>
            <a:endParaRPr lang="en-US" sz="1300" dirty="0"/>
          </a:p>
        </p:txBody>
      </p:sp>
      <p:sp>
        <p:nvSpPr>
          <p:cNvPr id="5" name="Text 3"/>
          <p:cNvSpPr/>
          <p:nvPr/>
        </p:nvSpPr>
        <p:spPr>
          <a:xfrm>
            <a:off x="594360" y="1097280"/>
            <a:ext cx="10789920" cy="2560320"/>
          </a:xfrm>
          <a:prstGeom prst="rect">
            <a:avLst/>
          </a:prstGeom>
          <a:noFill/>
          <a:ln/>
        </p:spPr>
        <p:txBody>
          <a:bodyPr wrap="square" lIns="0" tIns="0" rIns="0" bIns="0" rtlCol="0" anchor="ctr"/>
          <a:lstStyle/>
          <a:p>
            <a:pPr indent="0" marL="0">
              <a:buNone/>
            </a:pPr>
            <a:r>
              <a:rPr lang="en-US" sz="4200" b="1" dirty="0">
                <a:solidFill>
                  <a:srgbClr val="FFFFFF"/>
                </a:solidFill>
                <a:latin typeface="Palatino Linotype" pitchFamily="34" charset="0"/>
                <a:ea typeface="Palatino Linotype" pitchFamily="34" charset="-122"/>
                <a:cs typeface="Palatino Linotype" pitchFamily="34" charset="-120"/>
              </a:rPr>
              <a:t>Ce s-a schimbat în ultimii ani în jurul spitalului din orașul vostru?</a:t>
            </a:r>
            <a:endParaRPr lang="en-US" sz="4200" dirty="0"/>
          </a:p>
        </p:txBody>
      </p:sp>
      <p:sp>
        <p:nvSpPr>
          <p:cNvPr id="6" name="Text 4"/>
          <p:cNvSpPr/>
          <p:nvPr/>
        </p:nvSpPr>
        <p:spPr>
          <a:xfrm>
            <a:off x="594360" y="4023360"/>
            <a:ext cx="10058400" cy="91440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Cuvintele cele mai frecvente apar mai mari. Norul rămâne pe ecran și îl folosim în a doua parte a ședinței.</a:t>
            </a:r>
            <a:endParaRPr lang="en-US" sz="2000" dirty="0"/>
          </a:p>
        </p:txBody>
      </p:sp>
      <p:sp>
        <p:nvSpPr>
          <p:cNvPr id="7" name="Text 5"/>
          <p:cNvSpPr/>
          <p:nvPr/>
        </p:nvSpPr>
        <p:spPr>
          <a:xfrm>
            <a:off x="594360" y="521208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PRIMUL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Analiza mediului extern</a:t>
            </a:r>
            <a:endParaRPr lang="en-US" sz="3600" dirty="0"/>
          </a:p>
        </p:txBody>
      </p:sp>
      <p:sp>
        <p:nvSpPr>
          <p:cNvPr id="4" name="Text 2"/>
          <p:cNvSpPr/>
          <p:nvPr/>
        </p:nvSpPr>
        <p:spPr>
          <a:xfrm>
            <a:off x="594360" y="1554480"/>
            <a:ext cx="10972800" cy="9144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Activitatea prin care se identifică, se adună și se interpretează problemele din afara unei organizații, ca să se stabilească ce înseamnă ele pentru organizație.</a:t>
            </a:r>
            <a:endParaRPr lang="en-US" sz="1800" dirty="0"/>
          </a:p>
        </p:txBody>
      </p:sp>
      <p:sp>
        <p:nvSpPr>
          <p:cNvPr id="5" name="Shape 3"/>
          <p:cNvSpPr/>
          <p:nvPr/>
        </p:nvSpPr>
        <p:spPr>
          <a:xfrm>
            <a:off x="594360" y="2606040"/>
            <a:ext cx="10972800" cy="1005840"/>
          </a:xfrm>
          <a:prstGeom prst="roundRect">
            <a:avLst>
              <a:gd name="adj" fmla="val 8182"/>
            </a:avLst>
          </a:prstGeom>
          <a:solidFill>
            <a:srgbClr val="FF4757"/>
          </a:solidFill>
          <a:ln w="12700">
            <a:solidFill>
              <a:srgbClr val="FF4757"/>
            </a:solidFill>
            <a:prstDash val="solid"/>
          </a:ln>
        </p:spPr>
        <p:txBody>
          <a:bodyPr/>
          <a:p/>
        </p:txBody>
      </p:sp>
      <p:sp>
        <p:nvSpPr>
          <p:cNvPr id="6" name="Text 4"/>
          <p:cNvSpPr/>
          <p:nvPr/>
        </p:nvSpPr>
        <p:spPr>
          <a:xfrm>
            <a:off x="868680" y="2606040"/>
            <a:ext cx="10424160" cy="1005840"/>
          </a:xfrm>
          <a:prstGeom prst="rect">
            <a:avLst/>
          </a:prstGeom>
          <a:noFill/>
          <a:ln/>
        </p:spPr>
        <p:txBody>
          <a:bodyPr wrap="square" lIns="0" tIns="0" rIns="0" bIns="0" rtlCol="0" anchor="ctr"/>
          <a:lstStyle/>
          <a:p>
            <a:pPr indent="0" marL="0">
              <a:buNone/>
            </a:pPr>
            <a:r>
              <a:rPr lang="en-US" sz="2000" b="1" dirty="0">
                <a:solidFill>
                  <a:srgbClr val="2E060B"/>
                </a:solidFill>
                <a:latin typeface="Palatino Linotype" pitchFamily="34" charset="0"/>
                <a:ea typeface="Palatino Linotype" pitchFamily="34" charset="-122"/>
                <a:cs typeface="Palatino Linotype" pitchFamily="34" charset="-120"/>
              </a:rPr>
              <a:t>În cuvinte de zi cu zi: a privi sistematic ce se schimbă în afara organizației și a hotărî ce contează pentru ea.</a:t>
            </a:r>
            <a:endParaRPr lang="en-US" sz="2000" dirty="0"/>
          </a:p>
        </p:txBody>
      </p:sp>
      <p:sp>
        <p:nvSpPr>
          <p:cNvPr id="7" name="Shape 5"/>
          <p:cNvSpPr/>
          <p:nvPr/>
        </p:nvSpPr>
        <p:spPr>
          <a:xfrm>
            <a:off x="594360" y="3886200"/>
            <a:ext cx="3520440" cy="2011680"/>
          </a:xfrm>
          <a:prstGeom prst="roundRect">
            <a:avLst>
              <a:gd name="adj" fmla="val 4091"/>
            </a:avLst>
          </a:prstGeom>
          <a:solidFill>
            <a:srgbClr val="ECEAE4"/>
          </a:solidFill>
          <a:ln w="12700">
            <a:solidFill>
              <a:srgbClr val="ECEAE4"/>
            </a:solidFill>
            <a:prstDash val="solid"/>
          </a:ln>
        </p:spPr>
        <p:txBody>
          <a:bodyPr/>
          <a:p/>
        </p:txBody>
      </p:sp>
      <p:sp>
        <p:nvSpPr>
          <p:cNvPr id="8" name="Text 6"/>
          <p:cNvSpPr/>
          <p:nvPr/>
        </p:nvSpPr>
        <p:spPr>
          <a:xfrm>
            <a:off x="868680" y="4023360"/>
            <a:ext cx="3017520" cy="365760"/>
          </a:xfrm>
          <a:prstGeom prst="rect">
            <a:avLst/>
          </a:prstGeom>
          <a:noFill/>
          <a:ln/>
        </p:spPr>
        <p:txBody>
          <a:bodyPr wrap="square" lIns="0" tIns="0" rIns="0" bIns="0" rtlCol="0" anchor="t"/>
          <a:lstStyle/>
          <a:p>
            <a:pPr indent="0" marL="0">
              <a:buNone/>
            </a:pPr>
            <a:r>
              <a:rPr lang="en-US" sz="1400" b="1" spc="200" kern="0" dirty="0">
                <a:solidFill>
                  <a:srgbClr val="0E7C6B"/>
                </a:solidFill>
                <a:latin typeface="Palatino Linotype" pitchFamily="34" charset="0"/>
                <a:ea typeface="Palatino Linotype" pitchFamily="34" charset="-122"/>
                <a:cs typeface="Palatino Linotype" pitchFamily="34" charset="-120"/>
              </a:rPr>
              <a:t>A IDENTIFICA</a:t>
            </a:r>
            <a:endParaRPr lang="en-US" sz="1400" dirty="0"/>
          </a:p>
        </p:txBody>
      </p:sp>
      <p:sp>
        <p:nvSpPr>
          <p:cNvPr id="9" name="Text 7"/>
          <p:cNvSpPr/>
          <p:nvPr/>
        </p:nvSpPr>
        <p:spPr>
          <a:xfrm>
            <a:off x="868680" y="4434840"/>
            <a:ext cx="301752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 observa schimbarea</a:t>
            </a:r>
            <a:endParaRPr lang="en-US" sz="1600" dirty="0"/>
          </a:p>
        </p:txBody>
      </p:sp>
      <p:sp>
        <p:nvSpPr>
          <p:cNvPr id="10" name="Shape 8"/>
          <p:cNvSpPr/>
          <p:nvPr/>
        </p:nvSpPr>
        <p:spPr>
          <a:xfrm>
            <a:off x="4343400" y="3886200"/>
            <a:ext cx="3520440" cy="2011680"/>
          </a:xfrm>
          <a:prstGeom prst="roundRect">
            <a:avLst>
              <a:gd name="adj" fmla="val 4091"/>
            </a:avLst>
          </a:prstGeom>
          <a:solidFill>
            <a:srgbClr val="F9F8F5"/>
          </a:solidFill>
          <a:ln w="12700">
            <a:solidFill>
              <a:srgbClr val="F9F8F5"/>
            </a:solidFill>
            <a:prstDash val="solid"/>
          </a:ln>
        </p:spPr>
        <p:txBody>
          <a:bodyPr/>
          <a:p/>
        </p:txBody>
      </p:sp>
      <p:sp>
        <p:nvSpPr>
          <p:cNvPr id="11" name="Text 9"/>
          <p:cNvSpPr/>
          <p:nvPr/>
        </p:nvSpPr>
        <p:spPr>
          <a:xfrm>
            <a:off x="4617720" y="4023360"/>
            <a:ext cx="3017520" cy="365760"/>
          </a:xfrm>
          <a:prstGeom prst="rect">
            <a:avLst/>
          </a:prstGeom>
          <a:noFill/>
          <a:ln/>
        </p:spPr>
        <p:txBody>
          <a:bodyPr wrap="square" lIns="0" tIns="0" rIns="0" bIns="0" rtlCol="0" anchor="t"/>
          <a:lstStyle/>
          <a:p>
            <a:pPr indent="0" marL="0">
              <a:buNone/>
            </a:pPr>
            <a:r>
              <a:rPr lang="en-US" sz="1400" b="1" spc="200" kern="0" dirty="0">
                <a:solidFill>
                  <a:srgbClr val="0E7C6B"/>
                </a:solidFill>
                <a:latin typeface="Palatino Linotype" pitchFamily="34" charset="0"/>
                <a:ea typeface="Palatino Linotype" pitchFamily="34" charset="-122"/>
                <a:cs typeface="Palatino Linotype" pitchFamily="34" charset="-120"/>
              </a:rPr>
              <a:t>A ADUNA</a:t>
            </a:r>
            <a:endParaRPr lang="en-US" sz="1400" dirty="0"/>
          </a:p>
        </p:txBody>
      </p:sp>
      <p:sp>
        <p:nvSpPr>
          <p:cNvPr id="12" name="Text 10"/>
          <p:cNvSpPr/>
          <p:nvPr/>
        </p:nvSpPr>
        <p:spPr>
          <a:xfrm>
            <a:off x="4617720" y="4434840"/>
            <a:ext cx="301752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 pune laolaltă semnale din locuri diferite</a:t>
            </a:r>
            <a:endParaRPr lang="en-US" sz="1600" dirty="0"/>
          </a:p>
        </p:txBody>
      </p:sp>
      <p:sp>
        <p:nvSpPr>
          <p:cNvPr id="13" name="Shape 11"/>
          <p:cNvSpPr/>
          <p:nvPr/>
        </p:nvSpPr>
        <p:spPr>
          <a:xfrm>
            <a:off x="8092440" y="3886200"/>
            <a:ext cx="3520440" cy="2011680"/>
          </a:xfrm>
          <a:prstGeom prst="roundRect">
            <a:avLst>
              <a:gd name="adj" fmla="val 4091"/>
            </a:avLst>
          </a:prstGeom>
          <a:solidFill>
            <a:srgbClr val="ECEAE4"/>
          </a:solidFill>
          <a:ln w="12700">
            <a:solidFill>
              <a:srgbClr val="ECEAE4"/>
            </a:solidFill>
            <a:prstDash val="solid"/>
          </a:ln>
        </p:spPr>
        <p:txBody>
          <a:bodyPr/>
          <a:p/>
        </p:txBody>
      </p:sp>
      <p:sp>
        <p:nvSpPr>
          <p:cNvPr id="14" name="Text 12"/>
          <p:cNvSpPr/>
          <p:nvPr/>
        </p:nvSpPr>
        <p:spPr>
          <a:xfrm>
            <a:off x="8366760" y="4023360"/>
            <a:ext cx="3017520" cy="365760"/>
          </a:xfrm>
          <a:prstGeom prst="rect">
            <a:avLst/>
          </a:prstGeom>
          <a:noFill/>
          <a:ln/>
        </p:spPr>
        <p:txBody>
          <a:bodyPr wrap="square" lIns="0" tIns="0" rIns="0" bIns="0" rtlCol="0" anchor="t"/>
          <a:lstStyle/>
          <a:p>
            <a:pPr indent="0" marL="0">
              <a:buNone/>
            </a:pPr>
            <a:r>
              <a:rPr lang="en-US" sz="1400" b="1" spc="200" kern="0" dirty="0">
                <a:solidFill>
                  <a:srgbClr val="0E7C6B"/>
                </a:solidFill>
                <a:latin typeface="Palatino Linotype" pitchFamily="34" charset="0"/>
                <a:ea typeface="Palatino Linotype" pitchFamily="34" charset="-122"/>
                <a:cs typeface="Palatino Linotype" pitchFamily="34" charset="-120"/>
              </a:rPr>
              <a:t>A INTERPRETA</a:t>
            </a:r>
            <a:endParaRPr lang="en-US" sz="1400" dirty="0"/>
          </a:p>
        </p:txBody>
      </p:sp>
      <p:sp>
        <p:nvSpPr>
          <p:cNvPr id="15" name="Text 13"/>
          <p:cNvSpPr/>
          <p:nvPr/>
        </p:nvSpPr>
        <p:spPr>
          <a:xfrm>
            <a:off x="8366760" y="4434840"/>
            <a:ext cx="3017520" cy="13716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 spune ce înseamnă pentru organizația voastră</a:t>
            </a:r>
            <a:endParaRPr lang="en-US" sz="16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UNDE STĂ ÎN PROCESUL STRATEGIC</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Primul pas: analiza situației</a:t>
            </a:r>
            <a:endParaRPr lang="en-US" sz="3400" dirty="0"/>
          </a:p>
        </p:txBody>
      </p:sp>
      <p:sp>
        <p:nvSpPr>
          <p:cNvPr id="4" name="Shape 2"/>
          <p:cNvSpPr/>
          <p:nvPr/>
        </p:nvSpPr>
        <p:spPr>
          <a:xfrm>
            <a:off x="594360" y="1691640"/>
            <a:ext cx="7498080" cy="3017520"/>
          </a:xfrm>
          <a:prstGeom prst="roundRect">
            <a:avLst>
              <a:gd name="adj" fmla="val 2727"/>
            </a:avLst>
          </a:prstGeom>
          <a:solidFill>
            <a:srgbClr val="ECEAE4"/>
          </a:solidFill>
          <a:ln w="12700">
            <a:solidFill>
              <a:srgbClr val="ECEAE4"/>
            </a:solidFill>
            <a:prstDash val="solid"/>
          </a:ln>
        </p:spPr>
        <p:txBody>
          <a:bodyPr/>
          <a:p/>
        </p:txBody>
      </p:sp>
      <p:sp>
        <p:nvSpPr>
          <p:cNvPr id="5" name="Text 3"/>
          <p:cNvSpPr/>
          <p:nvPr/>
        </p:nvSpPr>
        <p:spPr>
          <a:xfrm>
            <a:off x="868680" y="1828800"/>
            <a:ext cx="6949440" cy="36576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ANALIZA SITUAȚIEI · „unde suntem?”</a:t>
            </a:r>
            <a:endParaRPr lang="en-US" sz="1300" dirty="0"/>
          </a:p>
        </p:txBody>
      </p:sp>
      <p:sp>
        <p:nvSpPr>
          <p:cNvPr id="6" name="Shape 4"/>
          <p:cNvSpPr/>
          <p:nvPr/>
        </p:nvSpPr>
        <p:spPr>
          <a:xfrm>
            <a:off x="868680" y="2377440"/>
            <a:ext cx="3291840" cy="2011680"/>
          </a:xfrm>
          <a:prstGeom prst="roundRect">
            <a:avLst>
              <a:gd name="adj" fmla="val 4091"/>
            </a:avLst>
          </a:prstGeom>
          <a:solidFill>
            <a:srgbClr val="FF4757"/>
          </a:solidFill>
          <a:ln w="12700">
            <a:solidFill>
              <a:srgbClr val="FF4757"/>
            </a:solidFill>
            <a:prstDash val="solid"/>
          </a:ln>
        </p:spPr>
        <p:txBody>
          <a:bodyPr/>
          <a:p/>
        </p:txBody>
      </p:sp>
      <p:sp>
        <p:nvSpPr>
          <p:cNvPr id="7" name="Text 5"/>
          <p:cNvSpPr/>
          <p:nvPr/>
        </p:nvSpPr>
        <p:spPr>
          <a:xfrm>
            <a:off x="1097280" y="2377440"/>
            <a:ext cx="2926080" cy="2011680"/>
          </a:xfrm>
          <a:prstGeom prst="rect">
            <a:avLst/>
          </a:prstGeom>
          <a:noFill/>
          <a:ln/>
        </p:spPr>
        <p:txBody>
          <a:bodyPr wrap="square" lIns="0" tIns="0" rIns="0" bIns="0" rtlCol="0" anchor="ctr"/>
          <a:lstStyle/>
          <a:p>
            <a:pPr indent="0" marL="0">
              <a:buNone/>
            </a:pPr>
            <a:r>
              <a:rPr lang="en-US" sz="2100" b="1" dirty="0">
                <a:solidFill>
                  <a:srgbClr val="2E060B"/>
                </a:solidFill>
                <a:latin typeface="Palatino Linotype" pitchFamily="34" charset="0"/>
                <a:ea typeface="Palatino Linotype" pitchFamily="34" charset="-122"/>
                <a:cs typeface="Palatino Linotype" pitchFamily="34" charset="-120"/>
              </a:rPr>
              <a:t>Mediul extern</a:t>
            </a:r>
            <a:endParaRPr lang="en-US" sz="2100" dirty="0"/>
          </a:p>
          <a:p>
            <a:pPr indent="0" marL="0">
              <a:buNone/>
            </a:pPr>
            <a:r>
              <a:rPr lang="en-US" sz="1600" dirty="0">
                <a:solidFill>
                  <a:srgbClr val="2E060B"/>
                </a:solidFill>
                <a:latin typeface="Palatino Linotype" pitchFamily="34" charset="0"/>
                <a:ea typeface="Palatino Linotype" pitchFamily="34" charset="-122"/>
                <a:cs typeface="Palatino Linotype" pitchFamily="34" charset="-120"/>
              </a:rPr>
              <a:t>azi, în ședința aceasta</a:t>
            </a:r>
            <a:endParaRPr lang="en-US" sz="2100" dirty="0"/>
          </a:p>
        </p:txBody>
      </p:sp>
      <p:sp>
        <p:nvSpPr>
          <p:cNvPr id="8" name="Shape 6"/>
          <p:cNvSpPr/>
          <p:nvPr/>
        </p:nvSpPr>
        <p:spPr>
          <a:xfrm>
            <a:off x="4343400" y="2377440"/>
            <a:ext cx="3474720" cy="2011680"/>
          </a:xfrm>
          <a:prstGeom prst="roundRect">
            <a:avLst>
              <a:gd name="adj" fmla="val 4091"/>
            </a:avLst>
          </a:prstGeom>
          <a:solidFill>
            <a:srgbClr val="F9F8F5"/>
          </a:solidFill>
          <a:ln w="12700">
            <a:solidFill>
              <a:srgbClr val="F9F8F5"/>
            </a:solidFill>
            <a:prstDash val="solid"/>
          </a:ln>
        </p:spPr>
        <p:txBody>
          <a:bodyPr/>
          <a:p/>
        </p:txBody>
      </p:sp>
      <p:sp>
        <p:nvSpPr>
          <p:cNvPr id="9" name="Text 7"/>
          <p:cNvSpPr/>
          <p:nvPr/>
        </p:nvSpPr>
        <p:spPr>
          <a:xfrm>
            <a:off x="4572000" y="2377440"/>
            <a:ext cx="3108960" cy="2011680"/>
          </a:xfrm>
          <a:prstGeom prst="rect">
            <a:avLst/>
          </a:prstGeom>
          <a:noFill/>
          <a:ln/>
        </p:spPr>
        <p:txBody>
          <a:bodyPr wrap="square" lIns="0" tIns="0" rIns="0" bIns="0" rtlCol="0" anchor="ctr"/>
          <a:lstStyle/>
          <a:p>
            <a:pPr indent="0" marL="0">
              <a:buNone/>
            </a:pPr>
            <a:r>
              <a:rPr lang="en-US" sz="2100" b="1" dirty="0">
                <a:solidFill>
                  <a:srgbClr val="11121A"/>
                </a:solidFill>
                <a:latin typeface="Palatino Linotype" pitchFamily="34" charset="0"/>
                <a:ea typeface="Palatino Linotype" pitchFamily="34" charset="-122"/>
                <a:cs typeface="Palatino Linotype" pitchFamily="34" charset="-120"/>
              </a:rPr>
              <a:t>Mediul intern</a:t>
            </a:r>
            <a:endParaRPr lang="en-US" sz="2100" dirty="0"/>
          </a:p>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mai târziu în semestru</a:t>
            </a:r>
            <a:endParaRPr lang="en-US" sz="2100" dirty="0"/>
          </a:p>
        </p:txBody>
      </p:sp>
      <p:sp>
        <p:nvSpPr>
          <p:cNvPr id="10" name="Shape 8"/>
          <p:cNvSpPr/>
          <p:nvPr/>
        </p:nvSpPr>
        <p:spPr>
          <a:xfrm>
            <a:off x="8183880" y="3200400"/>
            <a:ext cx="548640" cy="9144"/>
          </a:xfrm>
          <a:prstGeom prst="line">
            <a:avLst/>
          </a:prstGeom>
          <a:noFill/>
          <a:ln w="31750">
            <a:solidFill>
              <a:srgbClr val="585A64"/>
            </a:solidFill>
            <a:prstDash val="solid"/>
            <a:tailEnd type="triangle"/>
          </a:ln>
        </p:spPr>
        <p:txBody>
          <a:bodyPr/>
          <a:p/>
        </p:txBody>
      </p:sp>
      <p:sp>
        <p:nvSpPr>
          <p:cNvPr id="11" name="Shape 9"/>
          <p:cNvSpPr/>
          <p:nvPr/>
        </p:nvSpPr>
        <p:spPr>
          <a:xfrm>
            <a:off x="8778240" y="2148840"/>
            <a:ext cx="2788920" cy="2103120"/>
          </a:xfrm>
          <a:prstGeom prst="roundRect">
            <a:avLst>
              <a:gd name="adj" fmla="val 3913"/>
            </a:avLst>
          </a:prstGeom>
          <a:solidFill>
            <a:srgbClr val="07564B"/>
          </a:solidFill>
          <a:ln w="12700">
            <a:solidFill>
              <a:srgbClr val="07564B"/>
            </a:solidFill>
            <a:prstDash val="solid"/>
          </a:ln>
        </p:spPr>
        <p:txBody>
          <a:bodyPr/>
          <a:p/>
        </p:txBody>
      </p:sp>
      <p:sp>
        <p:nvSpPr>
          <p:cNvPr id="12" name="Text 10"/>
          <p:cNvSpPr/>
          <p:nvPr/>
        </p:nvSpPr>
        <p:spPr>
          <a:xfrm>
            <a:off x="9006840" y="2148840"/>
            <a:ext cx="2377440" cy="210312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Informații pentru alegerea direcției strategice</a:t>
            </a:r>
            <a:endParaRPr lang="en-US" sz="1700" dirty="0"/>
          </a:p>
        </p:txBody>
      </p:sp>
      <p:sp>
        <p:nvSpPr>
          <p:cNvPr id="13" name="Text 11"/>
          <p:cNvSpPr/>
          <p:nvPr/>
        </p:nvSpPr>
        <p:spPr>
          <a:xfrm>
            <a:off x="594360" y="5029200"/>
            <a:ext cx="10972800" cy="822960"/>
          </a:xfrm>
          <a:prstGeom prst="rect">
            <a:avLst/>
          </a:prstGeom>
          <a:noFill/>
          <a:ln/>
        </p:spPr>
        <p:txBody>
          <a:bodyPr wrap="square" lIns="0" tIns="0" rIns="0" bIns="0" rtlCol="0" anchor="t"/>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Este întrebarea „unde suntem?”, pusă despre lumea din afara organizației.</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5486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CAZ CONSTRUIT PENTRU CURS</a:t>
            </a:r>
            <a:endParaRPr lang="en-US" sz="1300" dirty="0"/>
          </a:p>
        </p:txBody>
      </p:sp>
      <p:sp>
        <p:nvSpPr>
          <p:cNvPr id="3" name="Text 1"/>
          <p:cNvSpPr/>
          <p:nvPr/>
        </p:nvSpPr>
        <p:spPr>
          <a:xfrm>
            <a:off x="594360" y="731520"/>
            <a:ext cx="5120640" cy="13716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Spitalul municipal dintr-un oraș mic</a:t>
            </a:r>
            <a:endParaRPr lang="en-US" sz="3000" dirty="0"/>
          </a:p>
        </p:txBody>
      </p:sp>
      <p:sp>
        <p:nvSpPr>
          <p:cNvPr id="4" name="Text 2"/>
          <p:cNvSpPr/>
          <p:nvPr/>
        </p:nvSpPr>
        <p:spPr>
          <a:xfrm>
            <a:off x="594360" y="2286000"/>
            <a:ext cx="4937760" cy="237744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Managerul cere fiecărui șef de secție să noteze o schimbare din afara spitalului. Pe birou ajung trei.</a:t>
            </a:r>
            <a:endParaRPr lang="en-US" sz="1700" dirty="0"/>
          </a:p>
        </p:txBody>
      </p:sp>
      <p:sp>
        <p:nvSpPr>
          <p:cNvPr id="5" name="Text 3"/>
          <p:cNvSpPr/>
          <p:nvPr/>
        </p:nvSpPr>
        <p:spPr>
          <a:xfrm>
            <a:off x="594360" y="5029200"/>
            <a:ext cx="4937760" cy="822960"/>
          </a:xfrm>
          <a:prstGeom prst="rect">
            <a:avLst/>
          </a:prstGeom>
          <a:noFill/>
          <a:ln/>
        </p:spPr>
        <p:txBody>
          <a:bodyPr wrap="square" lIns="0" tIns="0" rIns="0" bIns="0" rtlCol="0" anchor="t"/>
          <a:lstStyle/>
          <a:p>
            <a:pPr indent="0" marL="0">
              <a:buNone/>
            </a:pPr>
            <a:r>
              <a:rPr lang="en-US" sz="1300" i="1" dirty="0">
                <a:solidFill>
                  <a:srgbClr val="8E94A8"/>
                </a:solidFill>
                <a:latin typeface="Palatino Linotype" pitchFamily="34" charset="0"/>
                <a:ea typeface="Palatino Linotype" pitchFamily="34" charset="-122"/>
                <a:cs typeface="Palatino Linotype" pitchFamily="34" charset="-120"/>
              </a:rPr>
              <a:t>Spitalul nu există; cele trei schimbări sunt reale.</a:t>
            </a:r>
            <a:endParaRPr lang="en-US" sz="1300" dirty="0"/>
          </a:p>
        </p:txBody>
      </p:sp>
      <p:sp>
        <p:nvSpPr>
          <p:cNvPr id="6" name="Shape 4"/>
          <p:cNvSpPr/>
          <p:nvPr/>
        </p:nvSpPr>
        <p:spPr>
          <a:xfrm>
            <a:off x="5989320" y="685800"/>
            <a:ext cx="5486400" cy="160020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5000"/>
              </a:srgbClr>
            </a:outerShdw>
          </a:effectLst>
        </p:spPr>
        <p:txBody>
          <a:bodyPr/>
          <a:p/>
        </p:txBody>
      </p:sp>
      <p:sp>
        <p:nvSpPr>
          <p:cNvPr id="7" name="Shape 5"/>
          <p:cNvSpPr/>
          <p:nvPr/>
        </p:nvSpPr>
        <p:spPr>
          <a:xfrm>
            <a:off x="5989320" y="685800"/>
            <a:ext cx="91440" cy="1600200"/>
          </a:xfrm>
          <a:prstGeom prst="rect">
            <a:avLst/>
          </a:prstGeom>
          <a:solidFill>
            <a:srgbClr val="FF4757"/>
          </a:solidFill>
          <a:ln w="12700">
            <a:solidFill>
              <a:srgbClr val="FF4757"/>
            </a:solidFill>
            <a:prstDash val="solid"/>
          </a:ln>
        </p:spPr>
        <p:txBody>
          <a:bodyPr/>
          <a:p/>
        </p:txBody>
      </p:sp>
      <p:sp>
        <p:nvSpPr>
          <p:cNvPr id="8" name="Text 6"/>
          <p:cNvSpPr/>
          <p:nvPr/>
        </p:nvSpPr>
        <p:spPr>
          <a:xfrm>
            <a:off x="6309360" y="822960"/>
            <a:ext cx="5029200" cy="320040"/>
          </a:xfrm>
          <a:prstGeom prst="rect">
            <a:avLst/>
          </a:prstGeom>
          <a:noFill/>
          <a:ln/>
        </p:spPr>
        <p:txBody>
          <a:bodyPr wrap="square" lIns="0" tIns="0" rIns="0" bIns="0" rtlCol="0" anchor="t"/>
          <a:lstStyle/>
          <a:p>
            <a:pPr indent="0" marL="0">
              <a:buNone/>
            </a:pPr>
            <a:r>
              <a:rPr lang="en-US" sz="1300" b="1" spc="100" kern="0" dirty="0">
                <a:solidFill>
                  <a:srgbClr val="11121A"/>
                </a:solidFill>
                <a:latin typeface="Palatino Linotype" pitchFamily="34" charset="0"/>
                <a:ea typeface="Palatino Linotype" pitchFamily="34" charset="-122"/>
                <a:cs typeface="Palatino Linotype" pitchFamily="34" charset="-120"/>
              </a:rPr>
              <a:t>SEMNALUL 1 · MEDICINĂ INTERNĂ</a:t>
            </a:r>
            <a:endParaRPr lang="en-US" sz="1300" dirty="0"/>
          </a:p>
        </p:txBody>
      </p:sp>
      <p:sp>
        <p:nvSpPr>
          <p:cNvPr id="9" name="Text 7"/>
          <p:cNvSpPr/>
          <p:nvPr/>
        </p:nvSpPr>
        <p:spPr>
          <a:xfrm>
            <a:off x="6309360" y="1188720"/>
            <a:ext cx="4983480" cy="10058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Pacienții internați sunt tot mai vârstnici, cu mai multe boli cronice.</a:t>
            </a:r>
            <a:endParaRPr lang="en-US" sz="1600" dirty="0"/>
          </a:p>
        </p:txBody>
      </p:sp>
      <p:sp>
        <p:nvSpPr>
          <p:cNvPr id="10" name="Shape 8"/>
          <p:cNvSpPr/>
          <p:nvPr/>
        </p:nvSpPr>
        <p:spPr>
          <a:xfrm>
            <a:off x="6099048" y="2468880"/>
            <a:ext cx="5486400" cy="160020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5000"/>
              </a:srgbClr>
            </a:outerShdw>
          </a:effectLst>
        </p:spPr>
        <p:txBody>
          <a:bodyPr/>
          <a:p/>
        </p:txBody>
      </p:sp>
      <p:sp>
        <p:nvSpPr>
          <p:cNvPr id="11" name="Shape 9"/>
          <p:cNvSpPr/>
          <p:nvPr/>
        </p:nvSpPr>
        <p:spPr>
          <a:xfrm>
            <a:off x="6099048" y="2468880"/>
            <a:ext cx="91440" cy="1600200"/>
          </a:xfrm>
          <a:prstGeom prst="rect">
            <a:avLst/>
          </a:prstGeom>
          <a:solidFill>
            <a:srgbClr val="FFC24B"/>
          </a:solidFill>
          <a:ln w="12700">
            <a:solidFill>
              <a:srgbClr val="FFC24B"/>
            </a:solidFill>
            <a:prstDash val="solid"/>
          </a:ln>
        </p:spPr>
        <p:txBody>
          <a:bodyPr/>
          <a:p/>
        </p:txBody>
      </p:sp>
      <p:sp>
        <p:nvSpPr>
          <p:cNvPr id="12" name="Text 10"/>
          <p:cNvSpPr/>
          <p:nvPr/>
        </p:nvSpPr>
        <p:spPr>
          <a:xfrm>
            <a:off x="6419088" y="2606040"/>
            <a:ext cx="5029200" cy="320040"/>
          </a:xfrm>
          <a:prstGeom prst="rect">
            <a:avLst/>
          </a:prstGeom>
          <a:noFill/>
          <a:ln/>
        </p:spPr>
        <p:txBody>
          <a:bodyPr wrap="square" lIns="0" tIns="0" rIns="0" bIns="0" rtlCol="0" anchor="t"/>
          <a:lstStyle/>
          <a:p>
            <a:pPr indent="0" marL="0">
              <a:buNone/>
            </a:pPr>
            <a:r>
              <a:rPr lang="en-US" sz="1300" b="1" spc="100" kern="0" dirty="0">
                <a:solidFill>
                  <a:srgbClr val="11121A"/>
                </a:solidFill>
                <a:latin typeface="Palatino Linotype" pitchFamily="34" charset="0"/>
                <a:ea typeface="Palatino Linotype" pitchFamily="34" charset="-122"/>
                <a:cs typeface="Palatino Linotype" pitchFamily="34" charset="-120"/>
              </a:rPr>
              <a:t>SEMNALUL 2 · CHIRURGIE</a:t>
            </a:r>
            <a:endParaRPr lang="en-US" sz="1300" dirty="0"/>
          </a:p>
        </p:txBody>
      </p:sp>
      <p:sp>
        <p:nvSpPr>
          <p:cNvPr id="13" name="Text 11"/>
          <p:cNvSpPr/>
          <p:nvPr/>
        </p:nvSpPr>
        <p:spPr>
          <a:xfrm>
            <a:off x="6419088" y="2971800"/>
            <a:ext cx="4983480" cy="10058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Doi medici tineri au plecat. Postul scos la concurs nu a avut niciun candidat.</a:t>
            </a:r>
            <a:endParaRPr lang="en-US" sz="1600" dirty="0"/>
          </a:p>
        </p:txBody>
      </p:sp>
      <p:sp>
        <p:nvSpPr>
          <p:cNvPr id="14" name="Shape 12"/>
          <p:cNvSpPr/>
          <p:nvPr/>
        </p:nvSpPr>
        <p:spPr>
          <a:xfrm>
            <a:off x="6208776" y="4251960"/>
            <a:ext cx="5486400" cy="160020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5000"/>
              </a:srgbClr>
            </a:outerShdw>
          </a:effectLst>
        </p:spPr>
        <p:txBody>
          <a:bodyPr/>
          <a:p/>
        </p:txBody>
      </p:sp>
      <p:sp>
        <p:nvSpPr>
          <p:cNvPr id="15" name="Shape 13"/>
          <p:cNvSpPr/>
          <p:nvPr/>
        </p:nvSpPr>
        <p:spPr>
          <a:xfrm>
            <a:off x="6208776" y="4251960"/>
            <a:ext cx="91440" cy="1600200"/>
          </a:xfrm>
          <a:prstGeom prst="rect">
            <a:avLst/>
          </a:prstGeom>
          <a:solidFill>
            <a:srgbClr val="27D3BE"/>
          </a:solidFill>
          <a:ln w="12700">
            <a:solidFill>
              <a:srgbClr val="27D3BE"/>
            </a:solidFill>
            <a:prstDash val="solid"/>
          </a:ln>
        </p:spPr>
        <p:txBody>
          <a:bodyPr/>
          <a:p/>
        </p:txBody>
      </p:sp>
      <p:sp>
        <p:nvSpPr>
          <p:cNvPr id="16" name="Text 14"/>
          <p:cNvSpPr/>
          <p:nvPr/>
        </p:nvSpPr>
        <p:spPr>
          <a:xfrm>
            <a:off x="6528816" y="4389120"/>
            <a:ext cx="5029200" cy="320040"/>
          </a:xfrm>
          <a:prstGeom prst="rect">
            <a:avLst/>
          </a:prstGeom>
          <a:noFill/>
          <a:ln/>
        </p:spPr>
        <p:txBody>
          <a:bodyPr wrap="square" lIns="0" tIns="0" rIns="0" bIns="0" rtlCol="0" anchor="t"/>
          <a:lstStyle/>
          <a:p>
            <a:pPr indent="0" marL="0">
              <a:buNone/>
            </a:pPr>
            <a:r>
              <a:rPr lang="en-US" sz="1300" b="1" spc="100" kern="0" dirty="0">
                <a:solidFill>
                  <a:srgbClr val="11121A"/>
                </a:solidFill>
                <a:latin typeface="Palatino Linotype" pitchFamily="34" charset="0"/>
                <a:ea typeface="Palatino Linotype" pitchFamily="34" charset="-122"/>
                <a:cs typeface="Palatino Linotype" pitchFamily="34" charset="-120"/>
              </a:rPr>
              <a:t>SEMNALUL 3 · MEDIC DE FAMILIE</a:t>
            </a:r>
            <a:endParaRPr lang="en-US" sz="1300" dirty="0"/>
          </a:p>
        </p:txBody>
      </p:sp>
      <p:sp>
        <p:nvSpPr>
          <p:cNvPr id="17" name="Text 15"/>
          <p:cNvSpPr/>
          <p:nvPr/>
        </p:nvSpPr>
        <p:spPr>
          <a:xfrm>
            <a:off x="6528816" y="4754880"/>
            <a:ext cx="4983480" cy="10058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Pacienții din comune renunță la consultații: drumul e lung și scump.</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ÎNTREBAREA 3</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Care semnal intră primul în planul spitalului?</a:t>
            </a:r>
            <a:endParaRPr lang="en-US" sz="3200" dirty="0"/>
          </a:p>
        </p:txBody>
      </p:sp>
      <p:sp>
        <p:nvSpPr>
          <p:cNvPr id="6" name="Shape 4"/>
          <p:cNvSpPr/>
          <p:nvPr/>
        </p:nvSpPr>
        <p:spPr>
          <a:xfrm>
            <a:off x="594360" y="1828800"/>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868680" y="1993392"/>
            <a:ext cx="420624" cy="420624"/>
          </a:xfrm>
          <a:prstGeom prst="ellipse">
            <a:avLst/>
          </a:prstGeom>
          <a:solidFill>
            <a:srgbClr val="FFC24B"/>
          </a:solidFill>
          <a:ln/>
        </p:spPr>
        <p:txBody>
          <a:bodyPr/>
          <a:p/>
        </p:txBody>
      </p:sp>
      <p:sp>
        <p:nvSpPr>
          <p:cNvPr id="8" name="Text 6"/>
          <p:cNvSpPr/>
          <p:nvPr/>
        </p:nvSpPr>
        <p:spPr>
          <a:xfrm>
            <a:off x="868680" y="19933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828800"/>
            <a:ext cx="9784080" cy="749808"/>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Pacienții tot mai vârstnici</a:t>
            </a:r>
            <a:endParaRPr lang="en-US" sz="2100" dirty="0"/>
          </a:p>
        </p:txBody>
      </p:sp>
      <p:sp>
        <p:nvSpPr>
          <p:cNvPr id="10" name="Shape 8"/>
          <p:cNvSpPr/>
          <p:nvPr/>
        </p:nvSpPr>
        <p:spPr>
          <a:xfrm>
            <a:off x="594360" y="2743200"/>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868680" y="2907792"/>
            <a:ext cx="420624" cy="420624"/>
          </a:xfrm>
          <a:prstGeom prst="ellipse">
            <a:avLst/>
          </a:prstGeom>
          <a:solidFill>
            <a:srgbClr val="FFC24B"/>
          </a:solidFill>
          <a:ln/>
        </p:spPr>
        <p:txBody>
          <a:bodyPr/>
          <a:p/>
        </p:txBody>
      </p:sp>
      <p:sp>
        <p:nvSpPr>
          <p:cNvPr id="12" name="Text 10"/>
          <p:cNvSpPr/>
          <p:nvPr/>
        </p:nvSpPr>
        <p:spPr>
          <a:xfrm>
            <a:off x="868680" y="29077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743200"/>
            <a:ext cx="9784080" cy="749808"/>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Medicii care pleacă</a:t>
            </a:r>
            <a:endParaRPr lang="en-US" sz="2100" dirty="0"/>
          </a:p>
        </p:txBody>
      </p:sp>
      <p:sp>
        <p:nvSpPr>
          <p:cNvPr id="14" name="Shape 12"/>
          <p:cNvSpPr/>
          <p:nvPr/>
        </p:nvSpPr>
        <p:spPr>
          <a:xfrm>
            <a:off x="594360" y="3657600"/>
            <a:ext cx="1097280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868680" y="3822192"/>
            <a:ext cx="420624" cy="420624"/>
          </a:xfrm>
          <a:prstGeom prst="ellipse">
            <a:avLst/>
          </a:prstGeom>
          <a:solidFill>
            <a:srgbClr val="FFC24B"/>
          </a:solidFill>
          <a:ln/>
        </p:spPr>
        <p:txBody>
          <a:bodyPr/>
          <a:p/>
        </p:txBody>
      </p:sp>
      <p:sp>
        <p:nvSpPr>
          <p:cNvPr id="16" name="Text 14"/>
          <p:cNvSpPr/>
          <p:nvPr/>
        </p:nvSpPr>
        <p:spPr>
          <a:xfrm>
            <a:off x="868680" y="38221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657600"/>
            <a:ext cx="9784080" cy="749808"/>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Pacienții care renunță la consultații din cauza drumului</a:t>
            </a:r>
            <a:endParaRPr lang="en-US" sz="2100" dirty="0"/>
          </a:p>
        </p:txBody>
      </p:sp>
      <p:sp>
        <p:nvSpPr>
          <p:cNvPr id="18" name="Text 16"/>
          <p:cNvSpPr/>
          <p:nvPr/>
        </p:nvSpPr>
        <p:spPr>
          <a:xfrm>
            <a:off x="594360" y="4754880"/>
            <a:ext cx="10972800" cy="4572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O singură variantă. Votul arată ce a observat sala.</a:t>
            </a:r>
            <a:endParaRPr lang="en-US" sz="1700" dirty="0"/>
          </a:p>
        </p:txBody>
      </p:sp>
      <p:sp>
        <p:nvSpPr>
          <p:cNvPr id="19" name="Text 17"/>
          <p:cNvSpPr/>
          <p:nvPr/>
        </p:nvSpPr>
        <p:spPr>
          <a:xfrm>
            <a:off x="594360" y="544068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PRIMUL SEMNAL · PACIENȚII MAI VÂRSTNICI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 vârstnic la trei adulți, spre doi</a:t>
            </a:r>
            <a:endParaRPr lang="en-US" sz="3200" dirty="0"/>
          </a:p>
        </p:txBody>
      </p:sp>
      <p:sp>
        <p:nvSpPr>
          <p:cNvPr id="4" name="Text 2"/>
          <p:cNvSpPr/>
          <p:nvPr/>
        </p:nvSpPr>
        <p:spPr>
          <a:xfrm>
            <a:off x="594360" y="1600200"/>
            <a:ext cx="502920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AZI</a:t>
            </a:r>
            <a:endParaRPr lang="en-US" sz="1300" dirty="0"/>
          </a:p>
        </p:txBody>
      </p:sp>
      <p:sp>
        <p:nvSpPr>
          <p:cNvPr id="5" name="Shape 3"/>
          <p:cNvSpPr/>
          <p:nvPr/>
        </p:nvSpPr>
        <p:spPr>
          <a:xfrm>
            <a:off x="685800" y="2011680"/>
            <a:ext cx="731520" cy="731520"/>
          </a:xfrm>
          <a:prstGeom prst="ellipse">
            <a:avLst/>
          </a:prstGeom>
          <a:solidFill>
            <a:srgbClr val="27D3BE"/>
          </a:solidFill>
          <a:ln w="25400">
            <a:solidFill>
              <a:srgbClr val="F6F5F2"/>
            </a:solidFill>
            <a:prstDash val="solid"/>
          </a:ln>
        </p:spPr>
        <p:txBody>
          <a:bodyPr/>
          <a:p/>
        </p:txBody>
      </p:sp>
      <p:sp>
        <p:nvSpPr>
          <p:cNvPr id="6" name="Shape 4"/>
          <p:cNvSpPr/>
          <p:nvPr/>
        </p:nvSpPr>
        <p:spPr>
          <a:xfrm>
            <a:off x="1600200" y="2011680"/>
            <a:ext cx="731520" cy="731520"/>
          </a:xfrm>
          <a:prstGeom prst="ellipse">
            <a:avLst/>
          </a:prstGeom>
          <a:solidFill>
            <a:srgbClr val="27D3BE"/>
          </a:solidFill>
          <a:ln w="25400">
            <a:solidFill>
              <a:srgbClr val="F6F5F2"/>
            </a:solidFill>
            <a:prstDash val="solid"/>
          </a:ln>
        </p:spPr>
        <p:txBody>
          <a:bodyPr/>
          <a:p/>
        </p:txBody>
      </p:sp>
      <p:sp>
        <p:nvSpPr>
          <p:cNvPr id="7" name="Shape 5"/>
          <p:cNvSpPr/>
          <p:nvPr/>
        </p:nvSpPr>
        <p:spPr>
          <a:xfrm>
            <a:off x="2514600" y="2011680"/>
            <a:ext cx="731520" cy="731520"/>
          </a:xfrm>
          <a:prstGeom prst="ellipse">
            <a:avLst/>
          </a:prstGeom>
          <a:solidFill>
            <a:srgbClr val="27D3BE"/>
          </a:solidFill>
          <a:ln w="25400">
            <a:solidFill>
              <a:srgbClr val="F6F5F2"/>
            </a:solidFill>
            <a:prstDash val="solid"/>
          </a:ln>
        </p:spPr>
        <p:txBody>
          <a:bodyPr/>
          <a:p/>
        </p:txBody>
      </p:sp>
      <p:sp>
        <p:nvSpPr>
          <p:cNvPr id="8" name="Shape 6"/>
          <p:cNvSpPr/>
          <p:nvPr/>
        </p:nvSpPr>
        <p:spPr>
          <a:xfrm>
            <a:off x="3429000" y="2011680"/>
            <a:ext cx="731520" cy="731520"/>
          </a:xfrm>
          <a:prstGeom prst="ellipse">
            <a:avLst/>
          </a:prstGeom>
          <a:solidFill>
            <a:srgbClr val="FF4757"/>
          </a:solidFill>
          <a:ln w="25400">
            <a:solidFill>
              <a:srgbClr val="F6F5F2"/>
            </a:solidFill>
            <a:prstDash val="solid"/>
          </a:ln>
        </p:spPr>
        <p:txBody>
          <a:bodyPr/>
          <a:p/>
        </p:txBody>
      </p:sp>
      <p:sp>
        <p:nvSpPr>
          <p:cNvPr id="9" name="Text 7"/>
          <p:cNvSpPr/>
          <p:nvPr/>
        </p:nvSpPr>
        <p:spPr>
          <a:xfrm>
            <a:off x="594360" y="2834640"/>
            <a:ext cx="5120640" cy="45720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Azi: un vârstnic la trei adulți</a:t>
            </a:r>
            <a:endParaRPr lang="en-US" sz="1900" dirty="0"/>
          </a:p>
        </p:txBody>
      </p:sp>
      <p:sp>
        <p:nvSpPr>
          <p:cNvPr id="10" name="Text 8"/>
          <p:cNvSpPr/>
          <p:nvPr/>
        </p:nvSpPr>
        <p:spPr>
          <a:xfrm>
            <a:off x="594360" y="3657600"/>
            <a:ext cx="502920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SPRE 2050</a:t>
            </a:r>
            <a:endParaRPr lang="en-US" sz="1300" dirty="0"/>
          </a:p>
        </p:txBody>
      </p:sp>
      <p:sp>
        <p:nvSpPr>
          <p:cNvPr id="11" name="Shape 9"/>
          <p:cNvSpPr/>
          <p:nvPr/>
        </p:nvSpPr>
        <p:spPr>
          <a:xfrm>
            <a:off x="685800" y="4069080"/>
            <a:ext cx="731520" cy="731520"/>
          </a:xfrm>
          <a:prstGeom prst="ellipse">
            <a:avLst/>
          </a:prstGeom>
          <a:solidFill>
            <a:srgbClr val="27D3BE"/>
          </a:solidFill>
          <a:ln w="25400">
            <a:solidFill>
              <a:srgbClr val="F6F5F2"/>
            </a:solidFill>
            <a:prstDash val="solid"/>
          </a:ln>
        </p:spPr>
        <p:txBody>
          <a:bodyPr/>
          <a:p/>
        </p:txBody>
      </p:sp>
      <p:sp>
        <p:nvSpPr>
          <p:cNvPr id="12" name="Shape 10"/>
          <p:cNvSpPr/>
          <p:nvPr/>
        </p:nvSpPr>
        <p:spPr>
          <a:xfrm>
            <a:off x="1600200" y="4069080"/>
            <a:ext cx="731520" cy="731520"/>
          </a:xfrm>
          <a:prstGeom prst="ellipse">
            <a:avLst/>
          </a:prstGeom>
          <a:solidFill>
            <a:srgbClr val="27D3BE"/>
          </a:solidFill>
          <a:ln w="25400">
            <a:solidFill>
              <a:srgbClr val="F6F5F2"/>
            </a:solidFill>
            <a:prstDash val="solid"/>
          </a:ln>
        </p:spPr>
        <p:txBody>
          <a:bodyPr/>
          <a:p/>
        </p:txBody>
      </p:sp>
      <p:sp>
        <p:nvSpPr>
          <p:cNvPr id="13" name="Shape 11"/>
          <p:cNvSpPr/>
          <p:nvPr/>
        </p:nvSpPr>
        <p:spPr>
          <a:xfrm>
            <a:off x="2514600" y="4069080"/>
            <a:ext cx="731520" cy="731520"/>
          </a:xfrm>
          <a:prstGeom prst="ellipse">
            <a:avLst/>
          </a:prstGeom>
          <a:solidFill>
            <a:srgbClr val="FF4757"/>
          </a:solidFill>
          <a:ln w="25400">
            <a:solidFill>
              <a:srgbClr val="F6F5F2"/>
            </a:solidFill>
            <a:prstDash val="solid"/>
          </a:ln>
        </p:spPr>
        <p:txBody>
          <a:bodyPr/>
          <a:p/>
        </p:txBody>
      </p:sp>
      <p:sp>
        <p:nvSpPr>
          <p:cNvPr id="14" name="Text 12"/>
          <p:cNvSpPr/>
          <p:nvPr/>
        </p:nvSpPr>
        <p:spPr>
          <a:xfrm>
            <a:off x="594360" y="4892040"/>
            <a:ext cx="5120640" cy="45720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Spre 2050: un vârstnic la doi adulți</a:t>
            </a:r>
            <a:endParaRPr lang="en-US" sz="1900" dirty="0"/>
          </a:p>
        </p:txBody>
      </p:sp>
      <p:sp>
        <p:nvSpPr>
          <p:cNvPr id="15" name="Text 13"/>
          <p:cNvSpPr/>
          <p:nvPr/>
        </p:nvSpPr>
        <p:spPr>
          <a:xfrm>
            <a:off x="594360" y="5715000"/>
            <a:ext cx="5669280" cy="320040"/>
          </a:xfrm>
          <a:prstGeom prst="rect">
            <a:avLst/>
          </a:prstGeom>
          <a:noFill/>
          <a:ln/>
        </p:spPr>
        <p:txBody>
          <a:bodyPr wrap="square" lIns="0" tIns="0" rIns="0" bIns="0" rtlCol="0" anchor="t"/>
          <a:lstStyle/>
          <a:p>
            <a:pPr indent="0" marL="0">
              <a:buNone/>
            </a:pPr>
            <a:r>
              <a:rPr lang="en-US" sz="1250" b="1" dirty="0">
                <a:solidFill>
                  <a:srgbClr val="27D3BE"/>
                </a:solidFill>
                <a:latin typeface="Palatino Linotype" pitchFamily="34" charset="0"/>
                <a:ea typeface="Palatino Linotype" pitchFamily="34" charset="-122"/>
                <a:cs typeface="Palatino Linotype" pitchFamily="34" charset="-120"/>
              </a:rPr>
              <a:t>■ </a:t>
            </a:r>
            <a:pPr indent="0" marL="0">
              <a:buNone/>
            </a:pPr>
            <a:r>
              <a:rPr lang="en-US" sz="1250" dirty="0">
                <a:solidFill>
                  <a:srgbClr val="11121A"/>
                </a:solidFill>
                <a:latin typeface="Palatino Linotype" pitchFamily="34" charset="0"/>
                <a:ea typeface="Palatino Linotype" pitchFamily="34" charset="-122"/>
                <a:cs typeface="Palatino Linotype" pitchFamily="34" charset="-120"/>
              </a:rPr>
              <a:t>adulți între 15 și 64 de ani   </a:t>
            </a:r>
            <a:pPr indent="0" marL="0">
              <a:buNone/>
            </a:pPr>
            <a:r>
              <a:rPr lang="en-US" sz="1250" b="1" dirty="0">
                <a:solidFill>
                  <a:srgbClr val="FF4757"/>
                </a:solidFill>
                <a:latin typeface="Palatino Linotype" pitchFamily="34" charset="0"/>
                <a:ea typeface="Palatino Linotype" pitchFamily="34" charset="-122"/>
                <a:cs typeface="Palatino Linotype" pitchFamily="34" charset="-120"/>
              </a:rPr>
              <a:t>■ </a:t>
            </a:r>
            <a:pPr indent="0" marL="0">
              <a:buNone/>
            </a:pPr>
            <a:r>
              <a:rPr lang="en-US" sz="1250" dirty="0">
                <a:solidFill>
                  <a:srgbClr val="11121A"/>
                </a:solidFill>
                <a:latin typeface="Palatino Linotype" pitchFamily="34" charset="0"/>
                <a:ea typeface="Palatino Linotype" pitchFamily="34" charset="-122"/>
                <a:cs typeface="Palatino Linotype" pitchFamily="34" charset="-120"/>
              </a:rPr>
              <a:t>persoane de 65 de ani și peste</a:t>
            </a:r>
            <a:endParaRPr lang="en-US" sz="1250" dirty="0"/>
          </a:p>
        </p:txBody>
      </p:sp>
      <p:sp>
        <p:nvSpPr>
          <p:cNvPr id="16" name="Shape 14"/>
          <p:cNvSpPr/>
          <p:nvPr/>
        </p:nvSpPr>
        <p:spPr>
          <a:xfrm>
            <a:off x="6400800" y="1600200"/>
            <a:ext cx="5166360" cy="1828800"/>
          </a:xfrm>
          <a:prstGeom prst="roundRect">
            <a:avLst>
              <a:gd name="adj" fmla="val 4500"/>
            </a:avLst>
          </a:prstGeom>
          <a:solidFill>
            <a:srgbClr val="ECEAE4"/>
          </a:solidFill>
          <a:ln w="12700">
            <a:solidFill>
              <a:srgbClr val="ECEAE4"/>
            </a:solidFill>
            <a:prstDash val="solid"/>
          </a:ln>
        </p:spPr>
        <p:txBody>
          <a:bodyPr/>
          <a:p/>
        </p:txBody>
      </p:sp>
      <p:sp>
        <p:nvSpPr>
          <p:cNvPr id="17" name="Text 15"/>
          <p:cNvSpPr/>
          <p:nvPr/>
        </p:nvSpPr>
        <p:spPr>
          <a:xfrm>
            <a:off x="6675120" y="1600200"/>
            <a:ext cx="4663440" cy="1828800"/>
          </a:xfrm>
          <a:prstGeom prst="rect">
            <a:avLst/>
          </a:prstGeom>
          <a:noFill/>
          <a:ln/>
        </p:spPr>
        <p:txBody>
          <a:bodyPr wrap="square" lIns="0" tIns="0" rIns="0" bIns="0" rtlCol="0" anchor="ctr"/>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Puțin peste un român din cinci are 65 de ani și peste.</a:t>
            </a:r>
            <a:endParaRPr lang="en-US" sz="2200" dirty="0"/>
          </a:p>
        </p:txBody>
      </p:sp>
      <p:sp>
        <p:nvSpPr>
          <p:cNvPr id="18" name="Text 16"/>
          <p:cNvSpPr/>
          <p:nvPr/>
        </p:nvSpPr>
        <p:spPr>
          <a:xfrm>
            <a:off x="6400800" y="3703320"/>
            <a:ext cx="5166360" cy="21031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Pentru spital: mai mulți pacienți cu boli cronice, care au nevoie de urmărire, recuperare și îngrijire pe termen lung.</a:t>
            </a:r>
            <a:endParaRPr lang="en-US" sz="17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structura populației și proiecția de bază EUROPOP2023. Proiecțiile arată ce s-ar întâmpla dacă ipotezele s-ar confirma.</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DOILEA SEMNAL · MEDICII CARE PLEACĂ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Mai puțini medici decât media Uniunii Europene</a:t>
            </a:r>
            <a:endParaRPr lang="en-US" sz="3000" dirty="0"/>
          </a:p>
        </p:txBody>
      </p:sp>
      <p:sp>
        <p:nvSpPr>
          <p:cNvPr id="4" name="Shape 2"/>
          <p:cNvSpPr/>
          <p:nvPr/>
        </p:nvSpPr>
        <p:spPr>
          <a:xfrm>
            <a:off x="594360" y="1737360"/>
            <a:ext cx="3520440" cy="3017520"/>
          </a:xfrm>
          <a:prstGeom prst="roundRect">
            <a:avLst>
              <a:gd name="adj" fmla="val 2727"/>
            </a:avLst>
          </a:prstGeom>
          <a:solidFill>
            <a:srgbClr val="27D3BE"/>
          </a:solidFill>
          <a:ln w="12700">
            <a:solidFill>
              <a:srgbClr val="27D3BE"/>
            </a:solidFill>
            <a:prstDash val="solid"/>
          </a:ln>
        </p:spPr>
        <p:txBody>
          <a:bodyPr/>
          <a:p/>
        </p:txBody>
      </p:sp>
      <p:sp>
        <p:nvSpPr>
          <p:cNvPr id="5" name="Text 3"/>
          <p:cNvSpPr/>
          <p:nvPr/>
        </p:nvSpPr>
        <p:spPr>
          <a:xfrm>
            <a:off x="868680" y="1920240"/>
            <a:ext cx="2971800" cy="411480"/>
          </a:xfrm>
          <a:prstGeom prst="rect">
            <a:avLst/>
          </a:prstGeom>
          <a:noFill/>
          <a:ln/>
        </p:spPr>
        <p:txBody>
          <a:bodyPr wrap="square" lIns="0" tIns="0" rIns="0" bIns="0" rtlCol="0" anchor="t"/>
          <a:lstStyle/>
          <a:p>
            <a:pPr indent="0" marL="0">
              <a:buNone/>
            </a:pPr>
            <a:r>
              <a:rPr lang="en-US" sz="1400" b="1" spc="200" kern="0" dirty="0">
                <a:solidFill>
                  <a:srgbClr val="073B34"/>
                </a:solidFill>
                <a:latin typeface="Palatino Linotype" pitchFamily="34" charset="0"/>
                <a:ea typeface="Palatino Linotype" pitchFamily="34" charset="-122"/>
                <a:cs typeface="Palatino Linotype" pitchFamily="34" charset="-120"/>
              </a:rPr>
              <a:t>A CRESCUT</a:t>
            </a:r>
            <a:endParaRPr lang="en-US" sz="1400" dirty="0"/>
          </a:p>
        </p:txBody>
      </p:sp>
      <p:sp>
        <p:nvSpPr>
          <p:cNvPr id="6" name="Text 4"/>
          <p:cNvSpPr/>
          <p:nvPr/>
        </p:nvSpPr>
        <p:spPr>
          <a:xfrm>
            <a:off x="868680" y="2514600"/>
            <a:ext cx="2971800" cy="2103120"/>
          </a:xfrm>
          <a:prstGeom prst="rect">
            <a:avLst/>
          </a:prstGeom>
          <a:noFill/>
          <a:ln/>
        </p:spPr>
        <p:txBody>
          <a:bodyPr wrap="square" lIns="0" tIns="0" rIns="0" bIns="0" rtlCol="0" anchor="t"/>
          <a:lstStyle/>
          <a:p>
            <a:pPr indent="0" marL="0">
              <a:buNone/>
            </a:pPr>
            <a:r>
              <a:rPr lang="en-US" sz="2100" b="1" dirty="0">
                <a:solidFill>
                  <a:srgbClr val="073B34"/>
                </a:solidFill>
                <a:latin typeface="Palatino Linotype" pitchFamily="34" charset="0"/>
                <a:ea typeface="Palatino Linotype" pitchFamily="34" charset="-122"/>
                <a:cs typeface="Palatino Linotype" pitchFamily="34" charset="-120"/>
              </a:rPr>
              <a:t>Numărul medicilor și al asistentelor, în ultimul deceniu.</a:t>
            </a:r>
            <a:endParaRPr lang="en-US" sz="2100" dirty="0"/>
          </a:p>
        </p:txBody>
      </p:sp>
      <p:sp>
        <p:nvSpPr>
          <p:cNvPr id="7" name="Shape 5"/>
          <p:cNvSpPr/>
          <p:nvPr/>
        </p:nvSpPr>
        <p:spPr>
          <a:xfrm>
            <a:off x="4343400" y="1737360"/>
            <a:ext cx="3520440" cy="3017520"/>
          </a:xfrm>
          <a:prstGeom prst="roundRect">
            <a:avLst>
              <a:gd name="adj" fmla="val 2727"/>
            </a:avLst>
          </a:prstGeom>
          <a:solidFill>
            <a:srgbClr val="FF4757"/>
          </a:solidFill>
          <a:ln w="12700">
            <a:solidFill>
              <a:srgbClr val="FF4757"/>
            </a:solidFill>
            <a:prstDash val="solid"/>
          </a:ln>
        </p:spPr>
        <p:txBody>
          <a:bodyPr/>
          <a:p/>
        </p:txBody>
      </p:sp>
      <p:sp>
        <p:nvSpPr>
          <p:cNvPr id="8" name="Text 6"/>
          <p:cNvSpPr/>
          <p:nvPr/>
        </p:nvSpPr>
        <p:spPr>
          <a:xfrm>
            <a:off x="4617720" y="1920240"/>
            <a:ext cx="2971800" cy="411480"/>
          </a:xfrm>
          <a:prstGeom prst="rect">
            <a:avLst/>
          </a:prstGeom>
          <a:noFill/>
          <a:ln/>
        </p:spPr>
        <p:txBody>
          <a:bodyPr wrap="square" lIns="0" tIns="0" rIns="0" bIns="0" rtlCol="0" anchor="t"/>
          <a:lstStyle/>
          <a:p>
            <a:pPr indent="0" marL="0">
              <a:buNone/>
            </a:pPr>
            <a:r>
              <a:rPr lang="en-US" sz="1400" b="1" spc="200" kern="0" dirty="0">
                <a:solidFill>
                  <a:srgbClr val="2E060B"/>
                </a:solidFill>
                <a:latin typeface="Palatino Linotype" pitchFamily="34" charset="0"/>
                <a:ea typeface="Palatino Linotype" pitchFamily="34" charset="-122"/>
                <a:cs typeface="Palatino Linotype" pitchFamily="34" charset="-120"/>
              </a:rPr>
              <a:t>RĂMÂNE O PROBLEMĂ</a:t>
            </a:r>
            <a:endParaRPr lang="en-US" sz="1400" dirty="0"/>
          </a:p>
        </p:txBody>
      </p:sp>
      <p:sp>
        <p:nvSpPr>
          <p:cNvPr id="9" name="Text 7"/>
          <p:cNvSpPr/>
          <p:nvPr/>
        </p:nvSpPr>
        <p:spPr>
          <a:xfrm>
            <a:off x="4617720" y="2514600"/>
            <a:ext cx="2971800" cy="2103120"/>
          </a:xfrm>
          <a:prstGeom prst="rect">
            <a:avLst/>
          </a:prstGeom>
          <a:noFill/>
          <a:ln/>
        </p:spPr>
        <p:txBody>
          <a:bodyPr wrap="square" lIns="0" tIns="0" rIns="0" bIns="0" rtlCol="0" anchor="t"/>
          <a:lstStyle/>
          <a:p>
            <a:pPr indent="0" marL="0">
              <a:buNone/>
            </a:pPr>
            <a:r>
              <a:rPr lang="en-US" sz="2100" b="1" dirty="0">
                <a:solidFill>
                  <a:srgbClr val="2E060B"/>
                </a:solidFill>
                <a:latin typeface="Palatino Linotype" pitchFamily="34" charset="0"/>
                <a:ea typeface="Palatino Linotype" pitchFamily="34" charset="-122"/>
                <a:cs typeface="Palatino Linotype" pitchFamily="34" charset="-120"/>
              </a:rPr>
              <a:t>Emigrarea și distribuția inegală pe teritoriu.</a:t>
            </a:r>
            <a:endParaRPr lang="en-US" sz="2100" dirty="0"/>
          </a:p>
        </p:txBody>
      </p:sp>
      <p:sp>
        <p:nvSpPr>
          <p:cNvPr id="10" name="Shape 8"/>
          <p:cNvSpPr/>
          <p:nvPr/>
        </p:nvSpPr>
        <p:spPr>
          <a:xfrm>
            <a:off x="8092440" y="1737360"/>
            <a:ext cx="3520440" cy="3017520"/>
          </a:xfrm>
          <a:prstGeom prst="roundRect">
            <a:avLst>
              <a:gd name="adj" fmla="val 2727"/>
            </a:avLst>
          </a:prstGeom>
          <a:solidFill>
            <a:srgbClr val="FFC24B"/>
          </a:solidFill>
          <a:ln w="12700">
            <a:solidFill>
              <a:srgbClr val="FFC24B"/>
            </a:solidFill>
            <a:prstDash val="solid"/>
          </a:ln>
        </p:spPr>
        <p:txBody>
          <a:bodyPr/>
          <a:p/>
        </p:txBody>
      </p:sp>
      <p:sp>
        <p:nvSpPr>
          <p:cNvPr id="11" name="Text 9"/>
          <p:cNvSpPr/>
          <p:nvPr/>
        </p:nvSpPr>
        <p:spPr>
          <a:xfrm>
            <a:off x="8366760" y="1920240"/>
            <a:ext cx="2971800" cy="411480"/>
          </a:xfrm>
          <a:prstGeom prst="rect">
            <a:avLst/>
          </a:prstGeom>
          <a:noFill/>
          <a:ln/>
        </p:spPr>
        <p:txBody>
          <a:bodyPr wrap="square" lIns="0" tIns="0" rIns="0" bIns="0" rtlCol="0" anchor="t"/>
          <a:lstStyle/>
          <a:p>
            <a:pPr indent="0" marL="0">
              <a:buNone/>
            </a:pPr>
            <a:r>
              <a:rPr lang="en-US" sz="1400" b="1" spc="200" kern="0" dirty="0">
                <a:solidFill>
                  <a:srgbClr val="3D2A00"/>
                </a:solidFill>
                <a:latin typeface="Palatino Linotype" pitchFamily="34" charset="0"/>
                <a:ea typeface="Palatino Linotype" pitchFamily="34" charset="-122"/>
                <a:cs typeface="Palatino Linotype" pitchFamily="34" charset="-120"/>
              </a:rPr>
              <a:t>DE CE LIPSESC</a:t>
            </a:r>
            <a:endParaRPr lang="en-US" sz="1400" dirty="0"/>
          </a:p>
        </p:txBody>
      </p:sp>
      <p:sp>
        <p:nvSpPr>
          <p:cNvPr id="12" name="Text 10"/>
          <p:cNvSpPr/>
          <p:nvPr/>
        </p:nvSpPr>
        <p:spPr>
          <a:xfrm>
            <a:off x="8366760" y="2514600"/>
            <a:ext cx="2971800" cy="2103120"/>
          </a:xfrm>
          <a:prstGeom prst="rect">
            <a:avLst/>
          </a:prstGeom>
          <a:noFill/>
          <a:ln/>
        </p:spPr>
        <p:txBody>
          <a:bodyPr wrap="square" lIns="0" tIns="0" rIns="0" bIns="0" rtlCol="0" anchor="t"/>
          <a:lstStyle/>
          <a:p>
            <a:pPr indent="0" marL="0">
              <a:buNone/>
            </a:pPr>
            <a:r>
              <a:rPr lang="en-US" sz="2100" b="1" dirty="0">
                <a:solidFill>
                  <a:srgbClr val="3D2A00"/>
                </a:solidFill>
                <a:latin typeface="Palatino Linotype" pitchFamily="34" charset="0"/>
                <a:ea typeface="Palatino Linotype" pitchFamily="34" charset="-122"/>
                <a:cs typeface="Palatino Linotype" pitchFamily="34" charset="-120"/>
              </a:rPr>
              <a:t>Pleacă atât absolvenții noi, cât și profesioniștii cu experiență.</a:t>
            </a:r>
            <a:endParaRPr lang="en-US" sz="2100" dirty="0"/>
          </a:p>
        </p:txBody>
      </p:sp>
      <p:sp>
        <p:nvSpPr>
          <p:cNvPr id="13" name="Text 11"/>
          <p:cNvSpPr/>
          <p:nvPr/>
        </p:nvSpPr>
        <p:spPr>
          <a:xfrm>
            <a:off x="594360" y="5029200"/>
            <a:ext cx="10972800" cy="82296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Întrebarea managerului nu este câți medici are țara, ci câți rămân în spitalul lui.</a:t>
            </a:r>
            <a:endParaRPr lang="en-US" sz="20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OCDE și Observatorul European al Sistemelor și Politicilor de Sănătate, profilul de țară România, 2025.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AL TREILEA SEMNAL · DRUMUL PÂNĂ LA CONSULTAȚIE</a:t>
            </a:r>
            <a:endParaRPr lang="en-US" sz="1300" dirty="0"/>
          </a:p>
        </p:txBody>
      </p:sp>
      <p:sp>
        <p:nvSpPr>
          <p:cNvPr id="3" name="Shape 1"/>
          <p:cNvSpPr/>
          <p:nvPr/>
        </p:nvSpPr>
        <p:spPr>
          <a:xfrm>
            <a:off x="777240" y="1234440"/>
            <a:ext cx="292608" cy="292608"/>
          </a:xfrm>
          <a:prstGeom prst="ellipse">
            <a:avLst/>
          </a:prstGeom>
          <a:solidFill>
            <a:srgbClr val="FF4757"/>
          </a:solidFill>
          <a:ln w="12700">
            <a:solidFill>
              <a:srgbClr val="11121A"/>
            </a:solidFill>
            <a:prstDash val="solid"/>
          </a:ln>
        </p:spPr>
        <p:txBody>
          <a:bodyPr/>
          <a:p/>
        </p:txBody>
      </p:sp>
      <p:sp>
        <p:nvSpPr>
          <p:cNvPr id="4" name="Shape 2"/>
          <p:cNvSpPr/>
          <p:nvPr/>
        </p:nvSpPr>
        <p:spPr>
          <a:xfrm>
            <a:off x="1161288" y="1234440"/>
            <a:ext cx="292608" cy="292608"/>
          </a:xfrm>
          <a:prstGeom prst="ellipse">
            <a:avLst/>
          </a:prstGeom>
          <a:solidFill>
            <a:srgbClr val="FF4757"/>
          </a:solidFill>
          <a:ln w="12700">
            <a:solidFill>
              <a:srgbClr val="11121A"/>
            </a:solidFill>
            <a:prstDash val="solid"/>
          </a:ln>
        </p:spPr>
        <p:txBody>
          <a:bodyPr/>
          <a:p/>
        </p:txBody>
      </p:sp>
      <p:sp>
        <p:nvSpPr>
          <p:cNvPr id="5" name="Shape 3"/>
          <p:cNvSpPr/>
          <p:nvPr/>
        </p:nvSpPr>
        <p:spPr>
          <a:xfrm>
            <a:off x="1545336" y="1234440"/>
            <a:ext cx="292608" cy="292608"/>
          </a:xfrm>
          <a:prstGeom prst="ellipse">
            <a:avLst/>
          </a:prstGeom>
          <a:solidFill>
            <a:srgbClr val="FF4757"/>
          </a:solidFill>
          <a:ln w="12700">
            <a:solidFill>
              <a:srgbClr val="11121A"/>
            </a:solidFill>
            <a:prstDash val="solid"/>
          </a:ln>
        </p:spPr>
        <p:txBody>
          <a:bodyPr/>
          <a:p/>
        </p:txBody>
      </p:sp>
      <p:sp>
        <p:nvSpPr>
          <p:cNvPr id="6" name="Shape 4"/>
          <p:cNvSpPr/>
          <p:nvPr/>
        </p:nvSpPr>
        <p:spPr>
          <a:xfrm>
            <a:off x="1929384" y="1234440"/>
            <a:ext cx="292608" cy="292608"/>
          </a:xfrm>
          <a:prstGeom prst="ellipse">
            <a:avLst/>
          </a:prstGeom>
          <a:solidFill>
            <a:srgbClr val="FF4757"/>
          </a:solidFill>
          <a:ln w="12700">
            <a:solidFill>
              <a:srgbClr val="11121A"/>
            </a:solidFill>
            <a:prstDash val="solid"/>
          </a:ln>
        </p:spPr>
        <p:txBody>
          <a:bodyPr/>
          <a:p/>
        </p:txBody>
      </p:sp>
      <p:sp>
        <p:nvSpPr>
          <p:cNvPr id="7" name="Shape 5"/>
          <p:cNvSpPr/>
          <p:nvPr/>
        </p:nvSpPr>
        <p:spPr>
          <a:xfrm>
            <a:off x="2313432" y="1234440"/>
            <a:ext cx="292608" cy="292608"/>
          </a:xfrm>
          <a:prstGeom prst="ellipse">
            <a:avLst/>
          </a:prstGeom>
          <a:solidFill>
            <a:srgbClr val="FF4757"/>
          </a:solidFill>
          <a:ln w="12700">
            <a:solidFill>
              <a:srgbClr val="11121A"/>
            </a:solidFill>
            <a:prstDash val="solid"/>
          </a:ln>
        </p:spPr>
        <p:txBody>
          <a:bodyPr/>
          <a:p/>
        </p:txBody>
      </p:sp>
      <p:sp>
        <p:nvSpPr>
          <p:cNvPr id="8" name="Shape 6"/>
          <p:cNvSpPr/>
          <p:nvPr/>
        </p:nvSpPr>
        <p:spPr>
          <a:xfrm>
            <a:off x="2697480" y="1234440"/>
            <a:ext cx="292608" cy="292608"/>
          </a:xfrm>
          <a:prstGeom prst="ellipse">
            <a:avLst/>
          </a:prstGeom>
          <a:solidFill>
            <a:srgbClr val="FF4757"/>
          </a:solidFill>
          <a:ln w="12700">
            <a:solidFill>
              <a:srgbClr val="11121A"/>
            </a:solidFill>
            <a:prstDash val="solid"/>
          </a:ln>
        </p:spPr>
        <p:txBody>
          <a:bodyPr/>
          <a:p/>
        </p:txBody>
      </p:sp>
      <p:sp>
        <p:nvSpPr>
          <p:cNvPr id="9" name="Shape 7"/>
          <p:cNvSpPr/>
          <p:nvPr/>
        </p:nvSpPr>
        <p:spPr>
          <a:xfrm>
            <a:off x="3081528" y="1234440"/>
            <a:ext cx="292608" cy="292608"/>
          </a:xfrm>
          <a:prstGeom prst="ellipse">
            <a:avLst/>
          </a:prstGeom>
          <a:solidFill>
            <a:srgbClr val="272A38"/>
          </a:solidFill>
          <a:ln w="12700">
            <a:solidFill>
              <a:srgbClr val="11121A"/>
            </a:solidFill>
            <a:prstDash val="solid"/>
          </a:ln>
        </p:spPr>
        <p:txBody>
          <a:bodyPr/>
          <a:p/>
        </p:txBody>
      </p:sp>
      <p:sp>
        <p:nvSpPr>
          <p:cNvPr id="10" name="Shape 8"/>
          <p:cNvSpPr/>
          <p:nvPr/>
        </p:nvSpPr>
        <p:spPr>
          <a:xfrm>
            <a:off x="3465576" y="1234440"/>
            <a:ext cx="292608" cy="292608"/>
          </a:xfrm>
          <a:prstGeom prst="ellipse">
            <a:avLst/>
          </a:prstGeom>
          <a:solidFill>
            <a:srgbClr val="272A38"/>
          </a:solidFill>
          <a:ln w="12700">
            <a:solidFill>
              <a:srgbClr val="11121A"/>
            </a:solidFill>
            <a:prstDash val="solid"/>
          </a:ln>
        </p:spPr>
        <p:txBody>
          <a:bodyPr/>
          <a:p/>
        </p:txBody>
      </p:sp>
      <p:sp>
        <p:nvSpPr>
          <p:cNvPr id="11" name="Shape 9"/>
          <p:cNvSpPr/>
          <p:nvPr/>
        </p:nvSpPr>
        <p:spPr>
          <a:xfrm>
            <a:off x="3849624" y="1234440"/>
            <a:ext cx="292608" cy="292608"/>
          </a:xfrm>
          <a:prstGeom prst="ellipse">
            <a:avLst/>
          </a:prstGeom>
          <a:solidFill>
            <a:srgbClr val="272A38"/>
          </a:solidFill>
          <a:ln w="12700">
            <a:solidFill>
              <a:srgbClr val="11121A"/>
            </a:solidFill>
            <a:prstDash val="solid"/>
          </a:ln>
        </p:spPr>
        <p:txBody>
          <a:bodyPr/>
          <a:p/>
        </p:txBody>
      </p:sp>
      <p:sp>
        <p:nvSpPr>
          <p:cNvPr id="12" name="Shape 10"/>
          <p:cNvSpPr/>
          <p:nvPr/>
        </p:nvSpPr>
        <p:spPr>
          <a:xfrm>
            <a:off x="4233672" y="1234440"/>
            <a:ext cx="292608" cy="292608"/>
          </a:xfrm>
          <a:prstGeom prst="ellipse">
            <a:avLst/>
          </a:prstGeom>
          <a:solidFill>
            <a:srgbClr val="272A38"/>
          </a:solidFill>
          <a:ln w="12700">
            <a:solidFill>
              <a:srgbClr val="11121A"/>
            </a:solidFill>
            <a:prstDash val="solid"/>
          </a:ln>
        </p:spPr>
        <p:txBody>
          <a:bodyPr/>
          <a:p/>
        </p:txBody>
      </p:sp>
      <p:sp>
        <p:nvSpPr>
          <p:cNvPr id="13" name="Shape 11"/>
          <p:cNvSpPr/>
          <p:nvPr/>
        </p:nvSpPr>
        <p:spPr>
          <a:xfrm>
            <a:off x="777240" y="1618488"/>
            <a:ext cx="292608" cy="292608"/>
          </a:xfrm>
          <a:prstGeom prst="ellipse">
            <a:avLst/>
          </a:prstGeom>
          <a:solidFill>
            <a:srgbClr val="272A38"/>
          </a:solidFill>
          <a:ln w="12700">
            <a:solidFill>
              <a:srgbClr val="11121A"/>
            </a:solidFill>
            <a:prstDash val="solid"/>
          </a:ln>
        </p:spPr>
        <p:txBody>
          <a:bodyPr/>
          <a:p/>
        </p:txBody>
      </p:sp>
      <p:sp>
        <p:nvSpPr>
          <p:cNvPr id="14" name="Shape 12"/>
          <p:cNvSpPr/>
          <p:nvPr/>
        </p:nvSpPr>
        <p:spPr>
          <a:xfrm>
            <a:off x="1161288" y="1618488"/>
            <a:ext cx="292608" cy="292608"/>
          </a:xfrm>
          <a:prstGeom prst="ellipse">
            <a:avLst/>
          </a:prstGeom>
          <a:solidFill>
            <a:srgbClr val="272A38"/>
          </a:solidFill>
          <a:ln w="12700">
            <a:solidFill>
              <a:srgbClr val="11121A"/>
            </a:solidFill>
            <a:prstDash val="solid"/>
          </a:ln>
        </p:spPr>
        <p:txBody>
          <a:bodyPr/>
          <a:p/>
        </p:txBody>
      </p:sp>
      <p:sp>
        <p:nvSpPr>
          <p:cNvPr id="15" name="Shape 13"/>
          <p:cNvSpPr/>
          <p:nvPr/>
        </p:nvSpPr>
        <p:spPr>
          <a:xfrm>
            <a:off x="1545336" y="1618488"/>
            <a:ext cx="292608" cy="292608"/>
          </a:xfrm>
          <a:prstGeom prst="ellipse">
            <a:avLst/>
          </a:prstGeom>
          <a:solidFill>
            <a:srgbClr val="272A38"/>
          </a:solidFill>
          <a:ln w="12700">
            <a:solidFill>
              <a:srgbClr val="11121A"/>
            </a:solidFill>
            <a:prstDash val="solid"/>
          </a:ln>
        </p:spPr>
        <p:txBody>
          <a:bodyPr/>
          <a:p/>
        </p:txBody>
      </p:sp>
      <p:sp>
        <p:nvSpPr>
          <p:cNvPr id="16" name="Shape 14"/>
          <p:cNvSpPr/>
          <p:nvPr/>
        </p:nvSpPr>
        <p:spPr>
          <a:xfrm>
            <a:off x="1929384" y="1618488"/>
            <a:ext cx="292608" cy="292608"/>
          </a:xfrm>
          <a:prstGeom prst="ellipse">
            <a:avLst/>
          </a:prstGeom>
          <a:solidFill>
            <a:srgbClr val="272A38"/>
          </a:solidFill>
          <a:ln w="12700">
            <a:solidFill>
              <a:srgbClr val="11121A"/>
            </a:solidFill>
            <a:prstDash val="solid"/>
          </a:ln>
        </p:spPr>
        <p:txBody>
          <a:bodyPr/>
          <a:p/>
        </p:txBody>
      </p:sp>
      <p:sp>
        <p:nvSpPr>
          <p:cNvPr id="17" name="Shape 15"/>
          <p:cNvSpPr/>
          <p:nvPr/>
        </p:nvSpPr>
        <p:spPr>
          <a:xfrm>
            <a:off x="2313432" y="1618488"/>
            <a:ext cx="292608" cy="292608"/>
          </a:xfrm>
          <a:prstGeom prst="ellipse">
            <a:avLst/>
          </a:prstGeom>
          <a:solidFill>
            <a:srgbClr val="272A38"/>
          </a:solidFill>
          <a:ln w="12700">
            <a:solidFill>
              <a:srgbClr val="11121A"/>
            </a:solidFill>
            <a:prstDash val="solid"/>
          </a:ln>
        </p:spPr>
        <p:txBody>
          <a:bodyPr/>
          <a:p/>
        </p:txBody>
      </p:sp>
      <p:sp>
        <p:nvSpPr>
          <p:cNvPr id="18" name="Shape 16"/>
          <p:cNvSpPr/>
          <p:nvPr/>
        </p:nvSpPr>
        <p:spPr>
          <a:xfrm>
            <a:off x="2697480" y="1618488"/>
            <a:ext cx="292608" cy="292608"/>
          </a:xfrm>
          <a:prstGeom prst="ellipse">
            <a:avLst/>
          </a:prstGeom>
          <a:solidFill>
            <a:srgbClr val="272A38"/>
          </a:solidFill>
          <a:ln w="12700">
            <a:solidFill>
              <a:srgbClr val="11121A"/>
            </a:solidFill>
            <a:prstDash val="solid"/>
          </a:ln>
        </p:spPr>
        <p:txBody>
          <a:bodyPr/>
          <a:p/>
        </p:txBody>
      </p:sp>
      <p:sp>
        <p:nvSpPr>
          <p:cNvPr id="19" name="Shape 17"/>
          <p:cNvSpPr/>
          <p:nvPr/>
        </p:nvSpPr>
        <p:spPr>
          <a:xfrm>
            <a:off x="3081528" y="1618488"/>
            <a:ext cx="292608" cy="292608"/>
          </a:xfrm>
          <a:prstGeom prst="ellipse">
            <a:avLst/>
          </a:prstGeom>
          <a:solidFill>
            <a:srgbClr val="272A38"/>
          </a:solidFill>
          <a:ln w="12700">
            <a:solidFill>
              <a:srgbClr val="11121A"/>
            </a:solidFill>
            <a:prstDash val="solid"/>
          </a:ln>
        </p:spPr>
        <p:txBody>
          <a:bodyPr/>
          <a:p/>
        </p:txBody>
      </p:sp>
      <p:sp>
        <p:nvSpPr>
          <p:cNvPr id="20" name="Shape 18"/>
          <p:cNvSpPr/>
          <p:nvPr/>
        </p:nvSpPr>
        <p:spPr>
          <a:xfrm>
            <a:off x="3465576" y="1618488"/>
            <a:ext cx="292608" cy="292608"/>
          </a:xfrm>
          <a:prstGeom prst="ellipse">
            <a:avLst/>
          </a:prstGeom>
          <a:solidFill>
            <a:srgbClr val="272A38"/>
          </a:solidFill>
          <a:ln w="12700">
            <a:solidFill>
              <a:srgbClr val="11121A"/>
            </a:solidFill>
            <a:prstDash val="solid"/>
          </a:ln>
        </p:spPr>
        <p:txBody>
          <a:bodyPr/>
          <a:p/>
        </p:txBody>
      </p:sp>
      <p:sp>
        <p:nvSpPr>
          <p:cNvPr id="21" name="Shape 19"/>
          <p:cNvSpPr/>
          <p:nvPr/>
        </p:nvSpPr>
        <p:spPr>
          <a:xfrm>
            <a:off x="3849624" y="1618488"/>
            <a:ext cx="292608" cy="292608"/>
          </a:xfrm>
          <a:prstGeom prst="ellipse">
            <a:avLst/>
          </a:prstGeom>
          <a:solidFill>
            <a:srgbClr val="272A38"/>
          </a:solidFill>
          <a:ln w="12700">
            <a:solidFill>
              <a:srgbClr val="11121A"/>
            </a:solidFill>
            <a:prstDash val="solid"/>
          </a:ln>
        </p:spPr>
        <p:txBody>
          <a:bodyPr/>
          <a:p/>
        </p:txBody>
      </p:sp>
      <p:sp>
        <p:nvSpPr>
          <p:cNvPr id="22" name="Shape 20"/>
          <p:cNvSpPr/>
          <p:nvPr/>
        </p:nvSpPr>
        <p:spPr>
          <a:xfrm>
            <a:off x="4233672" y="1618488"/>
            <a:ext cx="292608" cy="292608"/>
          </a:xfrm>
          <a:prstGeom prst="ellipse">
            <a:avLst/>
          </a:prstGeom>
          <a:solidFill>
            <a:srgbClr val="272A38"/>
          </a:solidFill>
          <a:ln w="12700">
            <a:solidFill>
              <a:srgbClr val="11121A"/>
            </a:solidFill>
            <a:prstDash val="solid"/>
          </a:ln>
        </p:spPr>
        <p:txBody>
          <a:bodyPr/>
          <a:p/>
        </p:txBody>
      </p:sp>
      <p:sp>
        <p:nvSpPr>
          <p:cNvPr id="23" name="Shape 21"/>
          <p:cNvSpPr/>
          <p:nvPr/>
        </p:nvSpPr>
        <p:spPr>
          <a:xfrm>
            <a:off x="777240" y="2002536"/>
            <a:ext cx="292608" cy="292608"/>
          </a:xfrm>
          <a:prstGeom prst="ellipse">
            <a:avLst/>
          </a:prstGeom>
          <a:solidFill>
            <a:srgbClr val="272A38"/>
          </a:solidFill>
          <a:ln w="12700">
            <a:solidFill>
              <a:srgbClr val="11121A"/>
            </a:solidFill>
            <a:prstDash val="solid"/>
          </a:ln>
        </p:spPr>
        <p:txBody>
          <a:bodyPr/>
          <a:p/>
        </p:txBody>
      </p:sp>
      <p:sp>
        <p:nvSpPr>
          <p:cNvPr id="24" name="Shape 22"/>
          <p:cNvSpPr/>
          <p:nvPr/>
        </p:nvSpPr>
        <p:spPr>
          <a:xfrm>
            <a:off x="1161288" y="2002536"/>
            <a:ext cx="292608" cy="292608"/>
          </a:xfrm>
          <a:prstGeom prst="ellipse">
            <a:avLst/>
          </a:prstGeom>
          <a:solidFill>
            <a:srgbClr val="272A38"/>
          </a:solidFill>
          <a:ln w="12700">
            <a:solidFill>
              <a:srgbClr val="11121A"/>
            </a:solidFill>
            <a:prstDash val="solid"/>
          </a:ln>
        </p:spPr>
        <p:txBody>
          <a:bodyPr/>
          <a:p/>
        </p:txBody>
      </p:sp>
      <p:sp>
        <p:nvSpPr>
          <p:cNvPr id="25" name="Shape 23"/>
          <p:cNvSpPr/>
          <p:nvPr/>
        </p:nvSpPr>
        <p:spPr>
          <a:xfrm>
            <a:off x="1545336" y="2002536"/>
            <a:ext cx="292608" cy="292608"/>
          </a:xfrm>
          <a:prstGeom prst="ellipse">
            <a:avLst/>
          </a:prstGeom>
          <a:solidFill>
            <a:srgbClr val="272A38"/>
          </a:solidFill>
          <a:ln w="12700">
            <a:solidFill>
              <a:srgbClr val="11121A"/>
            </a:solidFill>
            <a:prstDash val="solid"/>
          </a:ln>
        </p:spPr>
        <p:txBody>
          <a:bodyPr/>
          <a:p/>
        </p:txBody>
      </p:sp>
      <p:sp>
        <p:nvSpPr>
          <p:cNvPr id="26" name="Shape 24"/>
          <p:cNvSpPr/>
          <p:nvPr/>
        </p:nvSpPr>
        <p:spPr>
          <a:xfrm>
            <a:off x="1929384" y="2002536"/>
            <a:ext cx="292608" cy="292608"/>
          </a:xfrm>
          <a:prstGeom prst="ellipse">
            <a:avLst/>
          </a:prstGeom>
          <a:solidFill>
            <a:srgbClr val="272A38"/>
          </a:solidFill>
          <a:ln w="12700">
            <a:solidFill>
              <a:srgbClr val="11121A"/>
            </a:solidFill>
            <a:prstDash val="solid"/>
          </a:ln>
        </p:spPr>
        <p:txBody>
          <a:bodyPr/>
          <a:p/>
        </p:txBody>
      </p:sp>
      <p:sp>
        <p:nvSpPr>
          <p:cNvPr id="27" name="Shape 25"/>
          <p:cNvSpPr/>
          <p:nvPr/>
        </p:nvSpPr>
        <p:spPr>
          <a:xfrm>
            <a:off x="2313432" y="2002536"/>
            <a:ext cx="292608" cy="292608"/>
          </a:xfrm>
          <a:prstGeom prst="ellipse">
            <a:avLst/>
          </a:prstGeom>
          <a:solidFill>
            <a:srgbClr val="272A38"/>
          </a:solidFill>
          <a:ln w="12700">
            <a:solidFill>
              <a:srgbClr val="11121A"/>
            </a:solidFill>
            <a:prstDash val="solid"/>
          </a:ln>
        </p:spPr>
        <p:txBody>
          <a:bodyPr/>
          <a:p/>
        </p:txBody>
      </p:sp>
      <p:sp>
        <p:nvSpPr>
          <p:cNvPr id="28" name="Shape 26"/>
          <p:cNvSpPr/>
          <p:nvPr/>
        </p:nvSpPr>
        <p:spPr>
          <a:xfrm>
            <a:off x="2697480" y="2002536"/>
            <a:ext cx="292608" cy="292608"/>
          </a:xfrm>
          <a:prstGeom prst="ellipse">
            <a:avLst/>
          </a:prstGeom>
          <a:solidFill>
            <a:srgbClr val="272A38"/>
          </a:solidFill>
          <a:ln w="12700">
            <a:solidFill>
              <a:srgbClr val="11121A"/>
            </a:solidFill>
            <a:prstDash val="solid"/>
          </a:ln>
        </p:spPr>
        <p:txBody>
          <a:bodyPr/>
          <a:p/>
        </p:txBody>
      </p:sp>
      <p:sp>
        <p:nvSpPr>
          <p:cNvPr id="29" name="Shape 27"/>
          <p:cNvSpPr/>
          <p:nvPr/>
        </p:nvSpPr>
        <p:spPr>
          <a:xfrm>
            <a:off x="3081528" y="2002536"/>
            <a:ext cx="292608" cy="292608"/>
          </a:xfrm>
          <a:prstGeom prst="ellipse">
            <a:avLst/>
          </a:prstGeom>
          <a:solidFill>
            <a:srgbClr val="272A38"/>
          </a:solidFill>
          <a:ln w="12700">
            <a:solidFill>
              <a:srgbClr val="11121A"/>
            </a:solidFill>
            <a:prstDash val="solid"/>
          </a:ln>
        </p:spPr>
        <p:txBody>
          <a:bodyPr/>
          <a:p/>
        </p:txBody>
      </p:sp>
      <p:sp>
        <p:nvSpPr>
          <p:cNvPr id="30" name="Shape 28"/>
          <p:cNvSpPr/>
          <p:nvPr/>
        </p:nvSpPr>
        <p:spPr>
          <a:xfrm>
            <a:off x="3465576" y="2002536"/>
            <a:ext cx="292608" cy="292608"/>
          </a:xfrm>
          <a:prstGeom prst="ellipse">
            <a:avLst/>
          </a:prstGeom>
          <a:solidFill>
            <a:srgbClr val="272A38"/>
          </a:solidFill>
          <a:ln w="12700">
            <a:solidFill>
              <a:srgbClr val="11121A"/>
            </a:solidFill>
            <a:prstDash val="solid"/>
          </a:ln>
        </p:spPr>
        <p:txBody>
          <a:bodyPr/>
          <a:p/>
        </p:txBody>
      </p:sp>
      <p:sp>
        <p:nvSpPr>
          <p:cNvPr id="31" name="Shape 29"/>
          <p:cNvSpPr/>
          <p:nvPr/>
        </p:nvSpPr>
        <p:spPr>
          <a:xfrm>
            <a:off x="3849624" y="2002536"/>
            <a:ext cx="292608" cy="292608"/>
          </a:xfrm>
          <a:prstGeom prst="ellipse">
            <a:avLst/>
          </a:prstGeom>
          <a:solidFill>
            <a:srgbClr val="272A38"/>
          </a:solidFill>
          <a:ln w="12700">
            <a:solidFill>
              <a:srgbClr val="11121A"/>
            </a:solidFill>
            <a:prstDash val="solid"/>
          </a:ln>
        </p:spPr>
        <p:txBody>
          <a:bodyPr/>
          <a:p/>
        </p:txBody>
      </p:sp>
      <p:sp>
        <p:nvSpPr>
          <p:cNvPr id="32" name="Shape 30"/>
          <p:cNvSpPr/>
          <p:nvPr/>
        </p:nvSpPr>
        <p:spPr>
          <a:xfrm>
            <a:off x="4233672" y="2002536"/>
            <a:ext cx="292608" cy="292608"/>
          </a:xfrm>
          <a:prstGeom prst="ellipse">
            <a:avLst/>
          </a:prstGeom>
          <a:solidFill>
            <a:srgbClr val="272A38"/>
          </a:solidFill>
          <a:ln w="12700">
            <a:solidFill>
              <a:srgbClr val="11121A"/>
            </a:solidFill>
            <a:prstDash val="solid"/>
          </a:ln>
        </p:spPr>
        <p:txBody>
          <a:bodyPr/>
          <a:p/>
        </p:txBody>
      </p:sp>
      <p:sp>
        <p:nvSpPr>
          <p:cNvPr id="33" name="Shape 31"/>
          <p:cNvSpPr/>
          <p:nvPr/>
        </p:nvSpPr>
        <p:spPr>
          <a:xfrm>
            <a:off x="777240" y="2386584"/>
            <a:ext cx="292608" cy="292608"/>
          </a:xfrm>
          <a:prstGeom prst="ellipse">
            <a:avLst/>
          </a:prstGeom>
          <a:solidFill>
            <a:srgbClr val="272A38"/>
          </a:solidFill>
          <a:ln w="12700">
            <a:solidFill>
              <a:srgbClr val="11121A"/>
            </a:solidFill>
            <a:prstDash val="solid"/>
          </a:ln>
        </p:spPr>
        <p:txBody>
          <a:bodyPr/>
          <a:p/>
        </p:txBody>
      </p:sp>
      <p:sp>
        <p:nvSpPr>
          <p:cNvPr id="34" name="Shape 32"/>
          <p:cNvSpPr/>
          <p:nvPr/>
        </p:nvSpPr>
        <p:spPr>
          <a:xfrm>
            <a:off x="1161288" y="2386584"/>
            <a:ext cx="292608" cy="292608"/>
          </a:xfrm>
          <a:prstGeom prst="ellipse">
            <a:avLst/>
          </a:prstGeom>
          <a:solidFill>
            <a:srgbClr val="272A38"/>
          </a:solidFill>
          <a:ln w="12700">
            <a:solidFill>
              <a:srgbClr val="11121A"/>
            </a:solidFill>
            <a:prstDash val="solid"/>
          </a:ln>
        </p:spPr>
        <p:txBody>
          <a:bodyPr/>
          <a:p/>
        </p:txBody>
      </p:sp>
      <p:sp>
        <p:nvSpPr>
          <p:cNvPr id="35" name="Shape 33"/>
          <p:cNvSpPr/>
          <p:nvPr/>
        </p:nvSpPr>
        <p:spPr>
          <a:xfrm>
            <a:off x="1545336" y="2386584"/>
            <a:ext cx="292608" cy="292608"/>
          </a:xfrm>
          <a:prstGeom prst="ellipse">
            <a:avLst/>
          </a:prstGeom>
          <a:solidFill>
            <a:srgbClr val="272A38"/>
          </a:solidFill>
          <a:ln w="12700">
            <a:solidFill>
              <a:srgbClr val="11121A"/>
            </a:solidFill>
            <a:prstDash val="solid"/>
          </a:ln>
        </p:spPr>
        <p:txBody>
          <a:bodyPr/>
          <a:p/>
        </p:txBody>
      </p:sp>
      <p:sp>
        <p:nvSpPr>
          <p:cNvPr id="36" name="Shape 34"/>
          <p:cNvSpPr/>
          <p:nvPr/>
        </p:nvSpPr>
        <p:spPr>
          <a:xfrm>
            <a:off x="1929384" y="2386584"/>
            <a:ext cx="292608" cy="292608"/>
          </a:xfrm>
          <a:prstGeom prst="ellipse">
            <a:avLst/>
          </a:prstGeom>
          <a:solidFill>
            <a:srgbClr val="272A38"/>
          </a:solidFill>
          <a:ln w="12700">
            <a:solidFill>
              <a:srgbClr val="11121A"/>
            </a:solidFill>
            <a:prstDash val="solid"/>
          </a:ln>
        </p:spPr>
        <p:txBody>
          <a:bodyPr/>
          <a:p/>
        </p:txBody>
      </p:sp>
      <p:sp>
        <p:nvSpPr>
          <p:cNvPr id="37" name="Shape 35"/>
          <p:cNvSpPr/>
          <p:nvPr/>
        </p:nvSpPr>
        <p:spPr>
          <a:xfrm>
            <a:off x="2313432" y="2386584"/>
            <a:ext cx="292608" cy="292608"/>
          </a:xfrm>
          <a:prstGeom prst="ellipse">
            <a:avLst/>
          </a:prstGeom>
          <a:solidFill>
            <a:srgbClr val="272A38"/>
          </a:solidFill>
          <a:ln w="12700">
            <a:solidFill>
              <a:srgbClr val="11121A"/>
            </a:solidFill>
            <a:prstDash val="solid"/>
          </a:ln>
        </p:spPr>
        <p:txBody>
          <a:bodyPr/>
          <a:p/>
        </p:txBody>
      </p:sp>
      <p:sp>
        <p:nvSpPr>
          <p:cNvPr id="38" name="Shape 36"/>
          <p:cNvSpPr/>
          <p:nvPr/>
        </p:nvSpPr>
        <p:spPr>
          <a:xfrm>
            <a:off x="2697480" y="2386584"/>
            <a:ext cx="292608" cy="292608"/>
          </a:xfrm>
          <a:prstGeom prst="ellipse">
            <a:avLst/>
          </a:prstGeom>
          <a:solidFill>
            <a:srgbClr val="272A38"/>
          </a:solidFill>
          <a:ln w="12700">
            <a:solidFill>
              <a:srgbClr val="11121A"/>
            </a:solidFill>
            <a:prstDash val="solid"/>
          </a:ln>
        </p:spPr>
        <p:txBody>
          <a:bodyPr/>
          <a:p/>
        </p:txBody>
      </p:sp>
      <p:sp>
        <p:nvSpPr>
          <p:cNvPr id="39" name="Shape 37"/>
          <p:cNvSpPr/>
          <p:nvPr/>
        </p:nvSpPr>
        <p:spPr>
          <a:xfrm>
            <a:off x="3081528" y="2386584"/>
            <a:ext cx="292608" cy="292608"/>
          </a:xfrm>
          <a:prstGeom prst="ellipse">
            <a:avLst/>
          </a:prstGeom>
          <a:solidFill>
            <a:srgbClr val="272A38"/>
          </a:solidFill>
          <a:ln w="12700">
            <a:solidFill>
              <a:srgbClr val="11121A"/>
            </a:solidFill>
            <a:prstDash val="solid"/>
          </a:ln>
        </p:spPr>
        <p:txBody>
          <a:bodyPr/>
          <a:p/>
        </p:txBody>
      </p:sp>
      <p:sp>
        <p:nvSpPr>
          <p:cNvPr id="40" name="Shape 38"/>
          <p:cNvSpPr/>
          <p:nvPr/>
        </p:nvSpPr>
        <p:spPr>
          <a:xfrm>
            <a:off x="3465576" y="2386584"/>
            <a:ext cx="292608" cy="292608"/>
          </a:xfrm>
          <a:prstGeom prst="ellipse">
            <a:avLst/>
          </a:prstGeom>
          <a:solidFill>
            <a:srgbClr val="272A38"/>
          </a:solidFill>
          <a:ln w="12700">
            <a:solidFill>
              <a:srgbClr val="11121A"/>
            </a:solidFill>
            <a:prstDash val="solid"/>
          </a:ln>
        </p:spPr>
        <p:txBody>
          <a:bodyPr/>
          <a:p/>
        </p:txBody>
      </p:sp>
      <p:sp>
        <p:nvSpPr>
          <p:cNvPr id="41" name="Shape 39"/>
          <p:cNvSpPr/>
          <p:nvPr/>
        </p:nvSpPr>
        <p:spPr>
          <a:xfrm>
            <a:off x="3849624" y="2386584"/>
            <a:ext cx="292608" cy="292608"/>
          </a:xfrm>
          <a:prstGeom prst="ellipse">
            <a:avLst/>
          </a:prstGeom>
          <a:solidFill>
            <a:srgbClr val="272A38"/>
          </a:solidFill>
          <a:ln w="12700">
            <a:solidFill>
              <a:srgbClr val="11121A"/>
            </a:solidFill>
            <a:prstDash val="solid"/>
          </a:ln>
        </p:spPr>
        <p:txBody>
          <a:bodyPr/>
          <a:p/>
        </p:txBody>
      </p:sp>
      <p:sp>
        <p:nvSpPr>
          <p:cNvPr id="42" name="Shape 40"/>
          <p:cNvSpPr/>
          <p:nvPr/>
        </p:nvSpPr>
        <p:spPr>
          <a:xfrm>
            <a:off x="4233672" y="2386584"/>
            <a:ext cx="292608" cy="292608"/>
          </a:xfrm>
          <a:prstGeom prst="ellipse">
            <a:avLst/>
          </a:prstGeom>
          <a:solidFill>
            <a:srgbClr val="272A38"/>
          </a:solidFill>
          <a:ln w="12700">
            <a:solidFill>
              <a:srgbClr val="11121A"/>
            </a:solidFill>
            <a:prstDash val="solid"/>
          </a:ln>
        </p:spPr>
        <p:txBody>
          <a:bodyPr/>
          <a:p/>
        </p:txBody>
      </p:sp>
      <p:sp>
        <p:nvSpPr>
          <p:cNvPr id="43" name="Shape 41"/>
          <p:cNvSpPr/>
          <p:nvPr/>
        </p:nvSpPr>
        <p:spPr>
          <a:xfrm>
            <a:off x="777240" y="2770632"/>
            <a:ext cx="292608" cy="292608"/>
          </a:xfrm>
          <a:prstGeom prst="ellipse">
            <a:avLst/>
          </a:prstGeom>
          <a:solidFill>
            <a:srgbClr val="272A38"/>
          </a:solidFill>
          <a:ln w="12700">
            <a:solidFill>
              <a:srgbClr val="11121A"/>
            </a:solidFill>
            <a:prstDash val="solid"/>
          </a:ln>
        </p:spPr>
        <p:txBody>
          <a:bodyPr/>
          <a:p/>
        </p:txBody>
      </p:sp>
      <p:sp>
        <p:nvSpPr>
          <p:cNvPr id="44" name="Shape 42"/>
          <p:cNvSpPr/>
          <p:nvPr/>
        </p:nvSpPr>
        <p:spPr>
          <a:xfrm>
            <a:off x="1161288" y="2770632"/>
            <a:ext cx="292608" cy="292608"/>
          </a:xfrm>
          <a:prstGeom prst="ellipse">
            <a:avLst/>
          </a:prstGeom>
          <a:solidFill>
            <a:srgbClr val="272A38"/>
          </a:solidFill>
          <a:ln w="12700">
            <a:solidFill>
              <a:srgbClr val="11121A"/>
            </a:solidFill>
            <a:prstDash val="solid"/>
          </a:ln>
        </p:spPr>
        <p:txBody>
          <a:bodyPr/>
          <a:p/>
        </p:txBody>
      </p:sp>
      <p:sp>
        <p:nvSpPr>
          <p:cNvPr id="45" name="Shape 43"/>
          <p:cNvSpPr/>
          <p:nvPr/>
        </p:nvSpPr>
        <p:spPr>
          <a:xfrm>
            <a:off x="1545336" y="2770632"/>
            <a:ext cx="292608" cy="292608"/>
          </a:xfrm>
          <a:prstGeom prst="ellipse">
            <a:avLst/>
          </a:prstGeom>
          <a:solidFill>
            <a:srgbClr val="272A38"/>
          </a:solidFill>
          <a:ln w="12700">
            <a:solidFill>
              <a:srgbClr val="11121A"/>
            </a:solidFill>
            <a:prstDash val="solid"/>
          </a:ln>
        </p:spPr>
        <p:txBody>
          <a:bodyPr/>
          <a:p/>
        </p:txBody>
      </p:sp>
      <p:sp>
        <p:nvSpPr>
          <p:cNvPr id="46" name="Shape 44"/>
          <p:cNvSpPr/>
          <p:nvPr/>
        </p:nvSpPr>
        <p:spPr>
          <a:xfrm>
            <a:off x="1929384" y="2770632"/>
            <a:ext cx="292608" cy="292608"/>
          </a:xfrm>
          <a:prstGeom prst="ellipse">
            <a:avLst/>
          </a:prstGeom>
          <a:solidFill>
            <a:srgbClr val="272A38"/>
          </a:solidFill>
          <a:ln w="12700">
            <a:solidFill>
              <a:srgbClr val="11121A"/>
            </a:solidFill>
            <a:prstDash val="solid"/>
          </a:ln>
        </p:spPr>
        <p:txBody>
          <a:bodyPr/>
          <a:p/>
        </p:txBody>
      </p:sp>
      <p:sp>
        <p:nvSpPr>
          <p:cNvPr id="47" name="Shape 45"/>
          <p:cNvSpPr/>
          <p:nvPr/>
        </p:nvSpPr>
        <p:spPr>
          <a:xfrm>
            <a:off x="2313432" y="2770632"/>
            <a:ext cx="292608" cy="292608"/>
          </a:xfrm>
          <a:prstGeom prst="ellipse">
            <a:avLst/>
          </a:prstGeom>
          <a:solidFill>
            <a:srgbClr val="272A38"/>
          </a:solidFill>
          <a:ln w="12700">
            <a:solidFill>
              <a:srgbClr val="11121A"/>
            </a:solidFill>
            <a:prstDash val="solid"/>
          </a:ln>
        </p:spPr>
        <p:txBody>
          <a:bodyPr/>
          <a:p/>
        </p:txBody>
      </p:sp>
      <p:sp>
        <p:nvSpPr>
          <p:cNvPr id="48" name="Shape 46"/>
          <p:cNvSpPr/>
          <p:nvPr/>
        </p:nvSpPr>
        <p:spPr>
          <a:xfrm>
            <a:off x="2697480" y="2770632"/>
            <a:ext cx="292608" cy="292608"/>
          </a:xfrm>
          <a:prstGeom prst="ellipse">
            <a:avLst/>
          </a:prstGeom>
          <a:solidFill>
            <a:srgbClr val="272A38"/>
          </a:solidFill>
          <a:ln w="12700">
            <a:solidFill>
              <a:srgbClr val="11121A"/>
            </a:solidFill>
            <a:prstDash val="solid"/>
          </a:ln>
        </p:spPr>
        <p:txBody>
          <a:bodyPr/>
          <a:p/>
        </p:txBody>
      </p:sp>
      <p:sp>
        <p:nvSpPr>
          <p:cNvPr id="49" name="Shape 47"/>
          <p:cNvSpPr/>
          <p:nvPr/>
        </p:nvSpPr>
        <p:spPr>
          <a:xfrm>
            <a:off x="3081528" y="2770632"/>
            <a:ext cx="292608" cy="292608"/>
          </a:xfrm>
          <a:prstGeom prst="ellipse">
            <a:avLst/>
          </a:prstGeom>
          <a:solidFill>
            <a:srgbClr val="272A38"/>
          </a:solidFill>
          <a:ln w="12700">
            <a:solidFill>
              <a:srgbClr val="11121A"/>
            </a:solidFill>
            <a:prstDash val="solid"/>
          </a:ln>
        </p:spPr>
        <p:txBody>
          <a:bodyPr/>
          <a:p/>
        </p:txBody>
      </p:sp>
      <p:sp>
        <p:nvSpPr>
          <p:cNvPr id="50" name="Shape 48"/>
          <p:cNvSpPr/>
          <p:nvPr/>
        </p:nvSpPr>
        <p:spPr>
          <a:xfrm>
            <a:off x="3465576" y="2770632"/>
            <a:ext cx="292608" cy="292608"/>
          </a:xfrm>
          <a:prstGeom prst="ellipse">
            <a:avLst/>
          </a:prstGeom>
          <a:solidFill>
            <a:srgbClr val="272A38"/>
          </a:solidFill>
          <a:ln w="12700">
            <a:solidFill>
              <a:srgbClr val="11121A"/>
            </a:solidFill>
            <a:prstDash val="solid"/>
          </a:ln>
        </p:spPr>
        <p:txBody>
          <a:bodyPr/>
          <a:p/>
        </p:txBody>
      </p:sp>
      <p:sp>
        <p:nvSpPr>
          <p:cNvPr id="51" name="Shape 49"/>
          <p:cNvSpPr/>
          <p:nvPr/>
        </p:nvSpPr>
        <p:spPr>
          <a:xfrm>
            <a:off x="3849624" y="2770632"/>
            <a:ext cx="292608" cy="292608"/>
          </a:xfrm>
          <a:prstGeom prst="ellipse">
            <a:avLst/>
          </a:prstGeom>
          <a:solidFill>
            <a:srgbClr val="272A38"/>
          </a:solidFill>
          <a:ln w="12700">
            <a:solidFill>
              <a:srgbClr val="11121A"/>
            </a:solidFill>
            <a:prstDash val="solid"/>
          </a:ln>
        </p:spPr>
        <p:txBody>
          <a:bodyPr/>
          <a:p/>
        </p:txBody>
      </p:sp>
      <p:sp>
        <p:nvSpPr>
          <p:cNvPr id="52" name="Shape 50"/>
          <p:cNvSpPr/>
          <p:nvPr/>
        </p:nvSpPr>
        <p:spPr>
          <a:xfrm>
            <a:off x="4233672" y="2770632"/>
            <a:ext cx="292608" cy="292608"/>
          </a:xfrm>
          <a:prstGeom prst="ellipse">
            <a:avLst/>
          </a:prstGeom>
          <a:solidFill>
            <a:srgbClr val="272A38"/>
          </a:solidFill>
          <a:ln w="12700">
            <a:solidFill>
              <a:srgbClr val="11121A"/>
            </a:solidFill>
            <a:prstDash val="solid"/>
          </a:ln>
        </p:spPr>
        <p:txBody>
          <a:bodyPr/>
          <a:p/>
        </p:txBody>
      </p:sp>
      <p:sp>
        <p:nvSpPr>
          <p:cNvPr id="53" name="Shape 51"/>
          <p:cNvSpPr/>
          <p:nvPr/>
        </p:nvSpPr>
        <p:spPr>
          <a:xfrm>
            <a:off x="777240" y="3154680"/>
            <a:ext cx="292608" cy="292608"/>
          </a:xfrm>
          <a:prstGeom prst="ellipse">
            <a:avLst/>
          </a:prstGeom>
          <a:solidFill>
            <a:srgbClr val="272A38"/>
          </a:solidFill>
          <a:ln w="12700">
            <a:solidFill>
              <a:srgbClr val="11121A"/>
            </a:solidFill>
            <a:prstDash val="solid"/>
          </a:ln>
        </p:spPr>
        <p:txBody>
          <a:bodyPr/>
          <a:p/>
        </p:txBody>
      </p:sp>
      <p:sp>
        <p:nvSpPr>
          <p:cNvPr id="54" name="Shape 52"/>
          <p:cNvSpPr/>
          <p:nvPr/>
        </p:nvSpPr>
        <p:spPr>
          <a:xfrm>
            <a:off x="1161288" y="3154680"/>
            <a:ext cx="292608" cy="292608"/>
          </a:xfrm>
          <a:prstGeom prst="ellipse">
            <a:avLst/>
          </a:prstGeom>
          <a:solidFill>
            <a:srgbClr val="272A38"/>
          </a:solidFill>
          <a:ln w="12700">
            <a:solidFill>
              <a:srgbClr val="11121A"/>
            </a:solidFill>
            <a:prstDash val="solid"/>
          </a:ln>
        </p:spPr>
        <p:txBody>
          <a:bodyPr/>
          <a:p/>
        </p:txBody>
      </p:sp>
      <p:sp>
        <p:nvSpPr>
          <p:cNvPr id="55" name="Shape 53"/>
          <p:cNvSpPr/>
          <p:nvPr/>
        </p:nvSpPr>
        <p:spPr>
          <a:xfrm>
            <a:off x="1545336" y="3154680"/>
            <a:ext cx="292608" cy="292608"/>
          </a:xfrm>
          <a:prstGeom prst="ellipse">
            <a:avLst/>
          </a:prstGeom>
          <a:solidFill>
            <a:srgbClr val="272A38"/>
          </a:solidFill>
          <a:ln w="12700">
            <a:solidFill>
              <a:srgbClr val="11121A"/>
            </a:solidFill>
            <a:prstDash val="solid"/>
          </a:ln>
        </p:spPr>
        <p:txBody>
          <a:bodyPr/>
          <a:p/>
        </p:txBody>
      </p:sp>
      <p:sp>
        <p:nvSpPr>
          <p:cNvPr id="56" name="Shape 54"/>
          <p:cNvSpPr/>
          <p:nvPr/>
        </p:nvSpPr>
        <p:spPr>
          <a:xfrm>
            <a:off x="1929384" y="3154680"/>
            <a:ext cx="292608" cy="292608"/>
          </a:xfrm>
          <a:prstGeom prst="ellipse">
            <a:avLst/>
          </a:prstGeom>
          <a:solidFill>
            <a:srgbClr val="272A38"/>
          </a:solidFill>
          <a:ln w="12700">
            <a:solidFill>
              <a:srgbClr val="11121A"/>
            </a:solidFill>
            <a:prstDash val="solid"/>
          </a:ln>
        </p:spPr>
        <p:txBody>
          <a:bodyPr/>
          <a:p/>
        </p:txBody>
      </p:sp>
      <p:sp>
        <p:nvSpPr>
          <p:cNvPr id="57" name="Shape 55"/>
          <p:cNvSpPr/>
          <p:nvPr/>
        </p:nvSpPr>
        <p:spPr>
          <a:xfrm>
            <a:off x="2313432" y="3154680"/>
            <a:ext cx="292608" cy="292608"/>
          </a:xfrm>
          <a:prstGeom prst="ellipse">
            <a:avLst/>
          </a:prstGeom>
          <a:solidFill>
            <a:srgbClr val="272A38"/>
          </a:solidFill>
          <a:ln w="12700">
            <a:solidFill>
              <a:srgbClr val="11121A"/>
            </a:solidFill>
            <a:prstDash val="solid"/>
          </a:ln>
        </p:spPr>
        <p:txBody>
          <a:bodyPr/>
          <a:p/>
        </p:txBody>
      </p:sp>
      <p:sp>
        <p:nvSpPr>
          <p:cNvPr id="58" name="Shape 56"/>
          <p:cNvSpPr/>
          <p:nvPr/>
        </p:nvSpPr>
        <p:spPr>
          <a:xfrm>
            <a:off x="2697480" y="3154680"/>
            <a:ext cx="292608" cy="292608"/>
          </a:xfrm>
          <a:prstGeom prst="ellipse">
            <a:avLst/>
          </a:prstGeom>
          <a:solidFill>
            <a:srgbClr val="272A38"/>
          </a:solidFill>
          <a:ln w="12700">
            <a:solidFill>
              <a:srgbClr val="11121A"/>
            </a:solidFill>
            <a:prstDash val="solid"/>
          </a:ln>
        </p:spPr>
        <p:txBody>
          <a:bodyPr/>
          <a:p/>
        </p:txBody>
      </p:sp>
      <p:sp>
        <p:nvSpPr>
          <p:cNvPr id="59" name="Shape 57"/>
          <p:cNvSpPr/>
          <p:nvPr/>
        </p:nvSpPr>
        <p:spPr>
          <a:xfrm>
            <a:off x="3081528" y="3154680"/>
            <a:ext cx="292608" cy="292608"/>
          </a:xfrm>
          <a:prstGeom prst="ellipse">
            <a:avLst/>
          </a:prstGeom>
          <a:solidFill>
            <a:srgbClr val="272A38"/>
          </a:solidFill>
          <a:ln w="12700">
            <a:solidFill>
              <a:srgbClr val="11121A"/>
            </a:solidFill>
            <a:prstDash val="solid"/>
          </a:ln>
        </p:spPr>
        <p:txBody>
          <a:bodyPr/>
          <a:p/>
        </p:txBody>
      </p:sp>
      <p:sp>
        <p:nvSpPr>
          <p:cNvPr id="60" name="Shape 58"/>
          <p:cNvSpPr/>
          <p:nvPr/>
        </p:nvSpPr>
        <p:spPr>
          <a:xfrm>
            <a:off x="3465576" y="3154680"/>
            <a:ext cx="292608" cy="292608"/>
          </a:xfrm>
          <a:prstGeom prst="ellipse">
            <a:avLst/>
          </a:prstGeom>
          <a:solidFill>
            <a:srgbClr val="272A38"/>
          </a:solidFill>
          <a:ln w="12700">
            <a:solidFill>
              <a:srgbClr val="11121A"/>
            </a:solidFill>
            <a:prstDash val="solid"/>
          </a:ln>
        </p:spPr>
        <p:txBody>
          <a:bodyPr/>
          <a:p/>
        </p:txBody>
      </p:sp>
      <p:sp>
        <p:nvSpPr>
          <p:cNvPr id="61" name="Shape 59"/>
          <p:cNvSpPr/>
          <p:nvPr/>
        </p:nvSpPr>
        <p:spPr>
          <a:xfrm>
            <a:off x="3849624" y="3154680"/>
            <a:ext cx="292608" cy="292608"/>
          </a:xfrm>
          <a:prstGeom prst="ellipse">
            <a:avLst/>
          </a:prstGeom>
          <a:solidFill>
            <a:srgbClr val="272A38"/>
          </a:solidFill>
          <a:ln w="12700">
            <a:solidFill>
              <a:srgbClr val="11121A"/>
            </a:solidFill>
            <a:prstDash val="solid"/>
          </a:ln>
        </p:spPr>
        <p:txBody>
          <a:bodyPr/>
          <a:p/>
        </p:txBody>
      </p:sp>
      <p:sp>
        <p:nvSpPr>
          <p:cNvPr id="62" name="Shape 60"/>
          <p:cNvSpPr/>
          <p:nvPr/>
        </p:nvSpPr>
        <p:spPr>
          <a:xfrm>
            <a:off x="4233672" y="3154680"/>
            <a:ext cx="292608" cy="292608"/>
          </a:xfrm>
          <a:prstGeom prst="ellipse">
            <a:avLst/>
          </a:prstGeom>
          <a:solidFill>
            <a:srgbClr val="272A38"/>
          </a:solidFill>
          <a:ln w="12700">
            <a:solidFill>
              <a:srgbClr val="11121A"/>
            </a:solidFill>
            <a:prstDash val="solid"/>
          </a:ln>
        </p:spPr>
        <p:txBody>
          <a:bodyPr/>
          <a:p/>
        </p:txBody>
      </p:sp>
      <p:sp>
        <p:nvSpPr>
          <p:cNvPr id="63" name="Shape 61"/>
          <p:cNvSpPr/>
          <p:nvPr/>
        </p:nvSpPr>
        <p:spPr>
          <a:xfrm>
            <a:off x="777240" y="3538728"/>
            <a:ext cx="292608" cy="292608"/>
          </a:xfrm>
          <a:prstGeom prst="ellipse">
            <a:avLst/>
          </a:prstGeom>
          <a:solidFill>
            <a:srgbClr val="272A38"/>
          </a:solidFill>
          <a:ln w="12700">
            <a:solidFill>
              <a:srgbClr val="11121A"/>
            </a:solidFill>
            <a:prstDash val="solid"/>
          </a:ln>
        </p:spPr>
        <p:txBody>
          <a:bodyPr/>
          <a:p/>
        </p:txBody>
      </p:sp>
      <p:sp>
        <p:nvSpPr>
          <p:cNvPr id="64" name="Shape 62"/>
          <p:cNvSpPr/>
          <p:nvPr/>
        </p:nvSpPr>
        <p:spPr>
          <a:xfrm>
            <a:off x="1161288" y="3538728"/>
            <a:ext cx="292608" cy="292608"/>
          </a:xfrm>
          <a:prstGeom prst="ellipse">
            <a:avLst/>
          </a:prstGeom>
          <a:solidFill>
            <a:srgbClr val="272A38"/>
          </a:solidFill>
          <a:ln w="12700">
            <a:solidFill>
              <a:srgbClr val="11121A"/>
            </a:solidFill>
            <a:prstDash val="solid"/>
          </a:ln>
        </p:spPr>
        <p:txBody>
          <a:bodyPr/>
          <a:p/>
        </p:txBody>
      </p:sp>
      <p:sp>
        <p:nvSpPr>
          <p:cNvPr id="65" name="Shape 63"/>
          <p:cNvSpPr/>
          <p:nvPr/>
        </p:nvSpPr>
        <p:spPr>
          <a:xfrm>
            <a:off x="1545336" y="3538728"/>
            <a:ext cx="292608" cy="292608"/>
          </a:xfrm>
          <a:prstGeom prst="ellipse">
            <a:avLst/>
          </a:prstGeom>
          <a:solidFill>
            <a:srgbClr val="272A38"/>
          </a:solidFill>
          <a:ln w="12700">
            <a:solidFill>
              <a:srgbClr val="11121A"/>
            </a:solidFill>
            <a:prstDash val="solid"/>
          </a:ln>
        </p:spPr>
        <p:txBody>
          <a:bodyPr/>
          <a:p/>
        </p:txBody>
      </p:sp>
      <p:sp>
        <p:nvSpPr>
          <p:cNvPr id="66" name="Shape 64"/>
          <p:cNvSpPr/>
          <p:nvPr/>
        </p:nvSpPr>
        <p:spPr>
          <a:xfrm>
            <a:off x="1929384" y="3538728"/>
            <a:ext cx="292608" cy="292608"/>
          </a:xfrm>
          <a:prstGeom prst="ellipse">
            <a:avLst/>
          </a:prstGeom>
          <a:solidFill>
            <a:srgbClr val="272A38"/>
          </a:solidFill>
          <a:ln w="12700">
            <a:solidFill>
              <a:srgbClr val="11121A"/>
            </a:solidFill>
            <a:prstDash val="solid"/>
          </a:ln>
        </p:spPr>
        <p:txBody>
          <a:bodyPr/>
          <a:p/>
        </p:txBody>
      </p:sp>
      <p:sp>
        <p:nvSpPr>
          <p:cNvPr id="67" name="Shape 65"/>
          <p:cNvSpPr/>
          <p:nvPr/>
        </p:nvSpPr>
        <p:spPr>
          <a:xfrm>
            <a:off x="2313432" y="3538728"/>
            <a:ext cx="292608" cy="292608"/>
          </a:xfrm>
          <a:prstGeom prst="ellipse">
            <a:avLst/>
          </a:prstGeom>
          <a:solidFill>
            <a:srgbClr val="272A38"/>
          </a:solidFill>
          <a:ln w="12700">
            <a:solidFill>
              <a:srgbClr val="11121A"/>
            </a:solidFill>
            <a:prstDash val="solid"/>
          </a:ln>
        </p:spPr>
        <p:txBody>
          <a:bodyPr/>
          <a:p/>
        </p:txBody>
      </p:sp>
      <p:sp>
        <p:nvSpPr>
          <p:cNvPr id="68" name="Shape 66"/>
          <p:cNvSpPr/>
          <p:nvPr/>
        </p:nvSpPr>
        <p:spPr>
          <a:xfrm>
            <a:off x="2697480" y="3538728"/>
            <a:ext cx="292608" cy="292608"/>
          </a:xfrm>
          <a:prstGeom prst="ellipse">
            <a:avLst/>
          </a:prstGeom>
          <a:solidFill>
            <a:srgbClr val="272A38"/>
          </a:solidFill>
          <a:ln w="12700">
            <a:solidFill>
              <a:srgbClr val="11121A"/>
            </a:solidFill>
            <a:prstDash val="solid"/>
          </a:ln>
        </p:spPr>
        <p:txBody>
          <a:bodyPr/>
          <a:p/>
        </p:txBody>
      </p:sp>
      <p:sp>
        <p:nvSpPr>
          <p:cNvPr id="69" name="Shape 67"/>
          <p:cNvSpPr/>
          <p:nvPr/>
        </p:nvSpPr>
        <p:spPr>
          <a:xfrm>
            <a:off x="3081528" y="3538728"/>
            <a:ext cx="292608" cy="292608"/>
          </a:xfrm>
          <a:prstGeom prst="ellipse">
            <a:avLst/>
          </a:prstGeom>
          <a:solidFill>
            <a:srgbClr val="272A38"/>
          </a:solidFill>
          <a:ln w="12700">
            <a:solidFill>
              <a:srgbClr val="11121A"/>
            </a:solidFill>
            <a:prstDash val="solid"/>
          </a:ln>
        </p:spPr>
        <p:txBody>
          <a:bodyPr/>
          <a:p/>
        </p:txBody>
      </p:sp>
      <p:sp>
        <p:nvSpPr>
          <p:cNvPr id="70" name="Shape 68"/>
          <p:cNvSpPr/>
          <p:nvPr/>
        </p:nvSpPr>
        <p:spPr>
          <a:xfrm>
            <a:off x="3465576" y="3538728"/>
            <a:ext cx="292608" cy="292608"/>
          </a:xfrm>
          <a:prstGeom prst="ellipse">
            <a:avLst/>
          </a:prstGeom>
          <a:solidFill>
            <a:srgbClr val="272A38"/>
          </a:solidFill>
          <a:ln w="12700">
            <a:solidFill>
              <a:srgbClr val="11121A"/>
            </a:solidFill>
            <a:prstDash val="solid"/>
          </a:ln>
        </p:spPr>
        <p:txBody>
          <a:bodyPr/>
          <a:p/>
        </p:txBody>
      </p:sp>
      <p:sp>
        <p:nvSpPr>
          <p:cNvPr id="71" name="Shape 69"/>
          <p:cNvSpPr/>
          <p:nvPr/>
        </p:nvSpPr>
        <p:spPr>
          <a:xfrm>
            <a:off x="3849624" y="3538728"/>
            <a:ext cx="292608" cy="292608"/>
          </a:xfrm>
          <a:prstGeom prst="ellipse">
            <a:avLst/>
          </a:prstGeom>
          <a:solidFill>
            <a:srgbClr val="272A38"/>
          </a:solidFill>
          <a:ln w="12700">
            <a:solidFill>
              <a:srgbClr val="11121A"/>
            </a:solidFill>
            <a:prstDash val="solid"/>
          </a:ln>
        </p:spPr>
        <p:txBody>
          <a:bodyPr/>
          <a:p/>
        </p:txBody>
      </p:sp>
      <p:sp>
        <p:nvSpPr>
          <p:cNvPr id="72" name="Shape 70"/>
          <p:cNvSpPr/>
          <p:nvPr/>
        </p:nvSpPr>
        <p:spPr>
          <a:xfrm>
            <a:off x="4233672" y="3538728"/>
            <a:ext cx="292608" cy="292608"/>
          </a:xfrm>
          <a:prstGeom prst="ellipse">
            <a:avLst/>
          </a:prstGeom>
          <a:solidFill>
            <a:srgbClr val="272A38"/>
          </a:solidFill>
          <a:ln w="12700">
            <a:solidFill>
              <a:srgbClr val="11121A"/>
            </a:solidFill>
            <a:prstDash val="solid"/>
          </a:ln>
        </p:spPr>
        <p:txBody>
          <a:bodyPr/>
          <a:p/>
        </p:txBody>
      </p:sp>
      <p:sp>
        <p:nvSpPr>
          <p:cNvPr id="73" name="Shape 71"/>
          <p:cNvSpPr/>
          <p:nvPr/>
        </p:nvSpPr>
        <p:spPr>
          <a:xfrm>
            <a:off x="777240" y="3922776"/>
            <a:ext cx="292608" cy="292608"/>
          </a:xfrm>
          <a:prstGeom prst="ellipse">
            <a:avLst/>
          </a:prstGeom>
          <a:solidFill>
            <a:srgbClr val="272A38"/>
          </a:solidFill>
          <a:ln w="12700">
            <a:solidFill>
              <a:srgbClr val="11121A"/>
            </a:solidFill>
            <a:prstDash val="solid"/>
          </a:ln>
        </p:spPr>
        <p:txBody>
          <a:bodyPr/>
          <a:p/>
        </p:txBody>
      </p:sp>
      <p:sp>
        <p:nvSpPr>
          <p:cNvPr id="74" name="Shape 72"/>
          <p:cNvSpPr/>
          <p:nvPr/>
        </p:nvSpPr>
        <p:spPr>
          <a:xfrm>
            <a:off x="1161288" y="3922776"/>
            <a:ext cx="292608" cy="292608"/>
          </a:xfrm>
          <a:prstGeom prst="ellipse">
            <a:avLst/>
          </a:prstGeom>
          <a:solidFill>
            <a:srgbClr val="272A38"/>
          </a:solidFill>
          <a:ln w="12700">
            <a:solidFill>
              <a:srgbClr val="11121A"/>
            </a:solidFill>
            <a:prstDash val="solid"/>
          </a:ln>
        </p:spPr>
        <p:txBody>
          <a:bodyPr/>
          <a:p/>
        </p:txBody>
      </p:sp>
      <p:sp>
        <p:nvSpPr>
          <p:cNvPr id="75" name="Shape 73"/>
          <p:cNvSpPr/>
          <p:nvPr/>
        </p:nvSpPr>
        <p:spPr>
          <a:xfrm>
            <a:off x="1545336" y="3922776"/>
            <a:ext cx="292608" cy="292608"/>
          </a:xfrm>
          <a:prstGeom prst="ellipse">
            <a:avLst/>
          </a:prstGeom>
          <a:solidFill>
            <a:srgbClr val="272A38"/>
          </a:solidFill>
          <a:ln w="12700">
            <a:solidFill>
              <a:srgbClr val="11121A"/>
            </a:solidFill>
            <a:prstDash val="solid"/>
          </a:ln>
        </p:spPr>
        <p:txBody>
          <a:bodyPr/>
          <a:p/>
        </p:txBody>
      </p:sp>
      <p:sp>
        <p:nvSpPr>
          <p:cNvPr id="76" name="Shape 74"/>
          <p:cNvSpPr/>
          <p:nvPr/>
        </p:nvSpPr>
        <p:spPr>
          <a:xfrm>
            <a:off x="1929384" y="3922776"/>
            <a:ext cx="292608" cy="292608"/>
          </a:xfrm>
          <a:prstGeom prst="ellipse">
            <a:avLst/>
          </a:prstGeom>
          <a:solidFill>
            <a:srgbClr val="272A38"/>
          </a:solidFill>
          <a:ln w="12700">
            <a:solidFill>
              <a:srgbClr val="11121A"/>
            </a:solidFill>
            <a:prstDash val="solid"/>
          </a:ln>
        </p:spPr>
        <p:txBody>
          <a:bodyPr/>
          <a:p/>
        </p:txBody>
      </p:sp>
      <p:sp>
        <p:nvSpPr>
          <p:cNvPr id="77" name="Shape 75"/>
          <p:cNvSpPr/>
          <p:nvPr/>
        </p:nvSpPr>
        <p:spPr>
          <a:xfrm>
            <a:off x="2313432" y="3922776"/>
            <a:ext cx="292608" cy="292608"/>
          </a:xfrm>
          <a:prstGeom prst="ellipse">
            <a:avLst/>
          </a:prstGeom>
          <a:solidFill>
            <a:srgbClr val="272A38"/>
          </a:solidFill>
          <a:ln w="12700">
            <a:solidFill>
              <a:srgbClr val="11121A"/>
            </a:solidFill>
            <a:prstDash val="solid"/>
          </a:ln>
        </p:spPr>
        <p:txBody>
          <a:bodyPr/>
          <a:p/>
        </p:txBody>
      </p:sp>
      <p:sp>
        <p:nvSpPr>
          <p:cNvPr id="78" name="Shape 76"/>
          <p:cNvSpPr/>
          <p:nvPr/>
        </p:nvSpPr>
        <p:spPr>
          <a:xfrm>
            <a:off x="2697480" y="3922776"/>
            <a:ext cx="292608" cy="292608"/>
          </a:xfrm>
          <a:prstGeom prst="ellipse">
            <a:avLst/>
          </a:prstGeom>
          <a:solidFill>
            <a:srgbClr val="272A38"/>
          </a:solidFill>
          <a:ln w="12700">
            <a:solidFill>
              <a:srgbClr val="11121A"/>
            </a:solidFill>
            <a:prstDash val="solid"/>
          </a:ln>
        </p:spPr>
        <p:txBody>
          <a:bodyPr/>
          <a:p/>
        </p:txBody>
      </p:sp>
      <p:sp>
        <p:nvSpPr>
          <p:cNvPr id="79" name="Shape 77"/>
          <p:cNvSpPr/>
          <p:nvPr/>
        </p:nvSpPr>
        <p:spPr>
          <a:xfrm>
            <a:off x="3081528" y="3922776"/>
            <a:ext cx="292608" cy="292608"/>
          </a:xfrm>
          <a:prstGeom prst="ellipse">
            <a:avLst/>
          </a:prstGeom>
          <a:solidFill>
            <a:srgbClr val="272A38"/>
          </a:solidFill>
          <a:ln w="12700">
            <a:solidFill>
              <a:srgbClr val="11121A"/>
            </a:solidFill>
            <a:prstDash val="solid"/>
          </a:ln>
        </p:spPr>
        <p:txBody>
          <a:bodyPr/>
          <a:p/>
        </p:txBody>
      </p:sp>
      <p:sp>
        <p:nvSpPr>
          <p:cNvPr id="80" name="Shape 78"/>
          <p:cNvSpPr/>
          <p:nvPr/>
        </p:nvSpPr>
        <p:spPr>
          <a:xfrm>
            <a:off x="3465576" y="3922776"/>
            <a:ext cx="292608" cy="292608"/>
          </a:xfrm>
          <a:prstGeom prst="ellipse">
            <a:avLst/>
          </a:prstGeom>
          <a:solidFill>
            <a:srgbClr val="272A38"/>
          </a:solidFill>
          <a:ln w="12700">
            <a:solidFill>
              <a:srgbClr val="11121A"/>
            </a:solidFill>
            <a:prstDash val="solid"/>
          </a:ln>
        </p:spPr>
        <p:txBody>
          <a:bodyPr/>
          <a:p/>
        </p:txBody>
      </p:sp>
      <p:sp>
        <p:nvSpPr>
          <p:cNvPr id="81" name="Shape 79"/>
          <p:cNvSpPr/>
          <p:nvPr/>
        </p:nvSpPr>
        <p:spPr>
          <a:xfrm>
            <a:off x="3849624" y="3922776"/>
            <a:ext cx="292608" cy="292608"/>
          </a:xfrm>
          <a:prstGeom prst="ellipse">
            <a:avLst/>
          </a:prstGeom>
          <a:solidFill>
            <a:srgbClr val="272A38"/>
          </a:solidFill>
          <a:ln w="12700">
            <a:solidFill>
              <a:srgbClr val="11121A"/>
            </a:solidFill>
            <a:prstDash val="solid"/>
          </a:ln>
        </p:spPr>
        <p:txBody>
          <a:bodyPr/>
          <a:p/>
        </p:txBody>
      </p:sp>
      <p:sp>
        <p:nvSpPr>
          <p:cNvPr id="82" name="Shape 80"/>
          <p:cNvSpPr/>
          <p:nvPr/>
        </p:nvSpPr>
        <p:spPr>
          <a:xfrm>
            <a:off x="4233672" y="3922776"/>
            <a:ext cx="292608" cy="292608"/>
          </a:xfrm>
          <a:prstGeom prst="ellipse">
            <a:avLst/>
          </a:prstGeom>
          <a:solidFill>
            <a:srgbClr val="272A38"/>
          </a:solidFill>
          <a:ln w="12700">
            <a:solidFill>
              <a:srgbClr val="11121A"/>
            </a:solidFill>
            <a:prstDash val="solid"/>
          </a:ln>
        </p:spPr>
        <p:txBody>
          <a:bodyPr/>
          <a:p/>
        </p:txBody>
      </p:sp>
      <p:sp>
        <p:nvSpPr>
          <p:cNvPr id="83" name="Shape 81"/>
          <p:cNvSpPr/>
          <p:nvPr/>
        </p:nvSpPr>
        <p:spPr>
          <a:xfrm>
            <a:off x="777240" y="4306824"/>
            <a:ext cx="292608" cy="292608"/>
          </a:xfrm>
          <a:prstGeom prst="ellipse">
            <a:avLst/>
          </a:prstGeom>
          <a:solidFill>
            <a:srgbClr val="272A38"/>
          </a:solidFill>
          <a:ln w="12700">
            <a:solidFill>
              <a:srgbClr val="11121A"/>
            </a:solidFill>
            <a:prstDash val="solid"/>
          </a:ln>
        </p:spPr>
        <p:txBody>
          <a:bodyPr/>
          <a:p/>
        </p:txBody>
      </p:sp>
      <p:sp>
        <p:nvSpPr>
          <p:cNvPr id="84" name="Shape 82"/>
          <p:cNvSpPr/>
          <p:nvPr/>
        </p:nvSpPr>
        <p:spPr>
          <a:xfrm>
            <a:off x="1161288" y="4306824"/>
            <a:ext cx="292608" cy="292608"/>
          </a:xfrm>
          <a:prstGeom prst="ellipse">
            <a:avLst/>
          </a:prstGeom>
          <a:solidFill>
            <a:srgbClr val="272A38"/>
          </a:solidFill>
          <a:ln w="12700">
            <a:solidFill>
              <a:srgbClr val="11121A"/>
            </a:solidFill>
            <a:prstDash val="solid"/>
          </a:ln>
        </p:spPr>
        <p:txBody>
          <a:bodyPr/>
          <a:p/>
        </p:txBody>
      </p:sp>
      <p:sp>
        <p:nvSpPr>
          <p:cNvPr id="85" name="Shape 83"/>
          <p:cNvSpPr/>
          <p:nvPr/>
        </p:nvSpPr>
        <p:spPr>
          <a:xfrm>
            <a:off x="1545336" y="4306824"/>
            <a:ext cx="292608" cy="292608"/>
          </a:xfrm>
          <a:prstGeom prst="ellipse">
            <a:avLst/>
          </a:prstGeom>
          <a:solidFill>
            <a:srgbClr val="272A38"/>
          </a:solidFill>
          <a:ln w="12700">
            <a:solidFill>
              <a:srgbClr val="11121A"/>
            </a:solidFill>
            <a:prstDash val="solid"/>
          </a:ln>
        </p:spPr>
        <p:txBody>
          <a:bodyPr/>
          <a:p/>
        </p:txBody>
      </p:sp>
      <p:sp>
        <p:nvSpPr>
          <p:cNvPr id="86" name="Shape 84"/>
          <p:cNvSpPr/>
          <p:nvPr/>
        </p:nvSpPr>
        <p:spPr>
          <a:xfrm>
            <a:off x="1929384" y="4306824"/>
            <a:ext cx="292608" cy="292608"/>
          </a:xfrm>
          <a:prstGeom prst="ellipse">
            <a:avLst/>
          </a:prstGeom>
          <a:solidFill>
            <a:srgbClr val="272A38"/>
          </a:solidFill>
          <a:ln w="12700">
            <a:solidFill>
              <a:srgbClr val="11121A"/>
            </a:solidFill>
            <a:prstDash val="solid"/>
          </a:ln>
        </p:spPr>
        <p:txBody>
          <a:bodyPr/>
          <a:p/>
        </p:txBody>
      </p:sp>
      <p:sp>
        <p:nvSpPr>
          <p:cNvPr id="87" name="Shape 85"/>
          <p:cNvSpPr/>
          <p:nvPr/>
        </p:nvSpPr>
        <p:spPr>
          <a:xfrm>
            <a:off x="2313432" y="4306824"/>
            <a:ext cx="292608" cy="292608"/>
          </a:xfrm>
          <a:prstGeom prst="ellipse">
            <a:avLst/>
          </a:prstGeom>
          <a:solidFill>
            <a:srgbClr val="272A38"/>
          </a:solidFill>
          <a:ln w="12700">
            <a:solidFill>
              <a:srgbClr val="11121A"/>
            </a:solidFill>
            <a:prstDash val="solid"/>
          </a:ln>
        </p:spPr>
        <p:txBody>
          <a:bodyPr/>
          <a:p/>
        </p:txBody>
      </p:sp>
      <p:sp>
        <p:nvSpPr>
          <p:cNvPr id="88" name="Shape 86"/>
          <p:cNvSpPr/>
          <p:nvPr/>
        </p:nvSpPr>
        <p:spPr>
          <a:xfrm>
            <a:off x="2697480" y="4306824"/>
            <a:ext cx="292608" cy="292608"/>
          </a:xfrm>
          <a:prstGeom prst="ellipse">
            <a:avLst/>
          </a:prstGeom>
          <a:solidFill>
            <a:srgbClr val="272A38"/>
          </a:solidFill>
          <a:ln w="12700">
            <a:solidFill>
              <a:srgbClr val="11121A"/>
            </a:solidFill>
            <a:prstDash val="solid"/>
          </a:ln>
        </p:spPr>
        <p:txBody>
          <a:bodyPr/>
          <a:p/>
        </p:txBody>
      </p:sp>
      <p:sp>
        <p:nvSpPr>
          <p:cNvPr id="89" name="Shape 87"/>
          <p:cNvSpPr/>
          <p:nvPr/>
        </p:nvSpPr>
        <p:spPr>
          <a:xfrm>
            <a:off x="3081528" y="4306824"/>
            <a:ext cx="292608" cy="292608"/>
          </a:xfrm>
          <a:prstGeom prst="ellipse">
            <a:avLst/>
          </a:prstGeom>
          <a:solidFill>
            <a:srgbClr val="272A38"/>
          </a:solidFill>
          <a:ln w="12700">
            <a:solidFill>
              <a:srgbClr val="11121A"/>
            </a:solidFill>
            <a:prstDash val="solid"/>
          </a:ln>
        </p:spPr>
        <p:txBody>
          <a:bodyPr/>
          <a:p/>
        </p:txBody>
      </p:sp>
      <p:sp>
        <p:nvSpPr>
          <p:cNvPr id="90" name="Shape 88"/>
          <p:cNvSpPr/>
          <p:nvPr/>
        </p:nvSpPr>
        <p:spPr>
          <a:xfrm>
            <a:off x="3465576" y="4306824"/>
            <a:ext cx="292608" cy="292608"/>
          </a:xfrm>
          <a:prstGeom prst="ellipse">
            <a:avLst/>
          </a:prstGeom>
          <a:solidFill>
            <a:srgbClr val="272A38"/>
          </a:solidFill>
          <a:ln w="12700">
            <a:solidFill>
              <a:srgbClr val="11121A"/>
            </a:solidFill>
            <a:prstDash val="solid"/>
          </a:ln>
        </p:spPr>
        <p:txBody>
          <a:bodyPr/>
          <a:p/>
        </p:txBody>
      </p:sp>
      <p:sp>
        <p:nvSpPr>
          <p:cNvPr id="91" name="Shape 89"/>
          <p:cNvSpPr/>
          <p:nvPr/>
        </p:nvSpPr>
        <p:spPr>
          <a:xfrm>
            <a:off x="3849624" y="4306824"/>
            <a:ext cx="292608" cy="292608"/>
          </a:xfrm>
          <a:prstGeom prst="ellipse">
            <a:avLst/>
          </a:prstGeom>
          <a:solidFill>
            <a:srgbClr val="272A38"/>
          </a:solidFill>
          <a:ln w="12700">
            <a:solidFill>
              <a:srgbClr val="11121A"/>
            </a:solidFill>
            <a:prstDash val="solid"/>
          </a:ln>
        </p:spPr>
        <p:txBody>
          <a:bodyPr/>
          <a:p/>
        </p:txBody>
      </p:sp>
      <p:sp>
        <p:nvSpPr>
          <p:cNvPr id="92" name="Shape 90"/>
          <p:cNvSpPr/>
          <p:nvPr/>
        </p:nvSpPr>
        <p:spPr>
          <a:xfrm>
            <a:off x="4233672" y="4306824"/>
            <a:ext cx="292608" cy="292608"/>
          </a:xfrm>
          <a:prstGeom prst="ellipse">
            <a:avLst/>
          </a:prstGeom>
          <a:solidFill>
            <a:srgbClr val="272A38"/>
          </a:solidFill>
          <a:ln w="12700">
            <a:solidFill>
              <a:srgbClr val="11121A"/>
            </a:solidFill>
            <a:prstDash val="solid"/>
          </a:ln>
        </p:spPr>
        <p:txBody>
          <a:bodyPr/>
          <a:p/>
        </p:txBody>
      </p:sp>
      <p:sp>
        <p:nvSpPr>
          <p:cNvPr id="93" name="Shape 91"/>
          <p:cNvSpPr/>
          <p:nvPr/>
        </p:nvSpPr>
        <p:spPr>
          <a:xfrm>
            <a:off x="777240" y="4690872"/>
            <a:ext cx="292608" cy="292608"/>
          </a:xfrm>
          <a:prstGeom prst="ellipse">
            <a:avLst/>
          </a:prstGeom>
          <a:solidFill>
            <a:srgbClr val="272A38"/>
          </a:solidFill>
          <a:ln w="12700">
            <a:solidFill>
              <a:srgbClr val="11121A"/>
            </a:solidFill>
            <a:prstDash val="solid"/>
          </a:ln>
        </p:spPr>
        <p:txBody>
          <a:bodyPr/>
          <a:p/>
        </p:txBody>
      </p:sp>
      <p:sp>
        <p:nvSpPr>
          <p:cNvPr id="94" name="Shape 92"/>
          <p:cNvSpPr/>
          <p:nvPr/>
        </p:nvSpPr>
        <p:spPr>
          <a:xfrm>
            <a:off x="1161288" y="4690872"/>
            <a:ext cx="292608" cy="292608"/>
          </a:xfrm>
          <a:prstGeom prst="ellipse">
            <a:avLst/>
          </a:prstGeom>
          <a:solidFill>
            <a:srgbClr val="272A38"/>
          </a:solidFill>
          <a:ln w="12700">
            <a:solidFill>
              <a:srgbClr val="11121A"/>
            </a:solidFill>
            <a:prstDash val="solid"/>
          </a:ln>
        </p:spPr>
        <p:txBody>
          <a:bodyPr/>
          <a:p/>
        </p:txBody>
      </p:sp>
      <p:sp>
        <p:nvSpPr>
          <p:cNvPr id="95" name="Shape 93"/>
          <p:cNvSpPr/>
          <p:nvPr/>
        </p:nvSpPr>
        <p:spPr>
          <a:xfrm>
            <a:off x="1545336" y="4690872"/>
            <a:ext cx="292608" cy="292608"/>
          </a:xfrm>
          <a:prstGeom prst="ellipse">
            <a:avLst/>
          </a:prstGeom>
          <a:solidFill>
            <a:srgbClr val="272A38"/>
          </a:solidFill>
          <a:ln w="12700">
            <a:solidFill>
              <a:srgbClr val="11121A"/>
            </a:solidFill>
            <a:prstDash val="solid"/>
          </a:ln>
        </p:spPr>
        <p:txBody>
          <a:bodyPr/>
          <a:p/>
        </p:txBody>
      </p:sp>
      <p:sp>
        <p:nvSpPr>
          <p:cNvPr id="96" name="Shape 94"/>
          <p:cNvSpPr/>
          <p:nvPr/>
        </p:nvSpPr>
        <p:spPr>
          <a:xfrm>
            <a:off x="1929384" y="4690872"/>
            <a:ext cx="292608" cy="292608"/>
          </a:xfrm>
          <a:prstGeom prst="ellipse">
            <a:avLst/>
          </a:prstGeom>
          <a:solidFill>
            <a:srgbClr val="272A38"/>
          </a:solidFill>
          <a:ln w="12700">
            <a:solidFill>
              <a:srgbClr val="11121A"/>
            </a:solidFill>
            <a:prstDash val="solid"/>
          </a:ln>
        </p:spPr>
        <p:txBody>
          <a:bodyPr/>
          <a:p/>
        </p:txBody>
      </p:sp>
      <p:sp>
        <p:nvSpPr>
          <p:cNvPr id="97" name="Shape 95"/>
          <p:cNvSpPr/>
          <p:nvPr/>
        </p:nvSpPr>
        <p:spPr>
          <a:xfrm>
            <a:off x="2313432" y="4690872"/>
            <a:ext cx="292608" cy="292608"/>
          </a:xfrm>
          <a:prstGeom prst="ellipse">
            <a:avLst/>
          </a:prstGeom>
          <a:solidFill>
            <a:srgbClr val="272A38"/>
          </a:solidFill>
          <a:ln w="12700">
            <a:solidFill>
              <a:srgbClr val="11121A"/>
            </a:solidFill>
            <a:prstDash val="solid"/>
          </a:ln>
        </p:spPr>
        <p:txBody>
          <a:bodyPr/>
          <a:p/>
        </p:txBody>
      </p:sp>
      <p:sp>
        <p:nvSpPr>
          <p:cNvPr id="98" name="Shape 96"/>
          <p:cNvSpPr/>
          <p:nvPr/>
        </p:nvSpPr>
        <p:spPr>
          <a:xfrm>
            <a:off x="2697480" y="4690872"/>
            <a:ext cx="292608" cy="292608"/>
          </a:xfrm>
          <a:prstGeom prst="ellipse">
            <a:avLst/>
          </a:prstGeom>
          <a:solidFill>
            <a:srgbClr val="272A38"/>
          </a:solidFill>
          <a:ln w="12700">
            <a:solidFill>
              <a:srgbClr val="11121A"/>
            </a:solidFill>
            <a:prstDash val="solid"/>
          </a:ln>
        </p:spPr>
        <p:txBody>
          <a:bodyPr/>
          <a:p/>
        </p:txBody>
      </p:sp>
      <p:sp>
        <p:nvSpPr>
          <p:cNvPr id="99" name="Shape 97"/>
          <p:cNvSpPr/>
          <p:nvPr/>
        </p:nvSpPr>
        <p:spPr>
          <a:xfrm>
            <a:off x="3081528" y="4690872"/>
            <a:ext cx="292608" cy="292608"/>
          </a:xfrm>
          <a:prstGeom prst="ellipse">
            <a:avLst/>
          </a:prstGeom>
          <a:solidFill>
            <a:srgbClr val="272A38"/>
          </a:solidFill>
          <a:ln w="12700">
            <a:solidFill>
              <a:srgbClr val="11121A"/>
            </a:solidFill>
            <a:prstDash val="solid"/>
          </a:ln>
        </p:spPr>
        <p:txBody>
          <a:bodyPr/>
          <a:p/>
        </p:txBody>
      </p:sp>
      <p:sp>
        <p:nvSpPr>
          <p:cNvPr id="100" name="Shape 98"/>
          <p:cNvSpPr/>
          <p:nvPr/>
        </p:nvSpPr>
        <p:spPr>
          <a:xfrm>
            <a:off x="3465576" y="4690872"/>
            <a:ext cx="292608" cy="292608"/>
          </a:xfrm>
          <a:prstGeom prst="ellipse">
            <a:avLst/>
          </a:prstGeom>
          <a:solidFill>
            <a:srgbClr val="272A38"/>
          </a:solidFill>
          <a:ln w="12700">
            <a:solidFill>
              <a:srgbClr val="11121A"/>
            </a:solidFill>
            <a:prstDash val="solid"/>
          </a:ln>
        </p:spPr>
        <p:txBody>
          <a:bodyPr/>
          <a:p/>
        </p:txBody>
      </p:sp>
      <p:sp>
        <p:nvSpPr>
          <p:cNvPr id="101" name="Shape 99"/>
          <p:cNvSpPr/>
          <p:nvPr/>
        </p:nvSpPr>
        <p:spPr>
          <a:xfrm>
            <a:off x="3849624" y="4690872"/>
            <a:ext cx="292608" cy="292608"/>
          </a:xfrm>
          <a:prstGeom prst="ellipse">
            <a:avLst/>
          </a:prstGeom>
          <a:solidFill>
            <a:srgbClr val="272A38"/>
          </a:solidFill>
          <a:ln w="12700">
            <a:solidFill>
              <a:srgbClr val="11121A"/>
            </a:solidFill>
            <a:prstDash val="solid"/>
          </a:ln>
        </p:spPr>
        <p:txBody>
          <a:bodyPr/>
          <a:p/>
        </p:txBody>
      </p:sp>
      <p:sp>
        <p:nvSpPr>
          <p:cNvPr id="102" name="Shape 100"/>
          <p:cNvSpPr/>
          <p:nvPr/>
        </p:nvSpPr>
        <p:spPr>
          <a:xfrm>
            <a:off x="4233672" y="4690872"/>
            <a:ext cx="292608" cy="292608"/>
          </a:xfrm>
          <a:prstGeom prst="ellipse">
            <a:avLst/>
          </a:prstGeom>
          <a:solidFill>
            <a:srgbClr val="272A38"/>
          </a:solidFill>
          <a:ln w="12700">
            <a:solidFill>
              <a:srgbClr val="11121A"/>
            </a:solidFill>
            <a:prstDash val="solid"/>
          </a:ln>
        </p:spPr>
        <p:txBody>
          <a:bodyPr/>
          <a:p/>
        </p:txBody>
      </p:sp>
      <p:sp>
        <p:nvSpPr>
          <p:cNvPr id="103" name="Text 101"/>
          <p:cNvSpPr/>
          <p:nvPr/>
        </p:nvSpPr>
        <p:spPr>
          <a:xfrm>
            <a:off x="5120640" y="1097280"/>
            <a:ext cx="6400800" cy="1188720"/>
          </a:xfrm>
          <a:prstGeom prst="rect">
            <a:avLst/>
          </a:prstGeom>
          <a:noFill/>
          <a:ln/>
        </p:spPr>
        <p:txBody>
          <a:bodyPr wrap="square" lIns="0" tIns="0" rIns="0" bIns="0" rtlCol="0" anchor="ctr"/>
          <a:lstStyle/>
          <a:p>
            <a:pPr indent="0" marL="0">
              <a:buNone/>
            </a:pPr>
            <a:r>
              <a:rPr lang="en-US" sz="6600" b="1" dirty="0">
                <a:solidFill>
                  <a:srgbClr val="FF4757"/>
                </a:solidFill>
                <a:latin typeface="Palatino Linotype" pitchFamily="34" charset="0"/>
                <a:ea typeface="Palatino Linotype" pitchFamily="34" charset="-122"/>
                <a:cs typeface="Palatino Linotype" pitchFamily="34" charset="-120"/>
              </a:rPr>
              <a:t>6 din 100</a:t>
            </a:r>
            <a:endParaRPr lang="en-US" sz="6600" dirty="0"/>
          </a:p>
        </p:txBody>
      </p:sp>
      <p:sp>
        <p:nvSpPr>
          <p:cNvPr id="104" name="Text 102"/>
          <p:cNvSpPr/>
          <p:nvPr/>
        </p:nvSpPr>
        <p:spPr>
          <a:xfrm>
            <a:off x="5120640" y="2377440"/>
            <a:ext cx="6400800" cy="155448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dintre românii care aveau nevoie de îngrijiri medicale nu le-au primit în 2024, din cauza costului, a distanței sau a timpului de așteptare.</a:t>
            </a:r>
            <a:endParaRPr lang="en-US" sz="1900" dirty="0"/>
          </a:p>
        </p:txBody>
      </p:sp>
      <p:sp>
        <p:nvSpPr>
          <p:cNvPr id="105" name="Text 103"/>
          <p:cNvSpPr/>
          <p:nvPr/>
        </p:nvSpPr>
        <p:spPr>
          <a:xfrm>
            <a:off x="5120640" y="4023360"/>
            <a:ext cx="6400800" cy="82296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Una dintre cele mai mari ponderi din Uniunea Europeană. Teleconsultațiile rămân puțin folosite.</a:t>
            </a:r>
            <a:endParaRPr lang="en-US" sz="1600" dirty="0"/>
          </a:p>
        </p:txBody>
      </p:sp>
      <p:sp>
        <p:nvSpPr>
          <p:cNvPr id="106" name="Shape 104"/>
          <p:cNvSpPr/>
          <p:nvPr/>
        </p:nvSpPr>
        <p:spPr>
          <a:xfrm>
            <a:off x="594360" y="5257800"/>
            <a:ext cx="10972800" cy="777240"/>
          </a:xfrm>
          <a:prstGeom prst="roundRect">
            <a:avLst>
              <a:gd name="adj" fmla="val 10588"/>
            </a:avLst>
          </a:prstGeom>
          <a:solidFill>
            <a:srgbClr val="1D1F2B"/>
          </a:solidFill>
          <a:ln w="12700">
            <a:solidFill>
              <a:srgbClr val="1D1F2B"/>
            </a:solidFill>
            <a:prstDash val="solid"/>
          </a:ln>
        </p:spPr>
        <p:txBody>
          <a:bodyPr/>
          <a:p/>
        </p:txBody>
      </p:sp>
      <p:sp>
        <p:nvSpPr>
          <p:cNvPr id="107" name="Text 105"/>
          <p:cNvSpPr/>
          <p:nvPr/>
        </p:nvSpPr>
        <p:spPr>
          <a:xfrm>
            <a:off x="868680" y="5257800"/>
            <a:ext cx="10424160" cy="777240"/>
          </a:xfrm>
          <a:prstGeom prst="rect">
            <a:avLst/>
          </a:prstGeom>
          <a:noFill/>
          <a:ln/>
        </p:spPr>
        <p:txBody>
          <a:bodyPr wrap="square" lIns="0" tIns="0" rIns="0" bIns="0" rtlCol="0" anchor="ctr"/>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Întrebarea medicului de familie atinge o problemă de acces documentată la nivelul țării.</a:t>
            </a:r>
            <a:endParaRPr lang="en-US" sz="1800" dirty="0"/>
          </a:p>
        </p:txBody>
      </p:sp>
      <p:sp>
        <p:nvSpPr>
          <p:cNvPr id="108" name="Text 10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OCDE și Observatorul European, profilul de țară România, 2025.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CE FOLOSEȘTE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O observație de pe secție devine o problemă cântărită</a:t>
            </a:r>
            <a:endParaRPr lang="en-US" sz="2800" dirty="0"/>
          </a:p>
        </p:txBody>
      </p:sp>
      <p:sp>
        <p:nvSpPr>
          <p:cNvPr id="4" name="Shape 2"/>
          <p:cNvSpPr/>
          <p:nvPr/>
        </p:nvSpPr>
        <p:spPr>
          <a:xfrm>
            <a:off x="594360" y="1691640"/>
            <a:ext cx="3291840" cy="1280160"/>
          </a:xfrm>
          <a:prstGeom prst="roundRect">
            <a:avLst>
              <a:gd name="adj" fmla="val 6429"/>
            </a:avLst>
          </a:prstGeom>
          <a:solidFill>
            <a:srgbClr val="ECEAE4"/>
          </a:solidFill>
          <a:ln w="12700">
            <a:solidFill>
              <a:srgbClr val="ECEAE4"/>
            </a:solidFill>
            <a:prstDash val="solid"/>
          </a:ln>
        </p:spPr>
        <p:txBody>
          <a:bodyPr/>
          <a:p/>
        </p:txBody>
      </p:sp>
      <p:sp>
        <p:nvSpPr>
          <p:cNvPr id="5" name="Text 3"/>
          <p:cNvSpPr/>
          <p:nvPr/>
        </p:nvSpPr>
        <p:spPr>
          <a:xfrm>
            <a:off x="822960" y="1691640"/>
            <a:ext cx="2834640" cy="128016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O observație de pe secție</a:t>
            </a:r>
            <a:endParaRPr lang="en-US" sz="1700" dirty="0"/>
          </a:p>
        </p:txBody>
      </p:sp>
      <p:sp>
        <p:nvSpPr>
          <p:cNvPr id="6" name="Shape 4"/>
          <p:cNvSpPr/>
          <p:nvPr/>
        </p:nvSpPr>
        <p:spPr>
          <a:xfrm>
            <a:off x="3931920" y="2331720"/>
            <a:ext cx="457200" cy="9144"/>
          </a:xfrm>
          <a:prstGeom prst="line">
            <a:avLst/>
          </a:prstGeom>
          <a:noFill/>
          <a:ln w="31750">
            <a:solidFill>
              <a:srgbClr val="585A64"/>
            </a:solidFill>
            <a:prstDash val="solid"/>
            <a:tailEnd type="triangle"/>
          </a:ln>
        </p:spPr>
        <p:txBody>
          <a:bodyPr/>
          <a:p/>
        </p:txBody>
      </p:sp>
      <p:sp>
        <p:nvSpPr>
          <p:cNvPr id="7" name="Shape 5"/>
          <p:cNvSpPr/>
          <p:nvPr/>
        </p:nvSpPr>
        <p:spPr>
          <a:xfrm>
            <a:off x="4434840" y="1691640"/>
            <a:ext cx="3291840" cy="1280160"/>
          </a:xfrm>
          <a:prstGeom prst="roundRect">
            <a:avLst>
              <a:gd name="adj" fmla="val 6429"/>
            </a:avLst>
          </a:prstGeom>
          <a:solidFill>
            <a:srgbClr val="F9F8F5"/>
          </a:solidFill>
          <a:ln w="12700">
            <a:solidFill>
              <a:srgbClr val="F9F8F5"/>
            </a:solidFill>
            <a:prstDash val="solid"/>
          </a:ln>
        </p:spPr>
        <p:txBody>
          <a:bodyPr/>
          <a:p/>
        </p:txBody>
      </p:sp>
      <p:sp>
        <p:nvSpPr>
          <p:cNvPr id="8" name="Text 6"/>
          <p:cNvSpPr/>
          <p:nvPr/>
        </p:nvSpPr>
        <p:spPr>
          <a:xfrm>
            <a:off x="4663440" y="1691640"/>
            <a:ext cx="2834640" cy="128016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Date publice</a:t>
            </a:r>
            <a:endParaRPr lang="en-US" sz="1700" dirty="0"/>
          </a:p>
        </p:txBody>
      </p:sp>
      <p:sp>
        <p:nvSpPr>
          <p:cNvPr id="9" name="Shape 7"/>
          <p:cNvSpPr/>
          <p:nvPr/>
        </p:nvSpPr>
        <p:spPr>
          <a:xfrm>
            <a:off x="7772400" y="2331720"/>
            <a:ext cx="457200" cy="9144"/>
          </a:xfrm>
          <a:prstGeom prst="line">
            <a:avLst/>
          </a:prstGeom>
          <a:noFill/>
          <a:ln w="31750">
            <a:solidFill>
              <a:srgbClr val="585A64"/>
            </a:solidFill>
            <a:prstDash val="solid"/>
            <a:tailEnd type="triangle"/>
          </a:ln>
        </p:spPr>
        <p:txBody>
          <a:bodyPr/>
          <a:p/>
        </p:txBody>
      </p:sp>
      <p:sp>
        <p:nvSpPr>
          <p:cNvPr id="10" name="Shape 8"/>
          <p:cNvSpPr/>
          <p:nvPr/>
        </p:nvSpPr>
        <p:spPr>
          <a:xfrm>
            <a:off x="8275320" y="1691640"/>
            <a:ext cx="3291840" cy="1280160"/>
          </a:xfrm>
          <a:prstGeom prst="roundRect">
            <a:avLst>
              <a:gd name="adj" fmla="val 6429"/>
            </a:avLst>
          </a:prstGeom>
          <a:solidFill>
            <a:srgbClr val="FF4757"/>
          </a:solidFill>
          <a:ln w="12700">
            <a:solidFill>
              <a:srgbClr val="FF4757"/>
            </a:solidFill>
            <a:prstDash val="solid"/>
          </a:ln>
        </p:spPr>
        <p:txBody>
          <a:bodyPr/>
          <a:p/>
        </p:txBody>
      </p:sp>
      <p:sp>
        <p:nvSpPr>
          <p:cNvPr id="11" name="Text 9"/>
          <p:cNvSpPr/>
          <p:nvPr/>
        </p:nvSpPr>
        <p:spPr>
          <a:xfrm>
            <a:off x="8503920" y="1691640"/>
            <a:ext cx="2834640" cy="1280160"/>
          </a:xfrm>
          <a:prstGeom prst="rect">
            <a:avLst/>
          </a:prstGeom>
          <a:noFill/>
          <a:ln/>
        </p:spPr>
        <p:txBody>
          <a:bodyPr wrap="square" lIns="0" tIns="0" rIns="0" bIns="0" rtlCol="0" anchor="ctr"/>
          <a:lstStyle/>
          <a:p>
            <a:pPr indent="0" marL="0">
              <a:buNone/>
            </a:pPr>
            <a:r>
              <a:rPr lang="en-US" sz="1700" b="1" dirty="0">
                <a:solidFill>
                  <a:srgbClr val="2E060B"/>
                </a:solidFill>
                <a:latin typeface="Palatino Linotype" pitchFamily="34" charset="0"/>
                <a:ea typeface="Palatino Linotype" pitchFamily="34" charset="-122"/>
                <a:cs typeface="Palatino Linotype" pitchFamily="34" charset="-120"/>
              </a:rPr>
              <a:t>O problemă pe care conducerea o poate cântări</a:t>
            </a:r>
            <a:endParaRPr lang="en-US" sz="1700" dirty="0"/>
          </a:p>
        </p:txBody>
      </p:sp>
      <p:sp>
        <p:nvSpPr>
          <p:cNvPr id="12" name="Shape 10"/>
          <p:cNvSpPr/>
          <p:nvPr/>
        </p:nvSpPr>
        <p:spPr>
          <a:xfrm>
            <a:off x="594360" y="3337560"/>
            <a:ext cx="10972800" cy="2011680"/>
          </a:xfrm>
          <a:prstGeom prst="roundRect">
            <a:avLst>
              <a:gd name="adj" fmla="val 4091"/>
            </a:avLst>
          </a:prstGeom>
          <a:solidFill>
            <a:srgbClr val="07564B"/>
          </a:solidFill>
          <a:ln w="12700">
            <a:solidFill>
              <a:srgbClr val="07564B"/>
            </a:solidFill>
            <a:prstDash val="solid"/>
          </a:ln>
        </p:spPr>
        <p:txBody>
          <a:bodyPr/>
          <a:p/>
        </p:txBody>
      </p:sp>
      <p:sp>
        <p:nvSpPr>
          <p:cNvPr id="13" name="Text 11"/>
          <p:cNvSpPr/>
          <p:nvPr/>
        </p:nvSpPr>
        <p:spPr>
          <a:xfrm>
            <a:off x="868680" y="3474720"/>
            <a:ext cx="10058400" cy="365760"/>
          </a:xfrm>
          <a:prstGeom prst="rect">
            <a:avLst/>
          </a:prstGeom>
          <a:noFill/>
          <a:ln/>
        </p:spPr>
        <p:txBody>
          <a:bodyPr wrap="square" lIns="0" tIns="0" rIns="0" bIns="0" rtlCol="0" anchor="t"/>
          <a:lstStyle/>
          <a:p>
            <a:pPr indent="0" marL="0">
              <a:buNone/>
            </a:pPr>
            <a:r>
              <a:rPr lang="en-US" sz="1300" b="1" spc="200" kern="0" dirty="0">
                <a:solidFill>
                  <a:srgbClr val="FFFFFF"/>
                </a:solidFill>
                <a:latin typeface="Palatino Linotype" pitchFamily="34" charset="0"/>
                <a:ea typeface="Palatino Linotype" pitchFamily="34" charset="-122"/>
                <a:cs typeface="Palatino Linotype" pitchFamily="34" charset="-120"/>
              </a:rPr>
              <a:t>SEMNALUL SLAB</a:t>
            </a:r>
            <a:endParaRPr lang="en-US" sz="1300" dirty="0"/>
          </a:p>
        </p:txBody>
      </p:sp>
      <p:sp>
        <p:nvSpPr>
          <p:cNvPr id="14" name="Text 12"/>
          <p:cNvSpPr/>
          <p:nvPr/>
        </p:nvSpPr>
        <p:spPr>
          <a:xfrm>
            <a:off x="868680" y="3886200"/>
            <a:ext cx="10424160" cy="1371600"/>
          </a:xfrm>
          <a:prstGeom prst="rect">
            <a:avLst/>
          </a:prstGeom>
          <a:noFill/>
          <a:ln/>
        </p:spPr>
        <p:txBody>
          <a:bodyPr wrap="square" lIns="0" tIns="0" rIns="0" bIns="0" rtlCol="0" anchor="t"/>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 indiciu timpuriu al unei tendințe care abia începe. Exemplu: zvonul din anul mare că un examen a devenit greu. Nu e o certitudine, dar merită urmărit înainte de a vă reface orarul.</a:t>
            </a:r>
            <a:endParaRPr lang="en-US" sz="2000" dirty="0"/>
          </a:p>
        </p:txBody>
      </p:sp>
      <p:sp>
        <p:nvSpPr>
          <p:cNvPr id="15" name="Text 13"/>
          <p:cNvSpPr/>
          <p:nvPr/>
        </p:nvSpPr>
        <p:spPr>
          <a:xfrm>
            <a:off x="594360" y="5577840"/>
            <a:ext cx="10972800" cy="457200"/>
          </a:xfrm>
          <a:prstGeom prst="rect">
            <a:avLst/>
          </a:prstGeom>
          <a:noFill/>
          <a:ln/>
        </p:spPr>
        <p:txBody>
          <a:bodyPr wrap="square" lIns="0" tIns="0" rIns="0" bIns="0" rtlCol="0" anchor="t"/>
          <a:lstStyle/>
          <a:p>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Manualul dă analizei șase scopuri; lista completă este în notele de curs.</a:t>
            </a:r>
            <a:endParaRPr lang="en-US" sz="15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DOILEA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Problema strategică</a:t>
            </a:r>
            <a:endParaRPr lang="en-US" sz="3600" dirty="0"/>
          </a:p>
        </p:txBody>
      </p:sp>
      <p:sp>
        <p:nvSpPr>
          <p:cNvPr id="4" name="Text 2"/>
          <p:cNvSpPr/>
          <p:nvPr/>
        </p:nvSpPr>
        <p:spPr>
          <a:xfrm>
            <a:off x="594360" y="1554480"/>
            <a:ext cx="10972800" cy="9144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O tendință, o evoluție, o dilemă sau un eveniment posibil din afara organizației, care o afectează pe ea și poziția ei. Adesea este neclară și ambiguă.</a:t>
            </a:r>
            <a:endParaRPr lang="en-US" sz="1800" dirty="0"/>
          </a:p>
        </p:txBody>
      </p:sp>
      <p:sp>
        <p:nvSpPr>
          <p:cNvPr id="5" name="Shape 3"/>
          <p:cNvSpPr/>
          <p:nvPr/>
        </p:nvSpPr>
        <p:spPr>
          <a:xfrm>
            <a:off x="594360" y="2606040"/>
            <a:ext cx="10972800" cy="1371600"/>
          </a:xfrm>
          <a:prstGeom prst="roundRect">
            <a:avLst>
              <a:gd name="adj" fmla="val 6000"/>
            </a:avLst>
          </a:prstGeom>
          <a:solidFill>
            <a:srgbClr val="FF4757"/>
          </a:solidFill>
          <a:ln w="12700">
            <a:solidFill>
              <a:srgbClr val="FF4757"/>
            </a:solidFill>
            <a:prstDash val="solid"/>
          </a:ln>
        </p:spPr>
        <p:txBody>
          <a:bodyPr/>
          <a:p/>
        </p:txBody>
      </p:sp>
      <p:sp>
        <p:nvSpPr>
          <p:cNvPr id="6" name="Text 4"/>
          <p:cNvSpPr/>
          <p:nvPr/>
        </p:nvSpPr>
        <p:spPr>
          <a:xfrm>
            <a:off x="868680" y="2606040"/>
            <a:ext cx="10424160" cy="1371600"/>
          </a:xfrm>
          <a:prstGeom prst="rect">
            <a:avLst/>
          </a:prstGeom>
          <a:noFill/>
          <a:ln/>
        </p:spPr>
        <p:txBody>
          <a:bodyPr wrap="square" lIns="0" tIns="0" rIns="0" bIns="0" rtlCol="0" anchor="ctr"/>
          <a:lstStyle/>
          <a:p>
            <a:pPr indent="0" marL="0">
              <a:buNone/>
            </a:pPr>
            <a:r>
              <a:rPr lang="en-US" sz="2000" b="1" dirty="0">
                <a:solidFill>
                  <a:srgbClr val="2E060B"/>
                </a:solidFill>
                <a:latin typeface="Palatino Linotype" pitchFamily="34" charset="0"/>
                <a:ea typeface="Palatino Linotype" pitchFamily="34" charset="-122"/>
                <a:cs typeface="Palatino Linotype" pitchFamily="34" charset="-120"/>
              </a:rPr>
              <a:t>În cuvinte de zi cu zi: o schimbare din afară care contează pentru viitorul organizației și pe care trebuie s-o înțelegeți înainte să hotărâți.</a:t>
            </a:r>
            <a:endParaRPr lang="en-US" sz="2000" dirty="0"/>
          </a:p>
        </p:txBody>
      </p:sp>
      <p:sp>
        <p:nvSpPr>
          <p:cNvPr id="7" name="Shape 5"/>
          <p:cNvSpPr/>
          <p:nvPr/>
        </p:nvSpPr>
        <p:spPr>
          <a:xfrm>
            <a:off x="594360" y="4297680"/>
            <a:ext cx="54864" cy="1371600"/>
          </a:xfrm>
          <a:prstGeom prst="rect">
            <a:avLst/>
          </a:prstGeom>
          <a:solidFill>
            <a:srgbClr val="0E7C6B"/>
          </a:solidFill>
          <a:ln w="12700">
            <a:solidFill>
              <a:srgbClr val="0E7C6B"/>
            </a:solidFill>
            <a:prstDash val="solid"/>
          </a:ln>
        </p:spPr>
        <p:txBody>
          <a:bodyPr/>
          <a:p/>
        </p:txBody>
      </p:sp>
      <p:sp>
        <p:nvSpPr>
          <p:cNvPr id="8" name="Text 6"/>
          <p:cNvSpPr/>
          <p:nvPr/>
        </p:nvSpPr>
        <p:spPr>
          <a:xfrm>
            <a:off x="868680" y="4297680"/>
            <a:ext cx="10424160" cy="1371600"/>
          </a:xfrm>
          <a:prstGeom prst="rect">
            <a:avLst/>
          </a:prstGeom>
          <a:noFill/>
          <a:ln/>
        </p:spPr>
        <p:txBody>
          <a:bodyPr wrap="square" lIns="0" tIns="0" rIns="0" bIns="0" rtlCol="0" anchor="ctr"/>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„Problemă” nu înseamnă aici ceva rău. </a:t>
            </a:r>
            <a:pPr indent="0" marL="0">
              <a:buNone/>
            </a:pPr>
            <a:r>
              <a:rPr lang="en-US" sz="1900" dirty="0">
                <a:solidFill>
                  <a:srgbClr val="11121A"/>
                </a:solidFill>
                <a:latin typeface="Palatino Linotype" pitchFamily="34" charset="0"/>
                <a:ea typeface="Palatino Linotype" pitchFamily="34" charset="-122"/>
                <a:cs typeface="Palatino Linotype" pitchFamily="34" charset="-120"/>
              </a:rPr>
              <a:t>Îmbătrânirea populației este o problemă strategică pentru spital, dar poate fi și motivul unui compartiment de recuperare.</a:t>
            </a:r>
            <a:endParaRPr lang="en-US" sz="1900" dirty="0"/>
          </a:p>
        </p:txBody>
      </p:sp>
      <p:sp>
        <p:nvSpPr>
          <p:cNvPr id="9" name="Text 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LA PRIVIREA ÎN JUR, PASUL AL DOILEA</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Nici oportunitate, nici amenințare, încă</a:t>
            </a:r>
            <a:endParaRPr lang="en-US" sz="3200" dirty="0"/>
          </a:p>
        </p:txBody>
      </p:sp>
      <p:sp>
        <p:nvSpPr>
          <p:cNvPr id="6" name="Shape 4"/>
          <p:cNvSpPr/>
          <p:nvPr/>
        </p:nvSpPr>
        <p:spPr>
          <a:xfrm>
            <a:off x="594360" y="1691640"/>
            <a:ext cx="5394960" cy="2194560"/>
          </a:xfrm>
          <a:prstGeom prst="roundRect">
            <a:avLst>
              <a:gd name="adj" fmla="val 3750"/>
            </a:avLst>
          </a:prstGeom>
          <a:solidFill>
            <a:srgbClr val="1D1F2B"/>
          </a:solidFill>
          <a:ln w="12700">
            <a:solidFill>
              <a:srgbClr val="1D1F2B"/>
            </a:solidFill>
            <a:prstDash val="solid"/>
          </a:ln>
        </p:spPr>
        <p:txBody>
          <a:bodyPr/>
          <a:p/>
        </p:txBody>
      </p:sp>
      <p:sp>
        <p:nvSpPr>
          <p:cNvPr id="7" name="Text 5"/>
          <p:cNvSpPr/>
          <p:nvPr/>
        </p:nvSpPr>
        <p:spPr>
          <a:xfrm>
            <a:off x="868680" y="1783080"/>
            <a:ext cx="4572000" cy="320040"/>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ÎNCĂ NU</a:t>
            </a:r>
            <a:endParaRPr lang="en-US" sz="1300" dirty="0"/>
          </a:p>
        </p:txBody>
      </p:sp>
      <p:sp>
        <p:nvSpPr>
          <p:cNvPr id="8" name="Text 6"/>
          <p:cNvSpPr/>
          <p:nvPr/>
        </p:nvSpPr>
        <p:spPr>
          <a:xfrm>
            <a:off x="868680" y="2194560"/>
            <a:ext cx="4846320" cy="1600200"/>
          </a:xfrm>
          <a:prstGeom prst="rect">
            <a:avLst/>
          </a:prstGeom>
          <a:noFill/>
          <a:ln/>
        </p:spPr>
        <p:txBody>
          <a:bodyPr wrap="square" lIns="0" tIns="0" rIns="0" bIns="0" rtlCol="0" anchor="t"/>
          <a:lstStyle/>
          <a:p>
            <a:pPr indent="0" marL="0">
              <a:buNone/>
            </a:pPr>
            <a:r>
              <a:rPr lang="en-US" sz="1700" strike="sngStrike" dirty="0">
                <a:solidFill>
                  <a:srgbClr val="C9CCD8"/>
                </a:solidFill>
                <a:latin typeface="Palatino Linotype" pitchFamily="34" charset="0"/>
                <a:ea typeface="Palatino Linotype" pitchFamily="34" charset="-122"/>
                <a:cs typeface="Palatino Linotype" pitchFamily="34" charset="-120"/>
              </a:rPr>
              <a:t>oportunitate sau amenințare</a:t>
            </a:r>
            <a:endParaRPr lang="en-US" sz="1700" dirty="0"/>
          </a:p>
          <a:p>
            <a:pPr indent="0" marL="0">
              <a:buNone/>
            </a:pPr>
            <a:r>
              <a:rPr lang="en-US" sz="1700" strike="sngStrike" dirty="0">
                <a:solidFill>
                  <a:srgbClr val="C9CCD8"/>
                </a:solidFill>
                <a:latin typeface="Palatino Linotype" pitchFamily="34" charset="0"/>
                <a:ea typeface="Palatino Linotype" pitchFamily="34" charset="-122"/>
                <a:cs typeface="Palatino Linotype" pitchFamily="34" charset="-120"/>
              </a:rPr>
              <a:t>pozitiv sau negativ</a:t>
            </a:r>
            <a:endParaRPr lang="en-US" sz="1700" dirty="0"/>
          </a:p>
          <a:p>
            <a:pPr indent="0" marL="0">
              <a:buNone/>
            </a:pPr>
            <a:r>
              <a:rPr lang="en-US" sz="1700" strike="sngStrike" dirty="0">
                <a:solidFill>
                  <a:srgbClr val="C9CCD8"/>
                </a:solidFill>
                <a:latin typeface="Palatino Linotype" pitchFamily="34" charset="0"/>
                <a:ea typeface="Palatino Linotype" pitchFamily="34" charset="-122"/>
                <a:cs typeface="Palatino Linotype" pitchFamily="34" charset="-120"/>
              </a:rPr>
              <a:t>câștig sau pierdere</a:t>
            </a:r>
            <a:endParaRPr lang="en-US" sz="1700" dirty="0"/>
          </a:p>
          <a:p>
            <a:pPr indent="0" marL="0">
              <a:buNone/>
            </a:pPr>
            <a:r>
              <a:rPr lang="en-US" sz="1700" strike="sngStrike" dirty="0">
                <a:solidFill>
                  <a:srgbClr val="C9CCD8"/>
                </a:solidFill>
                <a:latin typeface="Palatino Linotype" pitchFamily="34" charset="0"/>
                <a:ea typeface="Palatino Linotype" pitchFamily="34" charset="-122"/>
                <a:cs typeface="Palatino Linotype" pitchFamily="34" charset="-120"/>
              </a:rPr>
              <a:t>controlabil sau necontrolabil</a:t>
            </a:r>
            <a:endParaRPr lang="en-US" sz="1700" dirty="0"/>
          </a:p>
        </p:txBody>
      </p:sp>
      <p:sp>
        <p:nvSpPr>
          <p:cNvPr id="9" name="Shape 7"/>
          <p:cNvSpPr/>
          <p:nvPr/>
        </p:nvSpPr>
        <p:spPr>
          <a:xfrm>
            <a:off x="6172200" y="1691640"/>
            <a:ext cx="5394960" cy="2194560"/>
          </a:xfrm>
          <a:prstGeom prst="roundRect">
            <a:avLst>
              <a:gd name="adj" fmla="val 3750"/>
            </a:avLst>
          </a:prstGeom>
          <a:solidFill>
            <a:srgbClr val="272A38"/>
          </a:solidFill>
          <a:ln w="12700">
            <a:solidFill>
              <a:srgbClr val="272A38"/>
            </a:solidFill>
            <a:prstDash val="solid"/>
          </a:ln>
        </p:spPr>
        <p:txBody>
          <a:bodyPr/>
          <a:p/>
        </p:txBody>
      </p:sp>
      <p:sp>
        <p:nvSpPr>
          <p:cNvPr id="10" name="Text 8"/>
          <p:cNvSpPr/>
          <p:nvPr/>
        </p:nvSpPr>
        <p:spPr>
          <a:xfrm>
            <a:off x="6446520" y="1783080"/>
            <a:ext cx="4572000" cy="32004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DE CE</a:t>
            </a:r>
            <a:endParaRPr lang="en-US" sz="1300" dirty="0"/>
          </a:p>
        </p:txBody>
      </p:sp>
      <p:sp>
        <p:nvSpPr>
          <p:cNvPr id="11" name="Text 9"/>
          <p:cNvSpPr/>
          <p:nvPr/>
        </p:nvSpPr>
        <p:spPr>
          <a:xfrm>
            <a:off x="6446520" y="2194560"/>
            <a:ext cx="4846320" cy="160020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 semnal este, de obicei, neutru. Sensul lui se judecă în contextul strategiei, stabilită mai târziu.</a:t>
            </a:r>
            <a:endParaRPr lang="en-US" sz="1800" dirty="0"/>
          </a:p>
        </p:txBody>
      </p:sp>
      <p:sp>
        <p:nvSpPr>
          <p:cNvPr id="12" name="Text 10"/>
          <p:cNvSpPr/>
          <p:nvPr/>
        </p:nvSpPr>
        <p:spPr>
          <a:xfrm>
            <a:off x="594360" y="4206240"/>
            <a:ext cx="10972800" cy="1463040"/>
          </a:xfrm>
          <a:prstGeom prst="rect">
            <a:avLst/>
          </a:prstGeom>
          <a:noFill/>
          <a:ln/>
        </p:spPr>
        <p:txBody>
          <a:bodyPr wrap="square" lIns="0" tIns="0" rIns="0" bIns="0" rtlCol="0" anchor="ctr"/>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Două minute cu colegul de bancă: alegeți unul dintre cele trei semnale și descrieți-l fără aceste cuvinte, numai prin ce se schimbă și pentru cine.</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TITLU REAL DE PRESĂ</a:t>
            </a:r>
            <a:endParaRPr lang="en-US" sz="1300" dirty="0"/>
          </a:p>
        </p:txBody>
      </p:sp>
      <p:sp>
        <p:nvSpPr>
          <p:cNvPr id="5" name="Shape 3"/>
          <p:cNvSpPr/>
          <p:nvPr/>
        </p:nvSpPr>
        <p:spPr>
          <a:xfrm>
            <a:off x="594360" y="1143000"/>
            <a:ext cx="10972800" cy="2697480"/>
          </a:xfrm>
          <a:prstGeom prst="rect">
            <a:avLst/>
          </a:prstGeom>
          <a:solidFill>
            <a:srgbClr val="FBF8F1"/>
          </a:solidFill>
          <a:ln w="9525">
            <a:solidFill>
              <a:srgbClr val="C9C6BE"/>
            </a:solidFill>
            <a:prstDash val="solid"/>
          </a:ln>
          <a:effectLst>
            <a:outerShdw sx="100000" sy="100000" kx="0" ky="0" algn="bl" rotWithShape="0" blurRad="63500" dist="25400" dir="5400000">
              <a:srgbClr val="000000">
                <a:alpha val="40000"/>
              </a:srgbClr>
            </a:outerShdw>
          </a:effectLst>
        </p:spPr>
        <p:txBody>
          <a:bodyPr/>
          <a:p/>
        </p:txBody>
      </p:sp>
      <p:sp>
        <p:nvSpPr>
          <p:cNvPr id="6" name="Text 4"/>
          <p:cNvSpPr/>
          <p:nvPr/>
        </p:nvSpPr>
        <p:spPr>
          <a:xfrm>
            <a:off x="914400" y="1325880"/>
            <a:ext cx="10332720" cy="320040"/>
          </a:xfrm>
          <a:prstGeom prst="rect">
            <a:avLst/>
          </a:prstGeom>
          <a:noFill/>
          <a:ln/>
        </p:spPr>
        <p:txBody>
          <a:bodyPr wrap="square" lIns="0" tIns="0" rIns="0" bIns="0" rtlCol="0" anchor="t"/>
          <a:lstStyle/>
          <a:p>
            <a:pPr indent="0" marL="0">
              <a:buNone/>
            </a:pPr>
            <a:r>
              <a:rPr lang="en-US" sz="1200" b="1" spc="200" kern="0" dirty="0">
                <a:solidFill>
                  <a:srgbClr val="B02532"/>
                </a:solidFill>
                <a:latin typeface="Palatino Linotype" pitchFamily="34" charset="0"/>
                <a:ea typeface="Palatino Linotype" pitchFamily="34" charset="-122"/>
                <a:cs typeface="Palatino Linotype" pitchFamily="34" charset="-120"/>
              </a:rPr>
              <a:t>ANTENA 3 CNN · 19 IANUARIE 2025</a:t>
            </a:r>
            <a:endParaRPr lang="en-US" sz="1200" dirty="0"/>
          </a:p>
        </p:txBody>
      </p:sp>
      <p:sp>
        <p:nvSpPr>
          <p:cNvPr id="7" name="Text 5"/>
          <p:cNvSpPr/>
          <p:nvPr/>
        </p:nvSpPr>
        <p:spPr>
          <a:xfrm>
            <a:off x="914400" y="1737360"/>
            <a:ext cx="10332720" cy="1920240"/>
          </a:xfrm>
          <a:prstGeom prst="rect">
            <a:avLst/>
          </a:prstGeom>
          <a:noFill/>
          <a:ln/>
        </p:spPr>
        <p:txBody>
          <a:bodyPr wrap="square" lIns="0" tIns="0" rIns="0" bIns="0" rtlCol="0" anchor="ctr"/>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„România are cei mai mulți absolvenți de medicină din UE, dar tot nu are doctori suficienți”</a:t>
            </a:r>
            <a:endParaRPr lang="en-US" sz="3200" dirty="0"/>
          </a:p>
        </p:txBody>
      </p:sp>
      <p:sp>
        <p:nvSpPr>
          <p:cNvPr id="8" name="Shape 6"/>
          <p:cNvSpPr/>
          <p:nvPr/>
        </p:nvSpPr>
        <p:spPr>
          <a:xfrm>
            <a:off x="594360" y="4114800"/>
            <a:ext cx="3520440" cy="777240"/>
          </a:xfrm>
          <a:prstGeom prst="roundRect">
            <a:avLst>
              <a:gd name="adj" fmla="val 10588"/>
            </a:avLst>
          </a:prstGeom>
          <a:solidFill>
            <a:srgbClr val="1D1F2B"/>
          </a:solidFill>
          <a:ln w="12700">
            <a:solidFill>
              <a:srgbClr val="1D1F2B"/>
            </a:solidFill>
            <a:prstDash val="solid"/>
          </a:ln>
        </p:spPr>
        <p:txBody>
          <a:bodyPr/>
          <a:p/>
        </p:txBody>
      </p:sp>
      <p:sp>
        <p:nvSpPr>
          <p:cNvPr id="9" name="Shape 7"/>
          <p:cNvSpPr/>
          <p:nvPr/>
        </p:nvSpPr>
        <p:spPr>
          <a:xfrm>
            <a:off x="822960" y="4288536"/>
            <a:ext cx="420624" cy="420624"/>
          </a:xfrm>
          <a:prstGeom prst="ellipse">
            <a:avLst/>
          </a:prstGeom>
          <a:solidFill>
            <a:srgbClr val="FFC24B"/>
          </a:solidFill>
          <a:ln/>
        </p:spPr>
        <p:txBody>
          <a:bodyPr/>
          <a:p/>
        </p:txBody>
      </p:sp>
      <p:sp>
        <p:nvSpPr>
          <p:cNvPr id="10" name="Text 8"/>
          <p:cNvSpPr/>
          <p:nvPr/>
        </p:nvSpPr>
        <p:spPr>
          <a:xfrm>
            <a:off x="822960" y="42885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1" name="Text 9"/>
          <p:cNvSpPr/>
          <p:nvPr/>
        </p:nvSpPr>
        <p:spPr>
          <a:xfrm>
            <a:off x="1417320" y="4114800"/>
            <a:ext cx="2606040" cy="77724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Da</a:t>
            </a:r>
            <a:endParaRPr lang="en-US" sz="1800" dirty="0"/>
          </a:p>
        </p:txBody>
      </p:sp>
      <p:sp>
        <p:nvSpPr>
          <p:cNvPr id="12" name="Shape 10"/>
          <p:cNvSpPr/>
          <p:nvPr/>
        </p:nvSpPr>
        <p:spPr>
          <a:xfrm>
            <a:off x="4343400" y="4114800"/>
            <a:ext cx="3520440" cy="777240"/>
          </a:xfrm>
          <a:prstGeom prst="roundRect">
            <a:avLst>
              <a:gd name="adj" fmla="val 10588"/>
            </a:avLst>
          </a:prstGeom>
          <a:solidFill>
            <a:srgbClr val="1D1F2B"/>
          </a:solidFill>
          <a:ln w="12700">
            <a:solidFill>
              <a:srgbClr val="1D1F2B"/>
            </a:solidFill>
            <a:prstDash val="solid"/>
          </a:ln>
        </p:spPr>
        <p:txBody>
          <a:bodyPr/>
          <a:p/>
        </p:txBody>
      </p:sp>
      <p:sp>
        <p:nvSpPr>
          <p:cNvPr id="13" name="Shape 11"/>
          <p:cNvSpPr/>
          <p:nvPr/>
        </p:nvSpPr>
        <p:spPr>
          <a:xfrm>
            <a:off x="4572000" y="4288536"/>
            <a:ext cx="420624" cy="420624"/>
          </a:xfrm>
          <a:prstGeom prst="ellipse">
            <a:avLst/>
          </a:prstGeom>
          <a:solidFill>
            <a:srgbClr val="FFC24B"/>
          </a:solidFill>
          <a:ln/>
        </p:spPr>
        <p:txBody>
          <a:bodyPr/>
          <a:p/>
        </p:txBody>
      </p:sp>
      <p:sp>
        <p:nvSpPr>
          <p:cNvPr id="14" name="Text 12"/>
          <p:cNvSpPr/>
          <p:nvPr/>
        </p:nvSpPr>
        <p:spPr>
          <a:xfrm>
            <a:off x="4572000" y="42885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5" name="Text 13"/>
          <p:cNvSpPr/>
          <p:nvPr/>
        </p:nvSpPr>
        <p:spPr>
          <a:xfrm>
            <a:off x="5166360" y="4114800"/>
            <a:ext cx="2606040" cy="77724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Nu</a:t>
            </a:r>
            <a:endParaRPr lang="en-US" sz="1800" dirty="0"/>
          </a:p>
        </p:txBody>
      </p:sp>
      <p:sp>
        <p:nvSpPr>
          <p:cNvPr id="16" name="Shape 14"/>
          <p:cNvSpPr/>
          <p:nvPr/>
        </p:nvSpPr>
        <p:spPr>
          <a:xfrm>
            <a:off x="8092440" y="4114800"/>
            <a:ext cx="3520440" cy="777240"/>
          </a:xfrm>
          <a:prstGeom prst="roundRect">
            <a:avLst>
              <a:gd name="adj" fmla="val 10588"/>
            </a:avLst>
          </a:prstGeom>
          <a:solidFill>
            <a:srgbClr val="1D1F2B"/>
          </a:solidFill>
          <a:ln w="12700">
            <a:solidFill>
              <a:srgbClr val="1D1F2B"/>
            </a:solidFill>
            <a:prstDash val="solid"/>
          </a:ln>
        </p:spPr>
        <p:txBody>
          <a:bodyPr/>
          <a:p/>
        </p:txBody>
      </p:sp>
      <p:sp>
        <p:nvSpPr>
          <p:cNvPr id="17" name="Shape 15"/>
          <p:cNvSpPr/>
          <p:nvPr/>
        </p:nvSpPr>
        <p:spPr>
          <a:xfrm>
            <a:off x="8321040" y="4288536"/>
            <a:ext cx="420624" cy="420624"/>
          </a:xfrm>
          <a:prstGeom prst="ellipse">
            <a:avLst/>
          </a:prstGeom>
          <a:solidFill>
            <a:srgbClr val="FFC24B"/>
          </a:solidFill>
          <a:ln/>
        </p:spPr>
        <p:txBody>
          <a:bodyPr/>
          <a:p/>
        </p:txBody>
      </p:sp>
      <p:sp>
        <p:nvSpPr>
          <p:cNvPr id="18" name="Text 16"/>
          <p:cNvSpPr/>
          <p:nvPr/>
        </p:nvSpPr>
        <p:spPr>
          <a:xfrm>
            <a:off x="8321040" y="428853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9" name="Text 17"/>
          <p:cNvSpPr/>
          <p:nvPr/>
        </p:nvSpPr>
        <p:spPr>
          <a:xfrm>
            <a:off x="8915400" y="4114800"/>
            <a:ext cx="2606040" cy="77724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Nu se poate spune fără date</a:t>
            </a:r>
            <a:endParaRPr lang="en-US" sz="1800" dirty="0"/>
          </a:p>
        </p:txBody>
      </p:sp>
      <p:sp>
        <p:nvSpPr>
          <p:cNvPr id="20" name="Text 18"/>
          <p:cNvSpPr/>
          <p:nvPr/>
        </p:nvSpPr>
        <p:spPr>
          <a:xfrm>
            <a:off x="594360" y="521208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Ați crede acest titlu? Răspundeți pe telefon, la codul afișat.</a:t>
            </a:r>
            <a:endParaRPr lang="en-US" sz="1500" dirty="0"/>
          </a:p>
        </p:txBody>
      </p:sp>
      <p:sp>
        <p:nvSpPr>
          <p:cNvPr id="21" name="Text 19"/>
          <p:cNvSpPr/>
          <p:nvPr/>
        </p:nvSpPr>
        <p:spPr>
          <a:xfrm>
            <a:off x="594360" y="6126480"/>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Antena 3 CNN, 19 ianuarie 2025 (registrul sursei: S035). Titlul este reprodus întocmai.</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SPUN DATELE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spun datele despre titlu</a:t>
            </a:r>
            <a:endParaRPr lang="en-US" sz="3200" dirty="0"/>
          </a:p>
        </p:txBody>
      </p:sp>
      <p:sp>
        <p:nvSpPr>
          <p:cNvPr id="4" name="Shape 2"/>
          <p:cNvSpPr/>
          <p:nvPr/>
        </p:nvSpPr>
        <p:spPr>
          <a:xfrm>
            <a:off x="594360" y="1600200"/>
            <a:ext cx="5394960" cy="3063240"/>
          </a:xfrm>
          <a:prstGeom prst="roundRect">
            <a:avLst>
              <a:gd name="adj" fmla="val 2687"/>
            </a:avLst>
          </a:prstGeom>
          <a:solidFill>
            <a:srgbClr val="ECEAE4"/>
          </a:solidFill>
          <a:ln w="12700">
            <a:solidFill>
              <a:srgbClr val="ECEAE4"/>
            </a:solidFill>
            <a:prstDash val="solid"/>
          </a:ln>
        </p:spPr>
        <p:txBody>
          <a:bodyPr/>
          <a:p/>
        </p:txBody>
      </p:sp>
      <p:sp>
        <p:nvSpPr>
          <p:cNvPr id="5" name="Shape 3"/>
          <p:cNvSpPr/>
          <p:nvPr/>
        </p:nvSpPr>
        <p:spPr>
          <a:xfrm>
            <a:off x="868680" y="1783080"/>
            <a:ext cx="3291840" cy="329184"/>
          </a:xfrm>
          <a:prstGeom prst="roundRect">
            <a:avLst>
              <a:gd name="adj" fmla="val 50000"/>
            </a:avLst>
          </a:prstGeom>
          <a:solidFill>
            <a:srgbClr val="FF4757"/>
          </a:solidFill>
          <a:ln w="12700">
            <a:solidFill>
              <a:srgbClr val="FF4757"/>
            </a:solidFill>
            <a:prstDash val="solid"/>
          </a:ln>
        </p:spPr>
        <p:txBody>
          <a:bodyPr/>
          <a:p/>
        </p:txBody>
      </p:sp>
      <p:sp>
        <p:nvSpPr>
          <p:cNvPr id="6" name="Text 4"/>
          <p:cNvSpPr/>
          <p:nvPr/>
        </p:nvSpPr>
        <p:spPr>
          <a:xfrm>
            <a:off x="868680" y="1783080"/>
            <a:ext cx="3291840" cy="329184"/>
          </a:xfrm>
          <a:prstGeom prst="rect">
            <a:avLst/>
          </a:prstGeom>
          <a:noFill/>
          <a:ln/>
        </p:spPr>
        <p:txBody>
          <a:bodyPr wrap="square" lIns="0" tIns="0" rIns="0" bIns="0" rtlCol="0" anchor="ctr"/>
          <a:lstStyle/>
          <a:p>
            <a:pPr algn="ctr" indent="0" marL="0">
              <a:buNone/>
            </a:pPr>
            <a:r>
              <a:rPr lang="en-US" sz="1150" b="1" dirty="0">
                <a:solidFill>
                  <a:srgbClr val="2E060B"/>
                </a:solidFill>
                <a:latin typeface="Palatino Linotype" pitchFamily="34" charset="0"/>
                <a:ea typeface="Palatino Linotype" pitchFamily="34" charset="-122"/>
                <a:cs typeface="Palatino Linotype" pitchFamily="34" charset="-120"/>
              </a:rPr>
              <a:t>PRIMA PARTE · EXAGERATĂ</a:t>
            </a:r>
            <a:endParaRPr lang="en-US" sz="1150" dirty="0"/>
          </a:p>
        </p:txBody>
      </p:sp>
      <p:sp>
        <p:nvSpPr>
          <p:cNvPr id="7" name="Text 5"/>
          <p:cNvSpPr/>
          <p:nvPr/>
        </p:nvSpPr>
        <p:spPr>
          <a:xfrm>
            <a:off x="868680" y="2286000"/>
            <a:ext cx="4846320" cy="22860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România pregătește mulți medici: al treilea nivel din Uniune al absolvenților de medicină raportat la populație, aproape dublu față de media europeană. Articolul însuși vorbește despre locul patru, nu despre primul.</a:t>
            </a:r>
            <a:endParaRPr lang="en-US" sz="1600" dirty="0"/>
          </a:p>
        </p:txBody>
      </p:sp>
      <p:sp>
        <p:nvSpPr>
          <p:cNvPr id="8" name="Shape 6"/>
          <p:cNvSpPr/>
          <p:nvPr/>
        </p:nvSpPr>
        <p:spPr>
          <a:xfrm>
            <a:off x="6172200" y="1600200"/>
            <a:ext cx="5394960" cy="3063240"/>
          </a:xfrm>
          <a:prstGeom prst="roundRect">
            <a:avLst>
              <a:gd name="adj" fmla="val 2687"/>
            </a:avLst>
          </a:prstGeom>
          <a:solidFill>
            <a:srgbClr val="ECEAE4"/>
          </a:solidFill>
          <a:ln w="12700">
            <a:solidFill>
              <a:srgbClr val="ECEAE4"/>
            </a:solidFill>
            <a:prstDash val="solid"/>
          </a:ln>
        </p:spPr>
        <p:txBody>
          <a:bodyPr/>
          <a:p/>
        </p:txBody>
      </p:sp>
      <p:sp>
        <p:nvSpPr>
          <p:cNvPr id="9" name="Shape 7"/>
          <p:cNvSpPr/>
          <p:nvPr/>
        </p:nvSpPr>
        <p:spPr>
          <a:xfrm>
            <a:off x="6446520" y="1783080"/>
            <a:ext cx="3840480" cy="329184"/>
          </a:xfrm>
          <a:prstGeom prst="roundRect">
            <a:avLst>
              <a:gd name="adj" fmla="val 50000"/>
            </a:avLst>
          </a:prstGeom>
          <a:solidFill>
            <a:srgbClr val="27D3BE"/>
          </a:solidFill>
          <a:ln w="12700">
            <a:solidFill>
              <a:srgbClr val="27D3BE"/>
            </a:solidFill>
            <a:prstDash val="solid"/>
          </a:ln>
        </p:spPr>
        <p:txBody>
          <a:bodyPr/>
          <a:p/>
        </p:txBody>
      </p:sp>
      <p:sp>
        <p:nvSpPr>
          <p:cNvPr id="10" name="Text 8"/>
          <p:cNvSpPr/>
          <p:nvPr/>
        </p:nvSpPr>
        <p:spPr>
          <a:xfrm>
            <a:off x="6446520" y="1783080"/>
            <a:ext cx="3840480" cy="329184"/>
          </a:xfrm>
          <a:prstGeom prst="rect">
            <a:avLst/>
          </a:prstGeom>
          <a:noFill/>
          <a:ln/>
        </p:spPr>
        <p:txBody>
          <a:bodyPr wrap="square" lIns="0" tIns="0" rIns="0" bIns="0" rtlCol="0" anchor="ctr"/>
          <a:lstStyle/>
          <a:p>
            <a:pPr algn="ctr" indent="0" marL="0">
              <a:buNone/>
            </a:pPr>
            <a:r>
              <a:rPr lang="en-US" sz="1150" b="1" dirty="0">
                <a:solidFill>
                  <a:srgbClr val="073B34"/>
                </a:solidFill>
                <a:latin typeface="Palatino Linotype" pitchFamily="34" charset="0"/>
                <a:ea typeface="Palatino Linotype" pitchFamily="34" charset="-122"/>
                <a:cs typeface="Palatino Linotype" pitchFamily="34" charset="-120"/>
              </a:rPr>
              <a:t>A DOUA PARTE · CU SPRIJIN REAL</a:t>
            </a:r>
            <a:endParaRPr lang="en-US" sz="1150" dirty="0"/>
          </a:p>
        </p:txBody>
      </p:sp>
      <p:sp>
        <p:nvSpPr>
          <p:cNvPr id="11" name="Text 9"/>
          <p:cNvSpPr/>
          <p:nvPr/>
        </p:nvSpPr>
        <p:spPr>
          <a:xfrm>
            <a:off x="6446520" y="2286000"/>
            <a:ext cx="4846320" cy="32004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Medici la 1 000 de locuitori, 2023</a:t>
            </a:r>
            <a:endParaRPr lang="en-US" sz="1400" dirty="0"/>
          </a:p>
        </p:txBody>
      </p:sp>
      <p:sp>
        <p:nvSpPr>
          <p:cNvPr id="12" name="Text 10"/>
          <p:cNvSpPr/>
          <p:nvPr/>
        </p:nvSpPr>
        <p:spPr>
          <a:xfrm>
            <a:off x="6446520" y="2743200"/>
            <a:ext cx="1188720" cy="64008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România</a:t>
            </a:r>
            <a:endParaRPr lang="en-US" sz="1500" dirty="0"/>
          </a:p>
        </p:txBody>
      </p:sp>
      <p:sp>
        <p:nvSpPr>
          <p:cNvPr id="13" name="Shape 11"/>
          <p:cNvSpPr/>
          <p:nvPr/>
        </p:nvSpPr>
        <p:spPr>
          <a:xfrm>
            <a:off x="7680960" y="2834640"/>
            <a:ext cx="2368296" cy="457200"/>
          </a:xfrm>
          <a:prstGeom prst="rect">
            <a:avLst/>
          </a:prstGeom>
          <a:solidFill>
            <a:srgbClr val="FF4757"/>
          </a:solidFill>
          <a:ln w="12700">
            <a:solidFill>
              <a:srgbClr val="FF4757"/>
            </a:solidFill>
            <a:prstDash val="solid"/>
          </a:ln>
        </p:spPr>
        <p:txBody>
          <a:bodyPr/>
          <a:p/>
        </p:txBody>
      </p:sp>
      <p:sp>
        <p:nvSpPr>
          <p:cNvPr id="14" name="Text 12"/>
          <p:cNvSpPr/>
          <p:nvPr/>
        </p:nvSpPr>
        <p:spPr>
          <a:xfrm>
            <a:off x="10140696" y="2743200"/>
            <a:ext cx="822960" cy="640080"/>
          </a:xfrm>
          <a:prstGeom prst="rect">
            <a:avLst/>
          </a:prstGeom>
          <a:noFill/>
          <a:ln/>
        </p:spPr>
        <p:txBody>
          <a:bodyPr wrap="square" lIns="0" tIns="0" rIns="0" bIns="0" rtlCol="0" anchor="ctr"/>
          <a:lstStyle/>
          <a:p>
            <a:pPr indent="0" marL="0">
              <a:buNone/>
            </a:pPr>
            <a:r>
              <a:rPr lang="en-US" sz="1800" b="1" dirty="0">
                <a:solidFill>
                  <a:srgbClr val="FF4757"/>
                </a:solidFill>
                <a:latin typeface="Palatino Linotype" pitchFamily="34" charset="0"/>
                <a:ea typeface="Palatino Linotype" pitchFamily="34" charset="-122"/>
                <a:cs typeface="Palatino Linotype" pitchFamily="34" charset="-120"/>
              </a:rPr>
              <a:t>3,7</a:t>
            </a:r>
            <a:endParaRPr lang="en-US" sz="1800" dirty="0"/>
          </a:p>
        </p:txBody>
      </p:sp>
      <p:sp>
        <p:nvSpPr>
          <p:cNvPr id="15" name="Text 13"/>
          <p:cNvSpPr/>
          <p:nvPr/>
        </p:nvSpPr>
        <p:spPr>
          <a:xfrm>
            <a:off x="6446520" y="3611880"/>
            <a:ext cx="1188720" cy="64008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Media UE</a:t>
            </a:r>
            <a:endParaRPr lang="en-US" sz="1500" dirty="0"/>
          </a:p>
        </p:txBody>
      </p:sp>
      <p:sp>
        <p:nvSpPr>
          <p:cNvPr id="16" name="Shape 14"/>
          <p:cNvSpPr/>
          <p:nvPr/>
        </p:nvSpPr>
        <p:spPr>
          <a:xfrm>
            <a:off x="7680960" y="3703320"/>
            <a:ext cx="2752344" cy="457200"/>
          </a:xfrm>
          <a:prstGeom prst="rect">
            <a:avLst/>
          </a:prstGeom>
          <a:solidFill>
            <a:srgbClr val="0E7C6B"/>
          </a:solidFill>
          <a:ln w="12700">
            <a:solidFill>
              <a:srgbClr val="0E7C6B"/>
            </a:solidFill>
            <a:prstDash val="solid"/>
          </a:ln>
        </p:spPr>
        <p:txBody>
          <a:bodyPr/>
          <a:p/>
        </p:txBody>
      </p:sp>
      <p:sp>
        <p:nvSpPr>
          <p:cNvPr id="17" name="Text 15"/>
          <p:cNvSpPr/>
          <p:nvPr/>
        </p:nvSpPr>
        <p:spPr>
          <a:xfrm>
            <a:off x="10524744" y="3611880"/>
            <a:ext cx="822960" cy="640080"/>
          </a:xfrm>
          <a:prstGeom prst="rect">
            <a:avLst/>
          </a:prstGeom>
          <a:noFill/>
          <a:ln/>
        </p:spPr>
        <p:txBody>
          <a:bodyPr wrap="square" lIns="0" tIns="0" rIns="0" bIns="0" rtlCol="0" anchor="ctr"/>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4,3</a:t>
            </a:r>
            <a:endParaRPr lang="en-US" sz="1800" dirty="0"/>
          </a:p>
        </p:txBody>
      </p:sp>
      <p:sp>
        <p:nvSpPr>
          <p:cNvPr id="18" name="Text 16"/>
          <p:cNvSpPr/>
          <p:nvPr/>
        </p:nvSpPr>
        <p:spPr>
          <a:xfrm>
            <a:off x="594360" y="4937760"/>
            <a:ext cx="10972800" cy="91440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Plecarea medicilor și împărțirea inegală pe teritoriu rămân o problemă. Un spital mic este unul dintre locurile unde lipsa se poate simți puternic.</a:t>
            </a:r>
            <a:endParaRPr lang="en-US" sz="18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Antena 3 CNN, 19 ianuarie 2025 (S035); OCDE și Observatorul European, profilul de țară România, 2025.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LIMITELE ANALIZEI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nu poate face analiza mediului extern</a:t>
            </a:r>
            <a:endParaRPr lang="en-US" sz="3000" dirty="0"/>
          </a:p>
        </p:txBody>
      </p:sp>
      <p:sp>
        <p:nvSpPr>
          <p:cNvPr id="4" name="Shape 2"/>
          <p:cNvSpPr/>
          <p:nvPr/>
        </p:nvSpPr>
        <p:spPr>
          <a:xfrm>
            <a:off x="594360" y="1600200"/>
            <a:ext cx="5669280" cy="3520440"/>
          </a:xfrm>
          <a:prstGeom prst="roundRect">
            <a:avLst>
              <a:gd name="adj" fmla="val 2338"/>
            </a:avLst>
          </a:prstGeom>
          <a:solidFill>
            <a:srgbClr val="ECEAE4"/>
          </a:solidFill>
          <a:ln w="12700">
            <a:solidFill>
              <a:srgbClr val="ECEAE4"/>
            </a:solidFill>
            <a:prstDash val="solid"/>
          </a:ln>
        </p:spPr>
        <p:txBody>
          <a:bodyPr/>
          <a:p/>
        </p:txBody>
      </p:sp>
      <p:sp>
        <p:nvSpPr>
          <p:cNvPr id="5" name="Shape 3"/>
          <p:cNvSpPr/>
          <p:nvPr/>
        </p:nvSpPr>
        <p:spPr>
          <a:xfrm>
            <a:off x="822960" y="1828800"/>
            <a:ext cx="365760" cy="365760"/>
          </a:xfrm>
          <a:prstGeom prst="ellipse">
            <a:avLst/>
          </a:prstGeom>
          <a:solidFill>
            <a:srgbClr val="FFC24B"/>
          </a:solidFill>
          <a:ln/>
        </p:spPr>
        <p:txBody>
          <a:bodyPr/>
          <a:p/>
        </p:txBody>
      </p:sp>
      <p:sp>
        <p:nvSpPr>
          <p:cNvPr id="6" name="Text 4"/>
          <p:cNvSpPr/>
          <p:nvPr/>
        </p:nvSpPr>
        <p:spPr>
          <a:xfrm>
            <a:off x="822960" y="1828800"/>
            <a:ext cx="365760" cy="36576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371600" y="1783080"/>
            <a:ext cx="4754880" cy="5029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Nu poate prezice viitorul.</a:t>
            </a:r>
            <a:endParaRPr lang="en-US" sz="1600" dirty="0"/>
          </a:p>
        </p:txBody>
      </p:sp>
      <p:sp>
        <p:nvSpPr>
          <p:cNvPr id="8" name="Shape 6"/>
          <p:cNvSpPr/>
          <p:nvPr/>
        </p:nvSpPr>
        <p:spPr>
          <a:xfrm>
            <a:off x="822960" y="2468880"/>
            <a:ext cx="365760" cy="365760"/>
          </a:xfrm>
          <a:prstGeom prst="ellipse">
            <a:avLst/>
          </a:prstGeom>
          <a:solidFill>
            <a:srgbClr val="FFC24B"/>
          </a:solidFill>
          <a:ln/>
        </p:spPr>
        <p:txBody>
          <a:bodyPr/>
          <a:p/>
        </p:txBody>
      </p:sp>
      <p:sp>
        <p:nvSpPr>
          <p:cNvPr id="9" name="Text 7"/>
          <p:cNvSpPr/>
          <p:nvPr/>
        </p:nvSpPr>
        <p:spPr>
          <a:xfrm>
            <a:off x="822960" y="2468880"/>
            <a:ext cx="365760" cy="36576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371600" y="2423160"/>
            <a:ext cx="4754880" cy="5029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Conducătorii nu pot vedea totul.</a:t>
            </a:r>
            <a:endParaRPr lang="en-US" sz="1600" dirty="0"/>
          </a:p>
        </p:txBody>
      </p:sp>
      <p:sp>
        <p:nvSpPr>
          <p:cNvPr id="11" name="Shape 9"/>
          <p:cNvSpPr/>
          <p:nvPr/>
        </p:nvSpPr>
        <p:spPr>
          <a:xfrm>
            <a:off x="822960" y="3108960"/>
            <a:ext cx="365760" cy="365760"/>
          </a:xfrm>
          <a:prstGeom prst="ellipse">
            <a:avLst/>
          </a:prstGeom>
          <a:solidFill>
            <a:srgbClr val="FFC24B"/>
          </a:solidFill>
          <a:ln/>
        </p:spPr>
        <p:txBody>
          <a:bodyPr/>
          <a:p/>
        </p:txBody>
      </p:sp>
      <p:sp>
        <p:nvSpPr>
          <p:cNvPr id="12" name="Text 10"/>
          <p:cNvSpPr/>
          <p:nvPr/>
        </p:nvSpPr>
        <p:spPr>
          <a:xfrm>
            <a:off x="822960" y="3108960"/>
            <a:ext cx="365760" cy="36576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371600" y="3063240"/>
            <a:ext cx="4754880" cy="5029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Informația potrivită e greu de obținut.</a:t>
            </a:r>
            <a:endParaRPr lang="en-US" sz="1600" dirty="0"/>
          </a:p>
        </p:txBody>
      </p:sp>
      <p:sp>
        <p:nvSpPr>
          <p:cNvPr id="14" name="Shape 12"/>
          <p:cNvSpPr/>
          <p:nvPr/>
        </p:nvSpPr>
        <p:spPr>
          <a:xfrm>
            <a:off x="822960" y="3749040"/>
            <a:ext cx="365760" cy="365760"/>
          </a:xfrm>
          <a:prstGeom prst="ellipse">
            <a:avLst/>
          </a:prstGeom>
          <a:solidFill>
            <a:srgbClr val="FFC24B"/>
          </a:solidFill>
          <a:ln/>
        </p:spPr>
        <p:txBody>
          <a:bodyPr/>
          <a:p/>
        </p:txBody>
      </p:sp>
      <p:sp>
        <p:nvSpPr>
          <p:cNvPr id="15" name="Text 13"/>
          <p:cNvSpPr/>
          <p:nvPr/>
        </p:nvSpPr>
        <p:spPr>
          <a:xfrm>
            <a:off x="822960" y="3749040"/>
            <a:ext cx="365760" cy="36576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6" name="Text 14"/>
          <p:cNvSpPr/>
          <p:nvPr/>
        </p:nvSpPr>
        <p:spPr>
          <a:xfrm>
            <a:off x="1371600" y="3703320"/>
            <a:ext cx="4754880" cy="5029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Între schimbare și interpretare poate trece timp.</a:t>
            </a:r>
            <a:endParaRPr lang="en-US" sz="1600" dirty="0"/>
          </a:p>
        </p:txBody>
      </p:sp>
      <p:sp>
        <p:nvSpPr>
          <p:cNvPr id="17" name="Shape 15"/>
          <p:cNvSpPr/>
          <p:nvPr/>
        </p:nvSpPr>
        <p:spPr>
          <a:xfrm>
            <a:off x="822960" y="4389120"/>
            <a:ext cx="365760" cy="365760"/>
          </a:xfrm>
          <a:prstGeom prst="ellipse">
            <a:avLst/>
          </a:prstGeom>
          <a:solidFill>
            <a:srgbClr val="FFC24B"/>
          </a:solidFill>
          <a:ln/>
        </p:spPr>
        <p:txBody>
          <a:bodyPr/>
          <a:p/>
        </p:txBody>
      </p:sp>
      <p:sp>
        <p:nvSpPr>
          <p:cNvPr id="18" name="Text 16"/>
          <p:cNvSpPr/>
          <p:nvPr/>
        </p:nvSpPr>
        <p:spPr>
          <a:xfrm>
            <a:off x="822960" y="4389120"/>
            <a:ext cx="365760" cy="36576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19" name="Text 17"/>
          <p:cNvSpPr/>
          <p:nvPr/>
        </p:nvSpPr>
        <p:spPr>
          <a:xfrm>
            <a:off x="1371600" y="4343400"/>
            <a:ext cx="4754880" cy="5029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Organizația nu reacționează întotdeauna destul de repede.</a:t>
            </a:r>
            <a:endParaRPr lang="en-US" sz="1600" dirty="0"/>
          </a:p>
        </p:txBody>
      </p:sp>
      <p:sp>
        <p:nvSpPr>
          <p:cNvPr id="20" name="Shape 18"/>
          <p:cNvSpPr/>
          <p:nvPr/>
        </p:nvSpPr>
        <p:spPr>
          <a:xfrm>
            <a:off x="6492240" y="1600200"/>
            <a:ext cx="5074920" cy="3520440"/>
          </a:xfrm>
          <a:prstGeom prst="roundRect">
            <a:avLst>
              <a:gd name="adj" fmla="val 2338"/>
            </a:avLst>
          </a:prstGeom>
          <a:solidFill>
            <a:srgbClr val="FF4757"/>
          </a:solidFill>
          <a:ln w="12700">
            <a:solidFill>
              <a:srgbClr val="FF4757"/>
            </a:solidFill>
            <a:prstDash val="solid"/>
          </a:ln>
        </p:spPr>
        <p:txBody>
          <a:bodyPr/>
          <a:p/>
        </p:txBody>
      </p:sp>
      <p:sp>
        <p:nvSpPr>
          <p:cNvPr id="21" name="Text 19"/>
          <p:cNvSpPr/>
          <p:nvPr/>
        </p:nvSpPr>
        <p:spPr>
          <a:xfrm>
            <a:off x="6766560" y="1783080"/>
            <a:ext cx="4572000" cy="320040"/>
          </a:xfrm>
          <a:prstGeom prst="rect">
            <a:avLst/>
          </a:prstGeom>
          <a:noFill/>
          <a:ln/>
        </p:spPr>
        <p:txBody>
          <a:bodyPr wrap="square" lIns="0" tIns="0" rIns="0" bIns="0" rtlCol="0" anchor="t"/>
          <a:lstStyle/>
          <a:p>
            <a:pPr indent="0" marL="0">
              <a:buNone/>
            </a:pPr>
            <a:r>
              <a:rPr lang="en-US" sz="1300" b="1" spc="200" kern="0" dirty="0">
                <a:solidFill>
                  <a:srgbClr val="2E060B"/>
                </a:solidFill>
                <a:latin typeface="Palatino Linotype" pitchFamily="34" charset="0"/>
                <a:ea typeface="Palatino Linotype" pitchFamily="34" charset="-122"/>
                <a:cs typeface="Palatino Linotype" pitchFamily="34" charset="-120"/>
              </a:rPr>
              <a:t>LIMITA CEA MAI IMPORTANTĂ</a:t>
            </a:r>
            <a:endParaRPr lang="en-US" sz="1300" dirty="0"/>
          </a:p>
        </p:txBody>
      </p:sp>
      <p:sp>
        <p:nvSpPr>
          <p:cNvPr id="22" name="Text 20"/>
          <p:cNvSpPr/>
          <p:nvPr/>
        </p:nvSpPr>
        <p:spPr>
          <a:xfrm>
            <a:off x="6766560" y="2194560"/>
            <a:ext cx="4572000" cy="1005840"/>
          </a:xfrm>
          <a:prstGeom prst="rect">
            <a:avLst/>
          </a:prstGeom>
          <a:noFill/>
          <a:ln/>
        </p:spPr>
        <p:txBody>
          <a:bodyPr wrap="square" lIns="0" tIns="0" rIns="0" bIns="0" rtlCol="0" anchor="t"/>
          <a:lstStyle/>
          <a:p>
            <a:pPr indent="0" marL="0">
              <a:buNone/>
            </a:pPr>
            <a:r>
              <a:rPr lang="en-US" sz="2400" b="1" dirty="0">
                <a:solidFill>
                  <a:srgbClr val="2E060B"/>
                </a:solidFill>
                <a:latin typeface="Palatino Linotype" pitchFamily="34" charset="0"/>
                <a:ea typeface="Palatino Linotype" pitchFamily="34" charset="-122"/>
                <a:cs typeface="Palatino Linotype" pitchFamily="34" charset="-120"/>
              </a:rPr>
              <a:t>Convingerile puternice ale conducătorilor.</a:t>
            </a:r>
            <a:endParaRPr lang="en-US" sz="2400" dirty="0"/>
          </a:p>
        </p:txBody>
      </p:sp>
      <p:sp>
        <p:nvSpPr>
          <p:cNvPr id="23" name="Text 21"/>
          <p:cNvSpPr/>
          <p:nvPr/>
        </p:nvSpPr>
        <p:spPr>
          <a:xfrm>
            <a:off x="6766560" y="3291840"/>
            <a:ext cx="4572000" cy="1645920"/>
          </a:xfrm>
          <a:prstGeom prst="rect">
            <a:avLst/>
          </a:prstGeom>
          <a:noFill/>
          <a:ln/>
        </p:spPr>
        <p:txBody>
          <a:bodyPr wrap="square" lIns="0" tIns="0" rIns="0" bIns="0" rtlCol="0" anchor="t"/>
          <a:lstStyle/>
          <a:p>
            <a:pPr indent="0" marL="0">
              <a:buNone/>
            </a:pPr>
            <a:r>
              <a:rPr lang="en-US" sz="1700" dirty="0">
                <a:solidFill>
                  <a:srgbClr val="2E060B"/>
                </a:solidFill>
                <a:latin typeface="Palatino Linotype" pitchFamily="34" charset="0"/>
                <a:ea typeface="Palatino Linotype" pitchFamily="34" charset="-122"/>
                <a:cs typeface="Palatino Linotype" pitchFamily="34" charset="-120"/>
              </a:rPr>
              <a:t>Un manager convins că „medicii tineri pleacă oricum, nu avem ce face” nu va trece plecarea lor în plan.</a:t>
            </a:r>
            <a:endParaRPr lang="en-US" sz="1700" dirty="0"/>
          </a:p>
        </p:txBody>
      </p:sp>
      <p:sp>
        <p:nvSpPr>
          <p:cNvPr id="24" name="Text 22"/>
          <p:cNvSpPr/>
          <p:nvPr/>
        </p:nvSpPr>
        <p:spPr>
          <a:xfrm>
            <a:off x="594360" y="5394960"/>
            <a:ext cx="10972800" cy="54864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Reduce surpriza, nu o elimină: presupunerile se verifică periodic.</a:t>
            </a:r>
            <a:endParaRPr lang="en-US" sz="1900" dirty="0"/>
          </a:p>
        </p:txBody>
      </p:sp>
      <p:sp>
        <p:nvSpPr>
          <p:cNvPr id="25" name="Text 2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7D3BE"/>
        </a:solidFill>
      </p:bgPr>
    </p:bg>
    <p:spTree>
      <p:nvGrpSpPr>
        <p:cNvPr id="1" name=""/>
        <p:cNvGrpSpPr/>
        <p:nvPr/>
      </p:nvGrpSpPr>
      <p:grpSpPr>
        <a:xfrm>
          <a:off x="0" y="0"/>
          <a:ext cx="0" cy="0"/>
          <a:chOff x="0" y="0"/>
          <a:chExt cx="0" cy="0"/>
        </a:xfrm>
      </p:grpSpPr>
      <p:sp>
        <p:nvSpPr>
          <p:cNvPr id="2" name="Text 0"/>
          <p:cNvSpPr/>
          <p:nvPr/>
        </p:nvSpPr>
        <p:spPr>
          <a:xfrm>
            <a:off x="594360" y="2011680"/>
            <a:ext cx="10972800" cy="1188720"/>
          </a:xfrm>
          <a:prstGeom prst="rect">
            <a:avLst/>
          </a:prstGeom>
          <a:noFill/>
          <a:ln/>
        </p:spPr>
        <p:txBody>
          <a:bodyPr wrap="square" lIns="0" tIns="0" rIns="0" bIns="0" rtlCol="0" anchor="ctr"/>
          <a:lstStyle/>
          <a:p>
            <a:pPr indent="0" marL="0">
              <a:buNone/>
            </a:pPr>
            <a:r>
              <a:rPr lang="en-US" sz="5400" b="1" dirty="0">
                <a:solidFill>
                  <a:srgbClr val="073B34"/>
                </a:solidFill>
                <a:latin typeface="Palatino Linotype" pitchFamily="34" charset="0"/>
                <a:ea typeface="Palatino Linotype" pitchFamily="34" charset="-122"/>
                <a:cs typeface="Palatino Linotype" pitchFamily="34" charset="-120"/>
              </a:rPr>
              <a:t>Zece minute de pauză</a:t>
            </a:r>
            <a:endParaRPr lang="en-US" sz="5400" dirty="0"/>
          </a:p>
        </p:txBody>
      </p:sp>
      <p:sp>
        <p:nvSpPr>
          <p:cNvPr id="3" name="Text 1"/>
          <p:cNvSpPr/>
          <p:nvPr/>
        </p:nvSpPr>
        <p:spPr>
          <a:xfrm>
            <a:off x="594360" y="3383280"/>
            <a:ext cx="10972800" cy="731520"/>
          </a:xfrm>
          <a:prstGeom prst="rect">
            <a:avLst/>
          </a:prstGeom>
          <a:noFill/>
          <a:ln/>
        </p:spPr>
        <p:txBody>
          <a:bodyPr wrap="square" lIns="0" tIns="0" rIns="0" bIns="0" rtlCol="0" anchor="t"/>
          <a:lstStyle/>
          <a:p>
            <a:pPr indent="0" marL="0">
              <a:buNone/>
            </a:pPr>
            <a:r>
              <a:rPr lang="en-US" sz="2400" dirty="0">
                <a:solidFill>
                  <a:srgbClr val="073B34"/>
                </a:solidFill>
                <a:latin typeface="Palatino Linotype" pitchFamily="34" charset="0"/>
                <a:ea typeface="Palatino Linotype" pitchFamily="34" charset="-122"/>
                <a:cs typeface="Palatino Linotype" pitchFamily="34" charset="-120"/>
              </a:rPr>
              <a:t>Urmează: de la țară la spital, cu straturile mediului extern.</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STRATURILE MEDIULUI EXTERN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Trei straturi, unul în interiorul celuilalt</a:t>
            </a:r>
            <a:endParaRPr lang="en-US" sz="3000" dirty="0"/>
          </a:p>
        </p:txBody>
      </p:sp>
      <p:sp>
        <p:nvSpPr>
          <p:cNvPr id="4" name="Shape 2"/>
          <p:cNvSpPr/>
          <p:nvPr/>
        </p:nvSpPr>
        <p:spPr>
          <a:xfrm>
            <a:off x="1051560" y="1691640"/>
            <a:ext cx="4389120" cy="4389120"/>
          </a:xfrm>
          <a:prstGeom prst="ellipse">
            <a:avLst/>
          </a:prstGeom>
          <a:solidFill>
            <a:srgbClr val="E3E0D6"/>
          </a:solidFill>
          <a:ln w="12700">
            <a:solidFill>
              <a:srgbClr val="C9C6BE"/>
            </a:solidFill>
            <a:prstDash val="solid"/>
          </a:ln>
        </p:spPr>
        <p:txBody>
          <a:bodyPr/>
          <a:p/>
        </p:txBody>
      </p:sp>
      <p:sp>
        <p:nvSpPr>
          <p:cNvPr id="5" name="Text 3"/>
          <p:cNvSpPr/>
          <p:nvPr/>
        </p:nvSpPr>
        <p:spPr>
          <a:xfrm>
            <a:off x="1874520" y="1801368"/>
            <a:ext cx="2743200" cy="36576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Mediul general</a:t>
            </a:r>
            <a:endParaRPr lang="en-US" sz="1400" dirty="0"/>
          </a:p>
        </p:txBody>
      </p:sp>
      <p:sp>
        <p:nvSpPr>
          <p:cNvPr id="6" name="Shape 4"/>
          <p:cNvSpPr/>
          <p:nvPr/>
        </p:nvSpPr>
        <p:spPr>
          <a:xfrm>
            <a:off x="1645920" y="2286000"/>
            <a:ext cx="3200400" cy="3200400"/>
          </a:xfrm>
          <a:prstGeom prst="ellipse">
            <a:avLst/>
          </a:prstGeom>
          <a:solidFill>
            <a:srgbClr val="ECEAE4"/>
          </a:solidFill>
          <a:ln w="12700">
            <a:solidFill>
              <a:srgbClr val="C9C6BE"/>
            </a:solidFill>
            <a:prstDash val="solid"/>
          </a:ln>
        </p:spPr>
        <p:txBody>
          <a:bodyPr/>
          <a:p/>
        </p:txBody>
      </p:sp>
      <p:sp>
        <p:nvSpPr>
          <p:cNvPr id="7" name="Text 5"/>
          <p:cNvSpPr/>
          <p:nvPr/>
        </p:nvSpPr>
        <p:spPr>
          <a:xfrm>
            <a:off x="1874520" y="2395728"/>
            <a:ext cx="2743200" cy="36576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Sistemul de sănătate</a:t>
            </a:r>
            <a:endParaRPr lang="en-US" sz="1400" dirty="0"/>
          </a:p>
        </p:txBody>
      </p:sp>
      <p:sp>
        <p:nvSpPr>
          <p:cNvPr id="8" name="Shape 6"/>
          <p:cNvSpPr/>
          <p:nvPr/>
        </p:nvSpPr>
        <p:spPr>
          <a:xfrm>
            <a:off x="2240280" y="2880360"/>
            <a:ext cx="2011680" cy="2011680"/>
          </a:xfrm>
          <a:prstGeom prst="ellipse">
            <a:avLst/>
          </a:prstGeom>
          <a:solidFill>
            <a:srgbClr val="F6F5F2"/>
          </a:solidFill>
          <a:ln w="12700">
            <a:solidFill>
              <a:srgbClr val="C9C6BE"/>
            </a:solidFill>
            <a:prstDash val="solid"/>
          </a:ln>
        </p:spPr>
        <p:txBody>
          <a:bodyPr/>
          <a:p/>
        </p:txBody>
      </p:sp>
      <p:sp>
        <p:nvSpPr>
          <p:cNvPr id="9" name="Text 7"/>
          <p:cNvSpPr/>
          <p:nvPr/>
        </p:nvSpPr>
        <p:spPr>
          <a:xfrm>
            <a:off x="1874520" y="2990088"/>
            <a:ext cx="2743200" cy="36576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Aria de servicii</a:t>
            </a:r>
            <a:endParaRPr lang="en-US" sz="1400" dirty="0"/>
          </a:p>
        </p:txBody>
      </p:sp>
      <p:sp>
        <p:nvSpPr>
          <p:cNvPr id="10" name="Shape 8"/>
          <p:cNvSpPr/>
          <p:nvPr/>
        </p:nvSpPr>
        <p:spPr>
          <a:xfrm>
            <a:off x="2697480" y="3429000"/>
            <a:ext cx="1097280" cy="1097280"/>
          </a:xfrm>
          <a:prstGeom prst="ellipse">
            <a:avLst/>
          </a:prstGeom>
          <a:solidFill>
            <a:srgbClr val="FF4757"/>
          </a:solidFill>
          <a:ln w="25400">
            <a:solidFill>
              <a:srgbClr val="F6F5F2"/>
            </a:solidFill>
            <a:prstDash val="solid"/>
          </a:ln>
        </p:spPr>
        <p:txBody>
          <a:bodyPr/>
          <a:p/>
        </p:txBody>
      </p:sp>
      <p:sp>
        <p:nvSpPr>
          <p:cNvPr id="11" name="Text 9"/>
          <p:cNvSpPr/>
          <p:nvPr/>
        </p:nvSpPr>
        <p:spPr>
          <a:xfrm>
            <a:off x="2697480" y="3429000"/>
            <a:ext cx="1097280" cy="1097280"/>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Spitalul</a:t>
            </a:r>
            <a:endParaRPr lang="en-US" sz="1300" dirty="0"/>
          </a:p>
        </p:txBody>
      </p:sp>
      <p:sp>
        <p:nvSpPr>
          <p:cNvPr id="12" name="Shape 10"/>
          <p:cNvSpPr/>
          <p:nvPr/>
        </p:nvSpPr>
        <p:spPr>
          <a:xfrm>
            <a:off x="5943600" y="1783080"/>
            <a:ext cx="54864" cy="1051560"/>
          </a:xfrm>
          <a:prstGeom prst="rect">
            <a:avLst/>
          </a:prstGeom>
          <a:solidFill>
            <a:srgbClr val="B02532"/>
          </a:solidFill>
          <a:ln w="12700">
            <a:solidFill>
              <a:srgbClr val="B02532"/>
            </a:solidFill>
            <a:prstDash val="solid"/>
          </a:ln>
        </p:spPr>
        <p:txBody>
          <a:bodyPr/>
          <a:p/>
        </p:txBody>
      </p:sp>
      <p:sp>
        <p:nvSpPr>
          <p:cNvPr id="13" name="Text 11"/>
          <p:cNvSpPr/>
          <p:nvPr/>
        </p:nvSpPr>
        <p:spPr>
          <a:xfrm>
            <a:off x="6217920" y="1783080"/>
            <a:ext cx="5349240" cy="1051560"/>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Îmbătrânirea: </a:t>
            </a:r>
            <a:pPr indent="0" marL="0">
              <a:buNone/>
            </a:pPr>
            <a:r>
              <a:rPr lang="en-US" sz="1800" dirty="0">
                <a:solidFill>
                  <a:srgbClr val="11121A"/>
                </a:solidFill>
                <a:latin typeface="Palatino Linotype" pitchFamily="34" charset="0"/>
                <a:ea typeface="Palatino Linotype" pitchFamily="34" charset="-122"/>
                <a:cs typeface="Palatino Linotype" pitchFamily="34" charset="-120"/>
              </a:rPr>
              <a:t>privește toată societatea: mediul general</a:t>
            </a:r>
            <a:endParaRPr lang="en-US" sz="1800" dirty="0"/>
          </a:p>
        </p:txBody>
      </p:sp>
      <p:sp>
        <p:nvSpPr>
          <p:cNvPr id="14" name="Shape 12"/>
          <p:cNvSpPr/>
          <p:nvPr/>
        </p:nvSpPr>
        <p:spPr>
          <a:xfrm>
            <a:off x="5943600" y="3108960"/>
            <a:ext cx="54864" cy="1051560"/>
          </a:xfrm>
          <a:prstGeom prst="rect">
            <a:avLst/>
          </a:prstGeom>
          <a:solidFill>
            <a:srgbClr val="0E7C6B"/>
          </a:solidFill>
          <a:ln w="12700">
            <a:solidFill>
              <a:srgbClr val="0E7C6B"/>
            </a:solidFill>
            <a:prstDash val="solid"/>
          </a:ln>
        </p:spPr>
        <p:txBody>
          <a:bodyPr/>
          <a:p/>
        </p:txBody>
      </p:sp>
      <p:sp>
        <p:nvSpPr>
          <p:cNvPr id="15" name="Text 13"/>
          <p:cNvSpPr/>
          <p:nvPr/>
        </p:nvSpPr>
        <p:spPr>
          <a:xfrm>
            <a:off x="6217920" y="3108960"/>
            <a:ext cx="5349240" cy="1051560"/>
          </a:xfrm>
          <a:prstGeom prst="rect">
            <a:avLst/>
          </a:prstGeom>
          <a:noFill/>
          <a:ln/>
        </p:spPr>
        <p:txBody>
          <a:bodyPr wrap="square" lIns="0" tIns="0" rIns="0" bIns="0" rtlCol="0" anchor="ctr"/>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Plecarea medicilor: </a:t>
            </a:r>
            <a:pPr indent="0" marL="0">
              <a:buNone/>
            </a:pPr>
            <a:r>
              <a:rPr lang="en-US" sz="1800" dirty="0">
                <a:solidFill>
                  <a:srgbClr val="11121A"/>
                </a:solidFill>
                <a:latin typeface="Palatino Linotype" pitchFamily="34" charset="0"/>
                <a:ea typeface="Palatino Linotype" pitchFamily="34" charset="-122"/>
                <a:cs typeface="Palatino Linotype" pitchFamily="34" charset="-120"/>
              </a:rPr>
              <a:t>privește sistemul de sănătate</a:t>
            </a:r>
            <a:endParaRPr lang="en-US" sz="1800" dirty="0"/>
          </a:p>
        </p:txBody>
      </p:sp>
      <p:sp>
        <p:nvSpPr>
          <p:cNvPr id="16" name="Shape 14"/>
          <p:cNvSpPr/>
          <p:nvPr/>
        </p:nvSpPr>
        <p:spPr>
          <a:xfrm>
            <a:off x="5943600" y="4434840"/>
            <a:ext cx="54864" cy="1051560"/>
          </a:xfrm>
          <a:prstGeom prst="rect">
            <a:avLst/>
          </a:prstGeom>
          <a:solidFill>
            <a:srgbClr val="8A6100"/>
          </a:solidFill>
          <a:ln w="12700">
            <a:solidFill>
              <a:srgbClr val="8A6100"/>
            </a:solidFill>
            <a:prstDash val="solid"/>
          </a:ln>
        </p:spPr>
        <p:txBody>
          <a:bodyPr/>
          <a:p/>
        </p:txBody>
      </p:sp>
      <p:sp>
        <p:nvSpPr>
          <p:cNvPr id="17" name="Text 15"/>
          <p:cNvSpPr/>
          <p:nvPr/>
        </p:nvSpPr>
        <p:spPr>
          <a:xfrm>
            <a:off x="6217920" y="4434840"/>
            <a:ext cx="5349240" cy="1051560"/>
          </a:xfrm>
          <a:prstGeom prst="rect">
            <a:avLst/>
          </a:prstGeom>
          <a:noFill/>
          <a:ln/>
        </p:spPr>
        <p:txBody>
          <a:bodyPr wrap="square" lIns="0" tIns="0" rIns="0" bIns="0" rtlCol="0" anchor="ctr"/>
          <a:lstStyle/>
          <a:p>
            <a:pPr indent="0" marL="0">
              <a:buNone/>
            </a:pPr>
            <a:r>
              <a:rPr lang="en-US" sz="1800" b="1" dirty="0">
                <a:solidFill>
                  <a:srgbClr val="8A6100"/>
                </a:solidFill>
                <a:latin typeface="Palatino Linotype" pitchFamily="34" charset="0"/>
                <a:ea typeface="Palatino Linotype" pitchFamily="34" charset="-122"/>
                <a:cs typeface="Palatino Linotype" pitchFamily="34" charset="-120"/>
              </a:rPr>
              <a:t>Drumul lung până la consultații: </a:t>
            </a:r>
            <a:pPr indent="0" marL="0">
              <a:buNone/>
            </a:pPr>
            <a:r>
              <a:rPr lang="en-US" sz="1800" dirty="0">
                <a:solidFill>
                  <a:srgbClr val="11121A"/>
                </a:solidFill>
                <a:latin typeface="Palatino Linotype" pitchFamily="34" charset="0"/>
                <a:ea typeface="Palatino Linotype" pitchFamily="34" charset="-122"/>
                <a:cs typeface="Palatino Linotype" pitchFamily="34" charset="-120"/>
              </a:rPr>
              <a:t>privește zona din care vin pacienții: aria de servicii</a:t>
            </a:r>
            <a:endParaRPr lang="en-US" sz="1800" dirty="0"/>
          </a:p>
        </p:txBody>
      </p:sp>
      <p:sp>
        <p:nvSpPr>
          <p:cNvPr id="18" name="Text 16"/>
          <p:cNvSpPr/>
          <p:nvPr/>
        </p:nvSpPr>
        <p:spPr>
          <a:xfrm>
            <a:off x="5943600" y="5623560"/>
            <a:ext cx="5623560" cy="64008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Organizațiile de sănătate se află în ariile lor de servicii, acestea în sistemul de sănătate, iar el în mediul general.</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STRATUL CEL MAI LARG</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Mediul general</a:t>
            </a:r>
            <a:endParaRPr lang="en-US" sz="3800" dirty="0"/>
          </a:p>
        </p:txBody>
      </p:sp>
      <p:sp>
        <p:nvSpPr>
          <p:cNvPr id="4" name="Shape 2"/>
          <p:cNvSpPr/>
          <p:nvPr/>
        </p:nvSpPr>
        <p:spPr>
          <a:xfrm>
            <a:off x="594360" y="1783080"/>
            <a:ext cx="3520440" cy="1188720"/>
          </a:xfrm>
          <a:prstGeom prst="roundRect">
            <a:avLst>
              <a:gd name="adj" fmla="val 6923"/>
            </a:avLst>
          </a:prstGeom>
          <a:solidFill>
            <a:srgbClr val="1D1F2B"/>
          </a:solidFill>
          <a:ln w="12700">
            <a:solidFill>
              <a:srgbClr val="1D1F2B"/>
            </a:solidFill>
            <a:prstDash val="solid"/>
          </a:ln>
        </p:spPr>
        <p:txBody>
          <a:bodyPr/>
          <a:p/>
        </p:txBody>
      </p:sp>
      <p:sp>
        <p:nvSpPr>
          <p:cNvPr id="5" name="Text 3"/>
          <p:cNvSpPr/>
          <p:nvPr/>
        </p:nvSpPr>
        <p:spPr>
          <a:xfrm>
            <a:off x="868680" y="1783080"/>
            <a:ext cx="2971800" cy="118872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Instituțiile statului</a:t>
            </a:r>
            <a:endParaRPr lang="en-US" sz="1900" dirty="0"/>
          </a:p>
        </p:txBody>
      </p:sp>
      <p:sp>
        <p:nvSpPr>
          <p:cNvPr id="6" name="Shape 4"/>
          <p:cNvSpPr/>
          <p:nvPr/>
        </p:nvSpPr>
        <p:spPr>
          <a:xfrm>
            <a:off x="4343400" y="1783080"/>
            <a:ext cx="3520440" cy="1188720"/>
          </a:xfrm>
          <a:prstGeom prst="roundRect">
            <a:avLst>
              <a:gd name="adj" fmla="val 6923"/>
            </a:avLst>
          </a:prstGeom>
          <a:solidFill>
            <a:srgbClr val="272A38"/>
          </a:solidFill>
          <a:ln w="12700">
            <a:solidFill>
              <a:srgbClr val="272A38"/>
            </a:solidFill>
            <a:prstDash val="solid"/>
          </a:ln>
        </p:spPr>
        <p:txBody>
          <a:bodyPr/>
          <a:p/>
        </p:txBody>
      </p:sp>
      <p:sp>
        <p:nvSpPr>
          <p:cNvPr id="7" name="Text 5"/>
          <p:cNvSpPr/>
          <p:nvPr/>
        </p:nvSpPr>
        <p:spPr>
          <a:xfrm>
            <a:off x="4617720" y="1783080"/>
            <a:ext cx="2971800" cy="118872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Firmele</a:t>
            </a:r>
            <a:endParaRPr lang="en-US" sz="1900" dirty="0"/>
          </a:p>
        </p:txBody>
      </p:sp>
      <p:sp>
        <p:nvSpPr>
          <p:cNvPr id="8" name="Shape 6"/>
          <p:cNvSpPr/>
          <p:nvPr/>
        </p:nvSpPr>
        <p:spPr>
          <a:xfrm>
            <a:off x="8092440" y="1783080"/>
            <a:ext cx="3520440" cy="1188720"/>
          </a:xfrm>
          <a:prstGeom prst="roundRect">
            <a:avLst>
              <a:gd name="adj" fmla="val 6923"/>
            </a:avLst>
          </a:prstGeom>
          <a:solidFill>
            <a:srgbClr val="1D1F2B"/>
          </a:solidFill>
          <a:ln w="12700">
            <a:solidFill>
              <a:srgbClr val="1D1F2B"/>
            </a:solidFill>
            <a:prstDash val="solid"/>
          </a:ln>
        </p:spPr>
        <p:txBody>
          <a:bodyPr/>
          <a:p/>
        </p:txBody>
      </p:sp>
      <p:sp>
        <p:nvSpPr>
          <p:cNvPr id="9" name="Text 7"/>
          <p:cNvSpPr/>
          <p:nvPr/>
        </p:nvSpPr>
        <p:spPr>
          <a:xfrm>
            <a:off x="8366760" y="1783080"/>
            <a:ext cx="2971800" cy="118872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Școlile și universitățile</a:t>
            </a:r>
            <a:endParaRPr lang="en-US" sz="1900" dirty="0"/>
          </a:p>
        </p:txBody>
      </p:sp>
      <p:sp>
        <p:nvSpPr>
          <p:cNvPr id="10" name="Shape 8"/>
          <p:cNvSpPr/>
          <p:nvPr/>
        </p:nvSpPr>
        <p:spPr>
          <a:xfrm>
            <a:off x="594360" y="3200400"/>
            <a:ext cx="3520440" cy="1188720"/>
          </a:xfrm>
          <a:prstGeom prst="roundRect">
            <a:avLst>
              <a:gd name="adj" fmla="val 6923"/>
            </a:avLst>
          </a:prstGeom>
          <a:solidFill>
            <a:srgbClr val="272A38"/>
          </a:solidFill>
          <a:ln w="12700">
            <a:solidFill>
              <a:srgbClr val="272A38"/>
            </a:solidFill>
            <a:prstDash val="solid"/>
          </a:ln>
        </p:spPr>
        <p:txBody>
          <a:bodyPr/>
          <a:p/>
        </p:txBody>
      </p:sp>
      <p:sp>
        <p:nvSpPr>
          <p:cNvPr id="11" name="Text 9"/>
          <p:cNvSpPr/>
          <p:nvPr/>
        </p:nvSpPr>
        <p:spPr>
          <a:xfrm>
            <a:off x="868680" y="3200400"/>
            <a:ext cx="2971800" cy="118872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Instituțiile religioase</a:t>
            </a:r>
            <a:endParaRPr lang="en-US" sz="1900" dirty="0"/>
          </a:p>
        </p:txBody>
      </p:sp>
      <p:sp>
        <p:nvSpPr>
          <p:cNvPr id="12" name="Shape 10"/>
          <p:cNvSpPr/>
          <p:nvPr/>
        </p:nvSpPr>
        <p:spPr>
          <a:xfrm>
            <a:off x="4343400" y="3200400"/>
            <a:ext cx="3520440" cy="1188720"/>
          </a:xfrm>
          <a:prstGeom prst="roundRect">
            <a:avLst>
              <a:gd name="adj" fmla="val 6923"/>
            </a:avLst>
          </a:prstGeom>
          <a:solidFill>
            <a:srgbClr val="1D1F2B"/>
          </a:solidFill>
          <a:ln w="12700">
            <a:solidFill>
              <a:srgbClr val="1D1F2B"/>
            </a:solidFill>
            <a:prstDash val="solid"/>
          </a:ln>
        </p:spPr>
        <p:txBody>
          <a:bodyPr/>
          <a:p/>
        </p:txBody>
      </p:sp>
      <p:sp>
        <p:nvSpPr>
          <p:cNvPr id="13" name="Text 11"/>
          <p:cNvSpPr/>
          <p:nvPr/>
        </p:nvSpPr>
        <p:spPr>
          <a:xfrm>
            <a:off x="4617720" y="3200400"/>
            <a:ext cx="2971800" cy="118872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Organizațiile de cercetare și fundațiile</a:t>
            </a:r>
            <a:endParaRPr lang="en-US" sz="1900" dirty="0"/>
          </a:p>
        </p:txBody>
      </p:sp>
      <p:sp>
        <p:nvSpPr>
          <p:cNvPr id="14" name="Shape 12"/>
          <p:cNvSpPr/>
          <p:nvPr/>
        </p:nvSpPr>
        <p:spPr>
          <a:xfrm>
            <a:off x="8092440" y="3200400"/>
            <a:ext cx="3520440" cy="1188720"/>
          </a:xfrm>
          <a:prstGeom prst="roundRect">
            <a:avLst>
              <a:gd name="adj" fmla="val 6923"/>
            </a:avLst>
          </a:prstGeom>
          <a:solidFill>
            <a:srgbClr val="272A38"/>
          </a:solidFill>
          <a:ln w="12700">
            <a:solidFill>
              <a:srgbClr val="272A38"/>
            </a:solidFill>
            <a:prstDash val="solid"/>
          </a:ln>
        </p:spPr>
        <p:txBody>
          <a:bodyPr/>
          <a:p/>
        </p:txBody>
      </p:sp>
      <p:sp>
        <p:nvSpPr>
          <p:cNvPr id="15" name="Text 13"/>
          <p:cNvSpPr/>
          <p:nvPr/>
        </p:nvSpPr>
        <p:spPr>
          <a:xfrm>
            <a:off x="8366760" y="3200400"/>
            <a:ext cx="2971800" cy="118872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Persoanele și consumatorii</a:t>
            </a:r>
            <a:endParaRPr lang="en-US" sz="1900" dirty="0"/>
          </a:p>
        </p:txBody>
      </p:sp>
      <p:sp>
        <p:nvSpPr>
          <p:cNvPr id="16" name="Shape 14"/>
          <p:cNvSpPr/>
          <p:nvPr/>
        </p:nvSpPr>
        <p:spPr>
          <a:xfrm>
            <a:off x="594360" y="4754880"/>
            <a:ext cx="10972800" cy="1188720"/>
          </a:xfrm>
          <a:prstGeom prst="roundRect">
            <a:avLst>
              <a:gd name="adj" fmla="val 6923"/>
            </a:avLst>
          </a:prstGeom>
          <a:solidFill>
            <a:srgbClr val="07564B"/>
          </a:solidFill>
          <a:ln w="12700">
            <a:solidFill>
              <a:srgbClr val="07564B"/>
            </a:solidFill>
            <a:prstDash val="solid"/>
          </a:ln>
        </p:spPr>
        <p:txBody>
          <a:bodyPr/>
          <a:p/>
        </p:txBody>
      </p:sp>
      <p:sp>
        <p:nvSpPr>
          <p:cNvPr id="17" name="Text 15"/>
          <p:cNvSpPr/>
          <p:nvPr/>
        </p:nvSpPr>
        <p:spPr>
          <a:xfrm>
            <a:off x="868680" y="4754880"/>
            <a:ext cx="10424160" cy="1188720"/>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Ei produc schimbări care ajung, în timp, în multe domenii, inclusiv în sănătate.</a:t>
            </a:r>
            <a:endParaRPr lang="en-US" sz="22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Ginter, Duncan și Swayne, 2018.</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DOILEA STRAT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Sistemul de sănătate</a:t>
            </a:r>
            <a:endParaRPr lang="en-US" sz="3600" dirty="0"/>
          </a:p>
        </p:txBody>
      </p:sp>
      <p:sp>
        <p:nvSpPr>
          <p:cNvPr id="4" name="Shape 2"/>
          <p:cNvSpPr/>
          <p:nvPr/>
        </p:nvSpPr>
        <p:spPr>
          <a:xfrm>
            <a:off x="594360" y="1600200"/>
            <a:ext cx="6675120" cy="768096"/>
          </a:xfrm>
          <a:prstGeom prst="roundRect">
            <a:avLst>
              <a:gd name="adj" fmla="val 10714"/>
            </a:avLst>
          </a:prstGeom>
          <a:solidFill>
            <a:srgbClr val="ECEAE4"/>
          </a:solidFill>
          <a:ln w="12700">
            <a:solidFill>
              <a:srgbClr val="ECEAE4"/>
            </a:solidFill>
            <a:prstDash val="solid"/>
          </a:ln>
        </p:spPr>
        <p:txBody>
          <a:bodyPr/>
          <a:p/>
        </p:txBody>
      </p:sp>
      <p:sp>
        <p:nvSpPr>
          <p:cNvPr id="5" name="Shape 3"/>
          <p:cNvSpPr/>
          <p:nvPr/>
        </p:nvSpPr>
        <p:spPr>
          <a:xfrm>
            <a:off x="777240" y="1773936"/>
            <a:ext cx="420624" cy="420624"/>
          </a:xfrm>
          <a:prstGeom prst="ellipse">
            <a:avLst/>
          </a:prstGeom>
          <a:solidFill>
            <a:srgbClr val="FF4757"/>
          </a:solidFill>
          <a:ln/>
        </p:spPr>
        <p:txBody>
          <a:bodyPr/>
          <a:p/>
        </p:txBody>
      </p:sp>
      <p:sp>
        <p:nvSpPr>
          <p:cNvPr id="6" name="Text 4"/>
          <p:cNvSpPr/>
          <p:nvPr/>
        </p:nvSpPr>
        <p:spPr>
          <a:xfrm>
            <a:off x="777240" y="177393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371600" y="1600200"/>
            <a:ext cx="5760720" cy="76809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Organizațiile care planifică și reglementează</a:t>
            </a:r>
            <a:endParaRPr lang="en-US" sz="1600" dirty="0"/>
          </a:p>
        </p:txBody>
      </p:sp>
      <p:sp>
        <p:nvSpPr>
          <p:cNvPr id="8" name="Shape 6"/>
          <p:cNvSpPr/>
          <p:nvPr/>
        </p:nvSpPr>
        <p:spPr>
          <a:xfrm>
            <a:off x="594360" y="2496312"/>
            <a:ext cx="6675120" cy="768096"/>
          </a:xfrm>
          <a:prstGeom prst="roundRect">
            <a:avLst>
              <a:gd name="adj" fmla="val 10714"/>
            </a:avLst>
          </a:prstGeom>
          <a:solidFill>
            <a:srgbClr val="F9F8F5"/>
          </a:solidFill>
          <a:ln w="12700">
            <a:solidFill>
              <a:srgbClr val="F9F8F5"/>
            </a:solidFill>
            <a:prstDash val="solid"/>
          </a:ln>
        </p:spPr>
        <p:txBody>
          <a:bodyPr/>
          <a:p/>
        </p:txBody>
      </p:sp>
      <p:sp>
        <p:nvSpPr>
          <p:cNvPr id="9" name="Shape 7"/>
          <p:cNvSpPr/>
          <p:nvPr/>
        </p:nvSpPr>
        <p:spPr>
          <a:xfrm>
            <a:off x="777240" y="2670048"/>
            <a:ext cx="420624" cy="420624"/>
          </a:xfrm>
          <a:prstGeom prst="ellipse">
            <a:avLst/>
          </a:prstGeom>
          <a:solidFill>
            <a:srgbClr val="FF4757"/>
          </a:solidFill>
          <a:ln/>
        </p:spPr>
        <p:txBody>
          <a:bodyPr/>
          <a:p/>
        </p:txBody>
      </p:sp>
      <p:sp>
        <p:nvSpPr>
          <p:cNvPr id="10" name="Text 8"/>
          <p:cNvSpPr/>
          <p:nvPr/>
        </p:nvSpPr>
        <p:spPr>
          <a:xfrm>
            <a:off x="777240" y="267004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371600" y="2496312"/>
            <a:ext cx="5760720" cy="76809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Organizațiile care furnizează servicii de sănătate</a:t>
            </a:r>
            <a:endParaRPr lang="en-US" sz="1600" dirty="0"/>
          </a:p>
        </p:txBody>
      </p:sp>
      <p:sp>
        <p:nvSpPr>
          <p:cNvPr id="12" name="Shape 10"/>
          <p:cNvSpPr/>
          <p:nvPr/>
        </p:nvSpPr>
        <p:spPr>
          <a:xfrm>
            <a:off x="594360" y="3392424"/>
            <a:ext cx="6675120" cy="768096"/>
          </a:xfrm>
          <a:prstGeom prst="roundRect">
            <a:avLst>
              <a:gd name="adj" fmla="val 10714"/>
            </a:avLst>
          </a:prstGeom>
          <a:solidFill>
            <a:srgbClr val="ECEAE4"/>
          </a:solidFill>
          <a:ln w="12700">
            <a:solidFill>
              <a:srgbClr val="ECEAE4"/>
            </a:solidFill>
            <a:prstDash val="solid"/>
          </a:ln>
        </p:spPr>
        <p:txBody>
          <a:bodyPr/>
          <a:p/>
        </p:txBody>
      </p:sp>
      <p:sp>
        <p:nvSpPr>
          <p:cNvPr id="13" name="Shape 11"/>
          <p:cNvSpPr/>
          <p:nvPr/>
        </p:nvSpPr>
        <p:spPr>
          <a:xfrm>
            <a:off x="777240" y="3566160"/>
            <a:ext cx="420624" cy="420624"/>
          </a:xfrm>
          <a:prstGeom prst="ellipse">
            <a:avLst/>
          </a:prstGeom>
          <a:solidFill>
            <a:srgbClr val="FF4757"/>
          </a:solidFill>
          <a:ln/>
        </p:spPr>
        <p:txBody>
          <a:bodyPr/>
          <a:p/>
        </p:txBody>
      </p:sp>
      <p:sp>
        <p:nvSpPr>
          <p:cNvPr id="14" name="Text 12"/>
          <p:cNvSpPr/>
          <p:nvPr/>
        </p:nvSpPr>
        <p:spPr>
          <a:xfrm>
            <a:off x="777240" y="35661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371600" y="3392424"/>
            <a:ext cx="5760720" cy="76809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Organizațiile care furnizează resurse: școlile de medicină și plătitorii</a:t>
            </a:r>
            <a:endParaRPr lang="en-US" sz="1600" dirty="0"/>
          </a:p>
        </p:txBody>
      </p:sp>
      <p:sp>
        <p:nvSpPr>
          <p:cNvPr id="16" name="Shape 14"/>
          <p:cNvSpPr/>
          <p:nvPr/>
        </p:nvSpPr>
        <p:spPr>
          <a:xfrm>
            <a:off x="594360" y="4288536"/>
            <a:ext cx="6675120" cy="768096"/>
          </a:xfrm>
          <a:prstGeom prst="roundRect">
            <a:avLst>
              <a:gd name="adj" fmla="val 10714"/>
            </a:avLst>
          </a:prstGeom>
          <a:solidFill>
            <a:srgbClr val="F9F8F5"/>
          </a:solidFill>
          <a:ln w="12700">
            <a:solidFill>
              <a:srgbClr val="F9F8F5"/>
            </a:solidFill>
            <a:prstDash val="solid"/>
          </a:ln>
        </p:spPr>
        <p:txBody>
          <a:bodyPr/>
          <a:p/>
        </p:txBody>
      </p:sp>
      <p:sp>
        <p:nvSpPr>
          <p:cNvPr id="17" name="Shape 15"/>
          <p:cNvSpPr/>
          <p:nvPr/>
        </p:nvSpPr>
        <p:spPr>
          <a:xfrm>
            <a:off x="777240" y="4462272"/>
            <a:ext cx="420624" cy="420624"/>
          </a:xfrm>
          <a:prstGeom prst="ellipse">
            <a:avLst/>
          </a:prstGeom>
          <a:solidFill>
            <a:srgbClr val="FF4757"/>
          </a:solidFill>
          <a:ln/>
        </p:spPr>
        <p:txBody>
          <a:bodyPr/>
          <a:p/>
        </p:txBody>
      </p:sp>
      <p:sp>
        <p:nvSpPr>
          <p:cNvPr id="18" name="Text 16"/>
          <p:cNvSpPr/>
          <p:nvPr/>
        </p:nvSpPr>
        <p:spPr>
          <a:xfrm>
            <a:off x="777240" y="446227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371600" y="4288536"/>
            <a:ext cx="5760720" cy="76809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Organizațiile care îi reprezintă pe furnizori</a:t>
            </a:r>
            <a:endParaRPr lang="en-US" sz="1600" dirty="0"/>
          </a:p>
        </p:txBody>
      </p:sp>
      <p:sp>
        <p:nvSpPr>
          <p:cNvPr id="20" name="Shape 18"/>
          <p:cNvSpPr/>
          <p:nvPr/>
        </p:nvSpPr>
        <p:spPr>
          <a:xfrm>
            <a:off x="594360" y="5184648"/>
            <a:ext cx="6675120" cy="768096"/>
          </a:xfrm>
          <a:prstGeom prst="roundRect">
            <a:avLst>
              <a:gd name="adj" fmla="val 10714"/>
            </a:avLst>
          </a:prstGeom>
          <a:solidFill>
            <a:srgbClr val="ECEAE4"/>
          </a:solidFill>
          <a:ln w="12700">
            <a:solidFill>
              <a:srgbClr val="ECEAE4"/>
            </a:solidFill>
            <a:prstDash val="solid"/>
          </a:ln>
        </p:spPr>
        <p:txBody>
          <a:bodyPr/>
          <a:p/>
        </p:txBody>
      </p:sp>
      <p:sp>
        <p:nvSpPr>
          <p:cNvPr id="21" name="Shape 19"/>
          <p:cNvSpPr/>
          <p:nvPr/>
        </p:nvSpPr>
        <p:spPr>
          <a:xfrm>
            <a:off x="777240" y="5358384"/>
            <a:ext cx="420624" cy="420624"/>
          </a:xfrm>
          <a:prstGeom prst="ellipse">
            <a:avLst/>
          </a:prstGeom>
          <a:solidFill>
            <a:srgbClr val="FF4757"/>
          </a:solidFill>
          <a:ln/>
        </p:spPr>
        <p:txBody>
          <a:bodyPr/>
          <a:p/>
        </p:txBody>
      </p:sp>
      <p:sp>
        <p:nvSpPr>
          <p:cNvPr id="22" name="Text 20"/>
          <p:cNvSpPr/>
          <p:nvPr/>
        </p:nvSpPr>
        <p:spPr>
          <a:xfrm>
            <a:off x="777240" y="535838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371600" y="5184648"/>
            <a:ext cx="5760720" cy="76809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Oamenii implicați în îngrijire și pacienții</a:t>
            </a:r>
            <a:endParaRPr lang="en-US" sz="1600" dirty="0"/>
          </a:p>
        </p:txBody>
      </p:sp>
      <p:sp>
        <p:nvSpPr>
          <p:cNvPr id="24" name="Text 22"/>
          <p:cNvSpPr/>
          <p:nvPr/>
        </p:nvSpPr>
        <p:spPr>
          <a:xfrm>
            <a:off x="7589520" y="1600200"/>
            <a:ext cx="3931920" cy="32004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ÎN ROMÂNIA</a:t>
            </a:r>
            <a:endParaRPr lang="en-US" sz="1300" dirty="0"/>
          </a:p>
        </p:txBody>
      </p:sp>
      <p:sp>
        <p:nvSpPr>
          <p:cNvPr id="25" name="Shape 23"/>
          <p:cNvSpPr/>
          <p:nvPr/>
        </p:nvSpPr>
        <p:spPr>
          <a:xfrm>
            <a:off x="7589520" y="2011680"/>
            <a:ext cx="3977640" cy="548640"/>
          </a:xfrm>
          <a:prstGeom prst="roundRect">
            <a:avLst>
              <a:gd name="adj" fmla="val 15000"/>
            </a:avLst>
          </a:prstGeom>
          <a:solidFill>
            <a:srgbClr val="1D1F2B"/>
          </a:solidFill>
          <a:ln w="12700">
            <a:solidFill>
              <a:srgbClr val="1D1F2B"/>
            </a:solidFill>
            <a:prstDash val="solid"/>
          </a:ln>
        </p:spPr>
        <p:txBody>
          <a:bodyPr/>
          <a:p/>
        </p:txBody>
      </p:sp>
      <p:sp>
        <p:nvSpPr>
          <p:cNvPr id="26" name="Text 24"/>
          <p:cNvSpPr/>
          <p:nvPr/>
        </p:nvSpPr>
        <p:spPr>
          <a:xfrm>
            <a:off x="7818120" y="2011680"/>
            <a:ext cx="3611880" cy="548640"/>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Ministerul Sănătății</a:t>
            </a:r>
            <a:endParaRPr lang="en-US" sz="1500" dirty="0"/>
          </a:p>
        </p:txBody>
      </p:sp>
      <p:sp>
        <p:nvSpPr>
          <p:cNvPr id="27" name="Shape 25"/>
          <p:cNvSpPr/>
          <p:nvPr/>
        </p:nvSpPr>
        <p:spPr>
          <a:xfrm>
            <a:off x="7589520" y="2670048"/>
            <a:ext cx="3977640" cy="548640"/>
          </a:xfrm>
          <a:prstGeom prst="roundRect">
            <a:avLst>
              <a:gd name="adj" fmla="val 15000"/>
            </a:avLst>
          </a:prstGeom>
          <a:solidFill>
            <a:srgbClr val="1D1F2B"/>
          </a:solidFill>
          <a:ln w="12700">
            <a:solidFill>
              <a:srgbClr val="1D1F2B"/>
            </a:solidFill>
            <a:prstDash val="solid"/>
          </a:ln>
        </p:spPr>
        <p:txBody>
          <a:bodyPr/>
          <a:p/>
        </p:txBody>
      </p:sp>
      <p:sp>
        <p:nvSpPr>
          <p:cNvPr id="28" name="Text 26"/>
          <p:cNvSpPr/>
          <p:nvPr/>
        </p:nvSpPr>
        <p:spPr>
          <a:xfrm>
            <a:off x="7818120" y="2670048"/>
            <a:ext cx="3611880" cy="548640"/>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Spitalele și cabinetele</a:t>
            </a:r>
            <a:endParaRPr lang="en-US" sz="1500" dirty="0"/>
          </a:p>
        </p:txBody>
      </p:sp>
      <p:sp>
        <p:nvSpPr>
          <p:cNvPr id="29" name="Shape 27"/>
          <p:cNvSpPr/>
          <p:nvPr/>
        </p:nvSpPr>
        <p:spPr>
          <a:xfrm>
            <a:off x="7589520" y="3328416"/>
            <a:ext cx="3977640" cy="548640"/>
          </a:xfrm>
          <a:prstGeom prst="roundRect">
            <a:avLst>
              <a:gd name="adj" fmla="val 15000"/>
            </a:avLst>
          </a:prstGeom>
          <a:solidFill>
            <a:srgbClr val="1D1F2B"/>
          </a:solidFill>
          <a:ln w="12700">
            <a:solidFill>
              <a:srgbClr val="1D1F2B"/>
            </a:solidFill>
            <a:prstDash val="solid"/>
          </a:ln>
        </p:spPr>
        <p:txBody>
          <a:bodyPr/>
          <a:p/>
        </p:txBody>
      </p:sp>
      <p:sp>
        <p:nvSpPr>
          <p:cNvPr id="30" name="Text 28"/>
          <p:cNvSpPr/>
          <p:nvPr/>
        </p:nvSpPr>
        <p:spPr>
          <a:xfrm>
            <a:off x="7818120" y="3328416"/>
            <a:ext cx="3611880" cy="548640"/>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Universitățile de medicină</a:t>
            </a:r>
            <a:endParaRPr lang="en-US" sz="1500" dirty="0"/>
          </a:p>
        </p:txBody>
      </p:sp>
      <p:sp>
        <p:nvSpPr>
          <p:cNvPr id="31" name="Shape 29"/>
          <p:cNvSpPr/>
          <p:nvPr/>
        </p:nvSpPr>
        <p:spPr>
          <a:xfrm>
            <a:off x="7589520" y="3986784"/>
            <a:ext cx="3977640" cy="548640"/>
          </a:xfrm>
          <a:prstGeom prst="roundRect">
            <a:avLst>
              <a:gd name="adj" fmla="val 15000"/>
            </a:avLst>
          </a:prstGeom>
          <a:solidFill>
            <a:srgbClr val="1D1F2B"/>
          </a:solidFill>
          <a:ln w="12700">
            <a:solidFill>
              <a:srgbClr val="1D1F2B"/>
            </a:solidFill>
            <a:prstDash val="solid"/>
          </a:ln>
        </p:spPr>
        <p:txBody>
          <a:bodyPr/>
          <a:p/>
        </p:txBody>
      </p:sp>
      <p:sp>
        <p:nvSpPr>
          <p:cNvPr id="32" name="Text 30"/>
          <p:cNvSpPr/>
          <p:nvPr/>
        </p:nvSpPr>
        <p:spPr>
          <a:xfrm>
            <a:off x="7818120" y="3986784"/>
            <a:ext cx="3611880" cy="548640"/>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Casele de asigurări de sănătate</a:t>
            </a:r>
            <a:endParaRPr lang="en-US" sz="1500" dirty="0"/>
          </a:p>
        </p:txBody>
      </p:sp>
      <p:sp>
        <p:nvSpPr>
          <p:cNvPr id="33" name="Shape 31"/>
          <p:cNvSpPr/>
          <p:nvPr/>
        </p:nvSpPr>
        <p:spPr>
          <a:xfrm>
            <a:off x="7589520" y="4645152"/>
            <a:ext cx="3977640" cy="548640"/>
          </a:xfrm>
          <a:prstGeom prst="roundRect">
            <a:avLst>
              <a:gd name="adj" fmla="val 15000"/>
            </a:avLst>
          </a:prstGeom>
          <a:solidFill>
            <a:srgbClr val="1D1F2B"/>
          </a:solidFill>
          <a:ln w="12700">
            <a:solidFill>
              <a:srgbClr val="1D1F2B"/>
            </a:solidFill>
            <a:prstDash val="solid"/>
          </a:ln>
        </p:spPr>
        <p:txBody>
          <a:bodyPr/>
          <a:p/>
        </p:txBody>
      </p:sp>
      <p:sp>
        <p:nvSpPr>
          <p:cNvPr id="34" name="Text 32"/>
          <p:cNvSpPr/>
          <p:nvPr/>
        </p:nvSpPr>
        <p:spPr>
          <a:xfrm>
            <a:off x="7818120" y="4645152"/>
            <a:ext cx="3611880" cy="548640"/>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Colegiile profesionale</a:t>
            </a:r>
            <a:endParaRPr lang="en-US" sz="1500" dirty="0"/>
          </a:p>
        </p:txBody>
      </p:sp>
      <p:sp>
        <p:nvSpPr>
          <p:cNvPr id="35" name="Shape 33"/>
          <p:cNvSpPr/>
          <p:nvPr/>
        </p:nvSpPr>
        <p:spPr>
          <a:xfrm>
            <a:off x="7589520" y="5303520"/>
            <a:ext cx="3977640" cy="548640"/>
          </a:xfrm>
          <a:prstGeom prst="roundRect">
            <a:avLst>
              <a:gd name="adj" fmla="val 15000"/>
            </a:avLst>
          </a:prstGeom>
          <a:solidFill>
            <a:srgbClr val="1D1F2B"/>
          </a:solidFill>
          <a:ln w="12700">
            <a:solidFill>
              <a:srgbClr val="1D1F2B"/>
            </a:solidFill>
            <a:prstDash val="solid"/>
          </a:ln>
        </p:spPr>
        <p:txBody>
          <a:bodyPr/>
          <a:p/>
        </p:txBody>
      </p:sp>
      <p:sp>
        <p:nvSpPr>
          <p:cNvPr id="36" name="Text 34"/>
          <p:cNvSpPr/>
          <p:nvPr/>
        </p:nvSpPr>
        <p:spPr>
          <a:xfrm>
            <a:off x="7818120" y="5303520"/>
            <a:ext cx="3611880" cy="548640"/>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Pacienții</a:t>
            </a:r>
            <a:endParaRPr lang="en-US" sz="1500" dirty="0"/>
          </a:p>
        </p:txBody>
      </p:sp>
      <p:sp>
        <p:nvSpPr>
          <p:cNvPr id="37" name="Text 3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 cinci segmente ale sistemului de sănătate.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TREILEA STRAT ȘI CENTRUL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Aria de servicii și organizația</a:t>
            </a:r>
            <a:endParaRPr lang="en-US" sz="3200" dirty="0"/>
          </a:p>
        </p:txBody>
      </p:sp>
      <p:sp>
        <p:nvSpPr>
          <p:cNvPr id="4" name="Shape 2"/>
          <p:cNvSpPr/>
          <p:nvPr/>
        </p:nvSpPr>
        <p:spPr>
          <a:xfrm>
            <a:off x="594360" y="1600200"/>
            <a:ext cx="6400800" cy="3108960"/>
          </a:xfrm>
          <a:prstGeom prst="roundRect">
            <a:avLst>
              <a:gd name="adj" fmla="val 2647"/>
            </a:avLst>
          </a:prstGeom>
          <a:solidFill>
            <a:srgbClr val="ECEAE4"/>
          </a:solidFill>
          <a:ln w="12700">
            <a:solidFill>
              <a:srgbClr val="ECEAE4"/>
            </a:solidFill>
            <a:prstDash val="solid"/>
          </a:ln>
        </p:spPr>
        <p:txBody>
          <a:bodyPr/>
          <a:p/>
        </p:txBody>
      </p:sp>
      <p:sp>
        <p:nvSpPr>
          <p:cNvPr id="5" name="Text 3"/>
          <p:cNvSpPr/>
          <p:nvPr/>
        </p:nvSpPr>
        <p:spPr>
          <a:xfrm>
            <a:off x="868680" y="1737360"/>
            <a:ext cx="585216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ARIA DE SERVICII</a:t>
            </a:r>
            <a:endParaRPr lang="en-US" sz="1300" dirty="0"/>
          </a:p>
        </p:txBody>
      </p:sp>
      <p:sp>
        <p:nvSpPr>
          <p:cNvPr id="6" name="Text 4"/>
          <p:cNvSpPr/>
          <p:nvPr/>
        </p:nvSpPr>
        <p:spPr>
          <a:xfrm>
            <a:off x="868680" y="2148840"/>
            <a:ext cx="5852160" cy="18288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Zona din care vin pacienții unei organizații și în care se află concurenții ei direcți. Granițele se stabilesc adesea subiectiv: istoricul pacienților, reputația, tehnologia, recunoașterea medicilor.</a:t>
            </a:r>
            <a:endParaRPr lang="en-US" sz="1700" dirty="0"/>
          </a:p>
        </p:txBody>
      </p:sp>
      <p:sp>
        <p:nvSpPr>
          <p:cNvPr id="7" name="Shape 5"/>
          <p:cNvSpPr/>
          <p:nvPr/>
        </p:nvSpPr>
        <p:spPr>
          <a:xfrm>
            <a:off x="868680" y="4069080"/>
            <a:ext cx="1737360" cy="329184"/>
          </a:xfrm>
          <a:prstGeom prst="roundRect">
            <a:avLst>
              <a:gd name="adj" fmla="val 50000"/>
            </a:avLst>
          </a:prstGeom>
          <a:solidFill>
            <a:srgbClr val="27D3BE"/>
          </a:solidFill>
          <a:ln w="12700">
            <a:solidFill>
              <a:srgbClr val="27D3BE"/>
            </a:solidFill>
            <a:prstDash val="solid"/>
          </a:ln>
        </p:spPr>
        <p:txBody>
          <a:bodyPr/>
          <a:p/>
        </p:txBody>
      </p:sp>
      <p:sp>
        <p:nvSpPr>
          <p:cNvPr id="8" name="Text 6"/>
          <p:cNvSpPr/>
          <p:nvPr/>
        </p:nvSpPr>
        <p:spPr>
          <a:xfrm>
            <a:off x="868680" y="4069080"/>
            <a:ext cx="1737360" cy="329184"/>
          </a:xfrm>
          <a:prstGeom prst="rect">
            <a:avLst/>
          </a:prstGeom>
          <a:noFill/>
          <a:ln/>
        </p:spPr>
        <p:txBody>
          <a:bodyPr wrap="square" lIns="0" tIns="0" rIns="0" bIns="0" rtlCol="0" anchor="ctr"/>
          <a:lstStyle/>
          <a:p>
            <a:pPr algn="ctr" indent="0" marL="0">
              <a:buNone/>
            </a:pPr>
            <a:r>
              <a:rPr lang="en-US" sz="1150" b="1" dirty="0">
                <a:solidFill>
                  <a:srgbClr val="073B34"/>
                </a:solidFill>
                <a:latin typeface="Palatino Linotype" pitchFamily="34" charset="0"/>
                <a:ea typeface="Palatino Linotype" pitchFamily="34" charset="-122"/>
                <a:cs typeface="Palatino Linotype" pitchFamily="34" charset="-120"/>
              </a:rPr>
              <a:t>Râurile</a:t>
            </a:r>
            <a:endParaRPr lang="en-US" sz="1150" dirty="0"/>
          </a:p>
        </p:txBody>
      </p:sp>
      <p:sp>
        <p:nvSpPr>
          <p:cNvPr id="9" name="Shape 7"/>
          <p:cNvSpPr/>
          <p:nvPr/>
        </p:nvSpPr>
        <p:spPr>
          <a:xfrm>
            <a:off x="2788920" y="4069080"/>
            <a:ext cx="1737360" cy="329184"/>
          </a:xfrm>
          <a:prstGeom prst="roundRect">
            <a:avLst>
              <a:gd name="adj" fmla="val 50000"/>
            </a:avLst>
          </a:prstGeom>
          <a:solidFill>
            <a:srgbClr val="27D3BE"/>
          </a:solidFill>
          <a:ln w="12700">
            <a:solidFill>
              <a:srgbClr val="27D3BE"/>
            </a:solidFill>
            <a:prstDash val="solid"/>
          </a:ln>
        </p:spPr>
        <p:txBody>
          <a:bodyPr/>
          <a:p/>
        </p:txBody>
      </p:sp>
      <p:sp>
        <p:nvSpPr>
          <p:cNvPr id="10" name="Text 8"/>
          <p:cNvSpPr/>
          <p:nvPr/>
        </p:nvSpPr>
        <p:spPr>
          <a:xfrm>
            <a:off x="2788920" y="4069080"/>
            <a:ext cx="1737360" cy="329184"/>
          </a:xfrm>
          <a:prstGeom prst="rect">
            <a:avLst/>
          </a:prstGeom>
          <a:noFill/>
          <a:ln/>
        </p:spPr>
        <p:txBody>
          <a:bodyPr wrap="square" lIns="0" tIns="0" rIns="0" bIns="0" rtlCol="0" anchor="ctr"/>
          <a:lstStyle/>
          <a:p>
            <a:pPr algn="ctr" indent="0" marL="0">
              <a:buNone/>
            </a:pPr>
            <a:r>
              <a:rPr lang="en-US" sz="1150" b="1" dirty="0">
                <a:solidFill>
                  <a:srgbClr val="073B34"/>
                </a:solidFill>
                <a:latin typeface="Palatino Linotype" pitchFamily="34" charset="0"/>
                <a:ea typeface="Palatino Linotype" pitchFamily="34" charset="-122"/>
                <a:cs typeface="Palatino Linotype" pitchFamily="34" charset="-120"/>
              </a:rPr>
              <a:t>Munții</a:t>
            </a:r>
            <a:endParaRPr lang="en-US" sz="1150" dirty="0"/>
          </a:p>
        </p:txBody>
      </p:sp>
      <p:sp>
        <p:nvSpPr>
          <p:cNvPr id="11" name="Shape 9"/>
          <p:cNvSpPr/>
          <p:nvPr/>
        </p:nvSpPr>
        <p:spPr>
          <a:xfrm>
            <a:off x="4709160" y="4069080"/>
            <a:ext cx="2331720" cy="329184"/>
          </a:xfrm>
          <a:prstGeom prst="roundRect">
            <a:avLst>
              <a:gd name="adj" fmla="val 50000"/>
            </a:avLst>
          </a:prstGeom>
          <a:solidFill>
            <a:srgbClr val="27D3BE"/>
          </a:solidFill>
          <a:ln w="12700">
            <a:solidFill>
              <a:srgbClr val="27D3BE"/>
            </a:solidFill>
            <a:prstDash val="solid"/>
          </a:ln>
        </p:spPr>
        <p:txBody>
          <a:bodyPr/>
          <a:p/>
        </p:txBody>
      </p:sp>
      <p:sp>
        <p:nvSpPr>
          <p:cNvPr id="12" name="Text 10"/>
          <p:cNvSpPr/>
          <p:nvPr/>
        </p:nvSpPr>
        <p:spPr>
          <a:xfrm>
            <a:off x="4709160" y="4069080"/>
            <a:ext cx="2331720" cy="329184"/>
          </a:xfrm>
          <a:prstGeom prst="rect">
            <a:avLst/>
          </a:prstGeom>
          <a:noFill/>
          <a:ln/>
        </p:spPr>
        <p:txBody>
          <a:bodyPr wrap="square" lIns="0" tIns="0" rIns="0" bIns="0" rtlCol="0" anchor="ctr"/>
          <a:lstStyle/>
          <a:p>
            <a:pPr algn="ctr" indent="0" marL="0">
              <a:buNone/>
            </a:pPr>
            <a:r>
              <a:rPr lang="en-US" sz="1150" b="1" dirty="0">
                <a:solidFill>
                  <a:srgbClr val="073B34"/>
                </a:solidFill>
                <a:latin typeface="Palatino Linotype" pitchFamily="34" charset="0"/>
                <a:ea typeface="Palatino Linotype" pitchFamily="34" charset="-122"/>
                <a:cs typeface="Palatino Linotype" pitchFamily="34" charset="-120"/>
              </a:rPr>
              <a:t>Autostrăzile cu puține ieșiri</a:t>
            </a:r>
            <a:endParaRPr lang="en-US" sz="1150" dirty="0"/>
          </a:p>
        </p:txBody>
      </p:sp>
      <p:sp>
        <p:nvSpPr>
          <p:cNvPr id="13" name="Shape 11"/>
          <p:cNvSpPr/>
          <p:nvPr/>
        </p:nvSpPr>
        <p:spPr>
          <a:xfrm>
            <a:off x="7223760" y="1600200"/>
            <a:ext cx="4343400" cy="3108960"/>
          </a:xfrm>
          <a:prstGeom prst="roundRect">
            <a:avLst>
              <a:gd name="adj" fmla="val 2647"/>
            </a:avLst>
          </a:prstGeom>
          <a:solidFill>
            <a:srgbClr val="1D1F2B"/>
          </a:solidFill>
          <a:ln w="12700">
            <a:solidFill>
              <a:srgbClr val="1D1F2B"/>
            </a:solidFill>
            <a:prstDash val="solid"/>
          </a:ln>
        </p:spPr>
        <p:txBody>
          <a:bodyPr/>
          <a:p/>
        </p:txBody>
      </p:sp>
      <p:sp>
        <p:nvSpPr>
          <p:cNvPr id="14" name="Text 12"/>
          <p:cNvSpPr/>
          <p:nvPr/>
        </p:nvSpPr>
        <p:spPr>
          <a:xfrm>
            <a:off x="7498080" y="1737360"/>
            <a:ext cx="3840480" cy="32004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ORGANIZAȚIA</a:t>
            </a:r>
            <a:endParaRPr lang="en-US" sz="1300" dirty="0"/>
          </a:p>
        </p:txBody>
      </p:sp>
      <p:sp>
        <p:nvSpPr>
          <p:cNvPr id="15" name="Text 13"/>
          <p:cNvSpPr/>
          <p:nvPr/>
        </p:nvSpPr>
        <p:spPr>
          <a:xfrm>
            <a:off x="7498080" y="2148840"/>
            <a:ext cx="3840480" cy="237744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Spitalul însuși. Nu face parte din mediul extern: este cea care îl analizează.</a:t>
            </a:r>
            <a:endParaRPr lang="en-US" sz="1800" dirty="0"/>
          </a:p>
        </p:txBody>
      </p:sp>
      <p:sp>
        <p:nvSpPr>
          <p:cNvPr id="16" name="Text 14"/>
          <p:cNvSpPr/>
          <p:nvPr/>
        </p:nvSpPr>
        <p:spPr>
          <a:xfrm>
            <a:off x="594360" y="5029200"/>
            <a:ext cx="10972800" cy="8229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Legea cere același lucru: planul de dezvoltare pornește de la serviciile medicale de care are nevoie populația din zona deservită.</a:t>
            </a:r>
            <a:endParaRPr lang="en-US" sz="18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 modelul-cadru al contractului de management.</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STRATURILE NU SUNT SEPARATE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Schimbarea coboară și urcă</a:t>
            </a:r>
            <a:endParaRPr lang="en-US" sz="3200" dirty="0"/>
          </a:p>
        </p:txBody>
      </p:sp>
      <p:sp>
        <p:nvSpPr>
          <p:cNvPr id="4" name="Text 2"/>
          <p:cNvSpPr/>
          <p:nvPr/>
        </p:nvSpPr>
        <p:spPr>
          <a:xfrm>
            <a:off x="594360" y="1417320"/>
            <a:ext cx="2743200" cy="274320"/>
          </a:xfrm>
          <a:prstGeom prst="rect">
            <a:avLst/>
          </a:prstGeom>
          <a:noFill/>
          <a:ln/>
        </p:spPr>
        <p:txBody>
          <a:bodyPr wrap="square" lIns="0" tIns="0" rIns="0" bIns="0" rtlCol="0" anchor="t"/>
          <a:lstStyle/>
          <a:p>
            <a:pPr indent="0" marL="0">
              <a:buNone/>
            </a:pPr>
            <a:r>
              <a:rPr lang="en-US" sz="1200" b="1" spc="200" kern="0" dirty="0">
                <a:solidFill>
                  <a:srgbClr val="585A64"/>
                </a:solidFill>
                <a:latin typeface="Palatino Linotype" pitchFamily="34" charset="0"/>
                <a:ea typeface="Palatino Linotype" pitchFamily="34" charset="-122"/>
                <a:cs typeface="Palatino Linotype" pitchFamily="34" charset="-120"/>
              </a:rPr>
              <a:t>DE SUS ÎN JOS</a:t>
            </a:r>
            <a:endParaRPr lang="en-US" sz="1200" dirty="0"/>
          </a:p>
        </p:txBody>
      </p:sp>
      <p:sp>
        <p:nvSpPr>
          <p:cNvPr id="5" name="Shape 3"/>
          <p:cNvSpPr/>
          <p:nvPr/>
        </p:nvSpPr>
        <p:spPr>
          <a:xfrm>
            <a:off x="594360" y="1783080"/>
            <a:ext cx="2468880" cy="822960"/>
          </a:xfrm>
          <a:prstGeom prst="roundRect">
            <a:avLst>
              <a:gd name="adj" fmla="val 10000"/>
            </a:avLst>
          </a:prstGeom>
          <a:solidFill>
            <a:srgbClr val="FF4757"/>
          </a:solidFill>
          <a:ln w="12700">
            <a:solidFill>
              <a:srgbClr val="FF4757"/>
            </a:solidFill>
            <a:prstDash val="solid"/>
          </a:ln>
        </p:spPr>
        <p:txBody>
          <a:bodyPr/>
          <a:p/>
        </p:txBody>
      </p:sp>
      <p:sp>
        <p:nvSpPr>
          <p:cNvPr id="6" name="Text 4"/>
          <p:cNvSpPr/>
          <p:nvPr/>
        </p:nvSpPr>
        <p:spPr>
          <a:xfrm>
            <a:off x="685800" y="1783080"/>
            <a:ext cx="2286000" cy="822960"/>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Mediul general</a:t>
            </a:r>
            <a:endParaRPr lang="en-US" sz="1500" dirty="0"/>
          </a:p>
        </p:txBody>
      </p:sp>
      <p:sp>
        <p:nvSpPr>
          <p:cNvPr id="7" name="Shape 5"/>
          <p:cNvSpPr/>
          <p:nvPr/>
        </p:nvSpPr>
        <p:spPr>
          <a:xfrm>
            <a:off x="3108960" y="2194560"/>
            <a:ext cx="457200" cy="9144"/>
          </a:xfrm>
          <a:prstGeom prst="line">
            <a:avLst/>
          </a:prstGeom>
          <a:noFill/>
          <a:ln w="25400">
            <a:solidFill>
              <a:srgbClr val="585A64"/>
            </a:solidFill>
            <a:prstDash val="solid"/>
            <a:tailEnd type="triangle"/>
          </a:ln>
        </p:spPr>
        <p:txBody>
          <a:bodyPr/>
          <a:p/>
        </p:txBody>
      </p:sp>
      <p:sp>
        <p:nvSpPr>
          <p:cNvPr id="8" name="Text 6"/>
          <p:cNvSpPr/>
          <p:nvPr/>
        </p:nvSpPr>
        <p:spPr>
          <a:xfrm>
            <a:off x="3657600" y="1783080"/>
            <a:ext cx="4206240" cy="82296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Populația îmbătrânește.</a:t>
            </a:r>
            <a:endParaRPr lang="en-US" sz="1500" dirty="0"/>
          </a:p>
        </p:txBody>
      </p:sp>
      <p:sp>
        <p:nvSpPr>
          <p:cNvPr id="9" name="Shape 7"/>
          <p:cNvSpPr/>
          <p:nvPr/>
        </p:nvSpPr>
        <p:spPr>
          <a:xfrm>
            <a:off x="1828800" y="2624328"/>
            <a:ext cx="9144" cy="219456"/>
          </a:xfrm>
          <a:prstGeom prst="line">
            <a:avLst/>
          </a:prstGeom>
          <a:noFill/>
          <a:ln w="25400">
            <a:solidFill>
              <a:srgbClr val="585A64"/>
            </a:solidFill>
            <a:prstDash val="solid"/>
            <a:tailEnd type="triangle"/>
          </a:ln>
        </p:spPr>
        <p:txBody>
          <a:bodyPr/>
          <a:p/>
        </p:txBody>
      </p:sp>
      <p:sp>
        <p:nvSpPr>
          <p:cNvPr id="10" name="Shape 8"/>
          <p:cNvSpPr/>
          <p:nvPr/>
        </p:nvSpPr>
        <p:spPr>
          <a:xfrm>
            <a:off x="594360" y="2862072"/>
            <a:ext cx="2468880" cy="822960"/>
          </a:xfrm>
          <a:prstGeom prst="roundRect">
            <a:avLst>
              <a:gd name="adj" fmla="val 10000"/>
            </a:avLst>
          </a:prstGeom>
          <a:solidFill>
            <a:srgbClr val="FFC24B"/>
          </a:solidFill>
          <a:ln w="12700">
            <a:solidFill>
              <a:srgbClr val="FFC24B"/>
            </a:solidFill>
            <a:prstDash val="solid"/>
          </a:ln>
        </p:spPr>
        <p:txBody>
          <a:bodyPr/>
          <a:p/>
        </p:txBody>
      </p:sp>
      <p:sp>
        <p:nvSpPr>
          <p:cNvPr id="11" name="Text 9"/>
          <p:cNvSpPr/>
          <p:nvPr/>
        </p:nvSpPr>
        <p:spPr>
          <a:xfrm>
            <a:off x="685800" y="2862072"/>
            <a:ext cx="2286000" cy="822960"/>
          </a:xfrm>
          <a:prstGeom prst="rect">
            <a:avLst/>
          </a:prstGeom>
          <a:noFill/>
          <a:ln/>
        </p:spPr>
        <p:txBody>
          <a:bodyPr wrap="square" lIns="0" tIns="0" rIns="0" bIns="0" rtlCol="0" anchor="ctr"/>
          <a:lstStyle/>
          <a:p>
            <a:pPr algn="ctr" indent="0" marL="0">
              <a:buNone/>
            </a:pPr>
            <a:r>
              <a:rPr lang="en-US" sz="1500" b="1" dirty="0">
                <a:solidFill>
                  <a:srgbClr val="3D2A00"/>
                </a:solidFill>
                <a:latin typeface="Palatino Linotype" pitchFamily="34" charset="0"/>
                <a:ea typeface="Palatino Linotype" pitchFamily="34" charset="-122"/>
                <a:cs typeface="Palatino Linotype" pitchFamily="34" charset="-120"/>
              </a:rPr>
              <a:t>Sistemul de sănătate</a:t>
            </a:r>
            <a:endParaRPr lang="en-US" sz="1500" dirty="0"/>
          </a:p>
        </p:txBody>
      </p:sp>
      <p:sp>
        <p:nvSpPr>
          <p:cNvPr id="12" name="Shape 10"/>
          <p:cNvSpPr/>
          <p:nvPr/>
        </p:nvSpPr>
        <p:spPr>
          <a:xfrm>
            <a:off x="3108960" y="3273552"/>
            <a:ext cx="457200" cy="9144"/>
          </a:xfrm>
          <a:prstGeom prst="line">
            <a:avLst/>
          </a:prstGeom>
          <a:noFill/>
          <a:ln w="25400">
            <a:solidFill>
              <a:srgbClr val="585A64"/>
            </a:solidFill>
            <a:prstDash val="solid"/>
            <a:tailEnd type="triangle"/>
          </a:ln>
        </p:spPr>
        <p:txBody>
          <a:bodyPr/>
          <a:p/>
        </p:txBody>
      </p:sp>
      <p:sp>
        <p:nvSpPr>
          <p:cNvPr id="13" name="Text 11"/>
          <p:cNvSpPr/>
          <p:nvPr/>
        </p:nvSpPr>
        <p:spPr>
          <a:xfrm>
            <a:off x="3657600" y="2862072"/>
            <a:ext cx="4206240" cy="82296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Sunt necesare mai multe servicii pentru boli cronice și de recuperare.</a:t>
            </a:r>
            <a:endParaRPr lang="en-US" sz="1500" dirty="0"/>
          </a:p>
        </p:txBody>
      </p:sp>
      <p:sp>
        <p:nvSpPr>
          <p:cNvPr id="14" name="Shape 12"/>
          <p:cNvSpPr/>
          <p:nvPr/>
        </p:nvSpPr>
        <p:spPr>
          <a:xfrm>
            <a:off x="1828800" y="3703320"/>
            <a:ext cx="9144" cy="219456"/>
          </a:xfrm>
          <a:prstGeom prst="line">
            <a:avLst/>
          </a:prstGeom>
          <a:noFill/>
          <a:ln w="25400">
            <a:solidFill>
              <a:srgbClr val="585A64"/>
            </a:solidFill>
            <a:prstDash val="solid"/>
            <a:tailEnd type="triangle"/>
          </a:ln>
        </p:spPr>
        <p:txBody>
          <a:bodyPr/>
          <a:p/>
        </p:txBody>
      </p:sp>
      <p:sp>
        <p:nvSpPr>
          <p:cNvPr id="15" name="Shape 13"/>
          <p:cNvSpPr/>
          <p:nvPr/>
        </p:nvSpPr>
        <p:spPr>
          <a:xfrm>
            <a:off x="594360" y="3941064"/>
            <a:ext cx="2468880" cy="822960"/>
          </a:xfrm>
          <a:prstGeom prst="roundRect">
            <a:avLst>
              <a:gd name="adj" fmla="val 10000"/>
            </a:avLst>
          </a:prstGeom>
          <a:solidFill>
            <a:srgbClr val="27D3BE"/>
          </a:solidFill>
          <a:ln w="12700">
            <a:solidFill>
              <a:srgbClr val="27D3BE"/>
            </a:solidFill>
            <a:prstDash val="solid"/>
          </a:ln>
        </p:spPr>
        <p:txBody>
          <a:bodyPr/>
          <a:p/>
        </p:txBody>
      </p:sp>
      <p:sp>
        <p:nvSpPr>
          <p:cNvPr id="16" name="Text 14"/>
          <p:cNvSpPr/>
          <p:nvPr/>
        </p:nvSpPr>
        <p:spPr>
          <a:xfrm>
            <a:off x="685800" y="3941064"/>
            <a:ext cx="2286000" cy="822960"/>
          </a:xfrm>
          <a:prstGeom prst="rect">
            <a:avLst/>
          </a:prstGeom>
          <a:noFill/>
          <a:ln/>
        </p:spPr>
        <p:txBody>
          <a:bodyPr wrap="square" lIns="0" tIns="0" rIns="0" bIns="0" rtlCol="0" anchor="ctr"/>
          <a:lstStyle/>
          <a:p>
            <a:pPr algn="ctr" indent="0" marL="0">
              <a:buNone/>
            </a:pPr>
            <a:r>
              <a:rPr lang="en-US" sz="1500" b="1" dirty="0">
                <a:solidFill>
                  <a:srgbClr val="073B34"/>
                </a:solidFill>
                <a:latin typeface="Palatino Linotype" pitchFamily="34" charset="0"/>
                <a:ea typeface="Palatino Linotype" pitchFamily="34" charset="-122"/>
                <a:cs typeface="Palatino Linotype" pitchFamily="34" charset="-120"/>
              </a:rPr>
              <a:t>Aria de servicii</a:t>
            </a:r>
            <a:endParaRPr lang="en-US" sz="1500" dirty="0"/>
          </a:p>
        </p:txBody>
      </p:sp>
      <p:sp>
        <p:nvSpPr>
          <p:cNvPr id="17" name="Shape 15"/>
          <p:cNvSpPr/>
          <p:nvPr/>
        </p:nvSpPr>
        <p:spPr>
          <a:xfrm>
            <a:off x="3108960" y="4352544"/>
            <a:ext cx="457200" cy="9144"/>
          </a:xfrm>
          <a:prstGeom prst="line">
            <a:avLst/>
          </a:prstGeom>
          <a:noFill/>
          <a:ln w="25400">
            <a:solidFill>
              <a:srgbClr val="585A64"/>
            </a:solidFill>
            <a:prstDash val="solid"/>
            <a:tailEnd type="triangle"/>
          </a:ln>
        </p:spPr>
        <p:txBody>
          <a:bodyPr/>
          <a:p/>
        </p:txBody>
      </p:sp>
      <p:sp>
        <p:nvSpPr>
          <p:cNvPr id="18" name="Text 16"/>
          <p:cNvSpPr/>
          <p:nvPr/>
        </p:nvSpPr>
        <p:spPr>
          <a:xfrm>
            <a:off x="3657600" y="3941064"/>
            <a:ext cx="4206240" cy="82296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Cresc internările vârstnicilor și cererea de controale.</a:t>
            </a:r>
            <a:endParaRPr lang="en-US" sz="1500" dirty="0"/>
          </a:p>
        </p:txBody>
      </p:sp>
      <p:sp>
        <p:nvSpPr>
          <p:cNvPr id="19" name="Shape 17"/>
          <p:cNvSpPr/>
          <p:nvPr/>
        </p:nvSpPr>
        <p:spPr>
          <a:xfrm>
            <a:off x="1828800" y="4782312"/>
            <a:ext cx="9144" cy="219456"/>
          </a:xfrm>
          <a:prstGeom prst="line">
            <a:avLst/>
          </a:prstGeom>
          <a:noFill/>
          <a:ln w="25400">
            <a:solidFill>
              <a:srgbClr val="585A64"/>
            </a:solidFill>
            <a:prstDash val="solid"/>
            <a:tailEnd type="triangle"/>
          </a:ln>
        </p:spPr>
        <p:txBody>
          <a:bodyPr/>
          <a:p/>
        </p:txBody>
      </p:sp>
      <p:sp>
        <p:nvSpPr>
          <p:cNvPr id="20" name="Shape 18"/>
          <p:cNvSpPr/>
          <p:nvPr/>
        </p:nvSpPr>
        <p:spPr>
          <a:xfrm>
            <a:off x="594360" y="5020056"/>
            <a:ext cx="2468880" cy="822960"/>
          </a:xfrm>
          <a:prstGeom prst="roundRect">
            <a:avLst>
              <a:gd name="adj" fmla="val 10000"/>
            </a:avLst>
          </a:prstGeom>
          <a:solidFill>
            <a:srgbClr val="9B7EF7"/>
          </a:solidFill>
          <a:ln w="12700">
            <a:solidFill>
              <a:srgbClr val="9B7EF7"/>
            </a:solidFill>
            <a:prstDash val="solid"/>
          </a:ln>
        </p:spPr>
        <p:txBody>
          <a:bodyPr/>
          <a:p/>
        </p:txBody>
      </p:sp>
      <p:sp>
        <p:nvSpPr>
          <p:cNvPr id="21" name="Text 19"/>
          <p:cNvSpPr/>
          <p:nvPr/>
        </p:nvSpPr>
        <p:spPr>
          <a:xfrm>
            <a:off x="685800" y="5020056"/>
            <a:ext cx="2286000" cy="822960"/>
          </a:xfrm>
          <a:prstGeom prst="rect">
            <a:avLst/>
          </a:prstGeom>
          <a:noFill/>
          <a:ln/>
        </p:spPr>
        <p:txBody>
          <a:bodyPr wrap="square" lIns="0" tIns="0" rIns="0" bIns="0" rtlCol="0" anchor="ctr"/>
          <a:lstStyle/>
          <a:p>
            <a:pPr algn="ctr" indent="0" marL="0">
              <a:buNone/>
            </a:pPr>
            <a:r>
              <a:rPr lang="en-US" sz="1500" b="1" dirty="0">
                <a:solidFill>
                  <a:srgbClr val="1F1040"/>
                </a:solidFill>
                <a:latin typeface="Palatino Linotype" pitchFamily="34" charset="0"/>
                <a:ea typeface="Palatino Linotype" pitchFamily="34" charset="-122"/>
                <a:cs typeface="Palatino Linotype" pitchFamily="34" charset="-120"/>
              </a:rPr>
              <a:t>Organizația</a:t>
            </a:r>
            <a:endParaRPr lang="en-US" sz="1500" dirty="0"/>
          </a:p>
        </p:txBody>
      </p:sp>
      <p:sp>
        <p:nvSpPr>
          <p:cNvPr id="22" name="Shape 20"/>
          <p:cNvSpPr/>
          <p:nvPr/>
        </p:nvSpPr>
        <p:spPr>
          <a:xfrm>
            <a:off x="3108960" y="5431536"/>
            <a:ext cx="457200" cy="9144"/>
          </a:xfrm>
          <a:prstGeom prst="line">
            <a:avLst/>
          </a:prstGeom>
          <a:noFill/>
          <a:ln w="25400">
            <a:solidFill>
              <a:srgbClr val="585A64"/>
            </a:solidFill>
            <a:prstDash val="solid"/>
            <a:tailEnd type="triangle"/>
          </a:ln>
        </p:spPr>
        <p:txBody>
          <a:bodyPr/>
          <a:p/>
        </p:txBody>
      </p:sp>
      <p:sp>
        <p:nvSpPr>
          <p:cNvPr id="23" name="Text 21"/>
          <p:cNvSpPr/>
          <p:nvPr/>
        </p:nvSpPr>
        <p:spPr>
          <a:xfrm>
            <a:off x="3657600" y="5020056"/>
            <a:ext cx="4206240" cy="82296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Spitalul își împarte altfel paturile, medicii și programul.</a:t>
            </a:r>
            <a:endParaRPr lang="en-US" sz="1500" dirty="0"/>
          </a:p>
        </p:txBody>
      </p:sp>
      <p:sp>
        <p:nvSpPr>
          <p:cNvPr id="24" name="Shape 22"/>
          <p:cNvSpPr/>
          <p:nvPr/>
        </p:nvSpPr>
        <p:spPr>
          <a:xfrm>
            <a:off x="8229600" y="1783080"/>
            <a:ext cx="3337560" cy="4023360"/>
          </a:xfrm>
          <a:prstGeom prst="roundRect">
            <a:avLst>
              <a:gd name="adj" fmla="val 2466"/>
            </a:avLst>
          </a:prstGeom>
          <a:solidFill>
            <a:srgbClr val="1D1F2B"/>
          </a:solidFill>
          <a:ln w="12700">
            <a:solidFill>
              <a:srgbClr val="1D1F2B"/>
            </a:solidFill>
            <a:prstDash val="solid"/>
          </a:ln>
        </p:spPr>
        <p:txBody>
          <a:bodyPr/>
          <a:p/>
        </p:txBody>
      </p:sp>
      <p:sp>
        <p:nvSpPr>
          <p:cNvPr id="25" name="Shape 23"/>
          <p:cNvSpPr/>
          <p:nvPr/>
        </p:nvSpPr>
        <p:spPr>
          <a:xfrm flipV="1">
            <a:off x="8046720" y="1920240"/>
            <a:ext cx="9144" cy="3749040"/>
          </a:xfrm>
          <a:prstGeom prst="line">
            <a:avLst/>
          </a:prstGeom>
          <a:noFill/>
          <a:ln w="38100">
            <a:solidFill>
              <a:srgbClr val="27D3BE"/>
            </a:solidFill>
            <a:prstDash val="solid"/>
            <a:tailEnd type="triangle"/>
          </a:ln>
        </p:spPr>
        <p:txBody>
          <a:bodyPr/>
          <a:p/>
        </p:txBody>
      </p:sp>
      <p:sp>
        <p:nvSpPr>
          <p:cNvPr id="26" name="Text 24"/>
          <p:cNvSpPr/>
          <p:nvPr/>
        </p:nvSpPr>
        <p:spPr>
          <a:xfrm>
            <a:off x="8503920" y="1920240"/>
            <a:ext cx="2834640" cy="32004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DE JOS ÎN SUS</a:t>
            </a:r>
            <a:endParaRPr lang="en-US" sz="1300" dirty="0"/>
          </a:p>
        </p:txBody>
      </p:sp>
      <p:sp>
        <p:nvSpPr>
          <p:cNvPr id="27" name="Text 25"/>
          <p:cNvSpPr/>
          <p:nvPr/>
        </p:nvSpPr>
        <p:spPr>
          <a:xfrm>
            <a:off x="8503920" y="2377440"/>
            <a:ext cx="2834640" cy="32004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Spitalul face controale la distanță: pacienții din comune nu mai merg la alt spital, iar alte spitale pot copia soluția.</a:t>
            </a:r>
            <a:endParaRPr lang="en-US" sz="1600" dirty="0"/>
          </a:p>
        </p:txBody>
      </p:sp>
      <p:sp>
        <p:nvSpPr>
          <p:cNvPr id="28" name="Text 2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 schimbarea între straturi; exemplele din prezentarea cursului.</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DOUĂ TABERE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STÂNGA ȘI DREAPTA</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Plecarea medicilor: problema cui?</a:t>
            </a:r>
            <a:endParaRPr lang="en-US" sz="3600" dirty="0"/>
          </a:p>
        </p:txBody>
      </p:sp>
      <p:sp>
        <p:nvSpPr>
          <p:cNvPr id="6" name="Shape 4"/>
          <p:cNvSpPr/>
          <p:nvPr/>
        </p:nvSpPr>
        <p:spPr>
          <a:xfrm>
            <a:off x="594360" y="1691640"/>
            <a:ext cx="5394960" cy="2468880"/>
          </a:xfrm>
          <a:prstGeom prst="roundRect">
            <a:avLst>
              <a:gd name="adj" fmla="val 3333"/>
            </a:avLst>
          </a:prstGeom>
          <a:solidFill>
            <a:srgbClr val="FF4757"/>
          </a:solidFill>
          <a:ln w="12700">
            <a:solidFill>
              <a:srgbClr val="FF4757"/>
            </a:solidFill>
            <a:prstDash val="solid"/>
          </a:ln>
        </p:spPr>
        <p:txBody>
          <a:bodyPr/>
          <a:p/>
        </p:txBody>
      </p:sp>
      <p:sp>
        <p:nvSpPr>
          <p:cNvPr id="7" name="Text 5"/>
          <p:cNvSpPr/>
          <p:nvPr/>
        </p:nvSpPr>
        <p:spPr>
          <a:xfrm>
            <a:off x="868680" y="1828800"/>
            <a:ext cx="4846320" cy="365760"/>
          </a:xfrm>
          <a:prstGeom prst="rect">
            <a:avLst/>
          </a:prstGeom>
          <a:noFill/>
          <a:ln/>
        </p:spPr>
        <p:txBody>
          <a:bodyPr wrap="square" lIns="0" tIns="0" rIns="0" bIns="0" rtlCol="0" anchor="t"/>
          <a:lstStyle/>
          <a:p>
            <a:pPr indent="0" marL="0">
              <a:buNone/>
            </a:pPr>
            <a:r>
              <a:rPr lang="en-US" sz="1400" b="1" spc="200" kern="0" dirty="0">
                <a:solidFill>
                  <a:srgbClr val="2E060B"/>
                </a:solidFill>
                <a:latin typeface="Palatino Linotype" pitchFamily="34" charset="0"/>
                <a:ea typeface="Palatino Linotype" pitchFamily="34" charset="-122"/>
                <a:cs typeface="Palatino Linotype" pitchFamily="34" charset="-120"/>
              </a:rPr>
              <a:t>TABĂRA DIN STÂNGA</a:t>
            </a:r>
            <a:endParaRPr lang="en-US" sz="1400" dirty="0"/>
          </a:p>
        </p:txBody>
      </p:sp>
      <p:sp>
        <p:nvSpPr>
          <p:cNvPr id="8" name="Text 6"/>
          <p:cNvSpPr/>
          <p:nvPr/>
        </p:nvSpPr>
        <p:spPr>
          <a:xfrm>
            <a:off x="868680" y="2286000"/>
            <a:ext cx="4846320" cy="1783080"/>
          </a:xfrm>
          <a:prstGeom prst="rect">
            <a:avLst/>
          </a:prstGeom>
          <a:noFill/>
          <a:ln/>
        </p:spPr>
        <p:txBody>
          <a:bodyPr wrap="square" lIns="0" tIns="0" rIns="0" bIns="0" rtlCol="0" anchor="t"/>
          <a:lstStyle/>
          <a:p>
            <a:pPr indent="0" marL="0">
              <a:buNone/>
            </a:pPr>
            <a:r>
              <a:rPr lang="en-US" sz="2100" b="1" dirty="0">
                <a:solidFill>
                  <a:srgbClr val="2E060B"/>
                </a:solidFill>
                <a:latin typeface="Palatino Linotype" pitchFamily="34" charset="0"/>
                <a:ea typeface="Palatino Linotype" pitchFamily="34" charset="-122"/>
                <a:cs typeface="Palatino Linotype" pitchFamily="34" charset="-120"/>
              </a:rPr>
              <a:t>O problemă a sistemului de sănătate. Spitalul nu o poate influența; o lasă în seama ministerului.</a:t>
            </a:r>
            <a:endParaRPr lang="en-US" sz="2100" dirty="0"/>
          </a:p>
        </p:txBody>
      </p:sp>
      <p:sp>
        <p:nvSpPr>
          <p:cNvPr id="9" name="Shape 7"/>
          <p:cNvSpPr/>
          <p:nvPr/>
        </p:nvSpPr>
        <p:spPr>
          <a:xfrm>
            <a:off x="6172200" y="1691640"/>
            <a:ext cx="5394960" cy="2468880"/>
          </a:xfrm>
          <a:prstGeom prst="roundRect">
            <a:avLst>
              <a:gd name="adj" fmla="val 3333"/>
            </a:avLst>
          </a:prstGeom>
          <a:solidFill>
            <a:srgbClr val="27D3BE"/>
          </a:solidFill>
          <a:ln w="12700">
            <a:solidFill>
              <a:srgbClr val="27D3BE"/>
            </a:solidFill>
            <a:prstDash val="solid"/>
          </a:ln>
        </p:spPr>
        <p:txBody>
          <a:bodyPr/>
          <a:p/>
        </p:txBody>
      </p:sp>
      <p:sp>
        <p:nvSpPr>
          <p:cNvPr id="10" name="Text 8"/>
          <p:cNvSpPr/>
          <p:nvPr/>
        </p:nvSpPr>
        <p:spPr>
          <a:xfrm>
            <a:off x="6446520" y="1828800"/>
            <a:ext cx="4846320" cy="365760"/>
          </a:xfrm>
          <a:prstGeom prst="rect">
            <a:avLst/>
          </a:prstGeom>
          <a:noFill/>
          <a:ln/>
        </p:spPr>
        <p:txBody>
          <a:bodyPr wrap="square" lIns="0" tIns="0" rIns="0" bIns="0" rtlCol="0" anchor="t"/>
          <a:lstStyle/>
          <a:p>
            <a:pPr indent="0" marL="0">
              <a:buNone/>
            </a:pPr>
            <a:r>
              <a:rPr lang="en-US" sz="1400" b="1" spc="200" kern="0" dirty="0">
                <a:solidFill>
                  <a:srgbClr val="073B34"/>
                </a:solidFill>
                <a:latin typeface="Palatino Linotype" pitchFamily="34" charset="0"/>
                <a:ea typeface="Palatino Linotype" pitchFamily="34" charset="-122"/>
                <a:cs typeface="Palatino Linotype" pitchFamily="34" charset="-120"/>
              </a:rPr>
              <a:t>TABĂRA DIN DREAPTA</a:t>
            </a:r>
            <a:endParaRPr lang="en-US" sz="1400" dirty="0"/>
          </a:p>
        </p:txBody>
      </p:sp>
      <p:sp>
        <p:nvSpPr>
          <p:cNvPr id="11" name="Text 9"/>
          <p:cNvSpPr/>
          <p:nvPr/>
        </p:nvSpPr>
        <p:spPr>
          <a:xfrm>
            <a:off x="6446520" y="2286000"/>
            <a:ext cx="4846320" cy="1783080"/>
          </a:xfrm>
          <a:prstGeom prst="rect">
            <a:avLst/>
          </a:prstGeom>
          <a:noFill/>
          <a:ln/>
        </p:spPr>
        <p:txBody>
          <a:bodyPr wrap="square" lIns="0" tIns="0" rIns="0" bIns="0" rtlCol="0" anchor="t"/>
          <a:lstStyle/>
          <a:p>
            <a:pPr indent="0" marL="0">
              <a:buNone/>
            </a:pPr>
            <a:r>
              <a:rPr lang="en-US" sz="2100" b="1" dirty="0">
                <a:solidFill>
                  <a:srgbClr val="073B34"/>
                </a:solidFill>
                <a:latin typeface="Palatino Linotype" pitchFamily="34" charset="0"/>
                <a:ea typeface="Palatino Linotype" pitchFamily="34" charset="-122"/>
                <a:cs typeface="Palatino Linotype" pitchFamily="34" charset="-120"/>
              </a:rPr>
              <a:t>O problemă a ariei de servicii și a spitalului. Planul lui trebuie s-o trateze.</a:t>
            </a:r>
            <a:endParaRPr lang="en-US" sz="2100" dirty="0"/>
          </a:p>
        </p:txBody>
      </p:sp>
      <p:sp>
        <p:nvSpPr>
          <p:cNvPr id="12" name="Text 10"/>
          <p:cNvSpPr/>
          <p:nvPr/>
        </p:nvSpPr>
        <p:spPr>
          <a:xfrm>
            <a:off x="594360" y="4480560"/>
            <a:ext cx="10972800" cy="82296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Două minute de pregătire, apoi câte un minut de argumente pentru trei vorbitori din fiecare tabără. Vot final pe telefon.</a:t>
            </a:r>
            <a:endParaRPr lang="en-US" sz="1900" dirty="0"/>
          </a:p>
        </p:txBody>
      </p:sp>
      <p:sp>
        <p:nvSpPr>
          <p:cNvPr id="13" name="Text 11"/>
          <p:cNvSpPr/>
          <p:nvPr/>
        </p:nvSpPr>
        <p:spPr>
          <a:xfrm>
            <a:off x="594360" y="544068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CINCI CATEGORII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Cinci feluri de schimbare</a:t>
            </a:r>
            <a:endParaRPr lang="en-US" sz="3400" dirty="0"/>
          </a:p>
        </p:txBody>
      </p:sp>
      <p:sp>
        <p:nvSpPr>
          <p:cNvPr id="4" name="Shape 2"/>
          <p:cNvSpPr/>
          <p:nvPr/>
        </p:nvSpPr>
        <p:spPr>
          <a:xfrm>
            <a:off x="594360" y="1600200"/>
            <a:ext cx="2103120" cy="822960"/>
          </a:xfrm>
          <a:prstGeom prst="roundRect">
            <a:avLst>
              <a:gd name="adj" fmla="val 10000"/>
            </a:avLst>
          </a:prstGeom>
          <a:solidFill>
            <a:srgbClr val="FF4757"/>
          </a:solidFill>
          <a:ln w="12700">
            <a:solidFill>
              <a:srgbClr val="FF4757"/>
            </a:solidFill>
            <a:prstDash val="solid"/>
          </a:ln>
        </p:spPr>
        <p:txBody>
          <a:bodyPr/>
          <a:p/>
        </p:txBody>
      </p:sp>
      <p:sp>
        <p:nvSpPr>
          <p:cNvPr id="5" name="Text 3"/>
          <p:cNvSpPr/>
          <p:nvPr/>
        </p:nvSpPr>
        <p:spPr>
          <a:xfrm>
            <a:off x="685800" y="1600200"/>
            <a:ext cx="1920240" cy="822960"/>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Economice</a:t>
            </a:r>
            <a:endParaRPr lang="en-US" sz="1400" dirty="0"/>
          </a:p>
        </p:txBody>
      </p:sp>
      <p:sp>
        <p:nvSpPr>
          <p:cNvPr id="6" name="Shape 4"/>
          <p:cNvSpPr/>
          <p:nvPr/>
        </p:nvSpPr>
        <p:spPr>
          <a:xfrm>
            <a:off x="2807208" y="1600200"/>
            <a:ext cx="2103120" cy="822960"/>
          </a:xfrm>
          <a:prstGeom prst="roundRect">
            <a:avLst>
              <a:gd name="adj" fmla="val 10000"/>
            </a:avLst>
          </a:prstGeom>
          <a:solidFill>
            <a:srgbClr val="FFC24B"/>
          </a:solidFill>
          <a:ln w="12700">
            <a:solidFill>
              <a:srgbClr val="FFC24B"/>
            </a:solidFill>
            <a:prstDash val="solid"/>
          </a:ln>
        </p:spPr>
        <p:txBody>
          <a:bodyPr/>
          <a:p/>
        </p:txBody>
      </p:sp>
      <p:sp>
        <p:nvSpPr>
          <p:cNvPr id="7" name="Text 5"/>
          <p:cNvSpPr/>
          <p:nvPr/>
        </p:nvSpPr>
        <p:spPr>
          <a:xfrm>
            <a:off x="2898648" y="1600200"/>
            <a:ext cx="1920240" cy="822960"/>
          </a:xfrm>
          <a:prstGeom prst="rect">
            <a:avLst/>
          </a:prstGeom>
          <a:noFill/>
          <a:ln/>
        </p:spPr>
        <p:txBody>
          <a:bodyPr wrap="square" lIns="0" tIns="0" rIns="0" bIns="0" rtlCol="0" anchor="ctr"/>
          <a:lstStyle/>
          <a:p>
            <a:pPr algn="ctr" indent="0" marL="0">
              <a:buNone/>
            </a:pPr>
            <a:r>
              <a:rPr lang="en-US" sz="1400" b="1" dirty="0">
                <a:solidFill>
                  <a:srgbClr val="3D2A00"/>
                </a:solidFill>
                <a:latin typeface="Palatino Linotype" pitchFamily="34" charset="0"/>
                <a:ea typeface="Palatino Linotype" pitchFamily="34" charset="-122"/>
                <a:cs typeface="Palatino Linotype" pitchFamily="34" charset="-120"/>
              </a:rPr>
              <a:t>Sociale și demografice</a:t>
            </a:r>
            <a:endParaRPr lang="en-US" sz="1400" dirty="0"/>
          </a:p>
        </p:txBody>
      </p:sp>
      <p:sp>
        <p:nvSpPr>
          <p:cNvPr id="8" name="Shape 6"/>
          <p:cNvSpPr/>
          <p:nvPr/>
        </p:nvSpPr>
        <p:spPr>
          <a:xfrm>
            <a:off x="5020056" y="1600200"/>
            <a:ext cx="2103120" cy="822960"/>
          </a:xfrm>
          <a:prstGeom prst="roundRect">
            <a:avLst>
              <a:gd name="adj" fmla="val 10000"/>
            </a:avLst>
          </a:prstGeom>
          <a:solidFill>
            <a:srgbClr val="27D3BE"/>
          </a:solidFill>
          <a:ln w="12700">
            <a:solidFill>
              <a:srgbClr val="27D3BE"/>
            </a:solidFill>
            <a:prstDash val="solid"/>
          </a:ln>
        </p:spPr>
        <p:txBody>
          <a:bodyPr/>
          <a:p/>
        </p:txBody>
      </p:sp>
      <p:sp>
        <p:nvSpPr>
          <p:cNvPr id="9" name="Text 7"/>
          <p:cNvSpPr/>
          <p:nvPr/>
        </p:nvSpPr>
        <p:spPr>
          <a:xfrm>
            <a:off x="5111496" y="1600200"/>
            <a:ext cx="1920240" cy="822960"/>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Legislative și politice</a:t>
            </a:r>
            <a:endParaRPr lang="en-US" sz="1400" dirty="0"/>
          </a:p>
        </p:txBody>
      </p:sp>
      <p:sp>
        <p:nvSpPr>
          <p:cNvPr id="10" name="Shape 8"/>
          <p:cNvSpPr/>
          <p:nvPr/>
        </p:nvSpPr>
        <p:spPr>
          <a:xfrm>
            <a:off x="7232904" y="1600200"/>
            <a:ext cx="2103120" cy="822960"/>
          </a:xfrm>
          <a:prstGeom prst="roundRect">
            <a:avLst>
              <a:gd name="adj" fmla="val 10000"/>
            </a:avLst>
          </a:prstGeom>
          <a:solidFill>
            <a:srgbClr val="9B7EF7"/>
          </a:solidFill>
          <a:ln w="12700">
            <a:solidFill>
              <a:srgbClr val="9B7EF7"/>
            </a:solidFill>
            <a:prstDash val="solid"/>
          </a:ln>
        </p:spPr>
        <p:txBody>
          <a:bodyPr/>
          <a:p/>
        </p:txBody>
      </p:sp>
      <p:sp>
        <p:nvSpPr>
          <p:cNvPr id="11" name="Text 9"/>
          <p:cNvSpPr/>
          <p:nvPr/>
        </p:nvSpPr>
        <p:spPr>
          <a:xfrm>
            <a:off x="7324344" y="1600200"/>
            <a:ext cx="1920240" cy="822960"/>
          </a:xfrm>
          <a:prstGeom prst="rect">
            <a:avLst/>
          </a:prstGeom>
          <a:noFill/>
          <a:ln/>
        </p:spPr>
        <p:txBody>
          <a:bodyPr wrap="square" lIns="0" tIns="0" rIns="0" bIns="0" rtlCol="0" anchor="ctr"/>
          <a:lstStyle/>
          <a:p>
            <a:pPr algn="ctr" indent="0" marL="0">
              <a:buNone/>
            </a:pPr>
            <a:r>
              <a:rPr lang="en-US" sz="1400" b="1" dirty="0">
                <a:solidFill>
                  <a:srgbClr val="1F1040"/>
                </a:solidFill>
                <a:latin typeface="Palatino Linotype" pitchFamily="34" charset="0"/>
                <a:ea typeface="Palatino Linotype" pitchFamily="34" charset="-122"/>
                <a:cs typeface="Palatino Linotype" pitchFamily="34" charset="-120"/>
              </a:rPr>
              <a:t>Tehnologice</a:t>
            </a:r>
            <a:endParaRPr lang="en-US" sz="1400" dirty="0"/>
          </a:p>
        </p:txBody>
      </p:sp>
      <p:sp>
        <p:nvSpPr>
          <p:cNvPr id="12" name="Shape 10"/>
          <p:cNvSpPr/>
          <p:nvPr/>
        </p:nvSpPr>
        <p:spPr>
          <a:xfrm>
            <a:off x="9445752" y="1600200"/>
            <a:ext cx="2103120" cy="822960"/>
          </a:xfrm>
          <a:prstGeom prst="roundRect">
            <a:avLst>
              <a:gd name="adj" fmla="val 10000"/>
            </a:avLst>
          </a:prstGeom>
          <a:solidFill>
            <a:srgbClr val="FF8A3D"/>
          </a:solidFill>
          <a:ln w="12700">
            <a:solidFill>
              <a:srgbClr val="FF8A3D"/>
            </a:solidFill>
            <a:prstDash val="solid"/>
          </a:ln>
        </p:spPr>
        <p:txBody>
          <a:bodyPr/>
          <a:p/>
        </p:txBody>
      </p:sp>
      <p:sp>
        <p:nvSpPr>
          <p:cNvPr id="13" name="Text 11"/>
          <p:cNvSpPr/>
          <p:nvPr/>
        </p:nvSpPr>
        <p:spPr>
          <a:xfrm>
            <a:off x="9537192" y="1600200"/>
            <a:ext cx="1920240" cy="82296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Concurențiale</a:t>
            </a:r>
            <a:endParaRPr lang="en-US" sz="1400" dirty="0"/>
          </a:p>
        </p:txBody>
      </p:sp>
      <p:sp>
        <p:nvSpPr>
          <p:cNvPr id="14" name="Shape 12"/>
          <p:cNvSpPr/>
          <p:nvPr/>
        </p:nvSpPr>
        <p:spPr>
          <a:xfrm>
            <a:off x="594360" y="2788920"/>
            <a:ext cx="10972800" cy="777240"/>
          </a:xfrm>
          <a:prstGeom prst="roundRect">
            <a:avLst>
              <a:gd name="adj" fmla="val 10588"/>
            </a:avLst>
          </a:prstGeom>
          <a:solidFill>
            <a:srgbClr val="ECEAE4"/>
          </a:solidFill>
          <a:ln w="12700">
            <a:solidFill>
              <a:srgbClr val="ECEAE4"/>
            </a:solidFill>
            <a:prstDash val="solid"/>
          </a:ln>
        </p:spPr>
        <p:txBody>
          <a:bodyPr/>
          <a:p/>
        </p:txBody>
      </p:sp>
      <p:sp>
        <p:nvSpPr>
          <p:cNvPr id="15" name="Text 13"/>
          <p:cNvSpPr/>
          <p:nvPr/>
        </p:nvSpPr>
        <p:spPr>
          <a:xfrm>
            <a:off x="868680" y="2788920"/>
            <a:ext cx="2926080" cy="77724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Îmbătrânirea</a:t>
            </a:r>
            <a:endParaRPr lang="en-US" sz="1700" dirty="0"/>
          </a:p>
        </p:txBody>
      </p:sp>
      <p:sp>
        <p:nvSpPr>
          <p:cNvPr id="16" name="Text 14"/>
          <p:cNvSpPr/>
          <p:nvPr/>
        </p:nvSpPr>
        <p:spPr>
          <a:xfrm>
            <a:off x="3886200" y="2788920"/>
            <a:ext cx="7498080" cy="7772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socială și demografică</a:t>
            </a:r>
            <a:endParaRPr lang="en-US" sz="1600" dirty="0"/>
          </a:p>
        </p:txBody>
      </p:sp>
      <p:sp>
        <p:nvSpPr>
          <p:cNvPr id="17" name="Shape 15"/>
          <p:cNvSpPr/>
          <p:nvPr/>
        </p:nvSpPr>
        <p:spPr>
          <a:xfrm>
            <a:off x="594360" y="3703320"/>
            <a:ext cx="10972800" cy="777240"/>
          </a:xfrm>
          <a:prstGeom prst="roundRect">
            <a:avLst>
              <a:gd name="adj" fmla="val 10588"/>
            </a:avLst>
          </a:prstGeom>
          <a:solidFill>
            <a:srgbClr val="F9F8F5"/>
          </a:solidFill>
          <a:ln w="12700">
            <a:solidFill>
              <a:srgbClr val="F9F8F5"/>
            </a:solidFill>
            <a:prstDash val="solid"/>
          </a:ln>
        </p:spPr>
        <p:txBody>
          <a:bodyPr/>
          <a:p/>
        </p:txBody>
      </p:sp>
      <p:sp>
        <p:nvSpPr>
          <p:cNvPr id="18" name="Text 16"/>
          <p:cNvSpPr/>
          <p:nvPr/>
        </p:nvSpPr>
        <p:spPr>
          <a:xfrm>
            <a:off x="868680" y="3703320"/>
            <a:ext cx="2926080" cy="77724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Plecarea medicilor</a:t>
            </a:r>
            <a:endParaRPr lang="en-US" sz="1700" dirty="0"/>
          </a:p>
        </p:txBody>
      </p:sp>
      <p:sp>
        <p:nvSpPr>
          <p:cNvPr id="19" name="Text 17"/>
          <p:cNvSpPr/>
          <p:nvPr/>
        </p:nvSpPr>
        <p:spPr>
          <a:xfrm>
            <a:off x="3886200" y="3703320"/>
            <a:ext cx="7498080" cy="7772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economică (salarii și condiții de lucru mai bune în alte țări ale Uniunii) și concurențială</a:t>
            </a:r>
            <a:endParaRPr lang="en-US" sz="1600" dirty="0"/>
          </a:p>
        </p:txBody>
      </p:sp>
      <p:sp>
        <p:nvSpPr>
          <p:cNvPr id="20" name="Shape 18"/>
          <p:cNvSpPr/>
          <p:nvPr/>
        </p:nvSpPr>
        <p:spPr>
          <a:xfrm>
            <a:off x="594360" y="4617720"/>
            <a:ext cx="10972800" cy="777240"/>
          </a:xfrm>
          <a:prstGeom prst="roundRect">
            <a:avLst>
              <a:gd name="adj" fmla="val 10588"/>
            </a:avLst>
          </a:prstGeom>
          <a:solidFill>
            <a:srgbClr val="ECEAE4"/>
          </a:solidFill>
          <a:ln w="12700">
            <a:solidFill>
              <a:srgbClr val="ECEAE4"/>
            </a:solidFill>
            <a:prstDash val="solid"/>
          </a:ln>
        </p:spPr>
        <p:txBody>
          <a:bodyPr/>
          <a:p/>
        </p:txBody>
      </p:sp>
      <p:sp>
        <p:nvSpPr>
          <p:cNvPr id="21" name="Text 19"/>
          <p:cNvSpPr/>
          <p:nvPr/>
        </p:nvSpPr>
        <p:spPr>
          <a:xfrm>
            <a:off x="868680" y="4617720"/>
            <a:ext cx="2926080" cy="77724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Consultațiile la distanță</a:t>
            </a:r>
            <a:endParaRPr lang="en-US" sz="1700" dirty="0"/>
          </a:p>
        </p:txBody>
      </p:sp>
      <p:sp>
        <p:nvSpPr>
          <p:cNvPr id="22" name="Text 20"/>
          <p:cNvSpPr/>
          <p:nvPr/>
        </p:nvSpPr>
        <p:spPr>
          <a:xfrm>
            <a:off x="3886200" y="4617720"/>
            <a:ext cx="7498080" cy="7772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tehnologică, dar și legislativă (regulile de decontare)</a:t>
            </a:r>
            <a:endParaRPr lang="en-US" sz="1600" dirty="0"/>
          </a:p>
        </p:txBody>
      </p:sp>
      <p:sp>
        <p:nvSpPr>
          <p:cNvPr id="23" name="Text 21"/>
          <p:cNvSpPr/>
          <p:nvPr/>
        </p:nvSpPr>
        <p:spPr>
          <a:xfrm>
            <a:off x="594360" y="5623560"/>
            <a:ext cx="10972800" cy="45720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O problemă poate ține de mai multe categorii. Cursul următor le parcurge pe toate, pentru România.</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TREILEA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Harta problemelor</a:t>
            </a:r>
            <a:endParaRPr lang="en-US" sz="3600" dirty="0"/>
          </a:p>
        </p:txBody>
      </p:sp>
      <p:sp>
        <p:nvSpPr>
          <p:cNvPr id="4" name="Text 2"/>
          <p:cNvSpPr/>
          <p:nvPr/>
        </p:nvSpPr>
        <p:spPr>
          <a:xfrm>
            <a:off x="594360" y="1463040"/>
            <a:ext cx="10972800" cy="5486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Tabelul în care o echipă scrie, în același loc și în aceeași ordine, tot ce s-a schimbat în jurul organizației.</a:t>
            </a:r>
            <a:endParaRPr lang="en-US" sz="1700" dirty="0"/>
          </a:p>
        </p:txBody>
      </p:sp>
      <p:sp>
        <p:nvSpPr>
          <p:cNvPr id="5" name="Shape 3"/>
          <p:cNvSpPr/>
          <p:nvPr/>
        </p:nvSpPr>
        <p:spPr>
          <a:xfrm>
            <a:off x="2825496" y="2194560"/>
            <a:ext cx="2852928" cy="411480"/>
          </a:xfrm>
          <a:prstGeom prst="roundRect">
            <a:avLst>
              <a:gd name="adj" fmla="val 20000"/>
            </a:avLst>
          </a:prstGeom>
          <a:solidFill>
            <a:srgbClr val="1D1F2B"/>
          </a:solidFill>
          <a:ln w="12700">
            <a:solidFill>
              <a:srgbClr val="1D1F2B"/>
            </a:solidFill>
            <a:prstDash val="solid"/>
          </a:ln>
        </p:spPr>
        <p:txBody>
          <a:bodyPr/>
          <a:p/>
        </p:txBody>
      </p:sp>
      <p:sp>
        <p:nvSpPr>
          <p:cNvPr id="6" name="Text 4"/>
          <p:cNvSpPr/>
          <p:nvPr/>
        </p:nvSpPr>
        <p:spPr>
          <a:xfrm>
            <a:off x="2825496" y="2194560"/>
            <a:ext cx="2852928"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Mediul general</a:t>
            </a:r>
            <a:endParaRPr lang="en-US" sz="1400" dirty="0"/>
          </a:p>
        </p:txBody>
      </p:sp>
      <p:sp>
        <p:nvSpPr>
          <p:cNvPr id="7" name="Shape 5"/>
          <p:cNvSpPr/>
          <p:nvPr/>
        </p:nvSpPr>
        <p:spPr>
          <a:xfrm>
            <a:off x="5751576" y="2194560"/>
            <a:ext cx="2852928" cy="411480"/>
          </a:xfrm>
          <a:prstGeom prst="roundRect">
            <a:avLst>
              <a:gd name="adj" fmla="val 20000"/>
            </a:avLst>
          </a:prstGeom>
          <a:solidFill>
            <a:srgbClr val="1D1F2B"/>
          </a:solidFill>
          <a:ln w="12700">
            <a:solidFill>
              <a:srgbClr val="1D1F2B"/>
            </a:solidFill>
            <a:prstDash val="solid"/>
          </a:ln>
        </p:spPr>
        <p:txBody>
          <a:bodyPr/>
          <a:p/>
        </p:txBody>
      </p:sp>
      <p:sp>
        <p:nvSpPr>
          <p:cNvPr id="8" name="Text 6"/>
          <p:cNvSpPr/>
          <p:nvPr/>
        </p:nvSpPr>
        <p:spPr>
          <a:xfrm>
            <a:off x="5751576" y="2194560"/>
            <a:ext cx="2852928"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Sistemul de sănătate</a:t>
            </a:r>
            <a:endParaRPr lang="en-US" sz="1400" dirty="0"/>
          </a:p>
        </p:txBody>
      </p:sp>
      <p:sp>
        <p:nvSpPr>
          <p:cNvPr id="9" name="Shape 7"/>
          <p:cNvSpPr/>
          <p:nvPr/>
        </p:nvSpPr>
        <p:spPr>
          <a:xfrm>
            <a:off x="8677656" y="2194560"/>
            <a:ext cx="2852928" cy="411480"/>
          </a:xfrm>
          <a:prstGeom prst="roundRect">
            <a:avLst>
              <a:gd name="adj" fmla="val 20000"/>
            </a:avLst>
          </a:prstGeom>
          <a:solidFill>
            <a:srgbClr val="1D1F2B"/>
          </a:solidFill>
          <a:ln w="12700">
            <a:solidFill>
              <a:srgbClr val="1D1F2B"/>
            </a:solidFill>
            <a:prstDash val="solid"/>
          </a:ln>
        </p:spPr>
        <p:txBody>
          <a:bodyPr/>
          <a:p/>
        </p:txBody>
      </p:sp>
      <p:sp>
        <p:nvSpPr>
          <p:cNvPr id="10" name="Text 8"/>
          <p:cNvSpPr/>
          <p:nvPr/>
        </p:nvSpPr>
        <p:spPr>
          <a:xfrm>
            <a:off x="8677656" y="2194560"/>
            <a:ext cx="2852928"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Aria de servicii</a:t>
            </a:r>
            <a:endParaRPr lang="en-US" sz="1400" dirty="0"/>
          </a:p>
        </p:txBody>
      </p:sp>
      <p:sp>
        <p:nvSpPr>
          <p:cNvPr id="11" name="Text 9"/>
          <p:cNvSpPr/>
          <p:nvPr/>
        </p:nvSpPr>
        <p:spPr>
          <a:xfrm>
            <a:off x="594360" y="2660904"/>
            <a:ext cx="2103120" cy="676656"/>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Economică</a:t>
            </a:r>
            <a:endParaRPr lang="en-US" sz="1400" dirty="0"/>
          </a:p>
        </p:txBody>
      </p:sp>
      <p:sp>
        <p:nvSpPr>
          <p:cNvPr id="12" name="Shape 10"/>
          <p:cNvSpPr/>
          <p:nvPr/>
        </p:nvSpPr>
        <p:spPr>
          <a:xfrm>
            <a:off x="2825496" y="2660904"/>
            <a:ext cx="2852928" cy="676656"/>
          </a:xfrm>
          <a:prstGeom prst="roundRect">
            <a:avLst>
              <a:gd name="adj" fmla="val 12162"/>
            </a:avLst>
          </a:prstGeom>
          <a:solidFill>
            <a:srgbClr val="F9F8F5"/>
          </a:solidFill>
          <a:ln w="9525">
            <a:solidFill>
              <a:srgbClr val="C9C6BE"/>
            </a:solidFill>
            <a:prstDash val="solid"/>
          </a:ln>
        </p:spPr>
        <p:txBody>
          <a:bodyPr/>
          <a:p/>
        </p:txBody>
      </p:sp>
      <p:sp>
        <p:nvSpPr>
          <p:cNvPr id="13" name="Shape 11"/>
          <p:cNvSpPr/>
          <p:nvPr/>
        </p:nvSpPr>
        <p:spPr>
          <a:xfrm>
            <a:off x="5751576" y="2660904"/>
            <a:ext cx="2852928" cy="676656"/>
          </a:xfrm>
          <a:prstGeom prst="roundRect">
            <a:avLst>
              <a:gd name="adj" fmla="val 12162"/>
            </a:avLst>
          </a:prstGeom>
          <a:solidFill>
            <a:srgbClr val="FF4757"/>
          </a:solidFill>
          <a:ln w="12700">
            <a:solidFill>
              <a:srgbClr val="FF4757"/>
            </a:solidFill>
            <a:prstDash val="solid"/>
          </a:ln>
        </p:spPr>
        <p:txBody>
          <a:bodyPr/>
          <a:p/>
        </p:txBody>
      </p:sp>
      <p:sp>
        <p:nvSpPr>
          <p:cNvPr id="14" name="Text 12"/>
          <p:cNvSpPr/>
          <p:nvPr/>
        </p:nvSpPr>
        <p:spPr>
          <a:xfrm>
            <a:off x="5888736" y="2660904"/>
            <a:ext cx="2578608" cy="676656"/>
          </a:xfrm>
          <a:prstGeom prst="rect">
            <a:avLst/>
          </a:prstGeom>
          <a:noFill/>
          <a:ln/>
        </p:spPr>
        <p:txBody>
          <a:bodyPr wrap="square" lIns="0" tIns="0" rIns="0" bIns="0" rtlCol="0" anchor="ctr"/>
          <a:lstStyle/>
          <a:p>
            <a:pPr indent="0" marL="0">
              <a:buNone/>
            </a:pPr>
            <a:r>
              <a:rPr lang="en-US" sz="1300" b="1" dirty="0">
                <a:solidFill>
                  <a:srgbClr val="2E060B"/>
                </a:solidFill>
                <a:latin typeface="Palatino Linotype" pitchFamily="34" charset="0"/>
                <a:ea typeface="Palatino Linotype" pitchFamily="34" charset="-122"/>
                <a:cs typeface="Palatino Linotype" pitchFamily="34" charset="-120"/>
              </a:rPr>
              <a:t>plecarea medicilor spre salarii și condiții de lucru mai bune</a:t>
            </a:r>
            <a:endParaRPr lang="en-US" sz="1300" dirty="0"/>
          </a:p>
        </p:txBody>
      </p:sp>
      <p:sp>
        <p:nvSpPr>
          <p:cNvPr id="15" name="Shape 13"/>
          <p:cNvSpPr/>
          <p:nvPr/>
        </p:nvSpPr>
        <p:spPr>
          <a:xfrm>
            <a:off x="8677656" y="2660904"/>
            <a:ext cx="2852928" cy="676656"/>
          </a:xfrm>
          <a:prstGeom prst="roundRect">
            <a:avLst>
              <a:gd name="adj" fmla="val 12162"/>
            </a:avLst>
          </a:prstGeom>
          <a:solidFill>
            <a:srgbClr val="F9F8F5"/>
          </a:solidFill>
          <a:ln w="9525">
            <a:solidFill>
              <a:srgbClr val="C9C6BE"/>
            </a:solidFill>
            <a:prstDash val="solid"/>
          </a:ln>
        </p:spPr>
        <p:txBody>
          <a:bodyPr/>
          <a:p/>
        </p:txBody>
      </p:sp>
      <p:sp>
        <p:nvSpPr>
          <p:cNvPr id="16" name="Text 14"/>
          <p:cNvSpPr/>
          <p:nvPr/>
        </p:nvSpPr>
        <p:spPr>
          <a:xfrm>
            <a:off x="594360" y="3392424"/>
            <a:ext cx="2103120" cy="676656"/>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Socială și demografică</a:t>
            </a:r>
            <a:endParaRPr lang="en-US" sz="1400" dirty="0"/>
          </a:p>
        </p:txBody>
      </p:sp>
      <p:sp>
        <p:nvSpPr>
          <p:cNvPr id="17" name="Shape 15"/>
          <p:cNvSpPr/>
          <p:nvPr/>
        </p:nvSpPr>
        <p:spPr>
          <a:xfrm>
            <a:off x="2825496" y="3392424"/>
            <a:ext cx="2852928" cy="676656"/>
          </a:xfrm>
          <a:prstGeom prst="roundRect">
            <a:avLst>
              <a:gd name="adj" fmla="val 12162"/>
            </a:avLst>
          </a:prstGeom>
          <a:solidFill>
            <a:srgbClr val="27D3BE"/>
          </a:solidFill>
          <a:ln w="12700">
            <a:solidFill>
              <a:srgbClr val="27D3BE"/>
            </a:solidFill>
            <a:prstDash val="solid"/>
          </a:ln>
        </p:spPr>
        <p:txBody>
          <a:bodyPr/>
          <a:p/>
        </p:txBody>
      </p:sp>
      <p:sp>
        <p:nvSpPr>
          <p:cNvPr id="18" name="Text 16"/>
          <p:cNvSpPr/>
          <p:nvPr/>
        </p:nvSpPr>
        <p:spPr>
          <a:xfrm>
            <a:off x="2962656" y="3392424"/>
            <a:ext cx="2578608" cy="676656"/>
          </a:xfrm>
          <a:prstGeom prst="rect">
            <a:avLst/>
          </a:prstGeom>
          <a:noFill/>
          <a:ln/>
        </p:spPr>
        <p:txBody>
          <a:bodyPr wrap="square" lIns="0" tIns="0" rIns="0" bIns="0" rtlCol="0" anchor="ctr"/>
          <a:lstStyle/>
          <a:p>
            <a:pPr indent="0" marL="0">
              <a:buNone/>
            </a:pPr>
            <a:r>
              <a:rPr lang="en-US" sz="1300" b="1" dirty="0">
                <a:solidFill>
                  <a:srgbClr val="073B34"/>
                </a:solidFill>
                <a:latin typeface="Palatino Linotype" pitchFamily="34" charset="0"/>
                <a:ea typeface="Palatino Linotype" pitchFamily="34" charset="-122"/>
                <a:cs typeface="Palatino Linotype" pitchFamily="34" charset="-120"/>
              </a:rPr>
              <a:t>îmbătrânirea populației</a:t>
            </a:r>
            <a:endParaRPr lang="en-US" sz="1300" dirty="0"/>
          </a:p>
        </p:txBody>
      </p:sp>
      <p:sp>
        <p:nvSpPr>
          <p:cNvPr id="19" name="Shape 17"/>
          <p:cNvSpPr/>
          <p:nvPr/>
        </p:nvSpPr>
        <p:spPr>
          <a:xfrm>
            <a:off x="5751576" y="3392424"/>
            <a:ext cx="2852928" cy="676656"/>
          </a:xfrm>
          <a:prstGeom prst="roundRect">
            <a:avLst>
              <a:gd name="adj" fmla="val 12162"/>
            </a:avLst>
          </a:prstGeom>
          <a:solidFill>
            <a:srgbClr val="F9F8F5"/>
          </a:solidFill>
          <a:ln w="9525">
            <a:solidFill>
              <a:srgbClr val="C9C6BE"/>
            </a:solidFill>
            <a:prstDash val="solid"/>
          </a:ln>
        </p:spPr>
        <p:txBody>
          <a:bodyPr/>
          <a:p/>
        </p:txBody>
      </p:sp>
      <p:sp>
        <p:nvSpPr>
          <p:cNvPr id="20" name="Shape 18"/>
          <p:cNvSpPr/>
          <p:nvPr/>
        </p:nvSpPr>
        <p:spPr>
          <a:xfrm>
            <a:off x="8677656" y="3392424"/>
            <a:ext cx="2852928" cy="676656"/>
          </a:xfrm>
          <a:prstGeom prst="roundRect">
            <a:avLst>
              <a:gd name="adj" fmla="val 12162"/>
            </a:avLst>
          </a:prstGeom>
          <a:solidFill>
            <a:srgbClr val="F9F8F5"/>
          </a:solidFill>
          <a:ln w="9525">
            <a:solidFill>
              <a:srgbClr val="C9C6BE"/>
            </a:solidFill>
            <a:prstDash val="solid"/>
          </a:ln>
        </p:spPr>
        <p:txBody>
          <a:bodyPr/>
          <a:p/>
        </p:txBody>
      </p:sp>
      <p:sp>
        <p:nvSpPr>
          <p:cNvPr id="21" name="Text 19"/>
          <p:cNvSpPr/>
          <p:nvPr/>
        </p:nvSpPr>
        <p:spPr>
          <a:xfrm>
            <a:off x="594360" y="4123944"/>
            <a:ext cx="2103120" cy="676656"/>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Legislativă și politică</a:t>
            </a:r>
            <a:endParaRPr lang="en-US" sz="1400" dirty="0"/>
          </a:p>
        </p:txBody>
      </p:sp>
      <p:sp>
        <p:nvSpPr>
          <p:cNvPr id="22" name="Shape 20"/>
          <p:cNvSpPr/>
          <p:nvPr/>
        </p:nvSpPr>
        <p:spPr>
          <a:xfrm>
            <a:off x="2825496" y="4123944"/>
            <a:ext cx="2852928" cy="676656"/>
          </a:xfrm>
          <a:prstGeom prst="roundRect">
            <a:avLst>
              <a:gd name="adj" fmla="val 12162"/>
            </a:avLst>
          </a:prstGeom>
          <a:solidFill>
            <a:srgbClr val="F9F8F5"/>
          </a:solidFill>
          <a:ln w="9525">
            <a:solidFill>
              <a:srgbClr val="C9C6BE"/>
            </a:solidFill>
            <a:prstDash val="solid"/>
          </a:ln>
        </p:spPr>
        <p:txBody>
          <a:bodyPr/>
          <a:p/>
        </p:txBody>
      </p:sp>
      <p:sp>
        <p:nvSpPr>
          <p:cNvPr id="23" name="Shape 21"/>
          <p:cNvSpPr/>
          <p:nvPr/>
        </p:nvSpPr>
        <p:spPr>
          <a:xfrm>
            <a:off x="5751576" y="4123944"/>
            <a:ext cx="2852928" cy="676656"/>
          </a:xfrm>
          <a:prstGeom prst="roundRect">
            <a:avLst>
              <a:gd name="adj" fmla="val 12162"/>
            </a:avLst>
          </a:prstGeom>
          <a:solidFill>
            <a:srgbClr val="F9F8F5"/>
          </a:solidFill>
          <a:ln w="9525">
            <a:solidFill>
              <a:srgbClr val="C9C6BE"/>
            </a:solidFill>
            <a:prstDash val="solid"/>
          </a:ln>
        </p:spPr>
        <p:txBody>
          <a:bodyPr/>
          <a:p/>
        </p:txBody>
      </p:sp>
      <p:sp>
        <p:nvSpPr>
          <p:cNvPr id="24" name="Shape 22"/>
          <p:cNvSpPr/>
          <p:nvPr/>
        </p:nvSpPr>
        <p:spPr>
          <a:xfrm>
            <a:off x="8677656" y="4123944"/>
            <a:ext cx="2852928" cy="676656"/>
          </a:xfrm>
          <a:prstGeom prst="roundRect">
            <a:avLst>
              <a:gd name="adj" fmla="val 12162"/>
            </a:avLst>
          </a:prstGeom>
          <a:solidFill>
            <a:srgbClr val="F9F8F5"/>
          </a:solidFill>
          <a:ln w="9525">
            <a:solidFill>
              <a:srgbClr val="C9C6BE"/>
            </a:solidFill>
            <a:prstDash val="solid"/>
          </a:ln>
        </p:spPr>
        <p:txBody>
          <a:bodyPr/>
          <a:p/>
        </p:txBody>
      </p:sp>
      <p:sp>
        <p:nvSpPr>
          <p:cNvPr id="25" name="Text 23"/>
          <p:cNvSpPr/>
          <p:nvPr/>
        </p:nvSpPr>
        <p:spPr>
          <a:xfrm>
            <a:off x="594360" y="4855464"/>
            <a:ext cx="2103120" cy="676656"/>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Tehnologică</a:t>
            </a:r>
            <a:endParaRPr lang="en-US" sz="1400" dirty="0"/>
          </a:p>
        </p:txBody>
      </p:sp>
      <p:sp>
        <p:nvSpPr>
          <p:cNvPr id="26" name="Shape 24"/>
          <p:cNvSpPr/>
          <p:nvPr/>
        </p:nvSpPr>
        <p:spPr>
          <a:xfrm>
            <a:off x="2825496" y="4855464"/>
            <a:ext cx="2852928" cy="676656"/>
          </a:xfrm>
          <a:prstGeom prst="roundRect">
            <a:avLst>
              <a:gd name="adj" fmla="val 12162"/>
            </a:avLst>
          </a:prstGeom>
          <a:solidFill>
            <a:srgbClr val="F9F8F5"/>
          </a:solidFill>
          <a:ln w="9525">
            <a:solidFill>
              <a:srgbClr val="C9C6BE"/>
            </a:solidFill>
            <a:prstDash val="solid"/>
          </a:ln>
        </p:spPr>
        <p:txBody>
          <a:bodyPr/>
          <a:p/>
        </p:txBody>
      </p:sp>
      <p:sp>
        <p:nvSpPr>
          <p:cNvPr id="27" name="Shape 25"/>
          <p:cNvSpPr/>
          <p:nvPr/>
        </p:nvSpPr>
        <p:spPr>
          <a:xfrm>
            <a:off x="5751576" y="4855464"/>
            <a:ext cx="2852928" cy="676656"/>
          </a:xfrm>
          <a:prstGeom prst="roundRect">
            <a:avLst>
              <a:gd name="adj" fmla="val 12162"/>
            </a:avLst>
          </a:prstGeom>
          <a:solidFill>
            <a:srgbClr val="F9F8F5"/>
          </a:solidFill>
          <a:ln w="9525">
            <a:solidFill>
              <a:srgbClr val="C9C6BE"/>
            </a:solidFill>
            <a:prstDash val="solid"/>
          </a:ln>
        </p:spPr>
        <p:txBody>
          <a:bodyPr/>
          <a:p/>
        </p:txBody>
      </p:sp>
      <p:sp>
        <p:nvSpPr>
          <p:cNvPr id="28" name="Shape 26"/>
          <p:cNvSpPr/>
          <p:nvPr/>
        </p:nvSpPr>
        <p:spPr>
          <a:xfrm>
            <a:off x="8677656" y="4855464"/>
            <a:ext cx="2852928" cy="676656"/>
          </a:xfrm>
          <a:prstGeom prst="roundRect">
            <a:avLst>
              <a:gd name="adj" fmla="val 12162"/>
            </a:avLst>
          </a:prstGeom>
          <a:solidFill>
            <a:srgbClr val="FFC24B"/>
          </a:solidFill>
          <a:ln w="12700">
            <a:solidFill>
              <a:srgbClr val="FFC24B"/>
            </a:solidFill>
            <a:prstDash val="solid"/>
          </a:ln>
        </p:spPr>
        <p:txBody>
          <a:bodyPr/>
          <a:p/>
        </p:txBody>
      </p:sp>
      <p:sp>
        <p:nvSpPr>
          <p:cNvPr id="29" name="Text 27"/>
          <p:cNvSpPr/>
          <p:nvPr/>
        </p:nvSpPr>
        <p:spPr>
          <a:xfrm>
            <a:off x="8814816" y="4855464"/>
            <a:ext cx="2578608" cy="676656"/>
          </a:xfrm>
          <a:prstGeom prst="rect">
            <a:avLst/>
          </a:prstGeom>
          <a:noFill/>
          <a:ln/>
        </p:spPr>
        <p:txBody>
          <a:bodyPr wrap="square" lIns="0" tIns="0" rIns="0" bIns="0" rtlCol="0" anchor="ctr"/>
          <a:lstStyle/>
          <a:p>
            <a:pPr indent="0" marL="0">
              <a:buNone/>
            </a:pPr>
            <a:r>
              <a:rPr lang="en-US" sz="1300" b="1" dirty="0">
                <a:solidFill>
                  <a:srgbClr val="3D2A00"/>
                </a:solidFill>
                <a:latin typeface="Palatino Linotype" pitchFamily="34" charset="0"/>
                <a:ea typeface="Palatino Linotype" pitchFamily="34" charset="-122"/>
                <a:cs typeface="Palatino Linotype" pitchFamily="34" charset="-120"/>
              </a:rPr>
              <a:t>consultațiile la distanță cerute de pacienții din comune</a:t>
            </a:r>
            <a:endParaRPr lang="en-US" sz="1300" dirty="0"/>
          </a:p>
        </p:txBody>
      </p:sp>
      <p:sp>
        <p:nvSpPr>
          <p:cNvPr id="30" name="Text 28"/>
          <p:cNvSpPr/>
          <p:nvPr/>
        </p:nvSpPr>
        <p:spPr>
          <a:xfrm>
            <a:off x="594360" y="5586984"/>
            <a:ext cx="2103120" cy="676656"/>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Concurențială</a:t>
            </a:r>
            <a:endParaRPr lang="en-US" sz="1400" dirty="0"/>
          </a:p>
        </p:txBody>
      </p:sp>
      <p:sp>
        <p:nvSpPr>
          <p:cNvPr id="31" name="Shape 29"/>
          <p:cNvSpPr/>
          <p:nvPr/>
        </p:nvSpPr>
        <p:spPr>
          <a:xfrm>
            <a:off x="2825496" y="5586984"/>
            <a:ext cx="2852928" cy="676656"/>
          </a:xfrm>
          <a:prstGeom prst="roundRect">
            <a:avLst>
              <a:gd name="adj" fmla="val 12162"/>
            </a:avLst>
          </a:prstGeom>
          <a:solidFill>
            <a:srgbClr val="F9F8F5"/>
          </a:solidFill>
          <a:ln w="9525">
            <a:solidFill>
              <a:srgbClr val="C9C6BE"/>
            </a:solidFill>
            <a:prstDash val="solid"/>
          </a:ln>
        </p:spPr>
        <p:txBody>
          <a:bodyPr/>
          <a:p/>
        </p:txBody>
      </p:sp>
      <p:sp>
        <p:nvSpPr>
          <p:cNvPr id="32" name="Shape 30"/>
          <p:cNvSpPr/>
          <p:nvPr/>
        </p:nvSpPr>
        <p:spPr>
          <a:xfrm>
            <a:off x="5751576" y="5586984"/>
            <a:ext cx="2852928" cy="676656"/>
          </a:xfrm>
          <a:prstGeom prst="roundRect">
            <a:avLst>
              <a:gd name="adj" fmla="val 12162"/>
            </a:avLst>
          </a:prstGeom>
          <a:solidFill>
            <a:srgbClr val="F9F8F5"/>
          </a:solidFill>
          <a:ln w="9525">
            <a:solidFill>
              <a:srgbClr val="C9C6BE"/>
            </a:solidFill>
            <a:prstDash val="solid"/>
          </a:ln>
        </p:spPr>
        <p:txBody>
          <a:bodyPr/>
          <a:p/>
        </p:txBody>
      </p:sp>
      <p:sp>
        <p:nvSpPr>
          <p:cNvPr id="33" name="Shape 31"/>
          <p:cNvSpPr/>
          <p:nvPr/>
        </p:nvSpPr>
        <p:spPr>
          <a:xfrm>
            <a:off x="8677656" y="5586984"/>
            <a:ext cx="2852928" cy="676656"/>
          </a:xfrm>
          <a:prstGeom prst="roundRect">
            <a:avLst>
              <a:gd name="adj" fmla="val 12162"/>
            </a:avLst>
          </a:prstGeom>
          <a:solidFill>
            <a:srgbClr val="F9F8F5"/>
          </a:solidFill>
          <a:ln w="9525">
            <a:solidFill>
              <a:srgbClr val="C9C6BE"/>
            </a:solidFill>
            <a:prstDash val="solid"/>
          </a:ln>
        </p:spPr>
        <p:txBody>
          <a:bodyPr/>
          <a:p/>
        </p:txBody>
      </p:sp>
      <p:sp>
        <p:nvSpPr>
          <p:cNvPr id="34" name="Text 3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 (issue map); semnalele sunt cele ale spitalului din caz.</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ÎNTREBĂRILE 6, 7 ȘI 8</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În ce strat scrieți fiecare semnal pe hartă?</a:t>
            </a:r>
            <a:endParaRPr lang="en-US" sz="3200" dirty="0"/>
          </a:p>
        </p:txBody>
      </p:sp>
      <p:sp>
        <p:nvSpPr>
          <p:cNvPr id="6" name="Shape 4"/>
          <p:cNvSpPr/>
          <p:nvPr/>
        </p:nvSpPr>
        <p:spPr>
          <a:xfrm>
            <a:off x="4846320" y="1737360"/>
            <a:ext cx="2194560" cy="640080"/>
          </a:xfrm>
          <a:prstGeom prst="roundRect">
            <a:avLst>
              <a:gd name="adj" fmla="val 12857"/>
            </a:avLst>
          </a:prstGeom>
          <a:solidFill>
            <a:srgbClr val="272A38"/>
          </a:solidFill>
          <a:ln w="12700">
            <a:solidFill>
              <a:srgbClr val="272A38"/>
            </a:solidFill>
            <a:prstDash val="solid"/>
          </a:ln>
        </p:spPr>
        <p:txBody>
          <a:bodyPr/>
          <a:p/>
        </p:txBody>
      </p:sp>
      <p:sp>
        <p:nvSpPr>
          <p:cNvPr id="7" name="Text 5"/>
          <p:cNvSpPr/>
          <p:nvPr/>
        </p:nvSpPr>
        <p:spPr>
          <a:xfrm>
            <a:off x="4846320" y="1737360"/>
            <a:ext cx="2194560" cy="640080"/>
          </a:xfrm>
          <a:prstGeom prst="rect">
            <a:avLst/>
          </a:prstGeom>
          <a:noFill/>
          <a:ln/>
        </p:spPr>
        <p:txBody>
          <a:bodyPr wrap="square" lIns="0" tIns="0" rIns="0" bIns="0" rtlCol="0" anchor="ctr"/>
          <a:lstStyle/>
          <a:p>
            <a:pPr algn="ctr" indent="0" marL="0">
              <a:buNone/>
            </a:pPr>
            <a:r>
              <a:rPr lang="en-US" sz="1400" b="1" dirty="0">
                <a:solidFill>
                  <a:srgbClr val="FFC24B"/>
                </a:solidFill>
                <a:latin typeface="Palatino Linotype" pitchFamily="34" charset="0"/>
                <a:ea typeface="Palatino Linotype" pitchFamily="34" charset="-122"/>
                <a:cs typeface="Palatino Linotype" pitchFamily="34" charset="-120"/>
              </a:rPr>
              <a:t>Mediul general</a:t>
            </a:r>
            <a:endParaRPr lang="en-US" sz="1400" dirty="0"/>
          </a:p>
        </p:txBody>
      </p:sp>
      <p:sp>
        <p:nvSpPr>
          <p:cNvPr id="8" name="Shape 6"/>
          <p:cNvSpPr/>
          <p:nvPr/>
        </p:nvSpPr>
        <p:spPr>
          <a:xfrm>
            <a:off x="7132320" y="1737360"/>
            <a:ext cx="2194560" cy="640080"/>
          </a:xfrm>
          <a:prstGeom prst="roundRect">
            <a:avLst>
              <a:gd name="adj" fmla="val 12857"/>
            </a:avLst>
          </a:prstGeom>
          <a:solidFill>
            <a:srgbClr val="272A38"/>
          </a:solidFill>
          <a:ln w="12700">
            <a:solidFill>
              <a:srgbClr val="272A38"/>
            </a:solidFill>
            <a:prstDash val="solid"/>
          </a:ln>
        </p:spPr>
        <p:txBody>
          <a:bodyPr/>
          <a:p/>
        </p:txBody>
      </p:sp>
      <p:sp>
        <p:nvSpPr>
          <p:cNvPr id="9" name="Text 7"/>
          <p:cNvSpPr/>
          <p:nvPr/>
        </p:nvSpPr>
        <p:spPr>
          <a:xfrm>
            <a:off x="7132320" y="1737360"/>
            <a:ext cx="2194560" cy="640080"/>
          </a:xfrm>
          <a:prstGeom prst="rect">
            <a:avLst/>
          </a:prstGeom>
          <a:noFill/>
          <a:ln/>
        </p:spPr>
        <p:txBody>
          <a:bodyPr wrap="square" lIns="0" tIns="0" rIns="0" bIns="0" rtlCol="0" anchor="ctr"/>
          <a:lstStyle/>
          <a:p>
            <a:pPr algn="ctr" indent="0" marL="0">
              <a:buNone/>
            </a:pPr>
            <a:r>
              <a:rPr lang="en-US" sz="1400" b="1" dirty="0">
                <a:solidFill>
                  <a:srgbClr val="FFC24B"/>
                </a:solidFill>
                <a:latin typeface="Palatino Linotype" pitchFamily="34" charset="0"/>
                <a:ea typeface="Palatino Linotype" pitchFamily="34" charset="-122"/>
                <a:cs typeface="Palatino Linotype" pitchFamily="34" charset="-120"/>
              </a:rPr>
              <a:t>Sistemul de sănătate</a:t>
            </a:r>
            <a:endParaRPr lang="en-US" sz="1400" dirty="0"/>
          </a:p>
        </p:txBody>
      </p:sp>
      <p:sp>
        <p:nvSpPr>
          <p:cNvPr id="10" name="Shape 8"/>
          <p:cNvSpPr/>
          <p:nvPr/>
        </p:nvSpPr>
        <p:spPr>
          <a:xfrm>
            <a:off x="9418320" y="1737360"/>
            <a:ext cx="2194560" cy="640080"/>
          </a:xfrm>
          <a:prstGeom prst="roundRect">
            <a:avLst>
              <a:gd name="adj" fmla="val 12857"/>
            </a:avLst>
          </a:prstGeom>
          <a:solidFill>
            <a:srgbClr val="272A38"/>
          </a:solidFill>
          <a:ln w="12700">
            <a:solidFill>
              <a:srgbClr val="272A38"/>
            </a:solidFill>
            <a:prstDash val="solid"/>
          </a:ln>
        </p:spPr>
        <p:txBody>
          <a:bodyPr/>
          <a:p/>
        </p:txBody>
      </p:sp>
      <p:sp>
        <p:nvSpPr>
          <p:cNvPr id="11" name="Text 9"/>
          <p:cNvSpPr/>
          <p:nvPr/>
        </p:nvSpPr>
        <p:spPr>
          <a:xfrm>
            <a:off x="9418320" y="1737360"/>
            <a:ext cx="2194560" cy="640080"/>
          </a:xfrm>
          <a:prstGeom prst="rect">
            <a:avLst/>
          </a:prstGeom>
          <a:noFill/>
          <a:ln/>
        </p:spPr>
        <p:txBody>
          <a:bodyPr wrap="square" lIns="0" tIns="0" rIns="0" bIns="0" rtlCol="0" anchor="ctr"/>
          <a:lstStyle/>
          <a:p>
            <a:pPr algn="ctr" indent="0" marL="0">
              <a:buNone/>
            </a:pPr>
            <a:r>
              <a:rPr lang="en-US" sz="1400" b="1" dirty="0">
                <a:solidFill>
                  <a:srgbClr val="FFC24B"/>
                </a:solidFill>
                <a:latin typeface="Palatino Linotype" pitchFamily="34" charset="0"/>
                <a:ea typeface="Palatino Linotype" pitchFamily="34" charset="-122"/>
                <a:cs typeface="Palatino Linotype" pitchFamily="34" charset="-120"/>
              </a:rPr>
              <a:t>Aria de servicii</a:t>
            </a:r>
            <a:endParaRPr lang="en-US" sz="1400" dirty="0"/>
          </a:p>
        </p:txBody>
      </p:sp>
      <p:sp>
        <p:nvSpPr>
          <p:cNvPr id="12" name="Shape 10"/>
          <p:cNvSpPr/>
          <p:nvPr/>
        </p:nvSpPr>
        <p:spPr>
          <a:xfrm>
            <a:off x="594360" y="2514600"/>
            <a:ext cx="4160520" cy="777240"/>
          </a:xfrm>
          <a:prstGeom prst="roundRect">
            <a:avLst>
              <a:gd name="adj" fmla="val 10588"/>
            </a:avLst>
          </a:prstGeom>
          <a:solidFill>
            <a:srgbClr val="1D1F2B"/>
          </a:solidFill>
          <a:ln w="12700">
            <a:solidFill>
              <a:srgbClr val="1D1F2B"/>
            </a:solidFill>
            <a:prstDash val="solid"/>
          </a:ln>
        </p:spPr>
        <p:txBody>
          <a:bodyPr/>
          <a:p/>
        </p:txBody>
      </p:sp>
      <p:sp>
        <p:nvSpPr>
          <p:cNvPr id="13" name="Shape 11"/>
          <p:cNvSpPr/>
          <p:nvPr/>
        </p:nvSpPr>
        <p:spPr>
          <a:xfrm>
            <a:off x="777240" y="2697480"/>
            <a:ext cx="420624" cy="420624"/>
          </a:xfrm>
          <a:prstGeom prst="ellipse">
            <a:avLst/>
          </a:prstGeom>
          <a:solidFill>
            <a:srgbClr val="FFC24B"/>
          </a:solidFill>
          <a:ln/>
        </p:spPr>
        <p:txBody>
          <a:bodyPr/>
          <a:p/>
        </p:txBody>
      </p:sp>
      <p:sp>
        <p:nvSpPr>
          <p:cNvPr id="14" name="Text 12"/>
          <p:cNvSpPr/>
          <p:nvPr/>
        </p:nvSpPr>
        <p:spPr>
          <a:xfrm>
            <a:off x="777240" y="2697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5" name="Text 13"/>
          <p:cNvSpPr/>
          <p:nvPr/>
        </p:nvSpPr>
        <p:spPr>
          <a:xfrm>
            <a:off x="1371600" y="2514600"/>
            <a:ext cx="3291840" cy="77724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Pacienții tot mai vârstnici</a:t>
            </a:r>
            <a:endParaRPr lang="en-US" sz="1500" dirty="0"/>
          </a:p>
        </p:txBody>
      </p:sp>
      <p:sp>
        <p:nvSpPr>
          <p:cNvPr id="16" name="Shape 14"/>
          <p:cNvSpPr/>
          <p:nvPr/>
        </p:nvSpPr>
        <p:spPr>
          <a:xfrm>
            <a:off x="5760720" y="2715768"/>
            <a:ext cx="365760" cy="365760"/>
          </a:xfrm>
          <a:prstGeom prst="ellipse">
            <a:avLst/>
          </a:prstGeom>
          <a:solidFill>
            <a:srgbClr val="272A38"/>
          </a:solidFill>
          <a:ln w="19050">
            <a:solidFill>
              <a:srgbClr val="959BB0"/>
            </a:solidFill>
            <a:prstDash val="solid"/>
          </a:ln>
        </p:spPr>
        <p:txBody>
          <a:bodyPr/>
          <a:p/>
        </p:txBody>
      </p:sp>
      <p:sp>
        <p:nvSpPr>
          <p:cNvPr id="17" name="Shape 15"/>
          <p:cNvSpPr/>
          <p:nvPr/>
        </p:nvSpPr>
        <p:spPr>
          <a:xfrm>
            <a:off x="8046720" y="2715768"/>
            <a:ext cx="365760" cy="365760"/>
          </a:xfrm>
          <a:prstGeom prst="ellipse">
            <a:avLst/>
          </a:prstGeom>
          <a:solidFill>
            <a:srgbClr val="272A38"/>
          </a:solidFill>
          <a:ln w="19050">
            <a:solidFill>
              <a:srgbClr val="959BB0"/>
            </a:solidFill>
            <a:prstDash val="solid"/>
          </a:ln>
        </p:spPr>
        <p:txBody>
          <a:bodyPr/>
          <a:p/>
        </p:txBody>
      </p:sp>
      <p:sp>
        <p:nvSpPr>
          <p:cNvPr id="18" name="Shape 16"/>
          <p:cNvSpPr/>
          <p:nvPr/>
        </p:nvSpPr>
        <p:spPr>
          <a:xfrm>
            <a:off x="10332720" y="2715768"/>
            <a:ext cx="365760" cy="365760"/>
          </a:xfrm>
          <a:prstGeom prst="ellipse">
            <a:avLst/>
          </a:prstGeom>
          <a:solidFill>
            <a:srgbClr val="272A38"/>
          </a:solidFill>
          <a:ln w="19050">
            <a:solidFill>
              <a:srgbClr val="959BB0"/>
            </a:solidFill>
            <a:prstDash val="solid"/>
          </a:ln>
        </p:spPr>
        <p:txBody>
          <a:bodyPr/>
          <a:p/>
        </p:txBody>
      </p:sp>
      <p:sp>
        <p:nvSpPr>
          <p:cNvPr id="19" name="Shape 17"/>
          <p:cNvSpPr/>
          <p:nvPr/>
        </p:nvSpPr>
        <p:spPr>
          <a:xfrm>
            <a:off x="594360" y="3429000"/>
            <a:ext cx="4160520" cy="777240"/>
          </a:xfrm>
          <a:prstGeom prst="roundRect">
            <a:avLst>
              <a:gd name="adj" fmla="val 10588"/>
            </a:avLst>
          </a:prstGeom>
          <a:solidFill>
            <a:srgbClr val="1D1F2B"/>
          </a:solidFill>
          <a:ln w="12700">
            <a:solidFill>
              <a:srgbClr val="1D1F2B"/>
            </a:solidFill>
            <a:prstDash val="solid"/>
          </a:ln>
        </p:spPr>
        <p:txBody>
          <a:bodyPr/>
          <a:p/>
        </p:txBody>
      </p:sp>
      <p:sp>
        <p:nvSpPr>
          <p:cNvPr id="20" name="Shape 18"/>
          <p:cNvSpPr/>
          <p:nvPr/>
        </p:nvSpPr>
        <p:spPr>
          <a:xfrm>
            <a:off x="777240" y="3611880"/>
            <a:ext cx="420624" cy="420624"/>
          </a:xfrm>
          <a:prstGeom prst="ellipse">
            <a:avLst/>
          </a:prstGeom>
          <a:solidFill>
            <a:srgbClr val="FFC24B"/>
          </a:solidFill>
          <a:ln/>
        </p:spPr>
        <p:txBody>
          <a:bodyPr/>
          <a:p/>
        </p:txBody>
      </p:sp>
      <p:sp>
        <p:nvSpPr>
          <p:cNvPr id="21" name="Text 19"/>
          <p:cNvSpPr/>
          <p:nvPr/>
        </p:nvSpPr>
        <p:spPr>
          <a:xfrm>
            <a:off x="777240" y="36118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22" name="Text 20"/>
          <p:cNvSpPr/>
          <p:nvPr/>
        </p:nvSpPr>
        <p:spPr>
          <a:xfrm>
            <a:off x="1371600" y="3429000"/>
            <a:ext cx="3291840" cy="77724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Medicii care pleacă</a:t>
            </a:r>
            <a:endParaRPr lang="en-US" sz="1500" dirty="0"/>
          </a:p>
        </p:txBody>
      </p:sp>
      <p:sp>
        <p:nvSpPr>
          <p:cNvPr id="23" name="Shape 21"/>
          <p:cNvSpPr/>
          <p:nvPr/>
        </p:nvSpPr>
        <p:spPr>
          <a:xfrm>
            <a:off x="5760720" y="3630168"/>
            <a:ext cx="365760" cy="365760"/>
          </a:xfrm>
          <a:prstGeom prst="ellipse">
            <a:avLst/>
          </a:prstGeom>
          <a:solidFill>
            <a:srgbClr val="272A38"/>
          </a:solidFill>
          <a:ln w="19050">
            <a:solidFill>
              <a:srgbClr val="959BB0"/>
            </a:solidFill>
            <a:prstDash val="solid"/>
          </a:ln>
        </p:spPr>
        <p:txBody>
          <a:bodyPr/>
          <a:p/>
        </p:txBody>
      </p:sp>
      <p:sp>
        <p:nvSpPr>
          <p:cNvPr id="24" name="Shape 22"/>
          <p:cNvSpPr/>
          <p:nvPr/>
        </p:nvSpPr>
        <p:spPr>
          <a:xfrm>
            <a:off x="8046720" y="3630168"/>
            <a:ext cx="365760" cy="365760"/>
          </a:xfrm>
          <a:prstGeom prst="ellipse">
            <a:avLst/>
          </a:prstGeom>
          <a:solidFill>
            <a:srgbClr val="272A38"/>
          </a:solidFill>
          <a:ln w="19050">
            <a:solidFill>
              <a:srgbClr val="959BB0"/>
            </a:solidFill>
            <a:prstDash val="solid"/>
          </a:ln>
        </p:spPr>
        <p:txBody>
          <a:bodyPr/>
          <a:p/>
        </p:txBody>
      </p:sp>
      <p:sp>
        <p:nvSpPr>
          <p:cNvPr id="25" name="Shape 23"/>
          <p:cNvSpPr/>
          <p:nvPr/>
        </p:nvSpPr>
        <p:spPr>
          <a:xfrm>
            <a:off x="10332720" y="3630168"/>
            <a:ext cx="365760" cy="365760"/>
          </a:xfrm>
          <a:prstGeom prst="ellipse">
            <a:avLst/>
          </a:prstGeom>
          <a:solidFill>
            <a:srgbClr val="272A38"/>
          </a:solidFill>
          <a:ln w="19050">
            <a:solidFill>
              <a:srgbClr val="959BB0"/>
            </a:solidFill>
            <a:prstDash val="solid"/>
          </a:ln>
        </p:spPr>
        <p:txBody>
          <a:bodyPr/>
          <a:p/>
        </p:txBody>
      </p:sp>
      <p:sp>
        <p:nvSpPr>
          <p:cNvPr id="26" name="Shape 24"/>
          <p:cNvSpPr/>
          <p:nvPr/>
        </p:nvSpPr>
        <p:spPr>
          <a:xfrm>
            <a:off x="594360" y="4343400"/>
            <a:ext cx="4160520" cy="777240"/>
          </a:xfrm>
          <a:prstGeom prst="roundRect">
            <a:avLst>
              <a:gd name="adj" fmla="val 10588"/>
            </a:avLst>
          </a:prstGeom>
          <a:solidFill>
            <a:srgbClr val="1D1F2B"/>
          </a:solidFill>
          <a:ln w="12700">
            <a:solidFill>
              <a:srgbClr val="1D1F2B"/>
            </a:solidFill>
            <a:prstDash val="solid"/>
          </a:ln>
        </p:spPr>
        <p:txBody>
          <a:bodyPr/>
          <a:p/>
        </p:txBody>
      </p:sp>
      <p:sp>
        <p:nvSpPr>
          <p:cNvPr id="27" name="Shape 25"/>
          <p:cNvSpPr/>
          <p:nvPr/>
        </p:nvSpPr>
        <p:spPr>
          <a:xfrm>
            <a:off x="777240" y="4526280"/>
            <a:ext cx="420624" cy="420624"/>
          </a:xfrm>
          <a:prstGeom prst="ellipse">
            <a:avLst/>
          </a:prstGeom>
          <a:solidFill>
            <a:srgbClr val="FFC24B"/>
          </a:solidFill>
          <a:ln/>
        </p:spPr>
        <p:txBody>
          <a:bodyPr/>
          <a:p/>
        </p:txBody>
      </p:sp>
      <p:sp>
        <p:nvSpPr>
          <p:cNvPr id="28" name="Text 26"/>
          <p:cNvSpPr/>
          <p:nvPr/>
        </p:nvSpPr>
        <p:spPr>
          <a:xfrm>
            <a:off x="777240" y="45262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29" name="Text 27"/>
          <p:cNvSpPr/>
          <p:nvPr/>
        </p:nvSpPr>
        <p:spPr>
          <a:xfrm>
            <a:off x="1371600" y="4343400"/>
            <a:ext cx="3291840" cy="77724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Pacienții care renunță la consultații din cauza drumului</a:t>
            </a:r>
            <a:endParaRPr lang="en-US" sz="1500" dirty="0"/>
          </a:p>
        </p:txBody>
      </p:sp>
      <p:sp>
        <p:nvSpPr>
          <p:cNvPr id="30" name="Shape 28"/>
          <p:cNvSpPr/>
          <p:nvPr/>
        </p:nvSpPr>
        <p:spPr>
          <a:xfrm>
            <a:off x="5760720" y="4544568"/>
            <a:ext cx="365760" cy="365760"/>
          </a:xfrm>
          <a:prstGeom prst="ellipse">
            <a:avLst/>
          </a:prstGeom>
          <a:solidFill>
            <a:srgbClr val="272A38"/>
          </a:solidFill>
          <a:ln w="19050">
            <a:solidFill>
              <a:srgbClr val="959BB0"/>
            </a:solidFill>
            <a:prstDash val="solid"/>
          </a:ln>
        </p:spPr>
        <p:txBody>
          <a:bodyPr/>
          <a:p/>
        </p:txBody>
      </p:sp>
      <p:sp>
        <p:nvSpPr>
          <p:cNvPr id="31" name="Shape 29"/>
          <p:cNvSpPr/>
          <p:nvPr/>
        </p:nvSpPr>
        <p:spPr>
          <a:xfrm>
            <a:off x="8046720" y="4544568"/>
            <a:ext cx="365760" cy="365760"/>
          </a:xfrm>
          <a:prstGeom prst="ellipse">
            <a:avLst/>
          </a:prstGeom>
          <a:solidFill>
            <a:srgbClr val="272A38"/>
          </a:solidFill>
          <a:ln w="19050">
            <a:solidFill>
              <a:srgbClr val="959BB0"/>
            </a:solidFill>
            <a:prstDash val="solid"/>
          </a:ln>
        </p:spPr>
        <p:txBody>
          <a:bodyPr/>
          <a:p/>
        </p:txBody>
      </p:sp>
      <p:sp>
        <p:nvSpPr>
          <p:cNvPr id="32" name="Shape 30"/>
          <p:cNvSpPr/>
          <p:nvPr/>
        </p:nvSpPr>
        <p:spPr>
          <a:xfrm>
            <a:off x="10332720" y="4544568"/>
            <a:ext cx="365760" cy="365760"/>
          </a:xfrm>
          <a:prstGeom prst="ellipse">
            <a:avLst/>
          </a:prstGeom>
          <a:solidFill>
            <a:srgbClr val="272A38"/>
          </a:solidFill>
          <a:ln w="19050">
            <a:solidFill>
              <a:srgbClr val="959BB0"/>
            </a:solidFill>
            <a:prstDash val="solid"/>
          </a:ln>
        </p:spPr>
        <p:txBody>
          <a:bodyPr/>
          <a:p/>
        </p:txBody>
      </p:sp>
      <p:sp>
        <p:nvSpPr>
          <p:cNvPr id="33" name="Text 31"/>
          <p:cNvSpPr/>
          <p:nvPr/>
        </p:nvSpPr>
        <p:spPr>
          <a:xfrm>
            <a:off x="594360" y="5349240"/>
            <a:ext cx="10972800" cy="36576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Trei voturi, unul după altul; rezultatele apar alăturate.</a:t>
            </a:r>
            <a:endParaRPr lang="en-US" sz="1700" dirty="0"/>
          </a:p>
        </p:txBody>
      </p:sp>
      <p:sp>
        <p:nvSpPr>
          <p:cNvPr id="34" name="Text 32"/>
          <p:cNvSpPr/>
          <p:nvPr/>
        </p:nvSpPr>
        <p:spPr>
          <a:xfrm>
            <a:off x="594360" y="5806440"/>
            <a:ext cx="10972800" cy="3657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ȘASE PAȘI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De la semnal la problemă strategică</a:t>
            </a:r>
            <a:endParaRPr lang="en-US" sz="3200" dirty="0"/>
          </a:p>
        </p:txBody>
      </p:sp>
      <p:sp>
        <p:nvSpPr>
          <p:cNvPr id="4" name="Shape 2"/>
          <p:cNvSpPr/>
          <p:nvPr/>
        </p:nvSpPr>
        <p:spPr>
          <a:xfrm>
            <a:off x="594360" y="4480560"/>
            <a:ext cx="1737360" cy="1371600"/>
          </a:xfrm>
          <a:prstGeom prst="roundRect">
            <a:avLst>
              <a:gd name="adj" fmla="val 6000"/>
            </a:avLst>
          </a:prstGeom>
          <a:solidFill>
            <a:srgbClr val="FF4757"/>
          </a:solidFill>
          <a:ln w="12700">
            <a:solidFill>
              <a:srgbClr val="FF4757"/>
            </a:solidFill>
            <a:prstDash val="solid"/>
          </a:ln>
        </p:spPr>
        <p:txBody>
          <a:bodyPr/>
          <a:p/>
        </p:txBody>
      </p:sp>
      <p:sp>
        <p:nvSpPr>
          <p:cNvPr id="5" name="Shape 3"/>
          <p:cNvSpPr/>
          <p:nvPr/>
        </p:nvSpPr>
        <p:spPr>
          <a:xfrm>
            <a:off x="731520" y="4617720"/>
            <a:ext cx="384048" cy="384048"/>
          </a:xfrm>
          <a:prstGeom prst="ellipse">
            <a:avLst/>
          </a:prstGeom>
          <a:solidFill>
            <a:srgbClr val="2E060B"/>
          </a:solidFill>
          <a:ln/>
        </p:spPr>
        <p:txBody>
          <a:bodyPr/>
          <a:p/>
        </p:txBody>
      </p:sp>
      <p:sp>
        <p:nvSpPr>
          <p:cNvPr id="6" name="Text 4"/>
          <p:cNvSpPr/>
          <p:nvPr/>
        </p:nvSpPr>
        <p:spPr>
          <a:xfrm>
            <a:off x="731520" y="4617720"/>
            <a:ext cx="384048" cy="384048"/>
          </a:xfrm>
          <a:prstGeom prst="rect">
            <a:avLst/>
          </a:prstGeom>
          <a:noFill/>
          <a:ln/>
        </p:spPr>
        <p:txBody>
          <a:bodyPr wrap="square" lIns="0" tIns="0" rIns="0" bIns="0" rtlCol="0" anchor="ctr"/>
          <a:lstStyle/>
          <a:p>
            <a:pPr algn="ctr" indent="0" marL="0">
              <a:buNone/>
            </a:pPr>
            <a:r>
              <a:rPr lang="en-US" sz="1400" b="1" dirty="0">
                <a:solidFill>
                  <a:srgbClr val="FF4757"/>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731520" y="5074920"/>
            <a:ext cx="1463040" cy="731520"/>
          </a:xfrm>
          <a:prstGeom prst="rect">
            <a:avLst/>
          </a:prstGeom>
          <a:noFill/>
          <a:ln/>
        </p:spPr>
        <p:txBody>
          <a:bodyPr wrap="square" lIns="0" tIns="0" rIns="0" bIns="0" rtlCol="0" anchor="t"/>
          <a:lstStyle/>
          <a:p>
            <a:pPr indent="0" marL="0">
              <a:buNone/>
            </a:pPr>
            <a:r>
              <a:rPr lang="en-US" sz="1450" b="1" dirty="0">
                <a:solidFill>
                  <a:srgbClr val="2E060B"/>
                </a:solidFill>
                <a:latin typeface="Palatino Linotype" pitchFamily="34" charset="0"/>
                <a:ea typeface="Palatino Linotype" pitchFamily="34" charset="-122"/>
                <a:cs typeface="Palatino Linotype" pitchFamily="34" charset="-120"/>
              </a:rPr>
              <a:t>Organizarea</a:t>
            </a:r>
            <a:endParaRPr lang="en-US" sz="1450" dirty="0"/>
          </a:p>
        </p:txBody>
      </p:sp>
      <p:sp>
        <p:nvSpPr>
          <p:cNvPr id="8" name="Shape 6"/>
          <p:cNvSpPr/>
          <p:nvPr/>
        </p:nvSpPr>
        <p:spPr>
          <a:xfrm>
            <a:off x="2441448" y="4096512"/>
            <a:ext cx="1737360" cy="1755648"/>
          </a:xfrm>
          <a:prstGeom prst="roundRect">
            <a:avLst>
              <a:gd name="adj" fmla="val 4737"/>
            </a:avLst>
          </a:prstGeom>
          <a:solidFill>
            <a:srgbClr val="FFC24B"/>
          </a:solidFill>
          <a:ln w="12700">
            <a:solidFill>
              <a:srgbClr val="FFC24B"/>
            </a:solidFill>
            <a:prstDash val="solid"/>
          </a:ln>
        </p:spPr>
        <p:txBody>
          <a:bodyPr/>
          <a:p/>
        </p:txBody>
      </p:sp>
      <p:sp>
        <p:nvSpPr>
          <p:cNvPr id="9" name="Shape 7"/>
          <p:cNvSpPr/>
          <p:nvPr/>
        </p:nvSpPr>
        <p:spPr>
          <a:xfrm>
            <a:off x="2578608" y="4233672"/>
            <a:ext cx="384048" cy="384048"/>
          </a:xfrm>
          <a:prstGeom prst="ellipse">
            <a:avLst/>
          </a:prstGeom>
          <a:solidFill>
            <a:srgbClr val="3D2A00"/>
          </a:solidFill>
          <a:ln/>
        </p:spPr>
        <p:txBody>
          <a:bodyPr/>
          <a:p/>
        </p:txBody>
      </p:sp>
      <p:sp>
        <p:nvSpPr>
          <p:cNvPr id="10" name="Text 8"/>
          <p:cNvSpPr/>
          <p:nvPr/>
        </p:nvSpPr>
        <p:spPr>
          <a:xfrm>
            <a:off x="2578608" y="4233672"/>
            <a:ext cx="384048" cy="384048"/>
          </a:xfrm>
          <a:prstGeom prst="rect">
            <a:avLst/>
          </a:prstGeom>
          <a:noFill/>
          <a:ln/>
        </p:spPr>
        <p:txBody>
          <a:bodyPr wrap="square" lIns="0" tIns="0" rIns="0" bIns="0" rtlCol="0" anchor="ctr"/>
          <a:lstStyle/>
          <a:p>
            <a:pPr algn="ctr" indent="0" marL="0">
              <a:buNone/>
            </a:pPr>
            <a:r>
              <a:rPr lang="en-US" sz="1400" b="1" dirty="0">
                <a:solidFill>
                  <a:srgbClr val="FFC24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2578608" y="4690872"/>
            <a:ext cx="1463040" cy="1115568"/>
          </a:xfrm>
          <a:prstGeom prst="rect">
            <a:avLst/>
          </a:prstGeom>
          <a:noFill/>
          <a:ln/>
        </p:spPr>
        <p:txBody>
          <a:bodyPr wrap="square" lIns="0" tIns="0" rIns="0" bIns="0" rtlCol="0" anchor="t"/>
          <a:lstStyle/>
          <a:p>
            <a:pPr indent="0" marL="0">
              <a:buNone/>
            </a:pPr>
            <a:r>
              <a:rPr lang="en-US" sz="1450" b="1" dirty="0">
                <a:solidFill>
                  <a:srgbClr val="3D2A00"/>
                </a:solidFill>
                <a:latin typeface="Palatino Linotype" pitchFamily="34" charset="0"/>
                <a:ea typeface="Palatino Linotype" pitchFamily="34" charset="-122"/>
                <a:cs typeface="Palatino Linotype" pitchFamily="34" charset="-120"/>
              </a:rPr>
              <a:t>Privirea în jur</a:t>
            </a:r>
            <a:endParaRPr lang="en-US" sz="1450" dirty="0"/>
          </a:p>
        </p:txBody>
      </p:sp>
      <p:sp>
        <p:nvSpPr>
          <p:cNvPr id="12" name="Text 10"/>
          <p:cNvSpPr/>
          <p:nvPr/>
        </p:nvSpPr>
        <p:spPr>
          <a:xfrm>
            <a:off x="2578608" y="5440680"/>
            <a:ext cx="1463040" cy="320040"/>
          </a:xfrm>
          <a:prstGeom prst="rect">
            <a:avLst/>
          </a:prstGeom>
          <a:noFill/>
          <a:ln/>
        </p:spPr>
        <p:txBody>
          <a:bodyPr wrap="square" lIns="0" tIns="0" rIns="0" bIns="0" rtlCol="0" anchor="t"/>
          <a:lstStyle/>
          <a:p>
            <a:pPr indent="0" marL="0">
              <a:buNone/>
            </a:pPr>
            <a:r>
              <a:rPr lang="en-US" sz="1150" i="1" dirty="0">
                <a:solidFill>
                  <a:srgbClr val="3D2A00"/>
                </a:solidFill>
                <a:latin typeface="Palatino Linotype" pitchFamily="34" charset="0"/>
                <a:ea typeface="Palatino Linotype" pitchFamily="34" charset="-122"/>
                <a:cs typeface="Palatino Linotype" pitchFamily="34" charset="-120"/>
              </a:rPr>
              <a:t>(scanarea)</a:t>
            </a:r>
            <a:endParaRPr lang="en-US" sz="1150" dirty="0"/>
          </a:p>
        </p:txBody>
      </p:sp>
      <p:sp>
        <p:nvSpPr>
          <p:cNvPr id="13" name="Shape 11"/>
          <p:cNvSpPr/>
          <p:nvPr/>
        </p:nvSpPr>
        <p:spPr>
          <a:xfrm>
            <a:off x="4288536" y="3712464"/>
            <a:ext cx="1737360" cy="2139696"/>
          </a:xfrm>
          <a:prstGeom prst="roundRect">
            <a:avLst>
              <a:gd name="adj" fmla="val 4737"/>
            </a:avLst>
          </a:prstGeom>
          <a:solidFill>
            <a:srgbClr val="27D3BE"/>
          </a:solidFill>
          <a:ln w="12700">
            <a:solidFill>
              <a:srgbClr val="27D3BE"/>
            </a:solidFill>
            <a:prstDash val="solid"/>
          </a:ln>
        </p:spPr>
        <p:txBody>
          <a:bodyPr/>
          <a:p/>
        </p:txBody>
      </p:sp>
      <p:sp>
        <p:nvSpPr>
          <p:cNvPr id="14" name="Shape 12"/>
          <p:cNvSpPr/>
          <p:nvPr/>
        </p:nvSpPr>
        <p:spPr>
          <a:xfrm>
            <a:off x="4425696" y="3849624"/>
            <a:ext cx="384048" cy="384048"/>
          </a:xfrm>
          <a:prstGeom prst="ellipse">
            <a:avLst/>
          </a:prstGeom>
          <a:solidFill>
            <a:srgbClr val="073B34"/>
          </a:solidFill>
          <a:ln/>
        </p:spPr>
        <p:txBody>
          <a:bodyPr/>
          <a:p/>
        </p:txBody>
      </p:sp>
      <p:sp>
        <p:nvSpPr>
          <p:cNvPr id="15" name="Text 13"/>
          <p:cNvSpPr/>
          <p:nvPr/>
        </p:nvSpPr>
        <p:spPr>
          <a:xfrm>
            <a:off x="4425696" y="3849624"/>
            <a:ext cx="384048" cy="384048"/>
          </a:xfrm>
          <a:prstGeom prst="rect">
            <a:avLst/>
          </a:prstGeom>
          <a:noFill/>
          <a:ln/>
        </p:spPr>
        <p:txBody>
          <a:bodyPr wrap="square" lIns="0" tIns="0" rIns="0" bIns="0" rtlCol="0" anchor="ctr"/>
          <a:lstStyle/>
          <a:p>
            <a:pPr algn="ctr" indent="0" marL="0">
              <a:buNone/>
            </a:pPr>
            <a:r>
              <a:rPr lang="en-US" sz="1400" b="1" dirty="0">
                <a:solidFill>
                  <a:srgbClr val="27D3BE"/>
                </a:solidFill>
                <a:latin typeface="Palatino Linotype" pitchFamily="34" charset="0"/>
                <a:ea typeface="Palatino Linotype" pitchFamily="34" charset="-122"/>
                <a:cs typeface="Palatino Linotype" pitchFamily="34" charset="-120"/>
              </a:rPr>
              <a:t>3</a:t>
            </a:r>
            <a:endParaRPr lang="en-US" sz="1400" dirty="0"/>
          </a:p>
        </p:txBody>
      </p:sp>
      <p:sp>
        <p:nvSpPr>
          <p:cNvPr id="16" name="Text 14"/>
          <p:cNvSpPr/>
          <p:nvPr/>
        </p:nvSpPr>
        <p:spPr>
          <a:xfrm>
            <a:off x="4425696" y="4306824"/>
            <a:ext cx="1463040" cy="1499616"/>
          </a:xfrm>
          <a:prstGeom prst="rect">
            <a:avLst/>
          </a:prstGeom>
          <a:noFill/>
          <a:ln/>
        </p:spPr>
        <p:txBody>
          <a:bodyPr wrap="square" lIns="0" tIns="0" rIns="0" bIns="0" rtlCol="0" anchor="t"/>
          <a:lstStyle/>
          <a:p>
            <a:pPr indent="0" marL="0">
              <a:buNone/>
            </a:pPr>
            <a:r>
              <a:rPr lang="en-US" sz="1450" b="1" dirty="0">
                <a:solidFill>
                  <a:srgbClr val="073B34"/>
                </a:solidFill>
                <a:latin typeface="Palatino Linotype" pitchFamily="34" charset="0"/>
                <a:ea typeface="Palatino Linotype" pitchFamily="34" charset="-122"/>
                <a:cs typeface="Palatino Linotype" pitchFamily="34" charset="-120"/>
              </a:rPr>
              <a:t>Urmărirea și confirmarea</a:t>
            </a:r>
            <a:endParaRPr lang="en-US" sz="1450" dirty="0"/>
          </a:p>
        </p:txBody>
      </p:sp>
      <p:sp>
        <p:nvSpPr>
          <p:cNvPr id="17" name="Text 15"/>
          <p:cNvSpPr/>
          <p:nvPr/>
        </p:nvSpPr>
        <p:spPr>
          <a:xfrm>
            <a:off x="4425696" y="5440680"/>
            <a:ext cx="1463040" cy="320040"/>
          </a:xfrm>
          <a:prstGeom prst="rect">
            <a:avLst/>
          </a:prstGeom>
          <a:noFill/>
          <a:ln/>
        </p:spPr>
        <p:txBody>
          <a:bodyPr wrap="square" lIns="0" tIns="0" rIns="0" bIns="0" rtlCol="0" anchor="t"/>
          <a:lstStyle/>
          <a:p>
            <a:pPr indent="0" marL="0">
              <a:buNone/>
            </a:pPr>
            <a:r>
              <a:rPr lang="en-US" sz="1150" i="1" dirty="0">
                <a:solidFill>
                  <a:srgbClr val="073B34"/>
                </a:solidFill>
                <a:latin typeface="Palatino Linotype" pitchFamily="34" charset="0"/>
                <a:ea typeface="Palatino Linotype" pitchFamily="34" charset="-122"/>
                <a:cs typeface="Palatino Linotype" pitchFamily="34" charset="-120"/>
              </a:rPr>
              <a:t>(monitorizarea)</a:t>
            </a:r>
            <a:endParaRPr lang="en-US" sz="1150" dirty="0"/>
          </a:p>
        </p:txBody>
      </p:sp>
      <p:sp>
        <p:nvSpPr>
          <p:cNvPr id="18" name="Shape 16"/>
          <p:cNvSpPr/>
          <p:nvPr/>
        </p:nvSpPr>
        <p:spPr>
          <a:xfrm>
            <a:off x="6135624" y="3328416"/>
            <a:ext cx="1737360" cy="2523744"/>
          </a:xfrm>
          <a:prstGeom prst="roundRect">
            <a:avLst>
              <a:gd name="adj" fmla="val 4737"/>
            </a:avLst>
          </a:prstGeom>
          <a:solidFill>
            <a:srgbClr val="9B7EF7"/>
          </a:solidFill>
          <a:ln w="12700">
            <a:solidFill>
              <a:srgbClr val="9B7EF7"/>
            </a:solidFill>
            <a:prstDash val="solid"/>
          </a:ln>
        </p:spPr>
        <p:txBody>
          <a:bodyPr/>
          <a:p/>
        </p:txBody>
      </p:sp>
      <p:sp>
        <p:nvSpPr>
          <p:cNvPr id="19" name="Shape 17"/>
          <p:cNvSpPr/>
          <p:nvPr/>
        </p:nvSpPr>
        <p:spPr>
          <a:xfrm>
            <a:off x="6272784" y="3465576"/>
            <a:ext cx="384048" cy="384048"/>
          </a:xfrm>
          <a:prstGeom prst="ellipse">
            <a:avLst/>
          </a:prstGeom>
          <a:solidFill>
            <a:srgbClr val="1F1040"/>
          </a:solidFill>
          <a:ln/>
        </p:spPr>
        <p:txBody>
          <a:bodyPr/>
          <a:p/>
        </p:txBody>
      </p:sp>
      <p:sp>
        <p:nvSpPr>
          <p:cNvPr id="20" name="Text 18"/>
          <p:cNvSpPr/>
          <p:nvPr/>
        </p:nvSpPr>
        <p:spPr>
          <a:xfrm>
            <a:off x="6272784" y="3465576"/>
            <a:ext cx="384048" cy="384048"/>
          </a:xfrm>
          <a:prstGeom prst="rect">
            <a:avLst/>
          </a:prstGeom>
          <a:noFill/>
          <a:ln/>
        </p:spPr>
        <p:txBody>
          <a:bodyPr wrap="square" lIns="0" tIns="0" rIns="0" bIns="0" rtlCol="0" anchor="ctr"/>
          <a:lstStyle/>
          <a:p>
            <a:pPr algn="ctr" indent="0" marL="0">
              <a:buNone/>
            </a:pPr>
            <a:r>
              <a:rPr lang="en-US" sz="1400" b="1" dirty="0">
                <a:solidFill>
                  <a:srgbClr val="9B7EF7"/>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6272784" y="3922776"/>
            <a:ext cx="1463040" cy="1883664"/>
          </a:xfrm>
          <a:prstGeom prst="rect">
            <a:avLst/>
          </a:prstGeom>
          <a:noFill/>
          <a:ln/>
        </p:spPr>
        <p:txBody>
          <a:bodyPr wrap="square" lIns="0" tIns="0" rIns="0" bIns="0" rtlCol="0" anchor="t"/>
          <a:lstStyle/>
          <a:p>
            <a:pPr indent="0" marL="0">
              <a:buNone/>
            </a:pPr>
            <a:r>
              <a:rPr lang="en-US" sz="1450" b="1" dirty="0">
                <a:solidFill>
                  <a:srgbClr val="1F1040"/>
                </a:solidFill>
                <a:latin typeface="Palatino Linotype" pitchFamily="34" charset="0"/>
                <a:ea typeface="Palatino Linotype" pitchFamily="34" charset="-122"/>
                <a:cs typeface="Palatino Linotype" pitchFamily="34" charset="-120"/>
              </a:rPr>
              <a:t>Prognoza</a:t>
            </a:r>
            <a:endParaRPr lang="en-US" sz="1450" dirty="0"/>
          </a:p>
        </p:txBody>
      </p:sp>
      <p:sp>
        <p:nvSpPr>
          <p:cNvPr id="22" name="Shape 20"/>
          <p:cNvSpPr/>
          <p:nvPr/>
        </p:nvSpPr>
        <p:spPr>
          <a:xfrm>
            <a:off x="7982712" y="2944368"/>
            <a:ext cx="1737360" cy="2907792"/>
          </a:xfrm>
          <a:prstGeom prst="roundRect">
            <a:avLst>
              <a:gd name="adj" fmla="val 4737"/>
            </a:avLst>
          </a:prstGeom>
          <a:solidFill>
            <a:srgbClr val="FF8A3D"/>
          </a:solidFill>
          <a:ln w="12700">
            <a:solidFill>
              <a:srgbClr val="FF8A3D"/>
            </a:solidFill>
            <a:prstDash val="solid"/>
          </a:ln>
        </p:spPr>
        <p:txBody>
          <a:bodyPr/>
          <a:p/>
        </p:txBody>
      </p:sp>
      <p:sp>
        <p:nvSpPr>
          <p:cNvPr id="23" name="Shape 21"/>
          <p:cNvSpPr/>
          <p:nvPr/>
        </p:nvSpPr>
        <p:spPr>
          <a:xfrm>
            <a:off x="8119872" y="3081528"/>
            <a:ext cx="384048" cy="384048"/>
          </a:xfrm>
          <a:prstGeom prst="ellipse">
            <a:avLst/>
          </a:prstGeom>
          <a:solidFill>
            <a:srgbClr val="11121A"/>
          </a:solidFill>
          <a:ln/>
        </p:spPr>
        <p:txBody>
          <a:bodyPr/>
          <a:p/>
        </p:txBody>
      </p:sp>
      <p:sp>
        <p:nvSpPr>
          <p:cNvPr id="24" name="Text 22"/>
          <p:cNvSpPr/>
          <p:nvPr/>
        </p:nvSpPr>
        <p:spPr>
          <a:xfrm>
            <a:off x="8119872" y="3081528"/>
            <a:ext cx="384048" cy="384048"/>
          </a:xfrm>
          <a:prstGeom prst="rect">
            <a:avLst/>
          </a:prstGeom>
          <a:noFill/>
          <a:ln/>
        </p:spPr>
        <p:txBody>
          <a:bodyPr wrap="square" lIns="0" tIns="0" rIns="0" bIns="0" rtlCol="0" anchor="ctr"/>
          <a:lstStyle/>
          <a:p>
            <a:pPr algn="ctr" indent="0" marL="0">
              <a:buNone/>
            </a:pPr>
            <a:r>
              <a:rPr lang="en-US" sz="1400" b="1" dirty="0">
                <a:solidFill>
                  <a:srgbClr val="FF8A3D"/>
                </a:solidFill>
                <a:latin typeface="Palatino Linotype" pitchFamily="34" charset="0"/>
                <a:ea typeface="Palatino Linotype" pitchFamily="34" charset="-122"/>
                <a:cs typeface="Palatino Linotype" pitchFamily="34" charset="-120"/>
              </a:rPr>
              <a:t>5</a:t>
            </a:r>
            <a:endParaRPr lang="en-US" sz="1400" dirty="0"/>
          </a:p>
        </p:txBody>
      </p:sp>
      <p:sp>
        <p:nvSpPr>
          <p:cNvPr id="25" name="Text 23"/>
          <p:cNvSpPr/>
          <p:nvPr/>
        </p:nvSpPr>
        <p:spPr>
          <a:xfrm>
            <a:off x="8119872" y="3538728"/>
            <a:ext cx="1463040" cy="2267712"/>
          </a:xfrm>
          <a:prstGeom prst="rect">
            <a:avLst/>
          </a:prstGeom>
          <a:noFill/>
          <a:ln/>
        </p:spPr>
        <p:txBody>
          <a:bodyPr wrap="square" lIns="0" tIns="0" rIns="0" bIns="0" rtlCol="0" anchor="t"/>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Evaluarea</a:t>
            </a:r>
            <a:endParaRPr lang="en-US" sz="1450" dirty="0"/>
          </a:p>
        </p:txBody>
      </p:sp>
      <p:sp>
        <p:nvSpPr>
          <p:cNvPr id="26" name="Shape 24"/>
          <p:cNvSpPr/>
          <p:nvPr/>
        </p:nvSpPr>
        <p:spPr>
          <a:xfrm>
            <a:off x="9829800" y="2560320"/>
            <a:ext cx="1737360" cy="3291840"/>
          </a:xfrm>
          <a:prstGeom prst="roundRect">
            <a:avLst>
              <a:gd name="adj" fmla="val 4737"/>
            </a:avLst>
          </a:prstGeom>
          <a:solidFill>
            <a:srgbClr val="0E7C6B"/>
          </a:solidFill>
          <a:ln w="12700">
            <a:solidFill>
              <a:srgbClr val="0E7C6B"/>
            </a:solidFill>
            <a:prstDash val="solid"/>
          </a:ln>
        </p:spPr>
        <p:txBody>
          <a:bodyPr/>
          <a:p/>
        </p:txBody>
      </p:sp>
      <p:sp>
        <p:nvSpPr>
          <p:cNvPr id="27" name="Shape 25"/>
          <p:cNvSpPr/>
          <p:nvPr/>
        </p:nvSpPr>
        <p:spPr>
          <a:xfrm>
            <a:off x="9966960" y="2697480"/>
            <a:ext cx="384048" cy="384048"/>
          </a:xfrm>
          <a:prstGeom prst="ellipse">
            <a:avLst/>
          </a:prstGeom>
          <a:solidFill>
            <a:srgbClr val="FFFFFF"/>
          </a:solidFill>
          <a:ln/>
        </p:spPr>
        <p:txBody>
          <a:bodyPr/>
          <a:p/>
        </p:txBody>
      </p:sp>
      <p:sp>
        <p:nvSpPr>
          <p:cNvPr id="28" name="Text 26"/>
          <p:cNvSpPr/>
          <p:nvPr/>
        </p:nvSpPr>
        <p:spPr>
          <a:xfrm>
            <a:off x="9966960" y="2697480"/>
            <a:ext cx="384048" cy="384048"/>
          </a:xfrm>
          <a:prstGeom prst="rect">
            <a:avLst/>
          </a:prstGeom>
          <a:noFill/>
          <a:ln/>
        </p:spPr>
        <p:txBody>
          <a:bodyPr wrap="square" lIns="0" tIns="0" rIns="0" bIns="0" rtlCol="0" anchor="ctr"/>
          <a:lstStyle/>
          <a:p>
            <a:pPr algn="ctr" indent="0" marL="0">
              <a:buNone/>
            </a:pPr>
            <a:r>
              <a:rPr lang="en-US" sz="1400" b="1" dirty="0">
                <a:solidFill>
                  <a:srgbClr val="0E7C6B"/>
                </a:solidFill>
                <a:latin typeface="Palatino Linotype" pitchFamily="34" charset="0"/>
                <a:ea typeface="Palatino Linotype" pitchFamily="34" charset="-122"/>
                <a:cs typeface="Palatino Linotype" pitchFamily="34" charset="-120"/>
              </a:rPr>
              <a:t>6</a:t>
            </a:r>
            <a:endParaRPr lang="en-US" sz="1400" dirty="0"/>
          </a:p>
        </p:txBody>
      </p:sp>
      <p:sp>
        <p:nvSpPr>
          <p:cNvPr id="29" name="Text 27"/>
          <p:cNvSpPr/>
          <p:nvPr/>
        </p:nvSpPr>
        <p:spPr>
          <a:xfrm>
            <a:off x="9966960" y="3154680"/>
            <a:ext cx="1463040" cy="2651760"/>
          </a:xfrm>
          <a:prstGeom prst="rect">
            <a:avLst/>
          </a:prstGeom>
          <a:noFill/>
          <a:ln/>
        </p:spPr>
        <p:txBody>
          <a:bodyPr wrap="square" lIns="0" tIns="0" rIns="0" bIns="0" rtlCol="0" anchor="t"/>
          <a:lstStyle/>
          <a:p>
            <a:pPr indent="0" marL="0">
              <a:buNone/>
            </a:pPr>
            <a:r>
              <a:rPr lang="en-US" sz="1450" b="1" dirty="0">
                <a:solidFill>
                  <a:srgbClr val="FFFFFF"/>
                </a:solidFill>
                <a:latin typeface="Palatino Linotype" pitchFamily="34" charset="0"/>
                <a:ea typeface="Palatino Linotype" pitchFamily="34" charset="-122"/>
                <a:cs typeface="Palatino Linotype" pitchFamily="34" charset="-120"/>
              </a:rPr>
              <a:t>Completarea hărții problemelor</a:t>
            </a:r>
            <a:endParaRPr lang="en-US" sz="1450" dirty="0"/>
          </a:p>
        </p:txBody>
      </p:sp>
      <p:sp>
        <p:nvSpPr>
          <p:cNvPr id="30" name="Text 28"/>
          <p:cNvSpPr/>
          <p:nvPr/>
        </p:nvSpPr>
        <p:spPr>
          <a:xfrm>
            <a:off x="594360" y="1417320"/>
            <a:ext cx="6400800" cy="10058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Analiza pare copleșitoare: semnalele sunt multe și nu au etichete. Împărțită în pași, devine lucrabilă.</a:t>
            </a:r>
            <a:endParaRPr lang="en-US" sz="1700" dirty="0"/>
          </a:p>
        </p:txBody>
      </p:sp>
      <p:sp>
        <p:nvSpPr>
          <p:cNvPr id="31" name="Text 2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 Numele din paranteză apar în manual și la seminar.</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PRIMII DOI PAȘI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Organizarea și privirea în jur</a:t>
            </a:r>
            <a:endParaRPr lang="en-US" sz="3200" dirty="0"/>
          </a:p>
        </p:txBody>
      </p:sp>
      <p:sp>
        <p:nvSpPr>
          <p:cNvPr id="4" name="Shape 2"/>
          <p:cNvSpPr/>
          <p:nvPr/>
        </p:nvSpPr>
        <p:spPr>
          <a:xfrm>
            <a:off x="594360" y="1600200"/>
            <a:ext cx="6675120" cy="1920240"/>
          </a:xfrm>
          <a:prstGeom prst="roundRect">
            <a:avLst>
              <a:gd name="adj" fmla="val 4286"/>
            </a:avLst>
          </a:prstGeom>
          <a:solidFill>
            <a:srgbClr val="ECEAE4"/>
          </a:solidFill>
          <a:ln w="12700">
            <a:solidFill>
              <a:srgbClr val="ECEAE4"/>
            </a:solidFill>
            <a:prstDash val="solid"/>
          </a:ln>
        </p:spPr>
        <p:txBody>
          <a:bodyPr/>
          <a:p/>
        </p:txBody>
      </p:sp>
      <p:sp>
        <p:nvSpPr>
          <p:cNvPr id="5" name="Text 3"/>
          <p:cNvSpPr/>
          <p:nvPr/>
        </p:nvSpPr>
        <p:spPr>
          <a:xfrm>
            <a:off x="868680" y="1600200"/>
            <a:ext cx="6217920" cy="1920240"/>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1 · ORGANIZAREA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Împărțiți mediul pe straturi și schimbările pe categorii; harta rămâne goală. Sfat al cursului: stabiliți cine face analiza și pe ce perioadă.</a:t>
            </a:r>
            <a:endParaRPr lang="en-US" sz="1600" dirty="0"/>
          </a:p>
        </p:txBody>
      </p:sp>
      <p:sp>
        <p:nvSpPr>
          <p:cNvPr id="6" name="Shape 4"/>
          <p:cNvSpPr/>
          <p:nvPr/>
        </p:nvSpPr>
        <p:spPr>
          <a:xfrm>
            <a:off x="594360" y="3703320"/>
            <a:ext cx="6675120" cy="2194560"/>
          </a:xfrm>
          <a:prstGeom prst="roundRect">
            <a:avLst>
              <a:gd name="adj" fmla="val 3750"/>
            </a:avLst>
          </a:prstGeom>
          <a:solidFill>
            <a:srgbClr val="F9F8F5"/>
          </a:solidFill>
          <a:ln w="12700">
            <a:solidFill>
              <a:srgbClr val="F9F8F5"/>
            </a:solidFill>
            <a:prstDash val="solid"/>
          </a:ln>
        </p:spPr>
        <p:txBody>
          <a:bodyPr/>
          <a:p/>
        </p:txBody>
      </p:sp>
      <p:sp>
        <p:nvSpPr>
          <p:cNvPr id="7" name="Text 5"/>
          <p:cNvSpPr/>
          <p:nvPr/>
        </p:nvSpPr>
        <p:spPr>
          <a:xfrm>
            <a:off x="868680" y="3703320"/>
            <a:ext cx="6217920" cy="2194560"/>
          </a:xfrm>
          <a:prstGeom prst="rect">
            <a:avLst/>
          </a:prstGeom>
          <a:noFill/>
          <a:ln/>
        </p:spPr>
        <p:txBody>
          <a:bodyPr wrap="square" lIns="0" tIns="0" rIns="0" bIns="0" rtlCol="0" anchor="ctr"/>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2 · PRIVIREA ÎN JUR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Căutați tendințe în cele trei straturi și notați de unde le-ați aflat. Autorii îl consideră, probabil, cel mai important pas.</a:t>
            </a:r>
            <a:endParaRPr lang="en-US" sz="1600" dirty="0"/>
          </a:p>
        </p:txBody>
      </p:sp>
      <p:sp>
        <p:nvSpPr>
          <p:cNvPr id="8" name="Shape 6"/>
          <p:cNvSpPr/>
          <p:nvPr/>
        </p:nvSpPr>
        <p:spPr>
          <a:xfrm>
            <a:off x="7498080" y="1600200"/>
            <a:ext cx="4069080" cy="4297680"/>
          </a:xfrm>
          <a:prstGeom prst="roundRect">
            <a:avLst>
              <a:gd name="adj" fmla="val 2022"/>
            </a:avLst>
          </a:prstGeom>
          <a:solidFill>
            <a:srgbClr val="1D1F2B"/>
          </a:solidFill>
          <a:ln w="12700">
            <a:solidFill>
              <a:srgbClr val="1D1F2B"/>
            </a:solidFill>
            <a:prstDash val="solid"/>
          </a:ln>
        </p:spPr>
        <p:txBody>
          <a:bodyPr/>
          <a:p/>
        </p:txBody>
      </p:sp>
      <p:sp>
        <p:nvSpPr>
          <p:cNvPr id="9" name="Text 7"/>
          <p:cNvSpPr/>
          <p:nvPr/>
        </p:nvSpPr>
        <p:spPr>
          <a:xfrm>
            <a:off x="7772400" y="1737360"/>
            <a:ext cx="3657600" cy="32004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SURSE PUBLICE</a:t>
            </a:r>
            <a:endParaRPr lang="en-US" sz="1300" dirty="0"/>
          </a:p>
        </p:txBody>
      </p:sp>
      <p:sp>
        <p:nvSpPr>
          <p:cNvPr id="10" name="Text 8"/>
          <p:cNvSpPr/>
          <p:nvPr/>
        </p:nvSpPr>
        <p:spPr>
          <a:xfrm>
            <a:off x="7772400" y="2240280"/>
            <a:ext cx="3657600" cy="365760"/>
          </a:xfrm>
          <a:prstGeom prst="rect">
            <a:avLst/>
          </a:prstGeom>
          <a:noFill/>
          <a:ln/>
        </p:spPr>
        <p:txBody>
          <a:bodyPr wrap="square" lIns="0" tIns="0" rIns="0" bIns="0" rtlCol="0" anchor="t"/>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INS, baza TEMPO</a:t>
            </a:r>
            <a:endParaRPr lang="en-US" sz="1700" dirty="0"/>
          </a:p>
        </p:txBody>
      </p:sp>
      <p:sp>
        <p:nvSpPr>
          <p:cNvPr id="11" name="Text 9"/>
          <p:cNvSpPr/>
          <p:nvPr/>
        </p:nvSpPr>
        <p:spPr>
          <a:xfrm>
            <a:off x="7772400" y="2624328"/>
            <a:ext cx="3657600" cy="64008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spitale pe forme de proprietate</a:t>
            </a:r>
            <a:endParaRPr lang="en-US" sz="1500" dirty="0"/>
          </a:p>
        </p:txBody>
      </p:sp>
      <p:sp>
        <p:nvSpPr>
          <p:cNvPr id="12" name="Text 10"/>
          <p:cNvSpPr/>
          <p:nvPr/>
        </p:nvSpPr>
        <p:spPr>
          <a:xfrm>
            <a:off x="7772400" y="3429000"/>
            <a:ext cx="3657600" cy="365760"/>
          </a:xfrm>
          <a:prstGeom prst="rect">
            <a:avLst/>
          </a:prstGeom>
          <a:noFill/>
          <a:ln/>
        </p:spPr>
        <p:txBody>
          <a:bodyPr wrap="square" lIns="0" tIns="0" rIns="0" bIns="0" rtlCol="0" anchor="t"/>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Eurostat</a:t>
            </a:r>
            <a:endParaRPr lang="en-US" sz="1700" dirty="0"/>
          </a:p>
        </p:txBody>
      </p:sp>
      <p:sp>
        <p:nvSpPr>
          <p:cNvPr id="13" name="Text 11"/>
          <p:cNvSpPr/>
          <p:nvPr/>
        </p:nvSpPr>
        <p:spPr>
          <a:xfrm>
            <a:off x="7772400" y="3813048"/>
            <a:ext cx="3657600" cy="64008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structura populației</a:t>
            </a:r>
            <a:endParaRPr lang="en-US" sz="1500" dirty="0"/>
          </a:p>
        </p:txBody>
      </p:sp>
      <p:sp>
        <p:nvSpPr>
          <p:cNvPr id="14" name="Text 12"/>
          <p:cNvSpPr/>
          <p:nvPr/>
        </p:nvSpPr>
        <p:spPr>
          <a:xfrm>
            <a:off x="7772400" y="4617720"/>
            <a:ext cx="3657600" cy="365760"/>
          </a:xfrm>
          <a:prstGeom prst="rect">
            <a:avLst/>
          </a:prstGeom>
          <a:noFill/>
          <a:ln/>
        </p:spPr>
        <p:txBody>
          <a:bodyPr wrap="square" lIns="0" tIns="0" rIns="0" bIns="0" rtlCol="0" anchor="t"/>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CNAS</a:t>
            </a:r>
            <a:endParaRPr lang="en-US" sz="1700" dirty="0"/>
          </a:p>
        </p:txBody>
      </p:sp>
      <p:sp>
        <p:nvSpPr>
          <p:cNvPr id="15" name="Text 13"/>
          <p:cNvSpPr/>
          <p:nvPr/>
        </p:nvSpPr>
        <p:spPr>
          <a:xfrm>
            <a:off x="7772400" y="5001768"/>
            <a:ext cx="3657600" cy="64008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indicatori de performanță ai spitalelor publice</a:t>
            </a:r>
            <a:endParaRPr lang="en-US" sz="15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 INS TEMPO, Eurostat și CNAS.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URMĂTORII PAȘI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Urmărirea, prognoza, evaluarea, harta</a:t>
            </a:r>
            <a:endParaRPr lang="en-US" sz="3200" dirty="0"/>
          </a:p>
        </p:txBody>
      </p:sp>
      <p:sp>
        <p:nvSpPr>
          <p:cNvPr id="4" name="Shape 2"/>
          <p:cNvSpPr/>
          <p:nvPr/>
        </p:nvSpPr>
        <p:spPr>
          <a:xfrm>
            <a:off x="594360" y="1691640"/>
            <a:ext cx="2651760" cy="3566160"/>
          </a:xfrm>
          <a:prstGeom prst="roundRect">
            <a:avLst>
              <a:gd name="adj" fmla="val 3103"/>
            </a:avLst>
          </a:prstGeom>
          <a:solidFill>
            <a:srgbClr val="ECEAE4"/>
          </a:solidFill>
          <a:ln w="12700">
            <a:solidFill>
              <a:srgbClr val="ECEAE4"/>
            </a:solidFill>
            <a:prstDash val="solid"/>
          </a:ln>
        </p:spPr>
        <p:txBody>
          <a:bodyPr/>
          <a:p/>
        </p:txBody>
      </p:sp>
      <p:sp>
        <p:nvSpPr>
          <p:cNvPr id="5" name="Shape 3"/>
          <p:cNvSpPr/>
          <p:nvPr/>
        </p:nvSpPr>
        <p:spPr>
          <a:xfrm>
            <a:off x="594360" y="1691640"/>
            <a:ext cx="2651760" cy="91440"/>
          </a:xfrm>
          <a:prstGeom prst="rect">
            <a:avLst/>
          </a:prstGeom>
          <a:solidFill>
            <a:srgbClr val="FF4757"/>
          </a:solidFill>
          <a:ln w="12700">
            <a:solidFill>
              <a:srgbClr val="FF4757"/>
            </a:solidFill>
            <a:prstDash val="solid"/>
          </a:ln>
        </p:spPr>
        <p:txBody>
          <a:bodyPr/>
          <a:p/>
        </p:txBody>
      </p:sp>
      <p:sp>
        <p:nvSpPr>
          <p:cNvPr id="6" name="Text 4"/>
          <p:cNvSpPr/>
          <p:nvPr/>
        </p:nvSpPr>
        <p:spPr>
          <a:xfrm>
            <a:off x="822960" y="1965960"/>
            <a:ext cx="2194560" cy="365760"/>
          </a:xfrm>
          <a:prstGeom prst="rect">
            <a:avLst/>
          </a:prstGeom>
          <a:noFill/>
          <a:ln/>
        </p:spPr>
        <p:txBody>
          <a:bodyPr wrap="square" lIns="0" tIns="0" rIns="0" bIns="0" rtlCol="0" anchor="t"/>
          <a:lstStyle/>
          <a:p>
            <a:pPr indent="0" marL="0">
              <a:buNone/>
            </a:pPr>
            <a:r>
              <a:rPr lang="en-US" sz="1400" b="1" spc="100" kern="0" dirty="0">
                <a:solidFill>
                  <a:srgbClr val="11121A"/>
                </a:solidFill>
                <a:latin typeface="Palatino Linotype" pitchFamily="34" charset="0"/>
                <a:ea typeface="Palatino Linotype" pitchFamily="34" charset="-122"/>
                <a:cs typeface="Palatino Linotype" pitchFamily="34" charset="-120"/>
              </a:rPr>
              <a:t>3 · URMĂRIREA</a:t>
            </a:r>
            <a:endParaRPr lang="en-US" sz="1400" dirty="0"/>
          </a:p>
        </p:txBody>
      </p:sp>
      <p:sp>
        <p:nvSpPr>
          <p:cNvPr id="7" name="Text 5"/>
          <p:cNvSpPr/>
          <p:nvPr/>
        </p:nvSpPr>
        <p:spPr>
          <a:xfrm>
            <a:off x="822960" y="2468880"/>
            <a:ext cx="2194560" cy="27432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Adunați date în jurul unei probleme anume; o confirmați sau o infirmați.</a:t>
            </a:r>
            <a:endParaRPr lang="en-US" sz="1800" dirty="0"/>
          </a:p>
        </p:txBody>
      </p:sp>
      <p:sp>
        <p:nvSpPr>
          <p:cNvPr id="8" name="Shape 6"/>
          <p:cNvSpPr/>
          <p:nvPr/>
        </p:nvSpPr>
        <p:spPr>
          <a:xfrm>
            <a:off x="3383280" y="1691640"/>
            <a:ext cx="2651760" cy="3566160"/>
          </a:xfrm>
          <a:prstGeom prst="roundRect">
            <a:avLst>
              <a:gd name="adj" fmla="val 3103"/>
            </a:avLst>
          </a:prstGeom>
          <a:solidFill>
            <a:srgbClr val="F9F8F5"/>
          </a:solidFill>
          <a:ln w="12700">
            <a:solidFill>
              <a:srgbClr val="F9F8F5"/>
            </a:solidFill>
            <a:prstDash val="solid"/>
          </a:ln>
        </p:spPr>
        <p:txBody>
          <a:bodyPr/>
          <a:p/>
        </p:txBody>
      </p:sp>
      <p:sp>
        <p:nvSpPr>
          <p:cNvPr id="9" name="Shape 7"/>
          <p:cNvSpPr/>
          <p:nvPr/>
        </p:nvSpPr>
        <p:spPr>
          <a:xfrm>
            <a:off x="3383280" y="1691640"/>
            <a:ext cx="2651760" cy="91440"/>
          </a:xfrm>
          <a:prstGeom prst="rect">
            <a:avLst/>
          </a:prstGeom>
          <a:solidFill>
            <a:srgbClr val="FFC24B"/>
          </a:solidFill>
          <a:ln w="12700">
            <a:solidFill>
              <a:srgbClr val="FFC24B"/>
            </a:solidFill>
            <a:prstDash val="solid"/>
          </a:ln>
        </p:spPr>
        <p:txBody>
          <a:bodyPr/>
          <a:p/>
        </p:txBody>
      </p:sp>
      <p:sp>
        <p:nvSpPr>
          <p:cNvPr id="10" name="Text 8"/>
          <p:cNvSpPr/>
          <p:nvPr/>
        </p:nvSpPr>
        <p:spPr>
          <a:xfrm>
            <a:off x="3611880" y="1965960"/>
            <a:ext cx="2194560" cy="365760"/>
          </a:xfrm>
          <a:prstGeom prst="rect">
            <a:avLst/>
          </a:prstGeom>
          <a:noFill/>
          <a:ln/>
        </p:spPr>
        <p:txBody>
          <a:bodyPr wrap="square" lIns="0" tIns="0" rIns="0" bIns="0" rtlCol="0" anchor="t"/>
          <a:lstStyle/>
          <a:p>
            <a:pPr indent="0" marL="0">
              <a:buNone/>
            </a:pPr>
            <a:r>
              <a:rPr lang="en-US" sz="1400" b="1" spc="100" kern="0" dirty="0">
                <a:solidFill>
                  <a:srgbClr val="11121A"/>
                </a:solidFill>
                <a:latin typeface="Palatino Linotype" pitchFamily="34" charset="0"/>
                <a:ea typeface="Palatino Linotype" pitchFamily="34" charset="-122"/>
                <a:cs typeface="Palatino Linotype" pitchFamily="34" charset="-120"/>
              </a:rPr>
              <a:t>4 · PROGNOZA</a:t>
            </a:r>
            <a:endParaRPr lang="en-US" sz="1400" dirty="0"/>
          </a:p>
        </p:txBody>
      </p:sp>
      <p:sp>
        <p:nvSpPr>
          <p:cNvPr id="11" name="Text 9"/>
          <p:cNvSpPr/>
          <p:nvPr/>
        </p:nvSpPr>
        <p:spPr>
          <a:xfrm>
            <a:off x="3611880" y="2468880"/>
            <a:ext cx="2194560" cy="27432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Prelungiți tendința și construiți proiecții alternative: un singur viitor „probabil” ascunde incertitudinea.</a:t>
            </a:r>
            <a:endParaRPr lang="en-US" sz="1800" dirty="0"/>
          </a:p>
        </p:txBody>
      </p:sp>
      <p:sp>
        <p:nvSpPr>
          <p:cNvPr id="12" name="Shape 10"/>
          <p:cNvSpPr/>
          <p:nvPr/>
        </p:nvSpPr>
        <p:spPr>
          <a:xfrm>
            <a:off x="6172200" y="1691640"/>
            <a:ext cx="2651760" cy="3566160"/>
          </a:xfrm>
          <a:prstGeom prst="roundRect">
            <a:avLst>
              <a:gd name="adj" fmla="val 3103"/>
            </a:avLst>
          </a:prstGeom>
          <a:solidFill>
            <a:srgbClr val="ECEAE4"/>
          </a:solidFill>
          <a:ln w="12700">
            <a:solidFill>
              <a:srgbClr val="ECEAE4"/>
            </a:solidFill>
            <a:prstDash val="solid"/>
          </a:ln>
        </p:spPr>
        <p:txBody>
          <a:bodyPr/>
          <a:p/>
        </p:txBody>
      </p:sp>
      <p:sp>
        <p:nvSpPr>
          <p:cNvPr id="13" name="Shape 11"/>
          <p:cNvSpPr/>
          <p:nvPr/>
        </p:nvSpPr>
        <p:spPr>
          <a:xfrm>
            <a:off x="6172200" y="1691640"/>
            <a:ext cx="2651760" cy="91440"/>
          </a:xfrm>
          <a:prstGeom prst="rect">
            <a:avLst/>
          </a:prstGeom>
          <a:solidFill>
            <a:srgbClr val="27D3BE"/>
          </a:solidFill>
          <a:ln w="12700">
            <a:solidFill>
              <a:srgbClr val="27D3BE"/>
            </a:solidFill>
            <a:prstDash val="solid"/>
          </a:ln>
        </p:spPr>
        <p:txBody>
          <a:bodyPr/>
          <a:p/>
        </p:txBody>
      </p:sp>
      <p:sp>
        <p:nvSpPr>
          <p:cNvPr id="14" name="Text 12"/>
          <p:cNvSpPr/>
          <p:nvPr/>
        </p:nvSpPr>
        <p:spPr>
          <a:xfrm>
            <a:off x="6400800" y="1965960"/>
            <a:ext cx="2194560" cy="365760"/>
          </a:xfrm>
          <a:prstGeom prst="rect">
            <a:avLst/>
          </a:prstGeom>
          <a:noFill/>
          <a:ln/>
        </p:spPr>
        <p:txBody>
          <a:bodyPr wrap="square" lIns="0" tIns="0" rIns="0" bIns="0" rtlCol="0" anchor="t"/>
          <a:lstStyle/>
          <a:p>
            <a:pPr indent="0" marL="0">
              <a:buNone/>
            </a:pPr>
            <a:r>
              <a:rPr lang="en-US" sz="1400" b="1" spc="100" kern="0" dirty="0">
                <a:solidFill>
                  <a:srgbClr val="11121A"/>
                </a:solidFill>
                <a:latin typeface="Palatino Linotype" pitchFamily="34" charset="0"/>
                <a:ea typeface="Palatino Linotype" pitchFamily="34" charset="-122"/>
                <a:cs typeface="Palatino Linotype" pitchFamily="34" charset="-120"/>
              </a:rPr>
              <a:t>5 · EVALUAREA</a:t>
            </a:r>
            <a:endParaRPr lang="en-US" sz="1400" dirty="0"/>
          </a:p>
        </p:txBody>
      </p:sp>
      <p:sp>
        <p:nvSpPr>
          <p:cNvPr id="15" name="Text 13"/>
          <p:cNvSpPr/>
          <p:nvPr/>
        </p:nvSpPr>
        <p:spPr>
          <a:xfrm>
            <a:off x="6400800" y="2468880"/>
            <a:ext cx="2194560" cy="27432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Hotărâți ce înseamnă fiecare problemă pentru organizație. Contează judecata și creativitatea.</a:t>
            </a:r>
            <a:endParaRPr lang="en-US" sz="1800" dirty="0"/>
          </a:p>
        </p:txBody>
      </p:sp>
      <p:sp>
        <p:nvSpPr>
          <p:cNvPr id="16" name="Shape 14"/>
          <p:cNvSpPr/>
          <p:nvPr/>
        </p:nvSpPr>
        <p:spPr>
          <a:xfrm>
            <a:off x="8961120" y="1691640"/>
            <a:ext cx="2651760" cy="3566160"/>
          </a:xfrm>
          <a:prstGeom prst="roundRect">
            <a:avLst>
              <a:gd name="adj" fmla="val 3103"/>
            </a:avLst>
          </a:prstGeom>
          <a:solidFill>
            <a:srgbClr val="F9F8F5"/>
          </a:solidFill>
          <a:ln w="12700">
            <a:solidFill>
              <a:srgbClr val="F9F8F5"/>
            </a:solidFill>
            <a:prstDash val="solid"/>
          </a:ln>
        </p:spPr>
        <p:txBody>
          <a:bodyPr/>
          <a:p/>
        </p:txBody>
      </p:sp>
      <p:sp>
        <p:nvSpPr>
          <p:cNvPr id="17" name="Shape 15"/>
          <p:cNvSpPr/>
          <p:nvPr/>
        </p:nvSpPr>
        <p:spPr>
          <a:xfrm>
            <a:off x="8961120" y="1691640"/>
            <a:ext cx="2651760" cy="91440"/>
          </a:xfrm>
          <a:prstGeom prst="rect">
            <a:avLst/>
          </a:prstGeom>
          <a:solidFill>
            <a:srgbClr val="9B7EF7"/>
          </a:solidFill>
          <a:ln w="12700">
            <a:solidFill>
              <a:srgbClr val="9B7EF7"/>
            </a:solidFill>
            <a:prstDash val="solid"/>
          </a:ln>
        </p:spPr>
        <p:txBody>
          <a:bodyPr/>
          <a:p/>
        </p:txBody>
      </p:sp>
      <p:sp>
        <p:nvSpPr>
          <p:cNvPr id="18" name="Text 16"/>
          <p:cNvSpPr/>
          <p:nvPr/>
        </p:nvSpPr>
        <p:spPr>
          <a:xfrm>
            <a:off x="9189720" y="1965960"/>
            <a:ext cx="2194560" cy="365760"/>
          </a:xfrm>
          <a:prstGeom prst="rect">
            <a:avLst/>
          </a:prstGeom>
          <a:noFill/>
          <a:ln/>
        </p:spPr>
        <p:txBody>
          <a:bodyPr wrap="square" lIns="0" tIns="0" rIns="0" bIns="0" rtlCol="0" anchor="t"/>
          <a:lstStyle/>
          <a:p>
            <a:pPr indent="0" marL="0">
              <a:buNone/>
            </a:pPr>
            <a:r>
              <a:rPr lang="en-US" sz="1400" b="1" spc="100" kern="0" dirty="0">
                <a:solidFill>
                  <a:srgbClr val="11121A"/>
                </a:solidFill>
                <a:latin typeface="Palatino Linotype" pitchFamily="34" charset="0"/>
                <a:ea typeface="Palatino Linotype" pitchFamily="34" charset="-122"/>
                <a:cs typeface="Palatino Linotype" pitchFamily="34" charset="-120"/>
              </a:rPr>
              <a:t>6 · HARTA</a:t>
            </a:r>
            <a:endParaRPr lang="en-US" sz="1400" dirty="0"/>
          </a:p>
        </p:txBody>
      </p:sp>
      <p:sp>
        <p:nvSpPr>
          <p:cNvPr id="19" name="Text 17"/>
          <p:cNvSpPr/>
          <p:nvPr/>
        </p:nvSpPr>
        <p:spPr>
          <a:xfrm>
            <a:off x="9189720" y="2468880"/>
            <a:ext cx="2194560" cy="27432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Problemele confirmate, prognozate și evaluate se scriu în căsuțele hărții.</a:t>
            </a:r>
            <a:endParaRPr lang="en-US" sz="1800" dirty="0"/>
          </a:p>
        </p:txBody>
      </p:sp>
      <p:sp>
        <p:nvSpPr>
          <p:cNvPr id="20" name="Text 1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EXEMPLU CONSTRUIT · VALORI IPOTETICE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Așteptarea la RMN</a:t>
            </a:r>
            <a:endParaRPr lang="en-US" sz="3400" dirty="0"/>
          </a:p>
        </p:txBody>
      </p:sp>
      <p:sp>
        <p:nvSpPr>
          <p:cNvPr id="4" name="Shape 2"/>
          <p:cNvSpPr/>
          <p:nvPr/>
        </p:nvSpPr>
        <p:spPr>
          <a:xfrm>
            <a:off x="594360" y="1783080"/>
            <a:ext cx="2103120" cy="4023360"/>
          </a:xfrm>
          <a:prstGeom prst="roundRect">
            <a:avLst>
              <a:gd name="adj" fmla="val 3913"/>
            </a:avLst>
          </a:prstGeom>
          <a:solidFill>
            <a:srgbClr val="1D1F2B"/>
          </a:solidFill>
          <a:ln w="12700">
            <a:solidFill>
              <a:srgbClr val="1D1F2B"/>
            </a:solidFill>
            <a:prstDash val="solid"/>
          </a:ln>
        </p:spPr>
        <p:txBody>
          <a:bodyPr/>
          <a:p/>
        </p:txBody>
      </p:sp>
      <p:sp>
        <p:nvSpPr>
          <p:cNvPr id="5" name="Shape 3"/>
          <p:cNvSpPr/>
          <p:nvPr/>
        </p:nvSpPr>
        <p:spPr>
          <a:xfrm>
            <a:off x="777240" y="1920240"/>
            <a:ext cx="457200" cy="457200"/>
          </a:xfrm>
          <a:prstGeom prst="ellipse">
            <a:avLst/>
          </a:prstGeom>
          <a:solidFill>
            <a:srgbClr val="FF4757"/>
          </a:solidFill>
          <a:ln/>
        </p:spPr>
        <p:txBody>
          <a:bodyPr/>
          <a:p/>
        </p:txBody>
      </p:sp>
      <p:sp>
        <p:nvSpPr>
          <p:cNvPr id="6" name="Text 4"/>
          <p:cNvSpPr/>
          <p:nvPr/>
        </p:nvSpPr>
        <p:spPr>
          <a:xfrm>
            <a:off x="777240" y="1920240"/>
            <a:ext cx="457200" cy="457200"/>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7" name="Text 5"/>
          <p:cNvSpPr/>
          <p:nvPr/>
        </p:nvSpPr>
        <p:spPr>
          <a:xfrm>
            <a:off x="777240" y="2560320"/>
            <a:ext cx="1783080" cy="310896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Medicii de familie semnalează așteptări tot mai lungi la RMN.</a:t>
            </a:r>
            <a:endParaRPr lang="en-US" sz="1450" dirty="0"/>
          </a:p>
        </p:txBody>
      </p:sp>
      <p:sp>
        <p:nvSpPr>
          <p:cNvPr id="8" name="Shape 6"/>
          <p:cNvSpPr/>
          <p:nvPr/>
        </p:nvSpPr>
        <p:spPr>
          <a:xfrm>
            <a:off x="2834640" y="1783080"/>
            <a:ext cx="2103120" cy="4023360"/>
          </a:xfrm>
          <a:prstGeom prst="roundRect">
            <a:avLst>
              <a:gd name="adj" fmla="val 3913"/>
            </a:avLst>
          </a:prstGeom>
          <a:solidFill>
            <a:srgbClr val="1D1F2B"/>
          </a:solidFill>
          <a:ln w="12700">
            <a:solidFill>
              <a:srgbClr val="1D1F2B"/>
            </a:solidFill>
            <a:prstDash val="solid"/>
          </a:ln>
        </p:spPr>
        <p:txBody>
          <a:bodyPr/>
          <a:p/>
        </p:txBody>
      </p:sp>
      <p:sp>
        <p:nvSpPr>
          <p:cNvPr id="9" name="Shape 7"/>
          <p:cNvSpPr/>
          <p:nvPr/>
        </p:nvSpPr>
        <p:spPr>
          <a:xfrm>
            <a:off x="3017520" y="1920240"/>
            <a:ext cx="457200" cy="457200"/>
          </a:xfrm>
          <a:prstGeom prst="ellipse">
            <a:avLst/>
          </a:prstGeom>
          <a:solidFill>
            <a:srgbClr val="FFC24B"/>
          </a:solidFill>
          <a:ln/>
        </p:spPr>
        <p:txBody>
          <a:bodyPr/>
          <a:p/>
        </p:txBody>
      </p:sp>
      <p:sp>
        <p:nvSpPr>
          <p:cNvPr id="10" name="Text 8"/>
          <p:cNvSpPr/>
          <p:nvPr/>
        </p:nvSpPr>
        <p:spPr>
          <a:xfrm>
            <a:off x="3017520" y="1920240"/>
            <a:ext cx="457200" cy="457200"/>
          </a:xfrm>
          <a:prstGeom prst="rect">
            <a:avLst/>
          </a:prstGeom>
          <a:noFill/>
          <a:ln/>
        </p:spPr>
        <p:txBody>
          <a:bodyPr wrap="square" lIns="0" tIns="0" rIns="0" bIns="0" rtlCol="0" anchor="ctr"/>
          <a:lstStyle/>
          <a:p>
            <a:pPr algn="ctr" indent="0" marL="0">
              <a:buNone/>
            </a:pPr>
            <a:r>
              <a:rPr lang="en-US" sz="1400" b="1" dirty="0">
                <a:solidFill>
                  <a:srgbClr val="3D2A00"/>
                </a:solidFill>
                <a:latin typeface="Palatino Linotype" pitchFamily="34" charset="0"/>
                <a:ea typeface="Palatino Linotype" pitchFamily="34" charset="-122"/>
                <a:cs typeface="Palatino Linotype" pitchFamily="34" charset="-120"/>
              </a:rPr>
              <a:t>3</a:t>
            </a:r>
            <a:endParaRPr lang="en-US" sz="1400" dirty="0"/>
          </a:p>
        </p:txBody>
      </p:sp>
      <p:sp>
        <p:nvSpPr>
          <p:cNvPr id="11" name="Text 9"/>
          <p:cNvSpPr/>
          <p:nvPr/>
        </p:nvSpPr>
        <p:spPr>
          <a:xfrm>
            <a:off x="3017520" y="2560320"/>
            <a:ext cx="1783080" cy="310896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Așteptarea medie crește de la 20 la 30 de zile, în fiecare lună.</a:t>
            </a:r>
            <a:endParaRPr lang="en-US" sz="1450" dirty="0"/>
          </a:p>
        </p:txBody>
      </p:sp>
      <p:sp>
        <p:nvSpPr>
          <p:cNvPr id="12" name="Shape 10"/>
          <p:cNvSpPr/>
          <p:nvPr/>
        </p:nvSpPr>
        <p:spPr>
          <a:xfrm>
            <a:off x="3017520" y="4663440"/>
            <a:ext cx="640080" cy="822960"/>
          </a:xfrm>
          <a:prstGeom prst="rect">
            <a:avLst/>
          </a:prstGeom>
          <a:solidFill>
            <a:srgbClr val="959BB0"/>
          </a:solidFill>
          <a:ln w="12700">
            <a:solidFill>
              <a:srgbClr val="959BB0"/>
            </a:solidFill>
            <a:prstDash val="solid"/>
          </a:ln>
        </p:spPr>
        <p:txBody>
          <a:bodyPr/>
          <a:p/>
        </p:txBody>
      </p:sp>
      <p:sp>
        <p:nvSpPr>
          <p:cNvPr id="13" name="Text 11"/>
          <p:cNvSpPr/>
          <p:nvPr/>
        </p:nvSpPr>
        <p:spPr>
          <a:xfrm>
            <a:off x="3017520" y="4389120"/>
            <a:ext cx="640080" cy="256032"/>
          </a:xfrm>
          <a:prstGeom prst="rect">
            <a:avLst/>
          </a:prstGeom>
          <a:noFill/>
          <a:ln/>
        </p:spPr>
        <p:txBody>
          <a:bodyPr wrap="square" lIns="0" tIns="0" rIns="0" bIns="0" rtlCol="0" anchor="t"/>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20</a:t>
            </a:r>
            <a:endParaRPr lang="en-US" sz="1200" dirty="0"/>
          </a:p>
        </p:txBody>
      </p:sp>
      <p:sp>
        <p:nvSpPr>
          <p:cNvPr id="14" name="Shape 12"/>
          <p:cNvSpPr/>
          <p:nvPr/>
        </p:nvSpPr>
        <p:spPr>
          <a:xfrm>
            <a:off x="3840480" y="4251960"/>
            <a:ext cx="640080" cy="1234440"/>
          </a:xfrm>
          <a:prstGeom prst="rect">
            <a:avLst/>
          </a:prstGeom>
          <a:solidFill>
            <a:srgbClr val="FFC24B"/>
          </a:solidFill>
          <a:ln w="12700">
            <a:solidFill>
              <a:srgbClr val="FFC24B"/>
            </a:solidFill>
            <a:prstDash val="solid"/>
          </a:ln>
        </p:spPr>
        <p:txBody>
          <a:bodyPr/>
          <a:p/>
        </p:txBody>
      </p:sp>
      <p:sp>
        <p:nvSpPr>
          <p:cNvPr id="15" name="Text 13"/>
          <p:cNvSpPr/>
          <p:nvPr/>
        </p:nvSpPr>
        <p:spPr>
          <a:xfrm>
            <a:off x="3840480" y="3977640"/>
            <a:ext cx="640080" cy="256032"/>
          </a:xfrm>
          <a:prstGeom prst="rect">
            <a:avLst/>
          </a:prstGeom>
          <a:noFill/>
          <a:ln/>
        </p:spPr>
        <p:txBody>
          <a:bodyPr wrap="square" lIns="0" tIns="0" rIns="0" bIns="0" rtlCol="0" anchor="t"/>
          <a:lstStyle/>
          <a:p>
            <a:pPr algn="ctr" indent="0" marL="0">
              <a:buNone/>
            </a:pPr>
            <a:r>
              <a:rPr lang="en-US" sz="1200" b="1" dirty="0">
                <a:solidFill>
                  <a:srgbClr val="FFFFFF"/>
                </a:solidFill>
                <a:latin typeface="Palatino Linotype" pitchFamily="34" charset="0"/>
                <a:ea typeface="Palatino Linotype" pitchFamily="34" charset="-122"/>
                <a:cs typeface="Palatino Linotype" pitchFamily="34" charset="-120"/>
              </a:rPr>
              <a:t>30</a:t>
            </a:r>
            <a:endParaRPr lang="en-US" sz="1200" dirty="0"/>
          </a:p>
        </p:txBody>
      </p:sp>
      <p:sp>
        <p:nvSpPr>
          <p:cNvPr id="16" name="Shape 14"/>
          <p:cNvSpPr/>
          <p:nvPr/>
        </p:nvSpPr>
        <p:spPr>
          <a:xfrm>
            <a:off x="5074920" y="1783080"/>
            <a:ext cx="2103120" cy="4023360"/>
          </a:xfrm>
          <a:prstGeom prst="roundRect">
            <a:avLst>
              <a:gd name="adj" fmla="val 3913"/>
            </a:avLst>
          </a:prstGeom>
          <a:solidFill>
            <a:srgbClr val="1D1F2B"/>
          </a:solidFill>
          <a:ln w="12700">
            <a:solidFill>
              <a:srgbClr val="1D1F2B"/>
            </a:solidFill>
            <a:prstDash val="solid"/>
          </a:ln>
        </p:spPr>
        <p:txBody>
          <a:bodyPr/>
          <a:p/>
        </p:txBody>
      </p:sp>
      <p:sp>
        <p:nvSpPr>
          <p:cNvPr id="17" name="Shape 15"/>
          <p:cNvSpPr/>
          <p:nvPr/>
        </p:nvSpPr>
        <p:spPr>
          <a:xfrm>
            <a:off x="5257800" y="1920240"/>
            <a:ext cx="457200" cy="457200"/>
          </a:xfrm>
          <a:prstGeom prst="ellipse">
            <a:avLst/>
          </a:prstGeom>
          <a:solidFill>
            <a:srgbClr val="27D3BE"/>
          </a:solidFill>
          <a:ln/>
        </p:spPr>
        <p:txBody>
          <a:bodyPr/>
          <a:p/>
        </p:txBody>
      </p:sp>
      <p:sp>
        <p:nvSpPr>
          <p:cNvPr id="18" name="Text 16"/>
          <p:cNvSpPr/>
          <p:nvPr/>
        </p:nvSpPr>
        <p:spPr>
          <a:xfrm>
            <a:off x="5257800" y="1920240"/>
            <a:ext cx="457200" cy="457200"/>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5257800" y="2560320"/>
            <a:ext cx="1783080" cy="310896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Dacă tendința continuă, cei cu nevoie de diagnostic rapid așteaptă mult peste ce permite starea lor.</a:t>
            </a:r>
            <a:endParaRPr lang="en-US" sz="1450" dirty="0"/>
          </a:p>
        </p:txBody>
      </p:sp>
      <p:sp>
        <p:nvSpPr>
          <p:cNvPr id="20" name="Shape 18"/>
          <p:cNvSpPr/>
          <p:nvPr/>
        </p:nvSpPr>
        <p:spPr>
          <a:xfrm>
            <a:off x="7315200" y="1783080"/>
            <a:ext cx="2103120" cy="4023360"/>
          </a:xfrm>
          <a:prstGeom prst="roundRect">
            <a:avLst>
              <a:gd name="adj" fmla="val 3913"/>
            </a:avLst>
          </a:prstGeom>
          <a:solidFill>
            <a:srgbClr val="1D1F2B"/>
          </a:solidFill>
          <a:ln w="12700">
            <a:solidFill>
              <a:srgbClr val="1D1F2B"/>
            </a:solidFill>
            <a:prstDash val="solid"/>
          </a:ln>
        </p:spPr>
        <p:txBody>
          <a:bodyPr/>
          <a:p/>
        </p:txBody>
      </p:sp>
      <p:sp>
        <p:nvSpPr>
          <p:cNvPr id="21" name="Shape 19"/>
          <p:cNvSpPr/>
          <p:nvPr/>
        </p:nvSpPr>
        <p:spPr>
          <a:xfrm>
            <a:off x="7498080" y="1920240"/>
            <a:ext cx="457200" cy="457200"/>
          </a:xfrm>
          <a:prstGeom prst="ellipse">
            <a:avLst/>
          </a:prstGeom>
          <a:solidFill>
            <a:srgbClr val="9B7EF7"/>
          </a:solidFill>
          <a:ln/>
        </p:spPr>
        <p:txBody>
          <a:bodyPr/>
          <a:p/>
        </p:txBody>
      </p:sp>
      <p:sp>
        <p:nvSpPr>
          <p:cNvPr id="22" name="Text 20"/>
          <p:cNvSpPr/>
          <p:nvPr/>
        </p:nvSpPr>
        <p:spPr>
          <a:xfrm>
            <a:off x="7498080" y="1920240"/>
            <a:ext cx="457200" cy="457200"/>
          </a:xfrm>
          <a:prstGeom prst="rect">
            <a:avLst/>
          </a:prstGeom>
          <a:noFill/>
          <a:ln/>
        </p:spPr>
        <p:txBody>
          <a:bodyPr wrap="square" lIns="0" tIns="0" rIns="0" bIns="0" rtlCol="0" anchor="ctr"/>
          <a:lstStyle/>
          <a:p>
            <a:pPr algn="ctr" indent="0" marL="0">
              <a:buNone/>
            </a:pPr>
            <a:r>
              <a:rPr lang="en-US" sz="1400" b="1" dirty="0">
                <a:solidFill>
                  <a:srgbClr val="1F1040"/>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7498080" y="2560320"/>
            <a:ext cx="1783080" cy="310896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Efect mare, probabil să continue. Cauze posibile: programul aparatului și cererea.</a:t>
            </a:r>
            <a:endParaRPr lang="en-US" sz="1450" dirty="0"/>
          </a:p>
        </p:txBody>
      </p:sp>
      <p:sp>
        <p:nvSpPr>
          <p:cNvPr id="24" name="Shape 22"/>
          <p:cNvSpPr/>
          <p:nvPr/>
        </p:nvSpPr>
        <p:spPr>
          <a:xfrm>
            <a:off x="9555480" y="1783080"/>
            <a:ext cx="2103120" cy="4023360"/>
          </a:xfrm>
          <a:prstGeom prst="roundRect">
            <a:avLst>
              <a:gd name="adj" fmla="val 3913"/>
            </a:avLst>
          </a:prstGeom>
          <a:solidFill>
            <a:srgbClr val="1D1F2B"/>
          </a:solidFill>
          <a:ln w="12700">
            <a:solidFill>
              <a:srgbClr val="1D1F2B"/>
            </a:solidFill>
            <a:prstDash val="solid"/>
          </a:ln>
        </p:spPr>
        <p:txBody>
          <a:bodyPr/>
          <a:p/>
        </p:txBody>
      </p:sp>
      <p:sp>
        <p:nvSpPr>
          <p:cNvPr id="25" name="Shape 23"/>
          <p:cNvSpPr/>
          <p:nvPr/>
        </p:nvSpPr>
        <p:spPr>
          <a:xfrm>
            <a:off x="9738360" y="1920240"/>
            <a:ext cx="457200" cy="457200"/>
          </a:xfrm>
          <a:prstGeom prst="ellipse">
            <a:avLst/>
          </a:prstGeom>
          <a:solidFill>
            <a:srgbClr val="FF8A3D"/>
          </a:solidFill>
          <a:ln/>
        </p:spPr>
        <p:txBody>
          <a:bodyPr/>
          <a:p/>
        </p:txBody>
      </p:sp>
      <p:sp>
        <p:nvSpPr>
          <p:cNvPr id="26" name="Text 24"/>
          <p:cNvSpPr/>
          <p:nvPr/>
        </p:nvSpPr>
        <p:spPr>
          <a:xfrm>
            <a:off x="9738360" y="192024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6</a:t>
            </a:r>
            <a:endParaRPr lang="en-US" sz="1400" dirty="0"/>
          </a:p>
        </p:txBody>
      </p:sp>
      <p:sp>
        <p:nvSpPr>
          <p:cNvPr id="27" name="Text 25"/>
          <p:cNvSpPr/>
          <p:nvPr/>
        </p:nvSpPr>
        <p:spPr>
          <a:xfrm>
            <a:off x="9738360" y="2560320"/>
            <a:ext cx="1783080" cy="3108960"/>
          </a:xfrm>
          <a:prstGeom prst="rect">
            <a:avLst/>
          </a:prstGeom>
          <a:noFill/>
          <a:ln/>
        </p:spPr>
        <p:txBody>
          <a:bodyPr wrap="square" lIns="0" tIns="0" rIns="0" bIns="0" rtlCol="0" anchor="t"/>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Pe hartă: aria de servicii, categoriile tehnologică și concurențială. Semn de schimbare: sub 15 zile, două luni la rând.</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JOC DE ROL</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DOI VOLUNTARI, TREI MINUTE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Concurs nou acum sau confirmăm întâi tendința?</a:t>
            </a:r>
            <a:endParaRPr lang="en-US" sz="3200" dirty="0"/>
          </a:p>
        </p:txBody>
      </p:sp>
      <p:sp>
        <p:nvSpPr>
          <p:cNvPr id="6" name="Shape 4"/>
          <p:cNvSpPr/>
          <p:nvPr/>
        </p:nvSpPr>
        <p:spPr>
          <a:xfrm>
            <a:off x="594360" y="1691640"/>
            <a:ext cx="5394960" cy="2194560"/>
          </a:xfrm>
          <a:prstGeom prst="roundRect">
            <a:avLst>
              <a:gd name="adj" fmla="val 3750"/>
            </a:avLst>
          </a:prstGeom>
          <a:solidFill>
            <a:srgbClr val="27D3BE"/>
          </a:solidFill>
          <a:ln w="12700">
            <a:solidFill>
              <a:srgbClr val="27D3BE"/>
            </a:solidFill>
            <a:prstDash val="solid"/>
          </a:ln>
        </p:spPr>
        <p:txBody>
          <a:bodyPr/>
          <a:p/>
        </p:txBody>
      </p:sp>
      <p:sp>
        <p:nvSpPr>
          <p:cNvPr id="7" name="Text 5"/>
          <p:cNvSpPr/>
          <p:nvPr/>
        </p:nvSpPr>
        <p:spPr>
          <a:xfrm>
            <a:off x="868680" y="1828800"/>
            <a:ext cx="4846320" cy="365760"/>
          </a:xfrm>
          <a:prstGeom prst="rect">
            <a:avLst/>
          </a:prstGeom>
          <a:noFill/>
          <a:ln/>
        </p:spPr>
        <p:txBody>
          <a:bodyPr wrap="square" lIns="0" tIns="0" rIns="0" bIns="0" rtlCol="0" anchor="t"/>
          <a:lstStyle/>
          <a:p>
            <a:pPr indent="0" marL="0">
              <a:buNone/>
            </a:pPr>
            <a:r>
              <a:rPr lang="en-US" sz="1400" b="1" spc="200" kern="0" dirty="0">
                <a:solidFill>
                  <a:srgbClr val="073B34"/>
                </a:solidFill>
                <a:latin typeface="Palatino Linotype" pitchFamily="34" charset="0"/>
                <a:ea typeface="Palatino Linotype" pitchFamily="34" charset="-122"/>
                <a:cs typeface="Palatino Linotype" pitchFamily="34" charset="-120"/>
              </a:rPr>
              <a:t>MANAGERUL</a:t>
            </a:r>
            <a:endParaRPr lang="en-US" sz="1400" dirty="0"/>
          </a:p>
        </p:txBody>
      </p:sp>
      <p:sp>
        <p:nvSpPr>
          <p:cNvPr id="8" name="Text 6"/>
          <p:cNvSpPr/>
          <p:nvPr/>
        </p:nvSpPr>
        <p:spPr>
          <a:xfrm>
            <a:off x="868680" y="2286000"/>
            <a:ext cx="4846320" cy="1463040"/>
          </a:xfrm>
          <a:prstGeom prst="rect">
            <a:avLst/>
          </a:prstGeom>
          <a:noFill/>
          <a:ln/>
        </p:spPr>
        <p:txBody>
          <a:bodyPr wrap="square" lIns="0" tIns="0" rIns="0" bIns="0" rtlCol="0" anchor="t"/>
          <a:lstStyle/>
          <a:p>
            <a:pPr indent="0" marL="0">
              <a:buNone/>
            </a:pPr>
            <a:r>
              <a:rPr lang="en-US" sz="2100" b="1" dirty="0">
                <a:solidFill>
                  <a:srgbClr val="073B34"/>
                </a:solidFill>
                <a:latin typeface="Palatino Linotype" pitchFamily="34" charset="0"/>
                <a:ea typeface="Palatino Linotype" pitchFamily="34" charset="-122"/>
                <a:cs typeface="Palatino Linotype" pitchFamily="34" charset="-120"/>
              </a:rPr>
              <a:t>Vrea să afle întâi dacă plecările sunt o întâmplare sau o tendință.</a:t>
            </a:r>
            <a:endParaRPr lang="en-US" sz="2100" dirty="0"/>
          </a:p>
        </p:txBody>
      </p:sp>
      <p:sp>
        <p:nvSpPr>
          <p:cNvPr id="9" name="Shape 7"/>
          <p:cNvSpPr/>
          <p:nvPr/>
        </p:nvSpPr>
        <p:spPr>
          <a:xfrm>
            <a:off x="6172200" y="1691640"/>
            <a:ext cx="5394960" cy="2194560"/>
          </a:xfrm>
          <a:prstGeom prst="roundRect">
            <a:avLst>
              <a:gd name="adj" fmla="val 3750"/>
            </a:avLst>
          </a:prstGeom>
          <a:solidFill>
            <a:srgbClr val="FF4757"/>
          </a:solidFill>
          <a:ln w="12700">
            <a:solidFill>
              <a:srgbClr val="FF4757"/>
            </a:solidFill>
            <a:prstDash val="solid"/>
          </a:ln>
        </p:spPr>
        <p:txBody>
          <a:bodyPr/>
          <a:p/>
        </p:txBody>
      </p:sp>
      <p:sp>
        <p:nvSpPr>
          <p:cNvPr id="10" name="Text 8"/>
          <p:cNvSpPr/>
          <p:nvPr/>
        </p:nvSpPr>
        <p:spPr>
          <a:xfrm>
            <a:off x="6446520" y="1828800"/>
            <a:ext cx="4846320" cy="365760"/>
          </a:xfrm>
          <a:prstGeom prst="rect">
            <a:avLst/>
          </a:prstGeom>
          <a:noFill/>
          <a:ln/>
        </p:spPr>
        <p:txBody>
          <a:bodyPr wrap="square" lIns="0" tIns="0" rIns="0" bIns="0" rtlCol="0" anchor="t"/>
          <a:lstStyle/>
          <a:p>
            <a:pPr indent="0" marL="0">
              <a:buNone/>
            </a:pPr>
            <a:r>
              <a:rPr lang="en-US" sz="1400" b="1" spc="200" kern="0" dirty="0">
                <a:solidFill>
                  <a:srgbClr val="2E060B"/>
                </a:solidFill>
                <a:latin typeface="Palatino Linotype" pitchFamily="34" charset="0"/>
                <a:ea typeface="Palatino Linotype" pitchFamily="34" charset="-122"/>
                <a:cs typeface="Palatino Linotype" pitchFamily="34" charset="-120"/>
              </a:rPr>
              <a:t>ȘEFUL SECȚIEI DE CHIRURGIE</a:t>
            </a:r>
            <a:endParaRPr lang="en-US" sz="1400" dirty="0"/>
          </a:p>
        </p:txBody>
      </p:sp>
      <p:sp>
        <p:nvSpPr>
          <p:cNvPr id="11" name="Text 9"/>
          <p:cNvSpPr/>
          <p:nvPr/>
        </p:nvSpPr>
        <p:spPr>
          <a:xfrm>
            <a:off x="6446520" y="2286000"/>
            <a:ext cx="4846320" cy="1463040"/>
          </a:xfrm>
          <a:prstGeom prst="rect">
            <a:avLst/>
          </a:prstGeom>
          <a:noFill/>
          <a:ln/>
        </p:spPr>
        <p:txBody>
          <a:bodyPr wrap="square" lIns="0" tIns="0" rIns="0" bIns="0" rtlCol="0" anchor="t"/>
          <a:lstStyle/>
          <a:p>
            <a:pPr indent="0" marL="0">
              <a:buNone/>
            </a:pPr>
            <a:r>
              <a:rPr lang="en-US" sz="2100" b="1" dirty="0">
                <a:solidFill>
                  <a:srgbClr val="2E060B"/>
                </a:solidFill>
                <a:latin typeface="Palatino Linotype" pitchFamily="34" charset="0"/>
                <a:ea typeface="Palatino Linotype" pitchFamily="34" charset="-122"/>
                <a:cs typeface="Palatino Linotype" pitchFamily="34" charset="-120"/>
              </a:rPr>
              <a:t>A pierdut al doilea medic tânăr. Cere un concurs nou, imediat.</a:t>
            </a:r>
            <a:endParaRPr lang="en-US" sz="2100" dirty="0"/>
          </a:p>
        </p:txBody>
      </p:sp>
      <p:sp>
        <p:nvSpPr>
          <p:cNvPr id="12" name="Text 10"/>
          <p:cNvSpPr/>
          <p:nvPr/>
        </p:nvSpPr>
        <p:spPr>
          <a:xfrm>
            <a:off x="594360" y="4251960"/>
            <a:ext cx="10972800" cy="82296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După scenă, sala votează pe telefon: cine are dreptate, șeful de secție, managerul sau amândoi?</a:t>
            </a:r>
            <a:endParaRPr lang="en-US" sz="2100" dirty="0"/>
          </a:p>
        </p:txBody>
      </p:sp>
      <p:sp>
        <p:nvSpPr>
          <p:cNvPr id="13" name="Text 11"/>
          <p:cNvSpPr/>
          <p:nvPr/>
        </p:nvSpPr>
        <p:spPr>
          <a:xfrm>
            <a:off x="594360" y="534924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HARTA SE COMPLETEAZĂ ȘI SE REVEDE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se scrie într-o căsuță</a:t>
            </a:r>
            <a:endParaRPr lang="en-US" sz="3200" dirty="0"/>
          </a:p>
        </p:txBody>
      </p:sp>
      <p:sp>
        <p:nvSpPr>
          <p:cNvPr id="4" name="Shape 2"/>
          <p:cNvSpPr/>
          <p:nvPr/>
        </p:nvSpPr>
        <p:spPr>
          <a:xfrm>
            <a:off x="594360" y="1600200"/>
            <a:ext cx="5760720" cy="3429000"/>
          </a:xfrm>
          <a:prstGeom prst="roundRect">
            <a:avLst>
              <a:gd name="adj" fmla="val 2400"/>
            </a:avLst>
          </a:prstGeom>
          <a:solidFill>
            <a:srgbClr val="ECEAE4"/>
          </a:solidFill>
          <a:ln w="12700">
            <a:solidFill>
              <a:srgbClr val="ECEAE4"/>
            </a:solidFill>
            <a:prstDash val="solid"/>
          </a:ln>
        </p:spPr>
        <p:txBody>
          <a:bodyPr/>
          <a:p/>
        </p:txBody>
      </p:sp>
      <p:sp>
        <p:nvSpPr>
          <p:cNvPr id="5" name="Shape 3"/>
          <p:cNvSpPr/>
          <p:nvPr/>
        </p:nvSpPr>
        <p:spPr>
          <a:xfrm>
            <a:off x="777240" y="1801368"/>
            <a:ext cx="365760" cy="365760"/>
          </a:xfrm>
          <a:prstGeom prst="ellipse">
            <a:avLst/>
          </a:prstGeom>
          <a:solidFill>
            <a:srgbClr val="FF4757"/>
          </a:solidFill>
          <a:ln/>
        </p:spPr>
        <p:txBody>
          <a:bodyPr/>
          <a:p/>
        </p:txBody>
      </p:sp>
      <p:sp>
        <p:nvSpPr>
          <p:cNvPr id="6" name="Text 4"/>
          <p:cNvSpPr/>
          <p:nvPr/>
        </p:nvSpPr>
        <p:spPr>
          <a:xfrm>
            <a:off x="777240" y="1801368"/>
            <a:ext cx="365760" cy="365760"/>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280160" y="1737360"/>
            <a:ext cx="4937760" cy="5029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Problema, în una–două propoziții</a:t>
            </a:r>
            <a:endParaRPr lang="en-US" sz="1500" dirty="0"/>
          </a:p>
        </p:txBody>
      </p:sp>
      <p:sp>
        <p:nvSpPr>
          <p:cNvPr id="8" name="Shape 6"/>
          <p:cNvSpPr/>
          <p:nvPr/>
        </p:nvSpPr>
        <p:spPr>
          <a:xfrm>
            <a:off x="777240" y="2441448"/>
            <a:ext cx="365760" cy="365760"/>
          </a:xfrm>
          <a:prstGeom prst="ellipse">
            <a:avLst/>
          </a:prstGeom>
          <a:solidFill>
            <a:srgbClr val="FF4757"/>
          </a:solidFill>
          <a:ln/>
        </p:spPr>
        <p:txBody>
          <a:bodyPr/>
          <a:p/>
        </p:txBody>
      </p:sp>
      <p:sp>
        <p:nvSpPr>
          <p:cNvPr id="9" name="Text 7"/>
          <p:cNvSpPr/>
          <p:nvPr/>
        </p:nvSpPr>
        <p:spPr>
          <a:xfrm>
            <a:off x="777240" y="2441448"/>
            <a:ext cx="365760" cy="365760"/>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280160" y="2377440"/>
            <a:ext cx="4937760" cy="5029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Dovezile, cu sursa și data</a:t>
            </a:r>
            <a:endParaRPr lang="en-US" sz="1500" dirty="0"/>
          </a:p>
        </p:txBody>
      </p:sp>
      <p:sp>
        <p:nvSpPr>
          <p:cNvPr id="11" name="Shape 9"/>
          <p:cNvSpPr/>
          <p:nvPr/>
        </p:nvSpPr>
        <p:spPr>
          <a:xfrm>
            <a:off x="777240" y="3081528"/>
            <a:ext cx="365760" cy="365760"/>
          </a:xfrm>
          <a:prstGeom prst="ellipse">
            <a:avLst/>
          </a:prstGeom>
          <a:solidFill>
            <a:srgbClr val="FF4757"/>
          </a:solidFill>
          <a:ln/>
        </p:spPr>
        <p:txBody>
          <a:bodyPr/>
          <a:p/>
        </p:txBody>
      </p:sp>
      <p:sp>
        <p:nvSpPr>
          <p:cNvPr id="12" name="Text 10"/>
          <p:cNvSpPr/>
          <p:nvPr/>
        </p:nvSpPr>
        <p:spPr>
          <a:xfrm>
            <a:off x="777240" y="3081528"/>
            <a:ext cx="365760" cy="365760"/>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280160" y="3017520"/>
            <a:ext cx="4937760" cy="5029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Implicațiile pentru organizație</a:t>
            </a:r>
            <a:endParaRPr lang="en-US" sz="1500" dirty="0"/>
          </a:p>
        </p:txBody>
      </p:sp>
      <p:sp>
        <p:nvSpPr>
          <p:cNvPr id="14" name="Shape 12"/>
          <p:cNvSpPr/>
          <p:nvPr/>
        </p:nvSpPr>
        <p:spPr>
          <a:xfrm>
            <a:off x="777240" y="3721608"/>
            <a:ext cx="365760" cy="365760"/>
          </a:xfrm>
          <a:prstGeom prst="ellipse">
            <a:avLst/>
          </a:prstGeom>
          <a:solidFill>
            <a:srgbClr val="FF4757"/>
          </a:solidFill>
          <a:ln/>
        </p:spPr>
        <p:txBody>
          <a:bodyPr/>
          <a:p/>
        </p:txBody>
      </p:sp>
      <p:sp>
        <p:nvSpPr>
          <p:cNvPr id="15" name="Text 13"/>
          <p:cNvSpPr/>
          <p:nvPr/>
        </p:nvSpPr>
        <p:spPr>
          <a:xfrm>
            <a:off x="777240" y="3721608"/>
            <a:ext cx="365760" cy="365760"/>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6" name="Text 14"/>
          <p:cNvSpPr/>
          <p:nvPr/>
        </p:nvSpPr>
        <p:spPr>
          <a:xfrm>
            <a:off x="1280160" y="3657600"/>
            <a:ext cx="4937760" cy="5029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Efectul și probabilitatea</a:t>
            </a:r>
            <a:endParaRPr lang="en-US" sz="1500" dirty="0"/>
          </a:p>
        </p:txBody>
      </p:sp>
      <p:sp>
        <p:nvSpPr>
          <p:cNvPr id="17" name="Shape 15"/>
          <p:cNvSpPr/>
          <p:nvPr/>
        </p:nvSpPr>
        <p:spPr>
          <a:xfrm>
            <a:off x="777240" y="4361688"/>
            <a:ext cx="365760" cy="365760"/>
          </a:xfrm>
          <a:prstGeom prst="ellipse">
            <a:avLst/>
          </a:prstGeom>
          <a:solidFill>
            <a:srgbClr val="FF4757"/>
          </a:solidFill>
          <a:ln/>
        </p:spPr>
        <p:txBody>
          <a:bodyPr/>
          <a:p/>
        </p:txBody>
      </p:sp>
      <p:sp>
        <p:nvSpPr>
          <p:cNvPr id="18" name="Text 16"/>
          <p:cNvSpPr/>
          <p:nvPr/>
        </p:nvSpPr>
        <p:spPr>
          <a:xfrm>
            <a:off x="777240" y="4361688"/>
            <a:ext cx="365760" cy="365760"/>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19" name="Text 17"/>
          <p:cNvSpPr/>
          <p:nvPr/>
        </p:nvSpPr>
        <p:spPr>
          <a:xfrm>
            <a:off x="1280160" y="4297680"/>
            <a:ext cx="4937760" cy="5029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Semnul după care schimbați concluzia</a:t>
            </a:r>
            <a:endParaRPr lang="en-US" sz="1500" dirty="0"/>
          </a:p>
        </p:txBody>
      </p:sp>
      <p:sp>
        <p:nvSpPr>
          <p:cNvPr id="20" name="Shape 18"/>
          <p:cNvSpPr/>
          <p:nvPr/>
        </p:nvSpPr>
        <p:spPr>
          <a:xfrm>
            <a:off x="6583680" y="1600200"/>
            <a:ext cx="4983480" cy="3429000"/>
          </a:xfrm>
          <a:prstGeom prst="roundRect">
            <a:avLst>
              <a:gd name="adj" fmla="val 2400"/>
            </a:avLst>
          </a:prstGeom>
          <a:solidFill>
            <a:srgbClr val="1D1F2B"/>
          </a:solidFill>
          <a:ln w="12700">
            <a:solidFill>
              <a:srgbClr val="1D1F2B"/>
            </a:solidFill>
            <a:prstDash val="solid"/>
          </a:ln>
        </p:spPr>
        <p:txBody>
          <a:bodyPr/>
          <a:p/>
        </p:txBody>
      </p:sp>
      <p:sp>
        <p:nvSpPr>
          <p:cNvPr id="21" name="Text 19"/>
          <p:cNvSpPr/>
          <p:nvPr/>
        </p:nvSpPr>
        <p:spPr>
          <a:xfrm>
            <a:off x="6858000" y="1737360"/>
            <a:ext cx="4480560" cy="320040"/>
          </a:xfrm>
          <a:prstGeom prst="rect">
            <a:avLst/>
          </a:prstGeom>
          <a:noFill/>
          <a:ln/>
        </p:spPr>
        <p:txBody>
          <a:bodyPr wrap="square" lIns="0" tIns="0" rIns="0" bIns="0" rtlCol="0" anchor="t"/>
          <a:lstStyle/>
          <a:p>
            <a:pPr indent="0" marL="0">
              <a:buNone/>
            </a:pPr>
            <a:r>
              <a:rPr lang="en-US" sz="1200" b="1" spc="100" kern="0" dirty="0">
                <a:solidFill>
                  <a:srgbClr val="FFC24B"/>
                </a:solidFill>
                <a:latin typeface="Palatino Linotype" pitchFamily="34" charset="0"/>
                <a:ea typeface="Palatino Linotype" pitchFamily="34" charset="-122"/>
                <a:cs typeface="Palatino Linotype" pitchFamily="34" charset="-120"/>
              </a:rPr>
              <a:t>PRESUPUNERILE SE VERIFICĂ PERIODIC</a:t>
            </a:r>
            <a:endParaRPr lang="en-US" sz="1200" dirty="0"/>
          </a:p>
        </p:txBody>
      </p:sp>
      <p:sp>
        <p:nvSpPr>
          <p:cNvPr id="22" name="Text 20"/>
          <p:cNvSpPr/>
          <p:nvPr/>
        </p:nvSpPr>
        <p:spPr>
          <a:xfrm>
            <a:off x="6858000" y="2194560"/>
            <a:ext cx="4480560" cy="502920"/>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 Tendințe noi ne-au afectat în rău?</a:t>
            </a:r>
            <a:endParaRPr lang="en-US" sz="1400" dirty="0"/>
          </a:p>
        </p:txBody>
      </p:sp>
      <p:sp>
        <p:nvSpPr>
          <p:cNvPr id="23" name="Text 21"/>
          <p:cNvSpPr/>
          <p:nvPr/>
        </p:nvSpPr>
        <p:spPr>
          <a:xfrm>
            <a:off x="6858000" y="2761488"/>
            <a:ext cx="4480560" cy="502920"/>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 Au apărut oportunități noi?</a:t>
            </a:r>
            <a:endParaRPr lang="en-US" sz="1400" dirty="0"/>
          </a:p>
        </p:txBody>
      </p:sp>
      <p:sp>
        <p:nvSpPr>
          <p:cNvPr id="24" name="Text 22"/>
          <p:cNvSpPr/>
          <p:nvPr/>
        </p:nvSpPr>
        <p:spPr>
          <a:xfrm>
            <a:off x="6858000" y="3328416"/>
            <a:ext cx="4480560" cy="502920"/>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 Strategia e acceptabilă pentru părțile interesate?</a:t>
            </a:r>
            <a:endParaRPr lang="en-US" sz="1400" dirty="0"/>
          </a:p>
        </p:txBody>
      </p:sp>
      <p:sp>
        <p:nvSpPr>
          <p:cNvPr id="25" name="Text 23"/>
          <p:cNvSpPr/>
          <p:nvPr/>
        </p:nvSpPr>
        <p:spPr>
          <a:xfrm>
            <a:off x="6858000" y="3895344"/>
            <a:ext cx="4480560" cy="502920"/>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 Evoluții tehnologice noi?</a:t>
            </a:r>
            <a:endParaRPr lang="en-US" sz="1400" dirty="0"/>
          </a:p>
        </p:txBody>
      </p:sp>
      <p:sp>
        <p:nvSpPr>
          <p:cNvPr id="26" name="Text 24"/>
          <p:cNvSpPr/>
          <p:nvPr/>
        </p:nvSpPr>
        <p:spPr>
          <a:xfrm>
            <a:off x="6858000" y="4462272"/>
            <a:ext cx="4480560" cy="502920"/>
          </a:xfrm>
          <a:prstGeom prst="rect">
            <a:avLst/>
          </a:prstGeom>
          <a:noFill/>
          <a:ln/>
        </p:spPr>
        <p:txBody>
          <a:bodyPr wrap="square" lIns="0" tIns="0" rIns="0" bIns="0" rtlCol="0" anchor="ctr"/>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 S-a schimbat mediul legislativ sau politic?</a:t>
            </a:r>
            <a:endParaRPr lang="en-US" sz="1400" dirty="0"/>
          </a:p>
        </p:txBody>
      </p:sp>
      <p:sp>
        <p:nvSpPr>
          <p:cNvPr id="27" name="Text 25"/>
          <p:cNvSpPr/>
          <p:nvPr/>
        </p:nvSpPr>
        <p:spPr>
          <a:xfrm>
            <a:off x="594360" y="5303520"/>
            <a:ext cx="10972800" cy="64008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Pe hartă nu intră nimic fără o sursă care poate fi găsită de altcineva.</a:t>
            </a:r>
            <a:endParaRPr lang="en-US" sz="2100" dirty="0"/>
          </a:p>
        </p:txBody>
      </p:sp>
      <p:sp>
        <p:nvSpPr>
          <p:cNvPr id="28" name="Text 2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2018; macheta căsuței este a prezentării cursului.</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CU COLEGUL DE BANCĂ · ORGANIZAȚIA ECHIPEI VOASTRE</a:t>
            </a:r>
            <a:endParaRPr lang="en-US" sz="1300" dirty="0"/>
          </a:p>
        </p:txBody>
      </p:sp>
      <p:sp>
        <p:nvSpPr>
          <p:cNvPr id="5" name="Text 3"/>
          <p:cNvSpPr/>
          <p:nvPr/>
        </p:nvSpPr>
        <p:spPr>
          <a:xfrm>
            <a:off x="594360" y="1097280"/>
            <a:ext cx="10789920" cy="2286000"/>
          </a:xfrm>
          <a:prstGeom prst="rect">
            <a:avLst/>
          </a:prstGeom>
          <a:noFill/>
          <a:ln/>
        </p:spPr>
        <p:txBody>
          <a:bodyPr wrap="square" lIns="0" tIns="0" rIns="0" bIns="0" rtlCol="0" anchor="ctr"/>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Care este primul semnal din afara organizației voastre pe care l-ați scrie pe hartă?</a:t>
            </a:r>
            <a:endParaRPr lang="en-US" sz="3800" dirty="0"/>
          </a:p>
        </p:txBody>
      </p:sp>
      <p:sp>
        <p:nvSpPr>
          <p:cNvPr id="6" name="Shape 4"/>
          <p:cNvSpPr/>
          <p:nvPr/>
        </p:nvSpPr>
        <p:spPr>
          <a:xfrm>
            <a:off x="594360" y="3611880"/>
            <a:ext cx="1280160" cy="36576"/>
          </a:xfrm>
          <a:prstGeom prst="rect">
            <a:avLst/>
          </a:prstGeom>
          <a:solidFill>
            <a:srgbClr val="27D3BE"/>
          </a:solidFill>
          <a:ln/>
        </p:spPr>
        <p:txBody>
          <a:bodyPr/>
          <a:p/>
        </p:txBody>
      </p:sp>
      <p:sp>
        <p:nvSpPr>
          <p:cNvPr id="7" name="Text 5"/>
          <p:cNvSpPr/>
          <p:nvPr/>
        </p:nvSpPr>
        <p:spPr>
          <a:xfrm>
            <a:off x="594360" y="3931920"/>
            <a:ext cx="10424160" cy="128016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În ce căsuță îl scrieți? De unde ați putea afla, din surse publice, dacă semnalul este real? Două minute. Răspunsul vă ajută la seminarul al doilea.</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 · NU SE NOTEAZĂ</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TESTUL DE LA FINAL</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Zece întrebări despre ideile ședinței</a:t>
            </a:r>
            <a:endParaRPr lang="en-US" sz="3400" dirty="0"/>
          </a:p>
        </p:txBody>
      </p:sp>
      <p:sp>
        <p:nvSpPr>
          <p:cNvPr id="6" name="Shape 4"/>
          <p:cNvSpPr/>
          <p:nvPr/>
        </p:nvSpPr>
        <p:spPr>
          <a:xfrm>
            <a:off x="594360" y="1783080"/>
            <a:ext cx="6766560" cy="621792"/>
          </a:xfrm>
          <a:prstGeom prst="roundRect">
            <a:avLst>
              <a:gd name="adj" fmla="val 13235"/>
            </a:avLst>
          </a:prstGeom>
          <a:solidFill>
            <a:srgbClr val="1D1F2B"/>
          </a:solidFill>
          <a:ln w="12700">
            <a:solidFill>
              <a:srgbClr val="1D1F2B"/>
            </a:solidFill>
            <a:prstDash val="solid"/>
          </a:ln>
        </p:spPr>
        <p:txBody>
          <a:bodyPr/>
          <a:p/>
        </p:txBody>
      </p:sp>
      <p:sp>
        <p:nvSpPr>
          <p:cNvPr id="7" name="Shape 5"/>
          <p:cNvSpPr/>
          <p:nvPr/>
        </p:nvSpPr>
        <p:spPr>
          <a:xfrm>
            <a:off x="777240" y="1883664"/>
            <a:ext cx="420624" cy="420624"/>
          </a:xfrm>
          <a:prstGeom prst="ellipse">
            <a:avLst/>
          </a:prstGeom>
          <a:solidFill>
            <a:srgbClr val="FFC24B"/>
          </a:solidFill>
          <a:ln/>
        </p:spPr>
        <p:txBody>
          <a:bodyPr/>
          <a:p/>
        </p:txBody>
      </p:sp>
      <p:sp>
        <p:nvSpPr>
          <p:cNvPr id="8" name="Text 6"/>
          <p:cNvSpPr/>
          <p:nvPr/>
        </p:nvSpPr>
        <p:spPr>
          <a:xfrm>
            <a:off x="777240" y="18836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371600" y="1783080"/>
            <a:ext cx="5852160" cy="62179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Analiza mediului extern și scopurile ei</a:t>
            </a:r>
            <a:endParaRPr lang="en-US" sz="1700" dirty="0"/>
          </a:p>
        </p:txBody>
      </p:sp>
      <p:sp>
        <p:nvSpPr>
          <p:cNvPr id="10" name="Shape 8"/>
          <p:cNvSpPr/>
          <p:nvPr/>
        </p:nvSpPr>
        <p:spPr>
          <a:xfrm>
            <a:off x="594360" y="2514600"/>
            <a:ext cx="6766560" cy="621792"/>
          </a:xfrm>
          <a:prstGeom prst="roundRect">
            <a:avLst>
              <a:gd name="adj" fmla="val 13235"/>
            </a:avLst>
          </a:prstGeom>
          <a:solidFill>
            <a:srgbClr val="1D1F2B"/>
          </a:solidFill>
          <a:ln w="12700">
            <a:solidFill>
              <a:srgbClr val="1D1F2B"/>
            </a:solidFill>
            <a:prstDash val="solid"/>
          </a:ln>
        </p:spPr>
        <p:txBody>
          <a:bodyPr/>
          <a:p/>
        </p:txBody>
      </p:sp>
      <p:sp>
        <p:nvSpPr>
          <p:cNvPr id="11" name="Shape 9"/>
          <p:cNvSpPr/>
          <p:nvPr/>
        </p:nvSpPr>
        <p:spPr>
          <a:xfrm>
            <a:off x="777240" y="2615184"/>
            <a:ext cx="420624" cy="420624"/>
          </a:xfrm>
          <a:prstGeom prst="ellipse">
            <a:avLst/>
          </a:prstGeom>
          <a:solidFill>
            <a:srgbClr val="FFC24B"/>
          </a:solidFill>
          <a:ln/>
        </p:spPr>
        <p:txBody>
          <a:bodyPr/>
          <a:p/>
        </p:txBody>
      </p:sp>
      <p:sp>
        <p:nvSpPr>
          <p:cNvPr id="12" name="Text 10"/>
          <p:cNvSpPr/>
          <p:nvPr/>
        </p:nvSpPr>
        <p:spPr>
          <a:xfrm>
            <a:off x="777240" y="26151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371600" y="2514600"/>
            <a:ext cx="5852160" cy="62179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Straturile mediului și cele cinci categorii</a:t>
            </a:r>
            <a:endParaRPr lang="en-US" sz="1700" dirty="0"/>
          </a:p>
        </p:txBody>
      </p:sp>
      <p:sp>
        <p:nvSpPr>
          <p:cNvPr id="14" name="Shape 12"/>
          <p:cNvSpPr/>
          <p:nvPr/>
        </p:nvSpPr>
        <p:spPr>
          <a:xfrm>
            <a:off x="594360" y="3246120"/>
            <a:ext cx="6766560" cy="621792"/>
          </a:xfrm>
          <a:prstGeom prst="roundRect">
            <a:avLst>
              <a:gd name="adj" fmla="val 13235"/>
            </a:avLst>
          </a:prstGeom>
          <a:solidFill>
            <a:srgbClr val="1D1F2B"/>
          </a:solidFill>
          <a:ln w="12700">
            <a:solidFill>
              <a:srgbClr val="1D1F2B"/>
            </a:solidFill>
            <a:prstDash val="solid"/>
          </a:ln>
        </p:spPr>
        <p:txBody>
          <a:bodyPr/>
          <a:p/>
        </p:txBody>
      </p:sp>
      <p:sp>
        <p:nvSpPr>
          <p:cNvPr id="15" name="Shape 13"/>
          <p:cNvSpPr/>
          <p:nvPr/>
        </p:nvSpPr>
        <p:spPr>
          <a:xfrm>
            <a:off x="777240" y="3346704"/>
            <a:ext cx="420624" cy="420624"/>
          </a:xfrm>
          <a:prstGeom prst="ellipse">
            <a:avLst/>
          </a:prstGeom>
          <a:solidFill>
            <a:srgbClr val="FFC24B"/>
          </a:solidFill>
          <a:ln/>
        </p:spPr>
        <p:txBody>
          <a:bodyPr/>
          <a:p/>
        </p:txBody>
      </p:sp>
      <p:sp>
        <p:nvSpPr>
          <p:cNvPr id="16" name="Text 14"/>
          <p:cNvSpPr/>
          <p:nvPr/>
        </p:nvSpPr>
        <p:spPr>
          <a:xfrm>
            <a:off x="777240" y="33467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371600" y="3246120"/>
            <a:ext cx="5852160" cy="62179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Harta problemelor</a:t>
            </a:r>
            <a:endParaRPr lang="en-US" sz="1700" dirty="0"/>
          </a:p>
        </p:txBody>
      </p:sp>
      <p:sp>
        <p:nvSpPr>
          <p:cNvPr id="18" name="Shape 16"/>
          <p:cNvSpPr/>
          <p:nvPr/>
        </p:nvSpPr>
        <p:spPr>
          <a:xfrm>
            <a:off x="594360" y="3977640"/>
            <a:ext cx="6766560" cy="621792"/>
          </a:xfrm>
          <a:prstGeom prst="roundRect">
            <a:avLst>
              <a:gd name="adj" fmla="val 13235"/>
            </a:avLst>
          </a:prstGeom>
          <a:solidFill>
            <a:srgbClr val="1D1F2B"/>
          </a:solidFill>
          <a:ln w="12700">
            <a:solidFill>
              <a:srgbClr val="1D1F2B"/>
            </a:solidFill>
            <a:prstDash val="solid"/>
          </a:ln>
        </p:spPr>
        <p:txBody>
          <a:bodyPr/>
          <a:p/>
        </p:txBody>
      </p:sp>
      <p:sp>
        <p:nvSpPr>
          <p:cNvPr id="19" name="Shape 17"/>
          <p:cNvSpPr/>
          <p:nvPr/>
        </p:nvSpPr>
        <p:spPr>
          <a:xfrm>
            <a:off x="777240" y="4078224"/>
            <a:ext cx="420624" cy="420624"/>
          </a:xfrm>
          <a:prstGeom prst="ellipse">
            <a:avLst/>
          </a:prstGeom>
          <a:solidFill>
            <a:srgbClr val="FFC24B"/>
          </a:solidFill>
          <a:ln/>
        </p:spPr>
        <p:txBody>
          <a:bodyPr/>
          <a:p/>
        </p:txBody>
      </p:sp>
      <p:sp>
        <p:nvSpPr>
          <p:cNvPr id="20" name="Text 18"/>
          <p:cNvSpPr/>
          <p:nvPr/>
        </p:nvSpPr>
        <p:spPr>
          <a:xfrm>
            <a:off x="777240" y="40782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371600" y="3977640"/>
            <a:ext cx="5852160" cy="62179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Cei șase pași și limitele analizei</a:t>
            </a:r>
            <a:endParaRPr lang="en-US" sz="1700" dirty="0"/>
          </a:p>
        </p:txBody>
      </p:sp>
      <p:sp>
        <p:nvSpPr>
          <p:cNvPr id="22" name="Shape 20"/>
          <p:cNvSpPr/>
          <p:nvPr/>
        </p:nvSpPr>
        <p:spPr>
          <a:xfrm>
            <a:off x="7680960" y="1783080"/>
            <a:ext cx="3886200" cy="2743200"/>
          </a:xfrm>
          <a:prstGeom prst="roundRect">
            <a:avLst>
              <a:gd name="adj" fmla="val 3000"/>
            </a:avLst>
          </a:prstGeom>
          <a:solidFill>
            <a:srgbClr val="272A38"/>
          </a:solidFill>
          <a:ln w="12700">
            <a:solidFill>
              <a:srgbClr val="272A38"/>
            </a:solidFill>
            <a:prstDash val="solid"/>
          </a:ln>
        </p:spPr>
        <p:txBody>
          <a:bodyPr/>
          <a:p/>
        </p:txBody>
      </p:sp>
      <p:sp>
        <p:nvSpPr>
          <p:cNvPr id="23" name="Text 21"/>
          <p:cNvSpPr/>
          <p:nvPr/>
        </p:nvSpPr>
        <p:spPr>
          <a:xfrm>
            <a:off x="7909560" y="1783080"/>
            <a:ext cx="3474720" cy="2743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Testul nu se notează. Rezultatele arată ce idei se reiau la începutul cursului următor.</a:t>
            </a:r>
            <a:endParaRPr lang="en-US" sz="1700" dirty="0"/>
          </a:p>
        </p:txBody>
      </p:sp>
      <p:sp>
        <p:nvSpPr>
          <p:cNvPr id="24" name="Text 22"/>
          <p:cNvSpPr/>
          <p:nvPr/>
        </p:nvSpPr>
        <p:spPr>
          <a:xfrm>
            <a:off x="594360" y="5029200"/>
            <a:ext cx="10972800" cy="45720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MÂINE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Ce faceți diferit</a:t>
            </a:r>
            <a:endParaRPr lang="en-US" sz="3400" dirty="0"/>
          </a:p>
        </p:txBody>
      </p:sp>
      <p:sp>
        <p:nvSpPr>
          <p:cNvPr id="4" name="Shape 2"/>
          <p:cNvSpPr/>
          <p:nvPr/>
        </p:nvSpPr>
        <p:spPr>
          <a:xfrm>
            <a:off x="594360" y="1600200"/>
            <a:ext cx="10972800" cy="786384"/>
          </a:xfrm>
          <a:prstGeom prst="roundRect">
            <a:avLst>
              <a:gd name="adj" fmla="val 10465"/>
            </a:avLst>
          </a:prstGeom>
          <a:solidFill>
            <a:srgbClr val="ECEAE4"/>
          </a:solidFill>
          <a:ln w="12700">
            <a:solidFill>
              <a:srgbClr val="ECEAE4"/>
            </a:solidFill>
            <a:prstDash val="solid"/>
          </a:ln>
        </p:spPr>
        <p:txBody>
          <a:bodyPr/>
          <a:p/>
        </p:txBody>
      </p:sp>
      <p:sp>
        <p:nvSpPr>
          <p:cNvPr id="5" name="Shape 3"/>
          <p:cNvSpPr/>
          <p:nvPr/>
        </p:nvSpPr>
        <p:spPr>
          <a:xfrm>
            <a:off x="822960" y="1783080"/>
            <a:ext cx="420624" cy="420624"/>
          </a:xfrm>
          <a:prstGeom prst="ellipse">
            <a:avLst/>
          </a:prstGeom>
          <a:solidFill>
            <a:srgbClr val="FF4757"/>
          </a:solidFill>
          <a:ln/>
        </p:spPr>
        <p:txBody>
          <a:bodyPr/>
          <a:p/>
        </p:txBody>
      </p:sp>
      <p:sp>
        <p:nvSpPr>
          <p:cNvPr id="6" name="Text 4"/>
          <p:cNvSpPr/>
          <p:nvPr/>
        </p:nvSpPr>
        <p:spPr>
          <a:xfrm>
            <a:off x="822960" y="178308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600200"/>
            <a:ext cx="9921240" cy="786384"/>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Când auziți „pleacă toți medicii”: în ce strat s-a produs schimbarea și ce date publice o confirmă?</a:t>
            </a:r>
            <a:endParaRPr lang="en-US" sz="1700" dirty="0"/>
          </a:p>
        </p:txBody>
      </p:sp>
      <p:sp>
        <p:nvSpPr>
          <p:cNvPr id="8" name="Shape 6"/>
          <p:cNvSpPr/>
          <p:nvPr/>
        </p:nvSpPr>
        <p:spPr>
          <a:xfrm>
            <a:off x="594360" y="2514600"/>
            <a:ext cx="10972800" cy="786384"/>
          </a:xfrm>
          <a:prstGeom prst="roundRect">
            <a:avLst>
              <a:gd name="adj" fmla="val 10465"/>
            </a:avLst>
          </a:prstGeom>
          <a:solidFill>
            <a:srgbClr val="F9F8F5"/>
          </a:solidFill>
          <a:ln w="12700">
            <a:solidFill>
              <a:srgbClr val="F9F8F5"/>
            </a:solidFill>
            <a:prstDash val="solid"/>
          </a:ln>
        </p:spPr>
        <p:txBody>
          <a:bodyPr/>
          <a:p/>
        </p:txBody>
      </p:sp>
      <p:sp>
        <p:nvSpPr>
          <p:cNvPr id="9" name="Shape 7"/>
          <p:cNvSpPr/>
          <p:nvPr/>
        </p:nvSpPr>
        <p:spPr>
          <a:xfrm>
            <a:off x="822960" y="2697480"/>
            <a:ext cx="420624" cy="420624"/>
          </a:xfrm>
          <a:prstGeom prst="ellipse">
            <a:avLst/>
          </a:prstGeom>
          <a:solidFill>
            <a:srgbClr val="FF4757"/>
          </a:solidFill>
          <a:ln/>
        </p:spPr>
        <p:txBody>
          <a:bodyPr/>
          <a:p/>
        </p:txBody>
      </p:sp>
      <p:sp>
        <p:nvSpPr>
          <p:cNvPr id="10" name="Text 8"/>
          <p:cNvSpPr/>
          <p:nvPr/>
        </p:nvSpPr>
        <p:spPr>
          <a:xfrm>
            <a:off x="822960" y="269748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63040" y="2514600"/>
            <a:ext cx="9921240" cy="786384"/>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Când faceți un plan: notați presupunerile și momentul în care le verificați.</a:t>
            </a:r>
            <a:endParaRPr lang="en-US" sz="1700" dirty="0"/>
          </a:p>
        </p:txBody>
      </p:sp>
      <p:sp>
        <p:nvSpPr>
          <p:cNvPr id="12" name="Shape 10"/>
          <p:cNvSpPr/>
          <p:nvPr/>
        </p:nvSpPr>
        <p:spPr>
          <a:xfrm>
            <a:off x="594360" y="3429000"/>
            <a:ext cx="10972800" cy="786384"/>
          </a:xfrm>
          <a:prstGeom prst="roundRect">
            <a:avLst>
              <a:gd name="adj" fmla="val 10465"/>
            </a:avLst>
          </a:prstGeom>
          <a:solidFill>
            <a:srgbClr val="ECEAE4"/>
          </a:solidFill>
          <a:ln w="12700">
            <a:solidFill>
              <a:srgbClr val="ECEAE4"/>
            </a:solidFill>
            <a:prstDash val="solid"/>
          </a:ln>
        </p:spPr>
        <p:txBody>
          <a:bodyPr/>
          <a:p/>
        </p:txBody>
      </p:sp>
      <p:sp>
        <p:nvSpPr>
          <p:cNvPr id="13" name="Shape 11"/>
          <p:cNvSpPr/>
          <p:nvPr/>
        </p:nvSpPr>
        <p:spPr>
          <a:xfrm>
            <a:off x="822960" y="3611880"/>
            <a:ext cx="420624" cy="420624"/>
          </a:xfrm>
          <a:prstGeom prst="ellipse">
            <a:avLst/>
          </a:prstGeom>
          <a:solidFill>
            <a:srgbClr val="FF4757"/>
          </a:solidFill>
          <a:ln/>
        </p:spPr>
        <p:txBody>
          <a:bodyPr/>
          <a:p/>
        </p:txBody>
      </p:sp>
      <p:sp>
        <p:nvSpPr>
          <p:cNvPr id="14" name="Text 12"/>
          <p:cNvSpPr/>
          <p:nvPr/>
        </p:nvSpPr>
        <p:spPr>
          <a:xfrm>
            <a:off x="822960" y="361188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63040" y="3429000"/>
            <a:ext cx="9921240" cy="786384"/>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Când un semnal pare o amenințare: descrieți-l prin ce se schimbă și pentru cine.</a:t>
            </a:r>
            <a:endParaRPr lang="en-US" sz="1700" dirty="0"/>
          </a:p>
        </p:txBody>
      </p:sp>
      <p:sp>
        <p:nvSpPr>
          <p:cNvPr id="16" name="Shape 14"/>
          <p:cNvSpPr/>
          <p:nvPr/>
        </p:nvSpPr>
        <p:spPr>
          <a:xfrm>
            <a:off x="594360" y="4343400"/>
            <a:ext cx="10972800" cy="786384"/>
          </a:xfrm>
          <a:prstGeom prst="roundRect">
            <a:avLst>
              <a:gd name="adj" fmla="val 10465"/>
            </a:avLst>
          </a:prstGeom>
          <a:solidFill>
            <a:srgbClr val="F9F8F5"/>
          </a:solidFill>
          <a:ln w="12700">
            <a:solidFill>
              <a:srgbClr val="F9F8F5"/>
            </a:solidFill>
            <a:prstDash val="solid"/>
          </a:ln>
        </p:spPr>
        <p:txBody>
          <a:bodyPr/>
          <a:p/>
        </p:txBody>
      </p:sp>
      <p:sp>
        <p:nvSpPr>
          <p:cNvPr id="17" name="Shape 15"/>
          <p:cNvSpPr/>
          <p:nvPr/>
        </p:nvSpPr>
        <p:spPr>
          <a:xfrm>
            <a:off x="822960" y="4526280"/>
            <a:ext cx="420624" cy="420624"/>
          </a:xfrm>
          <a:prstGeom prst="ellipse">
            <a:avLst/>
          </a:prstGeom>
          <a:solidFill>
            <a:srgbClr val="FF4757"/>
          </a:solidFill>
          <a:ln/>
        </p:spPr>
        <p:txBody>
          <a:bodyPr/>
          <a:p/>
        </p:txBody>
      </p:sp>
      <p:sp>
        <p:nvSpPr>
          <p:cNvPr id="18" name="Text 16"/>
          <p:cNvSpPr/>
          <p:nvPr/>
        </p:nvSpPr>
        <p:spPr>
          <a:xfrm>
            <a:off x="822960" y="452628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463040" y="4343400"/>
            <a:ext cx="9921240" cy="786384"/>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Când citiți o știre: căutați sursa cifrei.</a:t>
            </a:r>
            <a:endParaRPr lang="en-US" sz="1700" dirty="0"/>
          </a:p>
        </p:txBody>
      </p:sp>
      <p:sp>
        <p:nvSpPr>
          <p:cNvPr id="20" name="Text 18"/>
          <p:cNvSpPr/>
          <p:nvPr/>
        </p:nvSpPr>
        <p:spPr>
          <a:xfrm>
            <a:off x="594360" y="5440680"/>
            <a:ext cx="10972800" cy="548640"/>
          </a:xfrm>
          <a:prstGeom prst="rect">
            <a:avLst/>
          </a:prstGeom>
          <a:noFill/>
          <a:ln/>
        </p:spPr>
        <p:txBody>
          <a:bodyPr wrap="square" lIns="0" tIns="0" rIns="0" bIns="0" rtlCol="0" anchor="t"/>
          <a:lstStyle/>
          <a:p>
            <a:pPr indent="0" marL="0">
              <a:buNone/>
            </a:pPr>
            <a:r>
              <a:rPr lang="en-US" sz="1700" i="1" dirty="0">
                <a:solidFill>
                  <a:srgbClr val="585A64"/>
                </a:solidFill>
                <a:latin typeface="Palatino Linotype" pitchFamily="34" charset="0"/>
                <a:ea typeface="Palatino Linotype" pitchFamily="34" charset="-122"/>
                <a:cs typeface="Palatino Linotype" pitchFamily="34" charset="-120"/>
              </a:rPr>
              <a:t>Săptămâna viitoare: partea a doua. La seminarul al doilea, harta problemelor este punctul vostru de plecare.</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420624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42062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 azi?</a:t>
            </a:r>
            <a:endParaRPr lang="en-US" sz="22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v-am pierdut?</a:t>
            </a:r>
            <a:endParaRPr lang="en-US" sz="22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200" dirty="0"/>
          </a:p>
        </p:txBody>
      </p:sp>
      <p:sp>
        <p:nvSpPr>
          <p:cNvPr id="14" name="Shape 12"/>
          <p:cNvSpPr/>
          <p:nvPr/>
        </p:nvSpPr>
        <p:spPr>
          <a:xfrm>
            <a:off x="8549640" y="2331720"/>
            <a:ext cx="3017520" cy="2743200"/>
          </a:xfrm>
          <a:prstGeom prst="roundRect">
            <a:avLst>
              <a:gd name="adj" fmla="val 3000"/>
            </a:avLst>
          </a:prstGeom>
          <a:solidFill>
            <a:srgbClr val="FFFFFF"/>
          </a:solidFill>
          <a:ln w="12700">
            <a:solidFill>
              <a:srgbClr val="FFFFFF"/>
            </a:solidFill>
            <a:prstDash val="solid"/>
          </a:ln>
        </p:spPr>
        <p:txBody>
          <a:bodyPr/>
          <a:p/>
        </p:txBody>
      </p:sp>
      <p:sp>
        <p:nvSpPr>
          <p:cNvPr id="16" name="Text 14"/>
          <p:cNvSpPr/>
          <p:nvPr/>
        </p:nvSpPr>
        <p:spPr>
          <a:xfrm>
            <a:off x="594360" y="5349240"/>
            <a:ext cx="10972800" cy="6400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Mentimeter, anonim. Răspunsurile stau la baza a două modificări, anunțate la începutul ședinței următoare.</a:t>
            </a:r>
            <a:endParaRPr lang="en-US" sz="1700" dirty="0"/>
          </a:p>
        </p:txBody>
      </p:sp>
      <p:pic>
        <p:nvPicPr>
          <p:cNvPr id="17" name="Picture 16" descr="Mentimeter_UB_MSSS_C02.png"/>
          <p:cNvPicPr>
            <a:picLocks noChangeAspect="1"/>
          </p:cNvPicPr>
          <p:nvPr/>
        </p:nvPicPr>
        <p:blipFill>
          <a:blip r:embed="rId3"/>
          <a:stretch>
            <a:fillRect/>
          </a:stretch>
        </p:blipFill>
        <p:spPr>
          <a:xfrm>
            <a:off x="9000490" y="2331720"/>
            <a:ext cx="2115820" cy="2115820"/>
          </a:xfrm>
          <a:prstGeom prst="rect">
            <a:avLst/>
          </a:prstGeom>
        </p:spPr>
      </p:pic>
      <p:sp>
        <p:nvSpPr>
          <p:cNvPr id="18" name="TextBox 17"/>
          <p:cNvSpPr txBox="1"/>
          <p:nvPr/>
        </p:nvSpPr>
        <p:spPr>
          <a:xfrm>
            <a:off x="9000490" y="4485640"/>
            <a:ext cx="211582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Ședința 2 - Analiza mediului extern (I)</dc:title>
  <dc:subject>PptxGenJS Presentation</dc:subject>
  <dc:creator>Conf. Univ. Dr. Adrian Pana</dc:creator>
  <cp:lastModifiedBy>Conf. Univ. Dr. Adrian Pana</cp:lastModifiedBy>
  <cp:revision>1</cp:revision>
  <dcterms:created xsi:type="dcterms:W3CDTF">2026-10-11T08:19:34Z</dcterms:created>
  <dcterms:modified xsi:type="dcterms:W3CDTF">2026-10-11T08:19:34Z</dcterms:modified>
  <cp:keywords>sursa_amprenta=ae1db05e29a56227; proiectie</cp:keywords>
</cp:coreProperties>
</file>