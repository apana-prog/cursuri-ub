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22-1.jpg" ContentType="image/jpg"/>
  <Override PartName="/ppt/media/image-24-1.jpg" ContentType="image/jpg"/>
  <Override PartName="/ppt/media/image-28-1.jpg" ContentType="image/jpg"/>
  <Override PartName="/ppt/media/image-28-2.jpg" ContentType="image/jpg"/>
  <Override PartName="/ppt/media/image-3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acestei ședințe pune o întrebare: de ce management strategic în sănătate? Începem cu o situație pe care o cunoașteți din proprie experiență: sesiunea.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prim răspuns, provizoriu, se poate da încă de acum. O organizație de sănătate are întotdeauna mai multe lucruri de făcut decât oameni, timp și bani, iar lumea din jurul ei se schimbă în timp ce le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Jumătate din timp lucrați voi: votați, discutați în perechi, argumentați în tabere și urmăriți o scenă jucată de colegi. Nimic din ce faceți în sală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Votul pe telefon, discuțiile din sală și testele formative de la sfârșitul cursurilor nu se notează. La restanță sau la mărire refaceți numai examenul; notele de cel puțin 5 la proiect și la produse se păstrează.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Peste câteva săptămâni începe sesiunea. Unii colegi își fac din prima săptămână un orar; alții învață din mers. Se poate face și câte puțin din amândouă.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Cine își face un orar și nu îl schimbă niciodată riscă să piardă zile prețioase cu un examen care s-a dovedit mai ușor. Cine învață numai din mers ajunge în ultima săptămână cu două examene grele și fără timp pentru niciunul.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 discuție merită să rămână trei lucruri: o strategie nu înseamnă un orar desenat în culori, o strategie înseamnă și renunțare, iar strategia se vede în ce faceți zi de 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spital, o direcție de sănătate publică sau o casă de asigurări de sănătate se află zilnic în situația voastră din sesiune, la o scară mult mai mare. Managementul strategic nu înseamnă numai reacție la schimbare: organizația își imaginează ce ar putea deveni.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singur cuvânt, primul care vă vine în minte. Norul se păstrează până la sfârșitul ședinței.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sesiune, strategia nu este orarul de pe perete, ci regula pe care o urmați de fiecare dată când trebuie să alegeți: de exemplu, examenul cu cele mai multe credite primește primele zile.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Spitalul nu există, nu are nume și nu descrie o unitate reală; povestea nu conține cifre, pentru că orice cifră ar fi inventată.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același timp, consiliul județean, care deține spitalul, propune o clădire nouă, cu mai multe paturi. Este o propunere populară și ușor de anunțat.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Primele trei variante nu sunt greșite în sine; problema lor este că sunt luate separat. Fără o direcție, managera ajunge să conducă spitalul ca studentul care învață numai din 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cine pierde și cine câștigă dacă managera pune un semnal pe primul 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Înainte de deciziile mari, managera are nevoie să înțeleagă ce se întâmplă, să aleagă o direcție și să stabilească reguli după care se vor lua deciziile mici. Nu este o amânare, ci singurul mod în care cele trei semnale pot fi tratate ca părți ale aceleiași probleme. Legea spune că managera trebuie să aibă un plan; nu spune ce să scrie în 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cuvinte de zi cu zi, managementul strategic înseamnă a conduce o organizație cu direcție: te gândești, hotărăști, faci și te corectezi. Definiția are trei părți, pe care Ginter, Duncan și Swayne le numesc, în engleză, „strategic thinking”, „strategic planning” și „strategic momentum”. În acest curs, ele se numesc gândirea strategică, planificarea strategică și activitatea strategică.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părți nu sunt etape care se termină una după alta. Autorii le desenează legate prin săgeți cu două sensuri, pentru că oricare dintre ele le poate relansa pe celelalte. O idee nouă a unui șef de secție poate întoarce întreaga echipă la planificare.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semnale din caz sunt construite, dar nu sunt inventate din nimic. Fiecare are un corespondent în datele reale despre sistemul românesc de sănătate.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ultimele două decenii, ponderea persoanelor de 65 de ani și peste a crescut de la aproximativ una din șapte persoane la aproximativ una din cinci. În ultimul sfert de secol, spitalele private au crescut de la câteva unități la aproximativ o treime din numărul total de spitale.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Ginter, Duncan și Swayne grupează schimbările care afectează sănătatea în cinci categorii. Strategia națională de sănătate constată că sistemul nu a avut până atunci o abordare strategică susținută, iar politicile au fost mai ales reactive.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este o afirmație despre spitale, construită pentru acest curs, ca exemplu. Votați, apoi discutăm ce date ar trebui consultate.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de țară din 2025 arată că internările potențial evitabile pentru boli cronice sunt în România de multă vreme printre cele mai mari din UE, iar medicii de familie au un rol slab în urmărirea bolilor cronice. Media țării nu spune, în schimb, cât de pline sunt secțiile unui anumit spital județean. Tocmai această întrebare o are de rezolvat managera din caz. Întrebarea „ați crede această afirmație?” se va repeta în cursurile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Hărțile se corectează pe drum, pe măsură ce apar informații noi. Fără niciun model sau hartă, însă, conducătorii riscă să devină cu totul incoerenți, confuzi în felul în care văd situația și dezordonați în ceea ce fac. Studentul cu orar fix are numai hartă; studentul care învață din mers are numai busolă.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Partea stângă apără harta, partea dreaptă apără busola. Pentru fiecare situație, fiecare tabără spune de ce instrumentul ei este mai util; apoi toată sala votează.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ambulatoriul dintr-un oraș stabil, harta are avantaj. În primele săptămâni ale unei epidemii necunoscute, busola are avantaj. Urmărirea pacienților de la distanță se află la mijloc.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Mecanismul recompensează spitalele pentru îmbunătățiri măsurabile ale calității. Direcția a fost stabilită dinainte: harta. Felul în care se aplică a fost învățat pe parcurs, prin testare și extindere: busola.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Multă vreme, organizațiile au fost conduse după imaginea ceasului: problema mare se împarte în bucăți mici, iar fiecare bucată se optimizează separat. Paul Plsek și Trisha Greenhalgh au susținut că sănătatea nu funcționează așa. Medicii, asistentele, pacienții, familiile, casa de asigurări și medicii de familie reacționează unii la alții.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managera transformă o secție cu paturi goale în spitalizare de zi, decizia pare internă, de o singură secție. În realitate, pacienții care veneau la acea secție vor merge în altă parte: la urgențe, la medicul de familie, la clinica privată.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persoană sau o instituție, una singură. Răspunsurile apar pe ecran.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Perspectiva întregului sistem ajută echipa de conducere să vadă imaginea de ansamblu, să observe legăturile importante dintre părți și să caute soluții largi.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Managera știe acum de ce are nevoie de o strategie și știe că planul ei va fi corectat pe drum. Rămâne întrebarea practică: cum se face, concret, o strategie? Manualul descrie un drum cu pași care se repetă.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răspunsuri se suprapun și, împreună, devin punctul de plecare pentru formularea strategiei. Cursurile din săptămânile următoare iau primul pas pe bucăți: mediul extern, concurenții, mediul intern.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pas este formularea strategiei: organizația își imaginează mai multe variante, le cântărește și o alege pe cea pe care o va urma. În general, cu cât decizia este mai importantă, cu atât se poate măsura mai greu și cu atât depinde mai mult de o judecată informată.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Alegeți un singur lucru și scrieți-l într-o propoziție.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leagă direct planul strategic de aceste orientări pentru decizii, pentru că ele permit ca oameni diferiți, în momente diferite, să aleagă în aceeași direcție. Un plan scris numai de director întâmpină greutăți la aplicare, pentru că nimeni nu îl simte ca fiind al său; cheia este ca grupul care îl pregătește să se întâlnească regulat.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Cuvântul control nu are aici sensul de inspecție sau de pedeapsă. Echipa de conducere stabilește direcția și îi lasă pe oameni să decidă cum ajung acolo. O strategie care nu este condusă activ nu se realizează.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autor citat de Ginter, Duncan și Swayne, Alan Weiss, o rezumă astfel: strategia devine un exercițiu anual, un eveniment care produce un document, nu un proces prin care organizația este condusă. Studenții cunosc fenomenul din sesiune: orarul făcut cu entuziasm în prima zi și uitat în a treia.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voluntar joacă rolul managerei, al doilea rolul șefului de secție, care află vestea și are de apărat secția și oamenii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Decizia corectă pe hârtie se poate lovi de oameni care au motive bune să o refuze.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pune responsabilitatea principală pentru strategie la echipa de conducere și, în primul rând, la directorul organizației. Leadershipul, pe care acest curs îl numește conducere strategică, urmărește schimbarea. Un șef de secție, o asistentă-șefă sau un student într-o echipă de proiect pot exercita, însă, conducere strategică. Fiecare angajat ar trebui să știe cum contribuie munca lui la obiectivele organizației.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formativ pe Kahoot, despre ideile ședinței: strategia, cele trei părți ale managementului strategic, cei patru pași ai procesului strategic, harta și busola, spitalul ca sistem viu. Testul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singur cuvânt, ca la început. Cuvintele care apar numai în al doilea nor sunt punctul de plecare pentru recapitulare.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strategie ajută ca deciziile mici să urmeze aceeași direcție, chiar atunci când le iau oameni diferiți. Între plan și realitate apare, de cele mai multe ori, o distanță, de aceea harta și busola sunt amândouă necesare. Proiectul echipei voastre urmează aceiași pași ca procesul strategic din această ședință.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 pe Mentimeter, prin codul QR. Răspunsurile stau la baza a două modificări,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sala_lectura.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11121A">
              <a:alpha val="90000"/>
            </a:srgbClr>
          </a:solidFill>
          <a:ln w="12700">
            <a:solidFill>
              <a:srgbClr val="11121A"/>
            </a:solidFill>
            <a:prstDash val="solid"/>
          </a:ln>
        </p:spPr>
        <p:txBody>
          <a:bodyPr/>
          <a:p/>
        </p:txBody>
      </p:sp>
      <p:sp>
        <p:nvSpPr>
          <p:cNvPr id="4" name="Shape 1"/>
          <p:cNvSpPr/>
          <p:nvPr/>
        </p:nvSpPr>
        <p:spPr>
          <a:xfrm>
            <a:off x="640080" y="777240"/>
            <a:ext cx="2743200" cy="329184"/>
          </a:xfrm>
          <a:prstGeom prst="roundRect">
            <a:avLst>
              <a:gd name="adj" fmla="val 50000"/>
            </a:avLst>
          </a:prstGeom>
          <a:solidFill>
            <a:srgbClr val="FF4757"/>
          </a:solidFill>
          <a:ln w="12700">
            <a:solidFill>
              <a:srgbClr val="FF4757"/>
            </a:solidFill>
            <a:prstDash val="solid"/>
          </a:ln>
        </p:spPr>
        <p:txBody>
          <a:bodyPr/>
          <a:p/>
        </p:txBody>
      </p:sp>
      <p:sp>
        <p:nvSpPr>
          <p:cNvPr id="5" name="Text 2"/>
          <p:cNvSpPr/>
          <p:nvPr/>
        </p:nvSpPr>
        <p:spPr>
          <a:xfrm>
            <a:off x="640080" y="777240"/>
            <a:ext cx="274320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ÎNTÂI</a:t>
            </a:r>
            <a:endParaRPr lang="en-US" sz="1300" dirty="0"/>
          </a:p>
        </p:txBody>
      </p:sp>
      <p:sp>
        <p:nvSpPr>
          <p:cNvPr id="6" name="Text 3"/>
          <p:cNvSpPr/>
          <p:nvPr/>
        </p:nvSpPr>
        <p:spPr>
          <a:xfrm>
            <a:off x="640080" y="1371600"/>
            <a:ext cx="5852160" cy="2377440"/>
          </a:xfrm>
          <a:prstGeom prst="rect">
            <a:avLst/>
          </a:prstGeom>
          <a:noFill/>
          <a:ln/>
        </p:spPr>
        <p:txBody>
          <a:bodyPr wrap="square" lIns="0" tIns="0" rIns="0" bIns="0" rtlCol="0" anchor="t"/>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De ce management strategic în sănătate?</a:t>
            </a:r>
            <a:endParaRPr lang="en-US" sz="4200" dirty="0"/>
          </a:p>
        </p:txBody>
      </p:sp>
      <p:sp>
        <p:nvSpPr>
          <p:cNvPr id="7" name="Shape 4"/>
          <p:cNvSpPr/>
          <p:nvPr/>
        </p:nvSpPr>
        <p:spPr>
          <a:xfrm>
            <a:off x="667512" y="4160520"/>
            <a:ext cx="1280160" cy="27432"/>
          </a:xfrm>
          <a:prstGeom prst="rect">
            <a:avLst/>
          </a:prstGeom>
          <a:solidFill>
            <a:srgbClr val="FF4757"/>
          </a:solidFill>
          <a:ln/>
        </p:spPr>
        <p:txBody>
          <a:bodyPr/>
          <a:p/>
        </p:txBody>
      </p:sp>
      <p:sp>
        <p:nvSpPr>
          <p:cNvPr id="8" name="Text 5"/>
          <p:cNvSpPr/>
          <p:nvPr/>
        </p:nvSpPr>
        <p:spPr>
          <a:xfrm>
            <a:off x="640080" y="4389120"/>
            <a:ext cx="585216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Management strategic în sănătate</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9" name="Text 6"/>
          <p:cNvSpPr/>
          <p:nvPr/>
        </p:nvSpPr>
        <p:spPr>
          <a:xfrm>
            <a:off x="6949440" y="6537960"/>
            <a:ext cx="5029200" cy="219456"/>
          </a:xfrm>
          <a:prstGeom prst="rect">
            <a:avLst/>
          </a:prstGeom>
          <a:noFill/>
          <a:ln/>
        </p:spPr>
        <p:txBody>
          <a:bodyPr wrap="square" lIns="0" tIns="0" rIns="0" bIns="0" rtlCol="0" anchor="ctr"/>
          <a:lstStyle/>
          <a:p>
            <a:pPr algn="r" indent="0" marL="0">
              <a:buNone/>
            </a:pPr>
            <a:r>
              <a:rPr lang="en-US" sz="850" i="1" dirty="0">
                <a:solidFill>
                  <a:srgbClr val="F0F1F5"/>
                </a:solidFill>
                <a:latin typeface="Palatino Linotype" pitchFamily="34" charset="0"/>
                <a:ea typeface="Palatino Linotype" pitchFamily="34" charset="-122"/>
                <a:cs typeface="Palatino Linotype" pitchFamily="34" charset="-120"/>
              </a:rPr>
              <a:t>Sursa: foto UCLA Library University Archives · CC0 · Wikimedia Commons (sală de lectură)</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ce management strategic în sănătate?</a:t>
            </a:r>
            <a:endParaRPr lang="en-US" sz="3000" dirty="0"/>
          </a:p>
        </p:txBody>
      </p:sp>
      <p:sp>
        <p:nvSpPr>
          <p:cNvPr id="4" name="Shape 2"/>
          <p:cNvSpPr/>
          <p:nvPr/>
        </p:nvSpPr>
        <p:spPr>
          <a:xfrm>
            <a:off x="594360" y="1737360"/>
            <a:ext cx="10972800" cy="2331720"/>
          </a:xfrm>
          <a:prstGeom prst="roundRect">
            <a:avLst>
              <a:gd name="adj" fmla="val 3529"/>
            </a:avLst>
          </a:prstGeom>
          <a:solidFill>
            <a:srgbClr val="ECEAE4"/>
          </a:solidFill>
          <a:ln w="12700">
            <a:solidFill>
              <a:srgbClr val="ECEAE4"/>
            </a:solidFill>
            <a:prstDash val="solid"/>
          </a:ln>
        </p:spPr>
        <p:txBody>
          <a:bodyPr/>
          <a:p/>
        </p:txBody>
      </p:sp>
      <p:sp>
        <p:nvSpPr>
          <p:cNvPr id="5" name="Text 3"/>
          <p:cNvSpPr/>
          <p:nvPr/>
        </p:nvSpPr>
        <p:spPr>
          <a:xfrm>
            <a:off x="868680" y="1874520"/>
            <a:ext cx="10058400" cy="292608"/>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UN RĂSPUNS PROVIZORIU</a:t>
            </a:r>
            <a:endParaRPr lang="en-US" sz="1300" dirty="0"/>
          </a:p>
        </p:txBody>
      </p:sp>
      <p:sp>
        <p:nvSpPr>
          <p:cNvPr id="6" name="Text 4"/>
          <p:cNvSpPr/>
          <p:nvPr/>
        </p:nvSpPr>
        <p:spPr>
          <a:xfrm>
            <a:off x="868680" y="2240280"/>
            <a:ext cx="10424160" cy="1143000"/>
          </a:xfrm>
          <a:prstGeom prst="rect">
            <a:avLst/>
          </a:prstGeom>
          <a:noFill/>
          <a:ln/>
        </p:spPr>
        <p:txBody>
          <a:bodyPr wrap="square" lIns="0" tIns="0" rIns="0" bIns="0" rtlCol="0" anchor="t"/>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O organizație de sănătate are mereu mai multe lucruri de făcut decât oameni, timp și bani, iar lumea din jurul ei se schimbă în timp ce le face.</a:t>
            </a:r>
            <a:endParaRPr lang="en-US" sz="2300" dirty="0"/>
          </a:p>
        </p:txBody>
      </p:sp>
      <p:sp>
        <p:nvSpPr>
          <p:cNvPr id="7" name="Text 5"/>
          <p:cNvSpPr/>
          <p:nvPr/>
        </p:nvSpPr>
        <p:spPr>
          <a:xfrm>
            <a:off x="868680" y="3383280"/>
            <a:ext cx="10424160" cy="5486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Organizațiile care nu se adaptează devin, treptat, tot mai puțin relevante.</a:t>
            </a:r>
            <a:endParaRPr lang="en-US" sz="1700" dirty="0"/>
          </a:p>
        </p:txBody>
      </p:sp>
      <p:sp>
        <p:nvSpPr>
          <p:cNvPr id="8" name="Text 6"/>
          <p:cNvSpPr/>
          <p:nvPr/>
        </p:nvSpPr>
        <p:spPr>
          <a:xfrm>
            <a:off x="594360" y="4434840"/>
            <a:ext cx="10972800" cy="4572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Cursul a fost refăcut după observațiile studenților.</a:t>
            </a:r>
            <a:endParaRPr lang="en-US" sz="15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The Strategic Management of Health Care Organizations, ed. a 8-a, 2018.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ore, de la sesiune la spitalul județean</a:t>
            </a:r>
            <a:endParaRPr lang="en-US" sz="3100" dirty="0"/>
          </a:p>
        </p:txBody>
      </p:sp>
      <p:sp>
        <p:nvSpPr>
          <p:cNvPr id="4" name="Shape 2"/>
          <p:cNvSpPr/>
          <p:nvPr/>
        </p:nvSpPr>
        <p:spPr>
          <a:xfrm>
            <a:off x="594360" y="2148840"/>
            <a:ext cx="1828800" cy="868680"/>
          </a:xfrm>
          <a:prstGeom prst="rect">
            <a:avLst/>
          </a:prstGeom>
          <a:solidFill>
            <a:srgbClr val="FF4757"/>
          </a:solidFill>
          <a:ln w="19050">
            <a:solidFill>
              <a:srgbClr val="F6F5F2"/>
            </a:solidFill>
            <a:prstDash val="solid"/>
          </a:ln>
        </p:spPr>
        <p:txBody>
          <a:bodyPr/>
          <a:p/>
        </p:txBody>
      </p:sp>
      <p:sp>
        <p:nvSpPr>
          <p:cNvPr id="5" name="Text 3"/>
          <p:cNvSpPr/>
          <p:nvPr/>
        </p:nvSpPr>
        <p:spPr>
          <a:xfrm>
            <a:off x="640080" y="2148840"/>
            <a:ext cx="1737360" cy="86868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Sesiunea</a:t>
            </a:r>
            <a:endParaRPr lang="en-US" sz="1500" dirty="0"/>
          </a:p>
        </p:txBody>
      </p:sp>
      <p:sp>
        <p:nvSpPr>
          <p:cNvPr id="6" name="Shape 4"/>
          <p:cNvSpPr/>
          <p:nvPr/>
        </p:nvSpPr>
        <p:spPr>
          <a:xfrm>
            <a:off x="2423160" y="2148840"/>
            <a:ext cx="2286000" cy="868680"/>
          </a:xfrm>
          <a:prstGeom prst="rect">
            <a:avLst/>
          </a:prstGeom>
          <a:solidFill>
            <a:srgbClr val="9B7EF7"/>
          </a:solidFill>
          <a:ln w="19050">
            <a:solidFill>
              <a:srgbClr val="F6F5F2"/>
            </a:solidFill>
            <a:prstDash val="solid"/>
          </a:ln>
        </p:spPr>
        <p:txBody>
          <a:bodyPr/>
          <a:p/>
        </p:txBody>
      </p:sp>
      <p:sp>
        <p:nvSpPr>
          <p:cNvPr id="7" name="Text 5"/>
          <p:cNvSpPr/>
          <p:nvPr/>
        </p:nvSpPr>
        <p:spPr>
          <a:xfrm>
            <a:off x="2468880" y="2148840"/>
            <a:ext cx="2194560" cy="868680"/>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Spitalul județean</a:t>
            </a:r>
            <a:endParaRPr lang="en-US" sz="1500" dirty="0"/>
          </a:p>
        </p:txBody>
      </p:sp>
      <p:sp>
        <p:nvSpPr>
          <p:cNvPr id="8" name="Shape 6"/>
          <p:cNvSpPr/>
          <p:nvPr/>
        </p:nvSpPr>
        <p:spPr>
          <a:xfrm>
            <a:off x="4709160" y="2148840"/>
            <a:ext cx="914400" cy="868680"/>
          </a:xfrm>
          <a:prstGeom prst="rect">
            <a:avLst/>
          </a:prstGeom>
          <a:solidFill>
            <a:srgbClr val="ECEAE4"/>
          </a:solidFill>
          <a:ln w="19050">
            <a:solidFill>
              <a:srgbClr val="F6F5F2"/>
            </a:solidFill>
            <a:prstDash val="solid"/>
          </a:ln>
        </p:spPr>
        <p:txBody>
          <a:bodyPr/>
          <a:p/>
        </p:txBody>
      </p:sp>
      <p:sp>
        <p:nvSpPr>
          <p:cNvPr id="9" name="Shape 7"/>
          <p:cNvSpPr/>
          <p:nvPr/>
        </p:nvSpPr>
        <p:spPr>
          <a:xfrm>
            <a:off x="5623560" y="2148840"/>
            <a:ext cx="2286000" cy="868680"/>
          </a:xfrm>
          <a:prstGeom prst="rect">
            <a:avLst/>
          </a:prstGeom>
          <a:solidFill>
            <a:srgbClr val="FFC24B"/>
          </a:solidFill>
          <a:ln w="19050">
            <a:solidFill>
              <a:srgbClr val="F6F5F2"/>
            </a:solidFill>
            <a:prstDash val="solid"/>
          </a:ln>
        </p:spPr>
        <p:txBody>
          <a:bodyPr/>
          <a:p/>
        </p:txBody>
      </p:sp>
      <p:sp>
        <p:nvSpPr>
          <p:cNvPr id="10" name="Text 8"/>
          <p:cNvSpPr/>
          <p:nvPr/>
        </p:nvSpPr>
        <p:spPr>
          <a:xfrm>
            <a:off x="5669280" y="2148840"/>
            <a:ext cx="2194560" cy="868680"/>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Harta și busola</a:t>
            </a:r>
            <a:endParaRPr lang="en-US" sz="1500" dirty="0"/>
          </a:p>
        </p:txBody>
      </p:sp>
      <p:sp>
        <p:nvSpPr>
          <p:cNvPr id="11" name="Shape 9"/>
          <p:cNvSpPr/>
          <p:nvPr/>
        </p:nvSpPr>
        <p:spPr>
          <a:xfrm>
            <a:off x="7909560" y="2148840"/>
            <a:ext cx="2286000" cy="868680"/>
          </a:xfrm>
          <a:prstGeom prst="rect">
            <a:avLst/>
          </a:prstGeom>
          <a:solidFill>
            <a:srgbClr val="27D3BE"/>
          </a:solidFill>
          <a:ln w="19050">
            <a:solidFill>
              <a:srgbClr val="F6F5F2"/>
            </a:solidFill>
            <a:prstDash val="solid"/>
          </a:ln>
        </p:spPr>
        <p:txBody>
          <a:bodyPr/>
          <a:p/>
        </p:txBody>
      </p:sp>
      <p:sp>
        <p:nvSpPr>
          <p:cNvPr id="12" name="Text 10"/>
          <p:cNvSpPr/>
          <p:nvPr/>
        </p:nvSpPr>
        <p:spPr>
          <a:xfrm>
            <a:off x="7955280" y="2148840"/>
            <a:ext cx="2194560" cy="868680"/>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Patru întrebări</a:t>
            </a:r>
            <a:endParaRPr lang="en-US" sz="1500" dirty="0"/>
          </a:p>
        </p:txBody>
      </p:sp>
      <p:sp>
        <p:nvSpPr>
          <p:cNvPr id="13" name="Shape 11"/>
          <p:cNvSpPr/>
          <p:nvPr/>
        </p:nvSpPr>
        <p:spPr>
          <a:xfrm>
            <a:off x="10195560" y="2148840"/>
            <a:ext cx="914400" cy="868680"/>
          </a:xfrm>
          <a:prstGeom prst="rect">
            <a:avLst/>
          </a:prstGeom>
          <a:solidFill>
            <a:srgbClr val="FF8A3D"/>
          </a:solidFill>
          <a:ln w="19050">
            <a:solidFill>
              <a:srgbClr val="F6F5F2"/>
            </a:solidFill>
            <a:prstDash val="solid"/>
          </a:ln>
        </p:spPr>
        <p:txBody>
          <a:bodyPr/>
          <a:p/>
        </p:txBody>
      </p:sp>
      <p:sp>
        <p:nvSpPr>
          <p:cNvPr id="14" name="Text 12"/>
          <p:cNvSpPr/>
          <p:nvPr/>
        </p:nvSpPr>
        <p:spPr>
          <a:xfrm>
            <a:off x="10241280" y="2148840"/>
            <a:ext cx="822960" cy="8686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Testul</a:t>
            </a:r>
            <a:endParaRPr lang="en-US" sz="1500" dirty="0"/>
          </a:p>
        </p:txBody>
      </p:sp>
      <p:sp>
        <p:nvSpPr>
          <p:cNvPr id="15" name="Shape 13"/>
          <p:cNvSpPr/>
          <p:nvPr/>
        </p:nvSpPr>
        <p:spPr>
          <a:xfrm>
            <a:off x="11109960" y="2148840"/>
            <a:ext cx="457200" cy="868680"/>
          </a:xfrm>
          <a:prstGeom prst="rect">
            <a:avLst/>
          </a:prstGeom>
          <a:solidFill>
            <a:srgbClr val="585A64"/>
          </a:solidFill>
          <a:ln w="19050">
            <a:solidFill>
              <a:srgbClr val="F6F5F2"/>
            </a:solidFill>
            <a:prstDash val="solid"/>
          </a:ln>
        </p:spPr>
        <p:txBody>
          <a:bodyPr/>
          <a:p/>
        </p:txBody>
      </p:sp>
      <p:sp>
        <p:nvSpPr>
          <p:cNvPr id="16" name="Text 14"/>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7" name="Text 15"/>
          <p:cNvSpPr/>
          <p:nvPr/>
        </p:nvSpPr>
        <p:spPr>
          <a:xfrm>
            <a:off x="2057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20′</a:t>
            </a:r>
            <a:endParaRPr lang="en-US" sz="1300" dirty="0"/>
          </a:p>
        </p:txBody>
      </p:sp>
      <p:sp>
        <p:nvSpPr>
          <p:cNvPr id="18" name="Text 16"/>
          <p:cNvSpPr/>
          <p:nvPr/>
        </p:nvSpPr>
        <p:spPr>
          <a:xfrm>
            <a:off x="4343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45′</a:t>
            </a:r>
            <a:endParaRPr lang="en-US" sz="1300" dirty="0"/>
          </a:p>
        </p:txBody>
      </p:sp>
      <p:sp>
        <p:nvSpPr>
          <p:cNvPr id="19" name="Text 17"/>
          <p:cNvSpPr/>
          <p:nvPr/>
        </p:nvSpPr>
        <p:spPr>
          <a:xfrm>
            <a:off x="52578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55′</a:t>
            </a:r>
            <a:endParaRPr lang="en-US" sz="1300" dirty="0"/>
          </a:p>
        </p:txBody>
      </p:sp>
      <p:sp>
        <p:nvSpPr>
          <p:cNvPr id="20" name="Text 18"/>
          <p:cNvSpPr/>
          <p:nvPr/>
        </p:nvSpPr>
        <p:spPr>
          <a:xfrm>
            <a:off x="75438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80′</a:t>
            </a:r>
            <a:endParaRPr lang="en-US" sz="1300" dirty="0"/>
          </a:p>
        </p:txBody>
      </p:sp>
      <p:sp>
        <p:nvSpPr>
          <p:cNvPr id="21" name="Text 19"/>
          <p:cNvSpPr/>
          <p:nvPr/>
        </p:nvSpPr>
        <p:spPr>
          <a:xfrm>
            <a:off x="98298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105′</a:t>
            </a:r>
            <a:endParaRPr lang="en-US" sz="1300" dirty="0"/>
          </a:p>
        </p:txBody>
      </p:sp>
      <p:sp>
        <p:nvSpPr>
          <p:cNvPr id="22" name="Text 20"/>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4709160" y="309067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4" name="Text 22"/>
          <p:cNvSpPr/>
          <p:nvPr/>
        </p:nvSpPr>
        <p:spPr>
          <a:xfrm>
            <a:off x="9738360" y="3090672"/>
            <a:ext cx="1828800" cy="274320"/>
          </a:xfrm>
          <a:prstGeom prst="rect">
            <a:avLst/>
          </a:prstGeom>
          <a:noFill/>
          <a:ln/>
        </p:spPr>
        <p:txBody>
          <a:bodyPr wrap="square" lIns="0" tIns="0" rIns="0" bIns="0" rtlCol="0" anchor="t"/>
          <a:lstStyle/>
          <a:p>
            <a:pPr algn="r" indent="0" marL="0">
              <a:buNone/>
            </a:pPr>
            <a:r>
              <a:rPr lang="en-US" sz="1300" b="1" dirty="0">
                <a:solidFill>
                  <a:srgbClr val="585A64"/>
                </a:solidFill>
                <a:latin typeface="Palatino Linotype" pitchFamily="34" charset="0"/>
                <a:ea typeface="Palatino Linotype" pitchFamily="34" charset="-122"/>
                <a:cs typeface="Palatino Linotype" pitchFamily="34" charset="-120"/>
              </a:rPr>
              <a:t>Trei întrebări</a:t>
            </a:r>
            <a:endParaRPr lang="en-US" sz="1300" dirty="0"/>
          </a:p>
        </p:txBody>
      </p:sp>
      <p:sp>
        <p:nvSpPr>
          <p:cNvPr id="25" name="Shape 23"/>
          <p:cNvSpPr/>
          <p:nvPr/>
        </p:nvSpPr>
        <p:spPr>
          <a:xfrm>
            <a:off x="594360" y="3520440"/>
            <a:ext cx="54864" cy="658368"/>
          </a:xfrm>
          <a:prstGeom prst="rect">
            <a:avLst/>
          </a:prstGeom>
          <a:solidFill>
            <a:srgbClr val="B02532"/>
          </a:solidFill>
          <a:ln w="12700">
            <a:solidFill>
              <a:srgbClr val="B02532"/>
            </a:solidFill>
            <a:prstDash val="solid"/>
          </a:ln>
        </p:spPr>
        <p:txBody>
          <a:bodyPr/>
          <a:p/>
        </p:txBody>
      </p:sp>
      <p:sp>
        <p:nvSpPr>
          <p:cNvPr id="26" name="Text 24"/>
          <p:cNvSpPr/>
          <p:nvPr/>
        </p:nvSpPr>
        <p:spPr>
          <a:xfrm>
            <a:off x="731520" y="3520440"/>
            <a:ext cx="16002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Orar sau din mers?</a:t>
            </a:r>
            <a:endParaRPr lang="en-US" sz="1500" dirty="0"/>
          </a:p>
        </p:txBody>
      </p:sp>
      <p:sp>
        <p:nvSpPr>
          <p:cNvPr id="27" name="Shape 25"/>
          <p:cNvSpPr/>
          <p:nvPr/>
        </p:nvSpPr>
        <p:spPr>
          <a:xfrm>
            <a:off x="2423160" y="3520440"/>
            <a:ext cx="54864" cy="658368"/>
          </a:xfrm>
          <a:prstGeom prst="rect">
            <a:avLst/>
          </a:prstGeom>
          <a:solidFill>
            <a:srgbClr val="4A2D8C"/>
          </a:solidFill>
          <a:ln w="12700">
            <a:solidFill>
              <a:srgbClr val="4A2D8C"/>
            </a:solidFill>
            <a:prstDash val="solid"/>
          </a:ln>
        </p:spPr>
        <p:txBody>
          <a:bodyPr/>
          <a:p/>
        </p:txBody>
      </p:sp>
      <p:sp>
        <p:nvSpPr>
          <p:cNvPr id="28" name="Text 26"/>
          <p:cNvSpPr/>
          <p:nvPr/>
        </p:nvSpPr>
        <p:spPr>
          <a:xfrm>
            <a:off x="2560320" y="352044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 manageră nouă, trei semnale</a:t>
            </a:r>
            <a:endParaRPr lang="en-US" sz="1500" dirty="0"/>
          </a:p>
        </p:txBody>
      </p:sp>
      <p:sp>
        <p:nvSpPr>
          <p:cNvPr id="29" name="Shape 27"/>
          <p:cNvSpPr/>
          <p:nvPr/>
        </p:nvSpPr>
        <p:spPr>
          <a:xfrm>
            <a:off x="5623560" y="3520440"/>
            <a:ext cx="54864" cy="658368"/>
          </a:xfrm>
          <a:prstGeom prst="rect">
            <a:avLst/>
          </a:prstGeom>
          <a:solidFill>
            <a:srgbClr val="8A6100"/>
          </a:solidFill>
          <a:ln w="12700">
            <a:solidFill>
              <a:srgbClr val="8A6100"/>
            </a:solidFill>
            <a:prstDash val="solid"/>
          </a:ln>
        </p:spPr>
        <p:txBody>
          <a:bodyPr/>
          <a:p/>
        </p:txBody>
      </p:sp>
      <p:sp>
        <p:nvSpPr>
          <p:cNvPr id="30" name="Text 28"/>
          <p:cNvSpPr/>
          <p:nvPr/>
        </p:nvSpPr>
        <p:spPr>
          <a:xfrm>
            <a:off x="5760720" y="352044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spital nu este un ceas</a:t>
            </a:r>
            <a:endParaRPr lang="en-US" sz="1500" dirty="0"/>
          </a:p>
        </p:txBody>
      </p:sp>
      <p:sp>
        <p:nvSpPr>
          <p:cNvPr id="31" name="Shape 29"/>
          <p:cNvSpPr/>
          <p:nvPr/>
        </p:nvSpPr>
        <p:spPr>
          <a:xfrm>
            <a:off x="7909560" y="3520440"/>
            <a:ext cx="54864" cy="658368"/>
          </a:xfrm>
          <a:prstGeom prst="rect">
            <a:avLst/>
          </a:prstGeom>
          <a:solidFill>
            <a:srgbClr val="0E7C6B"/>
          </a:solidFill>
          <a:ln w="12700">
            <a:solidFill>
              <a:srgbClr val="0E7C6B"/>
            </a:solidFill>
            <a:prstDash val="solid"/>
          </a:ln>
        </p:spPr>
        <p:txBody>
          <a:bodyPr/>
          <a:p/>
        </p:txBody>
      </p:sp>
      <p:sp>
        <p:nvSpPr>
          <p:cNvPr id="32" name="Text 30"/>
          <p:cNvSpPr/>
          <p:nvPr/>
        </p:nvSpPr>
        <p:spPr>
          <a:xfrm>
            <a:off x="8046720" y="3520440"/>
            <a:ext cx="205740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Planul uitat în sertar</a:t>
            </a:r>
            <a:endParaRPr lang="en-US" sz="1500" dirty="0"/>
          </a:p>
        </p:txBody>
      </p:sp>
      <p:sp>
        <p:nvSpPr>
          <p:cNvPr id="33" name="Shape 31"/>
          <p:cNvSpPr/>
          <p:nvPr/>
        </p:nvSpPr>
        <p:spPr>
          <a:xfrm>
            <a:off x="594360" y="484632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34" name="Text 32"/>
          <p:cNvSpPr/>
          <p:nvPr/>
        </p:nvSpPr>
        <p:spPr>
          <a:xfrm>
            <a:off x="868680" y="4846320"/>
            <a:ext cx="10424160" cy="96012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termeni noi: </a:t>
            </a:r>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strategia · managementul strategic · procesul strategic.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Nimic din ce faceți în sală nu se notează.</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SUNTEȚI EVALUAȚI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se notează și cât contează</a:t>
            </a:r>
            <a:endParaRPr lang="en-US" sz="3100" dirty="0"/>
          </a:p>
        </p:txBody>
      </p:sp>
      <p:sp>
        <p:nvSpPr>
          <p:cNvPr id="4" name="Shape 2"/>
          <p:cNvSpPr/>
          <p:nvPr/>
        </p:nvSpPr>
        <p:spPr>
          <a:xfrm>
            <a:off x="594360" y="1600200"/>
            <a:ext cx="3520440" cy="2514600"/>
          </a:xfrm>
          <a:prstGeom prst="roundRect">
            <a:avLst>
              <a:gd name="adj" fmla="val 3273"/>
            </a:avLst>
          </a:prstGeom>
          <a:solidFill>
            <a:srgbClr val="ECEAE4"/>
          </a:solidFill>
          <a:ln w="12700">
            <a:solidFill>
              <a:srgbClr val="ECEAE4"/>
            </a:solidFill>
            <a:prstDash val="solid"/>
          </a:ln>
        </p:spPr>
        <p:txBody>
          <a:bodyPr/>
          <a:p/>
        </p:txBody>
      </p:sp>
      <p:sp>
        <p:nvSpPr>
          <p:cNvPr id="5" name="Text 3"/>
          <p:cNvSpPr/>
          <p:nvPr/>
        </p:nvSpPr>
        <p:spPr>
          <a:xfrm>
            <a:off x="868680" y="1691640"/>
            <a:ext cx="3017520" cy="868680"/>
          </a:xfrm>
          <a:prstGeom prst="rect">
            <a:avLst/>
          </a:prstGeom>
          <a:noFill/>
          <a:ln/>
        </p:spPr>
        <p:txBody>
          <a:bodyPr wrap="square" lIns="0" tIns="0" rIns="0" bIns="0" rtlCol="0" anchor="ctr"/>
          <a:lstStyle/>
          <a:p>
            <a:pPr indent="0" marL="0">
              <a:buNone/>
            </a:pPr>
            <a:r>
              <a:rPr lang="en-US" sz="4800" b="1" dirty="0">
                <a:solidFill>
                  <a:srgbClr val="B02532"/>
                </a:solidFill>
                <a:latin typeface="Palatino Linotype" pitchFamily="34" charset="0"/>
                <a:ea typeface="Palatino Linotype" pitchFamily="34" charset="-122"/>
                <a:cs typeface="Palatino Linotype" pitchFamily="34" charset="-120"/>
              </a:rPr>
              <a:t>50%</a:t>
            </a:r>
            <a:endParaRPr lang="en-US" sz="4800" dirty="0"/>
          </a:p>
        </p:txBody>
      </p:sp>
      <p:sp>
        <p:nvSpPr>
          <p:cNvPr id="6" name="Text 4"/>
          <p:cNvSpPr/>
          <p:nvPr/>
        </p:nvSpPr>
        <p:spPr>
          <a:xfrm>
            <a:off x="868680" y="2606040"/>
            <a:ext cx="30175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Examenul scris</a:t>
            </a:r>
            <a:endParaRPr lang="en-US" sz="1700" dirty="0"/>
          </a:p>
        </p:txBody>
      </p:sp>
      <p:sp>
        <p:nvSpPr>
          <p:cNvPr id="7" name="Text 5"/>
          <p:cNvSpPr/>
          <p:nvPr/>
        </p:nvSpPr>
        <p:spPr>
          <a:xfrm>
            <a:off x="868680" y="3017520"/>
            <a:ext cx="3017520" cy="10058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36 de grile, în sesiune</a:t>
            </a:r>
            <a:endParaRPr lang="en-US" sz="1400" dirty="0"/>
          </a:p>
        </p:txBody>
      </p:sp>
      <p:sp>
        <p:nvSpPr>
          <p:cNvPr id="8" name="Shape 6"/>
          <p:cNvSpPr/>
          <p:nvPr/>
        </p:nvSpPr>
        <p:spPr>
          <a:xfrm>
            <a:off x="4343400" y="1600200"/>
            <a:ext cx="3520440" cy="2514600"/>
          </a:xfrm>
          <a:prstGeom prst="roundRect">
            <a:avLst>
              <a:gd name="adj" fmla="val 3273"/>
            </a:avLst>
          </a:prstGeom>
          <a:solidFill>
            <a:srgbClr val="F9F8F5"/>
          </a:solidFill>
          <a:ln w="12700">
            <a:solidFill>
              <a:srgbClr val="F9F8F5"/>
            </a:solidFill>
            <a:prstDash val="solid"/>
          </a:ln>
        </p:spPr>
        <p:txBody>
          <a:bodyPr/>
          <a:p/>
        </p:txBody>
      </p:sp>
      <p:sp>
        <p:nvSpPr>
          <p:cNvPr id="9" name="Text 7"/>
          <p:cNvSpPr/>
          <p:nvPr/>
        </p:nvSpPr>
        <p:spPr>
          <a:xfrm>
            <a:off x="4617720" y="1691640"/>
            <a:ext cx="3017520" cy="868680"/>
          </a:xfrm>
          <a:prstGeom prst="rect">
            <a:avLst/>
          </a:prstGeom>
          <a:noFill/>
          <a:ln/>
        </p:spPr>
        <p:txBody>
          <a:bodyPr wrap="square" lIns="0" tIns="0" rIns="0" bIns="0" rtlCol="0" anchor="ctr"/>
          <a:lstStyle/>
          <a:p>
            <a:pPr indent="0" marL="0">
              <a:buNone/>
            </a:pPr>
            <a:r>
              <a:rPr lang="en-US" sz="4800" b="1" dirty="0">
                <a:solidFill>
                  <a:srgbClr val="0E7C6B"/>
                </a:solidFill>
                <a:latin typeface="Palatino Linotype" pitchFamily="34" charset="0"/>
                <a:ea typeface="Palatino Linotype" pitchFamily="34" charset="-122"/>
                <a:cs typeface="Palatino Linotype" pitchFamily="34" charset="-120"/>
              </a:rPr>
              <a:t>35%</a:t>
            </a:r>
            <a:endParaRPr lang="en-US" sz="4800" dirty="0"/>
          </a:p>
        </p:txBody>
      </p:sp>
      <p:sp>
        <p:nvSpPr>
          <p:cNvPr id="10" name="Text 8"/>
          <p:cNvSpPr/>
          <p:nvPr/>
        </p:nvSpPr>
        <p:spPr>
          <a:xfrm>
            <a:off x="4617720" y="2606040"/>
            <a:ext cx="30175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Planul strategic al echipei</a:t>
            </a:r>
            <a:endParaRPr lang="en-US" sz="1700" dirty="0"/>
          </a:p>
        </p:txBody>
      </p:sp>
      <p:sp>
        <p:nvSpPr>
          <p:cNvPr id="11" name="Text 9"/>
          <p:cNvSpPr/>
          <p:nvPr/>
        </p:nvSpPr>
        <p:spPr>
          <a:xfrm>
            <a:off x="4617720" y="3017520"/>
            <a:ext cx="3017520" cy="10058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prezentare de 10–12 minute</a:t>
            </a:r>
            <a:endParaRPr lang="en-US" sz="1400" dirty="0"/>
          </a:p>
        </p:txBody>
      </p:sp>
      <p:sp>
        <p:nvSpPr>
          <p:cNvPr id="12" name="Shape 10"/>
          <p:cNvSpPr/>
          <p:nvPr/>
        </p:nvSpPr>
        <p:spPr>
          <a:xfrm>
            <a:off x="8092440" y="1600200"/>
            <a:ext cx="3520440" cy="2514600"/>
          </a:xfrm>
          <a:prstGeom prst="roundRect">
            <a:avLst>
              <a:gd name="adj" fmla="val 3273"/>
            </a:avLst>
          </a:prstGeom>
          <a:solidFill>
            <a:srgbClr val="ECEAE4"/>
          </a:solidFill>
          <a:ln w="12700">
            <a:solidFill>
              <a:srgbClr val="ECEAE4"/>
            </a:solidFill>
            <a:prstDash val="solid"/>
          </a:ln>
        </p:spPr>
        <p:txBody>
          <a:bodyPr/>
          <a:p/>
        </p:txBody>
      </p:sp>
      <p:sp>
        <p:nvSpPr>
          <p:cNvPr id="13" name="Text 11"/>
          <p:cNvSpPr/>
          <p:nvPr/>
        </p:nvSpPr>
        <p:spPr>
          <a:xfrm>
            <a:off x="8366760" y="1691640"/>
            <a:ext cx="3017520" cy="868680"/>
          </a:xfrm>
          <a:prstGeom prst="rect">
            <a:avLst/>
          </a:prstGeom>
          <a:noFill/>
          <a:ln/>
        </p:spPr>
        <p:txBody>
          <a:bodyPr wrap="square" lIns="0" tIns="0" rIns="0" bIns="0" rtlCol="0" anchor="ctr"/>
          <a:lstStyle/>
          <a:p>
            <a:pPr indent="0" marL="0">
              <a:buNone/>
            </a:pPr>
            <a:r>
              <a:rPr lang="en-US" sz="4800" b="1" dirty="0">
                <a:solidFill>
                  <a:srgbClr val="4A2D8C"/>
                </a:solidFill>
                <a:latin typeface="Palatino Linotype" pitchFamily="34" charset="0"/>
                <a:ea typeface="Palatino Linotype" pitchFamily="34" charset="-122"/>
                <a:cs typeface="Palatino Linotype" pitchFamily="34" charset="-120"/>
              </a:rPr>
              <a:t>15%</a:t>
            </a:r>
            <a:endParaRPr lang="en-US" sz="4800" dirty="0"/>
          </a:p>
        </p:txBody>
      </p:sp>
      <p:sp>
        <p:nvSpPr>
          <p:cNvPr id="14" name="Text 12"/>
          <p:cNvSpPr/>
          <p:nvPr/>
        </p:nvSpPr>
        <p:spPr>
          <a:xfrm>
            <a:off x="8366760" y="2606040"/>
            <a:ext cx="30175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Cinci produse de seminar</a:t>
            </a:r>
            <a:endParaRPr lang="en-US" sz="1700" dirty="0"/>
          </a:p>
        </p:txBody>
      </p:sp>
      <p:sp>
        <p:nvSpPr>
          <p:cNvPr id="15" name="Text 13"/>
          <p:cNvSpPr/>
          <p:nvPr/>
        </p:nvSpPr>
        <p:spPr>
          <a:xfrm>
            <a:off x="8366760" y="3017520"/>
            <a:ext cx="3017520" cy="100584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câte 0, 1 sau 2 puncte</a:t>
            </a:r>
            <a:endParaRPr lang="en-US" sz="1400" dirty="0"/>
          </a:p>
        </p:txBody>
      </p:sp>
      <p:sp>
        <p:nvSpPr>
          <p:cNvPr id="16" name="Shape 14"/>
          <p:cNvSpPr/>
          <p:nvPr/>
        </p:nvSpPr>
        <p:spPr>
          <a:xfrm>
            <a:off x="594360" y="4389120"/>
            <a:ext cx="54864" cy="1371600"/>
          </a:xfrm>
          <a:prstGeom prst="rect">
            <a:avLst/>
          </a:prstGeom>
          <a:solidFill>
            <a:srgbClr val="B02532"/>
          </a:solidFill>
          <a:ln w="12700">
            <a:solidFill>
              <a:srgbClr val="B02532"/>
            </a:solidFill>
            <a:prstDash val="solid"/>
          </a:ln>
        </p:spPr>
        <p:txBody>
          <a:bodyPr/>
          <a:p/>
        </p:txBody>
      </p:sp>
      <p:sp>
        <p:nvSpPr>
          <p:cNvPr id="17" name="Text 15"/>
          <p:cNvSpPr/>
          <p:nvPr/>
        </p:nvSpPr>
        <p:spPr>
          <a:xfrm>
            <a:off x="868680" y="4389120"/>
            <a:ext cx="10607040" cy="137160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Obligatoriu: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cel puțin 5 la examen și la proiect; prezență la cel puțin 30%.</a:t>
            </a:r>
            <a:endParaRPr lang="en-US" sz="1600" dirty="0"/>
          </a:p>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Nu se notează: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votul, discuțiile din sală, testele de la final.</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CINCI EXAMENE, O SINGURĂ SESIUNE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Cum vă pregătiți, de obicei, pentru sesiune?</a:t>
            </a:r>
            <a:endParaRPr lang="en-US" sz="3200" dirty="0"/>
          </a:p>
        </p:txBody>
      </p:sp>
      <p:sp>
        <p:nvSpPr>
          <p:cNvPr id="6" name="Text 4"/>
          <p:cNvSpPr/>
          <p:nvPr/>
        </p:nvSpPr>
        <p:spPr>
          <a:xfrm>
            <a:off x="594360" y="1417320"/>
            <a:ext cx="10972800" cy="6858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Întrebarea din titlu începe cu una mai apropiată: de ce are nevoie un student de strategie în sesiune? Cinci examene și mai puține zile decât v-ar trebui.</a:t>
            </a:r>
            <a:endParaRPr lang="en-US" sz="1700" dirty="0"/>
          </a:p>
        </p:txBody>
      </p:sp>
      <p:sp>
        <p:nvSpPr>
          <p:cNvPr id="7" name="Shape 5"/>
          <p:cNvSpPr/>
          <p:nvPr/>
        </p:nvSpPr>
        <p:spPr>
          <a:xfrm>
            <a:off x="594360" y="224028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8" name="Shape 6"/>
          <p:cNvSpPr/>
          <p:nvPr/>
        </p:nvSpPr>
        <p:spPr>
          <a:xfrm>
            <a:off x="868680" y="2350008"/>
            <a:ext cx="420624" cy="420624"/>
          </a:xfrm>
          <a:prstGeom prst="ellipse">
            <a:avLst/>
          </a:prstGeom>
          <a:solidFill>
            <a:srgbClr val="FFC24B"/>
          </a:solidFill>
          <a:ln/>
        </p:spPr>
        <p:txBody>
          <a:bodyPr/>
          <a:p/>
        </p:txBody>
      </p:sp>
      <p:sp>
        <p:nvSpPr>
          <p:cNvPr id="9" name="Text 7"/>
          <p:cNvSpPr/>
          <p:nvPr/>
        </p:nvSpPr>
        <p:spPr>
          <a:xfrm>
            <a:off x="868680" y="2350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08760" y="2240280"/>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Îmi fac un orar și îl urmez</a:t>
            </a:r>
            <a:endParaRPr lang="en-US" sz="1900" dirty="0"/>
          </a:p>
        </p:txBody>
      </p:sp>
      <p:sp>
        <p:nvSpPr>
          <p:cNvPr id="11" name="Shape 9"/>
          <p:cNvSpPr/>
          <p:nvPr/>
        </p:nvSpPr>
        <p:spPr>
          <a:xfrm>
            <a:off x="594360" y="300837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2" name="Shape 10"/>
          <p:cNvSpPr/>
          <p:nvPr/>
        </p:nvSpPr>
        <p:spPr>
          <a:xfrm>
            <a:off x="868680" y="3118104"/>
            <a:ext cx="420624" cy="420624"/>
          </a:xfrm>
          <a:prstGeom prst="ellipse">
            <a:avLst/>
          </a:prstGeom>
          <a:solidFill>
            <a:srgbClr val="FFC24B"/>
          </a:solidFill>
          <a:ln/>
        </p:spPr>
        <p:txBody>
          <a:bodyPr/>
          <a:p/>
        </p:txBody>
      </p:sp>
      <p:sp>
        <p:nvSpPr>
          <p:cNvPr id="13" name="Text 11"/>
          <p:cNvSpPr/>
          <p:nvPr/>
        </p:nvSpPr>
        <p:spPr>
          <a:xfrm>
            <a:off x="868680" y="3118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08760" y="3008376"/>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Învăț din mers, după ce aflu ce se cere</a:t>
            </a:r>
            <a:endParaRPr lang="en-US" sz="1900" dirty="0"/>
          </a:p>
        </p:txBody>
      </p:sp>
      <p:sp>
        <p:nvSpPr>
          <p:cNvPr id="15" name="Shape 13"/>
          <p:cNvSpPr/>
          <p:nvPr/>
        </p:nvSpPr>
        <p:spPr>
          <a:xfrm>
            <a:off x="594360" y="3776472"/>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6" name="Shape 14"/>
          <p:cNvSpPr/>
          <p:nvPr/>
        </p:nvSpPr>
        <p:spPr>
          <a:xfrm>
            <a:off x="868680" y="3886200"/>
            <a:ext cx="420624" cy="420624"/>
          </a:xfrm>
          <a:prstGeom prst="ellipse">
            <a:avLst/>
          </a:prstGeom>
          <a:solidFill>
            <a:srgbClr val="FFC24B"/>
          </a:solidFill>
          <a:ln/>
        </p:spPr>
        <p:txBody>
          <a:bodyPr/>
          <a:p/>
        </p:txBody>
      </p:sp>
      <p:sp>
        <p:nvSpPr>
          <p:cNvPr id="17" name="Text 15"/>
          <p:cNvSpPr/>
          <p:nvPr/>
        </p:nvSpPr>
        <p:spPr>
          <a:xfrm>
            <a:off x="868680" y="38862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08760" y="3776472"/>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Îmi fac un orar, dar îl schimb pe parcurs</a:t>
            </a:r>
            <a:endParaRPr lang="en-US" sz="1900" dirty="0"/>
          </a:p>
        </p:txBody>
      </p:sp>
      <p:sp>
        <p:nvSpPr>
          <p:cNvPr id="19" name="Shape 17"/>
          <p:cNvSpPr/>
          <p:nvPr/>
        </p:nvSpPr>
        <p:spPr>
          <a:xfrm>
            <a:off x="594360" y="454456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20" name="Shape 18"/>
          <p:cNvSpPr/>
          <p:nvPr/>
        </p:nvSpPr>
        <p:spPr>
          <a:xfrm>
            <a:off x="868680" y="4654296"/>
            <a:ext cx="420624" cy="420624"/>
          </a:xfrm>
          <a:prstGeom prst="ellipse">
            <a:avLst/>
          </a:prstGeom>
          <a:solidFill>
            <a:srgbClr val="FFC24B"/>
          </a:solidFill>
          <a:ln/>
        </p:spPr>
        <p:txBody>
          <a:bodyPr/>
          <a:p/>
        </p:txBody>
      </p:sp>
      <p:sp>
        <p:nvSpPr>
          <p:cNvPr id="21" name="Text 19"/>
          <p:cNvSpPr/>
          <p:nvPr/>
        </p:nvSpPr>
        <p:spPr>
          <a:xfrm>
            <a:off x="868680" y="4654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08760" y="4544568"/>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mă gândesc dinainte; încep când începe sesiunea</a:t>
            </a:r>
            <a:endParaRPr lang="en-US" sz="1900" dirty="0"/>
          </a:p>
        </p:txBody>
      </p:sp>
      <p:sp>
        <p:nvSpPr>
          <p:cNvPr id="23" name="Text 21"/>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Un singur vot, pe menti.com: codul apare pe ecranul Mentimeter.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097280"/>
            <a:ext cx="10789920" cy="2103120"/>
          </a:xfrm>
          <a:prstGeom prst="rect">
            <a:avLst/>
          </a:prstGeom>
          <a:noFill/>
          <a:ln/>
        </p:spPr>
        <p:txBody>
          <a:bodyPr wrap="square" lIns="0" tIns="0" rIns="0" bIns="0" rtlCol="0" anchor="ctr"/>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Dintre voi doi, cine are o strategie pentru sesiune?</a:t>
            </a:r>
            <a:endParaRPr lang="en-US" sz="4200" dirty="0"/>
          </a:p>
        </p:txBody>
      </p:sp>
      <p:sp>
        <p:nvSpPr>
          <p:cNvPr id="6" name="Shape 4"/>
          <p:cNvSpPr/>
          <p:nvPr/>
        </p:nvSpPr>
        <p:spPr>
          <a:xfrm>
            <a:off x="594360" y="3520440"/>
            <a:ext cx="1280160" cy="36576"/>
          </a:xfrm>
          <a:prstGeom prst="rect">
            <a:avLst/>
          </a:prstGeom>
          <a:solidFill>
            <a:srgbClr val="27D3BE"/>
          </a:solidFill>
          <a:ln/>
        </p:spPr>
        <p:txBody>
          <a:bodyPr/>
          <a:p/>
        </p:txBody>
      </p:sp>
      <p:sp>
        <p:nvSpPr>
          <p:cNvPr id="7" name="Text 5"/>
          <p:cNvSpPr/>
          <p:nvPr/>
        </p:nvSpPr>
        <p:spPr>
          <a:xfrm>
            <a:off x="594360" y="3794760"/>
            <a:ext cx="10515600" cy="1188720"/>
          </a:xfrm>
          <a:prstGeom prst="rect">
            <a:avLst/>
          </a:prstGeom>
          <a:noFill/>
          <a:ln/>
        </p:spPr>
        <p:txBody>
          <a:bodyPr wrap="square" lIns="0" tIns="0" rIns="0" bIns="0" rtlCol="0" anchor="t"/>
          <a:lstStyle/>
          <a:p>
            <a:pPr indent="0" marL="0">
              <a:buNone/>
            </a:pPr>
            <a:r>
              <a:rPr lang="en-US" sz="2100" dirty="0">
                <a:solidFill>
                  <a:srgbClr val="959BB0"/>
                </a:solidFill>
                <a:latin typeface="Palatino Linotype" pitchFamily="34" charset="0"/>
                <a:ea typeface="Palatino Linotype" pitchFamily="34" charset="-122"/>
                <a:cs typeface="Palatino Linotype" pitchFamily="34" charset="-120"/>
              </a:rPr>
              <a:t>Nu contează cine are orarul cel mai frumos. Contează cine știe încotro merge, ce a hotărât să lase deoparte și când își schimbă planul.</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DIN DISCUȚIE RĂMÂN TREI LUCRURI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O strategie nu este un orar desenat în culori</a:t>
            </a:r>
            <a:endParaRPr lang="en-US" sz="3000" dirty="0"/>
          </a:p>
        </p:txBody>
      </p:sp>
      <p:sp>
        <p:nvSpPr>
          <p:cNvPr id="4" name="Shape 2"/>
          <p:cNvSpPr/>
          <p:nvPr/>
        </p:nvSpPr>
        <p:spPr>
          <a:xfrm>
            <a:off x="594360" y="169164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5" name="Shape 3"/>
          <p:cNvSpPr/>
          <p:nvPr/>
        </p:nvSpPr>
        <p:spPr>
          <a:xfrm>
            <a:off x="822960" y="1984248"/>
            <a:ext cx="420624" cy="420624"/>
          </a:xfrm>
          <a:prstGeom prst="ellipse">
            <a:avLst/>
          </a:prstGeom>
          <a:solidFill>
            <a:srgbClr val="FF4757"/>
          </a:solidFill>
          <a:ln/>
        </p:spPr>
        <p:txBody>
          <a:bodyPr/>
          <a:p/>
        </p:txBody>
      </p:sp>
      <p:sp>
        <p:nvSpPr>
          <p:cNvPr id="6" name="Text 4"/>
          <p:cNvSpPr/>
          <p:nvPr/>
        </p:nvSpPr>
        <p:spPr>
          <a:xfrm>
            <a:off x="822960" y="19842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91640"/>
            <a:ext cx="9921240" cy="100584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Un student poate avea un orar perfect și nicio strategie, dacă nu îl respectă.</a:t>
            </a:r>
            <a:endParaRPr lang="en-US" sz="2000" dirty="0"/>
          </a:p>
        </p:txBody>
      </p:sp>
      <p:sp>
        <p:nvSpPr>
          <p:cNvPr id="8" name="Shape 6"/>
          <p:cNvSpPr/>
          <p:nvPr/>
        </p:nvSpPr>
        <p:spPr>
          <a:xfrm>
            <a:off x="594360" y="2880360"/>
            <a:ext cx="10972800" cy="1005840"/>
          </a:xfrm>
          <a:prstGeom prst="roundRect">
            <a:avLst>
              <a:gd name="adj" fmla="val 8182"/>
            </a:avLst>
          </a:prstGeom>
          <a:solidFill>
            <a:srgbClr val="F9F8F5"/>
          </a:solidFill>
          <a:ln w="12700">
            <a:solidFill>
              <a:srgbClr val="F9F8F5"/>
            </a:solidFill>
            <a:prstDash val="solid"/>
          </a:ln>
        </p:spPr>
        <p:txBody>
          <a:bodyPr/>
          <a:p/>
        </p:txBody>
      </p:sp>
      <p:sp>
        <p:nvSpPr>
          <p:cNvPr id="9" name="Shape 7"/>
          <p:cNvSpPr/>
          <p:nvPr/>
        </p:nvSpPr>
        <p:spPr>
          <a:xfrm>
            <a:off x="822960" y="3172968"/>
            <a:ext cx="420624" cy="420624"/>
          </a:xfrm>
          <a:prstGeom prst="ellipse">
            <a:avLst/>
          </a:prstGeom>
          <a:solidFill>
            <a:srgbClr val="FF4757"/>
          </a:solidFill>
          <a:ln/>
        </p:spPr>
        <p:txBody>
          <a:bodyPr/>
          <a:p/>
        </p:txBody>
      </p:sp>
      <p:sp>
        <p:nvSpPr>
          <p:cNvPr id="10" name="Text 8"/>
          <p:cNvSpPr/>
          <p:nvPr/>
        </p:nvSpPr>
        <p:spPr>
          <a:xfrm>
            <a:off x="822960" y="31729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880360"/>
            <a:ext cx="9921240" cy="100584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Strategia înseamnă și renunțare: nu puteți învăța totul la fel de bine, deci hotărâți unde nu insistați.</a:t>
            </a:r>
            <a:endParaRPr lang="en-US" sz="2000" dirty="0"/>
          </a:p>
        </p:txBody>
      </p:sp>
      <p:sp>
        <p:nvSpPr>
          <p:cNvPr id="12" name="Shape 10"/>
          <p:cNvSpPr/>
          <p:nvPr/>
        </p:nvSpPr>
        <p:spPr>
          <a:xfrm>
            <a:off x="594360" y="4069080"/>
            <a:ext cx="10972800" cy="1005840"/>
          </a:xfrm>
          <a:prstGeom prst="roundRect">
            <a:avLst>
              <a:gd name="adj" fmla="val 8182"/>
            </a:avLst>
          </a:prstGeom>
          <a:solidFill>
            <a:srgbClr val="ECEAE4"/>
          </a:solidFill>
          <a:ln w="12700">
            <a:solidFill>
              <a:srgbClr val="ECEAE4"/>
            </a:solidFill>
            <a:prstDash val="solid"/>
          </a:ln>
        </p:spPr>
        <p:txBody>
          <a:bodyPr/>
          <a:p/>
        </p:txBody>
      </p:sp>
      <p:sp>
        <p:nvSpPr>
          <p:cNvPr id="13" name="Shape 11"/>
          <p:cNvSpPr/>
          <p:nvPr/>
        </p:nvSpPr>
        <p:spPr>
          <a:xfrm>
            <a:off x="822960" y="4361688"/>
            <a:ext cx="420624" cy="420624"/>
          </a:xfrm>
          <a:prstGeom prst="ellipse">
            <a:avLst/>
          </a:prstGeom>
          <a:solidFill>
            <a:srgbClr val="FF4757"/>
          </a:solidFill>
          <a:ln/>
        </p:spPr>
        <p:txBody>
          <a:bodyPr/>
          <a:p/>
        </p:txBody>
      </p:sp>
      <p:sp>
        <p:nvSpPr>
          <p:cNvPr id="14" name="Text 12"/>
          <p:cNvSpPr/>
          <p:nvPr/>
        </p:nvSpPr>
        <p:spPr>
          <a:xfrm>
            <a:off x="822960" y="43616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4069080"/>
            <a:ext cx="9921240" cy="100584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Strategia se vede în ce faceți zi de zi, nu în ce v-ați propus în prima săptămână.</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PRIM RĂSPUNS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spital trăiește sesiunea voastră, la scară mare</a:t>
            </a:r>
            <a:endParaRPr lang="en-US" sz="3000" dirty="0"/>
          </a:p>
        </p:txBody>
      </p:sp>
      <p:sp>
        <p:nvSpPr>
          <p:cNvPr id="4" name="Shape 2"/>
          <p:cNvSpPr/>
          <p:nvPr/>
        </p:nvSpPr>
        <p:spPr>
          <a:xfrm>
            <a:off x="594360" y="1691640"/>
            <a:ext cx="585216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777240" y="1847088"/>
            <a:ext cx="420624" cy="420624"/>
          </a:xfrm>
          <a:prstGeom prst="ellipse">
            <a:avLst/>
          </a:prstGeom>
          <a:solidFill>
            <a:srgbClr val="FF4757"/>
          </a:solidFill>
          <a:ln/>
        </p:spPr>
        <p:txBody>
          <a:bodyPr/>
          <a:p/>
        </p:txBody>
      </p:sp>
      <p:sp>
        <p:nvSpPr>
          <p:cNvPr id="6" name="Text 4"/>
          <p:cNvSpPr/>
          <p:nvPr/>
        </p:nvSpPr>
        <p:spPr>
          <a:xfrm>
            <a:off x="777240" y="18470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91640"/>
            <a:ext cx="493776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Mai mult de făcut decât resurse</a:t>
            </a:r>
            <a:endParaRPr lang="en-US" sz="1600" dirty="0"/>
          </a:p>
        </p:txBody>
      </p:sp>
      <p:sp>
        <p:nvSpPr>
          <p:cNvPr id="8" name="Shape 6"/>
          <p:cNvSpPr/>
          <p:nvPr/>
        </p:nvSpPr>
        <p:spPr>
          <a:xfrm>
            <a:off x="594360" y="2560320"/>
            <a:ext cx="585216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777240" y="2715768"/>
            <a:ext cx="420624" cy="420624"/>
          </a:xfrm>
          <a:prstGeom prst="ellipse">
            <a:avLst/>
          </a:prstGeom>
          <a:solidFill>
            <a:srgbClr val="FF4757"/>
          </a:solidFill>
          <a:ln/>
        </p:spPr>
        <p:txBody>
          <a:bodyPr/>
          <a:p/>
        </p:txBody>
      </p:sp>
      <p:sp>
        <p:nvSpPr>
          <p:cNvPr id="10" name="Text 8"/>
          <p:cNvSpPr/>
          <p:nvPr/>
        </p:nvSpPr>
        <p:spPr>
          <a:xfrm>
            <a:off x="777240" y="27157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71600" y="2560320"/>
            <a:ext cx="493776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O lume care se schimbă</a:t>
            </a:r>
            <a:endParaRPr lang="en-US" sz="1600" dirty="0"/>
          </a:p>
        </p:txBody>
      </p:sp>
      <p:sp>
        <p:nvSpPr>
          <p:cNvPr id="12" name="Shape 10"/>
          <p:cNvSpPr/>
          <p:nvPr/>
        </p:nvSpPr>
        <p:spPr>
          <a:xfrm>
            <a:off x="594360" y="3429000"/>
            <a:ext cx="585216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777240" y="3584448"/>
            <a:ext cx="420624" cy="420624"/>
          </a:xfrm>
          <a:prstGeom prst="ellipse">
            <a:avLst/>
          </a:prstGeom>
          <a:solidFill>
            <a:srgbClr val="FF4757"/>
          </a:solidFill>
          <a:ln/>
        </p:spPr>
        <p:txBody>
          <a:bodyPr/>
          <a:p/>
        </p:txBody>
      </p:sp>
      <p:sp>
        <p:nvSpPr>
          <p:cNvPr id="14" name="Text 12"/>
          <p:cNvSpPr/>
          <p:nvPr/>
        </p:nvSpPr>
        <p:spPr>
          <a:xfrm>
            <a:off x="777240" y="35844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71600" y="3429000"/>
            <a:ext cx="4937760" cy="7315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Decizii pentru mii de oameni</a:t>
            </a:r>
            <a:endParaRPr lang="en-US" sz="1600" dirty="0"/>
          </a:p>
        </p:txBody>
      </p:sp>
      <p:sp>
        <p:nvSpPr>
          <p:cNvPr id="16" name="Shape 14"/>
          <p:cNvSpPr/>
          <p:nvPr/>
        </p:nvSpPr>
        <p:spPr>
          <a:xfrm>
            <a:off x="6720840" y="1691640"/>
            <a:ext cx="4846320" cy="2468880"/>
          </a:xfrm>
          <a:prstGeom prst="roundRect">
            <a:avLst>
              <a:gd name="adj" fmla="val 3333"/>
            </a:avLst>
          </a:prstGeom>
          <a:solidFill>
            <a:srgbClr val="07564B"/>
          </a:solidFill>
          <a:ln w="12700">
            <a:solidFill>
              <a:srgbClr val="07564B"/>
            </a:solidFill>
            <a:prstDash val="solid"/>
          </a:ln>
        </p:spPr>
        <p:txBody>
          <a:bodyPr/>
          <a:p/>
        </p:txBody>
      </p:sp>
      <p:sp>
        <p:nvSpPr>
          <p:cNvPr id="17" name="Text 15"/>
          <p:cNvSpPr/>
          <p:nvPr/>
        </p:nvSpPr>
        <p:spPr>
          <a:xfrm>
            <a:off x="6995160" y="1691640"/>
            <a:ext cx="4343400" cy="24688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Managementul strategic: cum își hotărăște organizația direcția, ce face și ce nu face.</a:t>
            </a:r>
            <a:endParaRPr lang="en-US" sz="1800" dirty="0"/>
          </a:p>
        </p:txBody>
      </p:sp>
      <p:sp>
        <p:nvSpPr>
          <p:cNvPr id="18" name="Text 16"/>
          <p:cNvSpPr/>
          <p:nvPr/>
        </p:nvSpPr>
        <p:spPr>
          <a:xfrm>
            <a:off x="594360" y="4526280"/>
            <a:ext cx="10972800" cy="1097280"/>
          </a:xfrm>
          <a:prstGeom prst="rect">
            <a:avLst/>
          </a:prstGeom>
          <a:noFill/>
          <a:ln/>
        </p:spPr>
        <p:txBody>
          <a:bodyPr wrap="square" lIns="0" tIns="0" rIns="0" bIns="0" rtlCol="0" anchor="ctr"/>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„Să termin sesiunea fără restanțe”: </a:t>
            </a:r>
            <a:pPr indent="0" marL="0">
              <a:buNone/>
            </a:pPr>
            <a:r>
              <a:rPr lang="en-US" sz="2000" dirty="0">
                <a:solidFill>
                  <a:srgbClr val="11121A"/>
                </a:solidFill>
                <a:latin typeface="Palatino Linotype" pitchFamily="34" charset="0"/>
                <a:ea typeface="Palatino Linotype" pitchFamily="34" charset="-122"/>
                <a:cs typeface="Palatino Linotype" pitchFamily="34" charset="-120"/>
              </a:rPr>
              <a:t>o dorință. </a:t>
            </a:r>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Orarul făcut pentru asta: </a:t>
            </a:r>
            <a:pPr indent="0" marL="0">
              <a:buNone/>
            </a:pPr>
            <a:r>
              <a:rPr lang="en-US" sz="2000" dirty="0">
                <a:solidFill>
                  <a:srgbClr val="11121A"/>
                </a:solidFill>
                <a:latin typeface="Palatino Linotype" pitchFamily="34" charset="0"/>
                <a:ea typeface="Palatino Linotype" pitchFamily="34" charset="-122"/>
                <a:cs typeface="Palatino Linotype" pitchFamily="34" charset="-120"/>
              </a:rPr>
              <a:t>un început de strategie.</a:t>
            </a:r>
            <a:endParaRPr lang="en-US" sz="20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CUVÂNT</a:t>
            </a:r>
            <a:endParaRPr lang="en-US" sz="1300" dirty="0"/>
          </a:p>
        </p:txBody>
      </p:sp>
      <p:sp>
        <p:nvSpPr>
          <p:cNvPr id="5" name="Text 3"/>
          <p:cNvSpPr/>
          <p:nvPr/>
        </p:nvSpPr>
        <p:spPr>
          <a:xfrm>
            <a:off x="594360" y="1188720"/>
            <a:ext cx="10789920" cy="228600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Ce vă vine în minte când auziți cuvântul „strategie”?</a:t>
            </a:r>
            <a:endParaRPr lang="en-US" sz="4400" dirty="0"/>
          </a:p>
        </p:txBody>
      </p:sp>
      <p:sp>
        <p:nvSpPr>
          <p:cNvPr id="6" name="Text 4"/>
          <p:cNvSpPr/>
          <p:nvPr/>
        </p:nvSpPr>
        <p:spPr>
          <a:xfrm>
            <a:off x="594360" y="3931920"/>
            <a:ext cx="10058400" cy="9144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Cuvintele cele mai frecvente apar mai mari. Păstrăm norul și punem aceeași întrebare la sfârșitul ședinței.</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Strategia</a:t>
            </a:r>
            <a:endParaRPr lang="en-US" sz="3800" dirty="0"/>
          </a:p>
        </p:txBody>
      </p:sp>
      <p:sp>
        <p:nvSpPr>
          <p:cNvPr id="4" name="Text 2"/>
          <p:cNvSpPr/>
          <p:nvPr/>
        </p:nvSpPr>
        <p:spPr>
          <a:xfrm>
            <a:off x="594360" y="146304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 mod consecvent și relativ durabil de a urmări un scop: de la situația de azi la una dorită.</a:t>
            </a:r>
            <a:endParaRPr lang="en-US" sz="1800" dirty="0"/>
          </a:p>
        </p:txBody>
      </p:sp>
      <p:sp>
        <p:nvSpPr>
          <p:cNvPr id="5" name="Shape 3"/>
          <p:cNvSpPr/>
          <p:nvPr/>
        </p:nvSpPr>
        <p:spPr>
          <a:xfrm>
            <a:off x="594360" y="2377440"/>
            <a:ext cx="10972800" cy="1005840"/>
          </a:xfrm>
          <a:prstGeom prst="roundRect">
            <a:avLst>
              <a:gd name="adj" fmla="val 8182"/>
            </a:avLst>
          </a:prstGeom>
          <a:solidFill>
            <a:srgbClr val="FF4757"/>
          </a:solidFill>
          <a:ln w="12700">
            <a:solidFill>
              <a:srgbClr val="FF4757"/>
            </a:solidFill>
            <a:prstDash val="solid"/>
          </a:ln>
        </p:spPr>
        <p:txBody>
          <a:bodyPr/>
          <a:p/>
        </p:txBody>
      </p:sp>
      <p:sp>
        <p:nvSpPr>
          <p:cNvPr id="6" name="Text 4"/>
          <p:cNvSpPr/>
          <p:nvPr/>
        </p:nvSpPr>
        <p:spPr>
          <a:xfrm>
            <a:off x="868680" y="2377440"/>
            <a:ext cx="10424160" cy="1005840"/>
          </a:xfrm>
          <a:prstGeom prst="rect">
            <a:avLst/>
          </a:prstGeom>
          <a:noFill/>
          <a:ln/>
        </p:spPr>
        <p:txBody>
          <a:bodyPr wrap="square" lIns="0" tIns="0" rIns="0" bIns="0" rtlCol="0" anchor="ctr"/>
          <a:lstStyle/>
          <a:p>
            <a:pPr indent="0" marL="0">
              <a:buNone/>
            </a:pPr>
            <a:r>
              <a:rPr lang="en-US" sz="2100" b="1" i="1" dirty="0">
                <a:solidFill>
                  <a:srgbClr val="2E060B"/>
                </a:solidFill>
                <a:latin typeface="Palatino Linotype" pitchFamily="34" charset="0"/>
                <a:ea typeface="Palatino Linotype" pitchFamily="34" charset="-122"/>
                <a:cs typeface="Palatino Linotype" pitchFamily="34" charset="-120"/>
              </a:rPr>
              <a:t>„Ce faceți în mod consecvent, an după an, ca să ajungeți unde vreți, inclusiv la ce renunțați pe drum.”</a:t>
            </a:r>
            <a:endParaRPr lang="en-US" sz="2100" dirty="0"/>
          </a:p>
        </p:txBody>
      </p:sp>
      <p:sp>
        <p:nvSpPr>
          <p:cNvPr id="7" name="Shape 5"/>
          <p:cNvSpPr/>
          <p:nvPr/>
        </p:nvSpPr>
        <p:spPr>
          <a:xfrm>
            <a:off x="594360" y="3657600"/>
            <a:ext cx="5394960" cy="2103120"/>
          </a:xfrm>
          <a:prstGeom prst="roundRect">
            <a:avLst>
              <a:gd name="adj" fmla="val 3913"/>
            </a:avLst>
          </a:prstGeom>
          <a:solidFill>
            <a:srgbClr val="ECEAE4"/>
          </a:solidFill>
          <a:ln w="12700">
            <a:solidFill>
              <a:srgbClr val="ECEAE4"/>
            </a:solidFill>
            <a:prstDash val="solid"/>
          </a:ln>
        </p:spPr>
        <p:txBody>
          <a:bodyPr/>
          <a:p/>
        </p:txBody>
      </p:sp>
      <p:sp>
        <p:nvSpPr>
          <p:cNvPr id="8" name="Text 6"/>
          <p:cNvSpPr/>
          <p:nvPr/>
        </p:nvSpPr>
        <p:spPr>
          <a:xfrm>
            <a:off x="868680" y="3794760"/>
            <a:ext cx="48463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CONSECVENT</a:t>
            </a:r>
            <a:endParaRPr lang="en-US" sz="1400" dirty="0"/>
          </a:p>
        </p:txBody>
      </p:sp>
      <p:sp>
        <p:nvSpPr>
          <p:cNvPr id="9" name="Text 7"/>
          <p:cNvSpPr/>
          <p:nvPr/>
        </p:nvSpPr>
        <p:spPr>
          <a:xfrm>
            <a:off x="868680" y="4206240"/>
            <a:ext cx="48463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Spitalul anunță chirurgia de o zi, dar investește numai în paturi obișnuite: strategia lui reală este alta, nescrisă.</a:t>
            </a:r>
            <a:endParaRPr lang="en-US" sz="1600" dirty="0"/>
          </a:p>
        </p:txBody>
      </p:sp>
      <p:sp>
        <p:nvSpPr>
          <p:cNvPr id="10" name="Shape 8"/>
          <p:cNvSpPr/>
          <p:nvPr/>
        </p:nvSpPr>
        <p:spPr>
          <a:xfrm>
            <a:off x="6172200" y="3657600"/>
            <a:ext cx="5394960" cy="2103120"/>
          </a:xfrm>
          <a:prstGeom prst="roundRect">
            <a:avLst>
              <a:gd name="adj" fmla="val 3913"/>
            </a:avLst>
          </a:prstGeom>
          <a:solidFill>
            <a:srgbClr val="F9F8F5"/>
          </a:solidFill>
          <a:ln w="12700">
            <a:solidFill>
              <a:srgbClr val="F9F8F5"/>
            </a:solidFill>
            <a:prstDash val="solid"/>
          </a:ln>
        </p:spPr>
        <p:txBody>
          <a:bodyPr/>
          <a:p/>
        </p:txBody>
      </p:sp>
      <p:sp>
        <p:nvSpPr>
          <p:cNvPr id="11" name="Text 9"/>
          <p:cNvSpPr/>
          <p:nvPr/>
        </p:nvSpPr>
        <p:spPr>
          <a:xfrm>
            <a:off x="6446520" y="3794760"/>
            <a:ext cx="48463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DE LA… LA…</a:t>
            </a:r>
            <a:endParaRPr lang="en-US" sz="1400" dirty="0"/>
          </a:p>
        </p:txBody>
      </p:sp>
      <p:sp>
        <p:nvSpPr>
          <p:cNvPr id="12" name="Text 10"/>
          <p:cNvSpPr/>
          <p:nvPr/>
        </p:nvSpPr>
        <p:spPr>
          <a:xfrm>
            <a:off x="6446520" y="4206240"/>
            <a:ext cx="484632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Fără punctul de sosire, consecvența devine rutină.</a:t>
            </a:r>
            <a:endParaRPr lang="en-US" sz="16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486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SITUAȚIE CONSTRUITĂ PENTRU CURS</a:t>
            </a:r>
            <a:endParaRPr lang="en-US" sz="1300" dirty="0"/>
          </a:p>
        </p:txBody>
      </p:sp>
      <p:sp>
        <p:nvSpPr>
          <p:cNvPr id="3" name="Text 1"/>
          <p:cNvSpPr/>
          <p:nvPr/>
        </p:nvSpPr>
        <p:spPr>
          <a:xfrm>
            <a:off x="594360" y="731520"/>
            <a:ext cx="5120640" cy="11887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Spitalul și noua lui manageră</a:t>
            </a:r>
            <a:endParaRPr lang="en-US" sz="3000" dirty="0"/>
          </a:p>
        </p:txBody>
      </p:sp>
      <p:sp>
        <p:nvSpPr>
          <p:cNvPr id="4" name="Text 2"/>
          <p:cNvSpPr/>
          <p:nvPr/>
        </p:nvSpPr>
        <p:spPr>
          <a:xfrm>
            <a:off x="594360" y="2011680"/>
            <a:ext cx="4937760" cy="21945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Managera nouă a câștigat concursul. În primele luni, pe biroul ei ajung trei semnale.</a:t>
            </a:r>
            <a:endParaRPr lang="en-US" sz="1700" dirty="0"/>
          </a:p>
        </p:txBody>
      </p:sp>
      <p:sp>
        <p:nvSpPr>
          <p:cNvPr id="5" name="Text 3"/>
          <p:cNvSpPr/>
          <p:nvPr/>
        </p:nvSpPr>
        <p:spPr>
          <a:xfrm>
            <a:off x="594360" y="5120640"/>
            <a:ext cx="4937760" cy="640080"/>
          </a:xfrm>
          <a:prstGeom prst="rect">
            <a:avLst/>
          </a:prstGeom>
          <a:noFill/>
          <a:ln/>
        </p:spPr>
        <p:txBody>
          <a:bodyPr wrap="square" lIns="0" tIns="0" rIns="0" bIns="0" rtlCol="0" anchor="t"/>
          <a:lstStyle/>
          <a:p>
            <a:pPr indent="0" marL="0">
              <a:buNone/>
            </a:pPr>
            <a:r>
              <a:rPr lang="en-US" sz="1300" i="1" dirty="0">
                <a:solidFill>
                  <a:srgbClr val="8E94A8"/>
                </a:solidFill>
                <a:latin typeface="Palatino Linotype" pitchFamily="34" charset="0"/>
                <a:ea typeface="Palatino Linotype" pitchFamily="34" charset="-122"/>
                <a:cs typeface="Palatino Linotype" pitchFamily="34" charset="-120"/>
              </a:rPr>
              <a:t>Spitalul nu există; povestea nu are cifre.</a:t>
            </a:r>
            <a:endParaRPr lang="en-US" sz="1300" dirty="0"/>
          </a:p>
        </p:txBody>
      </p:sp>
      <p:sp>
        <p:nvSpPr>
          <p:cNvPr id="6" name="Shape 4"/>
          <p:cNvSpPr/>
          <p:nvPr/>
        </p:nvSpPr>
        <p:spPr>
          <a:xfrm>
            <a:off x="5989320" y="68580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7" name="Shape 5"/>
          <p:cNvSpPr/>
          <p:nvPr/>
        </p:nvSpPr>
        <p:spPr>
          <a:xfrm>
            <a:off x="5989320" y="685800"/>
            <a:ext cx="91440" cy="1600200"/>
          </a:xfrm>
          <a:prstGeom prst="rect">
            <a:avLst/>
          </a:prstGeom>
          <a:solidFill>
            <a:srgbClr val="FF4757"/>
          </a:solidFill>
          <a:ln w="12700">
            <a:solidFill>
              <a:srgbClr val="FF4757"/>
            </a:solidFill>
            <a:prstDash val="solid"/>
          </a:ln>
        </p:spPr>
        <p:txBody>
          <a:bodyPr/>
          <a:p/>
        </p:txBody>
      </p:sp>
      <p:sp>
        <p:nvSpPr>
          <p:cNvPr id="8" name="Text 6"/>
          <p:cNvSpPr/>
          <p:nvPr/>
        </p:nvSpPr>
        <p:spPr>
          <a:xfrm>
            <a:off x="6309360" y="82296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1 · URGENȚELE</a:t>
            </a:r>
            <a:endParaRPr lang="en-US" sz="1300" dirty="0"/>
          </a:p>
        </p:txBody>
      </p:sp>
      <p:sp>
        <p:nvSpPr>
          <p:cNvPr id="9" name="Text 7"/>
          <p:cNvSpPr/>
          <p:nvPr/>
        </p:nvSpPr>
        <p:spPr>
          <a:xfrm>
            <a:off x="6309360" y="118872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Tot mai mulți pacienți în vârstă, cu boli cronice, nevăzuți la timp în altă parte.</a:t>
            </a:r>
            <a:endParaRPr lang="en-US" sz="1600" dirty="0"/>
          </a:p>
        </p:txBody>
      </p:sp>
      <p:sp>
        <p:nvSpPr>
          <p:cNvPr id="10" name="Shape 8"/>
          <p:cNvSpPr/>
          <p:nvPr/>
        </p:nvSpPr>
        <p:spPr>
          <a:xfrm>
            <a:off x="6099048" y="246888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1" name="Shape 9"/>
          <p:cNvSpPr/>
          <p:nvPr/>
        </p:nvSpPr>
        <p:spPr>
          <a:xfrm>
            <a:off x="6099048" y="2468880"/>
            <a:ext cx="91440" cy="1600200"/>
          </a:xfrm>
          <a:prstGeom prst="rect">
            <a:avLst/>
          </a:prstGeom>
          <a:solidFill>
            <a:srgbClr val="FFC24B"/>
          </a:solidFill>
          <a:ln w="12700">
            <a:solidFill>
              <a:srgbClr val="FFC24B"/>
            </a:solidFill>
            <a:prstDash val="solid"/>
          </a:ln>
        </p:spPr>
        <p:txBody>
          <a:bodyPr/>
          <a:p/>
        </p:txBody>
      </p:sp>
      <p:sp>
        <p:nvSpPr>
          <p:cNvPr id="12" name="Text 10"/>
          <p:cNvSpPr/>
          <p:nvPr/>
        </p:nvSpPr>
        <p:spPr>
          <a:xfrm>
            <a:off x="6419088" y="260604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2 · RAPORTUL LUNAR</a:t>
            </a:r>
            <a:endParaRPr lang="en-US" sz="1300" dirty="0"/>
          </a:p>
        </p:txBody>
      </p:sp>
      <p:sp>
        <p:nvSpPr>
          <p:cNvPr id="13" name="Text 11"/>
          <p:cNvSpPr/>
          <p:nvPr/>
        </p:nvSpPr>
        <p:spPr>
          <a:xfrm>
            <a:off x="6419088" y="297180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Paturi goale pe unele secții, pacienți mutați pe altele. Fiecare șef își apără paturile.</a:t>
            </a:r>
            <a:endParaRPr lang="en-US" sz="1600" dirty="0"/>
          </a:p>
        </p:txBody>
      </p:sp>
      <p:sp>
        <p:nvSpPr>
          <p:cNvPr id="14" name="Shape 12"/>
          <p:cNvSpPr/>
          <p:nvPr/>
        </p:nvSpPr>
        <p:spPr>
          <a:xfrm>
            <a:off x="6208776" y="425196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5" name="Shape 13"/>
          <p:cNvSpPr/>
          <p:nvPr/>
        </p:nvSpPr>
        <p:spPr>
          <a:xfrm>
            <a:off x="6208776" y="4251960"/>
            <a:ext cx="91440" cy="1600200"/>
          </a:xfrm>
          <a:prstGeom prst="rect">
            <a:avLst/>
          </a:prstGeom>
          <a:solidFill>
            <a:srgbClr val="27D3BE"/>
          </a:solidFill>
          <a:ln w="12700">
            <a:solidFill>
              <a:srgbClr val="27D3BE"/>
            </a:solidFill>
            <a:prstDash val="solid"/>
          </a:ln>
        </p:spPr>
        <p:txBody>
          <a:bodyPr/>
          <a:p/>
        </p:txBody>
      </p:sp>
      <p:sp>
        <p:nvSpPr>
          <p:cNvPr id="16" name="Text 14"/>
          <p:cNvSpPr/>
          <p:nvPr/>
        </p:nvSpPr>
        <p:spPr>
          <a:xfrm>
            <a:off x="6528816" y="438912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3 · ORAȘUL</a:t>
            </a:r>
            <a:endParaRPr lang="en-US" sz="1300" dirty="0"/>
          </a:p>
        </p:txBody>
      </p:sp>
      <p:sp>
        <p:nvSpPr>
          <p:cNvPr id="17" name="Text 15"/>
          <p:cNvSpPr/>
          <p:nvPr/>
        </p:nvSpPr>
        <p:spPr>
          <a:xfrm>
            <a:off x="6528816" y="475488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clinică privată nouă a atras medici cu experiență și pacienții care își permit.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ȘI O PROPUNERE POPULARĂ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Cu ce începe noua manageră?</a:t>
            </a:r>
            <a:endParaRPr lang="en-US" sz="3200" dirty="0"/>
          </a:p>
        </p:txBody>
      </p:sp>
      <p:sp>
        <p:nvSpPr>
          <p:cNvPr id="6" name="Text 4"/>
          <p:cNvSpPr/>
          <p:nvPr/>
        </p:nvSpPr>
        <p:spPr>
          <a:xfrm>
            <a:off x="594360" y="1371600"/>
            <a:ext cx="10972800" cy="4572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Consiliul județean, care deține spitalul, propune o clădire nouă, cu mai multe paturi.</a:t>
            </a:r>
            <a:endParaRPr lang="en-US" sz="1800" dirty="0"/>
          </a:p>
        </p:txBody>
      </p:sp>
      <p:sp>
        <p:nvSpPr>
          <p:cNvPr id="7" name="Shape 5"/>
          <p:cNvSpPr/>
          <p:nvPr/>
        </p:nvSpPr>
        <p:spPr>
          <a:xfrm>
            <a:off x="594360" y="201168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8" name="Shape 6"/>
          <p:cNvSpPr/>
          <p:nvPr/>
        </p:nvSpPr>
        <p:spPr>
          <a:xfrm>
            <a:off x="868680" y="2130552"/>
            <a:ext cx="420624" cy="420624"/>
          </a:xfrm>
          <a:prstGeom prst="ellipse">
            <a:avLst/>
          </a:prstGeom>
          <a:solidFill>
            <a:srgbClr val="FFC24B"/>
          </a:solidFill>
          <a:ln/>
        </p:spPr>
        <p:txBody>
          <a:bodyPr/>
          <a:p/>
        </p:txBody>
      </p:sp>
      <p:sp>
        <p:nvSpPr>
          <p:cNvPr id="9" name="Text 7"/>
          <p:cNvSpPr/>
          <p:nvPr/>
        </p:nvSpPr>
        <p:spPr>
          <a:xfrm>
            <a:off x="868680" y="21305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08760" y="2011680"/>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Acceptă clădirea nouă: mai multe paturi, mai puțină aglomerație</a:t>
            </a:r>
            <a:endParaRPr lang="en-US" sz="1800" dirty="0"/>
          </a:p>
        </p:txBody>
      </p:sp>
      <p:sp>
        <p:nvSpPr>
          <p:cNvPr id="11" name="Shape 9"/>
          <p:cNvSpPr/>
          <p:nvPr/>
        </p:nvSpPr>
        <p:spPr>
          <a:xfrm>
            <a:off x="594360" y="2798064"/>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2" name="Shape 10"/>
          <p:cNvSpPr/>
          <p:nvPr/>
        </p:nvSpPr>
        <p:spPr>
          <a:xfrm>
            <a:off x="868680" y="2916936"/>
            <a:ext cx="420624" cy="420624"/>
          </a:xfrm>
          <a:prstGeom prst="ellipse">
            <a:avLst/>
          </a:prstGeom>
          <a:solidFill>
            <a:srgbClr val="FFC24B"/>
          </a:solidFill>
          <a:ln/>
        </p:spPr>
        <p:txBody>
          <a:bodyPr/>
          <a:p/>
        </p:txBody>
      </p:sp>
      <p:sp>
        <p:nvSpPr>
          <p:cNvPr id="13" name="Text 11"/>
          <p:cNvSpPr/>
          <p:nvPr/>
        </p:nvSpPr>
        <p:spPr>
          <a:xfrm>
            <a:off x="868680" y="29169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08760" y="2798064"/>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Închide secțiile cu paturi goale, ca să economisească bani</a:t>
            </a:r>
            <a:endParaRPr lang="en-US" sz="1800" dirty="0"/>
          </a:p>
        </p:txBody>
      </p:sp>
      <p:sp>
        <p:nvSpPr>
          <p:cNvPr id="15" name="Shape 13"/>
          <p:cNvSpPr/>
          <p:nvPr/>
        </p:nvSpPr>
        <p:spPr>
          <a:xfrm>
            <a:off x="594360" y="3584448"/>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6" name="Shape 14"/>
          <p:cNvSpPr/>
          <p:nvPr/>
        </p:nvSpPr>
        <p:spPr>
          <a:xfrm>
            <a:off x="868680" y="3703320"/>
            <a:ext cx="420624" cy="420624"/>
          </a:xfrm>
          <a:prstGeom prst="ellipse">
            <a:avLst/>
          </a:prstGeom>
          <a:solidFill>
            <a:srgbClr val="FFC24B"/>
          </a:solidFill>
          <a:ln/>
        </p:spPr>
        <p:txBody>
          <a:bodyPr/>
          <a:p/>
        </p:txBody>
      </p:sp>
      <p:sp>
        <p:nvSpPr>
          <p:cNvPr id="17" name="Text 15"/>
          <p:cNvSpPr/>
          <p:nvPr/>
        </p:nvSpPr>
        <p:spPr>
          <a:xfrm>
            <a:off x="86868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08760" y="3584448"/>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Rezolvă întâi problemele de la urgențe și se gândește apoi la restul</a:t>
            </a:r>
            <a:endParaRPr lang="en-US" sz="1800" dirty="0"/>
          </a:p>
        </p:txBody>
      </p:sp>
      <p:sp>
        <p:nvSpPr>
          <p:cNvPr id="19" name="Shape 17"/>
          <p:cNvSpPr/>
          <p:nvPr/>
        </p:nvSpPr>
        <p:spPr>
          <a:xfrm>
            <a:off x="594360" y="4370832"/>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20" name="Shape 18"/>
          <p:cNvSpPr/>
          <p:nvPr/>
        </p:nvSpPr>
        <p:spPr>
          <a:xfrm>
            <a:off x="868680" y="4489704"/>
            <a:ext cx="420624" cy="420624"/>
          </a:xfrm>
          <a:prstGeom prst="ellipse">
            <a:avLst/>
          </a:prstGeom>
          <a:solidFill>
            <a:srgbClr val="FFC24B"/>
          </a:solidFill>
          <a:ln/>
        </p:spPr>
        <p:txBody>
          <a:bodyPr/>
          <a:p/>
        </p:txBody>
      </p:sp>
      <p:sp>
        <p:nvSpPr>
          <p:cNvPr id="21" name="Text 19"/>
          <p:cNvSpPr/>
          <p:nvPr/>
        </p:nvSpPr>
        <p:spPr>
          <a:xfrm>
            <a:off x="868680" y="4489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08760" y="4370832"/>
            <a:ext cx="9784080" cy="65836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Își face un plan pe durata mandatului, înainte de orice decizie mare</a:t>
            </a:r>
            <a:endParaRPr lang="en-US" sz="1800" dirty="0"/>
          </a:p>
        </p:txBody>
      </p:sp>
      <p:sp>
        <p:nvSpPr>
          <p:cNvPr id="23" name="Text 21"/>
          <p:cNvSpPr/>
          <p:nvPr/>
        </p:nvSpPr>
        <p:spPr>
          <a:xfrm>
            <a:off x="594360" y="534924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Un singur vot, pe menti.com: codul apare pe ecranul Mentimeter.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FIECARE VARIANTĂ ARE O LOGICĂ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Problema lor: sunt luate separat</a:t>
            </a:r>
            <a:endParaRPr lang="en-US" sz="3200" dirty="0"/>
          </a:p>
        </p:txBody>
      </p:sp>
      <p:sp>
        <p:nvSpPr>
          <p:cNvPr id="4" name="Shape 2"/>
          <p:cNvSpPr/>
          <p:nvPr/>
        </p:nvSpPr>
        <p:spPr>
          <a:xfrm>
            <a:off x="594360" y="1645920"/>
            <a:ext cx="10972800" cy="896112"/>
          </a:xfrm>
          <a:prstGeom prst="roundRect">
            <a:avLst>
              <a:gd name="adj" fmla="val 9184"/>
            </a:avLst>
          </a:prstGeom>
          <a:solidFill>
            <a:srgbClr val="ECEAE4"/>
          </a:solidFill>
          <a:ln w="12700">
            <a:solidFill>
              <a:srgbClr val="ECEAE4"/>
            </a:solidFill>
            <a:prstDash val="solid"/>
          </a:ln>
        </p:spPr>
        <p:txBody>
          <a:bodyPr/>
          <a:p/>
        </p:txBody>
      </p:sp>
      <p:sp>
        <p:nvSpPr>
          <p:cNvPr id="5" name="Text 3"/>
          <p:cNvSpPr/>
          <p:nvPr/>
        </p:nvSpPr>
        <p:spPr>
          <a:xfrm>
            <a:off x="868680" y="1645920"/>
            <a:ext cx="10424160" cy="896112"/>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Clădirea nouă: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adaugă paturi unde există deja paturi goale; se umple cu aceiași pacienți.</a:t>
            </a:r>
            <a:endParaRPr lang="en-US" sz="1700" dirty="0"/>
          </a:p>
        </p:txBody>
      </p:sp>
      <p:sp>
        <p:nvSpPr>
          <p:cNvPr id="6" name="Shape 4"/>
          <p:cNvSpPr/>
          <p:nvPr/>
        </p:nvSpPr>
        <p:spPr>
          <a:xfrm>
            <a:off x="594360" y="2670048"/>
            <a:ext cx="10972800" cy="896112"/>
          </a:xfrm>
          <a:prstGeom prst="roundRect">
            <a:avLst>
              <a:gd name="adj" fmla="val 9184"/>
            </a:avLst>
          </a:prstGeom>
          <a:solidFill>
            <a:srgbClr val="F9F8F5"/>
          </a:solidFill>
          <a:ln w="12700">
            <a:solidFill>
              <a:srgbClr val="F9F8F5"/>
            </a:solidFill>
            <a:prstDash val="solid"/>
          </a:ln>
        </p:spPr>
        <p:txBody>
          <a:bodyPr/>
          <a:p/>
        </p:txBody>
      </p:sp>
      <p:sp>
        <p:nvSpPr>
          <p:cNvPr id="7" name="Text 5"/>
          <p:cNvSpPr/>
          <p:nvPr/>
        </p:nvSpPr>
        <p:spPr>
          <a:xfrm>
            <a:off x="868680" y="2670048"/>
            <a:ext cx="10424160" cy="896112"/>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Închiderea secțiilor: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economisește bani, dar poate lăsa județul fără un serviciu de care va avea nevoie.</a:t>
            </a:r>
            <a:endParaRPr lang="en-US" sz="1700" dirty="0"/>
          </a:p>
        </p:txBody>
      </p:sp>
      <p:sp>
        <p:nvSpPr>
          <p:cNvPr id="8" name="Shape 6"/>
          <p:cNvSpPr/>
          <p:nvPr/>
        </p:nvSpPr>
        <p:spPr>
          <a:xfrm>
            <a:off x="594360" y="3694176"/>
            <a:ext cx="10972800" cy="896112"/>
          </a:xfrm>
          <a:prstGeom prst="roundRect">
            <a:avLst>
              <a:gd name="adj" fmla="val 9184"/>
            </a:avLst>
          </a:prstGeom>
          <a:solidFill>
            <a:srgbClr val="ECEAE4"/>
          </a:solidFill>
          <a:ln w="12700">
            <a:solidFill>
              <a:srgbClr val="ECEAE4"/>
            </a:solidFill>
            <a:prstDash val="solid"/>
          </a:ln>
        </p:spPr>
        <p:txBody>
          <a:bodyPr/>
          <a:p/>
        </p:txBody>
      </p:sp>
      <p:sp>
        <p:nvSpPr>
          <p:cNvPr id="9" name="Text 7"/>
          <p:cNvSpPr/>
          <p:nvPr/>
        </p:nvSpPr>
        <p:spPr>
          <a:xfrm>
            <a:off x="868680" y="3694176"/>
            <a:ext cx="10424160" cy="896112"/>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Urgențele întâi: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sunt necesare, dar, fără o direcție, mâine apar alte urgențe.</a:t>
            </a:r>
            <a:endParaRPr lang="en-US" sz="1700" dirty="0"/>
          </a:p>
        </p:txBody>
      </p:sp>
      <p:sp>
        <p:nvSpPr>
          <p:cNvPr id="10" name="Shape 8"/>
          <p:cNvSpPr/>
          <p:nvPr/>
        </p:nvSpPr>
        <p:spPr>
          <a:xfrm>
            <a:off x="594360" y="4718304"/>
            <a:ext cx="10972800" cy="896112"/>
          </a:xfrm>
          <a:prstGeom prst="roundRect">
            <a:avLst>
              <a:gd name="adj" fmla="val 9184"/>
            </a:avLst>
          </a:prstGeom>
          <a:solidFill>
            <a:srgbClr val="F9F8F5"/>
          </a:solidFill>
          <a:ln w="12700">
            <a:solidFill>
              <a:srgbClr val="F9F8F5"/>
            </a:solidFill>
            <a:prstDash val="solid"/>
          </a:ln>
        </p:spPr>
        <p:txBody>
          <a:bodyPr/>
          <a:p/>
        </p:txBody>
      </p:sp>
      <p:sp>
        <p:nvSpPr>
          <p:cNvPr id="11" name="Text 9"/>
          <p:cNvSpPr/>
          <p:nvPr/>
        </p:nvSpPr>
        <p:spPr>
          <a:xfrm>
            <a:off x="868680" y="4718304"/>
            <a:ext cx="10424160" cy="896112"/>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Planul: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pune întrebarea pe care celelalte nu o pun: încotro merge spitalul?</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097280"/>
            <a:ext cx="10789920" cy="2103120"/>
          </a:xfrm>
          <a:prstGeom prst="rect">
            <a:avLst/>
          </a:prstGeom>
          <a:noFill/>
          <a:ln/>
        </p:spPr>
        <p:txBody>
          <a:bodyPr wrap="square" lIns="0" tIns="0" rIns="0" bIns="0" rtlCol="0" anchor="ctr"/>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Care dintre cele trei semnale vi se pare cel mai greu de rezolvat?</a:t>
            </a:r>
            <a:endParaRPr lang="en-US" sz="4000" dirty="0"/>
          </a:p>
        </p:txBody>
      </p:sp>
      <p:sp>
        <p:nvSpPr>
          <p:cNvPr id="6" name="Shape 4"/>
          <p:cNvSpPr/>
          <p:nvPr/>
        </p:nvSpPr>
        <p:spPr>
          <a:xfrm>
            <a:off x="594360" y="3520440"/>
            <a:ext cx="1280160" cy="36576"/>
          </a:xfrm>
          <a:prstGeom prst="rect">
            <a:avLst/>
          </a:prstGeom>
          <a:solidFill>
            <a:srgbClr val="27D3BE"/>
          </a:solidFill>
          <a:ln/>
        </p:spPr>
        <p:txBody>
          <a:bodyPr/>
          <a:p/>
        </p:txBody>
      </p:sp>
      <p:sp>
        <p:nvSpPr>
          <p:cNvPr id="7" name="Text 5"/>
          <p:cNvSpPr/>
          <p:nvPr/>
        </p:nvSpPr>
        <p:spPr>
          <a:xfrm>
            <a:off x="594360" y="3794760"/>
            <a:ext cx="10515600" cy="914400"/>
          </a:xfrm>
          <a:prstGeom prst="rect">
            <a:avLst/>
          </a:prstGeom>
          <a:noFill/>
          <a:ln/>
        </p:spPr>
        <p:txBody>
          <a:bodyPr wrap="square" lIns="0" tIns="0" rIns="0" bIns="0" rtlCol="0" anchor="t"/>
          <a:lstStyle/>
          <a:p>
            <a:pPr indent="0" marL="0">
              <a:buNone/>
            </a:pPr>
            <a:r>
              <a:rPr lang="en-US" sz="2100" dirty="0">
                <a:solidFill>
                  <a:srgbClr val="959BB0"/>
                </a:solidFill>
                <a:latin typeface="Palatino Linotype" pitchFamily="34" charset="0"/>
                <a:ea typeface="Palatino Linotype" pitchFamily="34" charset="-122"/>
                <a:cs typeface="Palatino Linotype" pitchFamily="34" charset="-120"/>
              </a:rPr>
              <a:t>Gândiți-vă cine pierde și cine câștigă dacă managera îl pune pe primul loc. Două minute.</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AR FACE MANAGERA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Legea cere un plan. Nu spune ce să scrie în el.</a:t>
            </a:r>
            <a:endParaRPr lang="en-US" sz="3000" dirty="0"/>
          </a:p>
        </p:txBody>
      </p:sp>
      <p:sp>
        <p:nvSpPr>
          <p:cNvPr id="4" name="Shape 2"/>
          <p:cNvSpPr/>
          <p:nvPr/>
        </p:nvSpPr>
        <p:spPr>
          <a:xfrm>
            <a:off x="594360" y="1645920"/>
            <a:ext cx="5394960" cy="2103120"/>
          </a:xfrm>
          <a:prstGeom prst="rect">
            <a:avLst/>
          </a:prstGeom>
          <a:solidFill>
            <a:srgbClr val="FBF8F1"/>
          </a:solidFill>
          <a:ln w="9525">
            <a:solidFill>
              <a:srgbClr val="C9C6BE"/>
            </a:solidFill>
            <a:prstDash val="solid"/>
          </a:ln>
        </p:spPr>
        <p:txBody>
          <a:bodyPr/>
          <a:p/>
        </p:txBody>
      </p:sp>
      <p:sp>
        <p:nvSpPr>
          <p:cNvPr id="5" name="Shape 3"/>
          <p:cNvSpPr/>
          <p:nvPr/>
        </p:nvSpPr>
        <p:spPr>
          <a:xfrm>
            <a:off x="594360" y="1645920"/>
            <a:ext cx="54864" cy="210312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783080"/>
            <a:ext cx="484632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LEGEA NR. 95/2006</a:t>
            </a:r>
            <a:endParaRPr lang="en-US" sz="1400" dirty="0"/>
          </a:p>
        </p:txBody>
      </p:sp>
      <p:sp>
        <p:nvSpPr>
          <p:cNvPr id="7" name="Text 5"/>
          <p:cNvSpPr/>
          <p:nvPr/>
        </p:nvSpPr>
        <p:spPr>
          <a:xfrm>
            <a:off x="914400" y="2194560"/>
            <a:ext cx="484632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Contract de management pe cel mult 4 ani; evaluare anuală, pe baza indicatorilor de performanță.</a:t>
            </a:r>
            <a:endParaRPr lang="en-US" sz="1700" dirty="0"/>
          </a:p>
        </p:txBody>
      </p:sp>
      <p:sp>
        <p:nvSpPr>
          <p:cNvPr id="8" name="Shape 6"/>
          <p:cNvSpPr/>
          <p:nvPr/>
        </p:nvSpPr>
        <p:spPr>
          <a:xfrm>
            <a:off x="6172200" y="1645920"/>
            <a:ext cx="5394960" cy="2103120"/>
          </a:xfrm>
          <a:prstGeom prst="rect">
            <a:avLst/>
          </a:prstGeom>
          <a:solidFill>
            <a:srgbClr val="FBF8F1"/>
          </a:solidFill>
          <a:ln w="9525">
            <a:solidFill>
              <a:srgbClr val="C9C6BE"/>
            </a:solidFill>
            <a:prstDash val="solid"/>
          </a:ln>
        </p:spPr>
        <p:txBody>
          <a:bodyPr/>
          <a:p/>
        </p:txBody>
      </p:sp>
      <p:sp>
        <p:nvSpPr>
          <p:cNvPr id="9" name="Shape 7"/>
          <p:cNvSpPr/>
          <p:nvPr/>
        </p:nvSpPr>
        <p:spPr>
          <a:xfrm>
            <a:off x="6172200" y="1645920"/>
            <a:ext cx="54864" cy="2103120"/>
          </a:xfrm>
          <a:prstGeom prst="rect">
            <a:avLst/>
          </a:prstGeom>
          <a:solidFill>
            <a:srgbClr val="B02532"/>
          </a:solidFill>
          <a:ln w="12700">
            <a:solidFill>
              <a:srgbClr val="B02532"/>
            </a:solidFill>
            <a:prstDash val="solid"/>
          </a:ln>
        </p:spPr>
        <p:txBody>
          <a:bodyPr/>
          <a:p/>
        </p:txBody>
      </p:sp>
      <p:sp>
        <p:nvSpPr>
          <p:cNvPr id="10" name="Text 8"/>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ORDINUL NR. 1384/2010</a:t>
            </a:r>
            <a:endParaRPr lang="en-US" sz="1400" dirty="0"/>
          </a:p>
        </p:txBody>
      </p:sp>
      <p:sp>
        <p:nvSpPr>
          <p:cNvPr id="11" name="Text 9"/>
          <p:cNvSpPr/>
          <p:nvPr/>
        </p:nvSpPr>
        <p:spPr>
          <a:xfrm>
            <a:off x="6492240" y="2194560"/>
            <a:ext cx="484632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Managerul elaborează planul de dezvoltare a spitalului pe perioada mandatului, pe baza nevoilor populației deservite.</a:t>
            </a:r>
            <a:endParaRPr lang="en-US" sz="1700" dirty="0"/>
          </a:p>
        </p:txBody>
      </p:sp>
      <p:sp>
        <p:nvSpPr>
          <p:cNvPr id="12" name="Text 10"/>
          <p:cNvSpPr/>
          <p:nvPr/>
        </p:nvSpPr>
        <p:spPr>
          <a:xfrm>
            <a:off x="594360" y="4023360"/>
            <a:ext cx="10972800" cy="731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Planul îl pregătește comitetul director; consiliul de administrație dezbate strategia.</a:t>
            </a:r>
            <a:endParaRPr lang="en-US" sz="1700" dirty="0"/>
          </a:p>
        </p:txBody>
      </p:sp>
      <p:sp>
        <p:nvSpPr>
          <p:cNvPr id="13" name="Text 11"/>
          <p:cNvSpPr/>
          <p:nvPr/>
        </p:nvSpPr>
        <p:spPr>
          <a:xfrm>
            <a:off x="594360" y="4846320"/>
            <a:ext cx="10972800" cy="41148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Aici începe managementul strategic.</a:t>
            </a:r>
            <a:endParaRPr lang="en-US" sz="20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95/2006; Ordinul ministrului sănătății nr. 1384/2010 (modelul-cadru al contractului de management).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Managementul strategic</a:t>
            </a:r>
            <a:endParaRPr lang="en-US" sz="3800" dirty="0"/>
          </a:p>
        </p:txBody>
      </p:sp>
      <p:sp>
        <p:nvSpPr>
          <p:cNvPr id="4" name="Text 2"/>
          <p:cNvSpPr/>
          <p:nvPr/>
        </p:nvSpPr>
        <p:spPr>
          <a:xfrm>
            <a:off x="594360" y="1463040"/>
            <a:ext cx="10972800" cy="1005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Procesul de gândire strategică, de planificare strategică și de activitate strategică (punerea în practică, urmărirea și corectarea strategiei, zi de zi), prin care o organizație își stabilește direcția și își realizează misiunea și viziunea.</a:t>
            </a:r>
            <a:endParaRPr lang="en-US" sz="1800" dirty="0"/>
          </a:p>
        </p:txBody>
      </p:sp>
      <p:sp>
        <p:nvSpPr>
          <p:cNvPr id="5" name="Shape 3"/>
          <p:cNvSpPr/>
          <p:nvPr/>
        </p:nvSpPr>
        <p:spPr>
          <a:xfrm>
            <a:off x="594360" y="2651760"/>
            <a:ext cx="10972800" cy="1143000"/>
          </a:xfrm>
          <a:prstGeom prst="roundRect">
            <a:avLst>
              <a:gd name="adj" fmla="val 7200"/>
            </a:avLst>
          </a:prstGeom>
          <a:solidFill>
            <a:srgbClr val="FFC24B"/>
          </a:solidFill>
          <a:ln w="12700">
            <a:solidFill>
              <a:srgbClr val="FFC24B"/>
            </a:solidFill>
            <a:prstDash val="solid"/>
          </a:ln>
        </p:spPr>
        <p:txBody>
          <a:bodyPr/>
          <a:p/>
        </p:txBody>
      </p:sp>
      <p:sp>
        <p:nvSpPr>
          <p:cNvPr id="6" name="Text 4"/>
          <p:cNvSpPr/>
          <p:nvPr/>
        </p:nvSpPr>
        <p:spPr>
          <a:xfrm>
            <a:off x="868680" y="2651760"/>
            <a:ext cx="10424160" cy="1143000"/>
          </a:xfrm>
          <a:prstGeom prst="rect">
            <a:avLst/>
          </a:prstGeom>
          <a:noFill/>
          <a:ln/>
        </p:spPr>
        <p:txBody>
          <a:bodyPr wrap="square" lIns="0" tIns="0" rIns="0" bIns="0" rtlCol="0" anchor="ctr"/>
          <a:lstStyle/>
          <a:p>
            <a:pPr indent="0" marL="0">
              <a:buNone/>
            </a:pPr>
            <a:r>
              <a:rPr lang="en-US" sz="2300" b="1" i="1" dirty="0">
                <a:solidFill>
                  <a:srgbClr val="3D2A00"/>
                </a:solidFill>
                <a:latin typeface="Palatino Linotype" pitchFamily="34" charset="0"/>
                <a:ea typeface="Palatino Linotype" pitchFamily="34" charset="-122"/>
                <a:cs typeface="Palatino Linotype" pitchFamily="34" charset="-120"/>
              </a:rPr>
              <a:t>„A conduce o organizație cu direcție: te gândești, hotărăști, faci și te corectezi.”</a:t>
            </a:r>
            <a:endParaRPr lang="en-US" sz="2300" dirty="0"/>
          </a:p>
        </p:txBody>
      </p:sp>
      <p:sp>
        <p:nvSpPr>
          <p:cNvPr id="7" name="Shape 5"/>
          <p:cNvSpPr/>
          <p:nvPr/>
        </p:nvSpPr>
        <p:spPr>
          <a:xfrm>
            <a:off x="594360" y="4114800"/>
            <a:ext cx="2606040" cy="777240"/>
          </a:xfrm>
          <a:prstGeom prst="roundRect">
            <a:avLst>
              <a:gd name="adj" fmla="val 10588"/>
            </a:avLst>
          </a:prstGeom>
          <a:solidFill>
            <a:srgbClr val="ECEAE4"/>
          </a:solidFill>
          <a:ln w="12700">
            <a:solidFill>
              <a:srgbClr val="ECEAE4"/>
            </a:solidFill>
            <a:prstDash val="solid"/>
          </a:ln>
        </p:spPr>
        <p:txBody>
          <a:bodyPr/>
          <a:p/>
        </p:txBody>
      </p:sp>
      <p:sp>
        <p:nvSpPr>
          <p:cNvPr id="8" name="Text 6"/>
          <p:cNvSpPr/>
          <p:nvPr/>
        </p:nvSpPr>
        <p:spPr>
          <a:xfrm>
            <a:off x="685800" y="4114800"/>
            <a:ext cx="2423160" cy="777240"/>
          </a:xfrm>
          <a:prstGeom prst="rect">
            <a:avLst/>
          </a:prstGeom>
          <a:noFill/>
          <a:ln/>
        </p:spPr>
        <p:txBody>
          <a:bodyPr wrap="square" lIns="0" tIns="0" rIns="0" bIns="0" rtlCol="0" anchor="ctr"/>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te gândești</a:t>
            </a:r>
            <a:endParaRPr lang="en-US" sz="1700" dirty="0"/>
          </a:p>
        </p:txBody>
      </p:sp>
      <p:sp>
        <p:nvSpPr>
          <p:cNvPr id="9" name="Text 7"/>
          <p:cNvSpPr/>
          <p:nvPr/>
        </p:nvSpPr>
        <p:spPr>
          <a:xfrm>
            <a:off x="3200400" y="411480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0" name="Shape 8"/>
          <p:cNvSpPr/>
          <p:nvPr/>
        </p:nvSpPr>
        <p:spPr>
          <a:xfrm>
            <a:off x="3410712" y="4114800"/>
            <a:ext cx="2606040" cy="777240"/>
          </a:xfrm>
          <a:prstGeom prst="roundRect">
            <a:avLst>
              <a:gd name="adj" fmla="val 10588"/>
            </a:avLst>
          </a:prstGeom>
          <a:solidFill>
            <a:srgbClr val="F9F8F5"/>
          </a:solidFill>
          <a:ln w="12700">
            <a:solidFill>
              <a:srgbClr val="F9F8F5"/>
            </a:solidFill>
            <a:prstDash val="solid"/>
          </a:ln>
        </p:spPr>
        <p:txBody>
          <a:bodyPr/>
          <a:p/>
        </p:txBody>
      </p:sp>
      <p:sp>
        <p:nvSpPr>
          <p:cNvPr id="11" name="Text 9"/>
          <p:cNvSpPr/>
          <p:nvPr/>
        </p:nvSpPr>
        <p:spPr>
          <a:xfrm>
            <a:off x="3502152" y="4114800"/>
            <a:ext cx="2423160" cy="777240"/>
          </a:xfrm>
          <a:prstGeom prst="rect">
            <a:avLst/>
          </a:prstGeom>
          <a:noFill/>
          <a:ln/>
        </p:spPr>
        <p:txBody>
          <a:bodyPr wrap="square" lIns="0" tIns="0" rIns="0" bIns="0" rtlCol="0" anchor="ctr"/>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hotărăști</a:t>
            </a:r>
            <a:endParaRPr lang="en-US" sz="1700" dirty="0"/>
          </a:p>
        </p:txBody>
      </p:sp>
      <p:sp>
        <p:nvSpPr>
          <p:cNvPr id="12" name="Text 10"/>
          <p:cNvSpPr/>
          <p:nvPr/>
        </p:nvSpPr>
        <p:spPr>
          <a:xfrm>
            <a:off x="6016752" y="411480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3" name="Shape 11"/>
          <p:cNvSpPr/>
          <p:nvPr/>
        </p:nvSpPr>
        <p:spPr>
          <a:xfrm>
            <a:off x="6227064" y="4114800"/>
            <a:ext cx="2606040" cy="777240"/>
          </a:xfrm>
          <a:prstGeom prst="roundRect">
            <a:avLst>
              <a:gd name="adj" fmla="val 10588"/>
            </a:avLst>
          </a:prstGeom>
          <a:solidFill>
            <a:srgbClr val="ECEAE4"/>
          </a:solidFill>
          <a:ln w="12700">
            <a:solidFill>
              <a:srgbClr val="ECEAE4"/>
            </a:solidFill>
            <a:prstDash val="solid"/>
          </a:ln>
        </p:spPr>
        <p:txBody>
          <a:bodyPr/>
          <a:p/>
        </p:txBody>
      </p:sp>
      <p:sp>
        <p:nvSpPr>
          <p:cNvPr id="14" name="Text 12"/>
          <p:cNvSpPr/>
          <p:nvPr/>
        </p:nvSpPr>
        <p:spPr>
          <a:xfrm>
            <a:off x="6318504" y="4114800"/>
            <a:ext cx="2423160" cy="777240"/>
          </a:xfrm>
          <a:prstGeom prst="rect">
            <a:avLst/>
          </a:prstGeom>
          <a:noFill/>
          <a:ln/>
        </p:spPr>
        <p:txBody>
          <a:bodyPr wrap="square" lIns="0" tIns="0" rIns="0" bIns="0" rtlCol="0" anchor="ctr"/>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faci</a:t>
            </a:r>
            <a:endParaRPr lang="en-US" sz="1700" dirty="0"/>
          </a:p>
        </p:txBody>
      </p:sp>
      <p:sp>
        <p:nvSpPr>
          <p:cNvPr id="15" name="Text 13"/>
          <p:cNvSpPr/>
          <p:nvPr/>
        </p:nvSpPr>
        <p:spPr>
          <a:xfrm>
            <a:off x="8833104" y="4114800"/>
            <a:ext cx="210312" cy="777240"/>
          </a:xfrm>
          <a:prstGeom prst="rect">
            <a:avLst/>
          </a:prstGeom>
          <a:noFill/>
          <a:ln/>
        </p:spPr>
        <p:txBody>
          <a:bodyPr wrap="square" lIns="0" tIns="0" rIns="0" bIns="0" rtlCol="0" anchor="ctr"/>
          <a:lstStyle/>
          <a:p>
            <a:pPr algn="ctr" indent="0" marL="0">
              <a:buNone/>
            </a:pPr>
            <a:r>
              <a:rPr lang="en-US" sz="1600" b="1" dirty="0">
                <a:solidFill>
                  <a:srgbClr val="585A64"/>
                </a:solidFill>
                <a:latin typeface="Palatino Linotype" pitchFamily="34" charset="0"/>
                <a:ea typeface="Palatino Linotype" pitchFamily="34" charset="-122"/>
                <a:cs typeface="Palatino Linotype" pitchFamily="34" charset="-120"/>
              </a:rPr>
              <a:t>→</a:t>
            </a:r>
            <a:endParaRPr lang="en-US" sz="1600" dirty="0"/>
          </a:p>
        </p:txBody>
      </p:sp>
      <p:sp>
        <p:nvSpPr>
          <p:cNvPr id="16" name="Shape 14"/>
          <p:cNvSpPr/>
          <p:nvPr/>
        </p:nvSpPr>
        <p:spPr>
          <a:xfrm>
            <a:off x="9043416" y="4114800"/>
            <a:ext cx="2606040" cy="777240"/>
          </a:xfrm>
          <a:prstGeom prst="roundRect">
            <a:avLst>
              <a:gd name="adj" fmla="val 10588"/>
            </a:avLst>
          </a:prstGeom>
          <a:solidFill>
            <a:srgbClr val="F9F8F5"/>
          </a:solidFill>
          <a:ln w="12700">
            <a:solidFill>
              <a:srgbClr val="F9F8F5"/>
            </a:solidFill>
            <a:prstDash val="solid"/>
          </a:ln>
        </p:spPr>
        <p:txBody>
          <a:bodyPr/>
          <a:p/>
        </p:txBody>
      </p:sp>
      <p:sp>
        <p:nvSpPr>
          <p:cNvPr id="17" name="Text 15"/>
          <p:cNvSpPr/>
          <p:nvPr/>
        </p:nvSpPr>
        <p:spPr>
          <a:xfrm>
            <a:off x="9134856" y="4114800"/>
            <a:ext cx="2423160" cy="777240"/>
          </a:xfrm>
          <a:prstGeom prst="rect">
            <a:avLst/>
          </a:prstGeom>
          <a:noFill/>
          <a:ln/>
        </p:spPr>
        <p:txBody>
          <a:bodyPr wrap="square" lIns="0" tIns="0" rIns="0" bIns="0" rtlCol="0" anchor="ctr"/>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te corectezi</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după Ginter, Duncan și Swayne, 2018 („strategic thinking”, „strategic planning”, „strategic momentum”); denumirile românești sunt ale cursului.</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PĂRȚI CARE SE SPRIJINĂ UNA PE ALTA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 gândi, a planifica, a pune în practică</a:t>
            </a:r>
            <a:endParaRPr lang="en-US" sz="3000" dirty="0"/>
          </a:p>
        </p:txBody>
      </p:sp>
      <p:sp>
        <p:nvSpPr>
          <p:cNvPr id="4" name="Shape 2"/>
          <p:cNvSpPr/>
          <p:nvPr/>
        </p:nvSpPr>
        <p:spPr>
          <a:xfrm flipH="1">
            <a:off x="1872347" y="3131185"/>
            <a:ext cx="598707" cy="915669"/>
          </a:xfrm>
          <a:prstGeom prst="line">
            <a:avLst/>
          </a:prstGeom>
          <a:noFill/>
          <a:ln w="31750">
            <a:solidFill>
              <a:srgbClr val="585A64"/>
            </a:solidFill>
            <a:prstDash val="solid"/>
            <a:headEnd type="triangle"/>
            <a:tailEnd type="triangle"/>
          </a:ln>
        </p:spPr>
        <p:txBody>
          <a:bodyPr/>
          <a:p/>
        </p:txBody>
      </p:sp>
      <p:sp>
        <p:nvSpPr>
          <p:cNvPr id="5" name="Shape 3"/>
          <p:cNvSpPr/>
          <p:nvPr/>
        </p:nvSpPr>
        <p:spPr>
          <a:xfrm>
            <a:off x="2267712" y="4777740"/>
            <a:ext cx="1362456" cy="9144"/>
          </a:xfrm>
          <a:prstGeom prst="line">
            <a:avLst/>
          </a:prstGeom>
          <a:noFill/>
          <a:ln w="31750">
            <a:solidFill>
              <a:srgbClr val="585A64"/>
            </a:solidFill>
            <a:prstDash val="solid"/>
            <a:headEnd type="triangle"/>
            <a:tailEnd type="triangle"/>
          </a:ln>
        </p:spPr>
        <p:txBody>
          <a:bodyPr/>
          <a:p/>
        </p:txBody>
      </p:sp>
      <p:sp>
        <p:nvSpPr>
          <p:cNvPr id="6" name="Shape 4"/>
          <p:cNvSpPr/>
          <p:nvPr/>
        </p:nvSpPr>
        <p:spPr>
          <a:xfrm>
            <a:off x="3426827" y="3131185"/>
            <a:ext cx="598707" cy="915669"/>
          </a:xfrm>
          <a:prstGeom prst="line">
            <a:avLst/>
          </a:prstGeom>
          <a:noFill/>
          <a:ln w="31750">
            <a:solidFill>
              <a:srgbClr val="585A64"/>
            </a:solidFill>
            <a:prstDash val="solid"/>
            <a:headEnd type="triangle"/>
            <a:tailEnd type="triangle"/>
          </a:ln>
        </p:spPr>
        <p:txBody>
          <a:bodyPr/>
          <a:p/>
        </p:txBody>
      </p:sp>
      <p:sp>
        <p:nvSpPr>
          <p:cNvPr id="7" name="Shape 5"/>
          <p:cNvSpPr/>
          <p:nvPr/>
        </p:nvSpPr>
        <p:spPr>
          <a:xfrm>
            <a:off x="2148840" y="1600200"/>
            <a:ext cx="1600200" cy="1600200"/>
          </a:xfrm>
          <a:prstGeom prst="ellipse">
            <a:avLst/>
          </a:prstGeom>
          <a:solidFill>
            <a:srgbClr val="FF4757"/>
          </a:solidFill>
          <a:ln w="38100">
            <a:solidFill>
              <a:srgbClr val="F6F5F2"/>
            </a:solidFill>
            <a:prstDash val="solid"/>
          </a:ln>
        </p:spPr>
        <p:txBody>
          <a:bodyPr/>
          <a:p/>
        </p:txBody>
      </p:sp>
      <p:sp>
        <p:nvSpPr>
          <p:cNvPr id="8" name="Text 6"/>
          <p:cNvSpPr/>
          <p:nvPr/>
        </p:nvSpPr>
        <p:spPr>
          <a:xfrm>
            <a:off x="2240280" y="1600200"/>
            <a:ext cx="1417320" cy="160020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Gândirea</a:t>
            </a:r>
            <a:endParaRPr lang="en-US" sz="1500" dirty="0"/>
          </a:p>
        </p:txBody>
      </p:sp>
      <p:sp>
        <p:nvSpPr>
          <p:cNvPr id="9" name="Shape 7"/>
          <p:cNvSpPr/>
          <p:nvPr/>
        </p:nvSpPr>
        <p:spPr>
          <a:xfrm>
            <a:off x="594360" y="3977640"/>
            <a:ext cx="1600200" cy="1600200"/>
          </a:xfrm>
          <a:prstGeom prst="ellipse">
            <a:avLst/>
          </a:prstGeom>
          <a:solidFill>
            <a:srgbClr val="FFC24B"/>
          </a:solidFill>
          <a:ln w="38100">
            <a:solidFill>
              <a:srgbClr val="F6F5F2"/>
            </a:solidFill>
            <a:prstDash val="solid"/>
          </a:ln>
        </p:spPr>
        <p:txBody>
          <a:bodyPr/>
          <a:p/>
        </p:txBody>
      </p:sp>
      <p:sp>
        <p:nvSpPr>
          <p:cNvPr id="10" name="Text 8"/>
          <p:cNvSpPr/>
          <p:nvPr/>
        </p:nvSpPr>
        <p:spPr>
          <a:xfrm>
            <a:off x="685800" y="3977640"/>
            <a:ext cx="1417320" cy="1600200"/>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Planificarea</a:t>
            </a:r>
            <a:endParaRPr lang="en-US" sz="1500" dirty="0"/>
          </a:p>
        </p:txBody>
      </p:sp>
      <p:sp>
        <p:nvSpPr>
          <p:cNvPr id="11" name="Shape 9"/>
          <p:cNvSpPr/>
          <p:nvPr/>
        </p:nvSpPr>
        <p:spPr>
          <a:xfrm>
            <a:off x="3703320" y="3977640"/>
            <a:ext cx="1600200" cy="1600200"/>
          </a:xfrm>
          <a:prstGeom prst="ellipse">
            <a:avLst/>
          </a:prstGeom>
          <a:solidFill>
            <a:srgbClr val="27D3BE"/>
          </a:solidFill>
          <a:ln w="38100">
            <a:solidFill>
              <a:srgbClr val="F6F5F2"/>
            </a:solidFill>
            <a:prstDash val="solid"/>
          </a:ln>
        </p:spPr>
        <p:txBody>
          <a:bodyPr/>
          <a:p/>
        </p:txBody>
      </p:sp>
      <p:sp>
        <p:nvSpPr>
          <p:cNvPr id="12" name="Text 10"/>
          <p:cNvSpPr/>
          <p:nvPr/>
        </p:nvSpPr>
        <p:spPr>
          <a:xfrm>
            <a:off x="3794760" y="3977640"/>
            <a:ext cx="1417320" cy="1600200"/>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Activitatea</a:t>
            </a:r>
            <a:endParaRPr lang="en-US" sz="1500" dirty="0"/>
          </a:p>
        </p:txBody>
      </p:sp>
      <p:sp>
        <p:nvSpPr>
          <p:cNvPr id="13" name="Shape 11"/>
          <p:cNvSpPr/>
          <p:nvPr/>
        </p:nvSpPr>
        <p:spPr>
          <a:xfrm>
            <a:off x="6035040" y="1600200"/>
            <a:ext cx="54864" cy="1005840"/>
          </a:xfrm>
          <a:prstGeom prst="rect">
            <a:avLst/>
          </a:prstGeom>
          <a:solidFill>
            <a:srgbClr val="B02532"/>
          </a:solidFill>
          <a:ln w="12700">
            <a:solidFill>
              <a:srgbClr val="B02532"/>
            </a:solidFill>
            <a:prstDash val="solid"/>
          </a:ln>
        </p:spPr>
        <p:txBody>
          <a:bodyPr/>
          <a:p/>
        </p:txBody>
      </p:sp>
      <p:sp>
        <p:nvSpPr>
          <p:cNvPr id="14" name="Text 12"/>
          <p:cNvSpPr/>
          <p:nvPr/>
        </p:nvSpPr>
        <p:spPr>
          <a:xfrm>
            <a:off x="6309360" y="1600200"/>
            <a:ext cx="5257800" cy="100584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Gândirea strategică: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 s-a schimbat? Semnalele pot avea o cauză comună.</a:t>
            </a:r>
            <a:endParaRPr lang="en-US" sz="1600" dirty="0"/>
          </a:p>
        </p:txBody>
      </p:sp>
      <p:sp>
        <p:nvSpPr>
          <p:cNvPr id="15" name="Shape 13"/>
          <p:cNvSpPr/>
          <p:nvPr/>
        </p:nvSpPr>
        <p:spPr>
          <a:xfrm>
            <a:off x="6035040" y="2788920"/>
            <a:ext cx="54864" cy="1005840"/>
          </a:xfrm>
          <a:prstGeom prst="rect">
            <a:avLst/>
          </a:prstGeom>
          <a:solidFill>
            <a:srgbClr val="8A6100"/>
          </a:solidFill>
          <a:ln w="12700">
            <a:solidFill>
              <a:srgbClr val="8A6100"/>
            </a:solidFill>
            <a:prstDash val="solid"/>
          </a:ln>
        </p:spPr>
        <p:txBody>
          <a:bodyPr/>
          <a:p/>
        </p:txBody>
      </p:sp>
      <p:sp>
        <p:nvSpPr>
          <p:cNvPr id="16" name="Text 14"/>
          <p:cNvSpPr/>
          <p:nvPr/>
        </p:nvSpPr>
        <p:spPr>
          <a:xfrm>
            <a:off x="6309360" y="2788920"/>
            <a:ext cx="5257800" cy="1005840"/>
          </a:xfrm>
          <a:prstGeom prst="rect">
            <a:avLst/>
          </a:prstGeom>
          <a:noFill/>
          <a:ln/>
        </p:spPr>
        <p:txBody>
          <a:bodyPr wrap="square" lIns="0" tIns="0" rIns="0" bIns="0" rtlCol="0" anchor="ctr"/>
          <a:lstStyle/>
          <a:p>
            <a:pPr indent="0" marL="0">
              <a:buNone/>
            </a:pPr>
            <a:r>
              <a:rPr lang="en-US" sz="1600" b="1" dirty="0">
                <a:solidFill>
                  <a:srgbClr val="8A6100"/>
                </a:solidFill>
                <a:latin typeface="Palatino Linotype" pitchFamily="34" charset="0"/>
                <a:ea typeface="Palatino Linotype" pitchFamily="34" charset="-122"/>
                <a:cs typeface="Palatino Linotype" pitchFamily="34" charset="-120"/>
              </a:rPr>
              <a:t>Planificarea strategică: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orarul; în spital, planul pe durata mandatului.</a:t>
            </a:r>
            <a:endParaRPr lang="en-US" sz="1600" dirty="0"/>
          </a:p>
        </p:txBody>
      </p:sp>
      <p:sp>
        <p:nvSpPr>
          <p:cNvPr id="17" name="Shape 15"/>
          <p:cNvSpPr/>
          <p:nvPr/>
        </p:nvSpPr>
        <p:spPr>
          <a:xfrm>
            <a:off x="6035040" y="3977640"/>
            <a:ext cx="54864" cy="1005840"/>
          </a:xfrm>
          <a:prstGeom prst="rect">
            <a:avLst/>
          </a:prstGeom>
          <a:solidFill>
            <a:srgbClr val="0E7C6B"/>
          </a:solidFill>
          <a:ln w="12700">
            <a:solidFill>
              <a:srgbClr val="0E7C6B"/>
            </a:solidFill>
            <a:prstDash val="solid"/>
          </a:ln>
        </p:spPr>
        <p:txBody>
          <a:bodyPr/>
          <a:p/>
        </p:txBody>
      </p:sp>
      <p:sp>
        <p:nvSpPr>
          <p:cNvPr id="18" name="Text 16"/>
          <p:cNvSpPr/>
          <p:nvPr/>
        </p:nvSpPr>
        <p:spPr>
          <a:xfrm>
            <a:off x="6309360" y="3977640"/>
            <a:ext cx="5257800" cy="1005840"/>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Activitatea strategică: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zi de zi: vă țineți de orar și îl schimbați la nevoie.</a:t>
            </a:r>
            <a:endParaRPr lang="en-US" sz="1600" dirty="0"/>
          </a:p>
        </p:txBody>
      </p:sp>
      <p:sp>
        <p:nvSpPr>
          <p:cNvPr id="19" name="Text 17"/>
          <p:cNvSpPr/>
          <p:nvPr/>
        </p:nvSpPr>
        <p:spPr>
          <a:xfrm>
            <a:off x="6035040" y="5212080"/>
            <a:ext cx="553212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Săgețile au două sensuri: un raport lunar o întoarce pe manageră la gândire.</a:t>
            </a:r>
            <a:endParaRPr lang="en-US" sz="16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schemă redesenată după Ginter, Duncan și Swayne, 2018, capitolul 1; denumirile românești sunt ale cursului.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 CE ÎN SĂNĂTATE, ȘI DE CE ACUM</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Câte dintre spitalele României sunt private?</a:t>
            </a:r>
            <a:endParaRPr lang="en-US" sz="3200" dirty="0"/>
          </a:p>
        </p:txBody>
      </p:sp>
      <p:sp>
        <p:nvSpPr>
          <p:cNvPr id="6" name="Text 4"/>
          <p:cNvSpPr/>
          <p:nvPr/>
        </p:nvSpPr>
        <p:spPr>
          <a:xfrm>
            <a:off x="594360" y="1417320"/>
            <a:ext cx="10972800" cy="6858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Cele trei semnale sunt construite, dar fiecare are un corespondent în datele reale. Estimați, pentru anul trecut:</a:t>
            </a:r>
            <a:endParaRPr lang="en-US" sz="1700" dirty="0"/>
          </a:p>
        </p:txBody>
      </p:sp>
      <p:sp>
        <p:nvSpPr>
          <p:cNvPr id="7" name="Shape 5"/>
          <p:cNvSpPr/>
          <p:nvPr/>
        </p:nvSpPr>
        <p:spPr>
          <a:xfrm>
            <a:off x="594360" y="2240280"/>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8" name="Shape 6"/>
          <p:cNvSpPr/>
          <p:nvPr/>
        </p:nvSpPr>
        <p:spPr>
          <a:xfrm>
            <a:off x="868680" y="2350008"/>
            <a:ext cx="420624" cy="420624"/>
          </a:xfrm>
          <a:prstGeom prst="ellipse">
            <a:avLst/>
          </a:prstGeom>
          <a:solidFill>
            <a:srgbClr val="FFC24B"/>
          </a:solidFill>
          <a:ln/>
        </p:spPr>
        <p:txBody>
          <a:bodyPr/>
          <a:p/>
        </p:txBody>
      </p:sp>
      <p:sp>
        <p:nvSpPr>
          <p:cNvPr id="9" name="Text 7"/>
          <p:cNvSpPr/>
          <p:nvPr/>
        </p:nvSpPr>
        <p:spPr>
          <a:xfrm>
            <a:off x="868680" y="2350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508760" y="2240280"/>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Aproximativ unul din douăzeci</a:t>
            </a:r>
            <a:endParaRPr lang="en-US" sz="1900" dirty="0"/>
          </a:p>
        </p:txBody>
      </p:sp>
      <p:sp>
        <p:nvSpPr>
          <p:cNvPr id="11" name="Shape 9"/>
          <p:cNvSpPr/>
          <p:nvPr/>
        </p:nvSpPr>
        <p:spPr>
          <a:xfrm>
            <a:off x="594360" y="3008376"/>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2" name="Shape 10"/>
          <p:cNvSpPr/>
          <p:nvPr/>
        </p:nvSpPr>
        <p:spPr>
          <a:xfrm>
            <a:off x="868680" y="3118104"/>
            <a:ext cx="420624" cy="420624"/>
          </a:xfrm>
          <a:prstGeom prst="ellipse">
            <a:avLst/>
          </a:prstGeom>
          <a:solidFill>
            <a:srgbClr val="FFC24B"/>
          </a:solidFill>
          <a:ln/>
        </p:spPr>
        <p:txBody>
          <a:bodyPr/>
          <a:p/>
        </p:txBody>
      </p:sp>
      <p:sp>
        <p:nvSpPr>
          <p:cNvPr id="13" name="Text 11"/>
          <p:cNvSpPr/>
          <p:nvPr/>
        </p:nvSpPr>
        <p:spPr>
          <a:xfrm>
            <a:off x="868680" y="3118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508760" y="3008376"/>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Aproximativ unul din zece</a:t>
            </a:r>
            <a:endParaRPr lang="en-US" sz="1900" dirty="0"/>
          </a:p>
        </p:txBody>
      </p:sp>
      <p:sp>
        <p:nvSpPr>
          <p:cNvPr id="15" name="Shape 13"/>
          <p:cNvSpPr/>
          <p:nvPr/>
        </p:nvSpPr>
        <p:spPr>
          <a:xfrm>
            <a:off x="594360" y="3776472"/>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16" name="Shape 14"/>
          <p:cNvSpPr/>
          <p:nvPr/>
        </p:nvSpPr>
        <p:spPr>
          <a:xfrm>
            <a:off x="868680" y="3886200"/>
            <a:ext cx="420624" cy="420624"/>
          </a:xfrm>
          <a:prstGeom prst="ellipse">
            <a:avLst/>
          </a:prstGeom>
          <a:solidFill>
            <a:srgbClr val="FFC24B"/>
          </a:solidFill>
          <a:ln/>
        </p:spPr>
        <p:txBody>
          <a:bodyPr/>
          <a:p/>
        </p:txBody>
      </p:sp>
      <p:sp>
        <p:nvSpPr>
          <p:cNvPr id="17" name="Text 15"/>
          <p:cNvSpPr/>
          <p:nvPr/>
        </p:nvSpPr>
        <p:spPr>
          <a:xfrm>
            <a:off x="868680" y="38862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508760" y="3776472"/>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Aproximativ unul din trei</a:t>
            </a:r>
            <a:endParaRPr lang="en-US" sz="1900" dirty="0"/>
          </a:p>
        </p:txBody>
      </p:sp>
      <p:sp>
        <p:nvSpPr>
          <p:cNvPr id="19" name="Shape 17"/>
          <p:cNvSpPr/>
          <p:nvPr/>
        </p:nvSpPr>
        <p:spPr>
          <a:xfrm>
            <a:off x="594360" y="4544568"/>
            <a:ext cx="10972800" cy="640080"/>
          </a:xfrm>
          <a:prstGeom prst="roundRect">
            <a:avLst>
              <a:gd name="adj" fmla="val 12857"/>
            </a:avLst>
          </a:prstGeom>
          <a:solidFill>
            <a:srgbClr val="1D1F2B"/>
          </a:solidFill>
          <a:ln w="12700">
            <a:solidFill>
              <a:srgbClr val="1D1F2B"/>
            </a:solidFill>
            <a:prstDash val="solid"/>
          </a:ln>
        </p:spPr>
        <p:txBody>
          <a:bodyPr/>
          <a:p/>
        </p:txBody>
      </p:sp>
      <p:sp>
        <p:nvSpPr>
          <p:cNvPr id="20" name="Shape 18"/>
          <p:cNvSpPr/>
          <p:nvPr/>
        </p:nvSpPr>
        <p:spPr>
          <a:xfrm>
            <a:off x="868680" y="4654296"/>
            <a:ext cx="420624" cy="420624"/>
          </a:xfrm>
          <a:prstGeom prst="ellipse">
            <a:avLst/>
          </a:prstGeom>
          <a:solidFill>
            <a:srgbClr val="FFC24B"/>
          </a:solidFill>
          <a:ln/>
        </p:spPr>
        <p:txBody>
          <a:bodyPr/>
          <a:p/>
        </p:txBody>
      </p:sp>
      <p:sp>
        <p:nvSpPr>
          <p:cNvPr id="21" name="Text 19"/>
          <p:cNvSpPr/>
          <p:nvPr/>
        </p:nvSpPr>
        <p:spPr>
          <a:xfrm>
            <a:off x="868680" y="4654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508760" y="4544568"/>
            <a:ext cx="978408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Aproximativ jumătate</a:t>
            </a:r>
            <a:endParaRPr lang="en-US" sz="1900" dirty="0"/>
          </a:p>
        </p:txBody>
      </p:sp>
      <p:sp>
        <p:nvSpPr>
          <p:cNvPr id="23" name="Text 21"/>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Un singur vot, pe menti.com: codul apare pe ecranul Mentimeter.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CELE TREI SEMNALE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arată datele reale</a:t>
            </a:r>
            <a:endParaRPr lang="en-US" sz="3200" dirty="0"/>
          </a:p>
        </p:txBody>
      </p:sp>
      <p:sp>
        <p:nvSpPr>
          <p:cNvPr id="4" name="Shape 2"/>
          <p:cNvSpPr/>
          <p:nvPr/>
        </p:nvSpPr>
        <p:spPr>
          <a:xfrm>
            <a:off x="594360" y="1600200"/>
            <a:ext cx="3520440" cy="4343400"/>
          </a:xfrm>
          <a:prstGeom prst="roundRect">
            <a:avLst>
              <a:gd name="adj" fmla="val 2338"/>
            </a:avLst>
          </a:prstGeom>
          <a:solidFill>
            <a:srgbClr val="ECEAE4"/>
          </a:solidFill>
          <a:ln w="12700">
            <a:solidFill>
              <a:srgbClr val="ECEAE4"/>
            </a:solidFill>
            <a:prstDash val="solid"/>
          </a:ln>
        </p:spPr>
        <p:txBody>
          <a:bodyPr/>
          <a:p/>
        </p:txBody>
      </p:sp>
      <p:sp>
        <p:nvSpPr>
          <p:cNvPr id="5" name="Text 3"/>
          <p:cNvSpPr/>
          <p:nvPr/>
        </p:nvSpPr>
        <p:spPr>
          <a:xfrm>
            <a:off x="822960" y="1691640"/>
            <a:ext cx="3108960" cy="82296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20,3%</a:t>
            </a:r>
            <a:endParaRPr lang="en-US" sz="4400" dirty="0"/>
          </a:p>
        </p:txBody>
      </p:sp>
      <p:sp>
        <p:nvSpPr>
          <p:cNvPr id="6" name="Text 4"/>
          <p:cNvSpPr/>
          <p:nvPr/>
        </p:nvSpPr>
        <p:spPr>
          <a:xfrm>
            <a:off x="822960" y="2560320"/>
            <a:ext cx="3108960" cy="128016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din populație: 65 de ani și peste, la 1 ianuarie 2025.</a:t>
            </a:r>
            <a:endParaRPr lang="en-US" sz="1400" dirty="0"/>
          </a:p>
        </p:txBody>
      </p:sp>
      <p:sp>
        <p:nvSpPr>
          <p:cNvPr id="7" name="Text 5"/>
          <p:cNvSpPr/>
          <p:nvPr/>
        </p:nvSpPr>
        <p:spPr>
          <a:xfrm>
            <a:off x="822960" y="397764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2005</a:t>
            </a:r>
            <a:endParaRPr lang="en-US" sz="1200" dirty="0"/>
          </a:p>
        </p:txBody>
      </p:sp>
      <p:sp>
        <p:nvSpPr>
          <p:cNvPr id="8" name="Shape 6"/>
          <p:cNvSpPr/>
          <p:nvPr/>
        </p:nvSpPr>
        <p:spPr>
          <a:xfrm>
            <a:off x="1417320" y="4032504"/>
            <a:ext cx="1168603" cy="274320"/>
          </a:xfrm>
          <a:prstGeom prst="rect">
            <a:avLst/>
          </a:prstGeom>
          <a:solidFill>
            <a:srgbClr val="B9B6AE"/>
          </a:solidFill>
          <a:ln w="12700">
            <a:solidFill>
              <a:srgbClr val="F6F5F2"/>
            </a:solidFill>
            <a:prstDash val="solid"/>
          </a:ln>
        </p:spPr>
        <p:txBody>
          <a:bodyPr/>
          <a:p/>
        </p:txBody>
      </p:sp>
      <p:sp>
        <p:nvSpPr>
          <p:cNvPr id="9" name="Text 7"/>
          <p:cNvSpPr/>
          <p:nvPr/>
        </p:nvSpPr>
        <p:spPr>
          <a:xfrm>
            <a:off x="2659075" y="397764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14,2</a:t>
            </a:r>
            <a:endParaRPr lang="en-US" sz="1200" dirty="0"/>
          </a:p>
        </p:txBody>
      </p:sp>
      <p:sp>
        <p:nvSpPr>
          <p:cNvPr id="10" name="Text 8"/>
          <p:cNvSpPr/>
          <p:nvPr/>
        </p:nvSpPr>
        <p:spPr>
          <a:xfrm>
            <a:off x="822960" y="452628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2025</a:t>
            </a:r>
            <a:endParaRPr lang="en-US" sz="1200" dirty="0"/>
          </a:p>
        </p:txBody>
      </p:sp>
      <p:sp>
        <p:nvSpPr>
          <p:cNvPr id="11" name="Shape 9"/>
          <p:cNvSpPr/>
          <p:nvPr/>
        </p:nvSpPr>
        <p:spPr>
          <a:xfrm>
            <a:off x="1417320" y="4581144"/>
            <a:ext cx="1670609" cy="274320"/>
          </a:xfrm>
          <a:prstGeom prst="rect">
            <a:avLst/>
          </a:prstGeom>
          <a:solidFill>
            <a:srgbClr val="B02532"/>
          </a:solidFill>
          <a:ln w="12700">
            <a:solidFill>
              <a:srgbClr val="F6F5F2"/>
            </a:solidFill>
            <a:prstDash val="solid"/>
          </a:ln>
        </p:spPr>
        <p:txBody>
          <a:bodyPr/>
          <a:p/>
        </p:txBody>
      </p:sp>
      <p:sp>
        <p:nvSpPr>
          <p:cNvPr id="12" name="Text 10"/>
          <p:cNvSpPr/>
          <p:nvPr/>
        </p:nvSpPr>
        <p:spPr>
          <a:xfrm>
            <a:off x="3161081" y="452628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20,3</a:t>
            </a:r>
            <a:endParaRPr lang="en-US" sz="1200" dirty="0"/>
          </a:p>
        </p:txBody>
      </p:sp>
      <p:sp>
        <p:nvSpPr>
          <p:cNvPr id="13" name="Text 11"/>
          <p:cNvSpPr/>
          <p:nvPr/>
        </p:nvSpPr>
        <p:spPr>
          <a:xfrm>
            <a:off x="822960" y="507492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UE</a:t>
            </a:r>
            <a:endParaRPr lang="en-US" sz="1200" dirty="0"/>
          </a:p>
        </p:txBody>
      </p:sp>
      <p:sp>
        <p:nvSpPr>
          <p:cNvPr id="14" name="Shape 12"/>
          <p:cNvSpPr/>
          <p:nvPr/>
        </p:nvSpPr>
        <p:spPr>
          <a:xfrm>
            <a:off x="1417320" y="5129784"/>
            <a:ext cx="1810512" cy="274320"/>
          </a:xfrm>
          <a:prstGeom prst="rect">
            <a:avLst/>
          </a:prstGeom>
          <a:solidFill>
            <a:srgbClr val="B9B6AE"/>
          </a:solidFill>
          <a:ln w="12700">
            <a:solidFill>
              <a:srgbClr val="F6F5F2"/>
            </a:solidFill>
            <a:prstDash val="solid"/>
          </a:ln>
        </p:spPr>
        <p:txBody>
          <a:bodyPr/>
          <a:p/>
        </p:txBody>
      </p:sp>
      <p:sp>
        <p:nvSpPr>
          <p:cNvPr id="15" name="Text 13"/>
          <p:cNvSpPr/>
          <p:nvPr/>
        </p:nvSpPr>
        <p:spPr>
          <a:xfrm>
            <a:off x="3300984" y="507492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22,0</a:t>
            </a:r>
            <a:endParaRPr lang="en-US" sz="1200" dirty="0"/>
          </a:p>
        </p:txBody>
      </p:sp>
      <p:sp>
        <p:nvSpPr>
          <p:cNvPr id="16" name="Shape 14"/>
          <p:cNvSpPr/>
          <p:nvPr/>
        </p:nvSpPr>
        <p:spPr>
          <a:xfrm>
            <a:off x="4343400" y="1600200"/>
            <a:ext cx="3520440" cy="4343400"/>
          </a:xfrm>
          <a:prstGeom prst="roundRect">
            <a:avLst>
              <a:gd name="adj" fmla="val 2338"/>
            </a:avLst>
          </a:prstGeom>
          <a:solidFill>
            <a:srgbClr val="ECEAE4"/>
          </a:solidFill>
          <a:ln w="12700">
            <a:solidFill>
              <a:srgbClr val="ECEAE4"/>
            </a:solidFill>
            <a:prstDash val="solid"/>
          </a:ln>
        </p:spPr>
        <p:txBody>
          <a:bodyPr/>
          <a:p/>
        </p:txBody>
      </p:sp>
      <p:sp>
        <p:nvSpPr>
          <p:cNvPr id="17" name="Text 15"/>
          <p:cNvSpPr/>
          <p:nvPr/>
        </p:nvSpPr>
        <p:spPr>
          <a:xfrm>
            <a:off x="4572000" y="1691640"/>
            <a:ext cx="3108960" cy="82296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144 din 339</a:t>
            </a:r>
            <a:endParaRPr lang="en-US" sz="3400" dirty="0"/>
          </a:p>
        </p:txBody>
      </p:sp>
      <p:sp>
        <p:nvSpPr>
          <p:cNvPr id="18" name="Text 16"/>
          <p:cNvSpPr/>
          <p:nvPr/>
        </p:nvSpPr>
        <p:spPr>
          <a:xfrm>
            <a:off x="4572000" y="2560320"/>
            <a:ext cx="3108960" cy="128016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spitale publice: ocuparea medie anuală a paturilor de acuți sub 60%, în 2025.</a:t>
            </a:r>
            <a:endParaRPr lang="en-US" sz="1400" dirty="0"/>
          </a:p>
        </p:txBody>
      </p:sp>
      <p:sp>
        <p:nvSpPr>
          <p:cNvPr id="19" name="Shape 17"/>
          <p:cNvSpPr/>
          <p:nvPr/>
        </p:nvSpPr>
        <p:spPr>
          <a:xfrm>
            <a:off x="4572000" y="4206240"/>
            <a:ext cx="3063240" cy="411480"/>
          </a:xfrm>
          <a:prstGeom prst="rect">
            <a:avLst/>
          </a:prstGeom>
          <a:solidFill>
            <a:srgbClr val="D9D6CE"/>
          </a:solidFill>
          <a:ln w="12700">
            <a:solidFill>
              <a:srgbClr val="F6F5F2"/>
            </a:solidFill>
            <a:prstDash val="solid"/>
          </a:ln>
        </p:spPr>
        <p:txBody>
          <a:bodyPr/>
          <a:p/>
        </p:txBody>
      </p:sp>
      <p:sp>
        <p:nvSpPr>
          <p:cNvPr id="20" name="Shape 18"/>
          <p:cNvSpPr/>
          <p:nvPr/>
        </p:nvSpPr>
        <p:spPr>
          <a:xfrm>
            <a:off x="4572000" y="4206240"/>
            <a:ext cx="1301199" cy="411480"/>
          </a:xfrm>
          <a:prstGeom prst="rect">
            <a:avLst/>
          </a:prstGeom>
          <a:solidFill>
            <a:srgbClr val="0E7C6B"/>
          </a:solidFill>
          <a:ln w="12700">
            <a:solidFill>
              <a:srgbClr val="F6F5F2"/>
            </a:solidFill>
            <a:prstDash val="solid"/>
          </a:ln>
        </p:spPr>
        <p:txBody>
          <a:bodyPr/>
          <a:p/>
        </p:txBody>
      </p:sp>
      <p:sp>
        <p:nvSpPr>
          <p:cNvPr id="21" name="Text 19"/>
          <p:cNvSpPr/>
          <p:nvPr/>
        </p:nvSpPr>
        <p:spPr>
          <a:xfrm>
            <a:off x="4572000" y="4663440"/>
            <a:ext cx="1463040" cy="320040"/>
          </a:xfrm>
          <a:prstGeom prst="rect">
            <a:avLst/>
          </a:prstGeom>
          <a:noFill/>
          <a:ln/>
        </p:spPr>
        <p:txBody>
          <a:bodyPr wrap="square" lIns="0" tIns="0" rIns="0" bIns="0" rtlCol="0" anchor="t"/>
          <a:lstStyle/>
          <a:p>
            <a:pPr indent="0" marL="0">
              <a:buNone/>
            </a:pPr>
            <a:r>
              <a:rPr lang="en-US" sz="1200" b="1" dirty="0">
                <a:solidFill>
                  <a:srgbClr val="0E7C6B"/>
                </a:solidFill>
                <a:latin typeface="Palatino Linotype" pitchFamily="34" charset="0"/>
                <a:ea typeface="Palatino Linotype" pitchFamily="34" charset="-122"/>
                <a:cs typeface="Palatino Linotype" pitchFamily="34" charset="-120"/>
              </a:rPr>
              <a:t>sub 60%</a:t>
            </a:r>
            <a:endParaRPr lang="en-US" sz="1200" dirty="0"/>
          </a:p>
        </p:txBody>
      </p:sp>
      <p:sp>
        <p:nvSpPr>
          <p:cNvPr id="22" name="Shape 20"/>
          <p:cNvSpPr/>
          <p:nvPr/>
        </p:nvSpPr>
        <p:spPr>
          <a:xfrm>
            <a:off x="8092440" y="1600200"/>
            <a:ext cx="3520440" cy="4343400"/>
          </a:xfrm>
          <a:prstGeom prst="roundRect">
            <a:avLst>
              <a:gd name="adj" fmla="val 2338"/>
            </a:avLst>
          </a:prstGeom>
          <a:solidFill>
            <a:srgbClr val="ECEAE4"/>
          </a:solidFill>
          <a:ln w="12700">
            <a:solidFill>
              <a:srgbClr val="ECEAE4"/>
            </a:solidFill>
            <a:prstDash val="solid"/>
          </a:ln>
        </p:spPr>
        <p:txBody>
          <a:bodyPr/>
          <a:p/>
        </p:txBody>
      </p:sp>
      <p:sp>
        <p:nvSpPr>
          <p:cNvPr id="23" name="Text 21"/>
          <p:cNvSpPr/>
          <p:nvPr/>
        </p:nvSpPr>
        <p:spPr>
          <a:xfrm>
            <a:off x="8321040" y="1691640"/>
            <a:ext cx="3108960" cy="822960"/>
          </a:xfrm>
          <a:prstGeom prst="rect">
            <a:avLst/>
          </a:prstGeom>
          <a:noFill/>
          <a:ln/>
        </p:spPr>
        <p:txBody>
          <a:bodyPr wrap="square" lIns="0" tIns="0" rIns="0" bIns="0" rtlCol="0" anchor="ctr"/>
          <a:lstStyle/>
          <a:p>
            <a:pPr indent="0" marL="0">
              <a:buNone/>
            </a:pPr>
            <a:r>
              <a:rPr lang="en-US" sz="3400" b="1" dirty="0">
                <a:solidFill>
                  <a:srgbClr val="4A2D8C"/>
                </a:solidFill>
                <a:latin typeface="Palatino Linotype" pitchFamily="34" charset="0"/>
                <a:ea typeface="Palatino Linotype" pitchFamily="34" charset="-122"/>
                <a:cs typeface="Palatino Linotype" pitchFamily="34" charset="-120"/>
              </a:rPr>
              <a:t>186 din 559</a:t>
            </a:r>
            <a:endParaRPr lang="en-US" sz="3400" dirty="0"/>
          </a:p>
        </p:txBody>
      </p:sp>
      <p:sp>
        <p:nvSpPr>
          <p:cNvPr id="24" name="Text 22"/>
          <p:cNvSpPr/>
          <p:nvPr/>
        </p:nvSpPr>
        <p:spPr>
          <a:xfrm>
            <a:off x="8321040" y="2560320"/>
            <a:ext cx="3108960" cy="128016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spitale private, în 2025.</a:t>
            </a:r>
            <a:endParaRPr lang="en-US" sz="1400" dirty="0"/>
          </a:p>
        </p:txBody>
      </p:sp>
      <p:sp>
        <p:nvSpPr>
          <p:cNvPr id="25" name="Text 23"/>
          <p:cNvSpPr/>
          <p:nvPr/>
        </p:nvSpPr>
        <p:spPr>
          <a:xfrm>
            <a:off x="8321040" y="397764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2000</a:t>
            </a:r>
            <a:endParaRPr lang="en-US" sz="1200" dirty="0"/>
          </a:p>
        </p:txBody>
      </p:sp>
      <p:sp>
        <p:nvSpPr>
          <p:cNvPr id="26" name="Shape 24"/>
          <p:cNvSpPr/>
          <p:nvPr/>
        </p:nvSpPr>
        <p:spPr>
          <a:xfrm>
            <a:off x="8915400" y="4032504"/>
            <a:ext cx="45720" cy="274320"/>
          </a:xfrm>
          <a:prstGeom prst="rect">
            <a:avLst/>
          </a:prstGeom>
          <a:solidFill>
            <a:srgbClr val="B9B6AE"/>
          </a:solidFill>
          <a:ln w="12700">
            <a:solidFill>
              <a:srgbClr val="F6F5F2"/>
            </a:solidFill>
            <a:prstDash val="solid"/>
          </a:ln>
        </p:spPr>
        <p:txBody>
          <a:bodyPr/>
          <a:p/>
        </p:txBody>
      </p:sp>
      <p:sp>
        <p:nvSpPr>
          <p:cNvPr id="27" name="Text 25"/>
          <p:cNvSpPr/>
          <p:nvPr/>
        </p:nvSpPr>
        <p:spPr>
          <a:xfrm>
            <a:off x="9034272" y="397764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3</a:t>
            </a:r>
            <a:endParaRPr lang="en-US" sz="1200" dirty="0"/>
          </a:p>
        </p:txBody>
      </p:sp>
      <p:sp>
        <p:nvSpPr>
          <p:cNvPr id="28" name="Text 26"/>
          <p:cNvSpPr/>
          <p:nvPr/>
        </p:nvSpPr>
        <p:spPr>
          <a:xfrm>
            <a:off x="8321040" y="452628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2010</a:t>
            </a:r>
            <a:endParaRPr lang="en-US" sz="1200" dirty="0"/>
          </a:p>
        </p:txBody>
      </p:sp>
      <p:sp>
        <p:nvSpPr>
          <p:cNvPr id="29" name="Shape 27"/>
          <p:cNvSpPr/>
          <p:nvPr/>
        </p:nvSpPr>
        <p:spPr>
          <a:xfrm>
            <a:off x="8915400" y="4581144"/>
            <a:ext cx="733806" cy="274320"/>
          </a:xfrm>
          <a:prstGeom prst="rect">
            <a:avLst/>
          </a:prstGeom>
          <a:solidFill>
            <a:srgbClr val="B9B6AE"/>
          </a:solidFill>
          <a:ln w="12700">
            <a:solidFill>
              <a:srgbClr val="F6F5F2"/>
            </a:solidFill>
            <a:prstDash val="solid"/>
          </a:ln>
        </p:spPr>
        <p:txBody>
          <a:bodyPr/>
          <a:p/>
        </p:txBody>
      </p:sp>
      <p:sp>
        <p:nvSpPr>
          <p:cNvPr id="30" name="Text 28"/>
          <p:cNvSpPr/>
          <p:nvPr/>
        </p:nvSpPr>
        <p:spPr>
          <a:xfrm>
            <a:off x="9722358" y="452628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75</a:t>
            </a:r>
            <a:endParaRPr lang="en-US" sz="1200" dirty="0"/>
          </a:p>
        </p:txBody>
      </p:sp>
      <p:sp>
        <p:nvSpPr>
          <p:cNvPr id="31" name="Text 29"/>
          <p:cNvSpPr/>
          <p:nvPr/>
        </p:nvSpPr>
        <p:spPr>
          <a:xfrm>
            <a:off x="8321040" y="5074920"/>
            <a:ext cx="548640" cy="384048"/>
          </a:xfrm>
          <a:prstGeom prst="rect">
            <a:avLst/>
          </a:prstGeom>
          <a:noFill/>
          <a:ln/>
        </p:spPr>
        <p:txBody>
          <a:bodyPr wrap="square" lIns="0" tIns="0" rIns="0" bIns="0" rtlCol="0" anchor="ctr"/>
          <a:lstStyle/>
          <a:p>
            <a:pPr indent="0" marL="0">
              <a:buNone/>
            </a:pPr>
            <a:r>
              <a:rPr lang="en-US" sz="1200" b="1" dirty="0">
                <a:solidFill>
                  <a:srgbClr val="585A64"/>
                </a:solidFill>
                <a:latin typeface="Palatino Linotype" pitchFamily="34" charset="0"/>
                <a:ea typeface="Palatino Linotype" pitchFamily="34" charset="-122"/>
                <a:cs typeface="Palatino Linotype" pitchFamily="34" charset="-120"/>
              </a:rPr>
              <a:t>2025</a:t>
            </a:r>
            <a:endParaRPr lang="en-US" sz="1200" dirty="0"/>
          </a:p>
        </p:txBody>
      </p:sp>
      <p:sp>
        <p:nvSpPr>
          <p:cNvPr id="32" name="Shape 30"/>
          <p:cNvSpPr/>
          <p:nvPr/>
        </p:nvSpPr>
        <p:spPr>
          <a:xfrm>
            <a:off x="8915400" y="5129784"/>
            <a:ext cx="1819839" cy="274320"/>
          </a:xfrm>
          <a:prstGeom prst="rect">
            <a:avLst/>
          </a:prstGeom>
          <a:solidFill>
            <a:srgbClr val="4A2D8C"/>
          </a:solidFill>
          <a:ln w="12700">
            <a:solidFill>
              <a:srgbClr val="F6F5F2"/>
            </a:solidFill>
            <a:prstDash val="solid"/>
          </a:ln>
        </p:spPr>
        <p:txBody>
          <a:bodyPr/>
          <a:p/>
        </p:txBody>
      </p:sp>
      <p:sp>
        <p:nvSpPr>
          <p:cNvPr id="33" name="Text 31"/>
          <p:cNvSpPr/>
          <p:nvPr/>
        </p:nvSpPr>
        <p:spPr>
          <a:xfrm>
            <a:off x="10808391" y="5074920"/>
            <a:ext cx="731520" cy="384048"/>
          </a:xfrm>
          <a:prstGeom prst="rect">
            <a:avLst/>
          </a:prstGeom>
          <a:noFill/>
          <a:ln/>
        </p:spPr>
        <p:txBody>
          <a:bodyPr wrap="square" lIns="0" tIns="0" rIns="0" bIns="0" rtlCol="0" anchor="ctr"/>
          <a:lstStyle/>
          <a:p>
            <a:pPr indent="0" marL="0">
              <a:buNone/>
            </a:pPr>
            <a:r>
              <a:rPr lang="en-US" sz="1200" b="1" dirty="0">
                <a:solidFill>
                  <a:srgbClr val="11121A"/>
                </a:solidFill>
                <a:latin typeface="Palatino Linotype" pitchFamily="34" charset="0"/>
                <a:ea typeface="Palatino Linotype" pitchFamily="34" charset="-122"/>
                <a:cs typeface="Palatino Linotype" pitchFamily="34" charset="-120"/>
              </a:rPr>
              <a:t>186</a:t>
            </a:r>
            <a:endParaRPr lang="en-US" sz="1200" dirty="0"/>
          </a:p>
        </p:txBody>
      </p:sp>
      <p:sp>
        <p:nvSpPr>
          <p:cNvPr id="34" name="Text 32"/>
          <p:cNvSpPr/>
          <p:nvPr/>
        </p:nvSpPr>
        <p:spPr>
          <a:xfrm>
            <a:off x="594360" y="6035040"/>
            <a:ext cx="1097280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Cifrele exacte nu intră la examen.</a:t>
            </a:r>
            <a:endParaRPr lang="en-US" sz="1200" dirty="0"/>
          </a:p>
        </p:txBody>
      </p:sp>
      <p:sp>
        <p:nvSpPr>
          <p:cNvPr id="35" name="Text 3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(demo_pjanind); CNAS, Performanță Spitale Publice; INS, TEMPO Online.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UNDE SĂ PRIVEASCĂ O CONDUCERE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Cinci feluri de schimbări</a:t>
            </a:r>
            <a:endParaRPr lang="en-US" sz="3200" dirty="0"/>
          </a:p>
        </p:txBody>
      </p:sp>
      <p:sp>
        <p:nvSpPr>
          <p:cNvPr id="4" name="Shape 2"/>
          <p:cNvSpPr/>
          <p:nvPr/>
        </p:nvSpPr>
        <p:spPr>
          <a:xfrm>
            <a:off x="594360" y="1508760"/>
            <a:ext cx="2103120" cy="329184"/>
          </a:xfrm>
          <a:prstGeom prst="roundRect">
            <a:avLst>
              <a:gd name="adj" fmla="val 50000"/>
            </a:avLst>
          </a:prstGeom>
          <a:solidFill>
            <a:srgbClr val="FF4757"/>
          </a:solidFill>
          <a:ln w="12700">
            <a:solidFill>
              <a:srgbClr val="FF4757"/>
            </a:solidFill>
            <a:prstDash val="solid"/>
          </a:ln>
        </p:spPr>
        <p:txBody>
          <a:bodyPr/>
          <a:p/>
        </p:txBody>
      </p:sp>
      <p:sp>
        <p:nvSpPr>
          <p:cNvPr id="5" name="Text 3"/>
          <p:cNvSpPr/>
          <p:nvPr/>
        </p:nvSpPr>
        <p:spPr>
          <a:xfrm>
            <a:off x="594360" y="1508760"/>
            <a:ext cx="21031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legislative și politice</a:t>
            </a:r>
            <a:endParaRPr lang="en-US" sz="1300" dirty="0"/>
          </a:p>
        </p:txBody>
      </p:sp>
      <p:sp>
        <p:nvSpPr>
          <p:cNvPr id="6" name="Shape 4"/>
          <p:cNvSpPr/>
          <p:nvPr/>
        </p:nvSpPr>
        <p:spPr>
          <a:xfrm>
            <a:off x="2834640" y="1508760"/>
            <a:ext cx="2103120" cy="329184"/>
          </a:xfrm>
          <a:prstGeom prst="roundRect">
            <a:avLst>
              <a:gd name="adj" fmla="val 50000"/>
            </a:avLst>
          </a:prstGeom>
          <a:solidFill>
            <a:srgbClr val="FFC24B"/>
          </a:solidFill>
          <a:ln w="12700">
            <a:solidFill>
              <a:srgbClr val="FFC24B"/>
            </a:solidFill>
            <a:prstDash val="solid"/>
          </a:ln>
        </p:spPr>
        <p:txBody>
          <a:bodyPr/>
          <a:p/>
        </p:txBody>
      </p:sp>
      <p:sp>
        <p:nvSpPr>
          <p:cNvPr id="7" name="Text 5"/>
          <p:cNvSpPr/>
          <p:nvPr/>
        </p:nvSpPr>
        <p:spPr>
          <a:xfrm>
            <a:off x="2834640" y="1508760"/>
            <a:ext cx="2103120" cy="329184"/>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economice</a:t>
            </a:r>
            <a:endParaRPr lang="en-US" sz="1300" dirty="0"/>
          </a:p>
        </p:txBody>
      </p:sp>
      <p:sp>
        <p:nvSpPr>
          <p:cNvPr id="8" name="Shape 6"/>
          <p:cNvSpPr/>
          <p:nvPr/>
        </p:nvSpPr>
        <p:spPr>
          <a:xfrm>
            <a:off x="5074920" y="1508760"/>
            <a:ext cx="2103120" cy="329184"/>
          </a:xfrm>
          <a:prstGeom prst="roundRect">
            <a:avLst>
              <a:gd name="adj" fmla="val 50000"/>
            </a:avLst>
          </a:prstGeom>
          <a:solidFill>
            <a:srgbClr val="27D3BE"/>
          </a:solidFill>
          <a:ln w="12700">
            <a:solidFill>
              <a:srgbClr val="27D3BE"/>
            </a:solidFill>
            <a:prstDash val="solid"/>
          </a:ln>
        </p:spPr>
        <p:txBody>
          <a:bodyPr/>
          <a:p/>
        </p:txBody>
      </p:sp>
      <p:sp>
        <p:nvSpPr>
          <p:cNvPr id="9" name="Text 7"/>
          <p:cNvSpPr/>
          <p:nvPr/>
        </p:nvSpPr>
        <p:spPr>
          <a:xfrm>
            <a:off x="5074920" y="1508760"/>
            <a:ext cx="210312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sociale și demografice</a:t>
            </a:r>
            <a:endParaRPr lang="en-US" sz="1300" dirty="0"/>
          </a:p>
        </p:txBody>
      </p:sp>
      <p:sp>
        <p:nvSpPr>
          <p:cNvPr id="10" name="Shape 8"/>
          <p:cNvSpPr/>
          <p:nvPr/>
        </p:nvSpPr>
        <p:spPr>
          <a:xfrm>
            <a:off x="7315200" y="1508760"/>
            <a:ext cx="2103120" cy="329184"/>
          </a:xfrm>
          <a:prstGeom prst="roundRect">
            <a:avLst>
              <a:gd name="adj" fmla="val 50000"/>
            </a:avLst>
          </a:prstGeom>
          <a:solidFill>
            <a:srgbClr val="9B7EF7"/>
          </a:solidFill>
          <a:ln w="12700">
            <a:solidFill>
              <a:srgbClr val="9B7EF7"/>
            </a:solidFill>
            <a:prstDash val="solid"/>
          </a:ln>
        </p:spPr>
        <p:txBody>
          <a:bodyPr/>
          <a:p/>
        </p:txBody>
      </p:sp>
      <p:sp>
        <p:nvSpPr>
          <p:cNvPr id="11" name="Text 9"/>
          <p:cNvSpPr/>
          <p:nvPr/>
        </p:nvSpPr>
        <p:spPr>
          <a:xfrm>
            <a:off x="7315200" y="1508760"/>
            <a:ext cx="2103120" cy="329184"/>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tehnologice</a:t>
            </a:r>
            <a:endParaRPr lang="en-US" sz="1300" dirty="0"/>
          </a:p>
        </p:txBody>
      </p:sp>
      <p:sp>
        <p:nvSpPr>
          <p:cNvPr id="12" name="Shape 10"/>
          <p:cNvSpPr/>
          <p:nvPr/>
        </p:nvSpPr>
        <p:spPr>
          <a:xfrm>
            <a:off x="9555480" y="1508760"/>
            <a:ext cx="2103120" cy="329184"/>
          </a:xfrm>
          <a:prstGeom prst="roundRect">
            <a:avLst>
              <a:gd name="adj" fmla="val 50000"/>
            </a:avLst>
          </a:prstGeom>
          <a:solidFill>
            <a:srgbClr val="FF8A3D"/>
          </a:solidFill>
          <a:ln w="12700">
            <a:solidFill>
              <a:srgbClr val="FF8A3D"/>
            </a:solidFill>
            <a:prstDash val="solid"/>
          </a:ln>
        </p:spPr>
        <p:txBody>
          <a:bodyPr/>
          <a:p/>
        </p:txBody>
      </p:sp>
      <p:sp>
        <p:nvSpPr>
          <p:cNvPr id="13" name="Text 11"/>
          <p:cNvSpPr/>
          <p:nvPr/>
        </p:nvSpPr>
        <p:spPr>
          <a:xfrm>
            <a:off x="9555480" y="1508760"/>
            <a:ext cx="2103120" cy="32918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concurențiale</a:t>
            </a:r>
            <a:endParaRPr lang="en-US" sz="1300" dirty="0"/>
          </a:p>
        </p:txBody>
      </p:sp>
      <p:sp>
        <p:nvSpPr>
          <p:cNvPr id="14" name="Text 12"/>
          <p:cNvSpPr/>
          <p:nvPr/>
        </p:nvSpPr>
        <p:spPr>
          <a:xfrm>
            <a:off x="594360" y="2103120"/>
            <a:ext cx="1097280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Clasificarea obligă conducerea să treacă prin fiecare categorie. Cursul următor pornește de aici.</a:t>
            </a:r>
            <a:endParaRPr lang="en-US" sz="1700" dirty="0"/>
          </a:p>
        </p:txBody>
      </p:sp>
      <p:sp>
        <p:nvSpPr>
          <p:cNvPr id="15" name="Shape 13"/>
          <p:cNvSpPr/>
          <p:nvPr/>
        </p:nvSpPr>
        <p:spPr>
          <a:xfrm>
            <a:off x="594360" y="3154680"/>
            <a:ext cx="10972800" cy="1234440"/>
          </a:xfrm>
          <a:prstGeom prst="rect">
            <a:avLst/>
          </a:prstGeom>
          <a:solidFill>
            <a:srgbClr val="FBF8F1"/>
          </a:solidFill>
          <a:ln w="9525">
            <a:solidFill>
              <a:srgbClr val="C9C6BE"/>
            </a:solidFill>
            <a:prstDash val="solid"/>
          </a:ln>
        </p:spPr>
        <p:txBody>
          <a:bodyPr/>
          <a:p/>
        </p:txBody>
      </p:sp>
      <p:sp>
        <p:nvSpPr>
          <p:cNvPr id="16" name="Shape 14"/>
          <p:cNvSpPr/>
          <p:nvPr/>
        </p:nvSpPr>
        <p:spPr>
          <a:xfrm>
            <a:off x="594360" y="3154680"/>
            <a:ext cx="54864" cy="1234440"/>
          </a:xfrm>
          <a:prstGeom prst="rect">
            <a:avLst/>
          </a:prstGeom>
          <a:solidFill>
            <a:srgbClr val="0E7C6B"/>
          </a:solidFill>
          <a:ln w="12700">
            <a:solidFill>
              <a:srgbClr val="0E7C6B"/>
            </a:solidFill>
            <a:prstDash val="solid"/>
          </a:ln>
        </p:spPr>
        <p:txBody>
          <a:bodyPr/>
          <a:p/>
        </p:txBody>
      </p:sp>
      <p:sp>
        <p:nvSpPr>
          <p:cNvPr id="17" name="Text 15"/>
          <p:cNvSpPr/>
          <p:nvPr/>
        </p:nvSpPr>
        <p:spPr>
          <a:xfrm>
            <a:off x="914400" y="3291840"/>
            <a:ext cx="103327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STRATEGIA NAȚIONALĂ DE SĂNĂTATE 2023–2030</a:t>
            </a:r>
            <a:endParaRPr lang="en-US" sz="1400" dirty="0"/>
          </a:p>
        </p:txBody>
      </p:sp>
      <p:sp>
        <p:nvSpPr>
          <p:cNvPr id="18" name="Text 16"/>
          <p:cNvSpPr/>
          <p:nvPr/>
        </p:nvSpPr>
        <p:spPr>
          <a:xfrm>
            <a:off x="914400" y="3703320"/>
            <a:ext cx="10332720" cy="6400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Sistemul nu a avut o abordare strategică susținută; politicile au fost mai ales reactive.</a:t>
            </a:r>
            <a:endParaRPr lang="en-US" sz="1800" dirty="0"/>
          </a:p>
        </p:txBody>
      </p:sp>
      <p:sp>
        <p:nvSpPr>
          <p:cNvPr id="19" name="Text 17"/>
          <p:cNvSpPr/>
          <p:nvPr/>
        </p:nvSpPr>
        <p:spPr>
          <a:xfrm>
            <a:off x="594360" y="4663440"/>
            <a:ext cx="10972800" cy="4572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Sistemul românesc a învățat, așadar, de prea multe ori, din mers.</a:t>
            </a:r>
            <a:endParaRPr lang="en-US" sz="22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Strategia națională de sănătate 2023–2030.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 AFIRMAȚIE DE VERIFICAT</a:t>
            </a:r>
            <a:endParaRPr lang="en-US" sz="1300" dirty="0"/>
          </a:p>
        </p:txBody>
      </p:sp>
      <p:sp>
        <p:nvSpPr>
          <p:cNvPr id="5" name="Shape 3"/>
          <p:cNvSpPr/>
          <p:nvPr/>
        </p:nvSpPr>
        <p:spPr>
          <a:xfrm>
            <a:off x="594360" y="1143000"/>
            <a:ext cx="10972800" cy="2651760"/>
          </a:xfrm>
          <a:prstGeom prst="rect">
            <a:avLst/>
          </a:prstGeom>
          <a:solidFill>
            <a:srgbClr val="FBF8F1"/>
          </a:solidFill>
          <a:ln w="9525">
            <a:solidFill>
              <a:srgbClr val="C9C6BE"/>
            </a:solidFill>
            <a:prstDash val="solid"/>
          </a:ln>
          <a:effectLst>
            <a:outerShdw sx="100000" sy="100000" kx="0" ky="0" algn="bl" rotWithShape="0" blurRad="63500" dist="25400" dir="5400000">
              <a:srgbClr val="000000">
                <a:alpha val="40000"/>
              </a:srgbClr>
            </a:outerShdw>
          </a:effectLst>
        </p:spPr>
        <p:txBody>
          <a:bodyPr/>
          <a:p/>
        </p:txBody>
      </p:sp>
      <p:sp>
        <p:nvSpPr>
          <p:cNvPr id="6" name="Text 4"/>
          <p:cNvSpPr/>
          <p:nvPr/>
        </p:nvSpPr>
        <p:spPr>
          <a:xfrm>
            <a:off x="914400" y="1325880"/>
            <a:ext cx="103327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EXEMPLU CONSTRUIT PENTRU ACEST CURS · NU ESTE UN TITLU DE PRESĂ</a:t>
            </a:r>
            <a:endParaRPr lang="en-US" sz="1200" dirty="0"/>
          </a:p>
        </p:txBody>
      </p:sp>
      <p:sp>
        <p:nvSpPr>
          <p:cNvPr id="7" name="Text 5"/>
          <p:cNvSpPr/>
          <p:nvPr/>
        </p:nvSpPr>
        <p:spPr>
          <a:xfrm>
            <a:off x="914400" y="1737360"/>
            <a:ext cx="10332720" cy="1920240"/>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„Spitalele românești sunt aglomerate pentru că avem prea puține paturi.”</a:t>
            </a:r>
            <a:endParaRPr lang="en-US" sz="3400" dirty="0"/>
          </a:p>
        </p:txBody>
      </p:sp>
      <p:sp>
        <p:nvSpPr>
          <p:cNvPr id="8" name="Shape 6"/>
          <p:cNvSpPr/>
          <p:nvPr/>
        </p:nvSpPr>
        <p:spPr>
          <a:xfrm>
            <a:off x="59436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9" name="Shape 7"/>
          <p:cNvSpPr/>
          <p:nvPr/>
        </p:nvSpPr>
        <p:spPr>
          <a:xfrm>
            <a:off x="822960" y="4288536"/>
            <a:ext cx="420624" cy="420624"/>
          </a:xfrm>
          <a:prstGeom prst="ellipse">
            <a:avLst/>
          </a:prstGeom>
          <a:solidFill>
            <a:srgbClr val="FFC24B"/>
          </a:solidFill>
          <a:ln/>
        </p:spPr>
        <p:txBody>
          <a:bodyPr/>
          <a:p/>
        </p:txBody>
      </p:sp>
      <p:sp>
        <p:nvSpPr>
          <p:cNvPr id="10" name="Text 8"/>
          <p:cNvSpPr/>
          <p:nvPr/>
        </p:nvSpPr>
        <p:spPr>
          <a:xfrm>
            <a:off x="82296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41732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Da</a:t>
            </a:r>
            <a:endParaRPr lang="en-US" sz="1800" dirty="0"/>
          </a:p>
        </p:txBody>
      </p:sp>
      <p:sp>
        <p:nvSpPr>
          <p:cNvPr id="12" name="Shape 10"/>
          <p:cNvSpPr/>
          <p:nvPr/>
        </p:nvSpPr>
        <p:spPr>
          <a:xfrm>
            <a:off x="434340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13" name="Shape 11"/>
          <p:cNvSpPr/>
          <p:nvPr/>
        </p:nvSpPr>
        <p:spPr>
          <a:xfrm>
            <a:off x="4572000" y="4288536"/>
            <a:ext cx="420624" cy="420624"/>
          </a:xfrm>
          <a:prstGeom prst="ellipse">
            <a:avLst/>
          </a:prstGeom>
          <a:solidFill>
            <a:srgbClr val="FFC24B"/>
          </a:solidFill>
          <a:ln/>
        </p:spPr>
        <p:txBody>
          <a:bodyPr/>
          <a:p/>
        </p:txBody>
      </p:sp>
      <p:sp>
        <p:nvSpPr>
          <p:cNvPr id="14" name="Text 12"/>
          <p:cNvSpPr/>
          <p:nvPr/>
        </p:nvSpPr>
        <p:spPr>
          <a:xfrm>
            <a:off x="457200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516636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Nu</a:t>
            </a:r>
            <a:endParaRPr lang="en-US" sz="1800" dirty="0"/>
          </a:p>
        </p:txBody>
      </p:sp>
      <p:sp>
        <p:nvSpPr>
          <p:cNvPr id="16" name="Shape 14"/>
          <p:cNvSpPr/>
          <p:nvPr/>
        </p:nvSpPr>
        <p:spPr>
          <a:xfrm>
            <a:off x="809244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17" name="Shape 15"/>
          <p:cNvSpPr/>
          <p:nvPr/>
        </p:nvSpPr>
        <p:spPr>
          <a:xfrm>
            <a:off x="8321040" y="4288536"/>
            <a:ext cx="420624" cy="420624"/>
          </a:xfrm>
          <a:prstGeom prst="ellipse">
            <a:avLst/>
          </a:prstGeom>
          <a:solidFill>
            <a:srgbClr val="FFC24B"/>
          </a:solidFill>
          <a:ln/>
        </p:spPr>
        <p:txBody>
          <a:bodyPr/>
          <a:p/>
        </p:txBody>
      </p:sp>
      <p:sp>
        <p:nvSpPr>
          <p:cNvPr id="18" name="Text 16"/>
          <p:cNvSpPr/>
          <p:nvPr/>
        </p:nvSpPr>
        <p:spPr>
          <a:xfrm>
            <a:off x="832104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891540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Nu se poate spune fără date</a:t>
            </a:r>
            <a:endParaRPr lang="en-US" sz="1800" dirty="0"/>
          </a:p>
        </p:txBody>
      </p:sp>
      <p:sp>
        <p:nvSpPr>
          <p:cNvPr id="20" name="Text 18"/>
          <p:cNvSpPr/>
          <p:nvPr/>
        </p:nvSpPr>
        <p:spPr>
          <a:xfrm>
            <a:off x="594360" y="53035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Un singur vot, pe menti.com: codul apare pe ecranul Mentimeter.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Datele țării nu susțin explicația „prea puține paturi”</a:t>
            </a:r>
            <a:endParaRPr lang="en-US" sz="3000" dirty="0"/>
          </a:p>
        </p:txBody>
      </p:sp>
      <p:sp>
        <p:nvSpPr>
          <p:cNvPr id="4" name="Text 2"/>
          <p:cNvSpPr/>
          <p:nvPr/>
        </p:nvSpPr>
        <p:spPr>
          <a:xfrm>
            <a:off x="594360" y="1600200"/>
            <a:ext cx="146304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Bulgaria</a:t>
            </a:r>
            <a:endParaRPr lang="en-US" sz="1500" dirty="0"/>
          </a:p>
        </p:txBody>
      </p:sp>
      <p:sp>
        <p:nvSpPr>
          <p:cNvPr id="5" name="Shape 3"/>
          <p:cNvSpPr/>
          <p:nvPr/>
        </p:nvSpPr>
        <p:spPr>
          <a:xfrm>
            <a:off x="2103120" y="1673352"/>
            <a:ext cx="4934088" cy="402336"/>
          </a:xfrm>
          <a:prstGeom prst="rect">
            <a:avLst/>
          </a:prstGeom>
          <a:solidFill>
            <a:srgbClr val="B9B6AE"/>
          </a:solidFill>
          <a:ln w="12700">
            <a:solidFill>
              <a:srgbClr val="B9B6AE"/>
            </a:solidFill>
            <a:prstDash val="solid"/>
          </a:ln>
        </p:spPr>
        <p:txBody>
          <a:bodyPr/>
          <a:p/>
        </p:txBody>
      </p:sp>
      <p:sp>
        <p:nvSpPr>
          <p:cNvPr id="6" name="Text 4"/>
          <p:cNvSpPr/>
          <p:nvPr/>
        </p:nvSpPr>
        <p:spPr>
          <a:xfrm>
            <a:off x="7128648" y="1600200"/>
            <a:ext cx="91440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870,32</a:t>
            </a:r>
            <a:endParaRPr lang="en-US" sz="1500" dirty="0"/>
          </a:p>
        </p:txBody>
      </p:sp>
      <p:sp>
        <p:nvSpPr>
          <p:cNvPr id="7" name="Text 5"/>
          <p:cNvSpPr/>
          <p:nvPr/>
        </p:nvSpPr>
        <p:spPr>
          <a:xfrm>
            <a:off x="594360" y="2313432"/>
            <a:ext cx="146304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Germania</a:t>
            </a:r>
            <a:endParaRPr lang="en-US" sz="1500" dirty="0"/>
          </a:p>
        </p:txBody>
      </p:sp>
      <p:sp>
        <p:nvSpPr>
          <p:cNvPr id="8" name="Shape 6"/>
          <p:cNvSpPr/>
          <p:nvPr/>
        </p:nvSpPr>
        <p:spPr>
          <a:xfrm>
            <a:off x="2103120" y="2386584"/>
            <a:ext cx="4300659" cy="402336"/>
          </a:xfrm>
          <a:prstGeom prst="rect">
            <a:avLst/>
          </a:prstGeom>
          <a:solidFill>
            <a:srgbClr val="B9B6AE"/>
          </a:solidFill>
          <a:ln w="12700">
            <a:solidFill>
              <a:srgbClr val="B9B6AE"/>
            </a:solidFill>
            <a:prstDash val="solid"/>
          </a:ln>
        </p:spPr>
        <p:txBody>
          <a:bodyPr/>
          <a:p/>
        </p:txBody>
      </p:sp>
      <p:sp>
        <p:nvSpPr>
          <p:cNvPr id="9" name="Text 7"/>
          <p:cNvSpPr/>
          <p:nvPr/>
        </p:nvSpPr>
        <p:spPr>
          <a:xfrm>
            <a:off x="6495219" y="2313432"/>
            <a:ext cx="91440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758,59</a:t>
            </a:r>
            <a:endParaRPr lang="en-US" sz="1500" dirty="0"/>
          </a:p>
        </p:txBody>
      </p:sp>
      <p:sp>
        <p:nvSpPr>
          <p:cNvPr id="10" name="Text 8"/>
          <p:cNvSpPr/>
          <p:nvPr/>
        </p:nvSpPr>
        <p:spPr>
          <a:xfrm>
            <a:off x="594360" y="3026664"/>
            <a:ext cx="146304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a:t>
            </a:r>
            <a:endParaRPr lang="en-US" sz="1500" dirty="0"/>
          </a:p>
        </p:txBody>
      </p:sp>
      <p:sp>
        <p:nvSpPr>
          <p:cNvPr id="11" name="Shape 9"/>
          <p:cNvSpPr/>
          <p:nvPr/>
        </p:nvSpPr>
        <p:spPr>
          <a:xfrm>
            <a:off x="2103120" y="3099816"/>
            <a:ext cx="4142770" cy="402336"/>
          </a:xfrm>
          <a:prstGeom prst="rect">
            <a:avLst/>
          </a:prstGeom>
          <a:solidFill>
            <a:srgbClr val="FF4757"/>
          </a:solidFill>
          <a:ln w="12700">
            <a:solidFill>
              <a:srgbClr val="FF4757"/>
            </a:solidFill>
            <a:prstDash val="solid"/>
          </a:ln>
        </p:spPr>
        <p:txBody>
          <a:bodyPr/>
          <a:p/>
        </p:txBody>
      </p:sp>
      <p:sp>
        <p:nvSpPr>
          <p:cNvPr id="12" name="Text 10"/>
          <p:cNvSpPr/>
          <p:nvPr/>
        </p:nvSpPr>
        <p:spPr>
          <a:xfrm>
            <a:off x="6337330" y="3026664"/>
            <a:ext cx="914400" cy="548640"/>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730,74</a:t>
            </a:r>
            <a:endParaRPr lang="en-US" sz="1500" dirty="0"/>
          </a:p>
        </p:txBody>
      </p:sp>
      <p:sp>
        <p:nvSpPr>
          <p:cNvPr id="13" name="Text 11"/>
          <p:cNvSpPr/>
          <p:nvPr/>
        </p:nvSpPr>
        <p:spPr>
          <a:xfrm>
            <a:off x="594360" y="3739896"/>
            <a:ext cx="146304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Media UE</a:t>
            </a:r>
            <a:endParaRPr lang="en-US" sz="1500" dirty="0"/>
          </a:p>
        </p:txBody>
      </p:sp>
      <p:sp>
        <p:nvSpPr>
          <p:cNvPr id="14" name="Shape 12"/>
          <p:cNvSpPr/>
          <p:nvPr/>
        </p:nvSpPr>
        <p:spPr>
          <a:xfrm>
            <a:off x="2103120" y="3813048"/>
            <a:ext cx="2876309" cy="402336"/>
          </a:xfrm>
          <a:prstGeom prst="rect">
            <a:avLst/>
          </a:prstGeom>
          <a:solidFill>
            <a:srgbClr val="0E7C6B"/>
          </a:solidFill>
          <a:ln w="12700">
            <a:solidFill>
              <a:srgbClr val="0E7C6B"/>
            </a:solidFill>
            <a:prstDash val="solid"/>
          </a:ln>
        </p:spPr>
        <p:txBody>
          <a:bodyPr/>
          <a:p/>
        </p:txBody>
      </p:sp>
      <p:sp>
        <p:nvSpPr>
          <p:cNvPr id="15" name="Text 13"/>
          <p:cNvSpPr/>
          <p:nvPr/>
        </p:nvSpPr>
        <p:spPr>
          <a:xfrm>
            <a:off x="5070869" y="3739896"/>
            <a:ext cx="914400" cy="548640"/>
          </a:xfrm>
          <a:prstGeom prst="rect">
            <a:avLst/>
          </a:prstGeom>
          <a:noFill/>
          <a:ln/>
        </p:spPr>
        <p:txBody>
          <a:bodyPr wrap="square" lIns="0" tIns="0" rIns="0" bIns="0" rtlCol="0" anchor="ctr"/>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507,35</a:t>
            </a:r>
            <a:endParaRPr lang="en-US" sz="1500" dirty="0"/>
          </a:p>
        </p:txBody>
      </p:sp>
      <p:sp>
        <p:nvSpPr>
          <p:cNvPr id="16" name="Text 14"/>
          <p:cNvSpPr/>
          <p:nvPr/>
        </p:nvSpPr>
        <p:spPr>
          <a:xfrm>
            <a:off x="594360" y="4434840"/>
            <a:ext cx="6858000" cy="3200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paturi la 100 000 de locuitori, 2024</a:t>
            </a:r>
            <a:endParaRPr lang="en-US" sz="1300" dirty="0"/>
          </a:p>
        </p:txBody>
      </p:sp>
      <p:pic>
        <p:nvPicPr>
          <p:cNvPr id="17" name="Image 0" descr="/Users/adrianpana/Downloads/UMF_Cluj_SP/Materiale SP/Atelier_didactic/discipline/UB_MSSS/active/img/C01_salon_paturi.jpg">    </p:cNvPr>
          <p:cNvPicPr>
            <a:picLocks noChangeAspect="1"/>
          </p:cNvPicPr>
          <p:nvPr/>
        </p:nvPicPr>
        <p:blipFill>
          <a:blip r:embed="rId1"/>
          <a:stretch>
            <a:fillRect/>
          </a:stretch>
        </p:blipFill>
        <p:spPr>
          <a:xfrm>
            <a:off x="8129354" y="1508760"/>
            <a:ext cx="3437806" cy="2788920"/>
          </a:xfrm>
          <a:prstGeom prst="rect">
            <a:avLst/>
          </a:prstGeom>
        </p:spPr>
      </p:pic>
      <p:sp>
        <p:nvSpPr>
          <p:cNvPr id="18" name="Text 15"/>
          <p:cNvSpPr/>
          <p:nvPr/>
        </p:nvSpPr>
        <p:spPr>
          <a:xfrm>
            <a:off x="7315200" y="4334256"/>
            <a:ext cx="4251960" cy="219456"/>
          </a:xfrm>
          <a:prstGeom prst="rect">
            <a:avLst/>
          </a:prstGeom>
          <a:noFill/>
          <a:ln/>
        </p:spPr>
        <p:txBody>
          <a:bodyPr wrap="square" lIns="0" tIns="0" rIns="0" bIns="0" rtlCol="0" anchor="ctr"/>
          <a:lstStyle/>
          <a:p>
            <a:pPr algn="r" indent="0" marL="0">
              <a:buNone/>
            </a:pPr>
            <a:r>
              <a:rPr lang="en-US" sz="850" i="1" dirty="0">
                <a:solidFill>
                  <a:srgbClr val="585A64"/>
                </a:solidFill>
                <a:latin typeface="Palatino Linotype" pitchFamily="34" charset="0"/>
                <a:ea typeface="Palatino Linotype" pitchFamily="34" charset="-122"/>
                <a:cs typeface="Palatino Linotype" pitchFamily="34" charset="-120"/>
              </a:rPr>
              <a:t>Sursa: foto City of Minneapolis Archives · CC BY 2.0 · Wikimedia Commons (arhivă)</a:t>
            </a:r>
            <a:endParaRPr lang="en-US" sz="850" dirty="0"/>
          </a:p>
        </p:txBody>
      </p:sp>
      <p:sp>
        <p:nvSpPr>
          <p:cNvPr id="19" name="Text 16"/>
          <p:cNvSpPr/>
          <p:nvPr/>
        </p:nvSpPr>
        <p:spPr>
          <a:xfrm>
            <a:off x="594360" y="4800600"/>
            <a:ext cx="1097280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peste patru din zece spitale publice, ocuparea medie anuală a paturilor de acuți a fost în 2025 sub trei cincimi. Altă explicație, de verificat la fiecare spital: împărțirea serviciilor.</a:t>
            </a:r>
            <a:endParaRPr lang="en-US" sz="1600" dirty="0"/>
          </a:p>
        </p:txBody>
      </p:sp>
      <p:sp>
        <p:nvSpPr>
          <p:cNvPr id="20" name="Text 17"/>
          <p:cNvSpPr/>
          <p:nvPr/>
        </p:nvSpPr>
        <p:spPr>
          <a:xfrm>
            <a:off x="594360" y="5577840"/>
            <a:ext cx="749808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O clădire nouă cu mai multe paturi ar putea răspunde afirmației, nu problemei.</a:t>
            </a:r>
            <a:endParaRPr lang="en-US" sz="1600" dirty="0"/>
          </a:p>
        </p:txBody>
      </p:sp>
      <p:sp>
        <p:nvSpPr>
          <p:cNvPr id="21" name="Text 18"/>
          <p:cNvSpPr/>
          <p:nvPr/>
        </p:nvSpPr>
        <p:spPr>
          <a:xfrm>
            <a:off x="8138160" y="5577840"/>
            <a:ext cx="3429000" cy="411480"/>
          </a:xfrm>
          <a:prstGeom prst="rect">
            <a:avLst/>
          </a:prstGeom>
          <a:noFill/>
          <a:ln/>
        </p:spPr>
        <p:txBody>
          <a:bodyPr wrap="square" lIns="0" tIns="0" rIns="0" bIns="0" rtlCol="0" anchor="ctr"/>
          <a:lstStyle/>
          <a:p>
            <a:pPr algn="r" indent="0" marL="0">
              <a:buNone/>
            </a:pPr>
            <a:r>
              <a:rPr lang="en-US" sz="1100" i="1" dirty="0">
                <a:solidFill>
                  <a:srgbClr val="585A64"/>
                </a:solidFill>
                <a:latin typeface="Palatino Linotype" pitchFamily="34" charset="0"/>
                <a:ea typeface="Palatino Linotype" pitchFamily="34" charset="-122"/>
                <a:cs typeface="Palatino Linotype" pitchFamily="34" charset="-120"/>
              </a:rPr>
              <a:t>Cifrele exacte nu intră la examen.</a:t>
            </a:r>
            <a:endParaRPr lang="en-US" sz="1100" dirty="0"/>
          </a:p>
        </p:txBody>
      </p:sp>
      <p:sp>
        <p:nvSpPr>
          <p:cNvPr id="22" name="Text 19"/>
          <p:cNvSpPr/>
          <p:nvPr/>
        </p:nvSpPr>
        <p:spPr>
          <a:xfrm>
            <a:off x="594360" y="610819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(hlth_rs_bds1); CNAS, Performanță Spitale Publice; OCDE și Observatorul European, 2025.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2011680"/>
            <a:ext cx="10972800" cy="1188720"/>
          </a:xfrm>
          <a:prstGeom prst="rect">
            <a:avLst/>
          </a:prstGeom>
          <a:noFill/>
          <a:ln/>
        </p:spPr>
        <p:txBody>
          <a:bodyPr wrap="square" lIns="0" tIns="0" rIns="0" bIns="0" rtlCol="0" anchor="ctr"/>
          <a:lstStyle/>
          <a:p>
            <a:pPr indent="0" marL="0">
              <a:buNone/>
            </a:pPr>
            <a:r>
              <a:rPr lang="en-US" sz="5400" b="1" dirty="0">
                <a:solidFill>
                  <a:srgbClr val="073B34"/>
                </a:solidFill>
                <a:latin typeface="Palatino Linotype" pitchFamily="34" charset="0"/>
                <a:ea typeface="Palatino Linotype" pitchFamily="34" charset="-122"/>
                <a:cs typeface="Palatino Linotype" pitchFamily="34" charset="-120"/>
              </a:rPr>
              <a:t>Zece minute de pauză</a:t>
            </a:r>
            <a:endParaRPr lang="en-US" sz="5400" dirty="0"/>
          </a:p>
        </p:txBody>
      </p:sp>
      <p:sp>
        <p:nvSpPr>
          <p:cNvPr id="3" name="Text 1"/>
          <p:cNvSpPr/>
          <p:nvPr/>
        </p:nvSpPr>
        <p:spPr>
          <a:xfrm>
            <a:off x="594360" y="3383280"/>
            <a:ext cx="10972800" cy="731520"/>
          </a:xfrm>
          <a:prstGeom prst="rect">
            <a:avLst/>
          </a:prstGeom>
          <a:noFill/>
          <a:ln/>
        </p:spPr>
        <p:txBody>
          <a:bodyPr wrap="square" lIns="0" tIns="0" rIns="0" bIns="0" rtlCol="0" anchor="t"/>
          <a:lstStyle/>
          <a:p>
            <a:pPr indent="0" marL="0">
              <a:buNone/>
            </a:pPr>
            <a:r>
              <a:rPr lang="en-US" sz="2400" dirty="0">
                <a:solidFill>
                  <a:srgbClr val="073B34"/>
                </a:solidFill>
                <a:latin typeface="Palatino Linotype" pitchFamily="34" charset="0"/>
                <a:ea typeface="Palatino Linotype" pitchFamily="34" charset="-122"/>
                <a:cs typeface="Palatino Linotype" pitchFamily="34" charset="-120"/>
              </a:rPr>
              <a:t>Urmează: harta, busola și un spital care nu este un ceas.</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harta_busola.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Hartă și busolă</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Yx teine · CC BY-SA 4.0 · Wikimedia Commons</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ȘI BUSOLA</a:t>
            </a:r>
            <a:endParaRPr lang="en-US" sz="1300" dirty="0"/>
          </a:p>
        </p:txBody>
      </p:sp>
      <p:sp>
        <p:nvSpPr>
          <p:cNvPr id="7" name="Text 4"/>
          <p:cNvSpPr/>
          <p:nvPr/>
        </p:nvSpPr>
        <p:spPr>
          <a:xfrm>
            <a:off x="594360" y="731520"/>
            <a:ext cx="5852160" cy="7772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Cât de strict se urmează planul?</a:t>
            </a:r>
            <a:endParaRPr lang="en-US" sz="3000" dirty="0"/>
          </a:p>
        </p:txBody>
      </p:sp>
      <p:sp>
        <p:nvSpPr>
          <p:cNvPr id="8" name="Shape 5"/>
          <p:cNvSpPr/>
          <p:nvPr/>
        </p:nvSpPr>
        <p:spPr>
          <a:xfrm>
            <a:off x="594360" y="1645920"/>
            <a:ext cx="54864" cy="1371600"/>
          </a:xfrm>
          <a:prstGeom prst="rect">
            <a:avLst/>
          </a:prstGeom>
          <a:solidFill>
            <a:srgbClr val="B02532"/>
          </a:solidFill>
          <a:ln w="12700">
            <a:solidFill>
              <a:srgbClr val="B02532"/>
            </a:solidFill>
            <a:prstDash val="solid"/>
          </a:ln>
        </p:spPr>
        <p:txBody>
          <a:bodyPr/>
          <a:p/>
        </p:txBody>
      </p:sp>
      <p:sp>
        <p:nvSpPr>
          <p:cNvPr id="9" name="Text 6"/>
          <p:cNvSpPr/>
          <p:nvPr/>
        </p:nvSpPr>
        <p:spPr>
          <a:xfrm>
            <a:off x="868680" y="1645920"/>
            <a:ext cx="5577840" cy="365760"/>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HARTA · abordarea analitică</a:t>
            </a:r>
            <a:endParaRPr lang="en-US" sz="1400" dirty="0"/>
          </a:p>
        </p:txBody>
      </p:sp>
      <p:sp>
        <p:nvSpPr>
          <p:cNvPr id="10" name="Text 7"/>
          <p:cNvSpPr/>
          <p:nvPr/>
        </p:nvSpPr>
        <p:spPr>
          <a:xfrm>
            <a:off x="868680" y="2029968"/>
            <a:ext cx="557784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Strategia se stabilește dinainte și se aplică pas cu pas. Utilă pe un teren cunoscut.</a:t>
            </a:r>
            <a:endParaRPr lang="en-US" sz="1600" dirty="0"/>
          </a:p>
        </p:txBody>
      </p:sp>
      <p:sp>
        <p:nvSpPr>
          <p:cNvPr id="11" name="Shape 8"/>
          <p:cNvSpPr/>
          <p:nvPr/>
        </p:nvSpPr>
        <p:spPr>
          <a:xfrm>
            <a:off x="594360" y="3246120"/>
            <a:ext cx="54864" cy="1371600"/>
          </a:xfrm>
          <a:prstGeom prst="rect">
            <a:avLst/>
          </a:prstGeom>
          <a:solidFill>
            <a:srgbClr val="0E7C6B"/>
          </a:solidFill>
          <a:ln w="12700">
            <a:solidFill>
              <a:srgbClr val="0E7C6B"/>
            </a:solidFill>
            <a:prstDash val="solid"/>
          </a:ln>
        </p:spPr>
        <p:txBody>
          <a:bodyPr/>
          <a:p/>
        </p:txBody>
      </p:sp>
      <p:sp>
        <p:nvSpPr>
          <p:cNvPr id="12" name="Text 9"/>
          <p:cNvSpPr/>
          <p:nvPr/>
        </p:nvSpPr>
        <p:spPr>
          <a:xfrm>
            <a:off x="868680" y="3246120"/>
            <a:ext cx="5577840" cy="365760"/>
          </a:xfrm>
          <a:prstGeom prst="rect">
            <a:avLst/>
          </a:prstGeom>
          <a:noFill/>
          <a:ln/>
        </p:spPr>
        <p:txBody>
          <a:bodyPr wrap="square" lIns="0" tIns="0" rIns="0" bIns="0" rtlCol="0" anchor="t"/>
          <a:lstStyle/>
          <a:p>
            <a:pPr indent="0" marL="0">
              <a:buNone/>
            </a:pPr>
            <a:r>
              <a:rPr lang="en-US" sz="1400" b="1" spc="100" kern="0" dirty="0">
                <a:solidFill>
                  <a:srgbClr val="0E7C6B"/>
                </a:solidFill>
                <a:latin typeface="Palatino Linotype" pitchFamily="34" charset="0"/>
                <a:ea typeface="Palatino Linotype" pitchFamily="34" charset="-122"/>
                <a:cs typeface="Palatino Linotype" pitchFamily="34" charset="-120"/>
              </a:rPr>
              <a:t>BUSOLA · abordarea emergentă</a:t>
            </a:r>
            <a:endParaRPr lang="en-US" sz="1400" dirty="0"/>
          </a:p>
        </p:txBody>
      </p:sp>
      <p:sp>
        <p:nvSpPr>
          <p:cNvPr id="13" name="Text 10"/>
          <p:cNvSpPr/>
          <p:nvPr/>
        </p:nvSpPr>
        <p:spPr>
          <a:xfrm>
            <a:off x="868680" y="3630168"/>
            <a:ext cx="557784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Strategia se formează pe parcurs, pe măsură ce aflați ce funcționează. Utilă când nu știți exact unde sunteți.</a:t>
            </a:r>
            <a:endParaRPr lang="en-US" sz="1600" dirty="0"/>
          </a:p>
        </p:txBody>
      </p:sp>
      <p:sp>
        <p:nvSpPr>
          <p:cNvPr id="14" name="Shape 11"/>
          <p:cNvSpPr/>
          <p:nvPr/>
        </p:nvSpPr>
        <p:spPr>
          <a:xfrm>
            <a:off x="594360" y="4937760"/>
            <a:ext cx="5852160" cy="960120"/>
          </a:xfrm>
          <a:prstGeom prst="roundRect">
            <a:avLst>
              <a:gd name="adj" fmla="val 8571"/>
            </a:avLst>
          </a:prstGeom>
          <a:solidFill>
            <a:srgbClr val="ECEAE4"/>
          </a:solidFill>
          <a:ln w="12700">
            <a:solidFill>
              <a:srgbClr val="ECEAE4"/>
            </a:solidFill>
            <a:prstDash val="solid"/>
          </a:ln>
        </p:spPr>
        <p:txBody>
          <a:bodyPr/>
          <a:p/>
        </p:txBody>
      </p:sp>
      <p:sp>
        <p:nvSpPr>
          <p:cNvPr id="15" name="Text 12"/>
          <p:cNvSpPr/>
          <p:nvPr/>
        </p:nvSpPr>
        <p:spPr>
          <a:xfrm>
            <a:off x="822960" y="4937760"/>
            <a:ext cx="5486400" cy="9601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Orarul este harta; judecata de după primul examen este busola. Ambele sunt necesare.</a:t>
            </a:r>
            <a:endParaRPr lang="en-US" sz="1600" dirty="0"/>
          </a:p>
        </p:txBody>
      </p:sp>
      <p:sp>
        <p:nvSpPr>
          <p:cNvPr id="16" name="Text 13"/>
          <p:cNvSpPr/>
          <p:nvPr/>
        </p:nvSpPr>
        <p:spPr>
          <a:xfrm>
            <a:off x="594360" y="603504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DOUĂ TABERE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STÂNGA: HARTA · DREAPTA: BUSOLA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instrument ajută mai mult?</a:t>
            </a:r>
            <a:endParaRPr lang="en-US" sz="3400" dirty="0"/>
          </a:p>
        </p:txBody>
      </p:sp>
      <p:sp>
        <p:nvSpPr>
          <p:cNvPr id="6" name="Shape 4"/>
          <p:cNvSpPr/>
          <p:nvPr/>
        </p:nvSpPr>
        <p:spPr>
          <a:xfrm>
            <a:off x="594360" y="1691640"/>
            <a:ext cx="3520440" cy="2834640"/>
          </a:xfrm>
          <a:prstGeom prst="roundRect">
            <a:avLst>
              <a:gd name="adj" fmla="val 2903"/>
            </a:avLst>
          </a:prstGeom>
          <a:solidFill>
            <a:srgbClr val="1D1F2B"/>
          </a:solidFill>
          <a:ln w="12700">
            <a:solidFill>
              <a:srgbClr val="1D1F2B"/>
            </a:solidFill>
            <a:prstDash val="solid"/>
          </a:ln>
        </p:spPr>
        <p:txBody>
          <a:bodyPr/>
          <a:p/>
        </p:txBody>
      </p:sp>
      <p:sp>
        <p:nvSpPr>
          <p:cNvPr id="7" name="Shape 5"/>
          <p:cNvSpPr/>
          <p:nvPr/>
        </p:nvSpPr>
        <p:spPr>
          <a:xfrm>
            <a:off x="868680" y="1920240"/>
            <a:ext cx="512064" cy="512064"/>
          </a:xfrm>
          <a:prstGeom prst="ellipse">
            <a:avLst/>
          </a:prstGeom>
          <a:solidFill>
            <a:srgbClr val="FFC24B"/>
          </a:solidFill>
          <a:ln/>
        </p:spPr>
        <p:txBody>
          <a:bodyPr/>
          <a:p/>
        </p:txBody>
      </p:sp>
      <p:sp>
        <p:nvSpPr>
          <p:cNvPr id="8" name="Text 6"/>
          <p:cNvSpPr/>
          <p:nvPr/>
        </p:nvSpPr>
        <p:spPr>
          <a:xfrm>
            <a:off x="868680" y="1920240"/>
            <a:ext cx="512064" cy="512064"/>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1</a:t>
            </a:r>
            <a:endParaRPr lang="en-US" sz="1700" dirty="0"/>
          </a:p>
        </p:txBody>
      </p:sp>
      <p:sp>
        <p:nvSpPr>
          <p:cNvPr id="9" name="Text 7"/>
          <p:cNvSpPr/>
          <p:nvPr/>
        </p:nvSpPr>
        <p:spPr>
          <a:xfrm>
            <a:off x="868680" y="2606040"/>
            <a:ext cx="3017520" cy="18288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 ambulatoriu nou, într-un oraș cu populație bine cunoscută, care se schimbă încet.</a:t>
            </a:r>
            <a:endParaRPr lang="en-US" sz="1700" dirty="0"/>
          </a:p>
        </p:txBody>
      </p:sp>
      <p:sp>
        <p:nvSpPr>
          <p:cNvPr id="10" name="Shape 8"/>
          <p:cNvSpPr/>
          <p:nvPr/>
        </p:nvSpPr>
        <p:spPr>
          <a:xfrm>
            <a:off x="4343400" y="1691640"/>
            <a:ext cx="3520440" cy="2834640"/>
          </a:xfrm>
          <a:prstGeom prst="roundRect">
            <a:avLst>
              <a:gd name="adj" fmla="val 2903"/>
            </a:avLst>
          </a:prstGeom>
          <a:solidFill>
            <a:srgbClr val="1D1F2B"/>
          </a:solidFill>
          <a:ln w="12700">
            <a:solidFill>
              <a:srgbClr val="1D1F2B"/>
            </a:solidFill>
            <a:prstDash val="solid"/>
          </a:ln>
        </p:spPr>
        <p:txBody>
          <a:bodyPr/>
          <a:p/>
        </p:txBody>
      </p:sp>
      <p:sp>
        <p:nvSpPr>
          <p:cNvPr id="11" name="Shape 9"/>
          <p:cNvSpPr/>
          <p:nvPr/>
        </p:nvSpPr>
        <p:spPr>
          <a:xfrm>
            <a:off x="4617720" y="1920240"/>
            <a:ext cx="512064" cy="512064"/>
          </a:xfrm>
          <a:prstGeom prst="ellipse">
            <a:avLst/>
          </a:prstGeom>
          <a:solidFill>
            <a:srgbClr val="FFC24B"/>
          </a:solidFill>
          <a:ln/>
        </p:spPr>
        <p:txBody>
          <a:bodyPr/>
          <a:p/>
        </p:txBody>
      </p:sp>
      <p:sp>
        <p:nvSpPr>
          <p:cNvPr id="12" name="Text 10"/>
          <p:cNvSpPr/>
          <p:nvPr/>
        </p:nvSpPr>
        <p:spPr>
          <a:xfrm>
            <a:off x="4617720" y="1920240"/>
            <a:ext cx="512064" cy="512064"/>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a:t>
            </a:r>
            <a:endParaRPr lang="en-US" sz="1700" dirty="0"/>
          </a:p>
        </p:txBody>
      </p:sp>
      <p:sp>
        <p:nvSpPr>
          <p:cNvPr id="13" name="Text 11"/>
          <p:cNvSpPr/>
          <p:nvPr/>
        </p:nvSpPr>
        <p:spPr>
          <a:xfrm>
            <a:off x="4617720" y="2606040"/>
            <a:ext cx="3017520" cy="18288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Primele săptămâni ale unei epidemii provocate de un microb necunoscut.</a:t>
            </a:r>
            <a:endParaRPr lang="en-US" sz="1700" dirty="0"/>
          </a:p>
        </p:txBody>
      </p:sp>
      <p:sp>
        <p:nvSpPr>
          <p:cNvPr id="14" name="Shape 12"/>
          <p:cNvSpPr/>
          <p:nvPr/>
        </p:nvSpPr>
        <p:spPr>
          <a:xfrm>
            <a:off x="8092440" y="1691640"/>
            <a:ext cx="3520440" cy="2834640"/>
          </a:xfrm>
          <a:prstGeom prst="roundRect">
            <a:avLst>
              <a:gd name="adj" fmla="val 2903"/>
            </a:avLst>
          </a:prstGeom>
          <a:solidFill>
            <a:srgbClr val="1D1F2B"/>
          </a:solidFill>
          <a:ln w="12700">
            <a:solidFill>
              <a:srgbClr val="1D1F2B"/>
            </a:solidFill>
            <a:prstDash val="solid"/>
          </a:ln>
        </p:spPr>
        <p:txBody>
          <a:bodyPr/>
          <a:p/>
        </p:txBody>
      </p:sp>
      <p:sp>
        <p:nvSpPr>
          <p:cNvPr id="15" name="Shape 13"/>
          <p:cNvSpPr/>
          <p:nvPr/>
        </p:nvSpPr>
        <p:spPr>
          <a:xfrm>
            <a:off x="8366760" y="1920240"/>
            <a:ext cx="512064" cy="512064"/>
          </a:xfrm>
          <a:prstGeom prst="ellipse">
            <a:avLst/>
          </a:prstGeom>
          <a:solidFill>
            <a:srgbClr val="FFC24B"/>
          </a:solidFill>
          <a:ln/>
        </p:spPr>
        <p:txBody>
          <a:bodyPr/>
          <a:p/>
        </p:txBody>
      </p:sp>
      <p:sp>
        <p:nvSpPr>
          <p:cNvPr id="16" name="Text 14"/>
          <p:cNvSpPr/>
          <p:nvPr/>
        </p:nvSpPr>
        <p:spPr>
          <a:xfrm>
            <a:off x="8366760" y="1920240"/>
            <a:ext cx="512064" cy="512064"/>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3</a:t>
            </a:r>
            <a:endParaRPr lang="en-US" sz="1700" dirty="0"/>
          </a:p>
        </p:txBody>
      </p:sp>
      <p:sp>
        <p:nvSpPr>
          <p:cNvPr id="17" name="Text 15"/>
          <p:cNvSpPr/>
          <p:nvPr/>
        </p:nvSpPr>
        <p:spPr>
          <a:xfrm>
            <a:off x="8366760" y="2606040"/>
            <a:ext cx="3017520" cy="182880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Urmărirea de la distanță a pacienților cronici, prin dispozitive conectate la internet, nefolosită încă în județ.</a:t>
            </a:r>
            <a:endParaRPr lang="en-US" sz="1700" dirty="0"/>
          </a:p>
        </p:txBody>
      </p:sp>
      <p:sp>
        <p:nvSpPr>
          <p:cNvPr id="18" name="Text 16"/>
          <p:cNvSpPr/>
          <p:nvPr/>
        </p:nvSpPr>
        <p:spPr>
          <a:xfrm>
            <a:off x="594360" y="4846320"/>
            <a:ext cx="10972800" cy="7315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Pentru fiecare situație: câte un minut pentru fiecare tabără, apoi votați pe telefon.</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Instrumentul depinde de teren</a:t>
            </a:r>
            <a:endParaRPr lang="en-US" sz="3200" dirty="0"/>
          </a:p>
        </p:txBody>
      </p:sp>
      <p:sp>
        <p:nvSpPr>
          <p:cNvPr id="4" name="Shape 2"/>
          <p:cNvSpPr/>
          <p:nvPr/>
        </p:nvSpPr>
        <p:spPr>
          <a:xfrm>
            <a:off x="594360" y="1691640"/>
            <a:ext cx="3520440" cy="3566160"/>
          </a:xfrm>
          <a:prstGeom prst="roundRect">
            <a:avLst>
              <a:gd name="adj" fmla="val 2338"/>
            </a:avLst>
          </a:prstGeom>
          <a:solidFill>
            <a:srgbClr val="ECEAE4"/>
          </a:solidFill>
          <a:ln w="12700">
            <a:solidFill>
              <a:srgbClr val="ECEAE4"/>
            </a:solidFill>
            <a:prstDash val="solid"/>
          </a:ln>
        </p:spPr>
        <p:txBody>
          <a:bodyPr/>
          <a:p/>
        </p:txBody>
      </p:sp>
      <p:sp>
        <p:nvSpPr>
          <p:cNvPr id="5" name="Text 3"/>
          <p:cNvSpPr/>
          <p:nvPr/>
        </p:nvSpPr>
        <p:spPr>
          <a:xfrm>
            <a:off x="868680" y="1828800"/>
            <a:ext cx="301752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Ambulatoriul</a:t>
            </a:r>
            <a:endParaRPr lang="en-US" sz="1800" dirty="0"/>
          </a:p>
        </p:txBody>
      </p:sp>
      <p:sp>
        <p:nvSpPr>
          <p:cNvPr id="6" name="Shape 4"/>
          <p:cNvSpPr/>
          <p:nvPr/>
        </p:nvSpPr>
        <p:spPr>
          <a:xfrm>
            <a:off x="868680" y="2331720"/>
            <a:ext cx="2011680" cy="329184"/>
          </a:xfrm>
          <a:prstGeom prst="roundRect">
            <a:avLst>
              <a:gd name="adj" fmla="val 50000"/>
            </a:avLst>
          </a:prstGeom>
          <a:solidFill>
            <a:srgbClr val="FF4757"/>
          </a:solidFill>
          <a:ln w="12700">
            <a:solidFill>
              <a:srgbClr val="FF4757"/>
            </a:solidFill>
            <a:prstDash val="solid"/>
          </a:ln>
        </p:spPr>
        <p:txBody>
          <a:bodyPr/>
          <a:p/>
        </p:txBody>
      </p:sp>
      <p:sp>
        <p:nvSpPr>
          <p:cNvPr id="7" name="Text 5"/>
          <p:cNvSpPr/>
          <p:nvPr/>
        </p:nvSpPr>
        <p:spPr>
          <a:xfrm>
            <a:off x="868680" y="2331720"/>
            <a:ext cx="20116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HARTA</a:t>
            </a:r>
            <a:endParaRPr lang="en-US" sz="1300" dirty="0"/>
          </a:p>
        </p:txBody>
      </p:sp>
      <p:sp>
        <p:nvSpPr>
          <p:cNvPr id="8" name="Text 6"/>
          <p:cNvSpPr/>
          <p:nvPr/>
        </p:nvSpPr>
        <p:spPr>
          <a:xfrm>
            <a:off x="868680" y="2880360"/>
            <a:ext cx="3017520" cy="2194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Datele sunt cunoscute; un plan bun făcut dinainte evită risipa.</a:t>
            </a:r>
            <a:endParaRPr lang="en-US" sz="1700" dirty="0"/>
          </a:p>
        </p:txBody>
      </p:sp>
      <p:sp>
        <p:nvSpPr>
          <p:cNvPr id="9" name="Shape 7"/>
          <p:cNvSpPr/>
          <p:nvPr/>
        </p:nvSpPr>
        <p:spPr>
          <a:xfrm>
            <a:off x="4343400" y="1691640"/>
            <a:ext cx="3520440" cy="3566160"/>
          </a:xfrm>
          <a:prstGeom prst="roundRect">
            <a:avLst>
              <a:gd name="adj" fmla="val 2338"/>
            </a:avLst>
          </a:prstGeom>
          <a:solidFill>
            <a:srgbClr val="F9F8F5"/>
          </a:solidFill>
          <a:ln w="12700">
            <a:solidFill>
              <a:srgbClr val="F9F8F5"/>
            </a:solidFill>
            <a:prstDash val="solid"/>
          </a:ln>
        </p:spPr>
        <p:txBody>
          <a:bodyPr/>
          <a:p/>
        </p:txBody>
      </p:sp>
      <p:sp>
        <p:nvSpPr>
          <p:cNvPr id="10" name="Text 8"/>
          <p:cNvSpPr/>
          <p:nvPr/>
        </p:nvSpPr>
        <p:spPr>
          <a:xfrm>
            <a:off x="4617720" y="1828800"/>
            <a:ext cx="301752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Epidemia</a:t>
            </a:r>
            <a:endParaRPr lang="en-US" sz="1800" dirty="0"/>
          </a:p>
        </p:txBody>
      </p:sp>
      <p:sp>
        <p:nvSpPr>
          <p:cNvPr id="11" name="Shape 9"/>
          <p:cNvSpPr/>
          <p:nvPr/>
        </p:nvSpPr>
        <p:spPr>
          <a:xfrm>
            <a:off x="4617720" y="2331720"/>
            <a:ext cx="2011680" cy="329184"/>
          </a:xfrm>
          <a:prstGeom prst="roundRect">
            <a:avLst>
              <a:gd name="adj" fmla="val 50000"/>
            </a:avLst>
          </a:prstGeom>
          <a:solidFill>
            <a:srgbClr val="27D3BE"/>
          </a:solidFill>
          <a:ln w="12700">
            <a:solidFill>
              <a:srgbClr val="27D3BE"/>
            </a:solidFill>
            <a:prstDash val="solid"/>
          </a:ln>
        </p:spPr>
        <p:txBody>
          <a:bodyPr/>
          <a:p/>
        </p:txBody>
      </p:sp>
      <p:sp>
        <p:nvSpPr>
          <p:cNvPr id="12" name="Text 10"/>
          <p:cNvSpPr/>
          <p:nvPr/>
        </p:nvSpPr>
        <p:spPr>
          <a:xfrm>
            <a:off x="4617720" y="2331720"/>
            <a:ext cx="201168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BUSOLA</a:t>
            </a:r>
            <a:endParaRPr lang="en-US" sz="1300" dirty="0"/>
          </a:p>
        </p:txBody>
      </p:sp>
      <p:sp>
        <p:nvSpPr>
          <p:cNvPr id="13" name="Text 11"/>
          <p:cNvSpPr/>
          <p:nvPr/>
        </p:nvSpPr>
        <p:spPr>
          <a:xfrm>
            <a:off x="4617720" y="2880360"/>
            <a:ext cx="3017520" cy="2194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Nimeni nu știe cum se va desfășura; deciziile se corectează pe măsură ce sosesc informațiile.</a:t>
            </a:r>
            <a:endParaRPr lang="en-US" sz="1700" dirty="0"/>
          </a:p>
        </p:txBody>
      </p:sp>
      <p:sp>
        <p:nvSpPr>
          <p:cNvPr id="14" name="Shape 12"/>
          <p:cNvSpPr/>
          <p:nvPr/>
        </p:nvSpPr>
        <p:spPr>
          <a:xfrm>
            <a:off x="8092440" y="1691640"/>
            <a:ext cx="3520440" cy="3566160"/>
          </a:xfrm>
          <a:prstGeom prst="roundRect">
            <a:avLst>
              <a:gd name="adj" fmla="val 2338"/>
            </a:avLst>
          </a:prstGeom>
          <a:solidFill>
            <a:srgbClr val="ECEAE4"/>
          </a:solidFill>
          <a:ln w="12700">
            <a:solidFill>
              <a:srgbClr val="ECEAE4"/>
            </a:solidFill>
            <a:prstDash val="solid"/>
          </a:ln>
        </p:spPr>
        <p:txBody>
          <a:bodyPr/>
          <a:p/>
        </p:txBody>
      </p:sp>
      <p:sp>
        <p:nvSpPr>
          <p:cNvPr id="15" name="Text 13"/>
          <p:cNvSpPr/>
          <p:nvPr/>
        </p:nvSpPr>
        <p:spPr>
          <a:xfrm>
            <a:off x="8366760" y="1828800"/>
            <a:ext cx="301752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Urmărirea de la distanță</a:t>
            </a:r>
            <a:endParaRPr lang="en-US" sz="1800" dirty="0"/>
          </a:p>
        </p:txBody>
      </p:sp>
      <p:sp>
        <p:nvSpPr>
          <p:cNvPr id="16" name="Shape 14"/>
          <p:cNvSpPr/>
          <p:nvPr/>
        </p:nvSpPr>
        <p:spPr>
          <a:xfrm>
            <a:off x="8366760" y="2331720"/>
            <a:ext cx="2011680" cy="329184"/>
          </a:xfrm>
          <a:prstGeom prst="roundRect">
            <a:avLst>
              <a:gd name="adj" fmla="val 50000"/>
            </a:avLst>
          </a:prstGeom>
          <a:solidFill>
            <a:srgbClr val="FFC24B"/>
          </a:solidFill>
          <a:ln w="12700">
            <a:solidFill>
              <a:srgbClr val="FFC24B"/>
            </a:solidFill>
            <a:prstDash val="solid"/>
          </a:ln>
        </p:spPr>
        <p:txBody>
          <a:bodyPr/>
          <a:p/>
        </p:txBody>
      </p:sp>
      <p:sp>
        <p:nvSpPr>
          <p:cNvPr id="17" name="Text 15"/>
          <p:cNvSpPr/>
          <p:nvPr/>
        </p:nvSpPr>
        <p:spPr>
          <a:xfrm>
            <a:off x="8366760" y="2331720"/>
            <a:ext cx="2011680" cy="329184"/>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LA MIJLOC</a:t>
            </a:r>
            <a:endParaRPr lang="en-US" sz="1300" dirty="0"/>
          </a:p>
        </p:txBody>
      </p:sp>
      <p:sp>
        <p:nvSpPr>
          <p:cNvPr id="18" name="Text 16"/>
          <p:cNvSpPr/>
          <p:nvPr/>
        </p:nvSpPr>
        <p:spPr>
          <a:xfrm>
            <a:off x="8366760" y="2880360"/>
            <a:ext cx="3017520" cy="2194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știe încotro vrea să meargă, dar nu știe dinainte ce va funcționa în județul lui.</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EXEMPLU ROMÂNESC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Finanțarea calității în spitale</a:t>
            </a:r>
            <a:endParaRPr lang="en-US" sz="3200" dirty="0"/>
          </a:p>
        </p:txBody>
      </p:sp>
      <p:sp>
        <p:nvSpPr>
          <p:cNvPr id="4" name="Text 2"/>
          <p:cNvSpPr/>
          <p:nvPr/>
        </p:nvSpPr>
        <p:spPr>
          <a:xfrm>
            <a:off x="594360" y="1463040"/>
            <a:ext cx="3108960" cy="1737360"/>
          </a:xfrm>
          <a:prstGeom prst="rect">
            <a:avLst/>
          </a:prstGeom>
          <a:noFill/>
          <a:ln/>
        </p:spPr>
        <p:txBody>
          <a:bodyPr wrap="square" lIns="0" tIns="0" rIns="0" bIns="0" rtlCol="0" anchor="ctr"/>
          <a:lstStyle/>
          <a:p>
            <a:pPr indent="0" marL="0">
              <a:buNone/>
            </a:pPr>
            <a:r>
              <a:rPr lang="en-US" sz="11000" b="1" dirty="0">
                <a:solidFill>
                  <a:srgbClr val="0E7C6B"/>
                </a:solidFill>
                <a:latin typeface="Palatino Linotype" pitchFamily="34" charset="0"/>
                <a:ea typeface="Palatino Linotype" pitchFamily="34" charset="-122"/>
                <a:cs typeface="Palatino Linotype" pitchFamily="34" charset="-120"/>
              </a:rPr>
              <a:t>25</a:t>
            </a:r>
            <a:endParaRPr lang="en-US" sz="11000" dirty="0"/>
          </a:p>
        </p:txBody>
      </p:sp>
      <p:sp>
        <p:nvSpPr>
          <p:cNvPr id="5" name="Text 3"/>
          <p:cNvSpPr/>
          <p:nvPr/>
        </p:nvSpPr>
        <p:spPr>
          <a:xfrm>
            <a:off x="594360" y="3200400"/>
            <a:ext cx="3291840" cy="10972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de indicatori naționali de calitate, adoptați de Ministerul Sănătății în 2023.</a:t>
            </a:r>
            <a:endParaRPr lang="en-US" sz="1600" dirty="0"/>
          </a:p>
        </p:txBody>
      </p:sp>
      <p:sp>
        <p:nvSpPr>
          <p:cNvPr id="6" name="Shape 4"/>
          <p:cNvSpPr/>
          <p:nvPr/>
        </p:nvSpPr>
        <p:spPr>
          <a:xfrm>
            <a:off x="4206240" y="1554480"/>
            <a:ext cx="27432" cy="2926080"/>
          </a:xfrm>
          <a:prstGeom prst="rect">
            <a:avLst/>
          </a:prstGeom>
          <a:solidFill>
            <a:srgbClr val="C9C6BE"/>
          </a:solidFill>
          <a:ln/>
        </p:spPr>
        <p:txBody>
          <a:bodyPr/>
          <a:p/>
        </p:txBody>
      </p:sp>
      <p:sp>
        <p:nvSpPr>
          <p:cNvPr id="7" name="Text 5"/>
          <p:cNvSpPr/>
          <p:nvPr/>
        </p:nvSpPr>
        <p:spPr>
          <a:xfrm>
            <a:off x="4526280" y="1508760"/>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2022</a:t>
            </a:r>
            <a:endParaRPr lang="en-US" sz="1700" dirty="0"/>
          </a:p>
        </p:txBody>
      </p:sp>
      <p:sp>
        <p:nvSpPr>
          <p:cNvPr id="8" name="Text 6"/>
          <p:cNvSpPr/>
          <p:nvPr/>
        </p:nvSpPr>
        <p:spPr>
          <a:xfrm>
            <a:off x="5486400" y="1508760"/>
            <a:ext cx="608076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mecanism finanțat prin Planul național de redresare și reziliență, cu asistența tehnică a OMS</a:t>
            </a:r>
            <a:endParaRPr lang="en-US" sz="1600" dirty="0"/>
          </a:p>
        </p:txBody>
      </p:sp>
      <p:sp>
        <p:nvSpPr>
          <p:cNvPr id="9" name="Text 7"/>
          <p:cNvSpPr/>
          <p:nvPr/>
        </p:nvSpPr>
        <p:spPr>
          <a:xfrm>
            <a:off x="4526280" y="2258568"/>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2023</a:t>
            </a:r>
            <a:endParaRPr lang="en-US" sz="1700" dirty="0"/>
          </a:p>
        </p:txBody>
      </p:sp>
      <p:sp>
        <p:nvSpPr>
          <p:cNvPr id="10" name="Text 8"/>
          <p:cNvSpPr/>
          <p:nvPr/>
        </p:nvSpPr>
        <p:spPr>
          <a:xfrm>
            <a:off x="5486400" y="2258568"/>
            <a:ext cx="608076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setul național de indicatori</a:t>
            </a:r>
            <a:endParaRPr lang="en-US" sz="1600" dirty="0"/>
          </a:p>
        </p:txBody>
      </p:sp>
      <p:sp>
        <p:nvSpPr>
          <p:cNvPr id="11" name="Text 9"/>
          <p:cNvSpPr/>
          <p:nvPr/>
        </p:nvSpPr>
        <p:spPr>
          <a:xfrm>
            <a:off x="4526280" y="3008376"/>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apoi</a:t>
            </a:r>
            <a:endParaRPr lang="en-US" sz="1700" dirty="0"/>
          </a:p>
        </p:txBody>
      </p:sp>
      <p:sp>
        <p:nvSpPr>
          <p:cNvPr id="12" name="Text 10"/>
          <p:cNvSpPr/>
          <p:nvPr/>
        </p:nvSpPr>
        <p:spPr>
          <a:xfrm>
            <a:off x="5486400" y="3008376"/>
            <a:ext cx="608076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testare în șase spitale</a:t>
            </a:r>
            <a:endParaRPr lang="en-US" sz="1600" dirty="0"/>
          </a:p>
        </p:txBody>
      </p:sp>
      <p:sp>
        <p:nvSpPr>
          <p:cNvPr id="13" name="Text 11"/>
          <p:cNvSpPr/>
          <p:nvPr/>
        </p:nvSpPr>
        <p:spPr>
          <a:xfrm>
            <a:off x="4526280" y="3758184"/>
            <a:ext cx="91440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acum</a:t>
            </a:r>
            <a:endParaRPr lang="en-US" sz="1700" dirty="0"/>
          </a:p>
        </p:txBody>
      </p:sp>
      <p:sp>
        <p:nvSpPr>
          <p:cNvPr id="14" name="Text 12"/>
          <p:cNvSpPr/>
          <p:nvPr/>
        </p:nvSpPr>
        <p:spPr>
          <a:xfrm>
            <a:off x="5486400" y="3758184"/>
            <a:ext cx="608076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extindere la spitalele de stat care doresc să participe</a:t>
            </a:r>
            <a:endParaRPr lang="en-US" sz="1600" dirty="0"/>
          </a:p>
        </p:txBody>
      </p:sp>
      <p:sp>
        <p:nvSpPr>
          <p:cNvPr id="15" name="Shape 13"/>
          <p:cNvSpPr/>
          <p:nvPr/>
        </p:nvSpPr>
        <p:spPr>
          <a:xfrm>
            <a:off x="594360" y="4846320"/>
            <a:ext cx="5394960" cy="329184"/>
          </a:xfrm>
          <a:prstGeom prst="roundRect">
            <a:avLst>
              <a:gd name="adj" fmla="val 50000"/>
            </a:avLst>
          </a:prstGeom>
          <a:solidFill>
            <a:srgbClr val="FF4757"/>
          </a:solidFill>
          <a:ln w="12700">
            <a:solidFill>
              <a:srgbClr val="FF4757"/>
            </a:solidFill>
            <a:prstDash val="solid"/>
          </a:ln>
        </p:spPr>
        <p:txBody>
          <a:bodyPr/>
          <a:p/>
        </p:txBody>
      </p:sp>
      <p:sp>
        <p:nvSpPr>
          <p:cNvPr id="16" name="Text 14"/>
          <p:cNvSpPr/>
          <p:nvPr/>
        </p:nvSpPr>
        <p:spPr>
          <a:xfrm>
            <a:off x="594360" y="4846320"/>
            <a:ext cx="539496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Direcția, stabilită dinainte: harta</a:t>
            </a:r>
            <a:endParaRPr lang="en-US" sz="1500" dirty="0"/>
          </a:p>
        </p:txBody>
      </p:sp>
      <p:sp>
        <p:nvSpPr>
          <p:cNvPr id="17" name="Shape 15"/>
          <p:cNvSpPr/>
          <p:nvPr/>
        </p:nvSpPr>
        <p:spPr>
          <a:xfrm>
            <a:off x="6172200" y="4846320"/>
            <a:ext cx="5394960" cy="329184"/>
          </a:xfrm>
          <a:prstGeom prst="roundRect">
            <a:avLst>
              <a:gd name="adj" fmla="val 50000"/>
            </a:avLst>
          </a:prstGeom>
          <a:solidFill>
            <a:srgbClr val="27D3BE"/>
          </a:solidFill>
          <a:ln w="12700">
            <a:solidFill>
              <a:srgbClr val="27D3BE"/>
            </a:solidFill>
            <a:prstDash val="solid"/>
          </a:ln>
        </p:spPr>
        <p:txBody>
          <a:bodyPr/>
          <a:p/>
        </p:txBody>
      </p:sp>
      <p:sp>
        <p:nvSpPr>
          <p:cNvPr id="18" name="Text 16"/>
          <p:cNvSpPr/>
          <p:nvPr/>
        </p:nvSpPr>
        <p:spPr>
          <a:xfrm>
            <a:off x="6172200" y="4846320"/>
            <a:ext cx="539496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Aplicarea, învățată pe parcurs: busola</a:t>
            </a:r>
            <a:endParaRPr lang="en-US" sz="15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Country Health Profile 2025: Romania.</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trafic_ora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Traficul unui oraș: nimeni nu dirijează fiecare mișcare</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ProtoplasmaKid · CC BY-SA 4.0 · Wikimedia Commons</a:t>
            </a:r>
            <a:endParaRPr lang="en-US" sz="850" dirty="0"/>
          </a:p>
        </p:txBody>
      </p:sp>
      <p:sp>
        <p:nvSpPr>
          <p:cNvPr id="6" name="Text 3"/>
          <p:cNvSpPr/>
          <p:nvPr/>
        </p:nvSpPr>
        <p:spPr>
          <a:xfrm>
            <a:off x="594360" y="347472"/>
            <a:ext cx="58521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SPITALUL NU ESTE UN CEAS</a:t>
            </a:r>
            <a:endParaRPr lang="en-US" sz="1300" dirty="0"/>
          </a:p>
        </p:txBody>
      </p:sp>
      <p:sp>
        <p:nvSpPr>
          <p:cNvPr id="7" name="Text 4"/>
          <p:cNvSpPr/>
          <p:nvPr/>
        </p:nvSpPr>
        <p:spPr>
          <a:xfrm>
            <a:off x="594360" y="731520"/>
            <a:ext cx="585216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ceas sau un oraș?</a:t>
            </a:r>
            <a:endParaRPr lang="en-US" sz="3200" dirty="0"/>
          </a:p>
        </p:txBody>
      </p:sp>
      <p:pic>
        <p:nvPicPr>
          <p:cNvPr id="8" name="Image 1" descr="/Users/adrianpana/Downloads/UMF_Cluj_SP/Materiale SP/Atelier_didactic/discipline/UB_MSSS/active/img/C01_mecanism_ceas.jpg">    </p:cNvPr>
          <p:cNvPicPr>
            <a:picLocks noChangeAspect="1"/>
          </p:cNvPicPr>
          <p:nvPr/>
        </p:nvPicPr>
        <p:blipFill>
          <a:blip r:embed="rId2"/>
          <a:stretch>
            <a:fillRect/>
          </a:stretch>
        </p:blipFill>
        <p:spPr>
          <a:xfrm>
            <a:off x="594360" y="1697355"/>
            <a:ext cx="2468880" cy="1543050"/>
          </a:xfrm>
          <a:prstGeom prst="rect">
            <a:avLst/>
          </a:prstGeom>
        </p:spPr>
      </p:pic>
      <p:sp>
        <p:nvSpPr>
          <p:cNvPr id="9" name="Text 5"/>
          <p:cNvSpPr/>
          <p:nvPr/>
        </p:nvSpPr>
        <p:spPr>
          <a:xfrm>
            <a:off x="594360" y="3276981"/>
            <a:ext cx="292608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Sursa: foto Emdx · CC BY-SA 3.0 · Wikimedia Commons</a:t>
            </a:r>
            <a:endParaRPr lang="en-US" sz="850" dirty="0"/>
          </a:p>
        </p:txBody>
      </p:sp>
      <p:sp>
        <p:nvSpPr>
          <p:cNvPr id="10" name="Text 6"/>
          <p:cNvSpPr/>
          <p:nvPr/>
        </p:nvSpPr>
        <p:spPr>
          <a:xfrm>
            <a:off x="3291840" y="1600200"/>
            <a:ext cx="3154680" cy="17373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Ceasul: o rotiță stricată se înlocuiește, iar mișcarea întregului se poate prevedea exact.</a:t>
            </a:r>
            <a:endParaRPr lang="en-US" sz="1600" dirty="0"/>
          </a:p>
        </p:txBody>
      </p:sp>
      <p:sp>
        <p:nvSpPr>
          <p:cNvPr id="11" name="Text 7"/>
          <p:cNvSpPr/>
          <p:nvPr/>
        </p:nvSpPr>
        <p:spPr>
          <a:xfrm>
            <a:off x="594360" y="3703320"/>
            <a:ext cx="5852160" cy="10972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seamănă cu traficul: oameni liberi să acționeze în moduri nu întotdeauna previzibile, ale căror acțiuni sunt legate între ele.</a:t>
            </a:r>
            <a:endParaRPr lang="en-US" sz="1700" dirty="0"/>
          </a:p>
        </p:txBody>
      </p:sp>
      <p:sp>
        <p:nvSpPr>
          <p:cNvPr id="12" name="Text 8"/>
          <p:cNvSpPr/>
          <p:nvPr/>
        </p:nvSpPr>
        <p:spPr>
          <a:xfrm>
            <a:off x="594360" y="4892040"/>
            <a:ext cx="5852160" cy="73152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Un sistem viu, care se adaptează continuu. Surprizele sunt permanente.</a:t>
            </a:r>
            <a:endParaRPr lang="en-US" sz="1800" dirty="0"/>
          </a:p>
        </p:txBody>
      </p:sp>
      <p:sp>
        <p:nvSpPr>
          <p:cNvPr id="13" name="Text 9"/>
          <p:cNvSpPr/>
          <p:nvPr/>
        </p:nvSpPr>
        <p:spPr>
          <a:xfrm>
            <a:off x="594360" y="603504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Plsek și Greenhalgh, BMJ, 2001 (o idee apropiată la Ginter, Duncan și Swayne, 2018).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 DECIZIE LUATĂ ÎNTR-UN SINGUR LOC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Cine altcineva simte efectul?</a:t>
            </a:r>
            <a:endParaRPr lang="en-US" sz="3200" dirty="0"/>
          </a:p>
        </p:txBody>
      </p:sp>
      <p:sp>
        <p:nvSpPr>
          <p:cNvPr id="4" name="Shape 2"/>
          <p:cNvSpPr/>
          <p:nvPr/>
        </p:nvSpPr>
        <p:spPr>
          <a:xfrm flipH="1" flipV="1">
            <a:off x="3635654" y="2555748"/>
            <a:ext cx="704088" cy="251460"/>
          </a:xfrm>
          <a:prstGeom prst="line">
            <a:avLst/>
          </a:prstGeom>
          <a:noFill/>
          <a:ln w="25400">
            <a:solidFill>
              <a:srgbClr val="8E94A8"/>
            </a:solidFill>
            <a:prstDash val="solid"/>
            <a:tailEnd type="triangle"/>
          </a:ln>
        </p:spPr>
        <p:txBody>
          <a:bodyPr/>
          <a:p/>
        </p:txBody>
      </p:sp>
      <p:sp>
        <p:nvSpPr>
          <p:cNvPr id="5" name="Shape 3"/>
          <p:cNvSpPr/>
          <p:nvPr/>
        </p:nvSpPr>
        <p:spPr>
          <a:xfrm flipV="1">
            <a:off x="7801051" y="2555748"/>
            <a:ext cx="695706" cy="251460"/>
          </a:xfrm>
          <a:prstGeom prst="line">
            <a:avLst/>
          </a:prstGeom>
          <a:noFill/>
          <a:ln w="25400">
            <a:solidFill>
              <a:srgbClr val="8E94A8"/>
            </a:solidFill>
            <a:prstDash val="solid"/>
            <a:tailEnd type="triangle"/>
          </a:ln>
        </p:spPr>
        <p:txBody>
          <a:bodyPr/>
          <a:p/>
        </p:txBody>
      </p:sp>
      <p:sp>
        <p:nvSpPr>
          <p:cNvPr id="6" name="Shape 4"/>
          <p:cNvSpPr/>
          <p:nvPr/>
        </p:nvSpPr>
        <p:spPr>
          <a:xfrm flipH="1">
            <a:off x="3832602" y="4018832"/>
            <a:ext cx="342548" cy="106027"/>
          </a:xfrm>
          <a:prstGeom prst="line">
            <a:avLst/>
          </a:prstGeom>
          <a:noFill/>
          <a:ln w="25400">
            <a:solidFill>
              <a:srgbClr val="8E94A8"/>
            </a:solidFill>
            <a:prstDash val="solid"/>
            <a:tailEnd type="triangle"/>
          </a:ln>
        </p:spPr>
        <p:txBody>
          <a:bodyPr/>
          <a:p/>
        </p:txBody>
      </p:sp>
      <p:sp>
        <p:nvSpPr>
          <p:cNvPr id="7" name="Shape 5"/>
          <p:cNvSpPr/>
          <p:nvPr/>
        </p:nvSpPr>
        <p:spPr>
          <a:xfrm>
            <a:off x="7985455" y="4025652"/>
            <a:ext cx="316699" cy="99207"/>
          </a:xfrm>
          <a:prstGeom prst="line">
            <a:avLst/>
          </a:prstGeom>
          <a:noFill/>
          <a:ln w="25400">
            <a:solidFill>
              <a:srgbClr val="8E94A8"/>
            </a:solidFill>
            <a:prstDash val="solid"/>
            <a:tailEnd type="triangle"/>
          </a:ln>
        </p:spPr>
        <p:txBody>
          <a:bodyPr/>
          <a:p/>
        </p:txBody>
      </p:sp>
      <p:sp>
        <p:nvSpPr>
          <p:cNvPr id="8" name="Shape 6"/>
          <p:cNvSpPr/>
          <p:nvPr/>
        </p:nvSpPr>
        <p:spPr>
          <a:xfrm flipH="1">
            <a:off x="5951493" y="4058107"/>
            <a:ext cx="63045" cy="598932"/>
          </a:xfrm>
          <a:prstGeom prst="line">
            <a:avLst/>
          </a:prstGeom>
          <a:noFill/>
          <a:ln w="25400">
            <a:solidFill>
              <a:srgbClr val="8E94A8"/>
            </a:solidFill>
            <a:prstDash val="solid"/>
            <a:tailEnd type="triangle"/>
          </a:ln>
        </p:spPr>
        <p:txBody>
          <a:bodyPr/>
          <a:p/>
        </p:txBody>
      </p:sp>
      <p:sp>
        <p:nvSpPr>
          <p:cNvPr id="9" name="Shape 7"/>
          <p:cNvSpPr/>
          <p:nvPr/>
        </p:nvSpPr>
        <p:spPr>
          <a:xfrm>
            <a:off x="594360" y="1600200"/>
            <a:ext cx="3291840" cy="914400"/>
          </a:xfrm>
          <a:prstGeom prst="roundRect">
            <a:avLst>
              <a:gd name="adj" fmla="val 9000"/>
            </a:avLst>
          </a:prstGeom>
          <a:solidFill>
            <a:srgbClr val="272A38"/>
          </a:solidFill>
          <a:ln w="12700">
            <a:solidFill>
              <a:srgbClr val="272A38"/>
            </a:solidFill>
            <a:prstDash val="solid"/>
          </a:ln>
        </p:spPr>
        <p:txBody>
          <a:bodyPr/>
          <a:p/>
        </p:txBody>
      </p:sp>
      <p:sp>
        <p:nvSpPr>
          <p:cNvPr id="10" name="Text 8"/>
          <p:cNvSpPr/>
          <p:nvPr/>
        </p:nvSpPr>
        <p:spPr>
          <a:xfrm>
            <a:off x="777240" y="1600200"/>
            <a:ext cx="29260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Urgențele</a:t>
            </a:r>
            <a:endParaRPr lang="en-US" sz="1600" dirty="0"/>
          </a:p>
        </p:txBody>
      </p:sp>
      <p:sp>
        <p:nvSpPr>
          <p:cNvPr id="11" name="Shape 9"/>
          <p:cNvSpPr/>
          <p:nvPr/>
        </p:nvSpPr>
        <p:spPr>
          <a:xfrm>
            <a:off x="8229600" y="1600200"/>
            <a:ext cx="3291840" cy="914400"/>
          </a:xfrm>
          <a:prstGeom prst="roundRect">
            <a:avLst>
              <a:gd name="adj" fmla="val 9000"/>
            </a:avLst>
          </a:prstGeom>
          <a:solidFill>
            <a:srgbClr val="272A38"/>
          </a:solidFill>
          <a:ln w="12700">
            <a:solidFill>
              <a:srgbClr val="272A38"/>
            </a:solidFill>
            <a:prstDash val="solid"/>
          </a:ln>
        </p:spPr>
        <p:txBody>
          <a:bodyPr/>
          <a:p/>
        </p:txBody>
      </p:sp>
      <p:sp>
        <p:nvSpPr>
          <p:cNvPr id="12" name="Text 10"/>
          <p:cNvSpPr/>
          <p:nvPr/>
        </p:nvSpPr>
        <p:spPr>
          <a:xfrm>
            <a:off x="8412480" y="1600200"/>
            <a:ext cx="29260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Medicul de familie</a:t>
            </a:r>
            <a:endParaRPr lang="en-US" sz="1600" dirty="0"/>
          </a:p>
        </p:txBody>
      </p:sp>
      <p:sp>
        <p:nvSpPr>
          <p:cNvPr id="13" name="Shape 11"/>
          <p:cNvSpPr/>
          <p:nvPr/>
        </p:nvSpPr>
        <p:spPr>
          <a:xfrm>
            <a:off x="594360" y="4160520"/>
            <a:ext cx="3291840" cy="914400"/>
          </a:xfrm>
          <a:prstGeom prst="roundRect">
            <a:avLst>
              <a:gd name="adj" fmla="val 9000"/>
            </a:avLst>
          </a:prstGeom>
          <a:solidFill>
            <a:srgbClr val="272A38"/>
          </a:solidFill>
          <a:ln w="12700">
            <a:solidFill>
              <a:srgbClr val="272A38"/>
            </a:solidFill>
            <a:prstDash val="solid"/>
          </a:ln>
        </p:spPr>
        <p:txBody>
          <a:bodyPr/>
          <a:p/>
        </p:txBody>
      </p:sp>
      <p:sp>
        <p:nvSpPr>
          <p:cNvPr id="14" name="Text 12"/>
          <p:cNvSpPr/>
          <p:nvPr/>
        </p:nvSpPr>
        <p:spPr>
          <a:xfrm>
            <a:off x="777240" y="4160520"/>
            <a:ext cx="29260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Clinica privată</a:t>
            </a:r>
            <a:endParaRPr lang="en-US" sz="1600" dirty="0"/>
          </a:p>
        </p:txBody>
      </p:sp>
      <p:sp>
        <p:nvSpPr>
          <p:cNvPr id="15" name="Shape 13"/>
          <p:cNvSpPr/>
          <p:nvPr/>
        </p:nvSpPr>
        <p:spPr>
          <a:xfrm>
            <a:off x="8229600" y="4160520"/>
            <a:ext cx="3291840" cy="914400"/>
          </a:xfrm>
          <a:prstGeom prst="roundRect">
            <a:avLst>
              <a:gd name="adj" fmla="val 9000"/>
            </a:avLst>
          </a:prstGeom>
          <a:solidFill>
            <a:srgbClr val="272A38"/>
          </a:solidFill>
          <a:ln w="12700">
            <a:solidFill>
              <a:srgbClr val="272A38"/>
            </a:solidFill>
            <a:prstDash val="solid"/>
          </a:ln>
        </p:spPr>
        <p:txBody>
          <a:bodyPr/>
          <a:p/>
        </p:txBody>
      </p:sp>
      <p:sp>
        <p:nvSpPr>
          <p:cNvPr id="16" name="Text 14"/>
          <p:cNvSpPr/>
          <p:nvPr/>
        </p:nvSpPr>
        <p:spPr>
          <a:xfrm>
            <a:off x="8412480" y="4160520"/>
            <a:ext cx="29260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Casa de asigurări plătește altfel</a:t>
            </a:r>
            <a:endParaRPr lang="en-US" sz="1600" dirty="0"/>
          </a:p>
        </p:txBody>
      </p:sp>
      <p:sp>
        <p:nvSpPr>
          <p:cNvPr id="17" name="Shape 15"/>
          <p:cNvSpPr/>
          <p:nvPr/>
        </p:nvSpPr>
        <p:spPr>
          <a:xfrm>
            <a:off x="4251960" y="4709160"/>
            <a:ext cx="3291840" cy="914400"/>
          </a:xfrm>
          <a:prstGeom prst="roundRect">
            <a:avLst>
              <a:gd name="adj" fmla="val 9000"/>
            </a:avLst>
          </a:prstGeom>
          <a:solidFill>
            <a:srgbClr val="272A38"/>
          </a:solidFill>
          <a:ln w="12700">
            <a:solidFill>
              <a:srgbClr val="272A38"/>
            </a:solidFill>
            <a:prstDash val="solid"/>
          </a:ln>
        </p:spPr>
        <p:txBody>
          <a:bodyPr/>
          <a:p/>
        </p:txBody>
      </p:sp>
      <p:sp>
        <p:nvSpPr>
          <p:cNvPr id="18" name="Text 16"/>
          <p:cNvSpPr/>
          <p:nvPr/>
        </p:nvSpPr>
        <p:spPr>
          <a:xfrm>
            <a:off x="4434840" y="4709160"/>
            <a:ext cx="292608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Personalul: unii se adaptează, alții pleacă</a:t>
            </a:r>
            <a:endParaRPr lang="en-US" sz="1600" dirty="0"/>
          </a:p>
        </p:txBody>
      </p:sp>
      <p:sp>
        <p:nvSpPr>
          <p:cNvPr id="19" name="Shape 17"/>
          <p:cNvSpPr/>
          <p:nvPr/>
        </p:nvSpPr>
        <p:spPr>
          <a:xfrm>
            <a:off x="4251960" y="2834640"/>
            <a:ext cx="3657600" cy="1188720"/>
          </a:xfrm>
          <a:prstGeom prst="roundRect">
            <a:avLst>
              <a:gd name="adj" fmla="val 6923"/>
            </a:avLst>
          </a:prstGeom>
          <a:solidFill>
            <a:srgbClr val="FF4757"/>
          </a:solidFill>
          <a:ln w="12700">
            <a:solidFill>
              <a:srgbClr val="FF4757"/>
            </a:solidFill>
            <a:prstDash val="solid"/>
          </a:ln>
        </p:spPr>
        <p:txBody>
          <a:bodyPr/>
          <a:p/>
        </p:txBody>
      </p:sp>
      <p:sp>
        <p:nvSpPr>
          <p:cNvPr id="20" name="Text 18"/>
          <p:cNvSpPr/>
          <p:nvPr/>
        </p:nvSpPr>
        <p:spPr>
          <a:xfrm>
            <a:off x="4434840" y="2834640"/>
            <a:ext cx="3291840" cy="1188720"/>
          </a:xfrm>
          <a:prstGeom prst="rect">
            <a:avLst/>
          </a:prstGeom>
          <a:noFill/>
          <a:ln/>
        </p:spPr>
        <p:txBody>
          <a:bodyPr wrap="square" lIns="0" tIns="0" rIns="0" bIns="0" rtlCol="0" anchor="ctr"/>
          <a:lstStyle/>
          <a:p>
            <a:pPr algn="ctr" indent="0" marL="0">
              <a:buNone/>
            </a:pPr>
            <a:r>
              <a:rPr lang="en-US" sz="1800" b="1" dirty="0">
                <a:solidFill>
                  <a:srgbClr val="2E060B"/>
                </a:solidFill>
                <a:latin typeface="Palatino Linotype" pitchFamily="34" charset="0"/>
                <a:ea typeface="Palatino Linotype" pitchFamily="34" charset="-122"/>
                <a:cs typeface="Palatino Linotype" pitchFamily="34" charset="-120"/>
              </a:rPr>
              <a:t>O secție cu paturi goale devine spitalizare de zi</a:t>
            </a:r>
            <a:endParaRPr lang="en-US" sz="1800" dirty="0"/>
          </a:p>
        </p:txBody>
      </p:sp>
      <p:sp>
        <p:nvSpPr>
          <p:cNvPr id="21" name="Text 19"/>
          <p:cNvSpPr/>
          <p:nvPr/>
        </p:nvSpPr>
        <p:spPr>
          <a:xfrm>
            <a:off x="594360" y="580644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Decizia pare internă. Efectele apar în locuri pe care managera nu le controlează.</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005840"/>
            <a:ext cx="10789920" cy="24688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Ca mai puțini pacienți vârstnici să ajungă la urgențe: de cine depinde reușita, în afară de spital?</a:t>
            </a:r>
            <a:endParaRPr lang="en-US" sz="3600" dirty="0"/>
          </a:p>
        </p:txBody>
      </p:sp>
      <p:sp>
        <p:nvSpPr>
          <p:cNvPr id="6" name="Shape 4"/>
          <p:cNvSpPr/>
          <p:nvPr/>
        </p:nvSpPr>
        <p:spPr>
          <a:xfrm>
            <a:off x="594360" y="3703320"/>
            <a:ext cx="1280160" cy="36576"/>
          </a:xfrm>
          <a:prstGeom prst="rect">
            <a:avLst/>
          </a:prstGeom>
          <a:solidFill>
            <a:srgbClr val="27D3BE"/>
          </a:solidFill>
          <a:ln/>
        </p:spPr>
        <p:txBody>
          <a:bodyPr/>
          <a:p/>
        </p:txBody>
      </p:sp>
      <p:sp>
        <p:nvSpPr>
          <p:cNvPr id="7" name="Text 5"/>
          <p:cNvSpPr/>
          <p:nvPr/>
        </p:nvSpPr>
        <p:spPr>
          <a:xfrm>
            <a:off x="594360" y="3977640"/>
            <a:ext cx="10515600" cy="914400"/>
          </a:xfrm>
          <a:prstGeom prst="rect">
            <a:avLst/>
          </a:prstGeom>
          <a:noFill/>
          <a:ln/>
        </p:spPr>
        <p:txBody>
          <a:bodyPr wrap="square" lIns="0" tIns="0" rIns="0" bIns="0" rtlCol="0" anchor="t"/>
          <a:lstStyle/>
          <a:p>
            <a:pPr indent="0" marL="0">
              <a:buNone/>
            </a:pPr>
            <a:r>
              <a:rPr lang="en-US" sz="2100" dirty="0">
                <a:solidFill>
                  <a:srgbClr val="959BB0"/>
                </a:solidFill>
                <a:latin typeface="Palatino Linotype" pitchFamily="34" charset="0"/>
                <a:ea typeface="Palatino Linotype" pitchFamily="34" charset="-122"/>
                <a:cs typeface="Palatino Linotype" pitchFamily="34" charset="-120"/>
              </a:rPr>
              <a:t>Două minute de discuție. Scrieți pe Mentimeter numele unei singure persoane sau instituții.</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NICIUNUL NU ESTE SUB AUTORITATEA MANAGEREI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Aliați în afara zidurilor spitalului</a:t>
            </a:r>
            <a:endParaRPr lang="en-US" sz="3200" dirty="0"/>
          </a:p>
        </p:txBody>
      </p:sp>
      <p:sp>
        <p:nvSpPr>
          <p:cNvPr id="4" name="Shape 2"/>
          <p:cNvSpPr/>
          <p:nvPr/>
        </p:nvSpPr>
        <p:spPr>
          <a:xfrm>
            <a:off x="594360" y="160020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5" name="Text 3"/>
          <p:cNvSpPr/>
          <p:nvPr/>
        </p:nvSpPr>
        <p:spPr>
          <a:xfrm>
            <a:off x="594360" y="16002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medicul de familie</a:t>
            </a:r>
            <a:endParaRPr lang="en-US" sz="1500" dirty="0"/>
          </a:p>
        </p:txBody>
      </p:sp>
      <p:sp>
        <p:nvSpPr>
          <p:cNvPr id="6" name="Shape 4"/>
          <p:cNvSpPr/>
          <p:nvPr/>
        </p:nvSpPr>
        <p:spPr>
          <a:xfrm>
            <a:off x="4343400" y="1600200"/>
            <a:ext cx="3520440" cy="329184"/>
          </a:xfrm>
          <a:prstGeom prst="roundRect">
            <a:avLst>
              <a:gd name="adj" fmla="val 50000"/>
            </a:avLst>
          </a:prstGeom>
          <a:solidFill>
            <a:srgbClr val="F9F8F5"/>
          </a:solidFill>
          <a:ln w="12700">
            <a:solidFill>
              <a:srgbClr val="F9F8F5"/>
            </a:solidFill>
            <a:prstDash val="solid"/>
          </a:ln>
        </p:spPr>
        <p:txBody>
          <a:bodyPr/>
          <a:p/>
        </p:txBody>
      </p:sp>
      <p:sp>
        <p:nvSpPr>
          <p:cNvPr id="7" name="Text 5"/>
          <p:cNvSpPr/>
          <p:nvPr/>
        </p:nvSpPr>
        <p:spPr>
          <a:xfrm>
            <a:off x="4343400" y="16002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familia pacientului</a:t>
            </a:r>
            <a:endParaRPr lang="en-US" sz="1500" dirty="0"/>
          </a:p>
        </p:txBody>
      </p:sp>
      <p:sp>
        <p:nvSpPr>
          <p:cNvPr id="8" name="Shape 6"/>
          <p:cNvSpPr/>
          <p:nvPr/>
        </p:nvSpPr>
        <p:spPr>
          <a:xfrm>
            <a:off x="8092440" y="160020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9" name="Text 7"/>
          <p:cNvSpPr/>
          <p:nvPr/>
        </p:nvSpPr>
        <p:spPr>
          <a:xfrm>
            <a:off x="8092440" y="16002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ambulatoriul de specialitate</a:t>
            </a:r>
            <a:endParaRPr lang="en-US" sz="1500" dirty="0"/>
          </a:p>
        </p:txBody>
      </p:sp>
      <p:sp>
        <p:nvSpPr>
          <p:cNvPr id="10" name="Shape 8"/>
          <p:cNvSpPr/>
          <p:nvPr/>
        </p:nvSpPr>
        <p:spPr>
          <a:xfrm>
            <a:off x="594360" y="2057400"/>
            <a:ext cx="3520440" cy="329184"/>
          </a:xfrm>
          <a:prstGeom prst="roundRect">
            <a:avLst>
              <a:gd name="adj" fmla="val 50000"/>
            </a:avLst>
          </a:prstGeom>
          <a:solidFill>
            <a:srgbClr val="F9F8F5"/>
          </a:solidFill>
          <a:ln w="12700">
            <a:solidFill>
              <a:srgbClr val="F9F8F5"/>
            </a:solidFill>
            <a:prstDash val="solid"/>
          </a:ln>
        </p:spPr>
        <p:txBody>
          <a:bodyPr/>
          <a:p/>
        </p:txBody>
      </p:sp>
      <p:sp>
        <p:nvSpPr>
          <p:cNvPr id="11" name="Text 9"/>
          <p:cNvSpPr/>
          <p:nvPr/>
        </p:nvSpPr>
        <p:spPr>
          <a:xfrm>
            <a:off x="594360" y="20574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farmacia</a:t>
            </a:r>
            <a:endParaRPr lang="en-US" sz="1500" dirty="0"/>
          </a:p>
        </p:txBody>
      </p:sp>
      <p:sp>
        <p:nvSpPr>
          <p:cNvPr id="12" name="Shape 10"/>
          <p:cNvSpPr/>
          <p:nvPr/>
        </p:nvSpPr>
        <p:spPr>
          <a:xfrm>
            <a:off x="4343400" y="2057400"/>
            <a:ext cx="3520440" cy="329184"/>
          </a:xfrm>
          <a:prstGeom prst="roundRect">
            <a:avLst>
              <a:gd name="adj" fmla="val 50000"/>
            </a:avLst>
          </a:prstGeom>
          <a:solidFill>
            <a:srgbClr val="ECEAE4"/>
          </a:solidFill>
          <a:ln w="12700">
            <a:solidFill>
              <a:srgbClr val="ECEAE4"/>
            </a:solidFill>
            <a:prstDash val="solid"/>
          </a:ln>
        </p:spPr>
        <p:txBody>
          <a:bodyPr/>
          <a:p/>
        </p:txBody>
      </p:sp>
      <p:sp>
        <p:nvSpPr>
          <p:cNvPr id="13" name="Text 11"/>
          <p:cNvSpPr/>
          <p:nvPr/>
        </p:nvSpPr>
        <p:spPr>
          <a:xfrm>
            <a:off x="4343400" y="20574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îngrijirea la domiciliu</a:t>
            </a:r>
            <a:endParaRPr lang="en-US" sz="1500" dirty="0"/>
          </a:p>
        </p:txBody>
      </p:sp>
      <p:sp>
        <p:nvSpPr>
          <p:cNvPr id="14" name="Shape 12"/>
          <p:cNvSpPr/>
          <p:nvPr/>
        </p:nvSpPr>
        <p:spPr>
          <a:xfrm>
            <a:off x="8092440" y="2057400"/>
            <a:ext cx="3520440" cy="329184"/>
          </a:xfrm>
          <a:prstGeom prst="roundRect">
            <a:avLst>
              <a:gd name="adj" fmla="val 50000"/>
            </a:avLst>
          </a:prstGeom>
          <a:solidFill>
            <a:srgbClr val="F9F8F5"/>
          </a:solidFill>
          <a:ln w="12700">
            <a:solidFill>
              <a:srgbClr val="F9F8F5"/>
            </a:solidFill>
            <a:prstDash val="solid"/>
          </a:ln>
        </p:spPr>
        <p:txBody>
          <a:bodyPr/>
          <a:p/>
        </p:txBody>
      </p:sp>
      <p:sp>
        <p:nvSpPr>
          <p:cNvPr id="15" name="Text 13"/>
          <p:cNvSpPr/>
          <p:nvPr/>
        </p:nvSpPr>
        <p:spPr>
          <a:xfrm>
            <a:off x="8092440" y="2057400"/>
            <a:ext cx="3520440" cy="329184"/>
          </a:xfrm>
          <a:prstGeom prst="rect">
            <a:avLst/>
          </a:prstGeom>
          <a:noFill/>
          <a:ln/>
        </p:spPr>
        <p:txBody>
          <a:bodyPr wrap="square" lIns="0" tIns="0" rIns="0" bIns="0" rtlCol="0" anchor="ctr"/>
          <a:lstStyle/>
          <a:p>
            <a:pPr algn="ctr" indent="0" marL="0">
              <a:buNone/>
            </a:pPr>
            <a:r>
              <a:rPr lang="en-US" sz="1500" b="1" dirty="0">
                <a:solidFill>
                  <a:srgbClr val="0E7C6B"/>
                </a:solidFill>
                <a:latin typeface="Palatino Linotype" pitchFamily="34" charset="0"/>
                <a:ea typeface="Palatino Linotype" pitchFamily="34" charset="-122"/>
                <a:cs typeface="Palatino Linotype" pitchFamily="34" charset="-120"/>
              </a:rPr>
              <a:t>primăria</a:t>
            </a:r>
            <a:endParaRPr lang="en-US" sz="1500" dirty="0"/>
          </a:p>
        </p:txBody>
      </p:sp>
      <p:sp>
        <p:nvSpPr>
          <p:cNvPr id="16" name="Shape 14"/>
          <p:cNvSpPr/>
          <p:nvPr/>
        </p:nvSpPr>
        <p:spPr>
          <a:xfrm>
            <a:off x="594360" y="2743200"/>
            <a:ext cx="54864" cy="1234440"/>
          </a:xfrm>
          <a:prstGeom prst="rect">
            <a:avLst/>
          </a:prstGeom>
          <a:solidFill>
            <a:srgbClr val="B02532"/>
          </a:solidFill>
          <a:ln w="12700">
            <a:solidFill>
              <a:srgbClr val="B02532"/>
            </a:solidFill>
            <a:prstDash val="solid"/>
          </a:ln>
        </p:spPr>
        <p:txBody>
          <a:bodyPr/>
          <a:p/>
        </p:txBody>
      </p:sp>
      <p:sp>
        <p:nvSpPr>
          <p:cNvPr id="17" name="Text 15"/>
          <p:cNvSpPr/>
          <p:nvPr/>
        </p:nvSpPr>
        <p:spPr>
          <a:xfrm>
            <a:off x="868680" y="2743200"/>
            <a:ext cx="10607040" cy="123444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Profilul de țară din 2025: medicii de familie au un rol redus în urmărirea bolilor cronice, iar sistemul a rămas centrat pe spital.</a:t>
            </a:r>
            <a:endParaRPr lang="en-US" sz="1800" dirty="0"/>
          </a:p>
        </p:txBody>
      </p:sp>
      <p:sp>
        <p:nvSpPr>
          <p:cNvPr id="18" name="Text 16"/>
          <p:cNvSpPr/>
          <p:nvPr/>
        </p:nvSpPr>
        <p:spPr>
          <a:xfrm>
            <a:off x="594360" y="4343400"/>
            <a:ext cx="10972800" cy="54864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Înainte de fiecare decizie mare: cine altcineva va simți efectul?</a:t>
            </a:r>
            <a:endParaRPr lang="en-US" sz="22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Country Health Profile 2025: Romania.</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11121A"/>
                </a:solidFill>
                <a:latin typeface="Palatino Linotype" pitchFamily="34" charset="0"/>
                <a:ea typeface="Palatino Linotype" pitchFamily="34" charset="-122"/>
                <a:cs typeface="Palatino Linotype" pitchFamily="34" charset="-120"/>
              </a:rPr>
              <a:t>Procesul strategic</a:t>
            </a:r>
            <a:endParaRPr lang="en-US" sz="3800" dirty="0"/>
          </a:p>
        </p:txBody>
      </p:sp>
      <p:sp>
        <p:nvSpPr>
          <p:cNvPr id="4" name="Text 2"/>
          <p:cNvSpPr/>
          <p:nvPr/>
        </p:nvSpPr>
        <p:spPr>
          <a:xfrm>
            <a:off x="594360" y="1463040"/>
            <a:ext cx="10972800" cy="731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Succesiunea de pași prin care o organizație își construiește și își conduce strategia: un drum cu patru întrebări.</a:t>
            </a:r>
            <a:endParaRPr lang="en-US" sz="1800" dirty="0"/>
          </a:p>
        </p:txBody>
      </p:sp>
      <p:sp>
        <p:nvSpPr>
          <p:cNvPr id="5" name="Shape 3"/>
          <p:cNvSpPr/>
          <p:nvPr/>
        </p:nvSpPr>
        <p:spPr>
          <a:xfrm>
            <a:off x="594360" y="2423160"/>
            <a:ext cx="2697480" cy="1143000"/>
          </a:xfrm>
          <a:prstGeom prst="chevron">
            <a:avLst/>
          </a:prstGeom>
          <a:solidFill>
            <a:srgbClr val="FF4757"/>
          </a:solidFill>
          <a:ln w="12700">
            <a:solidFill>
              <a:srgbClr val="F6F5F2"/>
            </a:solidFill>
            <a:prstDash val="solid"/>
          </a:ln>
        </p:spPr>
        <p:txBody>
          <a:bodyPr/>
          <a:p/>
        </p:txBody>
      </p:sp>
      <p:sp>
        <p:nvSpPr>
          <p:cNvPr id="6" name="Text 4"/>
          <p:cNvSpPr/>
          <p:nvPr/>
        </p:nvSpPr>
        <p:spPr>
          <a:xfrm>
            <a:off x="1005840" y="2423160"/>
            <a:ext cx="1920240" cy="1143000"/>
          </a:xfrm>
          <a:prstGeom prst="rect">
            <a:avLst/>
          </a:prstGeom>
          <a:noFill/>
          <a:ln/>
        </p:spPr>
        <p:txBody>
          <a:bodyPr wrap="square" lIns="0" tIns="0" rIns="0" bIns="0" rtlCol="0" anchor="ctr"/>
          <a:lstStyle/>
          <a:p>
            <a:pPr algn="ctr" indent="0" marL="0">
              <a:buNone/>
            </a:pPr>
            <a:r>
              <a:rPr lang="en-US" sz="1600" b="1" dirty="0">
                <a:solidFill>
                  <a:srgbClr val="2E060B"/>
                </a:solidFill>
                <a:latin typeface="Palatino Linotype" pitchFamily="34" charset="0"/>
                <a:ea typeface="Palatino Linotype" pitchFamily="34" charset="-122"/>
                <a:cs typeface="Palatino Linotype" pitchFamily="34" charset="-120"/>
              </a:rPr>
              <a:t>Unde suntem?</a:t>
            </a:r>
            <a:endParaRPr lang="en-US" sz="1600" dirty="0"/>
          </a:p>
        </p:txBody>
      </p:sp>
      <p:sp>
        <p:nvSpPr>
          <p:cNvPr id="7" name="Text 5"/>
          <p:cNvSpPr/>
          <p:nvPr/>
        </p:nvSpPr>
        <p:spPr>
          <a:xfrm>
            <a:off x="685800" y="3703320"/>
            <a:ext cx="2560320" cy="411480"/>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Analiza situației</a:t>
            </a:r>
            <a:endParaRPr lang="en-US" sz="1600" dirty="0"/>
          </a:p>
        </p:txBody>
      </p:sp>
      <p:sp>
        <p:nvSpPr>
          <p:cNvPr id="8" name="Text 6"/>
          <p:cNvSpPr/>
          <p:nvPr/>
        </p:nvSpPr>
        <p:spPr>
          <a:xfrm>
            <a:off x="685800" y="4114800"/>
            <a:ext cx="2560320" cy="73152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în sesiune: ce știți și ce nu știți</a:t>
            </a:r>
            <a:endParaRPr lang="en-US" sz="1400" dirty="0"/>
          </a:p>
        </p:txBody>
      </p:sp>
      <p:sp>
        <p:nvSpPr>
          <p:cNvPr id="9" name="Shape 7"/>
          <p:cNvSpPr/>
          <p:nvPr/>
        </p:nvSpPr>
        <p:spPr>
          <a:xfrm>
            <a:off x="3410712" y="2423160"/>
            <a:ext cx="2697480" cy="1143000"/>
          </a:xfrm>
          <a:prstGeom prst="chevron">
            <a:avLst/>
          </a:prstGeom>
          <a:solidFill>
            <a:srgbClr val="FFC24B"/>
          </a:solidFill>
          <a:ln w="12700">
            <a:solidFill>
              <a:srgbClr val="F6F5F2"/>
            </a:solidFill>
            <a:prstDash val="solid"/>
          </a:ln>
        </p:spPr>
        <p:txBody>
          <a:bodyPr/>
          <a:p/>
        </p:txBody>
      </p:sp>
      <p:sp>
        <p:nvSpPr>
          <p:cNvPr id="10" name="Text 8"/>
          <p:cNvSpPr/>
          <p:nvPr/>
        </p:nvSpPr>
        <p:spPr>
          <a:xfrm>
            <a:off x="3822192" y="2423160"/>
            <a:ext cx="1920240" cy="1143000"/>
          </a:xfrm>
          <a:prstGeom prst="rect">
            <a:avLst/>
          </a:prstGeom>
          <a:noFill/>
          <a:ln/>
        </p:spPr>
        <p:txBody>
          <a:bodyPr wrap="square" lIns="0" tIns="0" rIns="0" bIns="0" rtlCol="0" anchor="ctr"/>
          <a:lstStyle/>
          <a:p>
            <a:pPr algn="ctr" indent="0" marL="0">
              <a:buNone/>
            </a:pPr>
            <a:r>
              <a:rPr lang="en-US" sz="1600" b="1" dirty="0">
                <a:solidFill>
                  <a:srgbClr val="3D2A00"/>
                </a:solidFill>
                <a:latin typeface="Palatino Linotype" pitchFamily="34" charset="0"/>
                <a:ea typeface="Palatino Linotype" pitchFamily="34" charset="-122"/>
                <a:cs typeface="Palatino Linotype" pitchFamily="34" charset="-120"/>
              </a:rPr>
              <a:t>Încotro mergem?</a:t>
            </a:r>
            <a:endParaRPr lang="en-US" sz="1600" dirty="0"/>
          </a:p>
        </p:txBody>
      </p:sp>
      <p:sp>
        <p:nvSpPr>
          <p:cNvPr id="11" name="Text 9"/>
          <p:cNvSpPr/>
          <p:nvPr/>
        </p:nvSpPr>
        <p:spPr>
          <a:xfrm>
            <a:off x="3502152" y="3703320"/>
            <a:ext cx="2560320" cy="411480"/>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Formularea strategiei</a:t>
            </a:r>
            <a:endParaRPr lang="en-US" sz="1600" dirty="0"/>
          </a:p>
        </p:txBody>
      </p:sp>
      <p:sp>
        <p:nvSpPr>
          <p:cNvPr id="12" name="Text 10"/>
          <p:cNvSpPr/>
          <p:nvPr/>
        </p:nvSpPr>
        <p:spPr>
          <a:xfrm>
            <a:off x="3502152" y="4114800"/>
            <a:ext cx="2560320" cy="73152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în sesiune: ce note vă propuneți</a:t>
            </a:r>
            <a:endParaRPr lang="en-US" sz="1400" dirty="0"/>
          </a:p>
        </p:txBody>
      </p:sp>
      <p:sp>
        <p:nvSpPr>
          <p:cNvPr id="13" name="Shape 11"/>
          <p:cNvSpPr/>
          <p:nvPr/>
        </p:nvSpPr>
        <p:spPr>
          <a:xfrm>
            <a:off x="6227064" y="2423160"/>
            <a:ext cx="2697480" cy="1143000"/>
          </a:xfrm>
          <a:prstGeom prst="chevron">
            <a:avLst/>
          </a:prstGeom>
          <a:solidFill>
            <a:srgbClr val="27D3BE"/>
          </a:solidFill>
          <a:ln w="12700">
            <a:solidFill>
              <a:srgbClr val="F6F5F2"/>
            </a:solidFill>
            <a:prstDash val="solid"/>
          </a:ln>
        </p:spPr>
        <p:txBody>
          <a:bodyPr/>
          <a:p/>
        </p:txBody>
      </p:sp>
      <p:sp>
        <p:nvSpPr>
          <p:cNvPr id="14" name="Text 12"/>
          <p:cNvSpPr/>
          <p:nvPr/>
        </p:nvSpPr>
        <p:spPr>
          <a:xfrm>
            <a:off x="6638544" y="2423160"/>
            <a:ext cx="1920240" cy="1143000"/>
          </a:xfrm>
          <a:prstGeom prst="rect">
            <a:avLst/>
          </a:prstGeom>
          <a:noFill/>
          <a:ln/>
        </p:spPr>
        <p:txBody>
          <a:bodyPr wrap="square" lIns="0" tIns="0" rIns="0" bIns="0" rtlCol="0" anchor="ctr"/>
          <a:lstStyle/>
          <a:p>
            <a:pPr algn="ctr" indent="0" marL="0">
              <a:buNone/>
            </a:pPr>
            <a:r>
              <a:rPr lang="en-US" sz="1600" b="1" dirty="0">
                <a:solidFill>
                  <a:srgbClr val="073B34"/>
                </a:solidFill>
                <a:latin typeface="Palatino Linotype" pitchFamily="34" charset="0"/>
                <a:ea typeface="Palatino Linotype" pitchFamily="34" charset="-122"/>
                <a:cs typeface="Palatino Linotype" pitchFamily="34" charset="-120"/>
              </a:rPr>
              <a:t>Cum ajungem acolo?</a:t>
            </a:r>
            <a:endParaRPr lang="en-US" sz="1600" dirty="0"/>
          </a:p>
        </p:txBody>
      </p:sp>
      <p:sp>
        <p:nvSpPr>
          <p:cNvPr id="15" name="Text 13"/>
          <p:cNvSpPr/>
          <p:nvPr/>
        </p:nvSpPr>
        <p:spPr>
          <a:xfrm>
            <a:off x="6318504" y="3703320"/>
            <a:ext cx="2560320" cy="411480"/>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Implementarea</a:t>
            </a:r>
            <a:endParaRPr lang="en-US" sz="1600" dirty="0"/>
          </a:p>
        </p:txBody>
      </p:sp>
      <p:sp>
        <p:nvSpPr>
          <p:cNvPr id="16" name="Text 14"/>
          <p:cNvSpPr/>
          <p:nvPr/>
        </p:nvSpPr>
        <p:spPr>
          <a:xfrm>
            <a:off x="6318504" y="4114800"/>
            <a:ext cx="2560320" cy="73152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în sesiune: orarul</a:t>
            </a:r>
            <a:endParaRPr lang="en-US" sz="1400" dirty="0"/>
          </a:p>
        </p:txBody>
      </p:sp>
      <p:sp>
        <p:nvSpPr>
          <p:cNvPr id="17" name="Shape 15"/>
          <p:cNvSpPr/>
          <p:nvPr/>
        </p:nvSpPr>
        <p:spPr>
          <a:xfrm>
            <a:off x="9043416" y="2423160"/>
            <a:ext cx="2697480" cy="1143000"/>
          </a:xfrm>
          <a:prstGeom prst="chevron">
            <a:avLst/>
          </a:prstGeom>
          <a:solidFill>
            <a:srgbClr val="9B7EF7"/>
          </a:solidFill>
          <a:ln w="12700">
            <a:solidFill>
              <a:srgbClr val="F6F5F2"/>
            </a:solidFill>
            <a:prstDash val="solid"/>
          </a:ln>
        </p:spPr>
        <p:txBody>
          <a:bodyPr/>
          <a:p/>
        </p:txBody>
      </p:sp>
      <p:sp>
        <p:nvSpPr>
          <p:cNvPr id="18" name="Text 16"/>
          <p:cNvSpPr/>
          <p:nvPr/>
        </p:nvSpPr>
        <p:spPr>
          <a:xfrm>
            <a:off x="9454896" y="2423160"/>
            <a:ext cx="1920240" cy="1143000"/>
          </a:xfrm>
          <a:prstGeom prst="rect">
            <a:avLst/>
          </a:prstGeom>
          <a:noFill/>
          <a:ln/>
        </p:spPr>
        <p:txBody>
          <a:bodyPr wrap="square" lIns="0" tIns="0" rIns="0" bIns="0" rtlCol="0" anchor="ctr"/>
          <a:lstStyle/>
          <a:p>
            <a:pPr algn="ctr" indent="0" marL="0">
              <a:buNone/>
            </a:pPr>
            <a:r>
              <a:rPr lang="en-US" sz="1600" b="1" dirty="0">
                <a:solidFill>
                  <a:srgbClr val="1F1040"/>
                </a:solidFill>
                <a:latin typeface="Palatino Linotype" pitchFamily="34" charset="0"/>
                <a:ea typeface="Palatino Linotype" pitchFamily="34" charset="-122"/>
                <a:cs typeface="Palatino Linotype" pitchFamily="34" charset="-120"/>
              </a:rPr>
              <a:t>Ne-am abătut?</a:t>
            </a:r>
            <a:endParaRPr lang="en-US" sz="1600" dirty="0"/>
          </a:p>
        </p:txBody>
      </p:sp>
      <p:sp>
        <p:nvSpPr>
          <p:cNvPr id="19" name="Text 17"/>
          <p:cNvSpPr/>
          <p:nvPr/>
        </p:nvSpPr>
        <p:spPr>
          <a:xfrm>
            <a:off x="9134856" y="3703320"/>
            <a:ext cx="2560320" cy="411480"/>
          </a:xfrm>
          <a:prstGeom prst="rect">
            <a:avLst/>
          </a:prstGeom>
          <a:noFill/>
          <a:ln/>
        </p:spPr>
        <p:txBody>
          <a:bodyPr wrap="square" lIns="0" tIns="0" rIns="0" bIns="0" rtlCol="0" anchor="t"/>
          <a:lstStyle/>
          <a:p>
            <a:pPr algn="ctr" indent="0" marL="0">
              <a:buNone/>
            </a:pPr>
            <a:r>
              <a:rPr lang="en-US" sz="1600" b="1" dirty="0">
                <a:solidFill>
                  <a:srgbClr val="11121A"/>
                </a:solidFill>
                <a:latin typeface="Palatino Linotype" pitchFamily="34" charset="0"/>
                <a:ea typeface="Palatino Linotype" pitchFamily="34" charset="-122"/>
                <a:cs typeface="Palatino Linotype" pitchFamily="34" charset="-120"/>
              </a:rPr>
              <a:t>Controlul</a:t>
            </a:r>
            <a:endParaRPr lang="en-US" sz="1600" dirty="0"/>
          </a:p>
        </p:txBody>
      </p:sp>
      <p:sp>
        <p:nvSpPr>
          <p:cNvPr id="20" name="Text 18"/>
          <p:cNvSpPr/>
          <p:nvPr/>
        </p:nvSpPr>
        <p:spPr>
          <a:xfrm>
            <a:off x="9134856" y="4114800"/>
            <a:ext cx="2560320" cy="731520"/>
          </a:xfrm>
          <a:prstGeom prst="rect">
            <a:avLst/>
          </a:prstGeom>
          <a:noFill/>
          <a:ln/>
        </p:spPr>
        <p:txBody>
          <a:bodyPr wrap="square" lIns="0" tIns="0" rIns="0" bIns="0" rtlCol="0" anchor="t"/>
          <a:lstStyle/>
          <a:p>
            <a:pPr algn="ctr" indent="0" marL="0">
              <a:buNone/>
            </a:pPr>
            <a:r>
              <a:rPr lang="en-US" sz="1400" i="1" dirty="0">
                <a:solidFill>
                  <a:srgbClr val="585A64"/>
                </a:solidFill>
                <a:latin typeface="Palatino Linotype" pitchFamily="34" charset="0"/>
                <a:ea typeface="Palatino Linotype" pitchFamily="34" charset="-122"/>
                <a:cs typeface="Palatino Linotype" pitchFamily="34" charset="-120"/>
              </a:rPr>
              <a:t>în sesiune: verificarea de la sfârșitul săptămânii</a:t>
            </a:r>
            <a:endParaRPr lang="en-US" sz="14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1 · UNDE SUNTEM?</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Trei priviri, în trei direcții</a:t>
            </a:r>
            <a:endParaRPr lang="en-US" sz="3200" dirty="0"/>
          </a:p>
        </p:txBody>
      </p:sp>
      <p:sp>
        <p:nvSpPr>
          <p:cNvPr id="4" name="Shape 2"/>
          <p:cNvSpPr/>
          <p:nvPr/>
        </p:nvSpPr>
        <p:spPr>
          <a:xfrm>
            <a:off x="594360" y="1600200"/>
            <a:ext cx="3520440" cy="3429000"/>
          </a:xfrm>
          <a:prstGeom prst="roundRect">
            <a:avLst>
              <a:gd name="adj" fmla="val 2400"/>
            </a:avLst>
          </a:prstGeom>
          <a:solidFill>
            <a:srgbClr val="ECEAE4"/>
          </a:solidFill>
          <a:ln w="12700">
            <a:solidFill>
              <a:srgbClr val="ECEAE4"/>
            </a:solidFill>
            <a:prstDash val="solid"/>
          </a:ln>
        </p:spPr>
        <p:txBody>
          <a:bodyPr/>
          <a:p/>
        </p:txBody>
      </p:sp>
      <p:sp>
        <p:nvSpPr>
          <p:cNvPr id="5" name="Text 3"/>
          <p:cNvSpPr/>
          <p:nvPr/>
        </p:nvSpPr>
        <p:spPr>
          <a:xfrm>
            <a:off x="868680" y="1737360"/>
            <a:ext cx="301752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ÎN AFARĂ</a:t>
            </a:r>
            <a:endParaRPr lang="en-US" sz="1400" dirty="0"/>
          </a:p>
        </p:txBody>
      </p:sp>
      <p:sp>
        <p:nvSpPr>
          <p:cNvPr id="6" name="Text 4"/>
          <p:cNvSpPr/>
          <p:nvPr/>
        </p:nvSpPr>
        <p:spPr>
          <a:xfrm>
            <a:off x="868680" y="210312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Ce ar trebui să facă?</a:t>
            </a:r>
            <a:endParaRPr lang="en-US" sz="1900" dirty="0"/>
          </a:p>
        </p:txBody>
      </p:sp>
      <p:sp>
        <p:nvSpPr>
          <p:cNvPr id="7" name="Text 5"/>
          <p:cNvSpPr/>
          <p:nvPr/>
        </p:nvSpPr>
        <p:spPr>
          <a:xfrm>
            <a:off x="868680" y="2697480"/>
            <a:ext cx="301752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Județul îmbătrânește; plata pe caz; o clinică privată atrage medici.</a:t>
            </a:r>
            <a:endParaRPr lang="en-US" sz="1600" dirty="0"/>
          </a:p>
        </p:txBody>
      </p:sp>
      <p:sp>
        <p:nvSpPr>
          <p:cNvPr id="8" name="Shape 6"/>
          <p:cNvSpPr/>
          <p:nvPr/>
        </p:nvSpPr>
        <p:spPr>
          <a:xfrm>
            <a:off x="4343400" y="1600200"/>
            <a:ext cx="3520440" cy="3429000"/>
          </a:xfrm>
          <a:prstGeom prst="roundRect">
            <a:avLst>
              <a:gd name="adj" fmla="val 2400"/>
            </a:avLst>
          </a:prstGeom>
          <a:solidFill>
            <a:srgbClr val="F9F8F5"/>
          </a:solidFill>
          <a:ln w="12700">
            <a:solidFill>
              <a:srgbClr val="F9F8F5"/>
            </a:solidFill>
            <a:prstDash val="solid"/>
          </a:ln>
        </p:spPr>
        <p:txBody>
          <a:bodyPr/>
          <a:p/>
        </p:txBody>
      </p:sp>
      <p:sp>
        <p:nvSpPr>
          <p:cNvPr id="9" name="Text 7"/>
          <p:cNvSpPr/>
          <p:nvPr/>
        </p:nvSpPr>
        <p:spPr>
          <a:xfrm>
            <a:off x="4617720" y="1737360"/>
            <a:ext cx="30175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ÎNĂUNTRU</a:t>
            </a:r>
            <a:endParaRPr lang="en-US" sz="1400" dirty="0"/>
          </a:p>
        </p:txBody>
      </p:sp>
      <p:sp>
        <p:nvSpPr>
          <p:cNvPr id="10" name="Text 8"/>
          <p:cNvSpPr/>
          <p:nvPr/>
        </p:nvSpPr>
        <p:spPr>
          <a:xfrm>
            <a:off x="4617720" y="210312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Ce poate face?</a:t>
            </a:r>
            <a:endParaRPr lang="en-US" sz="1900" dirty="0"/>
          </a:p>
        </p:txBody>
      </p:sp>
      <p:sp>
        <p:nvSpPr>
          <p:cNvPr id="11" name="Text 9"/>
          <p:cNvSpPr/>
          <p:nvPr/>
        </p:nvSpPr>
        <p:spPr>
          <a:xfrm>
            <a:off x="4617720" y="2697480"/>
            <a:ext cx="301752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Paturi goale pe unele secții, specialiști buni pe altele, urgența supraaglomerată.</a:t>
            </a:r>
            <a:endParaRPr lang="en-US" sz="1600" dirty="0"/>
          </a:p>
        </p:txBody>
      </p:sp>
      <p:sp>
        <p:nvSpPr>
          <p:cNvPr id="12" name="Shape 10"/>
          <p:cNvSpPr/>
          <p:nvPr/>
        </p:nvSpPr>
        <p:spPr>
          <a:xfrm>
            <a:off x="8092440" y="1600200"/>
            <a:ext cx="3520440" cy="3429000"/>
          </a:xfrm>
          <a:prstGeom prst="roundRect">
            <a:avLst>
              <a:gd name="adj" fmla="val 2400"/>
            </a:avLst>
          </a:prstGeom>
          <a:solidFill>
            <a:srgbClr val="ECEAE4"/>
          </a:solidFill>
          <a:ln w="12700">
            <a:solidFill>
              <a:srgbClr val="ECEAE4"/>
            </a:solidFill>
            <a:prstDash val="solid"/>
          </a:ln>
        </p:spPr>
        <p:txBody>
          <a:bodyPr/>
          <a:p/>
        </p:txBody>
      </p:sp>
      <p:sp>
        <p:nvSpPr>
          <p:cNvPr id="13" name="Text 11"/>
          <p:cNvSpPr/>
          <p:nvPr/>
        </p:nvSpPr>
        <p:spPr>
          <a:xfrm>
            <a:off x="8366760" y="1737360"/>
            <a:ext cx="3017520" cy="365760"/>
          </a:xfrm>
          <a:prstGeom prst="rect">
            <a:avLst/>
          </a:prstGeom>
          <a:noFill/>
          <a:ln/>
        </p:spPr>
        <p:txBody>
          <a:bodyPr wrap="square" lIns="0" tIns="0" rIns="0" bIns="0" rtlCol="0" anchor="t"/>
          <a:lstStyle/>
          <a:p>
            <a:pPr indent="0" marL="0">
              <a:buNone/>
            </a:pPr>
            <a:r>
              <a:rPr lang="en-US" sz="1400" b="1" spc="200" kern="0" dirty="0">
                <a:solidFill>
                  <a:srgbClr val="4A2D8C"/>
                </a:solidFill>
                <a:latin typeface="Palatino Linotype" pitchFamily="34" charset="0"/>
                <a:ea typeface="Palatino Linotype" pitchFamily="34" charset="-122"/>
                <a:cs typeface="Palatino Linotype" pitchFamily="34" charset="-120"/>
              </a:rPr>
              <a:t>SPRE VIITOR</a:t>
            </a:r>
            <a:endParaRPr lang="en-US" sz="1400" dirty="0"/>
          </a:p>
        </p:txBody>
      </p:sp>
      <p:sp>
        <p:nvSpPr>
          <p:cNvPr id="14" name="Text 12"/>
          <p:cNvSpPr/>
          <p:nvPr/>
        </p:nvSpPr>
        <p:spPr>
          <a:xfrm>
            <a:off x="8366760" y="2103120"/>
            <a:ext cx="30175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Ce vrea să facă?</a:t>
            </a:r>
            <a:endParaRPr lang="en-US" sz="1900" dirty="0"/>
          </a:p>
        </p:txBody>
      </p:sp>
      <p:sp>
        <p:nvSpPr>
          <p:cNvPr id="15" name="Text 13"/>
          <p:cNvSpPr/>
          <p:nvPr/>
        </p:nvSpPr>
        <p:spPr>
          <a:xfrm>
            <a:off x="8366760" y="2697480"/>
            <a:ext cx="3017520" cy="21945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Să rămână locul unde oamenii din județ găsesc îngrijire.</a:t>
            </a:r>
            <a:endParaRPr lang="en-US" sz="1600" dirty="0"/>
          </a:p>
        </p:txBody>
      </p:sp>
      <p:sp>
        <p:nvSpPr>
          <p:cNvPr id="16" name="Text 14"/>
          <p:cNvSpPr/>
          <p:nvPr/>
        </p:nvSpPr>
        <p:spPr>
          <a:xfrm>
            <a:off x="594360" y="5303520"/>
            <a:ext cx="1097280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Cel mai lung pas: proiectul vostru începe cu el.</a:t>
            </a:r>
            <a:endParaRPr lang="en-US" sz="17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PASUL 2 · ÎNCOTRO MERGEM?</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Trei întrebări despre tot ce face organizația</a:t>
            </a:r>
            <a:endParaRPr lang="en-US" sz="3000" dirty="0"/>
          </a:p>
        </p:txBody>
      </p:sp>
      <p:sp>
        <p:nvSpPr>
          <p:cNvPr id="4" name="Shape 2"/>
          <p:cNvSpPr/>
          <p:nvPr/>
        </p:nvSpPr>
        <p:spPr>
          <a:xfrm>
            <a:off x="594360" y="164592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5" name="Shape 3"/>
          <p:cNvSpPr/>
          <p:nvPr/>
        </p:nvSpPr>
        <p:spPr>
          <a:xfrm>
            <a:off x="868680" y="1810512"/>
            <a:ext cx="420624" cy="420624"/>
          </a:xfrm>
          <a:prstGeom prst="ellipse">
            <a:avLst/>
          </a:prstGeom>
          <a:solidFill>
            <a:srgbClr val="FFC24B"/>
          </a:solidFill>
          <a:ln/>
        </p:spPr>
        <p:txBody>
          <a:bodyPr/>
          <a:p/>
        </p:txBody>
      </p:sp>
      <p:sp>
        <p:nvSpPr>
          <p:cNvPr id="6" name="Text 4"/>
          <p:cNvSpPr/>
          <p:nvPr/>
        </p:nvSpPr>
        <p:spPr>
          <a:xfrm>
            <a:off x="868680" y="18105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784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facem acum și ar trebui să încetăm să facem?</a:t>
            </a:r>
            <a:endParaRPr lang="en-US" sz="2000" dirty="0"/>
          </a:p>
        </p:txBody>
      </p:sp>
      <p:sp>
        <p:nvSpPr>
          <p:cNvPr id="8" name="Shape 6"/>
          <p:cNvSpPr/>
          <p:nvPr/>
        </p:nvSpPr>
        <p:spPr>
          <a:xfrm>
            <a:off x="594360" y="256032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9" name="Shape 7"/>
          <p:cNvSpPr/>
          <p:nvPr/>
        </p:nvSpPr>
        <p:spPr>
          <a:xfrm>
            <a:off x="868680" y="2724912"/>
            <a:ext cx="420624" cy="420624"/>
          </a:xfrm>
          <a:prstGeom prst="ellipse">
            <a:avLst/>
          </a:prstGeom>
          <a:solidFill>
            <a:srgbClr val="FFC24B"/>
          </a:solidFill>
          <a:ln/>
        </p:spPr>
        <p:txBody>
          <a:bodyPr/>
          <a:p/>
        </p:txBody>
      </p:sp>
      <p:sp>
        <p:nvSpPr>
          <p:cNvPr id="10" name="Text 8"/>
          <p:cNvSpPr/>
          <p:nvPr/>
        </p:nvSpPr>
        <p:spPr>
          <a:xfrm>
            <a:off x="868680" y="2724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560320"/>
            <a:ext cx="9784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nu facem și ar trebui să începem?</a:t>
            </a:r>
            <a:endParaRPr lang="en-US" sz="2000" dirty="0"/>
          </a:p>
        </p:txBody>
      </p:sp>
      <p:sp>
        <p:nvSpPr>
          <p:cNvPr id="12" name="Shape 10"/>
          <p:cNvSpPr/>
          <p:nvPr/>
        </p:nvSpPr>
        <p:spPr>
          <a:xfrm>
            <a:off x="594360" y="347472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3" name="Shape 11"/>
          <p:cNvSpPr/>
          <p:nvPr/>
        </p:nvSpPr>
        <p:spPr>
          <a:xfrm>
            <a:off x="868680" y="3639312"/>
            <a:ext cx="420624" cy="420624"/>
          </a:xfrm>
          <a:prstGeom prst="ellipse">
            <a:avLst/>
          </a:prstGeom>
          <a:solidFill>
            <a:srgbClr val="FFC24B"/>
          </a:solidFill>
          <a:ln/>
        </p:spPr>
        <p:txBody>
          <a:bodyPr/>
          <a:p/>
        </p:txBody>
      </p:sp>
      <p:sp>
        <p:nvSpPr>
          <p:cNvPr id="14" name="Text 12"/>
          <p:cNvSpPr/>
          <p:nvPr/>
        </p:nvSpPr>
        <p:spPr>
          <a:xfrm>
            <a:off x="868680" y="36393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474720"/>
            <a:ext cx="978408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facem și ar trebui să continuăm, dar într-un mod diferit?</a:t>
            </a:r>
            <a:endParaRPr lang="en-US" sz="2000" dirty="0"/>
          </a:p>
        </p:txBody>
      </p:sp>
      <p:sp>
        <p:nvSpPr>
          <p:cNvPr id="16" name="Text 14"/>
          <p:cNvSpPr/>
          <p:nvPr/>
        </p:nvSpPr>
        <p:spPr>
          <a:xfrm>
            <a:off x="594360" y="4526280"/>
            <a:ext cx="10972800" cy="548640"/>
          </a:xfrm>
          <a:prstGeom prst="rect">
            <a:avLst/>
          </a:prstGeom>
          <a:noFill/>
          <a:ln/>
        </p:spPr>
        <p:txBody>
          <a:bodyPr wrap="square" lIns="0" tIns="0" rIns="0" bIns="0" rtlCol="0" anchor="t"/>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Prima este cea mai grea: orice organizație adaugă mai ușor un serviciu decât renunță la unul.</a:t>
            </a:r>
            <a:endParaRPr lang="en-US" sz="1900" dirty="0"/>
          </a:p>
        </p:txBody>
      </p:sp>
      <p:sp>
        <p:nvSpPr>
          <p:cNvPr id="17" name="Text 15"/>
          <p:cNvSpPr/>
          <p:nvPr/>
        </p:nvSpPr>
        <p:spPr>
          <a:xfrm>
            <a:off x="594360" y="5120640"/>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Alegerile mari rămân judecăți informate, nu calcule.</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SUNTEȚI ÎN LOCUL MANAGEREI</a:t>
            </a:r>
            <a:endParaRPr lang="en-US" sz="1300" dirty="0"/>
          </a:p>
        </p:txBody>
      </p:sp>
      <p:sp>
        <p:nvSpPr>
          <p:cNvPr id="5" name="Text 3"/>
          <p:cNvSpPr/>
          <p:nvPr/>
        </p:nvSpPr>
        <p:spPr>
          <a:xfrm>
            <a:off x="594360" y="1097280"/>
            <a:ext cx="10789920" cy="2103120"/>
          </a:xfrm>
          <a:prstGeom prst="rect">
            <a:avLst/>
          </a:prstGeom>
          <a:noFill/>
          <a:ln/>
        </p:spPr>
        <p:txBody>
          <a:bodyPr wrap="square" lIns="0" tIns="0" rIns="0" bIns="0" rtlCol="0" anchor="ctr"/>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Ce ar trebui să înceteze spitalul județean să facă?</a:t>
            </a:r>
            <a:endParaRPr lang="en-US" sz="4200" dirty="0"/>
          </a:p>
        </p:txBody>
      </p:sp>
      <p:sp>
        <p:nvSpPr>
          <p:cNvPr id="6" name="Shape 4"/>
          <p:cNvSpPr/>
          <p:nvPr/>
        </p:nvSpPr>
        <p:spPr>
          <a:xfrm>
            <a:off x="594360" y="3520440"/>
            <a:ext cx="1280160" cy="36576"/>
          </a:xfrm>
          <a:prstGeom prst="rect">
            <a:avLst/>
          </a:prstGeom>
          <a:solidFill>
            <a:srgbClr val="27D3BE"/>
          </a:solidFill>
          <a:ln/>
        </p:spPr>
        <p:txBody>
          <a:bodyPr/>
          <a:p/>
        </p:txBody>
      </p:sp>
      <p:sp>
        <p:nvSpPr>
          <p:cNvPr id="7" name="Text 5"/>
          <p:cNvSpPr/>
          <p:nvPr/>
        </p:nvSpPr>
        <p:spPr>
          <a:xfrm>
            <a:off x="594360" y="3794760"/>
            <a:ext cx="10515600" cy="1097280"/>
          </a:xfrm>
          <a:prstGeom prst="rect">
            <a:avLst/>
          </a:prstGeom>
          <a:noFill/>
          <a:ln/>
        </p:spPr>
        <p:txBody>
          <a:bodyPr wrap="square" lIns="0" tIns="0" rIns="0" bIns="0" rtlCol="0" anchor="t"/>
          <a:lstStyle/>
          <a:p>
            <a:pPr indent="0" marL="0">
              <a:buNone/>
            </a:pPr>
            <a:r>
              <a:rPr lang="en-US" sz="2100" dirty="0">
                <a:solidFill>
                  <a:srgbClr val="959BB0"/>
                </a:solidFill>
                <a:latin typeface="Palatino Linotype" pitchFamily="34" charset="0"/>
                <a:ea typeface="Palatino Linotype" pitchFamily="34" charset="-122"/>
                <a:cs typeface="Palatino Linotype" pitchFamily="34" charset="-120"/>
              </a:rPr>
              <a:t>Trei minute. Un singur lucru, într-o propoziție, pe Mentimeter. Apoi sala votează propunerea cea mai convingătoare.</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REZULTATUL FORMULĂRII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regulă pentru deciziile mici</a:t>
            </a:r>
            <a:endParaRPr lang="en-US" sz="3200" dirty="0"/>
          </a:p>
        </p:txBody>
      </p:sp>
      <p:sp>
        <p:nvSpPr>
          <p:cNvPr id="4" name="Text 2"/>
          <p:cNvSpPr/>
          <p:nvPr/>
        </p:nvSpPr>
        <p:spPr>
          <a:xfrm>
            <a:off x="594360" y="1417320"/>
            <a:ext cx="10972800" cy="731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Cine propune să se oprească o activitate propune, implicit, ca resursele eliberate să fie folosite în altă parte.</a:t>
            </a:r>
            <a:endParaRPr lang="en-US" sz="1800" dirty="0"/>
          </a:p>
        </p:txBody>
      </p:sp>
      <p:sp>
        <p:nvSpPr>
          <p:cNvPr id="5" name="Shape 3"/>
          <p:cNvSpPr/>
          <p:nvPr/>
        </p:nvSpPr>
        <p:spPr>
          <a:xfrm>
            <a:off x="594360" y="2286000"/>
            <a:ext cx="10972800" cy="777240"/>
          </a:xfrm>
          <a:prstGeom prst="rect">
            <a:avLst/>
          </a:prstGeom>
          <a:solidFill>
            <a:srgbClr val="FBF8F1"/>
          </a:solidFill>
          <a:ln w="9525">
            <a:solidFill>
              <a:srgbClr val="C9C6BE"/>
            </a:solidFill>
            <a:prstDash val="solid"/>
          </a:ln>
        </p:spPr>
        <p:txBody>
          <a:bodyPr/>
          <a:p/>
        </p:txBody>
      </p:sp>
      <p:sp>
        <p:nvSpPr>
          <p:cNvPr id="6" name="Text 4"/>
          <p:cNvSpPr/>
          <p:nvPr/>
        </p:nvSpPr>
        <p:spPr>
          <a:xfrm>
            <a:off x="868680" y="2286000"/>
            <a:ext cx="10424160" cy="777240"/>
          </a:xfrm>
          <a:prstGeom prst="rect">
            <a:avLst/>
          </a:prstGeom>
          <a:noFill/>
          <a:ln/>
        </p:spPr>
        <p:txBody>
          <a:bodyPr wrap="square" lIns="0" tIns="0" rIns="0" bIns="0" rtlCol="0" anchor="ctr"/>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DACĂ </a:t>
            </a:r>
            <a:pPr indent="0" marL="0">
              <a:buNone/>
            </a:pPr>
            <a:r>
              <a:rPr lang="en-US" sz="1900" dirty="0">
                <a:solidFill>
                  <a:srgbClr val="11121A"/>
                </a:solidFill>
                <a:latin typeface="Palatino Linotype" pitchFamily="34" charset="0"/>
                <a:ea typeface="Palatino Linotype" pitchFamily="34" charset="-122"/>
                <a:cs typeface="Palatino Linotype" pitchFamily="34" charset="-120"/>
              </a:rPr>
              <a:t>se întâmplă un anumit lucru, </a:t>
            </a:r>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ATUNCI </a:t>
            </a:r>
            <a:pPr indent="0" marL="0">
              <a:buNone/>
            </a:pPr>
            <a:r>
              <a:rPr lang="en-US" sz="1900" dirty="0">
                <a:solidFill>
                  <a:srgbClr val="11121A"/>
                </a:solidFill>
                <a:latin typeface="Palatino Linotype" pitchFamily="34" charset="0"/>
                <a:ea typeface="Palatino Linotype" pitchFamily="34" charset="-122"/>
                <a:cs typeface="Palatino Linotype" pitchFamily="34" charset="-120"/>
              </a:rPr>
              <a:t>se procedează într-un anumit fel.</a:t>
            </a:r>
            <a:endParaRPr lang="en-US" sz="1900" dirty="0"/>
          </a:p>
        </p:txBody>
      </p:sp>
      <p:sp>
        <p:nvSpPr>
          <p:cNvPr id="7" name="Shape 5"/>
          <p:cNvSpPr/>
          <p:nvPr/>
        </p:nvSpPr>
        <p:spPr>
          <a:xfrm>
            <a:off x="594360" y="3291840"/>
            <a:ext cx="10972800" cy="1188720"/>
          </a:xfrm>
          <a:prstGeom prst="roundRect">
            <a:avLst>
              <a:gd name="adj" fmla="val 6923"/>
            </a:avLst>
          </a:prstGeom>
          <a:solidFill>
            <a:srgbClr val="FFC24B"/>
          </a:solidFill>
          <a:ln w="12700">
            <a:solidFill>
              <a:srgbClr val="FFC24B"/>
            </a:solidFill>
            <a:prstDash val="solid"/>
          </a:ln>
        </p:spPr>
        <p:txBody>
          <a:bodyPr/>
          <a:p/>
        </p:txBody>
      </p:sp>
      <p:sp>
        <p:nvSpPr>
          <p:cNvPr id="8" name="Text 6"/>
          <p:cNvSpPr/>
          <p:nvPr/>
        </p:nvSpPr>
        <p:spPr>
          <a:xfrm>
            <a:off x="868680" y="3291840"/>
            <a:ext cx="10424160" cy="1188720"/>
          </a:xfrm>
          <a:prstGeom prst="rect">
            <a:avLst/>
          </a:prstGeom>
          <a:noFill/>
          <a:ln/>
        </p:spPr>
        <p:txBody>
          <a:bodyPr wrap="square" lIns="0" tIns="0" rIns="0" bIns="0" rtlCol="0" anchor="ctr"/>
          <a:lstStyle/>
          <a:p>
            <a:pPr indent="0" marL="0">
              <a:buNone/>
            </a:pPr>
            <a:r>
              <a:rPr lang="en-US" sz="2000" b="1" i="1" dirty="0">
                <a:solidFill>
                  <a:srgbClr val="3D2A00"/>
                </a:solidFill>
                <a:latin typeface="Palatino Linotype" pitchFamily="34" charset="0"/>
                <a:ea typeface="Palatino Linotype" pitchFamily="34" charset="-122"/>
                <a:cs typeface="Palatino Linotype" pitchFamily="34" charset="-120"/>
              </a:rPr>
              <a:t>„Investițiile din venituri proprii merg numai în servicii care reduc internările evitabile ale pacienților cronici.”</a:t>
            </a:r>
            <a:endParaRPr lang="en-US" sz="2000" dirty="0"/>
          </a:p>
        </p:txBody>
      </p:sp>
      <p:sp>
        <p:nvSpPr>
          <p:cNvPr id="9" name="Text 7"/>
          <p:cNvSpPr/>
          <p:nvPr/>
        </p:nvSpPr>
        <p:spPr>
          <a:xfrm>
            <a:off x="594360" y="4663440"/>
            <a:ext cx="109728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Clădirea nouă primește o întrebare clară: reduce sau nu internările evitabile?</a:t>
            </a:r>
            <a:endParaRPr lang="en-US" sz="18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PAȘII 3 ȘI 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 controla înseamnă a ține direcția</a:t>
            </a:r>
            <a:endParaRPr lang="en-US" sz="3200" dirty="0"/>
          </a:p>
        </p:txBody>
      </p:sp>
      <p:sp>
        <p:nvSpPr>
          <p:cNvPr id="4" name="Shape 2"/>
          <p:cNvSpPr/>
          <p:nvPr/>
        </p:nvSpPr>
        <p:spPr>
          <a:xfrm>
            <a:off x="594360" y="1600200"/>
            <a:ext cx="54864" cy="1143000"/>
          </a:xfrm>
          <a:prstGeom prst="rect">
            <a:avLst/>
          </a:prstGeom>
          <a:solidFill>
            <a:srgbClr val="0E7C6B"/>
          </a:solidFill>
          <a:ln w="12700">
            <a:solidFill>
              <a:srgbClr val="0E7C6B"/>
            </a:solidFill>
            <a:prstDash val="solid"/>
          </a:ln>
        </p:spPr>
        <p:txBody>
          <a:bodyPr/>
          <a:p/>
        </p:txBody>
      </p:sp>
      <p:sp>
        <p:nvSpPr>
          <p:cNvPr id="5" name="Text 3"/>
          <p:cNvSpPr/>
          <p:nvPr/>
        </p:nvSpPr>
        <p:spPr>
          <a:xfrm>
            <a:off x="868680" y="1600200"/>
            <a:ext cx="5120640" cy="114300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Implementarea: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alegerile devin pași, responsabili și termene.</a:t>
            </a:r>
            <a:endParaRPr lang="en-US" sz="1700" dirty="0"/>
          </a:p>
        </p:txBody>
      </p:sp>
      <p:sp>
        <p:nvSpPr>
          <p:cNvPr id="6" name="Shape 4"/>
          <p:cNvSpPr/>
          <p:nvPr/>
        </p:nvSpPr>
        <p:spPr>
          <a:xfrm>
            <a:off x="594360" y="2926080"/>
            <a:ext cx="54864" cy="1143000"/>
          </a:xfrm>
          <a:prstGeom prst="rect">
            <a:avLst/>
          </a:prstGeom>
          <a:solidFill>
            <a:srgbClr val="B02532"/>
          </a:solidFill>
          <a:ln w="12700">
            <a:solidFill>
              <a:srgbClr val="B02532"/>
            </a:solidFill>
            <a:prstDash val="solid"/>
          </a:ln>
        </p:spPr>
        <p:txBody>
          <a:bodyPr/>
          <a:p/>
        </p:txBody>
      </p:sp>
      <p:sp>
        <p:nvSpPr>
          <p:cNvPr id="7" name="Text 5"/>
          <p:cNvSpPr/>
          <p:nvPr/>
        </p:nvSpPr>
        <p:spPr>
          <a:xfrm>
            <a:off x="868680" y="2926080"/>
            <a:ext cx="5120640" cy="114300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Controlul: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prea mult poate produce birocrație, prea puțin poate lăsa organizația fără direcție: „cu cât mai puțin, cu atât mai bine”.</a:t>
            </a:r>
            <a:endParaRPr lang="en-US" sz="1700" dirty="0"/>
          </a:p>
        </p:txBody>
      </p:sp>
      <p:sp>
        <p:nvSpPr>
          <p:cNvPr id="8" name="Shape 6"/>
          <p:cNvSpPr/>
          <p:nvPr/>
        </p:nvSpPr>
        <p:spPr>
          <a:xfrm>
            <a:off x="6309360" y="1600200"/>
            <a:ext cx="5257800" cy="2468880"/>
          </a:xfrm>
          <a:prstGeom prst="roundRect">
            <a:avLst>
              <a:gd name="adj" fmla="val 3333"/>
            </a:avLst>
          </a:prstGeom>
          <a:solidFill>
            <a:srgbClr val="ECEAE4"/>
          </a:solidFill>
          <a:ln w="12700">
            <a:solidFill>
              <a:srgbClr val="ECEAE4"/>
            </a:solidFill>
            <a:prstDash val="solid"/>
          </a:ln>
        </p:spPr>
        <p:txBody>
          <a:bodyPr/>
          <a:p/>
        </p:txBody>
      </p:sp>
      <p:sp>
        <p:nvSpPr>
          <p:cNvPr id="9" name="Text 7"/>
          <p:cNvSpPr/>
          <p:nvPr/>
        </p:nvSpPr>
        <p:spPr>
          <a:xfrm>
            <a:off x="6583680" y="1737360"/>
            <a:ext cx="475488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TREI SEMNE URMĂRITE LUNAR</a:t>
            </a:r>
            <a:endParaRPr lang="en-US" sz="1300" dirty="0"/>
          </a:p>
        </p:txBody>
      </p:sp>
      <p:sp>
        <p:nvSpPr>
          <p:cNvPr id="10" name="Shape 8"/>
          <p:cNvSpPr/>
          <p:nvPr/>
        </p:nvSpPr>
        <p:spPr>
          <a:xfrm>
            <a:off x="6583680" y="2203704"/>
            <a:ext cx="384048" cy="384048"/>
          </a:xfrm>
          <a:prstGeom prst="ellipse">
            <a:avLst/>
          </a:prstGeom>
          <a:solidFill>
            <a:srgbClr val="27D3BE"/>
          </a:solidFill>
          <a:ln/>
        </p:spPr>
        <p:txBody>
          <a:bodyPr/>
          <a:p/>
        </p:txBody>
      </p:sp>
      <p:sp>
        <p:nvSpPr>
          <p:cNvPr id="11" name="Text 9"/>
          <p:cNvSpPr/>
          <p:nvPr/>
        </p:nvSpPr>
        <p:spPr>
          <a:xfrm>
            <a:off x="6583680" y="2203704"/>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2" name="Text 10"/>
          <p:cNvSpPr/>
          <p:nvPr/>
        </p:nvSpPr>
        <p:spPr>
          <a:xfrm>
            <a:off x="7132320" y="2148840"/>
            <a:ext cx="42976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 cronici reveniți la urgențe</a:t>
            </a:r>
            <a:endParaRPr lang="en-US" sz="1600" dirty="0"/>
          </a:p>
        </p:txBody>
      </p:sp>
      <p:sp>
        <p:nvSpPr>
          <p:cNvPr id="13" name="Shape 11"/>
          <p:cNvSpPr/>
          <p:nvPr/>
        </p:nvSpPr>
        <p:spPr>
          <a:xfrm>
            <a:off x="6583680" y="2798064"/>
            <a:ext cx="384048" cy="384048"/>
          </a:xfrm>
          <a:prstGeom prst="ellipse">
            <a:avLst/>
          </a:prstGeom>
          <a:solidFill>
            <a:srgbClr val="27D3BE"/>
          </a:solidFill>
          <a:ln/>
        </p:spPr>
        <p:txBody>
          <a:bodyPr/>
          <a:p/>
        </p:txBody>
      </p:sp>
      <p:sp>
        <p:nvSpPr>
          <p:cNvPr id="14" name="Text 12"/>
          <p:cNvSpPr/>
          <p:nvPr/>
        </p:nvSpPr>
        <p:spPr>
          <a:xfrm>
            <a:off x="6583680" y="2798064"/>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7132320" y="2743200"/>
            <a:ext cx="42976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folosirea paturilor pe secții</a:t>
            </a:r>
            <a:endParaRPr lang="en-US" sz="1600" dirty="0"/>
          </a:p>
        </p:txBody>
      </p:sp>
      <p:sp>
        <p:nvSpPr>
          <p:cNvPr id="16" name="Shape 14"/>
          <p:cNvSpPr/>
          <p:nvPr/>
        </p:nvSpPr>
        <p:spPr>
          <a:xfrm>
            <a:off x="6583680" y="3392424"/>
            <a:ext cx="384048" cy="384048"/>
          </a:xfrm>
          <a:prstGeom prst="ellipse">
            <a:avLst/>
          </a:prstGeom>
          <a:solidFill>
            <a:srgbClr val="27D3BE"/>
          </a:solidFill>
          <a:ln/>
        </p:spPr>
        <p:txBody>
          <a:bodyPr/>
          <a:p/>
        </p:txBody>
      </p:sp>
      <p:sp>
        <p:nvSpPr>
          <p:cNvPr id="17" name="Text 15"/>
          <p:cNvSpPr/>
          <p:nvPr/>
        </p:nvSpPr>
        <p:spPr>
          <a:xfrm>
            <a:off x="6583680" y="3392424"/>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7132320" y="3337560"/>
            <a:ext cx="42976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așteptarea pentru o consultație</a:t>
            </a:r>
            <a:endParaRPr lang="en-US" sz="1600" dirty="0"/>
          </a:p>
        </p:txBody>
      </p:sp>
      <p:sp>
        <p:nvSpPr>
          <p:cNvPr id="19" name="Text 17"/>
          <p:cNvSpPr/>
          <p:nvPr/>
        </p:nvSpPr>
        <p:spPr>
          <a:xfrm>
            <a:off x="594360" y="4389120"/>
            <a:ext cx="10972800" cy="9144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Implementarea slabă sau lipsa unui control adecvat au lăsat multe planuri fără nicio valoare.</a:t>
            </a:r>
            <a:endParaRPr lang="en-US" sz="19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sertar.jpg">    </p:cNvPr>
          <p:cNvPicPr>
            <a:picLocks noChangeAspect="1"/>
          </p:cNvPicPr>
          <p:nvPr/>
        </p:nvPicPr>
        <p:blipFill>
          <a:blip r:embed="rId1"/>
          <a:stretch>
            <a:fillRect/>
          </a:stretch>
        </p:blipFill>
        <p:spPr>
          <a:xfrm>
            <a:off x="594360" y="659225"/>
            <a:ext cx="3749040" cy="4990910"/>
          </a:xfrm>
          <a:prstGeom prst="rect">
            <a:avLst/>
          </a:prstGeom>
        </p:spPr>
      </p:pic>
      <p:sp>
        <p:nvSpPr>
          <p:cNvPr id="3" name="Text 0"/>
          <p:cNvSpPr/>
          <p:nvPr/>
        </p:nvSpPr>
        <p:spPr>
          <a:xfrm>
            <a:off x="594360" y="5695855"/>
            <a:ext cx="393192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Sursa: foto Carmaben · CC BY-SA 3.0 · Wikimedia Commons</a:t>
            </a:r>
            <a:endParaRPr lang="en-US" sz="850" dirty="0"/>
          </a:p>
        </p:txBody>
      </p:sp>
      <p:sp>
        <p:nvSpPr>
          <p:cNvPr id="4" name="Text 1"/>
          <p:cNvSpPr/>
          <p:nvPr/>
        </p:nvSpPr>
        <p:spPr>
          <a:xfrm>
            <a:off x="4754880" y="411480"/>
            <a:ext cx="67665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PLANUL DIN SERTAR</a:t>
            </a:r>
            <a:endParaRPr lang="en-US" sz="1300" dirty="0"/>
          </a:p>
        </p:txBody>
      </p:sp>
      <p:sp>
        <p:nvSpPr>
          <p:cNvPr id="5" name="Text 2"/>
          <p:cNvSpPr/>
          <p:nvPr/>
        </p:nvSpPr>
        <p:spPr>
          <a:xfrm>
            <a:off x="4754880" y="777240"/>
            <a:ext cx="681228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eveniment anual, nu un proces</a:t>
            </a:r>
            <a:endParaRPr lang="en-US" sz="3000" dirty="0"/>
          </a:p>
        </p:txBody>
      </p:sp>
      <p:sp>
        <p:nvSpPr>
          <p:cNvPr id="6" name="Text 3"/>
          <p:cNvSpPr/>
          <p:nvPr/>
        </p:nvSpPr>
        <p:spPr>
          <a:xfrm>
            <a:off x="4754880" y="1600200"/>
            <a:ext cx="6812280" cy="11887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Conducerea se retrage câteva zile, scrie un plan frumos și îl pune în sertar. Peste un an, scrie altul.</a:t>
            </a:r>
            <a:endParaRPr lang="en-US" sz="1700" dirty="0"/>
          </a:p>
        </p:txBody>
      </p:sp>
      <p:sp>
        <p:nvSpPr>
          <p:cNvPr id="7" name="Shape 4"/>
          <p:cNvSpPr/>
          <p:nvPr/>
        </p:nvSpPr>
        <p:spPr>
          <a:xfrm>
            <a:off x="4754880" y="2926080"/>
            <a:ext cx="6812280" cy="2057400"/>
          </a:xfrm>
          <a:prstGeom prst="roundRect">
            <a:avLst>
              <a:gd name="adj" fmla="val 4000"/>
            </a:avLst>
          </a:prstGeom>
          <a:solidFill>
            <a:srgbClr val="ECEAE4"/>
          </a:solidFill>
          <a:ln w="12700">
            <a:solidFill>
              <a:srgbClr val="ECEAE4"/>
            </a:solidFill>
            <a:prstDash val="solid"/>
          </a:ln>
        </p:spPr>
        <p:txBody>
          <a:bodyPr/>
          <a:p/>
        </p:txBody>
      </p:sp>
      <p:sp>
        <p:nvSpPr>
          <p:cNvPr id="8" name="Text 5"/>
          <p:cNvSpPr/>
          <p:nvPr/>
        </p:nvSpPr>
        <p:spPr>
          <a:xfrm>
            <a:off x="5029200" y="3017520"/>
            <a:ext cx="6309360" cy="36576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Managementul strategic NU este:</a:t>
            </a:r>
            <a:endParaRPr lang="en-US" sz="1500" dirty="0"/>
          </a:p>
        </p:txBody>
      </p:sp>
      <p:sp>
        <p:nvSpPr>
          <p:cNvPr id="9" name="Text 6"/>
          <p:cNvSpPr/>
          <p:nvPr/>
        </p:nvSpPr>
        <p:spPr>
          <a:xfrm>
            <a:off x="5029200" y="3429000"/>
            <a:ext cx="6309360" cy="1463040"/>
          </a:xfrm>
          <a:prstGeom prst="rect">
            <a:avLst/>
          </a:prstGeom>
          <a:noFill/>
          <a:ln/>
        </p:spPr>
        <p:txBody>
          <a:bodyPr wrap="square" lIns="0" tIns="0" rIns="0" bIns="0" rtlCol="0" anchor="t"/>
          <a:lstStyle/>
          <a:p>
            <a:pPr marL="342900" indent="-342900">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o soluție rapidă pentru probleme de fond</a:t>
            </a:r>
            <a:endParaRPr lang="en-US" sz="1500" dirty="0"/>
          </a:p>
          <a:p>
            <a:pPr marL="342900" indent="-342900">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o întâlnire anuală a conducerii</a:t>
            </a:r>
            <a:endParaRPr lang="en-US" sz="1500" dirty="0"/>
          </a:p>
          <a:p>
            <a:pPr marL="342900" indent="-342900">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completarea unor formulare</a:t>
            </a:r>
            <a:endParaRPr lang="en-US" sz="1500" dirty="0"/>
          </a:p>
          <a:p>
            <a:pPr marL="342900" indent="-342900">
              <a:buSzPct val="100000"/>
              <a:buChar char="•"/>
            </a:pPr>
            <a:r>
              <a:rPr lang="en-US" sz="1500" dirty="0">
                <a:solidFill>
                  <a:srgbClr val="11121A"/>
                </a:solidFill>
                <a:latin typeface="Palatino Linotype" pitchFamily="34" charset="0"/>
                <a:ea typeface="Palatino Linotype" pitchFamily="34" charset="-122"/>
                <a:cs typeface="Palatino Linotype" pitchFamily="34" charset="-120"/>
              </a:rPr>
              <a:t>un plan făcut doar fiindcă îl cere o autoritate</a:t>
            </a:r>
            <a:endParaRPr lang="en-US" sz="1500" dirty="0"/>
          </a:p>
        </p:txBody>
      </p:sp>
      <p:sp>
        <p:nvSpPr>
          <p:cNvPr id="10" name="Text 7"/>
          <p:cNvSpPr/>
          <p:nvPr/>
        </p:nvSpPr>
        <p:spPr>
          <a:xfrm>
            <a:off x="4754880" y="5166360"/>
            <a:ext cx="681228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Într-un spital, planul din sertar costă bani publici și timpul pacienților.</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DOI VOLUNTARI · CEL MULT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Paturile unei secții devin spitalizare de zi</a:t>
            </a:r>
            <a:endParaRPr lang="en-US" sz="3200" dirty="0"/>
          </a:p>
        </p:txBody>
      </p:sp>
      <p:sp>
        <p:nvSpPr>
          <p:cNvPr id="6" name="Shape 4"/>
          <p:cNvSpPr/>
          <p:nvPr/>
        </p:nvSpPr>
        <p:spPr>
          <a:xfrm>
            <a:off x="594360" y="1783080"/>
            <a:ext cx="5394960" cy="2651760"/>
          </a:xfrm>
          <a:prstGeom prst="roundRect">
            <a:avLst>
              <a:gd name="adj" fmla="val 3103"/>
            </a:avLst>
          </a:prstGeom>
          <a:solidFill>
            <a:srgbClr val="1D1F2B"/>
          </a:solidFill>
          <a:ln w="12700">
            <a:solidFill>
              <a:srgbClr val="1D1F2B"/>
            </a:solidFill>
            <a:prstDash val="solid"/>
          </a:ln>
        </p:spPr>
        <p:txBody>
          <a:bodyPr/>
          <a:p/>
        </p:txBody>
      </p:sp>
      <p:sp>
        <p:nvSpPr>
          <p:cNvPr id="7" name="Shape 5"/>
          <p:cNvSpPr/>
          <p:nvPr/>
        </p:nvSpPr>
        <p:spPr>
          <a:xfrm>
            <a:off x="6172200" y="1783080"/>
            <a:ext cx="5394960" cy="2651760"/>
          </a:xfrm>
          <a:prstGeom prst="roundRect">
            <a:avLst>
              <a:gd name="adj" fmla="val 3103"/>
            </a:avLst>
          </a:prstGeom>
          <a:solidFill>
            <a:srgbClr val="1D1F2B"/>
          </a:solidFill>
          <a:ln w="12700">
            <a:solidFill>
              <a:srgbClr val="1D1F2B"/>
            </a:solidFill>
            <a:prstDash val="solid"/>
          </a:ln>
        </p:spPr>
        <p:txBody>
          <a:bodyPr/>
          <a:p/>
        </p:txBody>
      </p:sp>
      <p:sp>
        <p:nvSpPr>
          <p:cNvPr id="8" name="Text 6"/>
          <p:cNvSpPr/>
          <p:nvPr/>
        </p:nvSpPr>
        <p:spPr>
          <a:xfrm>
            <a:off x="868680" y="1965960"/>
            <a:ext cx="4846320" cy="365760"/>
          </a:xfrm>
          <a:prstGeom prst="rect">
            <a:avLst/>
          </a:prstGeom>
          <a:noFill/>
          <a:ln/>
        </p:spPr>
        <p:txBody>
          <a:bodyPr wrap="square" lIns="0" tIns="0" rIns="0" bIns="0" rtlCol="0" anchor="t"/>
          <a:lstStyle/>
          <a:p>
            <a:pPr indent="0" marL="0">
              <a:buNone/>
            </a:pPr>
            <a:r>
              <a:rPr lang="en-US" sz="1500" b="1" spc="200" kern="0" dirty="0">
                <a:solidFill>
                  <a:srgbClr val="27D3BE"/>
                </a:solidFill>
                <a:latin typeface="Palatino Linotype" pitchFamily="34" charset="0"/>
                <a:ea typeface="Palatino Linotype" pitchFamily="34" charset="-122"/>
                <a:cs typeface="Palatino Linotype" pitchFamily="34" charset="-120"/>
              </a:rPr>
              <a:t>MANAGERA</a:t>
            </a:r>
            <a:endParaRPr lang="en-US" sz="1500" dirty="0"/>
          </a:p>
        </p:txBody>
      </p:sp>
      <p:sp>
        <p:nvSpPr>
          <p:cNvPr id="9" name="Text 7"/>
          <p:cNvSpPr/>
          <p:nvPr/>
        </p:nvSpPr>
        <p:spPr>
          <a:xfrm>
            <a:off x="868680" y="2423160"/>
            <a:ext cx="4846320" cy="182880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 hotărât, după analiza situației, să transforme o parte din paturile unei secții. Explică decizia.</a:t>
            </a:r>
            <a:endParaRPr lang="en-US" sz="2000" dirty="0"/>
          </a:p>
        </p:txBody>
      </p:sp>
      <p:sp>
        <p:nvSpPr>
          <p:cNvPr id="10" name="Text 8"/>
          <p:cNvSpPr/>
          <p:nvPr/>
        </p:nvSpPr>
        <p:spPr>
          <a:xfrm>
            <a:off x="6446520" y="1965960"/>
            <a:ext cx="4937760" cy="365760"/>
          </a:xfrm>
          <a:prstGeom prst="rect">
            <a:avLst/>
          </a:prstGeom>
          <a:noFill/>
          <a:ln/>
        </p:spPr>
        <p:txBody>
          <a:bodyPr wrap="square" lIns="0" tIns="0" rIns="0" bIns="0" rtlCol="0" anchor="t"/>
          <a:lstStyle/>
          <a:p>
            <a:pPr indent="0" marL="0">
              <a:buNone/>
            </a:pPr>
            <a:r>
              <a:rPr lang="en-US" sz="1500" b="1" spc="200" kern="0" dirty="0">
                <a:solidFill>
                  <a:srgbClr val="FF4757"/>
                </a:solidFill>
                <a:latin typeface="Palatino Linotype" pitchFamily="34" charset="0"/>
                <a:ea typeface="Palatino Linotype" pitchFamily="34" charset="-122"/>
                <a:cs typeface="Palatino Linotype" pitchFamily="34" charset="-120"/>
              </a:rPr>
              <a:t>ȘEFUL DE SECȚIE</a:t>
            </a:r>
            <a:endParaRPr lang="en-US" sz="1500" dirty="0"/>
          </a:p>
        </p:txBody>
      </p:sp>
      <p:sp>
        <p:nvSpPr>
          <p:cNvPr id="11" name="Text 9"/>
          <p:cNvSpPr/>
          <p:nvPr/>
        </p:nvSpPr>
        <p:spPr>
          <a:xfrm>
            <a:off x="6446520" y="2423160"/>
            <a:ext cx="4846320" cy="182880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Află vestea. Are de apărat secția și oamenii lui. Contestă sau negociază.</a:t>
            </a:r>
            <a:endParaRPr lang="en-US" sz="2000" dirty="0"/>
          </a:p>
        </p:txBody>
      </p:sp>
      <p:sp>
        <p:nvSpPr>
          <p:cNvPr id="12" name="Text 10"/>
          <p:cNvSpPr/>
          <p:nvPr/>
        </p:nvSpPr>
        <p:spPr>
          <a:xfrm>
            <a:off x="594360" y="4754880"/>
            <a:ext cx="10972800" cy="73152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După scenă, votați pe telefon: ar fi acceptat șeful de secție decizia?</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SCENĂ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Aici, managementul strategic devine conducere</a:t>
            </a:r>
            <a:endParaRPr lang="en-US" sz="3000" dirty="0"/>
          </a:p>
        </p:txBody>
      </p:sp>
      <p:sp>
        <p:nvSpPr>
          <p:cNvPr id="4" name="Text 2"/>
          <p:cNvSpPr/>
          <p:nvPr/>
        </p:nvSpPr>
        <p:spPr>
          <a:xfrm>
            <a:off x="594360" y="1463040"/>
            <a:ext cx="10972800" cy="731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Șeful de secție nu este un adversar: el apără personalul, pacienții și o parte din finanțarea secției.</a:t>
            </a:r>
            <a:endParaRPr lang="en-US" sz="1800" dirty="0"/>
          </a:p>
        </p:txBody>
      </p:sp>
      <p:sp>
        <p:nvSpPr>
          <p:cNvPr id="5" name="Shape 3"/>
          <p:cNvSpPr/>
          <p:nvPr/>
        </p:nvSpPr>
        <p:spPr>
          <a:xfrm>
            <a:off x="594360" y="2377440"/>
            <a:ext cx="4206240" cy="2743200"/>
          </a:xfrm>
          <a:prstGeom prst="roundRect">
            <a:avLst>
              <a:gd name="adj" fmla="val 3000"/>
            </a:avLst>
          </a:prstGeom>
          <a:solidFill>
            <a:srgbClr val="ECEAE4"/>
          </a:solidFill>
          <a:ln w="12700">
            <a:solidFill>
              <a:srgbClr val="ECEAE4"/>
            </a:solidFill>
            <a:prstDash val="solid"/>
          </a:ln>
        </p:spPr>
        <p:txBody>
          <a:bodyPr/>
          <a:p/>
        </p:txBody>
      </p:sp>
      <p:sp>
        <p:nvSpPr>
          <p:cNvPr id="6" name="Text 4"/>
          <p:cNvSpPr/>
          <p:nvPr/>
        </p:nvSpPr>
        <p:spPr>
          <a:xfrm>
            <a:off x="868680" y="2560320"/>
            <a:ext cx="3657600" cy="914400"/>
          </a:xfrm>
          <a:prstGeom prst="rect">
            <a:avLst/>
          </a:prstGeom>
          <a:noFill/>
          <a:ln/>
        </p:spPr>
        <p:txBody>
          <a:bodyPr wrap="square" lIns="0" tIns="0" rIns="0" bIns="0" rtlCol="0" anchor="t"/>
          <a:lstStyle/>
          <a:p>
            <a:pPr indent="0" marL="0">
              <a:buNone/>
            </a:pPr>
            <a:r>
              <a:rPr lang="en-US" sz="2400" b="1" i="1" dirty="0">
                <a:solidFill>
                  <a:srgbClr val="B02532"/>
                </a:solidFill>
                <a:latin typeface="Palatino Linotype" pitchFamily="34" charset="0"/>
                <a:ea typeface="Palatino Linotype" pitchFamily="34" charset="-122"/>
                <a:cs typeface="Palatino Linotype" pitchFamily="34" charset="-120"/>
              </a:rPr>
              <a:t>„Așa am hotărât.”</a:t>
            </a:r>
            <a:endParaRPr lang="en-US" sz="2400" dirty="0"/>
          </a:p>
        </p:txBody>
      </p:sp>
      <p:sp>
        <p:nvSpPr>
          <p:cNvPr id="7" name="Text 5"/>
          <p:cNvSpPr/>
          <p:nvPr/>
        </p:nvSpPr>
        <p:spPr>
          <a:xfrm>
            <a:off x="868680" y="3566160"/>
            <a:ext cx="36576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Managera pierde un aliat.</a:t>
            </a:r>
            <a:endParaRPr lang="en-US" sz="1900" dirty="0"/>
          </a:p>
        </p:txBody>
      </p:sp>
      <p:sp>
        <p:nvSpPr>
          <p:cNvPr id="8" name="Shape 6"/>
          <p:cNvSpPr/>
          <p:nvPr/>
        </p:nvSpPr>
        <p:spPr>
          <a:xfrm>
            <a:off x="4983480" y="2377440"/>
            <a:ext cx="6583680" cy="2743200"/>
          </a:xfrm>
          <a:prstGeom prst="roundRect">
            <a:avLst>
              <a:gd name="adj" fmla="val 3000"/>
            </a:avLst>
          </a:prstGeom>
          <a:solidFill>
            <a:srgbClr val="07564B"/>
          </a:solidFill>
          <a:ln w="12700">
            <a:solidFill>
              <a:srgbClr val="07564B"/>
            </a:solidFill>
            <a:prstDash val="solid"/>
          </a:ln>
        </p:spPr>
        <p:txBody>
          <a:bodyPr/>
          <a:p/>
        </p:txBody>
      </p:sp>
      <p:sp>
        <p:nvSpPr>
          <p:cNvPr id="9" name="Text 7"/>
          <p:cNvSpPr/>
          <p:nvPr/>
        </p:nvSpPr>
        <p:spPr>
          <a:xfrm>
            <a:off x="5257800" y="2514600"/>
            <a:ext cx="6035040" cy="411480"/>
          </a:xfrm>
          <a:prstGeom prst="rect">
            <a:avLst/>
          </a:prstGeom>
          <a:noFill/>
          <a:ln/>
        </p:spPr>
        <p:txBody>
          <a:bodyPr wrap="square" lIns="0" tIns="0" rIns="0" bIns="0" rtlCol="0" anchor="t"/>
          <a:lstStyle/>
          <a:p>
            <a:pPr indent="0" marL="0">
              <a:buNone/>
            </a:pPr>
            <a:r>
              <a:rPr lang="en-US" sz="1700" b="1" dirty="0">
                <a:solidFill>
                  <a:srgbClr val="9FE8DC"/>
                </a:solidFill>
                <a:latin typeface="Palatino Linotype" pitchFamily="34" charset="0"/>
                <a:ea typeface="Palatino Linotype" pitchFamily="34" charset="-122"/>
                <a:cs typeface="Palatino Linotype" pitchFamily="34" charset="-120"/>
              </a:rPr>
              <a:t>Mai multe șanse are managera care:</a:t>
            </a:r>
            <a:endParaRPr lang="en-US" sz="1700" dirty="0"/>
          </a:p>
        </p:txBody>
      </p:sp>
      <p:sp>
        <p:nvSpPr>
          <p:cNvPr id="10" name="Text 8"/>
          <p:cNvSpPr/>
          <p:nvPr/>
        </p:nvSpPr>
        <p:spPr>
          <a:xfrm>
            <a:off x="5257800" y="3017520"/>
            <a:ext cx="6035040" cy="1920240"/>
          </a:xfrm>
          <a:prstGeom prst="rect">
            <a:avLst/>
          </a:prstGeom>
          <a:noFill/>
          <a:ln/>
        </p:spPr>
        <p:txBody>
          <a:bodyPr wrap="square" lIns="0" tIns="0" rIns="0" bIns="0" rtlCol="0" anchor="t"/>
          <a:lstStyle/>
          <a:p>
            <a:pPr marL="342900" indent="-342900">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explică direcția întregului spital</a:t>
            </a:r>
            <a:endParaRPr lang="en-US" sz="1800" dirty="0"/>
          </a:p>
          <a:p>
            <a:pPr marL="342900" indent="-342900">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arată ce câștigă și secția din schimbare</a:t>
            </a:r>
            <a:endParaRPr lang="en-US" sz="1800" dirty="0"/>
          </a:p>
          <a:p>
            <a:pPr marL="342900" indent="-342900">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îl invită pe șef în grupul care pregătește pasul următor</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CINE CONDUCE STRATEGIA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Management și leadership</a:t>
            </a:r>
            <a:endParaRPr lang="en-US" sz="3400" dirty="0"/>
          </a:p>
        </p:txBody>
      </p:sp>
      <p:sp>
        <p:nvSpPr>
          <p:cNvPr id="4" name="Shape 2"/>
          <p:cNvSpPr/>
          <p:nvPr/>
        </p:nvSpPr>
        <p:spPr>
          <a:xfrm>
            <a:off x="594360" y="1645920"/>
            <a:ext cx="5394960" cy="1737360"/>
          </a:xfrm>
          <a:prstGeom prst="roundRect">
            <a:avLst>
              <a:gd name="adj" fmla="val 4737"/>
            </a:avLst>
          </a:prstGeom>
          <a:solidFill>
            <a:srgbClr val="1D1F2B"/>
          </a:solidFill>
          <a:ln w="12700">
            <a:solidFill>
              <a:srgbClr val="1D1F2B"/>
            </a:solidFill>
            <a:prstDash val="solid"/>
          </a:ln>
        </p:spPr>
        <p:txBody>
          <a:bodyPr/>
          <a:p/>
        </p:txBody>
      </p:sp>
      <p:sp>
        <p:nvSpPr>
          <p:cNvPr id="5" name="Shape 3"/>
          <p:cNvSpPr/>
          <p:nvPr/>
        </p:nvSpPr>
        <p:spPr>
          <a:xfrm>
            <a:off x="594360" y="1645920"/>
            <a:ext cx="82296" cy="173736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783080"/>
            <a:ext cx="4846320" cy="365760"/>
          </a:xfrm>
          <a:prstGeom prst="rect">
            <a:avLst/>
          </a:prstGeom>
          <a:noFill/>
          <a:ln/>
        </p:spPr>
        <p:txBody>
          <a:bodyPr wrap="square" lIns="0" tIns="0" rIns="0" bIns="0" rtlCol="0" anchor="t"/>
          <a:lstStyle/>
          <a:p>
            <a:pPr indent="0" marL="0">
              <a:buNone/>
            </a:pPr>
            <a:r>
              <a:rPr lang="en-US" sz="1500" b="1" spc="200" kern="0" dirty="0">
                <a:solidFill>
                  <a:srgbClr val="27D3BE"/>
                </a:solidFill>
                <a:latin typeface="Palatino Linotype" pitchFamily="34" charset="0"/>
                <a:ea typeface="Palatino Linotype" pitchFamily="34" charset="-122"/>
                <a:cs typeface="Palatino Linotype" pitchFamily="34" charset="-120"/>
              </a:rPr>
              <a:t>MANAGEMENTUL</a:t>
            </a:r>
            <a:endParaRPr lang="en-US" sz="1500" dirty="0"/>
          </a:p>
        </p:txBody>
      </p:sp>
      <p:sp>
        <p:nvSpPr>
          <p:cNvPr id="7" name="Text 5"/>
          <p:cNvSpPr/>
          <p:nvPr/>
        </p:nvSpPr>
        <p:spPr>
          <a:xfrm>
            <a:off x="914400" y="2194560"/>
            <a:ext cx="484632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Ordinea și eficiența: lucrurile merg bine, așa cum sunt organizate.</a:t>
            </a:r>
            <a:endParaRPr lang="en-US" sz="1900" dirty="0"/>
          </a:p>
        </p:txBody>
      </p:sp>
      <p:sp>
        <p:nvSpPr>
          <p:cNvPr id="8" name="Shape 6"/>
          <p:cNvSpPr/>
          <p:nvPr/>
        </p:nvSpPr>
        <p:spPr>
          <a:xfrm>
            <a:off x="6172200" y="1645920"/>
            <a:ext cx="5394960" cy="1737360"/>
          </a:xfrm>
          <a:prstGeom prst="roundRect">
            <a:avLst>
              <a:gd name="adj" fmla="val 4737"/>
            </a:avLst>
          </a:prstGeom>
          <a:solidFill>
            <a:srgbClr val="1D1F2B"/>
          </a:solidFill>
          <a:ln w="12700">
            <a:solidFill>
              <a:srgbClr val="1D1F2B"/>
            </a:solidFill>
            <a:prstDash val="solid"/>
          </a:ln>
        </p:spPr>
        <p:txBody>
          <a:bodyPr/>
          <a:p/>
        </p:txBody>
      </p:sp>
      <p:sp>
        <p:nvSpPr>
          <p:cNvPr id="9" name="Shape 7"/>
          <p:cNvSpPr/>
          <p:nvPr/>
        </p:nvSpPr>
        <p:spPr>
          <a:xfrm>
            <a:off x="6172200" y="1645920"/>
            <a:ext cx="82296" cy="1737360"/>
          </a:xfrm>
          <a:prstGeom prst="rect">
            <a:avLst/>
          </a:prstGeom>
          <a:solidFill>
            <a:srgbClr val="FF4757"/>
          </a:solidFill>
          <a:ln w="12700">
            <a:solidFill>
              <a:srgbClr val="FF4757"/>
            </a:solidFill>
            <a:prstDash val="solid"/>
          </a:ln>
        </p:spPr>
        <p:txBody>
          <a:bodyPr/>
          <a:p/>
        </p:txBody>
      </p:sp>
      <p:sp>
        <p:nvSpPr>
          <p:cNvPr id="10" name="Text 8"/>
          <p:cNvSpPr/>
          <p:nvPr/>
        </p:nvSpPr>
        <p:spPr>
          <a:xfrm>
            <a:off x="6492240" y="1783080"/>
            <a:ext cx="4846320" cy="365760"/>
          </a:xfrm>
          <a:prstGeom prst="rect">
            <a:avLst/>
          </a:prstGeom>
          <a:noFill/>
          <a:ln/>
        </p:spPr>
        <p:txBody>
          <a:bodyPr wrap="square" lIns="0" tIns="0" rIns="0" bIns="0" rtlCol="0" anchor="t"/>
          <a:lstStyle/>
          <a:p>
            <a:pPr indent="0" marL="0">
              <a:buNone/>
            </a:pPr>
            <a:r>
              <a:rPr lang="en-US" sz="1500" b="1" spc="200" kern="0" dirty="0">
                <a:solidFill>
                  <a:srgbClr val="FF4757"/>
                </a:solidFill>
                <a:latin typeface="Palatino Linotype" pitchFamily="34" charset="0"/>
                <a:ea typeface="Palatino Linotype" pitchFamily="34" charset="-122"/>
                <a:cs typeface="Palatino Linotype" pitchFamily="34" charset="-120"/>
              </a:rPr>
              <a:t>CONDUCEREA STRATEGICĂ</a:t>
            </a:r>
            <a:endParaRPr lang="en-US" sz="1500" dirty="0"/>
          </a:p>
        </p:txBody>
      </p:sp>
      <p:sp>
        <p:nvSpPr>
          <p:cNvPr id="11" name="Text 9"/>
          <p:cNvSpPr/>
          <p:nvPr/>
        </p:nvSpPr>
        <p:spPr>
          <a:xfrm>
            <a:off x="6492240" y="2194560"/>
            <a:ext cx="484632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Leadershipul: schimbarea; organizația ajunge acolo unde nu este încă.</a:t>
            </a:r>
            <a:endParaRPr lang="en-US" sz="1900" dirty="0"/>
          </a:p>
        </p:txBody>
      </p:sp>
      <p:sp>
        <p:nvSpPr>
          <p:cNvPr id="12" name="Text 10"/>
          <p:cNvSpPr/>
          <p:nvPr/>
        </p:nvSpPr>
        <p:spPr>
          <a:xfrm>
            <a:off x="594360" y="3657600"/>
            <a:ext cx="10972800" cy="8229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Leadershipul nu ține de funcție: a oferi o viziune, a-i alinia pe oameni în jurul ei și a-i motiva se poate învăța.</a:t>
            </a:r>
            <a:endParaRPr lang="en-US" sz="1900" dirty="0"/>
          </a:p>
        </p:txBody>
      </p:sp>
      <p:sp>
        <p:nvSpPr>
          <p:cNvPr id="13" name="Text 11"/>
          <p:cNvSpPr/>
          <p:nvPr/>
        </p:nvSpPr>
        <p:spPr>
          <a:xfrm>
            <a:off x="594360" y="4572000"/>
            <a:ext cx="10972800" cy="8229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Într-un cămin pentru vârstnici, personalul de curățenie care înțelege rolul curățeniei poate gândi strategic.</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NU SE NOTEAZĂ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ÎNAPOI LA SESIUNE</a:t>
            </a:r>
            <a:endParaRPr lang="en-US" sz="1300" dirty="0"/>
          </a:p>
        </p:txBody>
      </p:sp>
      <p:sp>
        <p:nvSpPr>
          <p:cNvPr id="5" name="Text 3"/>
          <p:cNvSpPr/>
          <p:nvPr/>
        </p:nvSpPr>
        <p:spPr>
          <a:xfrm>
            <a:off x="594360" y="77724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Testul de la final</a:t>
            </a:r>
            <a:endParaRPr lang="en-US" sz="4000" dirty="0"/>
          </a:p>
        </p:txBody>
      </p:sp>
      <p:sp>
        <p:nvSpPr>
          <p:cNvPr id="6" name="Text 4"/>
          <p:cNvSpPr/>
          <p:nvPr/>
        </p:nvSpPr>
        <p:spPr>
          <a:xfrm>
            <a:off x="594360" y="1691640"/>
            <a:ext cx="10515600" cy="82296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Zece întrebări despre ideile ședinței. Rezultatele arată ce reluăm la începutul cursului următor.</a:t>
            </a:r>
            <a:endParaRPr lang="en-US" sz="2000" dirty="0"/>
          </a:p>
        </p:txBody>
      </p:sp>
      <p:sp>
        <p:nvSpPr>
          <p:cNvPr id="7" name="Shape 5"/>
          <p:cNvSpPr/>
          <p:nvPr/>
        </p:nvSpPr>
        <p:spPr>
          <a:xfrm>
            <a:off x="594360" y="278892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8" name="Text 6"/>
          <p:cNvSpPr/>
          <p:nvPr/>
        </p:nvSpPr>
        <p:spPr>
          <a:xfrm>
            <a:off x="594360" y="2788920"/>
            <a:ext cx="3520440" cy="329184"/>
          </a:xfrm>
          <a:prstGeom prst="rect">
            <a:avLst/>
          </a:prstGeom>
          <a:noFill/>
          <a:ln/>
        </p:spPr>
        <p:txBody>
          <a:bodyPr wrap="square" lIns="0" tIns="0" rIns="0" bIns="0" rtlCol="0" anchor="ctr"/>
          <a:lstStyle/>
          <a:p>
            <a:pPr algn="ctr" indent="0" marL="0">
              <a:buNone/>
            </a:pPr>
            <a:r>
              <a:rPr lang="en-US" sz="1500" b="1" dirty="0">
                <a:solidFill>
                  <a:srgbClr val="27D3BE"/>
                </a:solidFill>
                <a:latin typeface="Palatino Linotype" pitchFamily="34" charset="0"/>
                <a:ea typeface="Palatino Linotype" pitchFamily="34" charset="-122"/>
                <a:cs typeface="Palatino Linotype" pitchFamily="34" charset="-120"/>
              </a:rPr>
              <a:t>strategia</a:t>
            </a:r>
            <a:endParaRPr lang="en-US" sz="1500" dirty="0"/>
          </a:p>
        </p:txBody>
      </p:sp>
      <p:sp>
        <p:nvSpPr>
          <p:cNvPr id="9" name="Shape 7"/>
          <p:cNvSpPr/>
          <p:nvPr/>
        </p:nvSpPr>
        <p:spPr>
          <a:xfrm>
            <a:off x="4343400" y="278892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0" name="Text 8"/>
          <p:cNvSpPr/>
          <p:nvPr/>
        </p:nvSpPr>
        <p:spPr>
          <a:xfrm>
            <a:off x="4343400" y="2788920"/>
            <a:ext cx="3520440" cy="329184"/>
          </a:xfrm>
          <a:prstGeom prst="rect">
            <a:avLst/>
          </a:prstGeom>
          <a:noFill/>
          <a:ln/>
        </p:spPr>
        <p:txBody>
          <a:bodyPr wrap="square" lIns="0" tIns="0" rIns="0" bIns="0" rtlCol="0" anchor="ctr"/>
          <a:lstStyle/>
          <a:p>
            <a:pPr algn="ctr" indent="0" marL="0">
              <a:buNone/>
            </a:pPr>
            <a:r>
              <a:rPr lang="en-US" sz="1500" b="1" dirty="0">
                <a:solidFill>
                  <a:srgbClr val="27D3BE"/>
                </a:solidFill>
                <a:latin typeface="Palatino Linotype" pitchFamily="34" charset="0"/>
                <a:ea typeface="Palatino Linotype" pitchFamily="34" charset="-122"/>
                <a:cs typeface="Palatino Linotype" pitchFamily="34" charset="-120"/>
              </a:rPr>
              <a:t>cele trei părți</a:t>
            </a:r>
            <a:endParaRPr lang="en-US" sz="1500" dirty="0"/>
          </a:p>
        </p:txBody>
      </p:sp>
      <p:sp>
        <p:nvSpPr>
          <p:cNvPr id="11" name="Shape 9"/>
          <p:cNvSpPr/>
          <p:nvPr/>
        </p:nvSpPr>
        <p:spPr>
          <a:xfrm>
            <a:off x="8092440" y="278892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2" name="Text 10"/>
          <p:cNvSpPr/>
          <p:nvPr/>
        </p:nvSpPr>
        <p:spPr>
          <a:xfrm>
            <a:off x="8092440" y="2788920"/>
            <a:ext cx="3520440" cy="329184"/>
          </a:xfrm>
          <a:prstGeom prst="rect">
            <a:avLst/>
          </a:prstGeom>
          <a:noFill/>
          <a:ln/>
        </p:spPr>
        <p:txBody>
          <a:bodyPr wrap="square" lIns="0" tIns="0" rIns="0" bIns="0" rtlCol="0" anchor="ctr"/>
          <a:lstStyle/>
          <a:p>
            <a:pPr algn="ctr" indent="0" marL="0">
              <a:buNone/>
            </a:pPr>
            <a:r>
              <a:rPr lang="en-US" sz="1500" b="1" dirty="0">
                <a:solidFill>
                  <a:srgbClr val="27D3BE"/>
                </a:solidFill>
                <a:latin typeface="Palatino Linotype" pitchFamily="34" charset="0"/>
                <a:ea typeface="Palatino Linotype" pitchFamily="34" charset="-122"/>
                <a:cs typeface="Palatino Linotype" pitchFamily="34" charset="-120"/>
              </a:rPr>
              <a:t>cei patru pași</a:t>
            </a:r>
            <a:endParaRPr lang="en-US" sz="1500" dirty="0"/>
          </a:p>
        </p:txBody>
      </p:sp>
      <p:sp>
        <p:nvSpPr>
          <p:cNvPr id="13" name="Shape 11"/>
          <p:cNvSpPr/>
          <p:nvPr/>
        </p:nvSpPr>
        <p:spPr>
          <a:xfrm>
            <a:off x="594360" y="329184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4" name="Text 12"/>
          <p:cNvSpPr/>
          <p:nvPr/>
        </p:nvSpPr>
        <p:spPr>
          <a:xfrm>
            <a:off x="594360" y="3291840"/>
            <a:ext cx="3520440" cy="329184"/>
          </a:xfrm>
          <a:prstGeom prst="rect">
            <a:avLst/>
          </a:prstGeom>
          <a:noFill/>
          <a:ln/>
        </p:spPr>
        <p:txBody>
          <a:bodyPr wrap="square" lIns="0" tIns="0" rIns="0" bIns="0" rtlCol="0" anchor="ctr"/>
          <a:lstStyle/>
          <a:p>
            <a:pPr algn="ctr" indent="0" marL="0">
              <a:buNone/>
            </a:pPr>
            <a:r>
              <a:rPr lang="en-US" sz="1500" b="1" dirty="0">
                <a:solidFill>
                  <a:srgbClr val="27D3BE"/>
                </a:solidFill>
                <a:latin typeface="Palatino Linotype" pitchFamily="34" charset="0"/>
                <a:ea typeface="Palatino Linotype" pitchFamily="34" charset="-122"/>
                <a:cs typeface="Palatino Linotype" pitchFamily="34" charset="-120"/>
              </a:rPr>
              <a:t>harta și busola</a:t>
            </a:r>
            <a:endParaRPr lang="en-US" sz="1500" dirty="0"/>
          </a:p>
        </p:txBody>
      </p:sp>
      <p:sp>
        <p:nvSpPr>
          <p:cNvPr id="15" name="Shape 13"/>
          <p:cNvSpPr/>
          <p:nvPr/>
        </p:nvSpPr>
        <p:spPr>
          <a:xfrm>
            <a:off x="4343400" y="3291840"/>
            <a:ext cx="3520440" cy="329184"/>
          </a:xfrm>
          <a:prstGeom prst="roundRect">
            <a:avLst>
              <a:gd name="adj" fmla="val 50000"/>
            </a:avLst>
          </a:prstGeom>
          <a:solidFill>
            <a:srgbClr val="272A38"/>
          </a:solidFill>
          <a:ln w="12700">
            <a:solidFill>
              <a:srgbClr val="272A38"/>
            </a:solidFill>
            <a:prstDash val="solid"/>
          </a:ln>
        </p:spPr>
        <p:txBody>
          <a:bodyPr/>
          <a:p/>
        </p:txBody>
      </p:sp>
      <p:sp>
        <p:nvSpPr>
          <p:cNvPr id="16" name="Text 14"/>
          <p:cNvSpPr/>
          <p:nvPr/>
        </p:nvSpPr>
        <p:spPr>
          <a:xfrm>
            <a:off x="4343400" y="3291840"/>
            <a:ext cx="3520440" cy="329184"/>
          </a:xfrm>
          <a:prstGeom prst="rect">
            <a:avLst/>
          </a:prstGeom>
          <a:noFill/>
          <a:ln/>
        </p:spPr>
        <p:txBody>
          <a:bodyPr wrap="square" lIns="0" tIns="0" rIns="0" bIns="0" rtlCol="0" anchor="ctr"/>
          <a:lstStyle/>
          <a:p>
            <a:pPr algn="ctr" indent="0" marL="0">
              <a:buNone/>
            </a:pPr>
            <a:r>
              <a:rPr lang="en-US" sz="1500" b="1" dirty="0">
                <a:solidFill>
                  <a:srgbClr val="27D3BE"/>
                </a:solidFill>
                <a:latin typeface="Palatino Linotype" pitchFamily="34" charset="0"/>
                <a:ea typeface="Palatino Linotype" pitchFamily="34" charset="-122"/>
                <a:cs typeface="Palatino Linotype" pitchFamily="34" charset="-120"/>
              </a:rPr>
              <a:t>spitalul ca sistem viu</a:t>
            </a:r>
            <a:endParaRPr lang="en-US" sz="1500" dirty="0"/>
          </a:p>
        </p:txBody>
      </p:sp>
      <p:sp>
        <p:nvSpPr>
          <p:cNvPr id="17" name="Shape 15"/>
          <p:cNvSpPr/>
          <p:nvPr/>
        </p:nvSpPr>
        <p:spPr>
          <a:xfrm>
            <a:off x="594360" y="4069080"/>
            <a:ext cx="10972800" cy="1051560"/>
          </a:xfrm>
          <a:prstGeom prst="roundRect">
            <a:avLst>
              <a:gd name="adj" fmla="val 7826"/>
            </a:avLst>
          </a:prstGeom>
          <a:solidFill>
            <a:srgbClr val="1D1F2B"/>
          </a:solidFill>
          <a:ln w="12700">
            <a:solidFill>
              <a:srgbClr val="1D1F2B"/>
            </a:solidFill>
            <a:prstDash val="solid"/>
          </a:ln>
        </p:spPr>
        <p:txBody>
          <a:bodyPr/>
          <a:p/>
        </p:txBody>
      </p:sp>
      <p:sp>
        <p:nvSpPr>
          <p:cNvPr id="18" name="Text 16"/>
          <p:cNvSpPr/>
          <p:nvPr/>
        </p:nvSpPr>
        <p:spPr>
          <a:xfrm>
            <a:off x="868680" y="4069080"/>
            <a:ext cx="10424160" cy="1051560"/>
          </a:xfrm>
          <a:prstGeom prst="rect">
            <a:avLst/>
          </a:prstGeom>
          <a:noFill/>
          <a:ln/>
        </p:spPr>
        <p:txBody>
          <a:bodyPr wrap="square" lIns="0" tIns="0" rIns="0" bIns="0" rtlCol="0" anchor="ctr"/>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kahoot.it · PIN: [PIN Kahoot]</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ACEEAȘI ÎNTREBARE, A DOUA OARĂ</a:t>
            </a:r>
            <a:endParaRPr lang="en-US" sz="1300" dirty="0"/>
          </a:p>
        </p:txBody>
      </p:sp>
      <p:sp>
        <p:nvSpPr>
          <p:cNvPr id="5" name="Text 3"/>
          <p:cNvSpPr/>
          <p:nvPr/>
        </p:nvSpPr>
        <p:spPr>
          <a:xfrm>
            <a:off x="594360" y="914400"/>
            <a:ext cx="10789920" cy="15544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Ce vă vine acum în minte când auziți cuvântul „strategie”?</a:t>
            </a:r>
            <a:endParaRPr lang="en-US" sz="3600" dirty="0"/>
          </a:p>
        </p:txBody>
      </p:sp>
      <p:sp>
        <p:nvSpPr>
          <p:cNvPr id="6" name="Shape 4"/>
          <p:cNvSpPr/>
          <p:nvPr/>
        </p:nvSpPr>
        <p:spPr>
          <a:xfrm>
            <a:off x="594360" y="2743200"/>
            <a:ext cx="5394960" cy="2103120"/>
          </a:xfrm>
          <a:prstGeom prst="roundRect">
            <a:avLst>
              <a:gd name="adj" fmla="val 3913"/>
            </a:avLst>
          </a:prstGeom>
          <a:solidFill>
            <a:srgbClr val="1D1F2B"/>
          </a:solidFill>
          <a:ln w="12700">
            <a:solidFill>
              <a:srgbClr val="1D1F2B"/>
            </a:solidFill>
            <a:prstDash val="solid"/>
          </a:ln>
        </p:spPr>
        <p:txBody>
          <a:bodyPr/>
          <a:p/>
        </p:txBody>
      </p:sp>
      <p:sp>
        <p:nvSpPr>
          <p:cNvPr id="7" name="Text 5"/>
          <p:cNvSpPr/>
          <p:nvPr/>
        </p:nvSpPr>
        <p:spPr>
          <a:xfrm>
            <a:off x="594360" y="2743200"/>
            <a:ext cx="5394960" cy="2103120"/>
          </a:xfrm>
          <a:prstGeom prst="rect">
            <a:avLst/>
          </a:prstGeom>
          <a:noFill/>
          <a:ln/>
        </p:spPr>
        <p:txBody>
          <a:bodyPr wrap="square" lIns="0" tIns="0" rIns="0" bIns="0" rtlCol="0" anchor="ctr"/>
          <a:lstStyle/>
          <a:p>
            <a:pPr algn="ctr" indent="0" marL="0">
              <a:buNone/>
            </a:pPr>
            <a:r>
              <a:rPr lang="en-US" sz="2000" b="1" dirty="0">
                <a:solidFill>
                  <a:srgbClr val="959BB0"/>
                </a:solidFill>
                <a:latin typeface="Palatino Linotype" pitchFamily="34" charset="0"/>
                <a:ea typeface="Palatino Linotype" pitchFamily="34" charset="-122"/>
                <a:cs typeface="Palatino Linotype" pitchFamily="34" charset="-120"/>
              </a:rPr>
              <a:t>La începutul ședinței</a:t>
            </a:r>
            <a:endParaRPr lang="en-US" sz="2000" dirty="0"/>
          </a:p>
        </p:txBody>
      </p:sp>
      <p:sp>
        <p:nvSpPr>
          <p:cNvPr id="8" name="Shape 6"/>
          <p:cNvSpPr/>
          <p:nvPr/>
        </p:nvSpPr>
        <p:spPr>
          <a:xfrm>
            <a:off x="6172200" y="2743200"/>
            <a:ext cx="5394960" cy="2103120"/>
          </a:xfrm>
          <a:prstGeom prst="roundRect">
            <a:avLst>
              <a:gd name="adj" fmla="val 3913"/>
            </a:avLst>
          </a:prstGeom>
          <a:solidFill>
            <a:srgbClr val="272A38"/>
          </a:solidFill>
          <a:ln w="12700">
            <a:solidFill>
              <a:srgbClr val="272A38"/>
            </a:solidFill>
            <a:prstDash val="solid"/>
          </a:ln>
        </p:spPr>
        <p:txBody>
          <a:bodyPr/>
          <a:p/>
        </p:txBody>
      </p:sp>
      <p:sp>
        <p:nvSpPr>
          <p:cNvPr id="9" name="Text 7"/>
          <p:cNvSpPr/>
          <p:nvPr/>
        </p:nvSpPr>
        <p:spPr>
          <a:xfrm>
            <a:off x="6172200" y="2743200"/>
            <a:ext cx="5394960" cy="2103120"/>
          </a:xfrm>
          <a:prstGeom prst="rect">
            <a:avLst/>
          </a:prstGeom>
          <a:noFill/>
          <a:ln/>
        </p:spPr>
        <p:txBody>
          <a:bodyPr wrap="square" lIns="0" tIns="0" rIns="0" bIns="0" rtlCol="0" anchor="ctr"/>
          <a:lstStyle/>
          <a:p>
            <a:pPr algn="ctr" indent="0" marL="0">
              <a:buNone/>
            </a:pPr>
            <a:r>
              <a:rPr lang="en-US" sz="2000" b="1" dirty="0">
                <a:solidFill>
                  <a:srgbClr val="959BB0"/>
                </a:solidFill>
                <a:latin typeface="Palatino Linotype" pitchFamily="34" charset="0"/>
                <a:ea typeface="Palatino Linotype" pitchFamily="34" charset="-122"/>
                <a:cs typeface="Palatino Linotype" pitchFamily="34" charset="-120"/>
              </a:rPr>
              <a:t>Acum</a:t>
            </a:r>
            <a:endParaRPr lang="en-US" sz="2000" dirty="0"/>
          </a:p>
        </p:txBody>
      </p:sp>
      <p:sp>
        <p:nvSpPr>
          <p:cNvPr id="10" name="Text 8"/>
          <p:cNvSpPr/>
          <p:nvPr/>
        </p:nvSpPr>
        <p:spPr>
          <a:xfrm>
            <a:off x="594360" y="5120640"/>
            <a:ext cx="10972800" cy="54864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Ce cuvinte au apărut? Ce cuvinte au dispărut?</a:t>
            </a:r>
            <a:endParaRPr 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a:t>
            </a:r>
            <a:endParaRPr lang="en-US" sz="3100" dirty="0"/>
          </a:p>
        </p:txBody>
      </p:sp>
      <p:sp>
        <p:nvSpPr>
          <p:cNvPr id="4" name="Shape 2"/>
          <p:cNvSpPr/>
          <p:nvPr/>
        </p:nvSpPr>
        <p:spPr>
          <a:xfrm>
            <a:off x="594360" y="1600200"/>
            <a:ext cx="10972800" cy="822960"/>
          </a:xfrm>
          <a:prstGeom prst="roundRect">
            <a:avLst>
              <a:gd name="adj" fmla="val 10000"/>
            </a:avLst>
          </a:prstGeom>
          <a:solidFill>
            <a:srgbClr val="ECEAE4"/>
          </a:solidFill>
          <a:ln w="12700">
            <a:solidFill>
              <a:srgbClr val="ECEAE4"/>
            </a:solidFill>
            <a:prstDash val="solid"/>
          </a:ln>
        </p:spPr>
        <p:txBody>
          <a:bodyPr/>
          <a:p/>
        </p:txBody>
      </p:sp>
      <p:sp>
        <p:nvSpPr>
          <p:cNvPr id="5" name="Shape 3"/>
          <p:cNvSpPr/>
          <p:nvPr/>
        </p:nvSpPr>
        <p:spPr>
          <a:xfrm>
            <a:off x="822960" y="1801368"/>
            <a:ext cx="420624" cy="420624"/>
          </a:xfrm>
          <a:prstGeom prst="ellipse">
            <a:avLst/>
          </a:prstGeom>
          <a:solidFill>
            <a:srgbClr val="FF4757"/>
          </a:solidFill>
          <a:ln/>
        </p:spPr>
        <p:txBody>
          <a:bodyPr/>
          <a:p/>
        </p:txBody>
      </p:sp>
      <p:sp>
        <p:nvSpPr>
          <p:cNvPr id="6" name="Text 4"/>
          <p:cNvSpPr/>
          <p:nvPr/>
        </p:nvSpPr>
        <p:spPr>
          <a:xfrm>
            <a:off x="82296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00200"/>
            <a:ext cx="99212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„Ne trebuie mai multe paturi”? La ce problemă răspunde propunerea?</a:t>
            </a:r>
            <a:endParaRPr lang="en-US" sz="1800" dirty="0"/>
          </a:p>
        </p:txBody>
      </p:sp>
      <p:sp>
        <p:nvSpPr>
          <p:cNvPr id="8" name="Shape 6"/>
          <p:cNvSpPr/>
          <p:nvPr/>
        </p:nvSpPr>
        <p:spPr>
          <a:xfrm>
            <a:off x="594360" y="2560320"/>
            <a:ext cx="10972800" cy="822960"/>
          </a:xfrm>
          <a:prstGeom prst="roundRect">
            <a:avLst>
              <a:gd name="adj" fmla="val 10000"/>
            </a:avLst>
          </a:prstGeom>
          <a:solidFill>
            <a:srgbClr val="F9F8F5"/>
          </a:solidFill>
          <a:ln w="12700">
            <a:solidFill>
              <a:srgbClr val="F9F8F5"/>
            </a:solidFill>
            <a:prstDash val="solid"/>
          </a:ln>
        </p:spPr>
        <p:txBody>
          <a:bodyPr/>
          <a:p/>
        </p:txBody>
      </p:sp>
      <p:sp>
        <p:nvSpPr>
          <p:cNvPr id="9" name="Shape 7"/>
          <p:cNvSpPr/>
          <p:nvPr/>
        </p:nvSpPr>
        <p:spPr>
          <a:xfrm>
            <a:off x="822960" y="2761488"/>
            <a:ext cx="420624" cy="420624"/>
          </a:xfrm>
          <a:prstGeom prst="ellipse">
            <a:avLst/>
          </a:prstGeom>
          <a:solidFill>
            <a:srgbClr val="FF4757"/>
          </a:solidFill>
          <a:ln/>
        </p:spPr>
        <p:txBody>
          <a:bodyPr/>
          <a:p/>
        </p:txBody>
      </p:sp>
      <p:sp>
        <p:nvSpPr>
          <p:cNvPr id="10" name="Text 8"/>
          <p:cNvSpPr/>
          <p:nvPr/>
        </p:nvSpPr>
        <p:spPr>
          <a:xfrm>
            <a:off x="822960" y="27614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560320"/>
            <a:ext cx="99212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Strategia unei instituții: ce a hotărât să nu mai facă?</a:t>
            </a:r>
            <a:endParaRPr lang="en-US" sz="1800" dirty="0"/>
          </a:p>
        </p:txBody>
      </p:sp>
      <p:sp>
        <p:nvSpPr>
          <p:cNvPr id="12" name="Shape 10"/>
          <p:cNvSpPr/>
          <p:nvPr/>
        </p:nvSpPr>
        <p:spPr>
          <a:xfrm>
            <a:off x="594360" y="3520440"/>
            <a:ext cx="10972800" cy="822960"/>
          </a:xfrm>
          <a:prstGeom prst="roundRect">
            <a:avLst>
              <a:gd name="adj" fmla="val 10000"/>
            </a:avLst>
          </a:prstGeom>
          <a:solidFill>
            <a:srgbClr val="ECEAE4"/>
          </a:solidFill>
          <a:ln w="12700">
            <a:solidFill>
              <a:srgbClr val="ECEAE4"/>
            </a:solidFill>
            <a:prstDash val="solid"/>
          </a:ln>
        </p:spPr>
        <p:txBody>
          <a:bodyPr/>
          <a:p/>
        </p:txBody>
      </p:sp>
      <p:sp>
        <p:nvSpPr>
          <p:cNvPr id="13" name="Shape 11"/>
          <p:cNvSpPr/>
          <p:nvPr/>
        </p:nvSpPr>
        <p:spPr>
          <a:xfrm>
            <a:off x="822960" y="3721608"/>
            <a:ext cx="420624" cy="420624"/>
          </a:xfrm>
          <a:prstGeom prst="ellipse">
            <a:avLst/>
          </a:prstGeom>
          <a:solidFill>
            <a:srgbClr val="FF4757"/>
          </a:solidFill>
          <a:ln/>
        </p:spPr>
        <p:txBody>
          <a:bodyPr/>
          <a:p/>
        </p:txBody>
      </p:sp>
      <p:sp>
        <p:nvSpPr>
          <p:cNvPr id="14" name="Text 12"/>
          <p:cNvSpPr/>
          <p:nvPr/>
        </p:nvSpPr>
        <p:spPr>
          <a:xfrm>
            <a:off x="822960" y="37216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520440"/>
            <a:ext cx="99212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Planul vostru: stabiliți de la început când îl verificați și îl corectați.</a:t>
            </a:r>
            <a:endParaRPr lang="en-US" sz="1800" dirty="0"/>
          </a:p>
        </p:txBody>
      </p:sp>
      <p:sp>
        <p:nvSpPr>
          <p:cNvPr id="16" name="Shape 14"/>
          <p:cNvSpPr/>
          <p:nvPr/>
        </p:nvSpPr>
        <p:spPr>
          <a:xfrm>
            <a:off x="594360" y="4480560"/>
            <a:ext cx="10972800" cy="822960"/>
          </a:xfrm>
          <a:prstGeom prst="roundRect">
            <a:avLst>
              <a:gd name="adj" fmla="val 10000"/>
            </a:avLst>
          </a:prstGeom>
          <a:solidFill>
            <a:srgbClr val="F9F8F5"/>
          </a:solidFill>
          <a:ln w="12700">
            <a:solidFill>
              <a:srgbClr val="F9F8F5"/>
            </a:solidFill>
            <a:prstDash val="solid"/>
          </a:ln>
        </p:spPr>
        <p:txBody>
          <a:bodyPr/>
          <a:p/>
        </p:txBody>
      </p:sp>
      <p:sp>
        <p:nvSpPr>
          <p:cNvPr id="17" name="Shape 15"/>
          <p:cNvSpPr/>
          <p:nvPr/>
        </p:nvSpPr>
        <p:spPr>
          <a:xfrm>
            <a:off x="822960" y="4681728"/>
            <a:ext cx="420624" cy="420624"/>
          </a:xfrm>
          <a:prstGeom prst="ellipse">
            <a:avLst/>
          </a:prstGeom>
          <a:solidFill>
            <a:srgbClr val="FF4757"/>
          </a:solidFill>
          <a:ln/>
        </p:spPr>
        <p:txBody>
          <a:bodyPr/>
          <a:p/>
        </p:txBody>
      </p:sp>
      <p:sp>
        <p:nvSpPr>
          <p:cNvPr id="18" name="Text 16"/>
          <p:cNvSpPr/>
          <p:nvPr/>
        </p:nvSpPr>
        <p:spPr>
          <a:xfrm>
            <a:off x="822960" y="46817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480560"/>
            <a:ext cx="9921240" cy="82296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decizie simplă: cine altcineva îi va simți efectul?</a:t>
            </a:r>
            <a:endParaRPr lang="en-US" sz="1800" dirty="0"/>
          </a:p>
        </p:txBody>
      </p:sp>
      <p:sp>
        <p:nvSpPr>
          <p:cNvPr id="20" name="Text 18"/>
          <p:cNvSpPr/>
          <p:nvPr/>
        </p:nvSpPr>
        <p:spPr>
          <a:xfrm>
            <a:off x="594360" y="5532120"/>
            <a:ext cx="10972800" cy="41148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Azi, la seminar, echipele își încep proiectul. Săptămâna viitoare: analiza mediului extern.</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743200"/>
          </a:xfrm>
          <a:prstGeom prst="roundRect">
            <a:avLst>
              <a:gd name="adj" fmla="val 3000"/>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a două modificări, anunțate la începutul ședinței următoare.</a:t>
            </a:r>
            <a:endParaRPr lang="en-US" sz="1700" dirty="0"/>
          </a:p>
        </p:txBody>
      </p:sp>
      <p:pic>
        <p:nvPicPr>
          <p:cNvPr id="17" name="Picture 16" descr="Mentimeter_UB_MSSS_C01.png"/>
          <p:cNvPicPr>
            <a:picLocks noChangeAspect="1"/>
          </p:cNvPicPr>
          <p:nvPr/>
        </p:nvPicPr>
        <p:blipFill>
          <a:blip r:embed="rId3"/>
          <a:stretch>
            <a:fillRect/>
          </a:stretch>
        </p:blipFill>
        <p:spPr>
          <a:xfrm>
            <a:off x="9000490" y="2331720"/>
            <a:ext cx="2115820" cy="2115820"/>
          </a:xfrm>
          <a:prstGeom prst="rect">
            <a:avLst/>
          </a:prstGeom>
        </p:spPr>
      </p:pic>
      <p:sp>
        <p:nvSpPr>
          <p:cNvPr id="18" name="TextBox 17"/>
          <p:cNvSpPr txBox="1"/>
          <p:nvPr/>
        </p:nvSpPr>
        <p:spPr>
          <a:xfrm>
            <a:off x="9000490" y="4485640"/>
            <a:ext cx="21158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1 - De ce management strategic în sănătate?</dc:title>
  <dc:subject>PptxGenJS Presentation</dc:subject>
  <dc:creator>Conf. Univ. Dr. Adrian Pana</dc:creator>
  <cp:lastModifiedBy>Conf. Univ. Dr. Adrian Pana</cp:lastModifiedBy>
  <cp:revision>1</cp:revision>
  <dcterms:created xsi:type="dcterms:W3CDTF">2026-10-03T20:41:25Z</dcterms:created>
  <dcterms:modified xsi:type="dcterms:W3CDTF">2026-10-03T20:41:25Z</dcterms:modified>
  <cp:keywords>sursa_amprenta=3013603926aaacf4; proiectie</cp:keywords>
</cp:coreProperties>
</file>