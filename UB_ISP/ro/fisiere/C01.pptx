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8-1.jpg" ContentType="image/jpg"/>
  <Override PartName="/ppt/media/image-19-1.jpg" ContentType="image/jpg"/>
  <Override PartName="/ppt/media/image-22-1.jpg" ContentType="image/jpg"/>
  <Override PartName="/ppt/media/image-22-2.jpg" ContentType="image/jpg"/>
  <Override PartName="/ppt/media/image-23-1.jpg" ContentType="image/jpg"/>
  <Override PartName="/ppt/media/image-29-1.jpg" ContentType="image/jpg"/>
  <Override PartName="/ppt/media/image-30-1.jpg" ContentType="image/jpg"/>
  <Override PartName="/ppt/media/image-31-1.jpg" ContentType="image/jpg"/>
  <Override PartName="/ppt/media/image-31-2.jpg" ContentType="image/jpg"/>
  <Override PartName="/ppt/media/image-31-3.jpg" ContentType="image/jpg"/>
  <Override PartName="/ppt/media/image-3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Istoricul sănătății publice ascunde o întrebare: de ce a apărut, la un moment dat, nevoia unui alt fel de a face medicină? Începem cu un oraș inundat.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 datorăm un prim răspuns de la început, nu la sfârșitul semestrului. Îl dăm în formă provizorie; ședința de azi îi spune povestea, iar ședința a doua îl rafinează.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Ședința are cinci părți. Jumătate din timp lucrați voi: votați, discutați în perechi, argumentați în tabere și ordonați evenimentele pe linia timpului. Nimic din ce faceți în sală nu se notează.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și nu descrie un eveniment real. Sunteți studenți, nu medici și nici funcționari. Nimeni nu știe încă dacă apa are vreo legătură cu copiii bolnavi.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singură variantă, după prima impresie. Votul este anonim, iar rezultatele apar pe ecran imediat.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obicei, voturile se împart între mai multe variante, și pe bună dreptate: fiecare variantă are o parte de adevăr, dar niciuna nu rezolvă singură situația. Dacă orașul așteaptă să se umple sălile de așteptare, decizia vine prea târziu.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Gândiți-vă la ce ar trebui să știe cine decide: despre apă, despre bolnavi, despre reguli și despre oameni.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Că apa poate transmite o boală gravă s-a arătat convingător abia la jumătatea secolului al XIX-lea, la Londra. Regulile despre cine anunță și cine plătește au apărut din legile scrise pentru orașele sărace ale aceluiași secol.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Diferența nu ține de cât de bun este medicul, ci de cine este pacientul. Scăderea mortalității prin infarct și prin accident vascular cerebral a fost o realizare comună a medicinei clinice și a sănătății publice. Vaccinurile, antibioticele și medicamentele pentru tensiunea mare au adus îmbunătățiri mari în îngrijirea copiilor și în tratamentul bolilor infecțioase, al hipertensiunii și al diabetului.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singur cuvânt, primul care vă vine în minte. Îl comparăm la sfârșit cu al doilea 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de epidemiologie al centrelor americane pentru controlul bolilor plasează rădăcinile disciplinei în jurul anului 400 î.Hr. Teoria celor patru lichide era greșită, dar avea o logică internă coerentă.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Lecția privește direct orașul din povestea noastră: apa sigură și îndepărtarea apelor murdare cer o autoritate publică, bani comuni și reguli valabile pentru toți.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Astăzi știm sigur ce boală a fost: materialul genetic al bacteriei care provoacă ciuma a fost reconstituit din scheletele unor victime îngropate la Londra. Lecția despre frică și vinovați nu se limitează la Evul Mediu.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Carantina înseamnă separarea, pentru o perioadă stabilită, a unor oameni care par sănătoși, dar care ar fi putut fi în contact cu o boală contagioasă. Ideea era corectă în esență: dacă ții separați, o vreme, oamenii care ar fi putut lua boala, scade numărul celor care o duc mai departe. Anul regulii de la Ragusa: 1377 în sursele istorice citate în notă; manualul lui Tulchinsky și Varavikova dă 1465, cu aproape un secol mai târziu. Anul nu este de reținut.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Tabăra din stânga îi reprezintă pe negustori, tabăra din dreapta reprezintă consiliul orașului. La final, fiecare votează după convingerea proprie: ați fi adoptat regula?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Argumentul negustorilor și cel al consiliului se întâlnesc ori de câte ori o comunitate trebuie să decidă repede, fără să știe tot.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Revoluția industrială a mutat în orașe mulțimi de oameni. Orașele au crescut atât de repede încât nu au putut asigura locuințe și servicii pentru noii lor locuitori.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ca cineva să observe că o boală lovește mai des într-un loc decât în altul, are nevoie de un lucru foarte simplu și foarte rar în istorie: o listă a morților.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Statul începea să-și asume o răspundere nouă: soarta celor care nu se puteau întreține singuri. Legea din 1848 a înființat un Consiliu General al Sănătății, preocupat de apă sigură și de drenaj.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Medicii vremii numeau aerul stricat miasmă. Ambele explicații au contribuit la sănătatea publică: cea prin microbi, prin cunoașterea agenților anume, iar cea prin aerul stricat, prin atenția acordată mediului și condițiilor de viață.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1854, în timpul unei epidemii de holeră în cartierul Soho al Londrei, în jurul pieței Golden Square, medicul John Snow a marcat pe o hartă locuințele celor care muriseră și pompele de apă din cartier.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hartă s-a văzut limpede că morții erau grupați în jurul unei singure pompe. După ce Snow și-a prezentat constatările autorităților cartierului, maneta a fost scoasă. Epidemia scădea deja, iar în câteva zile s-a stins.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Londra era alimentată de mai multe companii private, iar în unele cartiere două companii aveau țevi pe aceleași străzi. Pe aceeași stradă, casa din stânga putea bea apă curată, iar casa din dreapta apă cu canalizare.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casele care primeau apă din aval au murit de holeră aproximativ patru oameni din fiecare mie; în casele cu apă din amonte, aproximativ unul din fiecare două mii: riscul de deces a fost de circa opt ori mai mare. În număr de morți, raportul a fost de circa 5 la 1 (419 față de 80), dar populațiile erau diferite. Investigația lui Snow a precedat cu aproape trei decenii identificarea microbului holerei de către Robert Koch.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Rădăcinile epidemiologiei duc până la Hipocrate, dar la Snow ea capătă forma folosită și astăzi.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voluntar îl joacă pe John Snow, cu harta în mână. Al doilea joacă un membru al consiliului cartierului, convins că holera vine din aerul stricat.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obicei, scena arată că un argument bun nu este suficient. Nici azi nu știm sigur câte vieți a salvat maneta, pentru că epidemia scădea deja.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noiembrie 1854, Florence Nightingale a ajuns la spitalul armatei britanice din Turcia cu o echipă de asistente. Snow și Nightingale au făcut același lucru: au numărat, au comparat și au arătat rezultatul într-o formă pe care o înțelegeau și cei care nu erau medici. Cifrele diferă după sursă: după propriile ei date, aproximativ 32 din 100 de soldați internați mureau la sosirea ei și aproximativ 2 după șase luni; manualul lui Tulchinsky și Varavikova dă 44 din 100 la sosire și 2 din 100 până la sfârșitul războiului, nu în șase luni.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Jenner și-a publicat rezultatele în 1798. Cuvântul vaccin vine din latinescul pentru vacă. Jenner știa doar, din observație, că mulgătoarele care făcuseră variola vacii nu făceau variola.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Lister a citit lucrările lui Pasteur și s-a întrebat dacă infecțiile care îi omorau pacienții după operații nu veneau tot de la microbi. Holera lui Snow avea, în sfârșit, un vinovat vizibil la microscop.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Exemplul lui Koch: microbul holerei, găsit în intestinul bolnavilor, explică de ce apa cu canalizare din Londra îi îmbolnăvea pe cei care o beau.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Încercați să spuneți ce face microbul și cum îl oprește măsura aleasă.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Carantina funcționa pentru că perioada de așteptare depășea timpul de incubație al bolii și lăsa să moară puricii infectați care transmit ciuma. Scoaterea manetei avea sens pentru că apa pompei era contaminată. Ambele perspective, cea a microbului și cea a mediului, au contribuit la sănătatea publică.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de la robinetul vostru vine dintr-un lanț care începe cu apeductele Romei, trece prin raportul lui Chadwick și harta lui Snow și ajunge la clorul de la Jersey City. Între a doua jumătate a secolului al XIX-lea și prima jumătate a secolului al XX-lea s-au pus bazele organizării sănătății publice: tratarea apei, îndepărtarea deșeurilor, controlul alimentelor și vaccinuri mai bune.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Pandemia de gripă din 1918–1919 a infectat aproximativ 500 de milioane de oameni, o treime din populația lumii. Metoda lui Snow, numărarea și compararea unor grupuri de oameni, se aplica acum unor boli fără microb.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Fiecare așază momentele pe telefonul propriu. Ecranul arată ordinea medie a tuturor răspunsurilor.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Ordinea contează mai puțin decât ce arată ea. Sănătatea publică a acționat, de cele mai multe ori, cu un pas înaintea științei care avea să-i explice succesele.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Afirmația este construită pentru curs, dar o auzim des. Votați întâi, apoi discutați cu colegul de bancă.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Centrele americane pentru controlul bolilor au estimat că, din 1900 până la sfârșitul secolului, speranța de viață în Statele Unite a crescut cu peste 30 de ani, dintre care 25 se datorează progreselor sănătății publice.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 cele două date ale pandemiei, lumea a redescoperit și controversele despre echilibrul dintre libertatea fiecăruia și protecția tuturor, adică exact uneltele și dilemele din această ședință.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era la Ragusa regula unui singur port a devenit un regulament internațional. Vaccinul lui Jenner are peste două secole, iar întrebarea cum convingi o comunitate să-l folosească rămâne actuală.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singur cuvânt, ca la început. Comparați cei doi nori.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ședința a doua veți afla, între altele, cine anume ar trebui să acționeze în orașul inundat și pe ce lege se sprijină.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 pe Mentimeter, prin codul QR. Răspunsurile stau la baza a două modificări, anunțate la începutul ședinței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jpg"/><Relationship Id="rId3" Type="http://schemas.openxmlformats.org/officeDocument/2006/relationships/image" Target="../media/image-31-3.jp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inundatie_la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11121A">
              <a:alpha val="88000"/>
            </a:srgbClr>
          </a:solidFill>
          <a:ln w="12700">
            <a:solidFill>
              <a:srgbClr val="11121A"/>
            </a:solidFill>
            <a:prstDash val="solid"/>
          </a:ln>
        </p:spPr>
        <p:txBody>
          <a:bodyPr/>
          <a:p/>
        </p:txBody>
      </p:sp>
      <p:sp>
        <p:nvSpPr>
          <p:cNvPr id="4" name="Shape 1"/>
          <p:cNvSpPr/>
          <p:nvPr/>
        </p:nvSpPr>
        <p:spPr>
          <a:xfrm>
            <a:off x="640080" y="777240"/>
            <a:ext cx="2743200" cy="329184"/>
          </a:xfrm>
          <a:prstGeom prst="roundRect">
            <a:avLst>
              <a:gd name="adj" fmla="val 50000"/>
            </a:avLst>
          </a:prstGeom>
          <a:solidFill>
            <a:srgbClr val="FF4757"/>
          </a:solidFill>
          <a:ln w="12700">
            <a:solidFill>
              <a:srgbClr val="FF4757"/>
            </a:solidFill>
            <a:prstDash val="solid"/>
          </a:ln>
        </p:spPr>
        <p:txBody>
          <a:bodyPr/>
          <a:p/>
        </p:txBody>
      </p:sp>
      <p:sp>
        <p:nvSpPr>
          <p:cNvPr id="5" name="Text 2"/>
          <p:cNvSpPr/>
          <p:nvPr/>
        </p:nvSpPr>
        <p:spPr>
          <a:xfrm>
            <a:off x="640080" y="777240"/>
            <a:ext cx="274320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ÎNTÂI</a:t>
            </a:r>
            <a:endParaRPr lang="en-US" sz="1300" dirty="0"/>
          </a:p>
        </p:txBody>
      </p:sp>
      <p:sp>
        <p:nvSpPr>
          <p:cNvPr id="6" name="Text 3"/>
          <p:cNvSpPr/>
          <p:nvPr/>
        </p:nvSpPr>
        <p:spPr>
          <a:xfrm>
            <a:off x="640080" y="1371600"/>
            <a:ext cx="5852160" cy="146304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Istoricul sănătății publice</a:t>
            </a:r>
            <a:endParaRPr lang="en-US" sz="4400" dirty="0"/>
          </a:p>
        </p:txBody>
      </p:sp>
      <p:sp>
        <p:nvSpPr>
          <p:cNvPr id="7" name="Text 4"/>
          <p:cNvSpPr/>
          <p:nvPr/>
        </p:nvSpPr>
        <p:spPr>
          <a:xfrm>
            <a:off x="640080" y="2880360"/>
            <a:ext cx="5760720" cy="118872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De ce a fost nevoie de un alt fel de a face medicină?</a:t>
            </a:r>
            <a:endParaRPr lang="en-US" sz="2600" dirty="0"/>
          </a:p>
        </p:txBody>
      </p:sp>
      <p:sp>
        <p:nvSpPr>
          <p:cNvPr id="8" name="Shape 5"/>
          <p:cNvSpPr/>
          <p:nvPr/>
        </p:nvSpPr>
        <p:spPr>
          <a:xfrm>
            <a:off x="667512" y="4343400"/>
            <a:ext cx="1280160" cy="27432"/>
          </a:xfrm>
          <a:prstGeom prst="rect">
            <a:avLst/>
          </a:prstGeom>
          <a:solidFill>
            <a:srgbClr val="FF4757"/>
          </a:solidFill>
          <a:ln/>
        </p:spPr>
        <p:txBody>
          <a:bodyPr/>
          <a:p/>
        </p:txBody>
      </p:sp>
      <p:sp>
        <p:nvSpPr>
          <p:cNvPr id="9" name="Text 6"/>
          <p:cNvSpPr/>
          <p:nvPr/>
        </p:nvSpPr>
        <p:spPr>
          <a:xfrm>
            <a:off x="640080" y="4572000"/>
            <a:ext cx="585216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Introducere în sănătate publică</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Servicii și politici de sănătate publică, anul I</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Conf. univ. dr. Adrian Pană</a:t>
            </a:r>
            <a:endParaRPr lang="en-US" sz="1400" dirty="0"/>
          </a:p>
        </p:txBody>
      </p:sp>
      <p:sp>
        <p:nvSpPr>
          <p:cNvPr id="10" name="Text 7"/>
          <p:cNvSpPr/>
          <p:nvPr/>
        </p:nvSpPr>
        <p:spPr>
          <a:xfrm>
            <a:off x="6949440" y="6537960"/>
            <a:ext cx="5029200" cy="219456"/>
          </a:xfrm>
          <a:prstGeom prst="rect">
            <a:avLst/>
          </a:prstGeom>
          <a:noFill/>
          <a:ln/>
        </p:spPr>
        <p:txBody>
          <a:bodyPr wrap="square" lIns="0" tIns="0" rIns="0" bIns="0" rtlCol="0" anchor="ctr"/>
          <a:lstStyle/>
          <a:p>
            <a:pPr algn="r" indent="0" marL="0">
              <a:buNone/>
            </a:pPr>
            <a:r>
              <a:rPr lang="en-US" sz="850" i="1" dirty="0">
                <a:solidFill>
                  <a:srgbClr val="F0F1F5"/>
                </a:solidFill>
                <a:latin typeface="Palatino Linotype" pitchFamily="34" charset="0"/>
                <a:ea typeface="Palatino Linotype" pitchFamily="34" charset="-122"/>
                <a:cs typeface="Palatino Linotype" pitchFamily="34" charset="-120"/>
              </a:rPr>
              <a:t>Sursa: foto LE55ONS · CC BY-SA 3.0 · Wikimedia Commons (stradă inundată, Anglia)</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ÎNTREBAREA DIN TITLU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ce a fost nevoie de un alt fel de a face medicină?</a:t>
            </a:r>
            <a:endParaRPr lang="en-US" sz="3000" dirty="0"/>
          </a:p>
        </p:txBody>
      </p:sp>
      <p:sp>
        <p:nvSpPr>
          <p:cNvPr id="4" name="Shape 2"/>
          <p:cNvSpPr/>
          <p:nvPr/>
        </p:nvSpPr>
        <p:spPr>
          <a:xfrm>
            <a:off x="594360" y="1783080"/>
            <a:ext cx="10972800" cy="1600200"/>
          </a:xfrm>
          <a:prstGeom prst="roundRect">
            <a:avLst>
              <a:gd name="adj" fmla="val 5143"/>
            </a:avLst>
          </a:prstGeom>
          <a:solidFill>
            <a:srgbClr val="ECEAE4"/>
          </a:solidFill>
          <a:ln w="12700">
            <a:solidFill>
              <a:srgbClr val="ECEAE4"/>
            </a:solidFill>
            <a:prstDash val="solid"/>
          </a:ln>
        </p:spPr>
        <p:txBody>
          <a:bodyPr/>
          <a:p/>
        </p:txBody>
      </p:sp>
      <p:sp>
        <p:nvSpPr>
          <p:cNvPr id="5" name="Text 3"/>
          <p:cNvSpPr/>
          <p:nvPr/>
        </p:nvSpPr>
        <p:spPr>
          <a:xfrm>
            <a:off x="868680" y="1920240"/>
            <a:ext cx="10058400" cy="292608"/>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UN RĂSPUNS PROVIZORIU, DE LA ÎNCEPUT</a:t>
            </a:r>
            <a:endParaRPr lang="en-US" sz="1300" dirty="0"/>
          </a:p>
        </p:txBody>
      </p:sp>
      <p:sp>
        <p:nvSpPr>
          <p:cNvPr id="6" name="Text 4"/>
          <p:cNvSpPr/>
          <p:nvPr/>
        </p:nvSpPr>
        <p:spPr>
          <a:xfrm>
            <a:off x="868680" y="2267712"/>
            <a:ext cx="10424160" cy="1005840"/>
          </a:xfrm>
          <a:prstGeom prst="rect">
            <a:avLst/>
          </a:prstGeom>
          <a:noFill/>
          <a:ln/>
        </p:spPr>
        <p:txBody>
          <a:bodyPr wrap="square" lIns="0" tIns="0" rIns="0" bIns="0" rtlCol="0" anchor="t"/>
          <a:lstStyle/>
          <a:p>
            <a:pPr indent="0" marL="0">
              <a:buNone/>
            </a:pPr>
            <a:r>
              <a:rPr lang="en-US" sz="2300" b="1" dirty="0">
                <a:solidFill>
                  <a:srgbClr val="11121A"/>
                </a:solidFill>
                <a:latin typeface="Palatino Linotype" pitchFamily="34" charset="0"/>
                <a:ea typeface="Palatino Linotype" pitchFamily="34" charset="-122"/>
                <a:cs typeface="Palatino Linotype" pitchFamily="34" charset="-120"/>
              </a:rPr>
              <a:t>Sănătatea publică s-a născut din nevoia de a apăra o comunitate întreagă înainte ca bolnavii să ajungă la medic.</a:t>
            </a:r>
            <a:endParaRPr lang="en-US" sz="2300" dirty="0"/>
          </a:p>
        </p:txBody>
      </p:sp>
      <p:sp>
        <p:nvSpPr>
          <p:cNvPr id="7" name="Text 5"/>
          <p:cNvSpPr/>
          <p:nvPr/>
        </p:nvSpPr>
        <p:spPr>
          <a:xfrm>
            <a:off x="594360" y="3657600"/>
            <a:ext cx="10972800" cy="3657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Trei momente:</a:t>
            </a:r>
            <a:endParaRPr lang="en-US" sz="1800" dirty="0"/>
          </a:p>
        </p:txBody>
      </p:sp>
      <p:sp>
        <p:nvSpPr>
          <p:cNvPr id="8" name="Shape 6"/>
          <p:cNvSpPr/>
          <p:nvPr/>
        </p:nvSpPr>
        <p:spPr>
          <a:xfrm>
            <a:off x="594360" y="4160520"/>
            <a:ext cx="3520440" cy="777240"/>
          </a:xfrm>
          <a:prstGeom prst="roundRect">
            <a:avLst>
              <a:gd name="adj" fmla="val 10588"/>
            </a:avLst>
          </a:prstGeom>
          <a:solidFill>
            <a:srgbClr val="F9F8F5"/>
          </a:solidFill>
          <a:ln w="12700">
            <a:solidFill>
              <a:srgbClr val="F9F8F5"/>
            </a:solidFill>
            <a:prstDash val="solid"/>
          </a:ln>
        </p:spPr>
        <p:txBody>
          <a:bodyPr/>
          <a:p/>
        </p:txBody>
      </p:sp>
      <p:sp>
        <p:nvSpPr>
          <p:cNvPr id="9" name="Shape 7"/>
          <p:cNvSpPr/>
          <p:nvPr/>
        </p:nvSpPr>
        <p:spPr>
          <a:xfrm>
            <a:off x="777240" y="4343400"/>
            <a:ext cx="420624" cy="420624"/>
          </a:xfrm>
          <a:prstGeom prst="ellipse">
            <a:avLst/>
          </a:prstGeom>
          <a:solidFill>
            <a:srgbClr val="FF4757"/>
          </a:solidFill>
          <a:ln/>
        </p:spPr>
        <p:txBody>
          <a:bodyPr/>
          <a:p/>
        </p:txBody>
      </p:sp>
      <p:sp>
        <p:nvSpPr>
          <p:cNvPr id="10" name="Text 8"/>
          <p:cNvSpPr/>
          <p:nvPr/>
        </p:nvSpPr>
        <p:spPr>
          <a:xfrm>
            <a:off x="777240" y="43434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1371600" y="4160520"/>
            <a:ext cx="265176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Carantina</a:t>
            </a:r>
            <a:endParaRPr lang="en-US" sz="1700" dirty="0"/>
          </a:p>
        </p:txBody>
      </p:sp>
      <p:sp>
        <p:nvSpPr>
          <p:cNvPr id="12" name="Shape 10"/>
          <p:cNvSpPr/>
          <p:nvPr/>
        </p:nvSpPr>
        <p:spPr>
          <a:xfrm>
            <a:off x="4343400" y="4160520"/>
            <a:ext cx="3520440" cy="777240"/>
          </a:xfrm>
          <a:prstGeom prst="roundRect">
            <a:avLst>
              <a:gd name="adj" fmla="val 10588"/>
            </a:avLst>
          </a:prstGeom>
          <a:solidFill>
            <a:srgbClr val="F9F8F5"/>
          </a:solidFill>
          <a:ln w="12700">
            <a:solidFill>
              <a:srgbClr val="F9F8F5"/>
            </a:solidFill>
            <a:prstDash val="solid"/>
          </a:ln>
        </p:spPr>
        <p:txBody>
          <a:bodyPr/>
          <a:p/>
        </p:txBody>
      </p:sp>
      <p:sp>
        <p:nvSpPr>
          <p:cNvPr id="13" name="Shape 11"/>
          <p:cNvSpPr/>
          <p:nvPr/>
        </p:nvSpPr>
        <p:spPr>
          <a:xfrm>
            <a:off x="4526280" y="4343400"/>
            <a:ext cx="420624" cy="420624"/>
          </a:xfrm>
          <a:prstGeom prst="ellipse">
            <a:avLst/>
          </a:prstGeom>
          <a:solidFill>
            <a:srgbClr val="FF4757"/>
          </a:solidFill>
          <a:ln/>
        </p:spPr>
        <p:txBody>
          <a:bodyPr/>
          <a:p/>
        </p:txBody>
      </p:sp>
      <p:sp>
        <p:nvSpPr>
          <p:cNvPr id="14" name="Text 12"/>
          <p:cNvSpPr/>
          <p:nvPr/>
        </p:nvSpPr>
        <p:spPr>
          <a:xfrm>
            <a:off x="4526280" y="43434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5120640" y="4160520"/>
            <a:ext cx="265176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Bolnavii numărați pe hartă</a:t>
            </a:r>
            <a:endParaRPr lang="en-US" sz="1700" dirty="0"/>
          </a:p>
        </p:txBody>
      </p:sp>
      <p:sp>
        <p:nvSpPr>
          <p:cNvPr id="16" name="Shape 14"/>
          <p:cNvSpPr/>
          <p:nvPr/>
        </p:nvSpPr>
        <p:spPr>
          <a:xfrm>
            <a:off x="8092440" y="4160520"/>
            <a:ext cx="3520440" cy="777240"/>
          </a:xfrm>
          <a:prstGeom prst="roundRect">
            <a:avLst>
              <a:gd name="adj" fmla="val 10588"/>
            </a:avLst>
          </a:prstGeom>
          <a:solidFill>
            <a:srgbClr val="F9F8F5"/>
          </a:solidFill>
          <a:ln w="12700">
            <a:solidFill>
              <a:srgbClr val="F9F8F5"/>
            </a:solidFill>
            <a:prstDash val="solid"/>
          </a:ln>
        </p:spPr>
        <p:txBody>
          <a:bodyPr/>
          <a:p/>
        </p:txBody>
      </p:sp>
      <p:sp>
        <p:nvSpPr>
          <p:cNvPr id="17" name="Shape 15"/>
          <p:cNvSpPr/>
          <p:nvPr/>
        </p:nvSpPr>
        <p:spPr>
          <a:xfrm>
            <a:off x="8275320" y="4343400"/>
            <a:ext cx="420624" cy="420624"/>
          </a:xfrm>
          <a:prstGeom prst="ellipse">
            <a:avLst/>
          </a:prstGeom>
          <a:solidFill>
            <a:srgbClr val="FF4757"/>
          </a:solidFill>
          <a:ln/>
        </p:spPr>
        <p:txBody>
          <a:bodyPr/>
          <a:p/>
        </p:txBody>
      </p:sp>
      <p:sp>
        <p:nvSpPr>
          <p:cNvPr id="18" name="Text 16"/>
          <p:cNvSpPr/>
          <p:nvPr/>
        </p:nvSpPr>
        <p:spPr>
          <a:xfrm>
            <a:off x="8275320" y="43434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9" name="Text 17"/>
          <p:cNvSpPr/>
          <p:nvPr/>
        </p:nvSpPr>
        <p:spPr>
          <a:xfrm>
            <a:off x="8869680" y="4160520"/>
            <a:ext cx="265176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Descoperirea microbilor</a:t>
            </a:r>
            <a:endParaRPr lang="en-US" sz="1700" dirty="0"/>
          </a:p>
        </p:txBody>
      </p:sp>
      <p:sp>
        <p:nvSpPr>
          <p:cNvPr id="20" name="Text 18"/>
          <p:cNvSpPr/>
          <p:nvPr/>
        </p:nvSpPr>
        <p:spPr>
          <a:xfrm>
            <a:off x="594360" y="5349240"/>
            <a:ext cx="10972800" cy="45720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Cursul a fost refăcut după observațiile generației trecute: mai puține definiții, mai mult lucru în sală.</a:t>
            </a:r>
            <a:endParaRPr lang="en-US" sz="1500" dirty="0"/>
          </a:p>
        </p:txBody>
      </p:sp>
      <p:sp>
        <p:nvSpPr>
          <p:cNvPr id="21" name="Text 19"/>
          <p:cNvSpPr/>
          <p:nvPr/>
        </p:nvSpPr>
        <p:spPr>
          <a:xfrm>
            <a:off x="594360" y="5852160"/>
            <a:ext cx="109728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Azi îl punem la încercare pe un oraș rămas fără apă de băut.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ore, de la robinet la microbi</a:t>
            </a:r>
            <a:endParaRPr lang="en-US" sz="3100" dirty="0"/>
          </a:p>
        </p:txBody>
      </p:sp>
      <p:sp>
        <p:nvSpPr>
          <p:cNvPr id="4" name="Shape 2"/>
          <p:cNvSpPr/>
          <p:nvPr/>
        </p:nvSpPr>
        <p:spPr>
          <a:xfrm>
            <a:off x="594360" y="2148840"/>
            <a:ext cx="1920240" cy="868680"/>
          </a:xfrm>
          <a:prstGeom prst="rect">
            <a:avLst/>
          </a:prstGeom>
          <a:solidFill>
            <a:srgbClr val="FF4757"/>
          </a:solidFill>
          <a:ln w="19050">
            <a:solidFill>
              <a:srgbClr val="F6F5F2"/>
            </a:solidFill>
            <a:prstDash val="solid"/>
          </a:ln>
        </p:spPr>
        <p:txBody>
          <a:bodyPr/>
          <a:p/>
        </p:txBody>
      </p:sp>
      <p:sp>
        <p:nvSpPr>
          <p:cNvPr id="5" name="Text 3"/>
          <p:cNvSpPr/>
          <p:nvPr/>
        </p:nvSpPr>
        <p:spPr>
          <a:xfrm>
            <a:off x="640080" y="2148840"/>
            <a:ext cx="1828800" cy="86868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Robinetul</a:t>
            </a:r>
            <a:endParaRPr lang="en-US" sz="1500" dirty="0"/>
          </a:p>
        </p:txBody>
      </p:sp>
      <p:sp>
        <p:nvSpPr>
          <p:cNvPr id="6" name="Shape 4"/>
          <p:cNvSpPr/>
          <p:nvPr/>
        </p:nvSpPr>
        <p:spPr>
          <a:xfrm>
            <a:off x="2514600" y="2148840"/>
            <a:ext cx="1645920" cy="868680"/>
          </a:xfrm>
          <a:prstGeom prst="rect">
            <a:avLst/>
          </a:prstGeom>
          <a:solidFill>
            <a:srgbClr val="9B7EF7"/>
          </a:solidFill>
          <a:ln w="19050">
            <a:solidFill>
              <a:srgbClr val="F6F5F2"/>
            </a:solidFill>
            <a:prstDash val="solid"/>
          </a:ln>
        </p:spPr>
        <p:txBody>
          <a:bodyPr/>
          <a:p/>
        </p:txBody>
      </p:sp>
      <p:sp>
        <p:nvSpPr>
          <p:cNvPr id="7" name="Text 5"/>
          <p:cNvSpPr/>
          <p:nvPr/>
        </p:nvSpPr>
        <p:spPr>
          <a:xfrm>
            <a:off x="2560320" y="2148840"/>
            <a:ext cx="1554480" cy="868680"/>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Înainte de microbi</a:t>
            </a:r>
            <a:endParaRPr lang="en-US" sz="1500" dirty="0"/>
          </a:p>
        </p:txBody>
      </p:sp>
      <p:sp>
        <p:nvSpPr>
          <p:cNvPr id="8" name="Shape 6"/>
          <p:cNvSpPr/>
          <p:nvPr/>
        </p:nvSpPr>
        <p:spPr>
          <a:xfrm>
            <a:off x="4160520" y="2148840"/>
            <a:ext cx="914400" cy="868680"/>
          </a:xfrm>
          <a:prstGeom prst="rect">
            <a:avLst/>
          </a:prstGeom>
          <a:solidFill>
            <a:srgbClr val="ECEAE4"/>
          </a:solidFill>
          <a:ln w="19050">
            <a:solidFill>
              <a:srgbClr val="F6F5F2"/>
            </a:solidFill>
            <a:prstDash val="solid"/>
          </a:ln>
        </p:spPr>
        <p:txBody>
          <a:bodyPr/>
          <a:p/>
        </p:txBody>
      </p:sp>
      <p:sp>
        <p:nvSpPr>
          <p:cNvPr id="9" name="Shape 7"/>
          <p:cNvSpPr/>
          <p:nvPr/>
        </p:nvSpPr>
        <p:spPr>
          <a:xfrm>
            <a:off x="5074920" y="2148840"/>
            <a:ext cx="2743200" cy="868680"/>
          </a:xfrm>
          <a:prstGeom prst="rect">
            <a:avLst/>
          </a:prstGeom>
          <a:solidFill>
            <a:srgbClr val="FFC24B"/>
          </a:solidFill>
          <a:ln w="19050">
            <a:solidFill>
              <a:srgbClr val="F6F5F2"/>
            </a:solidFill>
            <a:prstDash val="solid"/>
          </a:ln>
        </p:spPr>
        <p:txBody>
          <a:bodyPr/>
          <a:p/>
        </p:txBody>
      </p:sp>
      <p:sp>
        <p:nvSpPr>
          <p:cNvPr id="10" name="Text 8"/>
          <p:cNvSpPr/>
          <p:nvPr/>
        </p:nvSpPr>
        <p:spPr>
          <a:xfrm>
            <a:off x="5120640" y="2148840"/>
            <a:ext cx="2651760" cy="868680"/>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Pompa din Broad Street</a:t>
            </a:r>
            <a:endParaRPr lang="en-US" sz="1500" dirty="0"/>
          </a:p>
        </p:txBody>
      </p:sp>
      <p:sp>
        <p:nvSpPr>
          <p:cNvPr id="11" name="Shape 9"/>
          <p:cNvSpPr/>
          <p:nvPr/>
        </p:nvSpPr>
        <p:spPr>
          <a:xfrm>
            <a:off x="7818120" y="2148840"/>
            <a:ext cx="2743200" cy="868680"/>
          </a:xfrm>
          <a:prstGeom prst="rect">
            <a:avLst/>
          </a:prstGeom>
          <a:solidFill>
            <a:srgbClr val="27D3BE"/>
          </a:solidFill>
          <a:ln w="19050">
            <a:solidFill>
              <a:srgbClr val="F6F5F2"/>
            </a:solidFill>
            <a:prstDash val="solid"/>
          </a:ln>
        </p:spPr>
        <p:txBody>
          <a:bodyPr/>
          <a:p/>
        </p:txBody>
      </p:sp>
      <p:sp>
        <p:nvSpPr>
          <p:cNvPr id="12" name="Text 10"/>
          <p:cNvSpPr/>
          <p:nvPr/>
        </p:nvSpPr>
        <p:spPr>
          <a:xfrm>
            <a:off x="7863840" y="2148840"/>
            <a:ext cx="2651760" cy="868680"/>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Vinovatul are un nume</a:t>
            </a:r>
            <a:endParaRPr lang="en-US" sz="1500" dirty="0"/>
          </a:p>
        </p:txBody>
      </p:sp>
      <p:sp>
        <p:nvSpPr>
          <p:cNvPr id="13" name="Shape 11"/>
          <p:cNvSpPr/>
          <p:nvPr/>
        </p:nvSpPr>
        <p:spPr>
          <a:xfrm>
            <a:off x="10561320" y="2148840"/>
            <a:ext cx="548640" cy="868680"/>
          </a:xfrm>
          <a:prstGeom prst="rect">
            <a:avLst/>
          </a:prstGeom>
          <a:solidFill>
            <a:srgbClr val="FF8A3D"/>
          </a:solidFill>
          <a:ln w="19050">
            <a:solidFill>
              <a:srgbClr val="F6F5F2"/>
            </a:solidFill>
            <a:prstDash val="solid"/>
          </a:ln>
        </p:spPr>
        <p:txBody>
          <a:bodyPr/>
          <a:p/>
        </p:txBody>
      </p:sp>
      <p:sp>
        <p:nvSpPr>
          <p:cNvPr id="14" name="Text 12"/>
          <p:cNvSpPr/>
          <p:nvPr/>
        </p:nvSpPr>
        <p:spPr>
          <a:xfrm>
            <a:off x="10607040" y="2148840"/>
            <a:ext cx="457200" cy="8686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Azi</a:t>
            </a:r>
            <a:endParaRPr lang="en-US" sz="1500" dirty="0"/>
          </a:p>
        </p:txBody>
      </p:sp>
      <p:sp>
        <p:nvSpPr>
          <p:cNvPr id="15" name="Shape 13"/>
          <p:cNvSpPr/>
          <p:nvPr/>
        </p:nvSpPr>
        <p:spPr>
          <a:xfrm>
            <a:off x="11109960" y="2148840"/>
            <a:ext cx="457200" cy="868680"/>
          </a:xfrm>
          <a:prstGeom prst="rect">
            <a:avLst/>
          </a:prstGeom>
          <a:solidFill>
            <a:srgbClr val="585A64"/>
          </a:solidFill>
          <a:ln w="19050">
            <a:solidFill>
              <a:srgbClr val="F6F5F2"/>
            </a:solidFill>
            <a:prstDash val="solid"/>
          </a:ln>
        </p:spPr>
        <p:txBody>
          <a:bodyPr/>
          <a:p/>
        </p:txBody>
      </p:sp>
      <p:sp>
        <p:nvSpPr>
          <p:cNvPr id="16" name="Text 14"/>
          <p:cNvSpPr/>
          <p:nvPr/>
        </p:nvSpPr>
        <p:spPr>
          <a:xfrm>
            <a:off x="2286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0′</a:t>
            </a:r>
            <a:endParaRPr lang="en-US" sz="1300" dirty="0"/>
          </a:p>
        </p:txBody>
      </p:sp>
      <p:sp>
        <p:nvSpPr>
          <p:cNvPr id="17" name="Text 15"/>
          <p:cNvSpPr/>
          <p:nvPr/>
        </p:nvSpPr>
        <p:spPr>
          <a:xfrm>
            <a:off x="214884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21′</a:t>
            </a:r>
            <a:endParaRPr lang="en-US" sz="1300" dirty="0"/>
          </a:p>
        </p:txBody>
      </p:sp>
      <p:sp>
        <p:nvSpPr>
          <p:cNvPr id="18" name="Text 16"/>
          <p:cNvSpPr/>
          <p:nvPr/>
        </p:nvSpPr>
        <p:spPr>
          <a:xfrm>
            <a:off x="379476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39′</a:t>
            </a:r>
            <a:endParaRPr lang="en-US" sz="1300" dirty="0"/>
          </a:p>
        </p:txBody>
      </p:sp>
      <p:sp>
        <p:nvSpPr>
          <p:cNvPr id="19" name="Text 17"/>
          <p:cNvSpPr/>
          <p:nvPr/>
        </p:nvSpPr>
        <p:spPr>
          <a:xfrm>
            <a:off x="470916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49′</a:t>
            </a:r>
            <a:endParaRPr lang="en-US" sz="1300" dirty="0"/>
          </a:p>
        </p:txBody>
      </p:sp>
      <p:sp>
        <p:nvSpPr>
          <p:cNvPr id="20" name="Text 18"/>
          <p:cNvSpPr/>
          <p:nvPr/>
        </p:nvSpPr>
        <p:spPr>
          <a:xfrm>
            <a:off x="745236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79′</a:t>
            </a:r>
            <a:endParaRPr lang="en-US" sz="1300" dirty="0"/>
          </a:p>
        </p:txBody>
      </p:sp>
      <p:sp>
        <p:nvSpPr>
          <p:cNvPr id="21" name="Text 19"/>
          <p:cNvSpPr/>
          <p:nvPr/>
        </p:nvSpPr>
        <p:spPr>
          <a:xfrm>
            <a:off x="1019556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109′</a:t>
            </a:r>
            <a:endParaRPr lang="en-US" sz="1300" dirty="0"/>
          </a:p>
        </p:txBody>
      </p:sp>
      <p:sp>
        <p:nvSpPr>
          <p:cNvPr id="22" name="Text 20"/>
          <p:cNvSpPr/>
          <p:nvPr/>
        </p:nvSpPr>
        <p:spPr>
          <a:xfrm>
            <a:off x="11201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120′</a:t>
            </a:r>
            <a:endParaRPr lang="en-US" sz="1300" dirty="0"/>
          </a:p>
        </p:txBody>
      </p:sp>
      <p:sp>
        <p:nvSpPr>
          <p:cNvPr id="23" name="Text 21"/>
          <p:cNvSpPr/>
          <p:nvPr/>
        </p:nvSpPr>
        <p:spPr>
          <a:xfrm>
            <a:off x="4160520" y="3090672"/>
            <a:ext cx="914400"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Pauză</a:t>
            </a:r>
            <a:endParaRPr lang="en-US" sz="1300" dirty="0"/>
          </a:p>
        </p:txBody>
      </p:sp>
      <p:sp>
        <p:nvSpPr>
          <p:cNvPr id="24" name="Text 22"/>
          <p:cNvSpPr/>
          <p:nvPr/>
        </p:nvSpPr>
        <p:spPr>
          <a:xfrm>
            <a:off x="9738360" y="3090672"/>
            <a:ext cx="1828800" cy="274320"/>
          </a:xfrm>
          <a:prstGeom prst="rect">
            <a:avLst/>
          </a:prstGeom>
          <a:noFill/>
          <a:ln/>
        </p:spPr>
        <p:txBody>
          <a:bodyPr wrap="square" lIns="0" tIns="0" rIns="0" bIns="0" rtlCol="0" anchor="t"/>
          <a:lstStyle/>
          <a:p>
            <a:pPr algn="r" indent="0" marL="0">
              <a:buNone/>
            </a:pPr>
            <a:r>
              <a:rPr lang="en-US" sz="1300" b="1" dirty="0">
                <a:solidFill>
                  <a:srgbClr val="585A64"/>
                </a:solidFill>
                <a:latin typeface="Palatino Linotype" pitchFamily="34" charset="0"/>
                <a:ea typeface="Palatino Linotype" pitchFamily="34" charset="-122"/>
                <a:cs typeface="Palatino Linotype" pitchFamily="34" charset="-120"/>
              </a:rPr>
              <a:t>Trei întrebări</a:t>
            </a:r>
            <a:endParaRPr lang="en-US" sz="1300" dirty="0"/>
          </a:p>
        </p:txBody>
      </p:sp>
      <p:sp>
        <p:nvSpPr>
          <p:cNvPr id="25" name="Shape 23"/>
          <p:cNvSpPr/>
          <p:nvPr/>
        </p:nvSpPr>
        <p:spPr>
          <a:xfrm>
            <a:off x="594360" y="3520440"/>
            <a:ext cx="45720" cy="658368"/>
          </a:xfrm>
          <a:prstGeom prst="rect">
            <a:avLst/>
          </a:prstGeom>
          <a:solidFill>
            <a:srgbClr val="B02532"/>
          </a:solidFill>
          <a:ln w="12700">
            <a:solidFill>
              <a:srgbClr val="B02532"/>
            </a:solidFill>
            <a:prstDash val="solid"/>
          </a:ln>
        </p:spPr>
        <p:txBody>
          <a:bodyPr/>
          <a:p/>
        </p:txBody>
      </p:sp>
      <p:sp>
        <p:nvSpPr>
          <p:cNvPr id="26" name="Text 24"/>
          <p:cNvSpPr/>
          <p:nvPr/>
        </p:nvSpPr>
        <p:spPr>
          <a:xfrm>
            <a:off x="731520" y="3520440"/>
            <a:ext cx="169164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oraș fără apă de băut</a:t>
            </a:r>
            <a:endParaRPr lang="en-US" sz="1500" dirty="0"/>
          </a:p>
        </p:txBody>
      </p:sp>
      <p:sp>
        <p:nvSpPr>
          <p:cNvPr id="27" name="Shape 25"/>
          <p:cNvSpPr/>
          <p:nvPr/>
        </p:nvSpPr>
        <p:spPr>
          <a:xfrm>
            <a:off x="2514600" y="3520440"/>
            <a:ext cx="45720" cy="658368"/>
          </a:xfrm>
          <a:prstGeom prst="rect">
            <a:avLst/>
          </a:prstGeom>
          <a:solidFill>
            <a:srgbClr val="4A2D8C"/>
          </a:solidFill>
          <a:ln w="12700">
            <a:solidFill>
              <a:srgbClr val="4A2D8C"/>
            </a:solidFill>
            <a:prstDash val="solid"/>
          </a:ln>
        </p:spPr>
        <p:txBody>
          <a:bodyPr/>
          <a:p/>
        </p:txBody>
      </p:sp>
      <p:sp>
        <p:nvSpPr>
          <p:cNvPr id="28" name="Text 26"/>
          <p:cNvSpPr/>
          <p:nvPr/>
        </p:nvSpPr>
        <p:spPr>
          <a:xfrm>
            <a:off x="2651760" y="3520440"/>
            <a:ext cx="14173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Hipocrate, Roma, ciuma, Ragusa</a:t>
            </a:r>
            <a:endParaRPr lang="en-US" sz="1500" dirty="0"/>
          </a:p>
        </p:txBody>
      </p:sp>
      <p:sp>
        <p:nvSpPr>
          <p:cNvPr id="29" name="Shape 27"/>
          <p:cNvSpPr/>
          <p:nvPr/>
        </p:nvSpPr>
        <p:spPr>
          <a:xfrm>
            <a:off x="5074920" y="3520440"/>
            <a:ext cx="45720" cy="658368"/>
          </a:xfrm>
          <a:prstGeom prst="rect">
            <a:avLst/>
          </a:prstGeom>
          <a:solidFill>
            <a:srgbClr val="8A6100"/>
          </a:solidFill>
          <a:ln w="12700">
            <a:solidFill>
              <a:srgbClr val="8A6100"/>
            </a:solidFill>
            <a:prstDash val="solid"/>
          </a:ln>
        </p:spPr>
        <p:txBody>
          <a:bodyPr/>
          <a:p/>
        </p:txBody>
      </p:sp>
      <p:sp>
        <p:nvSpPr>
          <p:cNvPr id="30" name="Text 28"/>
          <p:cNvSpPr/>
          <p:nvPr/>
        </p:nvSpPr>
        <p:spPr>
          <a:xfrm>
            <a:off x="5212080" y="3520440"/>
            <a:ext cx="25146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medic londonez desenează o hartă</a:t>
            </a:r>
            <a:endParaRPr lang="en-US" sz="1500" dirty="0"/>
          </a:p>
        </p:txBody>
      </p:sp>
      <p:sp>
        <p:nvSpPr>
          <p:cNvPr id="31" name="Shape 29"/>
          <p:cNvSpPr/>
          <p:nvPr/>
        </p:nvSpPr>
        <p:spPr>
          <a:xfrm>
            <a:off x="7818120" y="3520440"/>
            <a:ext cx="45720" cy="658368"/>
          </a:xfrm>
          <a:prstGeom prst="rect">
            <a:avLst/>
          </a:prstGeom>
          <a:solidFill>
            <a:srgbClr val="0E7C6B"/>
          </a:solidFill>
          <a:ln w="12700">
            <a:solidFill>
              <a:srgbClr val="0E7C6B"/>
            </a:solidFill>
            <a:prstDash val="solid"/>
          </a:ln>
        </p:spPr>
        <p:txBody>
          <a:bodyPr/>
          <a:p/>
        </p:txBody>
      </p:sp>
      <p:sp>
        <p:nvSpPr>
          <p:cNvPr id="32" name="Text 30"/>
          <p:cNvSpPr/>
          <p:nvPr/>
        </p:nvSpPr>
        <p:spPr>
          <a:xfrm>
            <a:off x="7955280" y="3520440"/>
            <a:ext cx="25146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Pasteur, Lister, Koch</a:t>
            </a:r>
            <a:endParaRPr lang="en-US" sz="1500" dirty="0"/>
          </a:p>
        </p:txBody>
      </p:sp>
      <p:sp>
        <p:nvSpPr>
          <p:cNvPr id="33" name="Shape 31"/>
          <p:cNvSpPr/>
          <p:nvPr/>
        </p:nvSpPr>
        <p:spPr>
          <a:xfrm>
            <a:off x="594360" y="484632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34" name="Text 32"/>
          <p:cNvSpPr/>
          <p:nvPr/>
        </p:nvSpPr>
        <p:spPr>
          <a:xfrm>
            <a:off x="868680" y="4846320"/>
            <a:ext cx="10424160" cy="96012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Trei termeni noi: </a:t>
            </a:r>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carantina · epidemiologia · teoria germenilor.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Jumătate din timp lucrați voi; nimic din ce faceți în sală nu se notează.</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SITUAȚIE CONSTRUITĂ PENTRU CURS</a:t>
            </a:r>
            <a:endParaRPr lang="en-US" sz="1300" dirty="0"/>
          </a:p>
        </p:txBody>
      </p:sp>
      <p:sp>
        <p:nvSpPr>
          <p:cNvPr id="3" name="Text 1"/>
          <p:cNvSpPr/>
          <p:nvPr/>
        </p:nvSpPr>
        <p:spPr>
          <a:xfrm>
            <a:off x="594360" y="713232"/>
            <a:ext cx="6035040" cy="109728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Apa de la robinet, după inundație</a:t>
            </a:r>
            <a:endParaRPr lang="en-US" sz="3000" dirty="0"/>
          </a:p>
        </p:txBody>
      </p:sp>
      <p:sp>
        <p:nvSpPr>
          <p:cNvPr id="4" name="Text 2"/>
          <p:cNvSpPr/>
          <p:nvPr/>
        </p:nvSpPr>
        <p:spPr>
          <a:xfrm>
            <a:off x="594360" y="1874520"/>
            <a:ext cx="5760720" cy="237744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Un oraș românesc de mărime medie. După trei zile de ploi, râul a intrat în stația care pregătește apa. A doua zi, apa de la robinet e tulbure. Până la prânz, un medic de familie a primit trei copii cu diaree și vărsături.</a:t>
            </a:r>
            <a:endParaRPr lang="en-US" sz="1700" dirty="0"/>
          </a:p>
        </p:txBody>
      </p:sp>
      <p:sp>
        <p:nvSpPr>
          <p:cNvPr id="5" name="Text 3"/>
          <p:cNvSpPr/>
          <p:nvPr/>
        </p:nvSpPr>
        <p:spPr>
          <a:xfrm>
            <a:off x="594360" y="4434840"/>
            <a:ext cx="5760720" cy="10972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Cine trebuie să facă ceva acum și de unde știe ce să facă?</a:t>
            </a:r>
            <a:endParaRPr lang="en-US" sz="2000" dirty="0"/>
          </a:p>
        </p:txBody>
      </p:sp>
      <p:sp>
        <p:nvSpPr>
          <p:cNvPr id="6" name="Shape 4"/>
          <p:cNvSpPr/>
          <p:nvPr/>
        </p:nvSpPr>
        <p:spPr>
          <a:xfrm>
            <a:off x="6995160" y="868680"/>
            <a:ext cx="4572000" cy="5257800"/>
          </a:xfrm>
          <a:prstGeom prst="roundRect">
            <a:avLst>
              <a:gd name="adj" fmla="val 6000"/>
            </a:avLst>
          </a:prstGeom>
          <a:solidFill>
            <a:srgbClr val="F2F0EA"/>
          </a:solidFill>
          <a:ln w="38100">
            <a:solidFill>
              <a:srgbClr val="3A3E52"/>
            </a:solidFill>
            <a:prstDash val="solid"/>
          </a:ln>
        </p:spPr>
        <p:txBody>
          <a:bodyPr/>
          <a:p/>
        </p:txBody>
      </p:sp>
      <p:sp>
        <p:nvSpPr>
          <p:cNvPr id="7" name="Shape 5"/>
          <p:cNvSpPr/>
          <p:nvPr/>
        </p:nvSpPr>
        <p:spPr>
          <a:xfrm>
            <a:off x="7086600" y="1005840"/>
            <a:ext cx="4389120" cy="502920"/>
          </a:xfrm>
          <a:prstGeom prst="rect">
            <a:avLst/>
          </a:prstGeom>
          <a:solidFill>
            <a:srgbClr val="07564B"/>
          </a:solidFill>
          <a:ln w="12700">
            <a:solidFill>
              <a:srgbClr val="07564B"/>
            </a:solidFill>
            <a:prstDash val="solid"/>
          </a:ln>
        </p:spPr>
        <p:txBody>
          <a:bodyPr/>
          <a:p/>
        </p:txBody>
      </p:sp>
      <p:sp>
        <p:nvSpPr>
          <p:cNvPr id="8" name="Text 6"/>
          <p:cNvSpPr/>
          <p:nvPr/>
        </p:nvSpPr>
        <p:spPr>
          <a:xfrm>
            <a:off x="7269480" y="1005840"/>
            <a:ext cx="4023360" cy="50292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Blocul C2 · vecini</a:t>
            </a:r>
            <a:endParaRPr lang="en-US" sz="1400" dirty="0"/>
          </a:p>
        </p:txBody>
      </p:sp>
      <p:sp>
        <p:nvSpPr>
          <p:cNvPr id="9" name="Shape 7"/>
          <p:cNvSpPr/>
          <p:nvPr/>
        </p:nvSpPr>
        <p:spPr>
          <a:xfrm>
            <a:off x="7223760" y="1737360"/>
            <a:ext cx="3611880" cy="868680"/>
          </a:xfrm>
          <a:prstGeom prst="roundRect">
            <a:avLst>
              <a:gd name="adj" fmla="val 16842"/>
            </a:avLst>
          </a:prstGeom>
          <a:solidFill>
            <a:srgbClr val="FFFFFF"/>
          </a:solidFill>
          <a:ln w="12700">
            <a:solidFill>
              <a:srgbClr val="FFFFFF"/>
            </a:solidFill>
            <a:prstDash val="solid"/>
          </a:ln>
        </p:spPr>
        <p:txBody>
          <a:bodyPr/>
          <a:p/>
        </p:txBody>
      </p:sp>
      <p:sp>
        <p:nvSpPr>
          <p:cNvPr id="10" name="Shape 8"/>
          <p:cNvSpPr/>
          <p:nvPr/>
        </p:nvSpPr>
        <p:spPr>
          <a:xfrm flipV="1">
            <a:off x="7543800" y="2587752"/>
            <a:ext cx="365760" cy="237744"/>
          </a:xfrm>
          <a:prstGeom prst="triangle">
            <a:avLst/>
          </a:prstGeom>
          <a:solidFill>
            <a:srgbClr val="FFFFFF"/>
          </a:solidFill>
          <a:ln w="12700">
            <a:solidFill>
              <a:srgbClr val="FFFFFF"/>
            </a:solidFill>
            <a:prstDash val="solid"/>
          </a:ln>
        </p:spPr>
        <p:txBody>
          <a:bodyPr/>
          <a:p/>
        </p:txBody>
      </p:sp>
      <p:sp>
        <p:nvSpPr>
          <p:cNvPr id="11" name="Text 9"/>
          <p:cNvSpPr/>
          <p:nvPr/>
        </p:nvSpPr>
        <p:spPr>
          <a:xfrm>
            <a:off x="7388352" y="1810512"/>
            <a:ext cx="3291840" cy="758952"/>
          </a:xfrm>
          <a:prstGeom prst="rect">
            <a:avLst/>
          </a:prstGeom>
          <a:noFill/>
          <a:ln/>
        </p:spPr>
        <p:txBody>
          <a:bodyPr wrap="square" lIns="0" tIns="0" rIns="0" bIns="0" rtlCol="0" anchor="t"/>
          <a:lstStyle/>
          <a:p>
            <a:pPr indent="0" marL="0">
              <a:buNone/>
            </a:pPr>
            <a:r>
              <a:rPr lang="en-US" sz="1200" b="1" dirty="0">
                <a:solidFill>
                  <a:srgbClr val="0E7C6B"/>
                </a:solidFill>
                <a:latin typeface="Palatino Linotype" pitchFamily="34" charset="0"/>
                <a:ea typeface="Palatino Linotype" pitchFamily="34" charset="-122"/>
                <a:cs typeface="Palatino Linotype" pitchFamily="34" charset="-120"/>
              </a:rPr>
              <a:t>Ana
</a:t>
            </a:r>
            <a:pPr indent="0" marL="0">
              <a:buNone/>
            </a:pPr>
            <a:r>
              <a:rPr lang="en-US" sz="1400" dirty="0">
                <a:solidFill>
                  <a:srgbClr val="11121A"/>
                </a:solidFill>
                <a:latin typeface="Palatino Linotype" pitchFamily="34" charset="0"/>
                <a:ea typeface="Palatino Linotype" pitchFamily="34" charset="-122"/>
                <a:cs typeface="Palatino Linotype" pitchFamily="34" charset="-120"/>
              </a:rPr>
              <a:t>Ați văzut ce curge la robinet?</a:t>
            </a:r>
            <a:endParaRPr lang="en-US" sz="1200" dirty="0"/>
          </a:p>
        </p:txBody>
      </p:sp>
      <p:sp>
        <p:nvSpPr>
          <p:cNvPr id="12" name="Shape 10"/>
          <p:cNvSpPr/>
          <p:nvPr/>
        </p:nvSpPr>
        <p:spPr>
          <a:xfrm>
            <a:off x="7863840" y="2990088"/>
            <a:ext cx="3611880" cy="868680"/>
          </a:xfrm>
          <a:prstGeom prst="roundRect">
            <a:avLst>
              <a:gd name="adj" fmla="val 16842"/>
            </a:avLst>
          </a:prstGeom>
          <a:solidFill>
            <a:srgbClr val="D6F5EF"/>
          </a:solidFill>
          <a:ln w="12700">
            <a:solidFill>
              <a:srgbClr val="D6F5EF"/>
            </a:solidFill>
            <a:prstDash val="solid"/>
          </a:ln>
        </p:spPr>
        <p:txBody>
          <a:bodyPr/>
          <a:p/>
        </p:txBody>
      </p:sp>
      <p:sp>
        <p:nvSpPr>
          <p:cNvPr id="13" name="Shape 11"/>
          <p:cNvSpPr/>
          <p:nvPr/>
        </p:nvSpPr>
        <p:spPr>
          <a:xfrm flipV="1">
            <a:off x="10744200" y="3840480"/>
            <a:ext cx="365760" cy="237744"/>
          </a:xfrm>
          <a:prstGeom prst="triangle">
            <a:avLst/>
          </a:prstGeom>
          <a:solidFill>
            <a:srgbClr val="D6F5EF"/>
          </a:solidFill>
          <a:ln w="12700">
            <a:solidFill>
              <a:srgbClr val="D6F5EF"/>
            </a:solidFill>
            <a:prstDash val="solid"/>
          </a:ln>
        </p:spPr>
        <p:txBody>
          <a:bodyPr/>
          <a:p/>
        </p:txBody>
      </p:sp>
      <p:sp>
        <p:nvSpPr>
          <p:cNvPr id="14" name="Text 12"/>
          <p:cNvSpPr/>
          <p:nvPr/>
        </p:nvSpPr>
        <p:spPr>
          <a:xfrm>
            <a:off x="8028432" y="3063240"/>
            <a:ext cx="3291840" cy="758952"/>
          </a:xfrm>
          <a:prstGeom prst="rect">
            <a:avLst/>
          </a:prstGeom>
          <a:noFill/>
          <a:ln/>
        </p:spPr>
        <p:txBody>
          <a:bodyPr wrap="square" lIns="0" tIns="0" rIns="0" bIns="0" rtlCol="0" anchor="t"/>
          <a:lstStyle/>
          <a:p>
            <a:pPr indent="0" marL="0">
              <a:buNone/>
            </a:pPr>
            <a:r>
              <a:rPr lang="en-US" sz="1200" b="1" dirty="0">
                <a:solidFill>
                  <a:srgbClr val="0E7C6B"/>
                </a:solidFill>
                <a:latin typeface="Palatino Linotype" pitchFamily="34" charset="0"/>
                <a:ea typeface="Palatino Linotype" pitchFamily="34" charset="-122"/>
                <a:cs typeface="Palatino Linotype" pitchFamily="34" charset="-120"/>
              </a:rPr>
              <a:t>Mihai
</a:t>
            </a:r>
            <a:pPr indent="0" marL="0">
              <a:buNone/>
            </a:pPr>
            <a:r>
              <a:rPr lang="en-US" sz="1400" dirty="0">
                <a:solidFill>
                  <a:srgbClr val="11121A"/>
                </a:solidFill>
                <a:latin typeface="Palatino Linotype" pitchFamily="34" charset="0"/>
                <a:ea typeface="Palatino Linotype" pitchFamily="34" charset="-122"/>
                <a:cs typeface="Palatino Linotype" pitchFamily="34" charset="-120"/>
              </a:rPr>
              <a:t>La noi la fel. O fierbem?</a:t>
            </a:r>
            <a:endParaRPr lang="en-US" sz="1200" dirty="0"/>
          </a:p>
        </p:txBody>
      </p:sp>
      <p:sp>
        <p:nvSpPr>
          <p:cNvPr id="15" name="Shape 13"/>
          <p:cNvSpPr/>
          <p:nvPr/>
        </p:nvSpPr>
        <p:spPr>
          <a:xfrm>
            <a:off x="7223760" y="4242816"/>
            <a:ext cx="3611880" cy="868680"/>
          </a:xfrm>
          <a:prstGeom prst="roundRect">
            <a:avLst>
              <a:gd name="adj" fmla="val 16842"/>
            </a:avLst>
          </a:prstGeom>
          <a:solidFill>
            <a:srgbClr val="FFFFFF"/>
          </a:solidFill>
          <a:ln w="12700">
            <a:solidFill>
              <a:srgbClr val="FFFFFF"/>
            </a:solidFill>
            <a:prstDash val="solid"/>
          </a:ln>
        </p:spPr>
        <p:txBody>
          <a:bodyPr/>
          <a:p/>
        </p:txBody>
      </p:sp>
      <p:sp>
        <p:nvSpPr>
          <p:cNvPr id="16" name="Shape 14"/>
          <p:cNvSpPr/>
          <p:nvPr/>
        </p:nvSpPr>
        <p:spPr>
          <a:xfrm flipV="1">
            <a:off x="7543800" y="5093208"/>
            <a:ext cx="365760" cy="237744"/>
          </a:xfrm>
          <a:prstGeom prst="triangle">
            <a:avLst/>
          </a:prstGeom>
          <a:solidFill>
            <a:srgbClr val="FFFFFF"/>
          </a:solidFill>
          <a:ln w="12700">
            <a:solidFill>
              <a:srgbClr val="FFFFFF"/>
            </a:solidFill>
            <a:prstDash val="solid"/>
          </a:ln>
        </p:spPr>
        <p:txBody>
          <a:bodyPr/>
          <a:p/>
        </p:txBody>
      </p:sp>
      <p:sp>
        <p:nvSpPr>
          <p:cNvPr id="17" name="Text 15"/>
          <p:cNvSpPr/>
          <p:nvPr/>
        </p:nvSpPr>
        <p:spPr>
          <a:xfrm>
            <a:off x="7388352" y="4315968"/>
            <a:ext cx="3291840" cy="758952"/>
          </a:xfrm>
          <a:prstGeom prst="rect">
            <a:avLst/>
          </a:prstGeom>
          <a:noFill/>
          <a:ln/>
        </p:spPr>
        <p:txBody>
          <a:bodyPr wrap="square" lIns="0" tIns="0" rIns="0" bIns="0" rtlCol="0" anchor="t"/>
          <a:lstStyle/>
          <a:p>
            <a:pPr indent="0" marL="0">
              <a:buNone/>
            </a:pPr>
            <a:r>
              <a:rPr lang="en-US" sz="1200" b="1" dirty="0">
                <a:solidFill>
                  <a:srgbClr val="0E7C6B"/>
                </a:solidFill>
                <a:latin typeface="Palatino Linotype" pitchFamily="34" charset="0"/>
                <a:ea typeface="Palatino Linotype" pitchFamily="34" charset="-122"/>
                <a:cs typeface="Palatino Linotype" pitchFamily="34" charset="-120"/>
              </a:rPr>
              <a:t>Ioana
</a:t>
            </a:r>
            <a:pPr indent="0" marL="0">
              <a:buNone/>
            </a:pPr>
            <a:r>
              <a:rPr lang="en-US" sz="1400" dirty="0">
                <a:solidFill>
                  <a:srgbClr val="11121A"/>
                </a:solidFill>
                <a:latin typeface="Palatino Linotype" pitchFamily="34" charset="0"/>
                <a:ea typeface="Palatino Linotype" pitchFamily="34" charset="-122"/>
                <a:cs typeface="Palatino Linotype" pitchFamily="34" charset="-120"/>
              </a:rPr>
              <a:t>Cel mic are diaree. La cabinet, e al treilea copil azi.</a:t>
            </a:r>
            <a:endParaRPr lang="en-US" sz="1200" dirty="0"/>
          </a:p>
        </p:txBody>
      </p:sp>
      <p:sp>
        <p:nvSpPr>
          <p:cNvPr id="18" name="Text 16"/>
          <p:cNvSpPr/>
          <p:nvPr/>
        </p:nvSpPr>
        <p:spPr>
          <a:xfrm>
            <a:off x="6995160" y="6236208"/>
            <a:ext cx="457200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 numele sunt fictive.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VOTAȚI PE TELEFON</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Cine trebuie să acționeze primul?</a:t>
            </a:r>
            <a:endParaRPr lang="en-US" sz="3200" dirty="0"/>
          </a:p>
        </p:txBody>
      </p:sp>
      <p:sp>
        <p:nvSpPr>
          <p:cNvPr id="6" name="Shape 4"/>
          <p:cNvSpPr/>
          <p:nvPr/>
        </p:nvSpPr>
        <p:spPr>
          <a:xfrm>
            <a:off x="594360" y="1600200"/>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7" name="Shape 5"/>
          <p:cNvSpPr/>
          <p:nvPr/>
        </p:nvSpPr>
        <p:spPr>
          <a:xfrm>
            <a:off x="868680" y="1700784"/>
            <a:ext cx="420624" cy="420624"/>
          </a:xfrm>
          <a:prstGeom prst="ellipse">
            <a:avLst/>
          </a:prstGeom>
          <a:solidFill>
            <a:srgbClr val="FFC24B"/>
          </a:solidFill>
          <a:ln/>
        </p:spPr>
        <p:txBody>
          <a:bodyPr/>
          <a:p/>
        </p:txBody>
      </p:sp>
      <p:sp>
        <p:nvSpPr>
          <p:cNvPr id="8" name="Text 6"/>
          <p:cNvSpPr/>
          <p:nvPr/>
        </p:nvSpPr>
        <p:spPr>
          <a:xfrm>
            <a:off x="868680" y="1700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600200"/>
            <a:ext cx="9784080" cy="62179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Medicul de familie</a:t>
            </a:r>
            <a:endParaRPr lang="en-US" sz="1900" dirty="0"/>
          </a:p>
        </p:txBody>
      </p:sp>
      <p:sp>
        <p:nvSpPr>
          <p:cNvPr id="10" name="Shape 8"/>
          <p:cNvSpPr/>
          <p:nvPr/>
        </p:nvSpPr>
        <p:spPr>
          <a:xfrm>
            <a:off x="594360" y="2350008"/>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11" name="Shape 9"/>
          <p:cNvSpPr/>
          <p:nvPr/>
        </p:nvSpPr>
        <p:spPr>
          <a:xfrm>
            <a:off x="868680" y="2450592"/>
            <a:ext cx="420624" cy="420624"/>
          </a:xfrm>
          <a:prstGeom prst="ellipse">
            <a:avLst/>
          </a:prstGeom>
          <a:solidFill>
            <a:srgbClr val="FFC24B"/>
          </a:solidFill>
          <a:ln/>
        </p:spPr>
        <p:txBody>
          <a:bodyPr/>
          <a:p/>
        </p:txBody>
      </p:sp>
      <p:sp>
        <p:nvSpPr>
          <p:cNvPr id="12" name="Text 10"/>
          <p:cNvSpPr/>
          <p:nvPr/>
        </p:nvSpPr>
        <p:spPr>
          <a:xfrm>
            <a:off x="868680" y="24505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350008"/>
            <a:ext cx="9784080" cy="62179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Primăria</a:t>
            </a:r>
            <a:endParaRPr lang="en-US" sz="1900" dirty="0"/>
          </a:p>
        </p:txBody>
      </p:sp>
      <p:sp>
        <p:nvSpPr>
          <p:cNvPr id="14" name="Shape 12"/>
          <p:cNvSpPr/>
          <p:nvPr/>
        </p:nvSpPr>
        <p:spPr>
          <a:xfrm>
            <a:off x="594360" y="3099816"/>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15" name="Shape 13"/>
          <p:cNvSpPr/>
          <p:nvPr/>
        </p:nvSpPr>
        <p:spPr>
          <a:xfrm>
            <a:off x="868680" y="3200400"/>
            <a:ext cx="420624" cy="420624"/>
          </a:xfrm>
          <a:prstGeom prst="ellipse">
            <a:avLst/>
          </a:prstGeom>
          <a:solidFill>
            <a:srgbClr val="FFC24B"/>
          </a:solidFill>
          <a:ln/>
        </p:spPr>
        <p:txBody>
          <a:bodyPr/>
          <a:p/>
        </p:txBody>
      </p:sp>
      <p:sp>
        <p:nvSpPr>
          <p:cNvPr id="16" name="Text 14"/>
          <p:cNvSpPr/>
          <p:nvPr/>
        </p:nvSpPr>
        <p:spPr>
          <a:xfrm>
            <a:off x="868680" y="32004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099816"/>
            <a:ext cx="9784080" cy="62179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Compania care furnizează apa</a:t>
            </a:r>
            <a:endParaRPr lang="en-US" sz="1900" dirty="0"/>
          </a:p>
        </p:txBody>
      </p:sp>
      <p:sp>
        <p:nvSpPr>
          <p:cNvPr id="18" name="Shape 16"/>
          <p:cNvSpPr/>
          <p:nvPr/>
        </p:nvSpPr>
        <p:spPr>
          <a:xfrm>
            <a:off x="594360" y="3849624"/>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19" name="Shape 17"/>
          <p:cNvSpPr/>
          <p:nvPr/>
        </p:nvSpPr>
        <p:spPr>
          <a:xfrm>
            <a:off x="868680" y="3950208"/>
            <a:ext cx="420624" cy="420624"/>
          </a:xfrm>
          <a:prstGeom prst="ellipse">
            <a:avLst/>
          </a:prstGeom>
          <a:solidFill>
            <a:srgbClr val="FFC24B"/>
          </a:solidFill>
          <a:ln/>
        </p:spPr>
        <p:txBody>
          <a:bodyPr/>
          <a:p/>
        </p:txBody>
      </p:sp>
      <p:sp>
        <p:nvSpPr>
          <p:cNvPr id="20" name="Text 18"/>
          <p:cNvSpPr/>
          <p:nvPr/>
        </p:nvSpPr>
        <p:spPr>
          <a:xfrm>
            <a:off x="868680" y="3950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3849624"/>
            <a:ext cx="9784080" cy="62179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Autoritatea de sănătate publică a județului</a:t>
            </a:r>
            <a:endParaRPr lang="en-US" sz="1900" dirty="0"/>
          </a:p>
        </p:txBody>
      </p:sp>
      <p:sp>
        <p:nvSpPr>
          <p:cNvPr id="22" name="Shape 20"/>
          <p:cNvSpPr/>
          <p:nvPr/>
        </p:nvSpPr>
        <p:spPr>
          <a:xfrm>
            <a:off x="594360" y="4599432"/>
            <a:ext cx="10972800" cy="621792"/>
          </a:xfrm>
          <a:prstGeom prst="roundRect">
            <a:avLst>
              <a:gd name="adj" fmla="val 13235"/>
            </a:avLst>
          </a:prstGeom>
          <a:solidFill>
            <a:srgbClr val="1D1F2B"/>
          </a:solidFill>
          <a:ln w="12700">
            <a:solidFill>
              <a:srgbClr val="1D1F2B"/>
            </a:solidFill>
            <a:prstDash val="solid"/>
          </a:ln>
        </p:spPr>
        <p:txBody>
          <a:bodyPr/>
          <a:p/>
        </p:txBody>
      </p:sp>
      <p:sp>
        <p:nvSpPr>
          <p:cNvPr id="23" name="Shape 21"/>
          <p:cNvSpPr/>
          <p:nvPr/>
        </p:nvSpPr>
        <p:spPr>
          <a:xfrm>
            <a:off x="868680" y="4700016"/>
            <a:ext cx="420624" cy="420624"/>
          </a:xfrm>
          <a:prstGeom prst="ellipse">
            <a:avLst/>
          </a:prstGeom>
          <a:solidFill>
            <a:srgbClr val="FFC24B"/>
          </a:solidFill>
          <a:ln/>
        </p:spPr>
        <p:txBody>
          <a:bodyPr/>
          <a:p/>
        </p:txBody>
      </p:sp>
      <p:sp>
        <p:nvSpPr>
          <p:cNvPr id="24" name="Text 22"/>
          <p:cNvSpPr/>
          <p:nvPr/>
        </p:nvSpPr>
        <p:spPr>
          <a:xfrm>
            <a:off x="868680" y="47000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E</a:t>
            </a:r>
            <a:endParaRPr lang="en-US" sz="1400" dirty="0"/>
          </a:p>
        </p:txBody>
      </p:sp>
      <p:sp>
        <p:nvSpPr>
          <p:cNvPr id="25" name="Text 23"/>
          <p:cNvSpPr/>
          <p:nvPr/>
        </p:nvSpPr>
        <p:spPr>
          <a:xfrm>
            <a:off x="1508760" y="4599432"/>
            <a:ext cx="9784080" cy="62179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Fiecare familie, pentru ea însăși</a:t>
            </a:r>
            <a:endParaRPr lang="en-US" sz="1900" dirty="0"/>
          </a:p>
        </p:txBody>
      </p:sp>
      <p:sp>
        <p:nvSpPr>
          <p:cNvPr id="26" name="Text 24"/>
          <p:cNvSpPr/>
          <p:nvPr/>
        </p:nvSpPr>
        <p:spPr>
          <a:xfrm>
            <a:off x="594360" y="548640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Un singur vot, pe menti.com: codul apare pe ecranul Mentimeter.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FIECARE ARE O PARTE DE ADEVĂR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Niciunul nu ajunge singur</a:t>
            </a:r>
            <a:endParaRPr lang="en-US" sz="3100" dirty="0"/>
          </a:p>
        </p:txBody>
      </p:sp>
      <p:sp>
        <p:nvSpPr>
          <p:cNvPr id="4" name="Shape 2"/>
          <p:cNvSpPr/>
          <p:nvPr/>
        </p:nvSpPr>
        <p:spPr>
          <a:xfrm>
            <a:off x="594360" y="1645920"/>
            <a:ext cx="5394960" cy="1234440"/>
          </a:xfrm>
          <a:prstGeom prst="roundRect">
            <a:avLst>
              <a:gd name="adj" fmla="val 6667"/>
            </a:avLst>
          </a:prstGeom>
          <a:solidFill>
            <a:srgbClr val="ECEAE4"/>
          </a:solidFill>
          <a:ln w="12700">
            <a:solidFill>
              <a:srgbClr val="ECEAE4"/>
            </a:solidFill>
            <a:prstDash val="solid"/>
          </a:ln>
        </p:spPr>
        <p:txBody>
          <a:bodyPr/>
          <a:p/>
        </p:txBody>
      </p:sp>
      <p:sp>
        <p:nvSpPr>
          <p:cNvPr id="5" name="Text 3"/>
          <p:cNvSpPr/>
          <p:nvPr/>
        </p:nvSpPr>
        <p:spPr>
          <a:xfrm>
            <a:off x="868680" y="1645920"/>
            <a:ext cx="4892040" cy="12344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Medicul de familie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vede bolnavii abia după ce s-au îmbolnăvit, unul câte unul.</a:t>
            </a:r>
            <a:endParaRPr lang="en-US" sz="1700" dirty="0"/>
          </a:p>
        </p:txBody>
      </p:sp>
      <p:sp>
        <p:nvSpPr>
          <p:cNvPr id="6" name="Shape 4"/>
          <p:cNvSpPr/>
          <p:nvPr/>
        </p:nvSpPr>
        <p:spPr>
          <a:xfrm>
            <a:off x="6172200" y="1645920"/>
            <a:ext cx="5394960" cy="1234440"/>
          </a:xfrm>
          <a:prstGeom prst="roundRect">
            <a:avLst>
              <a:gd name="adj" fmla="val 6667"/>
            </a:avLst>
          </a:prstGeom>
          <a:solidFill>
            <a:srgbClr val="F9F8F5"/>
          </a:solidFill>
          <a:ln w="12700">
            <a:solidFill>
              <a:srgbClr val="F9F8F5"/>
            </a:solidFill>
            <a:prstDash val="solid"/>
          </a:ln>
        </p:spPr>
        <p:txBody>
          <a:bodyPr/>
          <a:p/>
        </p:txBody>
      </p:sp>
      <p:sp>
        <p:nvSpPr>
          <p:cNvPr id="7" name="Text 5"/>
          <p:cNvSpPr/>
          <p:nvPr/>
        </p:nvSpPr>
        <p:spPr>
          <a:xfrm>
            <a:off x="6446520" y="1645920"/>
            <a:ext cx="4892040" cy="12344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Compania de apă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poate opri sau trata apa, dacă știe ce caută în ea.</a:t>
            </a:r>
            <a:endParaRPr lang="en-US" sz="1700" dirty="0"/>
          </a:p>
        </p:txBody>
      </p:sp>
      <p:sp>
        <p:nvSpPr>
          <p:cNvPr id="8" name="Shape 6"/>
          <p:cNvSpPr/>
          <p:nvPr/>
        </p:nvSpPr>
        <p:spPr>
          <a:xfrm>
            <a:off x="594360" y="3063240"/>
            <a:ext cx="5394960" cy="1234440"/>
          </a:xfrm>
          <a:prstGeom prst="roundRect">
            <a:avLst>
              <a:gd name="adj" fmla="val 6667"/>
            </a:avLst>
          </a:prstGeom>
          <a:solidFill>
            <a:srgbClr val="F9F8F5"/>
          </a:solidFill>
          <a:ln w="12700">
            <a:solidFill>
              <a:srgbClr val="F9F8F5"/>
            </a:solidFill>
            <a:prstDash val="solid"/>
          </a:ln>
        </p:spPr>
        <p:txBody>
          <a:bodyPr/>
          <a:p/>
        </p:txBody>
      </p:sp>
      <p:sp>
        <p:nvSpPr>
          <p:cNvPr id="9" name="Text 7"/>
          <p:cNvSpPr/>
          <p:nvPr/>
        </p:nvSpPr>
        <p:spPr>
          <a:xfrm>
            <a:off x="868680" y="3063240"/>
            <a:ext cx="4892040" cy="12344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Primăria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aduce cisterne, dacă cineva îi spune că e necesar.</a:t>
            </a:r>
            <a:endParaRPr lang="en-US" sz="1700" dirty="0"/>
          </a:p>
        </p:txBody>
      </p:sp>
      <p:sp>
        <p:nvSpPr>
          <p:cNvPr id="10" name="Shape 8"/>
          <p:cNvSpPr/>
          <p:nvPr/>
        </p:nvSpPr>
        <p:spPr>
          <a:xfrm>
            <a:off x="6172200" y="3063240"/>
            <a:ext cx="5394960" cy="1234440"/>
          </a:xfrm>
          <a:prstGeom prst="roundRect">
            <a:avLst>
              <a:gd name="adj" fmla="val 6667"/>
            </a:avLst>
          </a:prstGeom>
          <a:solidFill>
            <a:srgbClr val="ECEAE4"/>
          </a:solidFill>
          <a:ln w="12700">
            <a:solidFill>
              <a:srgbClr val="ECEAE4"/>
            </a:solidFill>
            <a:prstDash val="solid"/>
          </a:ln>
        </p:spPr>
        <p:txBody>
          <a:bodyPr/>
          <a:p/>
        </p:txBody>
      </p:sp>
      <p:sp>
        <p:nvSpPr>
          <p:cNvPr id="11" name="Text 9"/>
          <p:cNvSpPr/>
          <p:nvPr/>
        </p:nvSpPr>
        <p:spPr>
          <a:xfrm>
            <a:off x="6446520" y="3063240"/>
            <a:ext cx="4892040" cy="12344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Familiile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fierb apa, dacă află la timp și au încredere.</a:t>
            </a:r>
            <a:endParaRPr lang="en-US" sz="1700" dirty="0"/>
          </a:p>
        </p:txBody>
      </p:sp>
      <p:sp>
        <p:nvSpPr>
          <p:cNvPr id="12" name="Shape 10"/>
          <p:cNvSpPr/>
          <p:nvPr/>
        </p:nvSpPr>
        <p:spPr>
          <a:xfrm>
            <a:off x="594360" y="4709160"/>
            <a:ext cx="54864" cy="1097280"/>
          </a:xfrm>
          <a:prstGeom prst="rect">
            <a:avLst/>
          </a:prstGeom>
          <a:solidFill>
            <a:srgbClr val="0E7C6B"/>
          </a:solidFill>
          <a:ln w="12700">
            <a:solidFill>
              <a:srgbClr val="0E7C6B"/>
            </a:solidFill>
            <a:prstDash val="solid"/>
          </a:ln>
        </p:spPr>
        <p:txBody>
          <a:bodyPr/>
          <a:p/>
        </p:txBody>
      </p:sp>
      <p:sp>
        <p:nvSpPr>
          <p:cNvPr id="13" name="Text 11"/>
          <p:cNvSpPr/>
          <p:nvPr/>
        </p:nvSpPr>
        <p:spPr>
          <a:xfrm>
            <a:off x="868680" y="4709160"/>
            <a:ext cx="10607040" cy="1097280"/>
          </a:xfrm>
          <a:prstGeom prst="rect">
            <a:avLst/>
          </a:prstGeom>
          <a:noFill/>
          <a:ln/>
        </p:spPr>
        <p:txBody>
          <a:bodyPr wrap="square" lIns="0" tIns="0" rIns="0" bIns="0" rtlCol="0" anchor="ctr"/>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Deciziile importante se iau înainte ca majoritatea celor care s-ar putea îmbolnăvi să ajungă la medic.</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1188720"/>
            <a:ext cx="10515600" cy="2194560"/>
          </a:xfrm>
          <a:prstGeom prst="rect">
            <a:avLst/>
          </a:prstGeom>
          <a:noFill/>
          <a:ln/>
        </p:spPr>
        <p:txBody>
          <a:bodyPr wrap="square" lIns="0" tIns="0" rIns="0" bIns="0" rtlCol="0" anchor="ctr"/>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Ce trebuie să știe cineva, în prima oră, ca să decidă ce le spune oamenilor?</a:t>
            </a:r>
            <a:endParaRPr lang="en-US" sz="3800" dirty="0"/>
          </a:p>
        </p:txBody>
      </p:sp>
      <p:sp>
        <p:nvSpPr>
          <p:cNvPr id="6" name="Shape 4"/>
          <p:cNvSpPr/>
          <p:nvPr/>
        </p:nvSpPr>
        <p:spPr>
          <a:xfrm>
            <a:off x="594360" y="3794760"/>
            <a:ext cx="1280160" cy="36576"/>
          </a:xfrm>
          <a:prstGeom prst="rect">
            <a:avLst/>
          </a:prstGeom>
          <a:solidFill>
            <a:srgbClr val="27D3BE"/>
          </a:solidFill>
          <a:ln/>
        </p:spPr>
        <p:txBody>
          <a:bodyPr/>
          <a:p/>
        </p:txBody>
      </p:sp>
      <p:sp>
        <p:nvSpPr>
          <p:cNvPr id="7" name="Text 5"/>
          <p:cNvSpPr/>
          <p:nvPr/>
        </p:nvSpPr>
        <p:spPr>
          <a:xfrm>
            <a:off x="594360" y="4069080"/>
            <a:ext cx="10058400" cy="9144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Două minute de discuție. Notați pe telefon un singur lucru; câteva răspunsuri se citesc apoi în sală.</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AR TREBUI SĂ ȘTIM</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Patru lucruri, niciunul evident</a:t>
            </a:r>
            <a:endParaRPr lang="en-US" sz="3100" dirty="0"/>
          </a:p>
        </p:txBody>
      </p:sp>
      <p:sp>
        <p:nvSpPr>
          <p:cNvPr id="4" name="Shape 2"/>
          <p:cNvSpPr/>
          <p:nvPr/>
        </p:nvSpPr>
        <p:spPr>
          <a:xfrm>
            <a:off x="594360" y="1645920"/>
            <a:ext cx="10972800" cy="777240"/>
          </a:xfrm>
          <a:prstGeom prst="roundRect">
            <a:avLst>
              <a:gd name="adj" fmla="val 10588"/>
            </a:avLst>
          </a:prstGeom>
          <a:solidFill>
            <a:srgbClr val="ECEAE4"/>
          </a:solidFill>
          <a:ln w="12700">
            <a:solidFill>
              <a:srgbClr val="ECEAE4"/>
            </a:solidFill>
            <a:prstDash val="solid"/>
          </a:ln>
        </p:spPr>
        <p:txBody>
          <a:bodyPr/>
          <a:p/>
        </p:txBody>
      </p:sp>
      <p:sp>
        <p:nvSpPr>
          <p:cNvPr id="5" name="Shape 3"/>
          <p:cNvSpPr/>
          <p:nvPr/>
        </p:nvSpPr>
        <p:spPr>
          <a:xfrm>
            <a:off x="822960" y="1828800"/>
            <a:ext cx="420624" cy="420624"/>
          </a:xfrm>
          <a:prstGeom prst="ellipse">
            <a:avLst/>
          </a:prstGeom>
          <a:solidFill>
            <a:srgbClr val="FF4757"/>
          </a:solidFill>
          <a:ln/>
        </p:spPr>
        <p:txBody>
          <a:bodyPr/>
          <a:p/>
        </p:txBody>
      </p:sp>
      <p:sp>
        <p:nvSpPr>
          <p:cNvPr id="6" name="Text 4"/>
          <p:cNvSpPr/>
          <p:nvPr/>
        </p:nvSpPr>
        <p:spPr>
          <a:xfrm>
            <a:off x="822960" y="18288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45920"/>
            <a:ext cx="640080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Apa poate transmite boli; fierberea omoară microbii.</a:t>
            </a:r>
            <a:endParaRPr lang="en-US" sz="1700" dirty="0"/>
          </a:p>
        </p:txBody>
      </p:sp>
      <p:sp>
        <p:nvSpPr>
          <p:cNvPr id="8" name="Text 6"/>
          <p:cNvSpPr/>
          <p:nvPr/>
        </p:nvSpPr>
        <p:spPr>
          <a:xfrm>
            <a:off x="7955280" y="1645920"/>
            <a:ext cx="3429000" cy="777240"/>
          </a:xfrm>
          <a:prstGeom prst="rect">
            <a:avLst/>
          </a:prstGeom>
          <a:noFill/>
          <a:ln/>
        </p:spPr>
        <p:txBody>
          <a:bodyPr wrap="square" lIns="0" tIns="0" rIns="0" bIns="0" rtlCol="0" anchor="ctr"/>
          <a:lstStyle/>
          <a:p>
            <a:pPr indent="0" marL="0">
              <a:buNone/>
            </a:pPr>
            <a:r>
              <a:rPr lang="en-US" sz="1500" i="1" dirty="0">
                <a:solidFill>
                  <a:srgbClr val="0E7C6B"/>
                </a:solidFill>
                <a:latin typeface="Palatino Linotype" pitchFamily="34" charset="0"/>
                <a:ea typeface="Palatino Linotype" pitchFamily="34" charset="-122"/>
                <a:cs typeface="Palatino Linotype" pitchFamily="34" charset="-120"/>
              </a:rPr>
              <a:t>Londra, jumătatea secolului al XIX-lea</a:t>
            </a:r>
            <a:endParaRPr lang="en-US" sz="1500" dirty="0"/>
          </a:p>
        </p:txBody>
      </p:sp>
      <p:sp>
        <p:nvSpPr>
          <p:cNvPr id="9" name="Shape 7"/>
          <p:cNvSpPr/>
          <p:nvPr/>
        </p:nvSpPr>
        <p:spPr>
          <a:xfrm>
            <a:off x="594360" y="2560320"/>
            <a:ext cx="10972800" cy="777240"/>
          </a:xfrm>
          <a:prstGeom prst="roundRect">
            <a:avLst>
              <a:gd name="adj" fmla="val 10588"/>
            </a:avLst>
          </a:prstGeom>
          <a:solidFill>
            <a:srgbClr val="F9F8F5"/>
          </a:solidFill>
          <a:ln w="12700">
            <a:solidFill>
              <a:srgbClr val="F9F8F5"/>
            </a:solidFill>
            <a:prstDash val="solid"/>
          </a:ln>
        </p:spPr>
        <p:txBody>
          <a:bodyPr/>
          <a:p/>
        </p:txBody>
      </p:sp>
      <p:sp>
        <p:nvSpPr>
          <p:cNvPr id="10" name="Shape 8"/>
          <p:cNvSpPr/>
          <p:nvPr/>
        </p:nvSpPr>
        <p:spPr>
          <a:xfrm>
            <a:off x="822960" y="2743200"/>
            <a:ext cx="420624" cy="420624"/>
          </a:xfrm>
          <a:prstGeom prst="ellipse">
            <a:avLst/>
          </a:prstGeom>
          <a:solidFill>
            <a:srgbClr val="FF4757"/>
          </a:solidFill>
          <a:ln/>
        </p:spPr>
        <p:txBody>
          <a:bodyPr/>
          <a:p/>
        </p:txBody>
      </p:sp>
      <p:sp>
        <p:nvSpPr>
          <p:cNvPr id="11" name="Text 9"/>
          <p:cNvSpPr/>
          <p:nvPr/>
        </p:nvSpPr>
        <p:spPr>
          <a:xfrm>
            <a:off x="822960" y="27432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463040" y="2560320"/>
            <a:ext cx="640080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Să numărăm bolnavii: stau pe aceeași rețea de apă?</a:t>
            </a:r>
            <a:endParaRPr lang="en-US" sz="1700" dirty="0"/>
          </a:p>
        </p:txBody>
      </p:sp>
      <p:sp>
        <p:nvSpPr>
          <p:cNvPr id="13" name="Text 11"/>
          <p:cNvSpPr/>
          <p:nvPr/>
        </p:nvSpPr>
        <p:spPr>
          <a:xfrm>
            <a:off x="7955280" y="2560320"/>
            <a:ext cx="3429000" cy="777240"/>
          </a:xfrm>
          <a:prstGeom prst="rect">
            <a:avLst/>
          </a:prstGeom>
          <a:noFill/>
          <a:ln/>
        </p:spPr>
        <p:txBody>
          <a:bodyPr wrap="square" lIns="0" tIns="0" rIns="0" bIns="0" rtlCol="0" anchor="ctr"/>
          <a:lstStyle/>
          <a:p>
            <a:pPr indent="0" marL="0">
              <a:buNone/>
            </a:pPr>
            <a:r>
              <a:rPr lang="en-US" sz="1500" i="1" dirty="0">
                <a:solidFill>
                  <a:srgbClr val="0E7C6B"/>
                </a:solidFill>
                <a:latin typeface="Palatino Linotype" pitchFamily="34" charset="0"/>
                <a:ea typeface="Palatino Linotype" pitchFamily="34" charset="-122"/>
                <a:cs typeface="Palatino Linotype" pitchFamily="34" charset="-120"/>
              </a:rPr>
              <a:t>harta unui medic londonez</a:t>
            </a:r>
            <a:endParaRPr lang="en-US" sz="1500" dirty="0"/>
          </a:p>
        </p:txBody>
      </p:sp>
      <p:sp>
        <p:nvSpPr>
          <p:cNvPr id="14" name="Shape 12"/>
          <p:cNvSpPr/>
          <p:nvPr/>
        </p:nvSpPr>
        <p:spPr>
          <a:xfrm>
            <a:off x="594360" y="3474720"/>
            <a:ext cx="10972800" cy="777240"/>
          </a:xfrm>
          <a:prstGeom prst="roundRect">
            <a:avLst>
              <a:gd name="adj" fmla="val 10588"/>
            </a:avLst>
          </a:prstGeom>
          <a:solidFill>
            <a:srgbClr val="ECEAE4"/>
          </a:solidFill>
          <a:ln w="12700">
            <a:solidFill>
              <a:srgbClr val="ECEAE4"/>
            </a:solidFill>
            <a:prstDash val="solid"/>
          </a:ln>
        </p:spPr>
        <p:txBody>
          <a:bodyPr/>
          <a:p/>
        </p:txBody>
      </p:sp>
      <p:sp>
        <p:nvSpPr>
          <p:cNvPr id="15" name="Shape 13"/>
          <p:cNvSpPr/>
          <p:nvPr/>
        </p:nvSpPr>
        <p:spPr>
          <a:xfrm>
            <a:off x="822960" y="3657600"/>
            <a:ext cx="420624" cy="420624"/>
          </a:xfrm>
          <a:prstGeom prst="ellipse">
            <a:avLst/>
          </a:prstGeom>
          <a:solidFill>
            <a:srgbClr val="FF4757"/>
          </a:solidFill>
          <a:ln/>
        </p:spPr>
        <p:txBody>
          <a:bodyPr/>
          <a:p/>
        </p:txBody>
      </p:sp>
      <p:sp>
        <p:nvSpPr>
          <p:cNvPr id="16" name="Text 14"/>
          <p:cNvSpPr/>
          <p:nvPr/>
        </p:nvSpPr>
        <p:spPr>
          <a:xfrm>
            <a:off x="822960" y="36576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463040" y="3474720"/>
            <a:ext cx="640080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regulă: cine anunță populația, cine plătește cisternele.</a:t>
            </a:r>
            <a:endParaRPr lang="en-US" sz="1700" dirty="0"/>
          </a:p>
        </p:txBody>
      </p:sp>
      <p:sp>
        <p:nvSpPr>
          <p:cNvPr id="18" name="Text 16"/>
          <p:cNvSpPr/>
          <p:nvPr/>
        </p:nvSpPr>
        <p:spPr>
          <a:xfrm>
            <a:off x="7955280" y="3474720"/>
            <a:ext cx="3429000" cy="777240"/>
          </a:xfrm>
          <a:prstGeom prst="rect">
            <a:avLst/>
          </a:prstGeom>
          <a:noFill/>
          <a:ln/>
        </p:spPr>
        <p:txBody>
          <a:bodyPr wrap="square" lIns="0" tIns="0" rIns="0" bIns="0" rtlCol="0" anchor="ctr"/>
          <a:lstStyle/>
          <a:p>
            <a:pPr indent="0" marL="0">
              <a:buNone/>
            </a:pPr>
            <a:r>
              <a:rPr lang="en-US" sz="1500" i="1" dirty="0">
                <a:solidFill>
                  <a:srgbClr val="0E7C6B"/>
                </a:solidFill>
                <a:latin typeface="Palatino Linotype" pitchFamily="34" charset="0"/>
                <a:ea typeface="Palatino Linotype" pitchFamily="34" charset="-122"/>
                <a:cs typeface="Palatino Linotype" pitchFamily="34" charset="-120"/>
              </a:rPr>
              <a:t>legile pentru orașele sărace</a:t>
            </a:r>
            <a:endParaRPr lang="en-US" sz="1500" dirty="0"/>
          </a:p>
        </p:txBody>
      </p:sp>
      <p:sp>
        <p:nvSpPr>
          <p:cNvPr id="19" name="Shape 17"/>
          <p:cNvSpPr/>
          <p:nvPr/>
        </p:nvSpPr>
        <p:spPr>
          <a:xfrm>
            <a:off x="594360" y="4389120"/>
            <a:ext cx="10972800" cy="777240"/>
          </a:xfrm>
          <a:prstGeom prst="roundRect">
            <a:avLst>
              <a:gd name="adj" fmla="val 10588"/>
            </a:avLst>
          </a:prstGeom>
          <a:solidFill>
            <a:srgbClr val="F9F8F5"/>
          </a:solidFill>
          <a:ln w="12700">
            <a:solidFill>
              <a:srgbClr val="F9F8F5"/>
            </a:solidFill>
            <a:prstDash val="solid"/>
          </a:ln>
        </p:spPr>
        <p:txBody>
          <a:bodyPr/>
          <a:p/>
        </p:txBody>
      </p:sp>
      <p:sp>
        <p:nvSpPr>
          <p:cNvPr id="20" name="Shape 18"/>
          <p:cNvSpPr/>
          <p:nvPr/>
        </p:nvSpPr>
        <p:spPr>
          <a:xfrm>
            <a:off x="822960" y="4572000"/>
            <a:ext cx="420624" cy="420624"/>
          </a:xfrm>
          <a:prstGeom prst="ellipse">
            <a:avLst/>
          </a:prstGeom>
          <a:solidFill>
            <a:srgbClr val="FF4757"/>
          </a:solidFill>
          <a:ln/>
        </p:spPr>
        <p:txBody>
          <a:bodyPr/>
          <a:p/>
        </p:txBody>
      </p:sp>
      <p:sp>
        <p:nvSpPr>
          <p:cNvPr id="21" name="Text 19"/>
          <p:cNvSpPr/>
          <p:nvPr/>
        </p:nvSpPr>
        <p:spPr>
          <a:xfrm>
            <a:off x="822960" y="45720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463040" y="4389120"/>
            <a:ext cx="640080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Oamenii trebuie să creadă anunțul.</a:t>
            </a:r>
            <a:endParaRPr lang="en-US" sz="1700" dirty="0"/>
          </a:p>
        </p:txBody>
      </p:sp>
      <p:sp>
        <p:nvSpPr>
          <p:cNvPr id="23" name="Text 21"/>
          <p:cNvSpPr/>
          <p:nvPr/>
        </p:nvSpPr>
        <p:spPr>
          <a:xfrm>
            <a:off x="7955280" y="4389120"/>
            <a:ext cx="3429000" cy="777240"/>
          </a:xfrm>
          <a:prstGeom prst="rect">
            <a:avLst/>
          </a:prstGeom>
          <a:noFill/>
          <a:ln/>
        </p:spPr>
        <p:txBody>
          <a:bodyPr wrap="square" lIns="0" tIns="0" rIns="0" bIns="0" rtlCol="0" anchor="ctr"/>
          <a:lstStyle/>
          <a:p>
            <a:pPr indent="0" marL="0">
              <a:buNone/>
            </a:pPr>
            <a:r>
              <a:rPr lang="en-US" sz="1500" i="1" dirty="0">
                <a:solidFill>
                  <a:srgbClr val="0E7C6B"/>
                </a:solidFill>
                <a:latin typeface="Palatino Linotype" pitchFamily="34" charset="0"/>
                <a:ea typeface="Palatino Linotype" pitchFamily="34" charset="-122"/>
                <a:cs typeface="Palatino Linotype" pitchFamily="34" charset="-120"/>
              </a:rPr>
              <a:t>o provocare și astăzi</a:t>
            </a:r>
            <a:endParaRPr lang="en-US" sz="1500" dirty="0"/>
          </a:p>
        </p:txBody>
      </p:sp>
      <p:sp>
        <p:nvSpPr>
          <p:cNvPr id="24" name="Text 22"/>
          <p:cNvSpPr/>
          <p:nvPr/>
        </p:nvSpPr>
        <p:spPr>
          <a:xfrm>
            <a:off x="594360" y="5440680"/>
            <a:ext cx="1097280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Fiecare are o istorie: subiectul ședinței de azi.</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CINE ESTE PACIENTUL?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Un om sau un oraș întreg</a:t>
            </a:r>
            <a:endParaRPr lang="en-US" sz="3100" dirty="0"/>
          </a:p>
        </p:txBody>
      </p:sp>
      <p:sp>
        <p:nvSpPr>
          <p:cNvPr id="4" name="Shape 2"/>
          <p:cNvSpPr/>
          <p:nvPr/>
        </p:nvSpPr>
        <p:spPr>
          <a:xfrm>
            <a:off x="594360" y="1691640"/>
            <a:ext cx="5394960" cy="2377440"/>
          </a:xfrm>
          <a:prstGeom prst="roundRect">
            <a:avLst>
              <a:gd name="adj" fmla="val 3462"/>
            </a:avLst>
          </a:prstGeom>
          <a:solidFill>
            <a:srgbClr val="ECEAE4"/>
          </a:solidFill>
          <a:ln w="12700">
            <a:solidFill>
              <a:srgbClr val="ECEAE4"/>
            </a:solidFill>
            <a:prstDash val="solid"/>
          </a:ln>
        </p:spPr>
        <p:txBody>
          <a:bodyPr/>
          <a:p/>
        </p:txBody>
      </p:sp>
      <p:sp>
        <p:nvSpPr>
          <p:cNvPr id="5" name="Shape 3"/>
          <p:cNvSpPr/>
          <p:nvPr/>
        </p:nvSpPr>
        <p:spPr>
          <a:xfrm>
            <a:off x="6172200" y="1691640"/>
            <a:ext cx="5394960" cy="2377440"/>
          </a:xfrm>
          <a:prstGeom prst="roundRect">
            <a:avLst>
              <a:gd name="adj" fmla="val 3462"/>
            </a:avLst>
          </a:prstGeom>
          <a:solidFill>
            <a:srgbClr val="07564B"/>
          </a:solidFill>
          <a:ln w="12700">
            <a:solidFill>
              <a:srgbClr val="07564B"/>
            </a:solidFill>
            <a:prstDash val="solid"/>
          </a:ln>
        </p:spPr>
        <p:txBody>
          <a:bodyPr/>
          <a:p/>
        </p:txBody>
      </p:sp>
      <p:sp>
        <p:nvSpPr>
          <p:cNvPr id="6" name="Text 4"/>
          <p:cNvSpPr/>
          <p:nvPr/>
        </p:nvSpPr>
        <p:spPr>
          <a:xfrm>
            <a:off x="868680" y="1874520"/>
            <a:ext cx="4846320" cy="32004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MEDICUL</a:t>
            </a:r>
            <a:endParaRPr lang="en-US" sz="1400" dirty="0"/>
          </a:p>
        </p:txBody>
      </p:sp>
      <p:sp>
        <p:nvSpPr>
          <p:cNvPr id="7" name="Text 5"/>
          <p:cNvSpPr/>
          <p:nvPr/>
        </p:nvSpPr>
        <p:spPr>
          <a:xfrm>
            <a:off x="868680" y="2286000"/>
            <a:ext cx="4846320" cy="1645920"/>
          </a:xfrm>
          <a:prstGeom prst="rect">
            <a:avLst/>
          </a:prstGeom>
          <a:noFill/>
          <a:ln/>
        </p:spPr>
        <p:txBody>
          <a:bodyPr wrap="square" lIns="0" tIns="0" rIns="0" bIns="0" rtlCol="0" anchor="t"/>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Pacientul este persoana din fața lui. Tratează boala care a apărut deja.</a:t>
            </a:r>
            <a:endParaRPr lang="en-US" sz="2000" dirty="0"/>
          </a:p>
        </p:txBody>
      </p:sp>
      <p:sp>
        <p:nvSpPr>
          <p:cNvPr id="8" name="Text 6"/>
          <p:cNvSpPr/>
          <p:nvPr/>
        </p:nvSpPr>
        <p:spPr>
          <a:xfrm>
            <a:off x="6446520" y="1874520"/>
            <a:ext cx="4846320" cy="320040"/>
          </a:xfrm>
          <a:prstGeom prst="rect">
            <a:avLst/>
          </a:prstGeom>
          <a:noFill/>
          <a:ln/>
        </p:spPr>
        <p:txBody>
          <a:bodyPr wrap="square" lIns="0" tIns="0" rIns="0" bIns="0" rtlCol="0" anchor="t"/>
          <a:lstStyle/>
          <a:p>
            <a:pPr indent="0" marL="0">
              <a:buNone/>
            </a:pPr>
            <a:r>
              <a:rPr lang="en-US" sz="1400" b="1" spc="200" kern="0" dirty="0">
                <a:solidFill>
                  <a:srgbClr val="9FE8DC"/>
                </a:solidFill>
                <a:latin typeface="Palatino Linotype" pitchFamily="34" charset="0"/>
                <a:ea typeface="Palatino Linotype" pitchFamily="34" charset="-122"/>
                <a:cs typeface="Palatino Linotype" pitchFamily="34" charset="-120"/>
              </a:rPr>
              <a:t>SĂNĂTATEA PUBLICĂ</a:t>
            </a:r>
            <a:endParaRPr lang="en-US" sz="1400" dirty="0"/>
          </a:p>
        </p:txBody>
      </p:sp>
      <p:sp>
        <p:nvSpPr>
          <p:cNvPr id="9" name="Text 7"/>
          <p:cNvSpPr/>
          <p:nvPr/>
        </p:nvSpPr>
        <p:spPr>
          <a:xfrm>
            <a:off x="6446520" y="2286000"/>
            <a:ext cx="4892040" cy="16916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Pacientul este comunitatea. Încearcă să împiedice boala la mulți oameni deodată: apă curată, reguli, vaccinuri, informații corecte la timp.</a:t>
            </a:r>
            <a:endParaRPr lang="en-US" sz="1900" dirty="0"/>
          </a:p>
        </p:txBody>
      </p:sp>
      <p:sp>
        <p:nvSpPr>
          <p:cNvPr id="10" name="Text 8"/>
          <p:cNvSpPr/>
          <p:nvPr/>
        </p:nvSpPr>
        <p:spPr>
          <a:xfrm>
            <a:off x="594360" y="4389120"/>
            <a:ext cx="10972800" cy="41148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Nu sunt rivale.</a:t>
            </a:r>
            <a:endParaRPr lang="en-US" sz="2000" dirty="0"/>
          </a:p>
        </p:txBody>
      </p:sp>
      <p:sp>
        <p:nvSpPr>
          <p:cNvPr id="11" name="Text 9"/>
          <p:cNvSpPr/>
          <p:nvPr/>
        </p:nvSpPr>
        <p:spPr>
          <a:xfrm>
            <a:off x="594360" y="4846320"/>
            <a:ext cx="1097280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Medicul de familie care observă trei copii cu diaree face legătura dintre cele două lumi: tratează copiii și, în același timp, dă alarma.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SINGUR CUVÂNT</a:t>
            </a:r>
            <a:endParaRPr lang="en-US" sz="1300" dirty="0"/>
          </a:p>
        </p:txBody>
      </p:sp>
      <p:sp>
        <p:nvSpPr>
          <p:cNvPr id="5" name="Text 3"/>
          <p:cNvSpPr/>
          <p:nvPr/>
        </p:nvSpPr>
        <p:spPr>
          <a:xfrm>
            <a:off x="594360" y="1280160"/>
            <a:ext cx="10789920" cy="2194560"/>
          </a:xfrm>
          <a:prstGeom prst="rect">
            <a:avLst/>
          </a:prstGeom>
          <a:noFill/>
          <a:ln/>
        </p:spPr>
        <p:txBody>
          <a:bodyPr wrap="square" lIns="0" tIns="0" rIns="0" bIns="0" rtlCol="0" anchor="ctr"/>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Ce vă vine în minte când auziți „sănătate publică”?</a:t>
            </a:r>
            <a:endParaRPr lang="en-US" sz="4400" dirty="0"/>
          </a:p>
        </p:txBody>
      </p:sp>
      <p:sp>
        <p:nvSpPr>
          <p:cNvPr id="6" name="Text 4"/>
          <p:cNvSpPr/>
          <p:nvPr/>
        </p:nvSpPr>
        <p:spPr>
          <a:xfrm>
            <a:off x="594360" y="3931920"/>
            <a:ext cx="10058400" cy="9144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Cuvintele cele mai frecvente apar mai mari. Păstrăm norul și punem aceeași întrebare la sfârșitul ședinței.</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hipocrate.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Hipocrate, gravură după Rubens</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Domeniu public · Wikimedia Commons</a:t>
            </a:r>
            <a:endParaRPr lang="en-US" sz="850" dirty="0"/>
          </a:p>
        </p:txBody>
      </p:sp>
      <p:sp>
        <p:nvSpPr>
          <p:cNvPr id="6" name="Text 3"/>
          <p:cNvSpPr/>
          <p:nvPr/>
        </p:nvSpPr>
        <p:spPr>
          <a:xfrm>
            <a:off x="5943600" y="457200"/>
            <a:ext cx="58521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ÎNAINTE DE MICROBI · GRECIA ANTICĂ</a:t>
            </a:r>
            <a:endParaRPr lang="en-US" sz="1300" dirty="0"/>
          </a:p>
        </p:txBody>
      </p:sp>
      <p:sp>
        <p:nvSpPr>
          <p:cNvPr id="7" name="Text 4"/>
          <p:cNvSpPr/>
          <p:nvPr/>
        </p:nvSpPr>
        <p:spPr>
          <a:xfrm>
            <a:off x="5943600" y="868680"/>
            <a:ext cx="576072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Natura, nu zeii</a:t>
            </a:r>
            <a:endParaRPr lang="en-US" sz="3200" dirty="0"/>
          </a:p>
        </p:txBody>
      </p:sp>
      <p:sp>
        <p:nvSpPr>
          <p:cNvPr id="8" name="Text 5"/>
          <p:cNvSpPr/>
          <p:nvPr/>
        </p:nvSpPr>
        <p:spPr>
          <a:xfrm>
            <a:off x="5943600" y="1645920"/>
            <a:ext cx="5760720" cy="868680"/>
          </a:xfrm>
          <a:prstGeom prst="rect">
            <a:avLst/>
          </a:prstGeom>
          <a:noFill/>
          <a:ln/>
        </p:spPr>
        <p:txBody>
          <a:bodyPr wrap="square" lIns="0" tIns="0" rIns="0" bIns="0" rtlCol="0" anchor="ctr"/>
          <a:lstStyle/>
          <a:p>
            <a:pPr indent="0" marL="0">
              <a:buNone/>
            </a:pPr>
            <a:r>
              <a:rPr lang="en-US" sz="5400" b="1" dirty="0">
                <a:solidFill>
                  <a:srgbClr val="27D3BE"/>
                </a:solidFill>
                <a:latin typeface="Palatino Linotype" pitchFamily="34" charset="0"/>
                <a:ea typeface="Palatino Linotype" pitchFamily="34" charset="-122"/>
                <a:cs typeface="Palatino Linotype" pitchFamily="34" charset="-120"/>
              </a:rPr>
              <a:t>2 500</a:t>
            </a:r>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 de ani</a:t>
            </a:r>
            <a:endParaRPr lang="en-US" sz="5400" dirty="0"/>
          </a:p>
        </p:txBody>
      </p:sp>
      <p:sp>
        <p:nvSpPr>
          <p:cNvPr id="9" name="Text 6"/>
          <p:cNvSpPr/>
          <p:nvPr/>
        </p:nvSpPr>
        <p:spPr>
          <a:xfrm>
            <a:off x="5943600" y="2606040"/>
            <a:ext cx="5760720" cy="17373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Hipocrate: epilepsia, „boala sacră”, are o cauză naturală, care poate fi căutată. Medicul privește apele, vânturile și felul de viață al unui oraș.</a:t>
            </a:r>
            <a:endParaRPr lang="en-US" sz="1700" dirty="0"/>
          </a:p>
        </p:txBody>
      </p:sp>
      <p:sp>
        <p:nvSpPr>
          <p:cNvPr id="10" name="Shape 7"/>
          <p:cNvSpPr/>
          <p:nvPr/>
        </p:nvSpPr>
        <p:spPr>
          <a:xfrm>
            <a:off x="5943600" y="4434840"/>
            <a:ext cx="5760720" cy="1417320"/>
          </a:xfrm>
          <a:prstGeom prst="roundRect">
            <a:avLst>
              <a:gd name="adj" fmla="val 5806"/>
            </a:avLst>
          </a:prstGeom>
          <a:solidFill>
            <a:srgbClr val="1D1F2B"/>
          </a:solidFill>
          <a:ln w="12700">
            <a:solidFill>
              <a:srgbClr val="1D1F2B"/>
            </a:solidFill>
            <a:prstDash val="solid"/>
          </a:ln>
        </p:spPr>
        <p:txBody>
          <a:bodyPr/>
          <a:p/>
        </p:txBody>
      </p:sp>
      <p:sp>
        <p:nvSpPr>
          <p:cNvPr id="11" name="Text 8"/>
          <p:cNvSpPr/>
          <p:nvPr/>
        </p:nvSpPr>
        <p:spPr>
          <a:xfrm>
            <a:off x="6172200" y="4434840"/>
            <a:ext cx="5349240" cy="14173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Explicația lui era însă greșită: sănătatea, ca echilibru a patru lichide ale corpului. Ea a dominat medicina europeană aproape 1 500 de ani.</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ROMA, ÎNCEPUTUL SECOLULUI I</a:t>
            </a:r>
            <a:endParaRPr lang="en-US" sz="1300" dirty="0"/>
          </a:p>
        </p:txBody>
      </p:sp>
      <p:sp>
        <p:nvSpPr>
          <p:cNvPr id="3" name="Text 1"/>
          <p:cNvSpPr/>
          <p:nvPr/>
        </p:nvSpPr>
        <p:spPr>
          <a:xfrm>
            <a:off x="594360" y="731520"/>
            <a:ext cx="5120640" cy="7315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Apa Romei</a:t>
            </a:r>
            <a:endParaRPr lang="en-US" sz="3400" dirty="0"/>
          </a:p>
        </p:txBody>
      </p:sp>
      <p:pic>
        <p:nvPicPr>
          <p:cNvPr id="4" name="Image 0" descr="/Users/adrianpana/Downloads/UMF_Cluj_SP/Materiale SP/Atelier_didactic/discipline/UB_ISP/active/img/C01_apeduct_roma.jpg">    </p:cNvPr>
          <p:cNvPicPr>
            <a:picLocks noChangeAspect="1"/>
          </p:cNvPicPr>
          <p:nvPr/>
        </p:nvPicPr>
        <p:blipFill>
          <a:blip r:embed="rId1"/>
          <a:stretch>
            <a:fillRect/>
          </a:stretch>
        </p:blipFill>
        <p:spPr>
          <a:xfrm>
            <a:off x="5989320" y="731520"/>
            <a:ext cx="5669280" cy="3380308"/>
          </a:xfrm>
          <a:prstGeom prst="rect">
            <a:avLst/>
          </a:prstGeom>
        </p:spPr>
      </p:pic>
      <p:sp>
        <p:nvSpPr>
          <p:cNvPr id="5" name="Text 2"/>
          <p:cNvSpPr/>
          <p:nvPr/>
        </p:nvSpPr>
        <p:spPr>
          <a:xfrm>
            <a:off x="5989320" y="4184980"/>
            <a:ext cx="566928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Arcadele apeductelor de lângă Roma, fotografie din secolul al XIX-lea · domeniu public · Wikimedia Commons</a:t>
            </a:r>
            <a:endParaRPr lang="en-US" sz="850" dirty="0"/>
          </a:p>
        </p:txBody>
      </p:sp>
      <p:sp>
        <p:nvSpPr>
          <p:cNvPr id="6" name="Text 3"/>
          <p:cNvSpPr/>
          <p:nvPr/>
        </p:nvSpPr>
        <p:spPr>
          <a:xfrm>
            <a:off x="548640" y="1554480"/>
            <a:ext cx="5303520" cy="1005840"/>
          </a:xfrm>
          <a:prstGeom prst="rect">
            <a:avLst/>
          </a:prstGeom>
          <a:noFill/>
          <a:ln/>
        </p:spPr>
        <p:txBody>
          <a:bodyPr wrap="square" lIns="0" tIns="0" rIns="0" bIns="0" rtlCol="0" anchor="ctr"/>
          <a:lstStyle/>
          <a:p>
            <a:pPr indent="0" marL="0">
              <a:buNone/>
            </a:pPr>
            <a:r>
              <a:rPr lang="en-US" sz="6600" b="1" dirty="0">
                <a:solidFill>
                  <a:srgbClr val="0E7C6B"/>
                </a:solidFill>
                <a:latin typeface="Palatino Linotype" pitchFamily="34" charset="0"/>
                <a:ea typeface="Palatino Linotype" pitchFamily="34" charset="-122"/>
                <a:cs typeface="Palatino Linotype" pitchFamily="34" charset="-120"/>
              </a:rPr>
              <a:t>600–900</a:t>
            </a:r>
            <a:endParaRPr lang="en-US" sz="6600" dirty="0"/>
          </a:p>
        </p:txBody>
      </p:sp>
      <p:sp>
        <p:nvSpPr>
          <p:cNvPr id="7" name="Text 4"/>
          <p:cNvSpPr/>
          <p:nvPr/>
        </p:nvSpPr>
        <p:spPr>
          <a:xfrm>
            <a:off x="594360" y="2606040"/>
            <a:ext cx="5120640" cy="73152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de litri de apă pe persoană pe zi, aduși de 10 apeducte.</a:t>
            </a:r>
            <a:endParaRPr lang="en-US" sz="1800" dirty="0"/>
          </a:p>
        </p:txBody>
      </p:sp>
      <p:sp>
        <p:nvSpPr>
          <p:cNvPr id="8" name="Text 5"/>
          <p:cNvSpPr/>
          <p:nvPr/>
        </p:nvSpPr>
        <p:spPr>
          <a:xfrm>
            <a:off x="594360" y="3429000"/>
            <a:ext cx="512064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Romanii nu cunoșteau microbii, dar au construit canalizare, băi publice deschise și săracilor, au drenat mlaștinile ca să scadă malaria și au angajat medici pentru săraci.</a:t>
            </a:r>
            <a:endParaRPr lang="en-US" sz="1600" dirty="0"/>
          </a:p>
        </p:txBody>
      </p:sp>
      <p:sp>
        <p:nvSpPr>
          <p:cNvPr id="9" name="Text 6"/>
          <p:cNvSpPr/>
          <p:nvPr/>
        </p:nvSpPr>
        <p:spPr>
          <a:xfrm>
            <a:off x="594360" y="4983480"/>
            <a:ext cx="10972800" cy="73152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O familie poate fierbe apa. Un apeduct nu îl poate construi decât comunitatea.</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512064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MOARTEA NEAGRĂ · 1346–1353</a:t>
            </a:r>
            <a:endParaRPr lang="en-US" sz="1300" dirty="0"/>
          </a:p>
        </p:txBody>
      </p:sp>
      <p:pic>
        <p:nvPicPr>
          <p:cNvPr id="3" name="Image 0" descr="/Users/adrianpana/Downloads/UMF_Cluj_SP/Materiale SP/Atelier_didactic/discipline/UB_ISP/active/img/C01_bruegel_triumful_mortii.jpg">    </p:cNvPr>
          <p:cNvPicPr>
            <a:picLocks noChangeAspect="1"/>
          </p:cNvPicPr>
          <p:nvPr/>
        </p:nvPicPr>
        <p:blipFill>
          <a:blip r:embed="rId1"/>
          <a:stretch>
            <a:fillRect/>
          </a:stretch>
        </p:blipFill>
        <p:spPr>
          <a:xfrm>
            <a:off x="5623560" y="411480"/>
            <a:ext cx="6172200" cy="4404152"/>
          </a:xfrm>
          <a:prstGeom prst="rect">
            <a:avLst/>
          </a:prstGeom>
        </p:spPr>
      </p:pic>
      <p:sp>
        <p:nvSpPr>
          <p:cNvPr id="4" name="Text 1"/>
          <p:cNvSpPr/>
          <p:nvPr/>
        </p:nvSpPr>
        <p:spPr>
          <a:xfrm>
            <a:off x="5623560" y="4870496"/>
            <a:ext cx="617220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Pieter Bruegel cel Bătrân, „Triumful morții” · domeniu public · Wikimedia Commons</a:t>
            </a:r>
            <a:endParaRPr lang="en-US" sz="850" dirty="0"/>
          </a:p>
        </p:txBody>
      </p:sp>
      <p:sp>
        <p:nvSpPr>
          <p:cNvPr id="5" name="Text 2"/>
          <p:cNvSpPr/>
          <p:nvPr/>
        </p:nvSpPr>
        <p:spPr>
          <a:xfrm>
            <a:off x="594360" y="822960"/>
            <a:ext cx="2743200" cy="41148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până la</a:t>
            </a:r>
            <a:endParaRPr lang="en-US" sz="2000" dirty="0"/>
          </a:p>
        </p:txBody>
      </p:sp>
      <p:sp>
        <p:nvSpPr>
          <p:cNvPr id="6" name="Text 3"/>
          <p:cNvSpPr/>
          <p:nvPr/>
        </p:nvSpPr>
        <p:spPr>
          <a:xfrm>
            <a:off x="502920" y="1188720"/>
            <a:ext cx="5120640" cy="1188720"/>
          </a:xfrm>
          <a:prstGeom prst="rect">
            <a:avLst/>
          </a:prstGeom>
          <a:noFill/>
          <a:ln/>
        </p:spPr>
        <p:txBody>
          <a:bodyPr wrap="square" lIns="0" tIns="0" rIns="0" bIns="0" rtlCol="0" anchor="ctr"/>
          <a:lstStyle/>
          <a:p>
            <a:pPr indent="0" marL="0">
              <a:buNone/>
            </a:pPr>
            <a:r>
              <a:rPr lang="en-US" sz="8000" b="1" dirty="0">
                <a:solidFill>
                  <a:srgbClr val="FF4757"/>
                </a:solidFill>
                <a:latin typeface="Palatino Linotype" pitchFamily="34" charset="0"/>
                <a:ea typeface="Palatino Linotype" pitchFamily="34" charset="-122"/>
                <a:cs typeface="Palatino Linotype" pitchFamily="34" charset="-120"/>
              </a:rPr>
              <a:t>6 din 10</a:t>
            </a:r>
            <a:endParaRPr lang="en-US" sz="8000" dirty="0"/>
          </a:p>
        </p:txBody>
      </p:sp>
      <p:sp>
        <p:nvSpPr>
          <p:cNvPr id="7" name="Text 4"/>
          <p:cNvSpPr/>
          <p:nvPr/>
        </p:nvSpPr>
        <p:spPr>
          <a:xfrm>
            <a:off x="594360" y="2423160"/>
            <a:ext cx="4846320" cy="11887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locuitori ai vestului Eurasiei (Europa și Orientul Apropiat) au murit, după o estimare recentă. O estimare mai veche: 30–50% din populația Europei.</a:t>
            </a:r>
            <a:endParaRPr lang="en-US" sz="1600" dirty="0"/>
          </a:p>
        </p:txBody>
      </p:sp>
      <p:sp>
        <p:nvSpPr>
          <p:cNvPr id="8" name="Text 5"/>
          <p:cNvSpPr/>
          <p:nvPr/>
        </p:nvSpPr>
        <p:spPr>
          <a:xfrm>
            <a:off x="594360" y="3657600"/>
            <a:ext cx="4846320" cy="132588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Boala era privită ca pedeapsă. Ceremoniile publice adunau oamenii laolaltă. Comunitățile evreiești au fost acuzate că ar fi răspândit boala și au fost masacrate.</a:t>
            </a:r>
            <a:endParaRPr lang="en-US" sz="1600" dirty="0"/>
          </a:p>
        </p:txBody>
      </p:sp>
      <p:sp>
        <p:nvSpPr>
          <p:cNvPr id="9" name="Text 6"/>
          <p:cNvSpPr/>
          <p:nvPr/>
        </p:nvSpPr>
        <p:spPr>
          <a:xfrm>
            <a:off x="594360" y="5074920"/>
            <a:ext cx="4846320" cy="82296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Când cauza unei boli nu se cunoaște, frica își caută un vinovat.</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lazaret_dubrovnik.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Lazaretele de lângă zidurile Dubrovnikului, astăzi</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Lasta · domeniu public · Wikimedia Commons</a:t>
            </a:r>
            <a:endParaRPr lang="en-US" sz="850" dirty="0"/>
          </a:p>
        </p:txBody>
      </p:sp>
      <p:sp>
        <p:nvSpPr>
          <p:cNvPr id="6" name="Text 3"/>
          <p:cNvSpPr/>
          <p:nvPr/>
        </p:nvSpPr>
        <p:spPr>
          <a:xfrm>
            <a:off x="594360" y="347472"/>
            <a:ext cx="58521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7" name="Text 4"/>
          <p:cNvSpPr/>
          <p:nvPr/>
        </p:nvSpPr>
        <p:spPr>
          <a:xfrm>
            <a:off x="594360" y="731520"/>
            <a:ext cx="5852160" cy="777240"/>
          </a:xfrm>
          <a:prstGeom prst="rect">
            <a:avLst/>
          </a:prstGeom>
          <a:noFill/>
          <a:ln/>
        </p:spPr>
        <p:txBody>
          <a:bodyPr wrap="square" lIns="0" tIns="0" rIns="0" bIns="0" rtlCol="0" anchor="t"/>
          <a:lstStyle/>
          <a:p>
            <a:pPr indent="0" marL="0">
              <a:buNone/>
            </a:pPr>
            <a:r>
              <a:rPr lang="en-US" sz="3800" b="1" dirty="0">
                <a:solidFill>
                  <a:srgbClr val="11121A"/>
                </a:solidFill>
                <a:latin typeface="Palatino Linotype" pitchFamily="34" charset="0"/>
                <a:ea typeface="Palatino Linotype" pitchFamily="34" charset="-122"/>
                <a:cs typeface="Palatino Linotype" pitchFamily="34" charset="-120"/>
              </a:rPr>
              <a:t>Carantina</a:t>
            </a:r>
            <a:endParaRPr lang="en-US" sz="3800" dirty="0"/>
          </a:p>
        </p:txBody>
      </p:sp>
      <p:sp>
        <p:nvSpPr>
          <p:cNvPr id="8" name="Text 5"/>
          <p:cNvSpPr/>
          <p:nvPr/>
        </p:nvSpPr>
        <p:spPr>
          <a:xfrm>
            <a:off x="594360" y="1600200"/>
            <a:ext cx="5760720" cy="13716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1377, Ragusa (azi Dubrovnik): navele venite din locuri suspecte stau la ancoră 30 de zile. Pentru cei veniți pe uscat, 40 de zile: în italiană, „quaranta”.</a:t>
            </a:r>
            <a:endParaRPr lang="en-US" sz="1700" dirty="0"/>
          </a:p>
        </p:txBody>
      </p:sp>
      <p:sp>
        <p:nvSpPr>
          <p:cNvPr id="9" name="Shape 6"/>
          <p:cNvSpPr/>
          <p:nvPr/>
        </p:nvSpPr>
        <p:spPr>
          <a:xfrm>
            <a:off x="594360" y="3063240"/>
            <a:ext cx="5806440" cy="1508760"/>
          </a:xfrm>
          <a:prstGeom prst="roundRect">
            <a:avLst>
              <a:gd name="adj" fmla="val 5455"/>
            </a:avLst>
          </a:prstGeom>
          <a:solidFill>
            <a:srgbClr val="FF4757"/>
          </a:solidFill>
          <a:ln w="12700">
            <a:solidFill>
              <a:srgbClr val="FF4757"/>
            </a:solidFill>
            <a:prstDash val="solid"/>
          </a:ln>
        </p:spPr>
        <p:txBody>
          <a:bodyPr/>
          <a:p/>
        </p:txBody>
      </p:sp>
      <p:sp>
        <p:nvSpPr>
          <p:cNvPr id="10" name="Text 7"/>
          <p:cNvSpPr/>
          <p:nvPr/>
        </p:nvSpPr>
        <p:spPr>
          <a:xfrm>
            <a:off x="868680" y="3063240"/>
            <a:ext cx="5303520" cy="1508760"/>
          </a:xfrm>
          <a:prstGeom prst="rect">
            <a:avLst/>
          </a:prstGeom>
          <a:noFill/>
          <a:ln/>
        </p:spPr>
        <p:txBody>
          <a:bodyPr wrap="square" lIns="0" tIns="0" rIns="0" bIns="0" rtlCol="0" anchor="ctr"/>
          <a:lstStyle/>
          <a:p>
            <a:pPr indent="0" marL="0">
              <a:buNone/>
            </a:pPr>
            <a:r>
              <a:rPr lang="en-US" sz="2000" b="1" i="1" dirty="0">
                <a:solidFill>
                  <a:srgbClr val="2E060B"/>
                </a:solidFill>
                <a:latin typeface="Palatino Linotype" pitchFamily="34" charset="0"/>
                <a:ea typeface="Palatino Linotype" pitchFamily="34" charset="-122"/>
                <a:cs typeface="Palatino Linotype" pitchFamily="34" charset="-120"/>
              </a:rPr>
              <a:t>„Stai deoparte câteva zile, ca să nu-i îmbolnăvești pe alții dacă ai luat boala.”</a:t>
            </a:r>
            <a:endParaRPr lang="en-US" sz="2000" dirty="0"/>
          </a:p>
        </p:txBody>
      </p:sp>
      <p:sp>
        <p:nvSpPr>
          <p:cNvPr id="11" name="Text 8"/>
          <p:cNvSpPr/>
          <p:nvPr/>
        </p:nvSpPr>
        <p:spPr>
          <a:xfrm>
            <a:off x="594360" y="4709160"/>
            <a:ext cx="576072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Separarea celor deja bolnavi se numește izolare.</a:t>
            </a:r>
            <a:endParaRPr lang="en-US" sz="1600" dirty="0"/>
          </a:p>
        </p:txBody>
      </p:sp>
      <p:sp>
        <p:nvSpPr>
          <p:cNvPr id="12" name="Text 9"/>
          <p:cNvSpPr/>
          <p:nvPr/>
        </p:nvSpPr>
        <p:spPr>
          <a:xfrm>
            <a:off x="594360" y="5166360"/>
            <a:ext cx="576072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Nimeni nu știa ce provoacă ciuma.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DOUĂ TABERE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RAGUSA DISCUTĂ REGULA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Ați fi oprit navele în port?</a:t>
            </a:r>
            <a:endParaRPr lang="en-US" sz="3400" dirty="0"/>
          </a:p>
        </p:txBody>
      </p:sp>
      <p:sp>
        <p:nvSpPr>
          <p:cNvPr id="6" name="Shape 4"/>
          <p:cNvSpPr/>
          <p:nvPr/>
        </p:nvSpPr>
        <p:spPr>
          <a:xfrm>
            <a:off x="594360" y="1691640"/>
            <a:ext cx="5394960" cy="2377440"/>
          </a:xfrm>
          <a:prstGeom prst="roundRect">
            <a:avLst>
              <a:gd name="adj" fmla="val 3462"/>
            </a:avLst>
          </a:prstGeom>
          <a:solidFill>
            <a:srgbClr val="3A1A22"/>
          </a:solidFill>
          <a:ln w="12700">
            <a:solidFill>
              <a:srgbClr val="3A1A22"/>
            </a:solidFill>
            <a:prstDash val="solid"/>
          </a:ln>
        </p:spPr>
        <p:txBody>
          <a:bodyPr/>
          <a:p/>
        </p:txBody>
      </p:sp>
      <p:sp>
        <p:nvSpPr>
          <p:cNvPr id="7" name="Shape 5"/>
          <p:cNvSpPr/>
          <p:nvPr/>
        </p:nvSpPr>
        <p:spPr>
          <a:xfrm>
            <a:off x="6172200" y="1691640"/>
            <a:ext cx="5394960" cy="2377440"/>
          </a:xfrm>
          <a:prstGeom prst="roundRect">
            <a:avLst>
              <a:gd name="adj" fmla="val 3462"/>
            </a:avLst>
          </a:prstGeom>
          <a:solidFill>
            <a:srgbClr val="07564B"/>
          </a:solidFill>
          <a:ln w="12700">
            <a:solidFill>
              <a:srgbClr val="07564B"/>
            </a:solidFill>
            <a:prstDash val="solid"/>
          </a:ln>
        </p:spPr>
        <p:txBody>
          <a:bodyPr/>
          <a:p/>
        </p:txBody>
      </p:sp>
      <p:sp>
        <p:nvSpPr>
          <p:cNvPr id="8" name="Text 6"/>
          <p:cNvSpPr/>
          <p:nvPr/>
        </p:nvSpPr>
        <p:spPr>
          <a:xfrm>
            <a:off x="868680" y="1874520"/>
            <a:ext cx="4846320" cy="320040"/>
          </a:xfrm>
          <a:prstGeom prst="rect">
            <a:avLst/>
          </a:prstGeom>
          <a:noFill/>
          <a:ln/>
        </p:spPr>
        <p:txBody>
          <a:bodyPr wrap="square" lIns="0" tIns="0" rIns="0" bIns="0" rtlCol="0" anchor="t"/>
          <a:lstStyle/>
          <a:p>
            <a:pPr indent="0" marL="0">
              <a:buNone/>
            </a:pPr>
            <a:r>
              <a:rPr lang="en-US" sz="1400" b="1" spc="200" kern="0" dirty="0">
                <a:solidFill>
                  <a:srgbClr val="FF9AA4"/>
                </a:solidFill>
                <a:latin typeface="Palatino Linotype" pitchFamily="34" charset="0"/>
                <a:ea typeface="Palatino Linotype" pitchFamily="34" charset="-122"/>
                <a:cs typeface="Palatino Linotype" pitchFamily="34" charset="-120"/>
              </a:rPr>
              <a:t>STÂNGA · NEGUSTORII</a:t>
            </a:r>
            <a:endParaRPr lang="en-US" sz="1400" dirty="0"/>
          </a:p>
        </p:txBody>
      </p:sp>
      <p:sp>
        <p:nvSpPr>
          <p:cNvPr id="9" name="Text 7"/>
          <p:cNvSpPr/>
          <p:nvPr/>
        </p:nvSpPr>
        <p:spPr>
          <a:xfrm>
            <a:off x="868680" y="2286000"/>
            <a:ext cx="4846320" cy="164592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Orașul trăiește din nave. Nimeni nu a dovedit că ciuma vine de pe ele.</a:t>
            </a:r>
            <a:endParaRPr lang="en-US" sz="2100" dirty="0"/>
          </a:p>
        </p:txBody>
      </p:sp>
      <p:sp>
        <p:nvSpPr>
          <p:cNvPr id="10" name="Text 8"/>
          <p:cNvSpPr/>
          <p:nvPr/>
        </p:nvSpPr>
        <p:spPr>
          <a:xfrm>
            <a:off x="6446520" y="1874520"/>
            <a:ext cx="4846320" cy="320040"/>
          </a:xfrm>
          <a:prstGeom prst="rect">
            <a:avLst/>
          </a:prstGeom>
          <a:noFill/>
          <a:ln/>
        </p:spPr>
        <p:txBody>
          <a:bodyPr wrap="square" lIns="0" tIns="0" rIns="0" bIns="0" rtlCol="0" anchor="t"/>
          <a:lstStyle/>
          <a:p>
            <a:pPr indent="0" marL="0">
              <a:buNone/>
            </a:pPr>
            <a:r>
              <a:rPr lang="en-US" sz="1400" b="1" spc="200" kern="0" dirty="0">
                <a:solidFill>
                  <a:srgbClr val="9FE8DC"/>
                </a:solidFill>
                <a:latin typeface="Palatino Linotype" pitchFamily="34" charset="0"/>
                <a:ea typeface="Palatino Linotype" pitchFamily="34" charset="-122"/>
                <a:cs typeface="Palatino Linotype" pitchFamily="34" charset="-120"/>
              </a:rPr>
              <a:t>DREAPTA · CONSILIUL ORAȘULUI</a:t>
            </a:r>
            <a:endParaRPr lang="en-US" sz="1400" dirty="0"/>
          </a:p>
        </p:txBody>
      </p:sp>
      <p:sp>
        <p:nvSpPr>
          <p:cNvPr id="11" name="Text 9"/>
          <p:cNvSpPr/>
          <p:nvPr/>
        </p:nvSpPr>
        <p:spPr>
          <a:xfrm>
            <a:off x="6446520" y="2286000"/>
            <a:ext cx="4846320" cy="164592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Ciuma a ucis deja o parte din locuitori. A doua epidemie poate veni pe orice navă.</a:t>
            </a:r>
            <a:endParaRPr lang="en-US" sz="2100" dirty="0"/>
          </a:p>
        </p:txBody>
      </p:sp>
      <p:sp>
        <p:nvSpPr>
          <p:cNvPr id="12" name="Shape 10"/>
          <p:cNvSpPr/>
          <p:nvPr/>
        </p:nvSpPr>
        <p:spPr>
          <a:xfrm>
            <a:off x="640080" y="4343400"/>
            <a:ext cx="402336" cy="402336"/>
          </a:xfrm>
          <a:prstGeom prst="ellipse">
            <a:avLst/>
          </a:prstGeom>
          <a:solidFill>
            <a:srgbClr val="FFC24B"/>
          </a:solidFill>
          <a:ln/>
        </p:spPr>
        <p:txBody>
          <a:bodyPr/>
          <a:p/>
        </p:txBody>
      </p:sp>
      <p:sp>
        <p:nvSpPr>
          <p:cNvPr id="13" name="Text 11"/>
          <p:cNvSpPr/>
          <p:nvPr/>
        </p:nvSpPr>
        <p:spPr>
          <a:xfrm>
            <a:off x="640080" y="4343400"/>
            <a:ext cx="402336" cy="402336"/>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4" name="Text 12"/>
          <p:cNvSpPr/>
          <p:nvPr/>
        </p:nvSpPr>
        <p:spPr>
          <a:xfrm>
            <a:off x="1234440" y="4343400"/>
            <a:ext cx="10058400" cy="402336"/>
          </a:xfrm>
          <a:prstGeom prst="rect">
            <a:avLst/>
          </a:prstGeom>
          <a:noFill/>
          <a:ln/>
        </p:spPr>
        <p:txBody>
          <a:bodyPr wrap="square" lIns="0" tIns="0" rIns="0" bIns="0" rtlCol="0" anchor="ctr"/>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Două minute: găsiți argumentul cel mai puternic.</a:t>
            </a:r>
            <a:endParaRPr lang="en-US" sz="1700" dirty="0"/>
          </a:p>
        </p:txBody>
      </p:sp>
      <p:sp>
        <p:nvSpPr>
          <p:cNvPr id="15" name="Shape 13"/>
          <p:cNvSpPr/>
          <p:nvPr/>
        </p:nvSpPr>
        <p:spPr>
          <a:xfrm>
            <a:off x="640080" y="4873752"/>
            <a:ext cx="402336" cy="402336"/>
          </a:xfrm>
          <a:prstGeom prst="ellipse">
            <a:avLst/>
          </a:prstGeom>
          <a:solidFill>
            <a:srgbClr val="FFC24B"/>
          </a:solidFill>
          <a:ln/>
        </p:spPr>
        <p:txBody>
          <a:bodyPr/>
          <a:p/>
        </p:txBody>
      </p:sp>
      <p:sp>
        <p:nvSpPr>
          <p:cNvPr id="16" name="Text 14"/>
          <p:cNvSpPr/>
          <p:nvPr/>
        </p:nvSpPr>
        <p:spPr>
          <a:xfrm>
            <a:off x="640080" y="4873752"/>
            <a:ext cx="402336" cy="402336"/>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7" name="Text 15"/>
          <p:cNvSpPr/>
          <p:nvPr/>
        </p:nvSpPr>
        <p:spPr>
          <a:xfrm>
            <a:off x="1234440" y="4873752"/>
            <a:ext cx="10058400" cy="402336"/>
          </a:xfrm>
          <a:prstGeom prst="rect">
            <a:avLst/>
          </a:prstGeom>
          <a:noFill/>
          <a:ln/>
        </p:spPr>
        <p:txBody>
          <a:bodyPr wrap="square" lIns="0" tIns="0" rIns="0" bIns="0" rtlCol="0" anchor="ctr"/>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Un reprezentant al taberei îl spune cu voce tare.</a:t>
            </a:r>
            <a:endParaRPr lang="en-US" sz="1700" dirty="0"/>
          </a:p>
        </p:txBody>
      </p:sp>
      <p:sp>
        <p:nvSpPr>
          <p:cNvPr id="18" name="Shape 16"/>
          <p:cNvSpPr/>
          <p:nvPr/>
        </p:nvSpPr>
        <p:spPr>
          <a:xfrm>
            <a:off x="640080" y="5404104"/>
            <a:ext cx="402336" cy="402336"/>
          </a:xfrm>
          <a:prstGeom prst="ellipse">
            <a:avLst/>
          </a:prstGeom>
          <a:solidFill>
            <a:srgbClr val="FFC24B"/>
          </a:solidFill>
          <a:ln/>
        </p:spPr>
        <p:txBody>
          <a:bodyPr/>
          <a:p/>
        </p:txBody>
      </p:sp>
      <p:sp>
        <p:nvSpPr>
          <p:cNvPr id="19" name="Text 17"/>
          <p:cNvSpPr/>
          <p:nvPr/>
        </p:nvSpPr>
        <p:spPr>
          <a:xfrm>
            <a:off x="640080" y="5404104"/>
            <a:ext cx="402336" cy="402336"/>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1234440" y="5404104"/>
            <a:ext cx="10058400" cy="402336"/>
          </a:xfrm>
          <a:prstGeom prst="rect">
            <a:avLst/>
          </a:prstGeom>
          <a:noFill/>
          <a:ln/>
        </p:spPr>
        <p:txBody>
          <a:bodyPr wrap="square" lIns="0" tIns="0" rIns="0" bIns="0" rtlCol="0" anchor="ctr"/>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Votați pe telefon, după convingerea proprie.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 argumente care se întâlnesc mereu</a:t>
            </a:r>
            <a:endParaRPr lang="en-US" sz="3000" dirty="0"/>
          </a:p>
        </p:txBody>
      </p:sp>
      <p:sp>
        <p:nvSpPr>
          <p:cNvPr id="4" name="Shape 2"/>
          <p:cNvSpPr/>
          <p:nvPr/>
        </p:nvSpPr>
        <p:spPr>
          <a:xfrm>
            <a:off x="594360" y="1645920"/>
            <a:ext cx="5394960" cy="1463040"/>
          </a:xfrm>
          <a:prstGeom prst="roundRect">
            <a:avLst>
              <a:gd name="adj" fmla="val 5625"/>
            </a:avLst>
          </a:prstGeom>
          <a:solidFill>
            <a:srgbClr val="ECEAE4"/>
          </a:solidFill>
          <a:ln w="12700">
            <a:solidFill>
              <a:srgbClr val="ECEAE4"/>
            </a:solidFill>
            <a:prstDash val="solid"/>
          </a:ln>
        </p:spPr>
        <p:txBody>
          <a:bodyPr/>
          <a:p/>
        </p:txBody>
      </p:sp>
      <p:sp>
        <p:nvSpPr>
          <p:cNvPr id="5" name="Shape 3"/>
          <p:cNvSpPr/>
          <p:nvPr/>
        </p:nvSpPr>
        <p:spPr>
          <a:xfrm>
            <a:off x="6172200" y="1645920"/>
            <a:ext cx="5394960" cy="1463040"/>
          </a:xfrm>
          <a:prstGeom prst="roundRect">
            <a:avLst>
              <a:gd name="adj" fmla="val 5625"/>
            </a:avLst>
          </a:prstGeom>
          <a:solidFill>
            <a:srgbClr val="ECEAE4"/>
          </a:solidFill>
          <a:ln w="12700">
            <a:solidFill>
              <a:srgbClr val="ECEAE4"/>
            </a:solidFill>
            <a:prstDash val="solid"/>
          </a:ln>
        </p:spPr>
        <p:txBody>
          <a:bodyPr/>
          <a:p/>
        </p:txBody>
      </p:sp>
      <p:sp>
        <p:nvSpPr>
          <p:cNvPr id="6" name="Text 4"/>
          <p:cNvSpPr/>
          <p:nvPr/>
        </p:nvSpPr>
        <p:spPr>
          <a:xfrm>
            <a:off x="868680" y="1645920"/>
            <a:ext cx="4846320" cy="1463040"/>
          </a:xfrm>
          <a:prstGeom prst="rect">
            <a:avLst/>
          </a:prstGeom>
          <a:noFill/>
          <a:ln/>
        </p:spPr>
        <p:txBody>
          <a:bodyPr wrap="square" lIns="0" tIns="0" rIns="0" bIns="0" rtlCol="0" anchor="ctr"/>
          <a:lstStyle/>
          <a:p>
            <a:pPr indent="0" marL="0">
              <a:buNone/>
            </a:pPr>
            <a:r>
              <a:rPr lang="en-US" sz="2100" b="1" i="1" dirty="0">
                <a:solidFill>
                  <a:srgbClr val="B02532"/>
                </a:solidFill>
                <a:latin typeface="Palatino Linotype" pitchFamily="34" charset="0"/>
                <a:ea typeface="Palatino Linotype" pitchFamily="34" charset="-122"/>
                <a:cs typeface="Palatino Linotype" pitchFamily="34" charset="-120"/>
              </a:rPr>
              <a:t>„Nu este dovedit, iar pierderea este sigură.”</a:t>
            </a:r>
            <a:endParaRPr lang="en-US" sz="2100" dirty="0"/>
          </a:p>
        </p:txBody>
      </p:sp>
      <p:sp>
        <p:nvSpPr>
          <p:cNvPr id="7" name="Text 5"/>
          <p:cNvSpPr/>
          <p:nvPr/>
        </p:nvSpPr>
        <p:spPr>
          <a:xfrm>
            <a:off x="6446520" y="1645920"/>
            <a:ext cx="4846320" cy="1463040"/>
          </a:xfrm>
          <a:prstGeom prst="rect">
            <a:avLst/>
          </a:prstGeom>
          <a:noFill/>
          <a:ln/>
        </p:spPr>
        <p:txBody>
          <a:bodyPr wrap="square" lIns="0" tIns="0" rIns="0" bIns="0" rtlCol="0" anchor="ctr"/>
          <a:lstStyle/>
          <a:p>
            <a:pPr indent="0" marL="0">
              <a:buNone/>
            </a:pPr>
            <a:r>
              <a:rPr lang="en-US" sz="2100" b="1" i="1" dirty="0">
                <a:solidFill>
                  <a:srgbClr val="0E7C6B"/>
                </a:solidFill>
                <a:latin typeface="Palatino Linotype" pitchFamily="34" charset="0"/>
                <a:ea typeface="Palatino Linotype" pitchFamily="34" charset="-122"/>
                <a:cs typeface="Palatino Linotype" pitchFamily="34" charset="-120"/>
              </a:rPr>
              <a:t>„Așteptarea dovezii costă vieți.”</a:t>
            </a:r>
            <a:endParaRPr lang="en-US" sz="2100" dirty="0"/>
          </a:p>
        </p:txBody>
      </p:sp>
      <p:sp>
        <p:nvSpPr>
          <p:cNvPr id="8" name="Text 6"/>
          <p:cNvSpPr/>
          <p:nvPr/>
        </p:nvSpPr>
        <p:spPr>
          <a:xfrm>
            <a:off x="594360" y="3337560"/>
            <a:ext cx="10972800" cy="4114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Le-ați auzit și în pandemia recentă de coronavirus. Ce decide, de obicei:</a:t>
            </a:r>
            <a:endParaRPr lang="en-US" sz="1800" dirty="0"/>
          </a:p>
        </p:txBody>
      </p:sp>
      <p:sp>
        <p:nvSpPr>
          <p:cNvPr id="9" name="Shape 7"/>
          <p:cNvSpPr/>
          <p:nvPr/>
        </p:nvSpPr>
        <p:spPr>
          <a:xfrm>
            <a:off x="594360" y="3886200"/>
            <a:ext cx="3520440" cy="329184"/>
          </a:xfrm>
          <a:prstGeom prst="roundRect">
            <a:avLst>
              <a:gd name="adj" fmla="val 50000"/>
            </a:avLst>
          </a:prstGeom>
          <a:solidFill>
            <a:srgbClr val="FF4757"/>
          </a:solidFill>
          <a:ln w="12700">
            <a:solidFill>
              <a:srgbClr val="FF4757"/>
            </a:solidFill>
            <a:prstDash val="solid"/>
          </a:ln>
        </p:spPr>
        <p:txBody>
          <a:bodyPr/>
          <a:p/>
        </p:txBody>
      </p:sp>
      <p:sp>
        <p:nvSpPr>
          <p:cNvPr id="10" name="Text 8"/>
          <p:cNvSpPr/>
          <p:nvPr/>
        </p:nvSpPr>
        <p:spPr>
          <a:xfrm>
            <a:off x="594360" y="3886200"/>
            <a:ext cx="3520440" cy="329184"/>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gravitatea riscului</a:t>
            </a:r>
            <a:endParaRPr lang="en-US" sz="1500" dirty="0"/>
          </a:p>
        </p:txBody>
      </p:sp>
      <p:sp>
        <p:nvSpPr>
          <p:cNvPr id="11" name="Shape 9"/>
          <p:cNvSpPr/>
          <p:nvPr/>
        </p:nvSpPr>
        <p:spPr>
          <a:xfrm>
            <a:off x="4343400" y="3886200"/>
            <a:ext cx="3520440" cy="329184"/>
          </a:xfrm>
          <a:prstGeom prst="roundRect">
            <a:avLst>
              <a:gd name="adj" fmla="val 50000"/>
            </a:avLst>
          </a:prstGeom>
          <a:solidFill>
            <a:srgbClr val="FFC24B"/>
          </a:solidFill>
          <a:ln w="12700">
            <a:solidFill>
              <a:srgbClr val="FFC24B"/>
            </a:solidFill>
            <a:prstDash val="solid"/>
          </a:ln>
        </p:spPr>
        <p:txBody>
          <a:bodyPr/>
          <a:p/>
        </p:txBody>
      </p:sp>
      <p:sp>
        <p:nvSpPr>
          <p:cNvPr id="12" name="Text 10"/>
          <p:cNvSpPr/>
          <p:nvPr/>
        </p:nvSpPr>
        <p:spPr>
          <a:xfrm>
            <a:off x="4343400" y="3886200"/>
            <a:ext cx="3520440" cy="329184"/>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costul măsurii</a:t>
            </a:r>
            <a:endParaRPr lang="en-US" sz="1500" dirty="0"/>
          </a:p>
        </p:txBody>
      </p:sp>
      <p:sp>
        <p:nvSpPr>
          <p:cNvPr id="13" name="Shape 11"/>
          <p:cNvSpPr/>
          <p:nvPr/>
        </p:nvSpPr>
        <p:spPr>
          <a:xfrm>
            <a:off x="8092440" y="3886200"/>
            <a:ext cx="3520440" cy="329184"/>
          </a:xfrm>
          <a:prstGeom prst="roundRect">
            <a:avLst>
              <a:gd name="adj" fmla="val 50000"/>
            </a:avLst>
          </a:prstGeom>
          <a:solidFill>
            <a:srgbClr val="27D3BE"/>
          </a:solidFill>
          <a:ln w="12700">
            <a:solidFill>
              <a:srgbClr val="27D3BE"/>
            </a:solidFill>
            <a:prstDash val="solid"/>
          </a:ln>
        </p:spPr>
        <p:txBody>
          <a:bodyPr/>
          <a:p/>
        </p:txBody>
      </p:sp>
      <p:sp>
        <p:nvSpPr>
          <p:cNvPr id="14" name="Text 12"/>
          <p:cNvSpPr/>
          <p:nvPr/>
        </p:nvSpPr>
        <p:spPr>
          <a:xfrm>
            <a:off x="8092440" y="3886200"/>
            <a:ext cx="3520440" cy="329184"/>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încrederea în cei care o cer</a:t>
            </a:r>
            <a:endParaRPr lang="en-US" sz="1500" dirty="0"/>
          </a:p>
        </p:txBody>
      </p:sp>
      <p:sp>
        <p:nvSpPr>
          <p:cNvPr id="15" name="Text 13"/>
          <p:cNvSpPr/>
          <p:nvPr/>
        </p:nvSpPr>
        <p:spPr>
          <a:xfrm>
            <a:off x="594360" y="457200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Carantina a fost mereu controversată: cere un echilibru între interesul public și drepturile fiecărei persoane.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2011680"/>
            <a:ext cx="10972800" cy="1188720"/>
          </a:xfrm>
          <a:prstGeom prst="rect">
            <a:avLst/>
          </a:prstGeom>
          <a:noFill/>
          <a:ln/>
        </p:spPr>
        <p:txBody>
          <a:bodyPr wrap="square" lIns="0" tIns="0" rIns="0" bIns="0" rtlCol="0" anchor="ctr"/>
          <a:lstStyle/>
          <a:p>
            <a:pPr indent="0" marL="0">
              <a:buNone/>
            </a:pPr>
            <a:r>
              <a:rPr lang="en-US" sz="5400" b="1" dirty="0">
                <a:solidFill>
                  <a:srgbClr val="073B34"/>
                </a:solidFill>
                <a:latin typeface="Palatino Linotype" pitchFamily="34" charset="0"/>
                <a:ea typeface="Palatino Linotype" pitchFamily="34" charset="-122"/>
                <a:cs typeface="Palatino Linotype" pitchFamily="34" charset="-120"/>
              </a:rPr>
              <a:t>Zece minute de pauză</a:t>
            </a:r>
            <a:endParaRPr lang="en-US" sz="5400" dirty="0"/>
          </a:p>
        </p:txBody>
      </p:sp>
      <p:sp>
        <p:nvSpPr>
          <p:cNvPr id="3" name="Text 1"/>
          <p:cNvSpPr/>
          <p:nvPr/>
        </p:nvSpPr>
        <p:spPr>
          <a:xfrm>
            <a:off x="594360" y="3383280"/>
            <a:ext cx="10972800" cy="731520"/>
          </a:xfrm>
          <a:prstGeom prst="rect">
            <a:avLst/>
          </a:prstGeom>
          <a:noFill/>
          <a:ln/>
        </p:spPr>
        <p:txBody>
          <a:bodyPr wrap="square" lIns="0" tIns="0" rIns="0" bIns="0" rtlCol="0" anchor="t"/>
          <a:lstStyle/>
          <a:p>
            <a:pPr indent="0" marL="0">
              <a:buNone/>
            </a:pPr>
            <a:r>
              <a:rPr lang="en-US" sz="2400" dirty="0">
                <a:solidFill>
                  <a:srgbClr val="073B34"/>
                </a:solidFill>
                <a:latin typeface="Palatino Linotype" pitchFamily="34" charset="0"/>
                <a:ea typeface="Palatino Linotype" pitchFamily="34" charset="-122"/>
                <a:cs typeface="Palatino Linotype" pitchFamily="34" charset="-120"/>
              </a:rPr>
              <a:t>Urmează: Londra, o epidemie de holeră și o pompă de apă.</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5486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ANGLIA, SECOLUL AL XIX-LEA</a:t>
            </a:r>
            <a:endParaRPr lang="en-US" sz="1300" dirty="0"/>
          </a:p>
        </p:txBody>
      </p:sp>
      <p:sp>
        <p:nvSpPr>
          <p:cNvPr id="3" name="Text 1"/>
          <p:cNvSpPr/>
          <p:nvPr/>
        </p:nvSpPr>
        <p:spPr>
          <a:xfrm>
            <a:off x="594360" y="731520"/>
            <a:ext cx="5303520" cy="11887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Orașul care crește prea repede</a:t>
            </a:r>
            <a:endParaRPr lang="en-US" sz="3200" dirty="0"/>
          </a:p>
        </p:txBody>
      </p:sp>
      <p:pic>
        <p:nvPicPr>
          <p:cNvPr id="4" name="Image 0" descr="/Users/adrianpana/Downloads/UMF_Cluj_SP/Materiale SP/Atelier_didactic/discipline/UB_ISP/active/img/C01_monster_soup.jpg">    </p:cNvPr>
          <p:cNvPicPr>
            <a:picLocks noChangeAspect="1"/>
          </p:cNvPicPr>
          <p:nvPr/>
        </p:nvPicPr>
        <p:blipFill>
          <a:blip r:embed="rId1"/>
          <a:stretch>
            <a:fillRect/>
          </a:stretch>
        </p:blipFill>
        <p:spPr>
          <a:xfrm>
            <a:off x="6126480" y="548640"/>
            <a:ext cx="5486400" cy="3730752"/>
          </a:xfrm>
          <a:prstGeom prst="rect">
            <a:avLst/>
          </a:prstGeom>
        </p:spPr>
      </p:pic>
      <p:sp>
        <p:nvSpPr>
          <p:cNvPr id="5" name="Text 2"/>
          <p:cNvSpPr/>
          <p:nvPr/>
        </p:nvSpPr>
        <p:spPr>
          <a:xfrm>
            <a:off x="6126480" y="4334256"/>
            <a:ext cx="548640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William Heath, „Monster Soup”: caricatură a apei din Tamisa · domeniu public · Wellcome Collection</a:t>
            </a:r>
            <a:endParaRPr lang="en-US" sz="850" dirty="0"/>
          </a:p>
        </p:txBody>
      </p:sp>
      <p:sp>
        <p:nvSpPr>
          <p:cNvPr id="6" name="Text 3"/>
          <p:cNvSpPr/>
          <p:nvPr/>
        </p:nvSpPr>
        <p:spPr>
          <a:xfrm>
            <a:off x="594360" y="2011680"/>
            <a:ext cx="5212080" cy="12801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Fabricile aduc în orașe mulțimi venite de la sat. Locuințele sunt aglomerate și insalubre, fără apă curată și fără canalizare.</a:t>
            </a:r>
            <a:endParaRPr lang="en-US" sz="1700" dirty="0"/>
          </a:p>
        </p:txBody>
      </p:sp>
      <p:sp>
        <p:nvSpPr>
          <p:cNvPr id="7" name="Text 4"/>
          <p:cNvSpPr/>
          <p:nvPr/>
        </p:nvSpPr>
        <p:spPr>
          <a:xfrm>
            <a:off x="594360" y="3383280"/>
            <a:ext cx="5212080" cy="13716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Octombrie 1831: </a:t>
            </a:r>
            <a:pPr indent="0" marL="0">
              <a:buNone/>
            </a:pPr>
            <a:r>
              <a:rPr lang="en-US" sz="1700" dirty="0">
                <a:solidFill>
                  <a:srgbClr val="E6E8EF"/>
                </a:solidFill>
                <a:latin typeface="Palatino Linotype" pitchFamily="34" charset="0"/>
                <a:ea typeface="Palatino Linotype" pitchFamily="34" charset="-122"/>
                <a:cs typeface="Palatino Linotype" pitchFamily="34" charset="-120"/>
              </a:rPr>
              <a:t>holera ajunge în Marea Britanie. Diareea e atât de abundentă încât bolnavul poate muri deshidratat în câteva ore.</a:t>
            </a:r>
            <a:endParaRPr lang="en-US" sz="1700" dirty="0"/>
          </a:p>
        </p:txBody>
      </p:sp>
      <p:sp>
        <p:nvSpPr>
          <p:cNvPr id="8" name="Text 5"/>
          <p:cNvSpPr/>
          <p:nvPr/>
        </p:nvSpPr>
        <p:spPr>
          <a:xfrm>
            <a:off x="594360" y="4892040"/>
            <a:ext cx="5212080" cy="82296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Medicii nu știu ce o provoacă și nici cum se transmite.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bills_of_mortality.jpg">    </p:cNvPr>
          <p:cNvPicPr>
            <a:picLocks noChangeAspect="1"/>
          </p:cNvPicPr>
          <p:nvPr/>
        </p:nvPicPr>
        <p:blipFill>
          <a:blip r:embed="rId1"/>
          <a:stretch>
            <a:fillRect/>
          </a:stretch>
        </p:blipFill>
        <p:spPr>
          <a:xfrm>
            <a:off x="594360" y="525186"/>
            <a:ext cx="3931920" cy="5441868"/>
          </a:xfrm>
          <a:prstGeom prst="rect">
            <a:avLst/>
          </a:prstGeom>
        </p:spPr>
      </p:pic>
      <p:sp>
        <p:nvSpPr>
          <p:cNvPr id="3" name="Text 0"/>
          <p:cNvSpPr/>
          <p:nvPr/>
        </p:nvSpPr>
        <p:spPr>
          <a:xfrm>
            <a:off x="594360" y="6021918"/>
            <a:ext cx="420624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Listele de decese ale Londrei · domeniu public · Wikimedia Commons</a:t>
            </a:r>
            <a:endParaRPr lang="en-US" sz="850" dirty="0"/>
          </a:p>
        </p:txBody>
      </p:sp>
      <p:sp>
        <p:nvSpPr>
          <p:cNvPr id="4" name="Text 1"/>
          <p:cNvSpPr/>
          <p:nvPr/>
        </p:nvSpPr>
        <p:spPr>
          <a:xfrm>
            <a:off x="4937760" y="347472"/>
            <a:ext cx="667512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LONDRA · LISTELE MORȚILOR</a:t>
            </a:r>
            <a:endParaRPr lang="en-US" sz="1300" dirty="0"/>
          </a:p>
        </p:txBody>
      </p:sp>
      <p:sp>
        <p:nvSpPr>
          <p:cNvPr id="5" name="Text 2"/>
          <p:cNvSpPr/>
          <p:nvPr/>
        </p:nvSpPr>
        <p:spPr>
          <a:xfrm>
            <a:off x="4937760" y="731520"/>
            <a:ext cx="667512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Primii care au numărat morții</a:t>
            </a:r>
            <a:endParaRPr lang="en-US" sz="3000" dirty="0"/>
          </a:p>
        </p:txBody>
      </p:sp>
      <p:sp>
        <p:nvSpPr>
          <p:cNvPr id="6" name="Text 3"/>
          <p:cNvSpPr/>
          <p:nvPr/>
        </p:nvSpPr>
        <p:spPr>
          <a:xfrm>
            <a:off x="4937760" y="1691640"/>
            <a:ext cx="1188720" cy="822960"/>
          </a:xfrm>
          <a:prstGeom prst="rect">
            <a:avLst/>
          </a:prstGeom>
          <a:noFill/>
          <a:ln/>
        </p:spPr>
        <p:txBody>
          <a:bodyPr wrap="square" lIns="0" tIns="0" rIns="0" bIns="0" rtlCol="0" anchor="ctr"/>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1538</a:t>
            </a:r>
            <a:endParaRPr lang="en-US" sz="2600" dirty="0"/>
          </a:p>
        </p:txBody>
      </p:sp>
      <p:sp>
        <p:nvSpPr>
          <p:cNvPr id="7" name="Text 4"/>
          <p:cNvSpPr/>
          <p:nvPr/>
        </p:nvSpPr>
        <p:spPr>
          <a:xfrm>
            <a:off x="6217920" y="1691640"/>
            <a:ext cx="5394960" cy="8229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Rezumate săptămânale ale botezurilor și înmormântărilor din parohii.</a:t>
            </a:r>
            <a:endParaRPr lang="en-US" sz="1600" dirty="0"/>
          </a:p>
        </p:txBody>
      </p:sp>
      <p:sp>
        <p:nvSpPr>
          <p:cNvPr id="8" name="Text 5"/>
          <p:cNvSpPr/>
          <p:nvPr/>
        </p:nvSpPr>
        <p:spPr>
          <a:xfrm>
            <a:off x="4937760" y="2679192"/>
            <a:ext cx="1188720" cy="822960"/>
          </a:xfrm>
          <a:prstGeom prst="rect">
            <a:avLst/>
          </a:prstGeom>
          <a:noFill/>
          <a:ln/>
        </p:spPr>
        <p:txBody>
          <a:bodyPr wrap="square" lIns="0" tIns="0" rIns="0" bIns="0" rtlCol="0" anchor="ctr"/>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1629</a:t>
            </a:r>
            <a:endParaRPr lang="en-US" sz="2600" dirty="0"/>
          </a:p>
        </p:txBody>
      </p:sp>
      <p:sp>
        <p:nvSpPr>
          <p:cNvPr id="9" name="Text 6"/>
          <p:cNvSpPr/>
          <p:nvPr/>
        </p:nvSpPr>
        <p:spPr>
          <a:xfrm>
            <a:off x="6217920" y="2679192"/>
            <a:ext cx="5394960" cy="8229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Listele cuprind și cauzele deceselor.</a:t>
            </a:r>
            <a:endParaRPr lang="en-US" sz="1600" dirty="0"/>
          </a:p>
        </p:txBody>
      </p:sp>
      <p:sp>
        <p:nvSpPr>
          <p:cNvPr id="10" name="Text 7"/>
          <p:cNvSpPr/>
          <p:nvPr/>
        </p:nvSpPr>
        <p:spPr>
          <a:xfrm>
            <a:off x="4937760" y="3666744"/>
            <a:ext cx="1188720" cy="822960"/>
          </a:xfrm>
          <a:prstGeom prst="rect">
            <a:avLst/>
          </a:prstGeom>
          <a:noFill/>
          <a:ln/>
        </p:spPr>
        <p:txBody>
          <a:bodyPr wrap="square" lIns="0" tIns="0" rIns="0" bIns="0" rtlCol="0" anchor="ctr"/>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1662</a:t>
            </a:r>
            <a:endParaRPr lang="en-US" sz="2600" dirty="0"/>
          </a:p>
        </p:txBody>
      </p:sp>
      <p:sp>
        <p:nvSpPr>
          <p:cNvPr id="11" name="Text 8"/>
          <p:cNvSpPr/>
          <p:nvPr/>
        </p:nvSpPr>
        <p:spPr>
          <a:xfrm>
            <a:off x="6217920" y="3666744"/>
            <a:ext cx="5394960" cy="8229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John Graunt, un negustor, le analizează: copiii care mor, orașul față de sat, anotimpurile.</a:t>
            </a:r>
            <a:endParaRPr lang="en-US" sz="1600" dirty="0"/>
          </a:p>
        </p:txBody>
      </p:sp>
      <p:sp>
        <p:nvSpPr>
          <p:cNvPr id="12" name="Shape 9"/>
          <p:cNvSpPr/>
          <p:nvPr/>
        </p:nvSpPr>
        <p:spPr>
          <a:xfrm>
            <a:off x="4937760" y="4754880"/>
            <a:ext cx="6675120" cy="1143000"/>
          </a:xfrm>
          <a:prstGeom prst="roundRect">
            <a:avLst>
              <a:gd name="adj" fmla="val 7200"/>
            </a:avLst>
          </a:prstGeom>
          <a:solidFill>
            <a:srgbClr val="ECEAE4"/>
          </a:solidFill>
          <a:ln w="12700">
            <a:solidFill>
              <a:srgbClr val="ECEAE4"/>
            </a:solidFill>
            <a:prstDash val="solid"/>
          </a:ln>
        </p:spPr>
        <p:txBody>
          <a:bodyPr/>
          <a:p/>
        </p:txBody>
      </p:sp>
      <p:sp>
        <p:nvSpPr>
          <p:cNvPr id="13" name="Text 10"/>
          <p:cNvSpPr/>
          <p:nvPr/>
        </p:nvSpPr>
        <p:spPr>
          <a:xfrm>
            <a:off x="5166360" y="4754880"/>
            <a:ext cx="6263640" cy="114300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Un deces nu spune mare lucru. Mii de decese în tabele arată unde, când și pe cine lovește boala.</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 LA CARITATE LA LEGE</a:t>
            </a:r>
            <a:endParaRPr lang="en-US" sz="1300" dirty="0"/>
          </a:p>
        </p:txBody>
      </p:sp>
      <p:sp>
        <p:nvSpPr>
          <p:cNvPr id="5" name="Shape 3"/>
          <p:cNvSpPr/>
          <p:nvPr/>
        </p:nvSpPr>
        <p:spPr>
          <a:xfrm>
            <a:off x="594360" y="868680"/>
            <a:ext cx="2651760" cy="36576"/>
          </a:xfrm>
          <a:prstGeom prst="rect">
            <a:avLst/>
          </a:prstGeom>
          <a:solidFill>
            <a:srgbClr val="3A3E52"/>
          </a:solidFill>
          <a:ln/>
        </p:spPr>
        <p:txBody>
          <a:bodyPr/>
          <a:p/>
        </p:txBody>
      </p:sp>
      <p:sp>
        <p:nvSpPr>
          <p:cNvPr id="6" name="Text 4"/>
          <p:cNvSpPr/>
          <p:nvPr/>
        </p:nvSpPr>
        <p:spPr>
          <a:xfrm>
            <a:off x="594360" y="960120"/>
            <a:ext cx="2651760" cy="4114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1601</a:t>
            </a:r>
            <a:endParaRPr lang="en-US" sz="2000" dirty="0"/>
          </a:p>
        </p:txBody>
      </p:sp>
      <p:sp>
        <p:nvSpPr>
          <p:cNvPr id="7" name="Text 5"/>
          <p:cNvSpPr/>
          <p:nvPr/>
        </p:nvSpPr>
        <p:spPr>
          <a:xfrm>
            <a:off x="594360" y="1371600"/>
            <a:ext cx="2606040" cy="685800"/>
          </a:xfrm>
          <a:prstGeom prst="rect">
            <a:avLst/>
          </a:prstGeom>
          <a:noFill/>
          <a:ln/>
        </p:spPr>
        <p:txBody>
          <a:bodyPr wrap="square" lIns="0" tIns="0" rIns="0" bIns="0" rtlCol="0" anchor="t"/>
          <a:lstStyle/>
          <a:p>
            <a:pPr indent="0" marL="0">
              <a:buNone/>
            </a:pPr>
            <a:r>
              <a:rPr lang="en-US" sz="1350" dirty="0">
                <a:solidFill>
                  <a:srgbClr val="C9CCD8"/>
                </a:solidFill>
                <a:latin typeface="Palatino Linotype" pitchFamily="34" charset="0"/>
                <a:ea typeface="Palatino Linotype" pitchFamily="34" charset="-122"/>
                <a:cs typeface="Palatino Linotype" pitchFamily="34" charset="-120"/>
              </a:rPr>
              <a:t>parohia răspunde de sănătatea săracilor ei</a:t>
            </a:r>
            <a:endParaRPr lang="en-US" sz="1350" dirty="0"/>
          </a:p>
        </p:txBody>
      </p:sp>
      <p:sp>
        <p:nvSpPr>
          <p:cNvPr id="8" name="Shape 6"/>
          <p:cNvSpPr/>
          <p:nvPr/>
        </p:nvSpPr>
        <p:spPr>
          <a:xfrm>
            <a:off x="3410712" y="868680"/>
            <a:ext cx="2651760" cy="36576"/>
          </a:xfrm>
          <a:prstGeom prst="rect">
            <a:avLst/>
          </a:prstGeom>
          <a:solidFill>
            <a:srgbClr val="3A3E52"/>
          </a:solidFill>
          <a:ln/>
        </p:spPr>
        <p:txBody>
          <a:bodyPr/>
          <a:p/>
        </p:txBody>
      </p:sp>
      <p:sp>
        <p:nvSpPr>
          <p:cNvPr id="9" name="Text 7"/>
          <p:cNvSpPr/>
          <p:nvPr/>
        </p:nvSpPr>
        <p:spPr>
          <a:xfrm>
            <a:off x="3410712" y="960120"/>
            <a:ext cx="2651760" cy="4114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1834</a:t>
            </a:r>
            <a:endParaRPr lang="en-US" sz="2000" dirty="0"/>
          </a:p>
        </p:txBody>
      </p:sp>
      <p:sp>
        <p:nvSpPr>
          <p:cNvPr id="10" name="Text 8"/>
          <p:cNvSpPr/>
          <p:nvPr/>
        </p:nvSpPr>
        <p:spPr>
          <a:xfrm>
            <a:off x="3410712" y="1371600"/>
            <a:ext cx="2606040" cy="685800"/>
          </a:xfrm>
          <a:prstGeom prst="rect">
            <a:avLst/>
          </a:prstGeom>
          <a:noFill/>
          <a:ln/>
        </p:spPr>
        <p:txBody>
          <a:bodyPr wrap="square" lIns="0" tIns="0" rIns="0" bIns="0" rtlCol="0" anchor="t"/>
          <a:lstStyle/>
          <a:p>
            <a:pPr indent="0" marL="0">
              <a:buNone/>
            </a:pPr>
            <a:r>
              <a:rPr lang="en-US" sz="1350" dirty="0">
                <a:solidFill>
                  <a:srgbClr val="C9CCD8"/>
                </a:solidFill>
                <a:latin typeface="Palatino Linotype" pitchFamily="34" charset="0"/>
                <a:ea typeface="Palatino Linotype" pitchFamily="34" charset="-122"/>
                <a:cs typeface="Palatino Linotype" pitchFamily="34" charset="-120"/>
              </a:rPr>
              <a:t>casele de muncă</a:t>
            </a:r>
            <a:endParaRPr lang="en-US" sz="1350" dirty="0"/>
          </a:p>
        </p:txBody>
      </p:sp>
      <p:sp>
        <p:nvSpPr>
          <p:cNvPr id="11" name="Shape 9"/>
          <p:cNvSpPr/>
          <p:nvPr/>
        </p:nvSpPr>
        <p:spPr>
          <a:xfrm>
            <a:off x="6227064" y="868680"/>
            <a:ext cx="2651760" cy="36576"/>
          </a:xfrm>
          <a:prstGeom prst="rect">
            <a:avLst/>
          </a:prstGeom>
          <a:solidFill>
            <a:srgbClr val="3A3E52"/>
          </a:solidFill>
          <a:ln/>
        </p:spPr>
        <p:txBody>
          <a:bodyPr/>
          <a:p/>
        </p:txBody>
      </p:sp>
      <p:sp>
        <p:nvSpPr>
          <p:cNvPr id="12" name="Text 10"/>
          <p:cNvSpPr/>
          <p:nvPr/>
        </p:nvSpPr>
        <p:spPr>
          <a:xfrm>
            <a:off x="6227064" y="960120"/>
            <a:ext cx="2651760" cy="4114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1842</a:t>
            </a:r>
            <a:endParaRPr lang="en-US" sz="2000" dirty="0"/>
          </a:p>
        </p:txBody>
      </p:sp>
      <p:sp>
        <p:nvSpPr>
          <p:cNvPr id="13" name="Text 11"/>
          <p:cNvSpPr/>
          <p:nvPr/>
        </p:nvSpPr>
        <p:spPr>
          <a:xfrm>
            <a:off x="6227064" y="1371600"/>
            <a:ext cx="2606040" cy="685800"/>
          </a:xfrm>
          <a:prstGeom prst="rect">
            <a:avLst/>
          </a:prstGeom>
          <a:noFill/>
          <a:ln/>
        </p:spPr>
        <p:txBody>
          <a:bodyPr wrap="square" lIns="0" tIns="0" rIns="0" bIns="0" rtlCol="0" anchor="t"/>
          <a:lstStyle/>
          <a:p>
            <a:pPr indent="0" marL="0">
              <a:buNone/>
            </a:pPr>
            <a:r>
              <a:rPr lang="en-US" sz="1350" dirty="0">
                <a:solidFill>
                  <a:srgbClr val="C9CCD8"/>
                </a:solidFill>
                <a:latin typeface="Palatino Linotype" pitchFamily="34" charset="0"/>
                <a:ea typeface="Palatino Linotype" pitchFamily="34" charset="-122"/>
                <a:cs typeface="Palatino Linotype" pitchFamily="34" charset="-120"/>
              </a:rPr>
              <a:t>raportul lui Chadwick: bolile, mizeria, apa</a:t>
            </a:r>
            <a:endParaRPr lang="en-US" sz="1350" dirty="0"/>
          </a:p>
        </p:txBody>
      </p:sp>
      <p:sp>
        <p:nvSpPr>
          <p:cNvPr id="14" name="Shape 12"/>
          <p:cNvSpPr/>
          <p:nvPr/>
        </p:nvSpPr>
        <p:spPr>
          <a:xfrm>
            <a:off x="9043416" y="868680"/>
            <a:ext cx="2651760" cy="36576"/>
          </a:xfrm>
          <a:prstGeom prst="rect">
            <a:avLst/>
          </a:prstGeom>
          <a:solidFill>
            <a:srgbClr val="3A3E52"/>
          </a:solidFill>
          <a:ln/>
        </p:spPr>
        <p:txBody>
          <a:bodyPr/>
          <a:p/>
        </p:txBody>
      </p:sp>
      <p:sp>
        <p:nvSpPr>
          <p:cNvPr id="15" name="Text 13"/>
          <p:cNvSpPr/>
          <p:nvPr/>
        </p:nvSpPr>
        <p:spPr>
          <a:xfrm>
            <a:off x="9043416" y="960120"/>
            <a:ext cx="2651760" cy="4114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1848</a:t>
            </a:r>
            <a:endParaRPr lang="en-US" sz="2000" dirty="0"/>
          </a:p>
        </p:txBody>
      </p:sp>
      <p:sp>
        <p:nvSpPr>
          <p:cNvPr id="16" name="Text 14"/>
          <p:cNvSpPr/>
          <p:nvPr/>
        </p:nvSpPr>
        <p:spPr>
          <a:xfrm>
            <a:off x="9043416" y="1371600"/>
            <a:ext cx="2606040" cy="685800"/>
          </a:xfrm>
          <a:prstGeom prst="rect">
            <a:avLst/>
          </a:prstGeom>
          <a:noFill/>
          <a:ln/>
        </p:spPr>
        <p:txBody>
          <a:bodyPr wrap="square" lIns="0" tIns="0" rIns="0" bIns="0" rtlCol="0" anchor="t"/>
          <a:lstStyle/>
          <a:p>
            <a:pPr indent="0" marL="0">
              <a:buNone/>
            </a:pPr>
            <a:r>
              <a:rPr lang="en-US" sz="1350" dirty="0">
                <a:solidFill>
                  <a:srgbClr val="C9CCD8"/>
                </a:solidFill>
                <a:latin typeface="Palatino Linotype" pitchFamily="34" charset="0"/>
                <a:ea typeface="Palatino Linotype" pitchFamily="34" charset="-122"/>
                <a:cs typeface="Palatino Linotype" pitchFamily="34" charset="-120"/>
              </a:rPr>
              <a:t>legea sănătății publice</a:t>
            </a:r>
            <a:endParaRPr lang="en-US" sz="1350" dirty="0"/>
          </a:p>
        </p:txBody>
      </p:sp>
      <p:sp>
        <p:nvSpPr>
          <p:cNvPr id="17" name="Text 15"/>
          <p:cNvSpPr/>
          <p:nvPr/>
        </p:nvSpPr>
        <p:spPr>
          <a:xfrm>
            <a:off x="594360" y="2240280"/>
            <a:ext cx="10972800" cy="77724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Chadwick credea că holera vine din aerul stricat, urât mirositor. Orașele curăță străzile, îndepărtează gunoaiele și apele uzate.</a:t>
            </a:r>
            <a:endParaRPr lang="en-US" sz="1800" dirty="0"/>
          </a:p>
        </p:txBody>
      </p:sp>
      <p:sp>
        <p:nvSpPr>
          <p:cNvPr id="18" name="Text 16"/>
          <p:cNvSpPr/>
          <p:nvPr/>
        </p:nvSpPr>
        <p:spPr>
          <a:xfrm>
            <a:off x="594360" y="3063240"/>
            <a:ext cx="10972800" cy="64008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Au redus aceste măsuri bolile?</a:t>
            </a:r>
            <a:endParaRPr lang="en-US" sz="3000" dirty="0"/>
          </a:p>
        </p:txBody>
      </p:sp>
      <p:sp>
        <p:nvSpPr>
          <p:cNvPr id="19" name="Shape 17"/>
          <p:cNvSpPr/>
          <p:nvPr/>
        </p:nvSpPr>
        <p:spPr>
          <a:xfrm>
            <a:off x="594360" y="3840480"/>
            <a:ext cx="10972800" cy="566928"/>
          </a:xfrm>
          <a:prstGeom prst="roundRect">
            <a:avLst>
              <a:gd name="adj" fmla="val 14516"/>
            </a:avLst>
          </a:prstGeom>
          <a:solidFill>
            <a:srgbClr val="1D1F2B"/>
          </a:solidFill>
          <a:ln w="12700">
            <a:solidFill>
              <a:srgbClr val="1D1F2B"/>
            </a:solidFill>
            <a:prstDash val="solid"/>
          </a:ln>
        </p:spPr>
        <p:txBody>
          <a:bodyPr/>
          <a:p/>
        </p:txBody>
      </p:sp>
      <p:sp>
        <p:nvSpPr>
          <p:cNvPr id="20" name="Shape 18"/>
          <p:cNvSpPr/>
          <p:nvPr/>
        </p:nvSpPr>
        <p:spPr>
          <a:xfrm>
            <a:off x="868680" y="3913632"/>
            <a:ext cx="420624" cy="420624"/>
          </a:xfrm>
          <a:prstGeom prst="ellipse">
            <a:avLst/>
          </a:prstGeom>
          <a:solidFill>
            <a:srgbClr val="FFC24B"/>
          </a:solidFill>
          <a:ln/>
        </p:spPr>
        <p:txBody>
          <a:bodyPr/>
          <a:p/>
        </p:txBody>
      </p:sp>
      <p:sp>
        <p:nvSpPr>
          <p:cNvPr id="21" name="Text 19"/>
          <p:cNvSpPr/>
          <p:nvPr/>
        </p:nvSpPr>
        <p:spPr>
          <a:xfrm>
            <a:off x="868680" y="3913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22" name="Text 20"/>
          <p:cNvSpPr/>
          <p:nvPr/>
        </p:nvSpPr>
        <p:spPr>
          <a:xfrm>
            <a:off x="1508760" y="3840480"/>
            <a:ext cx="978408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Da</a:t>
            </a:r>
            <a:endParaRPr lang="en-US" sz="1800" dirty="0"/>
          </a:p>
        </p:txBody>
      </p:sp>
      <p:sp>
        <p:nvSpPr>
          <p:cNvPr id="23" name="Shape 21"/>
          <p:cNvSpPr/>
          <p:nvPr/>
        </p:nvSpPr>
        <p:spPr>
          <a:xfrm>
            <a:off x="594360" y="4526280"/>
            <a:ext cx="10972800" cy="566928"/>
          </a:xfrm>
          <a:prstGeom prst="roundRect">
            <a:avLst>
              <a:gd name="adj" fmla="val 14516"/>
            </a:avLst>
          </a:prstGeom>
          <a:solidFill>
            <a:srgbClr val="1D1F2B"/>
          </a:solidFill>
          <a:ln w="12700">
            <a:solidFill>
              <a:srgbClr val="1D1F2B"/>
            </a:solidFill>
            <a:prstDash val="solid"/>
          </a:ln>
        </p:spPr>
        <p:txBody>
          <a:bodyPr/>
          <a:p/>
        </p:txBody>
      </p:sp>
      <p:sp>
        <p:nvSpPr>
          <p:cNvPr id="24" name="Shape 22"/>
          <p:cNvSpPr/>
          <p:nvPr/>
        </p:nvSpPr>
        <p:spPr>
          <a:xfrm>
            <a:off x="868680" y="4599432"/>
            <a:ext cx="420624" cy="420624"/>
          </a:xfrm>
          <a:prstGeom prst="ellipse">
            <a:avLst/>
          </a:prstGeom>
          <a:solidFill>
            <a:srgbClr val="FFC24B"/>
          </a:solidFill>
          <a:ln/>
        </p:spPr>
        <p:txBody>
          <a:bodyPr/>
          <a:p/>
        </p:txBody>
      </p:sp>
      <p:sp>
        <p:nvSpPr>
          <p:cNvPr id="25" name="Text 23"/>
          <p:cNvSpPr/>
          <p:nvPr/>
        </p:nvSpPr>
        <p:spPr>
          <a:xfrm>
            <a:off x="868680" y="45994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26" name="Text 24"/>
          <p:cNvSpPr/>
          <p:nvPr/>
        </p:nvSpPr>
        <p:spPr>
          <a:xfrm>
            <a:off x="1508760" y="4526280"/>
            <a:ext cx="978408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 teoria era greșită</a:t>
            </a:r>
            <a:endParaRPr lang="en-US" sz="1800" dirty="0"/>
          </a:p>
        </p:txBody>
      </p:sp>
      <p:sp>
        <p:nvSpPr>
          <p:cNvPr id="27" name="Shape 25"/>
          <p:cNvSpPr/>
          <p:nvPr/>
        </p:nvSpPr>
        <p:spPr>
          <a:xfrm>
            <a:off x="594360" y="5212080"/>
            <a:ext cx="10972800" cy="566928"/>
          </a:xfrm>
          <a:prstGeom prst="roundRect">
            <a:avLst>
              <a:gd name="adj" fmla="val 14516"/>
            </a:avLst>
          </a:prstGeom>
          <a:solidFill>
            <a:srgbClr val="1D1F2B"/>
          </a:solidFill>
          <a:ln w="12700">
            <a:solidFill>
              <a:srgbClr val="1D1F2B"/>
            </a:solidFill>
            <a:prstDash val="solid"/>
          </a:ln>
        </p:spPr>
        <p:txBody>
          <a:bodyPr/>
          <a:p/>
        </p:txBody>
      </p:sp>
      <p:sp>
        <p:nvSpPr>
          <p:cNvPr id="28" name="Shape 26"/>
          <p:cNvSpPr/>
          <p:nvPr/>
        </p:nvSpPr>
        <p:spPr>
          <a:xfrm>
            <a:off x="868680" y="5285232"/>
            <a:ext cx="420624" cy="420624"/>
          </a:xfrm>
          <a:prstGeom prst="ellipse">
            <a:avLst/>
          </a:prstGeom>
          <a:solidFill>
            <a:srgbClr val="FFC24B"/>
          </a:solidFill>
          <a:ln/>
        </p:spPr>
        <p:txBody>
          <a:bodyPr/>
          <a:p/>
        </p:txBody>
      </p:sp>
      <p:sp>
        <p:nvSpPr>
          <p:cNvPr id="29" name="Text 27"/>
          <p:cNvSpPr/>
          <p:nvPr/>
        </p:nvSpPr>
        <p:spPr>
          <a:xfrm>
            <a:off x="868680" y="5285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30" name="Text 28"/>
          <p:cNvSpPr/>
          <p:nvPr/>
        </p:nvSpPr>
        <p:spPr>
          <a:xfrm>
            <a:off x="1508760" y="5212080"/>
            <a:ext cx="978408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 se poate ști</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 TEORIE GREȘITĂ CARE A SALVAT VIEȚI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Explicația era greșită. Măsurile au fost excelente.</a:t>
            </a:r>
            <a:endParaRPr lang="en-US" sz="3000" dirty="0"/>
          </a:p>
        </p:txBody>
      </p:sp>
      <p:sp>
        <p:nvSpPr>
          <p:cNvPr id="4" name="Text 2"/>
          <p:cNvSpPr/>
          <p:nvPr/>
        </p:nvSpPr>
        <p:spPr>
          <a:xfrm>
            <a:off x="594360" y="1691640"/>
            <a:ext cx="10972800" cy="10058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Străzi curățate, gunoaie și ape uzate îndepărtate: bolile au scăzut în orașe.</a:t>
            </a:r>
            <a:endParaRPr lang="en-US" sz="1800" dirty="0"/>
          </a:p>
        </p:txBody>
      </p:sp>
      <p:sp>
        <p:nvSpPr>
          <p:cNvPr id="5" name="Shape 3"/>
          <p:cNvSpPr/>
          <p:nvPr/>
        </p:nvSpPr>
        <p:spPr>
          <a:xfrm>
            <a:off x="594360" y="2880360"/>
            <a:ext cx="5394960" cy="1600200"/>
          </a:xfrm>
          <a:prstGeom prst="roundRect">
            <a:avLst>
              <a:gd name="adj" fmla="val 5143"/>
            </a:avLst>
          </a:prstGeom>
          <a:solidFill>
            <a:srgbClr val="FF4757"/>
          </a:solidFill>
          <a:ln w="12700">
            <a:solidFill>
              <a:srgbClr val="FF4757"/>
            </a:solidFill>
            <a:prstDash val="solid"/>
          </a:ln>
        </p:spPr>
        <p:txBody>
          <a:bodyPr/>
          <a:p/>
        </p:txBody>
      </p:sp>
      <p:sp>
        <p:nvSpPr>
          <p:cNvPr id="6" name="Shape 4"/>
          <p:cNvSpPr/>
          <p:nvPr/>
        </p:nvSpPr>
        <p:spPr>
          <a:xfrm>
            <a:off x="6172200" y="2880360"/>
            <a:ext cx="5394960" cy="1600200"/>
          </a:xfrm>
          <a:prstGeom prst="roundRect">
            <a:avLst>
              <a:gd name="adj" fmla="val 5143"/>
            </a:avLst>
          </a:prstGeom>
          <a:solidFill>
            <a:srgbClr val="27D3BE"/>
          </a:solidFill>
          <a:ln w="12700">
            <a:solidFill>
              <a:srgbClr val="27D3BE"/>
            </a:solidFill>
            <a:prstDash val="solid"/>
          </a:ln>
        </p:spPr>
        <p:txBody>
          <a:bodyPr/>
          <a:p/>
        </p:txBody>
      </p:sp>
      <p:sp>
        <p:nvSpPr>
          <p:cNvPr id="7" name="Text 5"/>
          <p:cNvSpPr/>
          <p:nvPr/>
        </p:nvSpPr>
        <p:spPr>
          <a:xfrm>
            <a:off x="868680" y="2880360"/>
            <a:ext cx="4846320" cy="1600200"/>
          </a:xfrm>
          <a:prstGeom prst="rect">
            <a:avLst/>
          </a:prstGeom>
          <a:noFill/>
          <a:ln/>
        </p:spPr>
        <p:txBody>
          <a:bodyPr wrap="square" lIns="0" tIns="0" rIns="0" bIns="0" rtlCol="0" anchor="ctr"/>
          <a:lstStyle/>
          <a:p>
            <a:pPr indent="0" marL="0">
              <a:buNone/>
            </a:pPr>
            <a:r>
              <a:rPr lang="en-US" sz="2000" b="1" dirty="0">
                <a:solidFill>
                  <a:srgbClr val="2E060B"/>
                </a:solidFill>
                <a:latin typeface="Palatino Linotype" pitchFamily="34" charset="0"/>
                <a:ea typeface="Palatino Linotype" pitchFamily="34" charset="-122"/>
                <a:cs typeface="Palatino Linotype" pitchFamily="34" charset="-120"/>
              </a:rPr>
              <a:t>O măsură poate funcționa chiar dacă explicația ei este greșită.</a:t>
            </a:r>
            <a:endParaRPr lang="en-US" sz="2000" dirty="0"/>
          </a:p>
        </p:txBody>
      </p:sp>
      <p:sp>
        <p:nvSpPr>
          <p:cNvPr id="8" name="Text 6"/>
          <p:cNvSpPr/>
          <p:nvPr/>
        </p:nvSpPr>
        <p:spPr>
          <a:xfrm>
            <a:off x="6446520" y="2880360"/>
            <a:ext cx="4846320" cy="1600200"/>
          </a:xfrm>
          <a:prstGeom prst="rect">
            <a:avLst/>
          </a:prstGeom>
          <a:noFill/>
          <a:ln/>
        </p:spPr>
        <p:txBody>
          <a:bodyPr wrap="square" lIns="0" tIns="0" rIns="0" bIns="0" rtlCol="0" anchor="ctr"/>
          <a:lstStyle/>
          <a:p>
            <a:pPr indent="0" marL="0">
              <a:buNone/>
            </a:pPr>
            <a:r>
              <a:rPr lang="en-US" sz="2000" b="1" dirty="0">
                <a:solidFill>
                  <a:srgbClr val="073B34"/>
                </a:solidFill>
                <a:latin typeface="Palatino Linotype" pitchFamily="34" charset="0"/>
                <a:ea typeface="Palatino Linotype" pitchFamily="34" charset="-122"/>
                <a:cs typeface="Palatino Linotype" pitchFamily="34" charset="-120"/>
              </a:rPr>
              <a:t>O explicație corectă nu garantează, singură, că se ia vreo măsură.</a:t>
            </a:r>
            <a:endParaRPr lang="en-US" sz="2000" dirty="0"/>
          </a:p>
        </p:txBody>
      </p:sp>
      <p:sp>
        <p:nvSpPr>
          <p:cNvPr id="9" name="Text 7"/>
          <p:cNvSpPr/>
          <p:nvPr/>
        </p:nvSpPr>
        <p:spPr>
          <a:xfrm>
            <a:off x="594360" y="4754880"/>
            <a:ext cx="10972800" cy="457200"/>
          </a:xfrm>
          <a:prstGeom prst="rect">
            <a:avLst/>
          </a:prstGeom>
          <a:noFill/>
          <a:ln/>
        </p:spPr>
        <p:txBody>
          <a:bodyPr wrap="square" lIns="0" tIns="0" rIns="0" bIns="0" rtlCol="0" anchor="t"/>
          <a:lstStyle/>
          <a:p>
            <a:pPr indent="0" marL="0">
              <a:buNone/>
            </a:pPr>
            <a:r>
              <a:rPr lang="en-US" sz="1800" i="1" dirty="0">
                <a:solidFill>
                  <a:srgbClr val="585A64"/>
                </a:solidFill>
                <a:latin typeface="Palatino Linotype" pitchFamily="34" charset="0"/>
                <a:ea typeface="Palatino Linotype" pitchFamily="34" charset="-122"/>
                <a:cs typeface="Palatino Linotype" pitchFamily="34" charset="-120"/>
              </a:rPr>
              <a:t>Este a doua oară azi când o idee greșită duce la o practică utilă.</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7782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7782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TOATĂ SALA</a:t>
            </a:r>
            <a:endParaRPr lang="en-US" sz="1300" dirty="0"/>
          </a:p>
        </p:txBody>
      </p:sp>
      <p:pic>
        <p:nvPicPr>
          <p:cNvPr id="4" name="Image 0" descr="/Users/adrianpana/Downloads/UMF_Cluj_SP/Materiale SP/Atelier_didactic/discipline/UB_ISP/active/img/C01_snow_harta_detaliu.jpg">    </p:cNvPr>
          <p:cNvPicPr>
            <a:picLocks noChangeAspect="1"/>
          </p:cNvPicPr>
          <p:nvPr/>
        </p:nvPicPr>
        <p:blipFill>
          <a:blip r:embed="rId1"/>
          <a:stretch>
            <a:fillRect/>
          </a:stretch>
        </p:blipFill>
        <p:spPr>
          <a:xfrm>
            <a:off x="320040" y="320040"/>
            <a:ext cx="6385177" cy="5989320"/>
          </a:xfrm>
          <a:prstGeom prst="rect">
            <a:avLst/>
          </a:prstGeom>
        </p:spPr>
      </p:pic>
      <p:sp>
        <p:nvSpPr>
          <p:cNvPr id="5" name="Text 2"/>
          <p:cNvSpPr/>
          <p:nvPr/>
        </p:nvSpPr>
        <p:spPr>
          <a:xfrm>
            <a:off x="320040" y="6355080"/>
            <a:ext cx="640080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Harta lui John Snow (detaliu) · domeniu public · Wikimedia Commons</a:t>
            </a:r>
            <a:endParaRPr lang="en-US" sz="850" dirty="0"/>
          </a:p>
        </p:txBody>
      </p:sp>
      <p:sp>
        <p:nvSpPr>
          <p:cNvPr id="6" name="Text 3"/>
          <p:cNvSpPr/>
          <p:nvPr/>
        </p:nvSpPr>
        <p:spPr>
          <a:xfrm>
            <a:off x="7178040" y="914400"/>
            <a:ext cx="44805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LONDRA, AUGUST 1854</a:t>
            </a:r>
            <a:endParaRPr lang="en-US" sz="1300" dirty="0"/>
          </a:p>
        </p:txBody>
      </p:sp>
      <p:sp>
        <p:nvSpPr>
          <p:cNvPr id="7" name="Text 4"/>
          <p:cNvSpPr/>
          <p:nvPr/>
        </p:nvSpPr>
        <p:spPr>
          <a:xfrm>
            <a:off x="7178040" y="1280160"/>
            <a:ext cx="448056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Harta unui medic</a:t>
            </a:r>
            <a:endParaRPr lang="en-US" sz="3200" dirty="0"/>
          </a:p>
        </p:txBody>
      </p:sp>
      <p:pic>
        <p:nvPicPr>
          <p:cNvPr id="8" name="Image 1" descr="/Users/adrianpana/Downloads/UMF_Cluj_SP/Materiale SP/Atelier_didactic/discipline/UB_ISP/active/img/C01_snow_portret.jpg">    </p:cNvPr>
          <p:cNvPicPr>
            <a:picLocks noChangeAspect="1"/>
          </p:cNvPicPr>
          <p:nvPr/>
        </p:nvPicPr>
        <p:blipFill>
          <a:blip r:embed="rId2"/>
          <a:stretch>
            <a:fillRect/>
          </a:stretch>
        </p:blipFill>
        <p:spPr>
          <a:xfrm>
            <a:off x="7178040" y="2148840"/>
            <a:ext cx="1243584" cy="1554480"/>
          </a:xfrm>
          <a:prstGeom prst="rect">
            <a:avLst/>
          </a:prstGeom>
        </p:spPr>
      </p:pic>
      <p:sp>
        <p:nvSpPr>
          <p:cNvPr id="9" name="Text 5"/>
          <p:cNvSpPr/>
          <p:nvPr/>
        </p:nvSpPr>
        <p:spPr>
          <a:xfrm>
            <a:off x="8595360" y="2148840"/>
            <a:ext cx="3017520" cy="36576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John Snow</a:t>
            </a:r>
            <a:endParaRPr lang="en-US" sz="1600" dirty="0"/>
          </a:p>
        </p:txBody>
      </p:sp>
      <p:sp>
        <p:nvSpPr>
          <p:cNvPr id="10" name="Text 6"/>
          <p:cNvSpPr/>
          <p:nvPr/>
        </p:nvSpPr>
        <p:spPr>
          <a:xfrm>
            <a:off x="8595360" y="2560320"/>
            <a:ext cx="3063240" cy="146304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Holeră în Soho. Snow marchează locuințele celor care muriseră și pompele de apă din cartier.</a:t>
            </a:r>
            <a:endParaRPr lang="en-US" sz="1500" dirty="0"/>
          </a:p>
        </p:txBody>
      </p:sp>
      <p:sp>
        <p:nvSpPr>
          <p:cNvPr id="11" name="Text 7"/>
          <p:cNvSpPr/>
          <p:nvPr/>
        </p:nvSpPr>
        <p:spPr>
          <a:xfrm>
            <a:off x="7178040" y="4160520"/>
            <a:ext cx="4480560" cy="1188720"/>
          </a:xfrm>
          <a:prstGeom prst="rect">
            <a:avLst/>
          </a:prstGeom>
          <a:noFill/>
          <a:ln/>
        </p:spPr>
        <p:txBody>
          <a:bodyPr wrap="square" lIns="0" tIns="0" rIns="0" bIns="0" rtlCol="0" anchor="t"/>
          <a:lstStyle/>
          <a:p>
            <a:pPr indent="0" marL="0">
              <a:buNone/>
            </a:pPr>
            <a:r>
              <a:rPr lang="en-US" sz="2600" b="1" dirty="0">
                <a:solidFill>
                  <a:srgbClr val="FFC24B"/>
                </a:solidFill>
                <a:latin typeface="Palatino Linotype" pitchFamily="34" charset="0"/>
                <a:ea typeface="Palatino Linotype" pitchFamily="34" charset="-122"/>
                <a:cs typeface="Palatino Linotype" pitchFamily="34" charset="-120"/>
              </a:rPr>
              <a:t>Priviți harta. Unde ați căuta sursa?</a:t>
            </a:r>
            <a:endParaRPr lang="en-US" sz="2600" dirty="0"/>
          </a:p>
        </p:txBody>
      </p:sp>
      <p:sp>
        <p:nvSpPr>
          <p:cNvPr id="12" name="Text 8"/>
          <p:cNvSpPr/>
          <p:nvPr/>
        </p:nvSpPr>
        <p:spPr>
          <a:xfrm>
            <a:off x="7178040" y="6355080"/>
            <a:ext cx="448056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Portret: domeniu public · Wikimedia Commons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pompa_broad_street.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Replica pompei, astăzi, la Londra: fără manetă</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Jamzze · CC BY-SA 4.0 · Wikimedia Commons</a:t>
            </a:r>
            <a:endParaRPr lang="en-US" sz="850" dirty="0"/>
          </a:p>
        </p:txBody>
      </p:sp>
      <p:sp>
        <p:nvSpPr>
          <p:cNvPr id="6" name="Text 3"/>
          <p:cNvSpPr/>
          <p:nvPr/>
        </p:nvSpPr>
        <p:spPr>
          <a:xfrm>
            <a:off x="594360" y="347472"/>
            <a:ext cx="58521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BROAD STREET</a:t>
            </a:r>
            <a:endParaRPr lang="en-US" sz="1300" dirty="0"/>
          </a:p>
        </p:txBody>
      </p:sp>
      <p:sp>
        <p:nvSpPr>
          <p:cNvPr id="7" name="Text 4"/>
          <p:cNvSpPr/>
          <p:nvPr/>
        </p:nvSpPr>
        <p:spPr>
          <a:xfrm>
            <a:off x="594360" y="731520"/>
            <a:ext cx="5852160" cy="137160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Morții erau în jurul unei singure pompe</a:t>
            </a:r>
            <a:endParaRPr lang="en-US" sz="3200" dirty="0"/>
          </a:p>
        </p:txBody>
      </p:sp>
      <p:sp>
        <p:nvSpPr>
          <p:cNvPr id="8" name="Text 5"/>
          <p:cNvSpPr/>
          <p:nvPr/>
        </p:nvSpPr>
        <p:spPr>
          <a:xfrm>
            <a:off x="594360" y="2240280"/>
            <a:ext cx="5760720" cy="14630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Snow bănuia de câțiva ani că holera se ia din apa contaminată cu materiile bolnavilor. Harta i-a dat un argument pe care îl putea arăta altora.</a:t>
            </a:r>
            <a:endParaRPr lang="en-US" sz="1800" dirty="0"/>
          </a:p>
        </p:txBody>
      </p:sp>
      <p:sp>
        <p:nvSpPr>
          <p:cNvPr id="9" name="Shape 6"/>
          <p:cNvSpPr/>
          <p:nvPr/>
        </p:nvSpPr>
        <p:spPr>
          <a:xfrm>
            <a:off x="594360" y="3977640"/>
            <a:ext cx="54864" cy="1463040"/>
          </a:xfrm>
          <a:prstGeom prst="rect">
            <a:avLst/>
          </a:prstGeom>
          <a:solidFill>
            <a:srgbClr val="B02532"/>
          </a:solidFill>
          <a:ln w="12700">
            <a:solidFill>
              <a:srgbClr val="B02532"/>
            </a:solidFill>
            <a:prstDash val="solid"/>
          </a:ln>
        </p:spPr>
        <p:txBody>
          <a:bodyPr/>
          <a:p/>
        </p:txBody>
      </p:sp>
      <p:sp>
        <p:nvSpPr>
          <p:cNvPr id="10" name="Text 7"/>
          <p:cNvSpPr/>
          <p:nvPr/>
        </p:nvSpPr>
        <p:spPr>
          <a:xfrm>
            <a:off x="868680" y="3977640"/>
            <a:ext cx="5486400" cy="1463040"/>
          </a:xfrm>
          <a:prstGeom prst="rect">
            <a:avLst/>
          </a:prstGeom>
          <a:noFill/>
          <a:ln/>
        </p:spPr>
        <p:txBody>
          <a:bodyPr wrap="square" lIns="0" tIns="0" rIns="0" bIns="0" rtlCol="0" anchor="ctr"/>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Maneta pompei a fost scoasă. Epidemia scădea deja și s-a stins în câteva zile.</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ACEEAȘI STRADĂ, DOUĂ COMPANII</a:t>
            </a:r>
            <a:endParaRPr lang="en-US" sz="1300" dirty="0"/>
          </a:p>
        </p:txBody>
      </p:sp>
      <p:sp>
        <p:nvSpPr>
          <p:cNvPr id="5" name="Text 3"/>
          <p:cNvSpPr/>
          <p:nvPr/>
        </p:nvSpPr>
        <p:spPr>
          <a:xfrm>
            <a:off x="594360" y="731520"/>
            <a:ext cx="10972800" cy="91440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De câte ori mai mare a fost riscul de deces prin holeră în casele cu apă luată din aval?</a:t>
            </a:r>
            <a:endParaRPr lang="en-US" sz="2600" dirty="0"/>
          </a:p>
        </p:txBody>
      </p:sp>
      <p:sp>
        <p:nvSpPr>
          <p:cNvPr id="6" name="Shape 4"/>
          <p:cNvSpPr/>
          <p:nvPr/>
        </p:nvSpPr>
        <p:spPr>
          <a:xfrm>
            <a:off x="594360" y="2148840"/>
            <a:ext cx="10972800" cy="384048"/>
          </a:xfrm>
          <a:prstGeom prst="rect">
            <a:avLst/>
          </a:prstGeom>
          <a:solidFill>
            <a:srgbClr val="1F4E6B"/>
          </a:solidFill>
          <a:ln w="12700">
            <a:solidFill>
              <a:srgbClr val="1F4E6B"/>
            </a:solidFill>
            <a:prstDash val="solid"/>
          </a:ln>
        </p:spPr>
        <p:txBody>
          <a:bodyPr/>
          <a:p/>
        </p:txBody>
      </p:sp>
      <p:sp>
        <p:nvSpPr>
          <p:cNvPr id="7" name="Text 5"/>
          <p:cNvSpPr/>
          <p:nvPr/>
        </p:nvSpPr>
        <p:spPr>
          <a:xfrm>
            <a:off x="594360" y="2148840"/>
            <a:ext cx="10972800" cy="384048"/>
          </a:xfrm>
          <a:prstGeom prst="rect">
            <a:avLst/>
          </a:prstGeom>
          <a:noFill/>
          <a:ln/>
        </p:spPr>
        <p:txBody>
          <a:bodyPr wrap="square" lIns="0" tIns="0" rIns="0" bIns="0" rtlCol="0" anchor="ctr"/>
          <a:lstStyle/>
          <a:p>
            <a:pPr algn="ctr" indent="0" marL="0">
              <a:buNone/>
            </a:pPr>
            <a:r>
              <a:rPr lang="en-US" sz="1400" b="1" dirty="0">
                <a:solidFill>
                  <a:srgbClr val="CFE8F7"/>
                </a:solidFill>
                <a:latin typeface="Palatino Linotype" pitchFamily="34" charset="0"/>
                <a:ea typeface="Palatino Linotype" pitchFamily="34" charset="-122"/>
                <a:cs typeface="Palatino Linotype" pitchFamily="34" charset="-120"/>
              </a:rPr>
              <a:t>Tamisa curge spre oraș  →</a:t>
            </a:r>
            <a:endParaRPr lang="en-US" sz="1400" dirty="0"/>
          </a:p>
        </p:txBody>
      </p:sp>
      <p:sp>
        <p:nvSpPr>
          <p:cNvPr id="8" name="Shape 6"/>
          <p:cNvSpPr/>
          <p:nvPr/>
        </p:nvSpPr>
        <p:spPr>
          <a:xfrm>
            <a:off x="594360" y="2697480"/>
            <a:ext cx="5303520" cy="1143000"/>
          </a:xfrm>
          <a:prstGeom prst="roundRect">
            <a:avLst>
              <a:gd name="adj" fmla="val 7200"/>
            </a:avLst>
          </a:prstGeom>
          <a:solidFill>
            <a:srgbClr val="07564B"/>
          </a:solidFill>
          <a:ln w="12700">
            <a:solidFill>
              <a:srgbClr val="07564B"/>
            </a:solidFill>
            <a:prstDash val="solid"/>
          </a:ln>
        </p:spPr>
        <p:txBody>
          <a:bodyPr/>
          <a:p/>
        </p:txBody>
      </p:sp>
      <p:sp>
        <p:nvSpPr>
          <p:cNvPr id="9" name="Shape 7"/>
          <p:cNvSpPr/>
          <p:nvPr/>
        </p:nvSpPr>
        <p:spPr>
          <a:xfrm>
            <a:off x="6263640" y="2697480"/>
            <a:ext cx="5303520" cy="1143000"/>
          </a:xfrm>
          <a:prstGeom prst="roundRect">
            <a:avLst>
              <a:gd name="adj" fmla="val 7200"/>
            </a:avLst>
          </a:prstGeom>
          <a:solidFill>
            <a:srgbClr val="3A1A22"/>
          </a:solidFill>
          <a:ln w="12700">
            <a:solidFill>
              <a:srgbClr val="3A1A22"/>
            </a:solidFill>
            <a:prstDash val="solid"/>
          </a:ln>
        </p:spPr>
        <p:txBody>
          <a:bodyPr/>
          <a:p/>
        </p:txBody>
      </p:sp>
      <p:sp>
        <p:nvSpPr>
          <p:cNvPr id="10" name="Text 8"/>
          <p:cNvSpPr/>
          <p:nvPr/>
        </p:nvSpPr>
        <p:spPr>
          <a:xfrm>
            <a:off x="868680" y="2697480"/>
            <a:ext cx="4846320" cy="1143000"/>
          </a:xfrm>
          <a:prstGeom prst="rect">
            <a:avLst/>
          </a:prstGeom>
          <a:noFill/>
          <a:ln/>
        </p:spPr>
        <p:txBody>
          <a:bodyPr wrap="square" lIns="0" tIns="0" rIns="0" bIns="0" rtlCol="0" anchor="ctr"/>
          <a:lstStyle/>
          <a:p>
            <a:pPr indent="0" marL="0">
              <a:buNone/>
            </a:pPr>
            <a:r>
              <a:rPr lang="en-US" sz="1600" b="1" dirty="0">
                <a:solidFill>
                  <a:srgbClr val="9FE8DC"/>
                </a:solidFill>
                <a:latin typeface="Palatino Linotype" pitchFamily="34" charset="0"/>
                <a:ea typeface="Palatino Linotype" pitchFamily="34" charset="-122"/>
                <a:cs typeface="Palatino Linotype" pitchFamily="34" charset="-120"/>
              </a:rPr>
              <a:t>Lambeth (amonte)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din 1852 ia apa mai sus pe râu, înainte de oraș</a:t>
            </a:r>
            <a:endParaRPr lang="en-US" sz="1600" dirty="0"/>
          </a:p>
        </p:txBody>
      </p:sp>
      <p:sp>
        <p:nvSpPr>
          <p:cNvPr id="11" name="Text 9"/>
          <p:cNvSpPr/>
          <p:nvPr/>
        </p:nvSpPr>
        <p:spPr>
          <a:xfrm>
            <a:off x="6537960" y="2697480"/>
            <a:ext cx="4846320" cy="1143000"/>
          </a:xfrm>
          <a:prstGeom prst="rect">
            <a:avLst/>
          </a:prstGeom>
          <a:noFill/>
          <a:ln/>
        </p:spPr>
        <p:txBody>
          <a:bodyPr wrap="square" lIns="0" tIns="0" rIns="0" bIns="0" rtlCol="0" anchor="ctr"/>
          <a:lstStyle/>
          <a:p>
            <a:pPr indent="0" marL="0">
              <a:buNone/>
            </a:pPr>
            <a:r>
              <a:rPr lang="en-US" sz="1600" b="1" dirty="0">
                <a:solidFill>
                  <a:srgbClr val="FF9AA4"/>
                </a:solidFill>
                <a:latin typeface="Palatino Linotype" pitchFamily="34" charset="0"/>
                <a:ea typeface="Palatino Linotype" pitchFamily="34" charset="-122"/>
                <a:cs typeface="Palatino Linotype" pitchFamily="34" charset="-120"/>
              </a:rPr>
              <a:t>Southwark and Vauxhall (aval)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ia apa unde râul a primit canalizarea orașului</a:t>
            </a:r>
            <a:endParaRPr lang="en-US" sz="1600" dirty="0"/>
          </a:p>
        </p:txBody>
      </p:sp>
      <p:sp>
        <p:nvSpPr>
          <p:cNvPr id="12" name="Shape 10"/>
          <p:cNvSpPr/>
          <p:nvPr/>
        </p:nvSpPr>
        <p:spPr>
          <a:xfrm>
            <a:off x="594360" y="4160520"/>
            <a:ext cx="265176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594360" y="4160520"/>
            <a:ext cx="265176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A · aproape la fel</a:t>
            </a:r>
            <a:endParaRPr lang="en-US" sz="1500" dirty="0"/>
          </a:p>
        </p:txBody>
      </p:sp>
      <p:sp>
        <p:nvSpPr>
          <p:cNvPr id="14" name="Shape 12"/>
          <p:cNvSpPr/>
          <p:nvPr/>
        </p:nvSpPr>
        <p:spPr>
          <a:xfrm>
            <a:off x="3410712" y="4160520"/>
            <a:ext cx="2651760" cy="329184"/>
          </a:xfrm>
          <a:prstGeom prst="roundRect">
            <a:avLst>
              <a:gd name="adj" fmla="val 50000"/>
            </a:avLst>
          </a:prstGeom>
          <a:solidFill>
            <a:srgbClr val="272A38"/>
          </a:solidFill>
          <a:ln w="12700">
            <a:solidFill>
              <a:srgbClr val="272A38"/>
            </a:solidFill>
            <a:prstDash val="solid"/>
          </a:ln>
        </p:spPr>
        <p:txBody>
          <a:bodyPr/>
          <a:p/>
        </p:txBody>
      </p:sp>
      <p:sp>
        <p:nvSpPr>
          <p:cNvPr id="15" name="Text 13"/>
          <p:cNvSpPr/>
          <p:nvPr/>
        </p:nvSpPr>
        <p:spPr>
          <a:xfrm>
            <a:off x="3410712" y="4160520"/>
            <a:ext cx="265176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B · de două ori</a:t>
            </a:r>
            <a:endParaRPr lang="en-US" sz="1500" dirty="0"/>
          </a:p>
        </p:txBody>
      </p:sp>
      <p:sp>
        <p:nvSpPr>
          <p:cNvPr id="16" name="Shape 14"/>
          <p:cNvSpPr/>
          <p:nvPr/>
        </p:nvSpPr>
        <p:spPr>
          <a:xfrm>
            <a:off x="6227064" y="4160520"/>
            <a:ext cx="2651760" cy="329184"/>
          </a:xfrm>
          <a:prstGeom prst="roundRect">
            <a:avLst>
              <a:gd name="adj" fmla="val 50000"/>
            </a:avLst>
          </a:prstGeom>
          <a:solidFill>
            <a:srgbClr val="272A38"/>
          </a:solidFill>
          <a:ln w="12700">
            <a:solidFill>
              <a:srgbClr val="272A38"/>
            </a:solidFill>
            <a:prstDash val="solid"/>
          </a:ln>
        </p:spPr>
        <p:txBody>
          <a:bodyPr/>
          <a:p/>
        </p:txBody>
      </p:sp>
      <p:sp>
        <p:nvSpPr>
          <p:cNvPr id="17" name="Text 15"/>
          <p:cNvSpPr/>
          <p:nvPr/>
        </p:nvSpPr>
        <p:spPr>
          <a:xfrm>
            <a:off x="6227064" y="4160520"/>
            <a:ext cx="265176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C · de circa opt ori</a:t>
            </a:r>
            <a:endParaRPr lang="en-US" sz="1500" dirty="0"/>
          </a:p>
        </p:txBody>
      </p:sp>
      <p:sp>
        <p:nvSpPr>
          <p:cNvPr id="18" name="Shape 16"/>
          <p:cNvSpPr/>
          <p:nvPr/>
        </p:nvSpPr>
        <p:spPr>
          <a:xfrm>
            <a:off x="9043416" y="4160520"/>
            <a:ext cx="2651760" cy="329184"/>
          </a:xfrm>
          <a:prstGeom prst="roundRect">
            <a:avLst>
              <a:gd name="adj" fmla="val 50000"/>
            </a:avLst>
          </a:prstGeom>
          <a:solidFill>
            <a:srgbClr val="272A38"/>
          </a:solidFill>
          <a:ln w="12700">
            <a:solidFill>
              <a:srgbClr val="272A38"/>
            </a:solidFill>
            <a:prstDash val="solid"/>
          </a:ln>
        </p:spPr>
        <p:txBody>
          <a:bodyPr/>
          <a:p/>
        </p:txBody>
      </p:sp>
      <p:sp>
        <p:nvSpPr>
          <p:cNvPr id="19" name="Text 17"/>
          <p:cNvSpPr/>
          <p:nvPr/>
        </p:nvSpPr>
        <p:spPr>
          <a:xfrm>
            <a:off x="9043416" y="4160520"/>
            <a:ext cx="265176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 · de peste 50 de ori</a:t>
            </a:r>
            <a:endParaRPr lang="en-US" sz="1500" dirty="0"/>
          </a:p>
        </p:txBody>
      </p:sp>
      <p:sp>
        <p:nvSpPr>
          <p:cNvPr id="20" name="Text 18"/>
          <p:cNvSpPr/>
          <p:nvPr/>
        </p:nvSpPr>
        <p:spPr>
          <a:xfrm>
            <a:off x="594360" y="4892040"/>
            <a:ext cx="10972800" cy="73152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Snow merge din casă în casă și află, pentru fiecare deces, ce companie alimenta casa.</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A NUMĂRAT SNOW</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Riscul de deces: de circa opt ori mai mare</a:t>
            </a:r>
            <a:endParaRPr lang="en-US" sz="3200" dirty="0"/>
          </a:p>
        </p:txBody>
      </p:sp>
      <p:sp>
        <p:nvSpPr>
          <p:cNvPr id="4" name="Text 2"/>
          <p:cNvSpPr/>
          <p:nvPr/>
        </p:nvSpPr>
        <p:spPr>
          <a:xfrm>
            <a:off x="594360" y="1783080"/>
            <a:ext cx="68580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Apă din aval · Southwark and Vauxhall</a:t>
            </a:r>
            <a:endParaRPr lang="en-US" sz="1500" dirty="0"/>
          </a:p>
        </p:txBody>
      </p:sp>
      <p:sp>
        <p:nvSpPr>
          <p:cNvPr id="5" name="Shape 3"/>
          <p:cNvSpPr/>
          <p:nvPr/>
        </p:nvSpPr>
        <p:spPr>
          <a:xfrm>
            <a:off x="594360" y="2167128"/>
            <a:ext cx="5952744" cy="566928"/>
          </a:xfrm>
          <a:prstGeom prst="rect">
            <a:avLst/>
          </a:prstGeom>
          <a:solidFill>
            <a:srgbClr val="FF4757"/>
          </a:solidFill>
          <a:ln w="12700">
            <a:solidFill>
              <a:srgbClr val="FF4757"/>
            </a:solidFill>
            <a:prstDash val="solid"/>
          </a:ln>
        </p:spPr>
        <p:txBody>
          <a:bodyPr/>
          <a:p/>
        </p:txBody>
      </p:sp>
      <p:sp>
        <p:nvSpPr>
          <p:cNvPr id="6" name="Text 4"/>
          <p:cNvSpPr/>
          <p:nvPr/>
        </p:nvSpPr>
        <p:spPr>
          <a:xfrm>
            <a:off x="6684264" y="2167128"/>
            <a:ext cx="1097280" cy="566928"/>
          </a:xfrm>
          <a:prstGeom prst="rect">
            <a:avLst/>
          </a:prstGeom>
          <a:noFill/>
          <a:ln/>
        </p:spPr>
        <p:txBody>
          <a:bodyPr wrap="square" lIns="0" tIns="0" rIns="0" bIns="0" rtlCol="0" anchor="ctr"/>
          <a:lstStyle/>
          <a:p>
            <a:pPr indent="0" marL="0">
              <a:buNone/>
            </a:pPr>
            <a:r>
              <a:rPr lang="en-US" sz="3000" b="1" dirty="0">
                <a:solidFill>
                  <a:srgbClr val="FF4757"/>
                </a:solidFill>
                <a:latin typeface="Palatino Linotype" pitchFamily="34" charset="0"/>
                <a:ea typeface="Palatino Linotype" pitchFamily="34" charset="-122"/>
                <a:cs typeface="Palatino Linotype" pitchFamily="34" charset="-120"/>
              </a:rPr>
              <a:t>4,2</a:t>
            </a:r>
            <a:endParaRPr lang="en-US" sz="3000" dirty="0"/>
          </a:p>
        </p:txBody>
      </p:sp>
      <p:sp>
        <p:nvSpPr>
          <p:cNvPr id="7" name="Text 5"/>
          <p:cNvSpPr/>
          <p:nvPr/>
        </p:nvSpPr>
        <p:spPr>
          <a:xfrm>
            <a:off x="594360" y="3017520"/>
            <a:ext cx="68580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Apă din amonte · Lambeth</a:t>
            </a:r>
            <a:endParaRPr lang="en-US" sz="1500" dirty="0"/>
          </a:p>
        </p:txBody>
      </p:sp>
      <p:sp>
        <p:nvSpPr>
          <p:cNvPr id="8" name="Shape 6"/>
          <p:cNvSpPr/>
          <p:nvPr/>
        </p:nvSpPr>
        <p:spPr>
          <a:xfrm>
            <a:off x="594360" y="3401568"/>
            <a:ext cx="708660" cy="566928"/>
          </a:xfrm>
          <a:prstGeom prst="rect">
            <a:avLst/>
          </a:prstGeom>
          <a:solidFill>
            <a:srgbClr val="0E7C6B"/>
          </a:solidFill>
          <a:ln w="12700">
            <a:solidFill>
              <a:srgbClr val="0E7C6B"/>
            </a:solidFill>
            <a:prstDash val="solid"/>
          </a:ln>
        </p:spPr>
        <p:txBody>
          <a:bodyPr/>
          <a:p/>
        </p:txBody>
      </p:sp>
      <p:sp>
        <p:nvSpPr>
          <p:cNvPr id="9" name="Text 7"/>
          <p:cNvSpPr/>
          <p:nvPr/>
        </p:nvSpPr>
        <p:spPr>
          <a:xfrm>
            <a:off x="1440180" y="3401568"/>
            <a:ext cx="1097280" cy="566928"/>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0,5</a:t>
            </a:r>
            <a:endParaRPr lang="en-US" sz="3000" dirty="0"/>
          </a:p>
        </p:txBody>
      </p:sp>
      <p:sp>
        <p:nvSpPr>
          <p:cNvPr id="10" name="Text 8"/>
          <p:cNvSpPr/>
          <p:nvPr/>
        </p:nvSpPr>
        <p:spPr>
          <a:xfrm>
            <a:off x="594360" y="4251960"/>
            <a:ext cx="694944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decese prin holeră la 1 000 de persoane, vara anului 1854</a:t>
            </a:r>
            <a:endParaRPr lang="en-US" sz="1400" dirty="0"/>
          </a:p>
        </p:txBody>
      </p:sp>
      <p:sp>
        <p:nvSpPr>
          <p:cNvPr id="11" name="Shape 9"/>
          <p:cNvSpPr/>
          <p:nvPr/>
        </p:nvSpPr>
        <p:spPr>
          <a:xfrm>
            <a:off x="8001000" y="1691640"/>
            <a:ext cx="3566160" cy="3017520"/>
          </a:xfrm>
          <a:prstGeom prst="roundRect">
            <a:avLst>
              <a:gd name="adj" fmla="val 2727"/>
            </a:avLst>
          </a:prstGeom>
          <a:solidFill>
            <a:srgbClr val="ECEAE4"/>
          </a:solidFill>
          <a:ln w="12700">
            <a:solidFill>
              <a:srgbClr val="ECEAE4"/>
            </a:solidFill>
            <a:prstDash val="solid"/>
          </a:ln>
        </p:spPr>
        <p:txBody>
          <a:bodyPr/>
          <a:p/>
        </p:txBody>
      </p:sp>
      <p:sp>
        <p:nvSpPr>
          <p:cNvPr id="12" name="Text 10"/>
          <p:cNvSpPr/>
          <p:nvPr/>
        </p:nvSpPr>
        <p:spPr>
          <a:xfrm>
            <a:off x="8229600" y="1828800"/>
            <a:ext cx="3154680" cy="41148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Fără microscop</a:t>
            </a:r>
            <a:endParaRPr lang="en-US" sz="1800" dirty="0"/>
          </a:p>
        </p:txBody>
      </p:sp>
      <p:sp>
        <p:nvSpPr>
          <p:cNvPr id="13" name="Text 11"/>
          <p:cNvSpPr/>
          <p:nvPr/>
        </p:nvSpPr>
        <p:spPr>
          <a:xfrm>
            <a:off x="8229600" y="2286000"/>
            <a:ext cx="3154680" cy="22860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Nimeni nu știa ce microb provoacă holera. Snow a numărat bolnavii și a comparat grupuri de oameni asemănători.</a:t>
            </a:r>
            <a:endParaRPr lang="en-US" sz="1600" dirty="0"/>
          </a:p>
        </p:txBody>
      </p:sp>
      <p:sp>
        <p:nvSpPr>
          <p:cNvPr id="14" name="Text 12"/>
          <p:cNvSpPr/>
          <p:nvPr/>
        </p:nvSpPr>
        <p:spPr>
          <a:xfrm>
            <a:off x="594360" y="4937760"/>
            <a:ext cx="10972800" cy="73152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Casele și oamenii erau asemănători; diferența principală era compania care le aducea apa.</a:t>
            </a:r>
            <a:endParaRPr lang="en-US" sz="1800" dirty="0"/>
          </a:p>
        </p:txBody>
      </p:sp>
      <p:sp>
        <p:nvSpPr>
          <p:cNvPr id="15" name="Text 13"/>
          <p:cNvSpPr/>
          <p:nvPr/>
        </p:nvSpPr>
        <p:spPr>
          <a:xfrm>
            <a:off x="594360" y="5577840"/>
            <a:ext cx="10972800" cy="5943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În număr de morți, raportul a fost de circa 5 la 1 (419 față de 80), dar populațiile erau diferite; de aceea comparăm riscul la 1 000 de persoane.</a:t>
            </a:r>
            <a:endParaRPr lang="en-US" sz="1400" dirty="0"/>
          </a:p>
        </p:txBody>
      </p:sp>
      <p:sp>
        <p:nvSpPr>
          <p:cNvPr id="16" name="Text 14"/>
          <p:cNvSpPr/>
          <p:nvPr/>
        </p:nvSpPr>
        <p:spPr>
          <a:xfrm>
            <a:off x="594360" y="6355080"/>
            <a:ext cx="105156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calculul din notele cursului, pe datele lui John Snow (cartierele alimentate de ambele companii).</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800" b="1" dirty="0">
                <a:solidFill>
                  <a:srgbClr val="11121A"/>
                </a:solidFill>
                <a:latin typeface="Palatino Linotype" pitchFamily="34" charset="0"/>
                <a:ea typeface="Palatino Linotype" pitchFamily="34" charset="-122"/>
                <a:cs typeface="Palatino Linotype" pitchFamily="34" charset="-120"/>
              </a:rPr>
              <a:t>Epidemiologia</a:t>
            </a:r>
            <a:endParaRPr lang="en-US" sz="3800" dirty="0"/>
          </a:p>
        </p:txBody>
      </p:sp>
      <p:sp>
        <p:nvSpPr>
          <p:cNvPr id="4" name="Text 2"/>
          <p:cNvSpPr/>
          <p:nvPr/>
        </p:nvSpPr>
        <p:spPr>
          <a:xfrm>
            <a:off x="594360" y="1600200"/>
            <a:ext cx="10972800" cy="8229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Cum se repartizează bolile într-o populație (cine se îmbolnăvește, unde și când) și de ce, ca să se poată lua măsuri.</a:t>
            </a:r>
            <a:endParaRPr lang="en-US" sz="1900" dirty="0"/>
          </a:p>
        </p:txBody>
      </p:sp>
      <p:sp>
        <p:nvSpPr>
          <p:cNvPr id="5" name="Shape 3"/>
          <p:cNvSpPr/>
          <p:nvPr/>
        </p:nvSpPr>
        <p:spPr>
          <a:xfrm>
            <a:off x="594360" y="2560320"/>
            <a:ext cx="10972800" cy="1143000"/>
          </a:xfrm>
          <a:prstGeom prst="roundRect">
            <a:avLst>
              <a:gd name="adj" fmla="val 7200"/>
            </a:avLst>
          </a:prstGeom>
          <a:solidFill>
            <a:srgbClr val="FFC24B"/>
          </a:solidFill>
          <a:ln w="12700">
            <a:solidFill>
              <a:srgbClr val="FFC24B"/>
            </a:solidFill>
            <a:prstDash val="solid"/>
          </a:ln>
        </p:spPr>
        <p:txBody>
          <a:bodyPr/>
          <a:p/>
        </p:txBody>
      </p:sp>
      <p:sp>
        <p:nvSpPr>
          <p:cNvPr id="6" name="Text 4"/>
          <p:cNvSpPr/>
          <p:nvPr/>
        </p:nvSpPr>
        <p:spPr>
          <a:xfrm>
            <a:off x="868680" y="2560320"/>
            <a:ext cx="10424160" cy="1143000"/>
          </a:xfrm>
          <a:prstGeom prst="rect">
            <a:avLst/>
          </a:prstGeom>
          <a:noFill/>
          <a:ln/>
        </p:spPr>
        <p:txBody>
          <a:bodyPr wrap="square" lIns="0" tIns="0" rIns="0" bIns="0" rtlCol="0" anchor="ctr"/>
          <a:lstStyle/>
          <a:p>
            <a:pPr indent="0" marL="0">
              <a:buNone/>
            </a:pPr>
            <a:r>
              <a:rPr lang="en-US" sz="2200" b="1" i="1" dirty="0">
                <a:solidFill>
                  <a:srgbClr val="3D2A00"/>
                </a:solidFill>
                <a:latin typeface="Palatino Linotype" pitchFamily="34" charset="0"/>
                <a:ea typeface="Palatino Linotype" pitchFamily="34" charset="-122"/>
                <a:cs typeface="Palatino Linotype" pitchFamily="34" charset="-120"/>
              </a:rPr>
              <a:t>„Numărăm bolnavii și ne uităm unde stau, ca să aflăm de unde vine boala și cum o oprim.”</a:t>
            </a:r>
            <a:endParaRPr lang="en-US" sz="2200" dirty="0"/>
          </a:p>
        </p:txBody>
      </p:sp>
      <p:sp>
        <p:nvSpPr>
          <p:cNvPr id="7" name="Shape 5"/>
          <p:cNvSpPr/>
          <p:nvPr/>
        </p:nvSpPr>
        <p:spPr>
          <a:xfrm>
            <a:off x="594360" y="3977640"/>
            <a:ext cx="2606040" cy="777240"/>
          </a:xfrm>
          <a:prstGeom prst="roundRect">
            <a:avLst>
              <a:gd name="adj" fmla="val 10588"/>
            </a:avLst>
          </a:prstGeom>
          <a:solidFill>
            <a:srgbClr val="ECEAE4"/>
          </a:solidFill>
          <a:ln w="12700">
            <a:solidFill>
              <a:srgbClr val="ECEAE4"/>
            </a:solidFill>
            <a:prstDash val="solid"/>
          </a:ln>
        </p:spPr>
        <p:txBody>
          <a:bodyPr/>
          <a:p/>
        </p:txBody>
      </p:sp>
      <p:sp>
        <p:nvSpPr>
          <p:cNvPr id="8" name="Text 6"/>
          <p:cNvSpPr/>
          <p:nvPr/>
        </p:nvSpPr>
        <p:spPr>
          <a:xfrm>
            <a:off x="731520" y="3977640"/>
            <a:ext cx="2331720" cy="777240"/>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Cazurile: timp, loc, persoană</a:t>
            </a:r>
            <a:endParaRPr lang="en-US" sz="1500" dirty="0"/>
          </a:p>
        </p:txBody>
      </p:sp>
      <p:sp>
        <p:nvSpPr>
          <p:cNvPr id="9" name="Text 7"/>
          <p:cNvSpPr/>
          <p:nvPr/>
        </p:nvSpPr>
        <p:spPr>
          <a:xfrm>
            <a:off x="3200400" y="3977640"/>
            <a:ext cx="210312" cy="77724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0" name="Shape 8"/>
          <p:cNvSpPr/>
          <p:nvPr/>
        </p:nvSpPr>
        <p:spPr>
          <a:xfrm>
            <a:off x="3410712" y="3977640"/>
            <a:ext cx="2606040" cy="777240"/>
          </a:xfrm>
          <a:prstGeom prst="roundRect">
            <a:avLst>
              <a:gd name="adj" fmla="val 10588"/>
            </a:avLst>
          </a:prstGeom>
          <a:solidFill>
            <a:srgbClr val="F9F8F5"/>
          </a:solidFill>
          <a:ln w="12700">
            <a:solidFill>
              <a:srgbClr val="F9F8F5"/>
            </a:solidFill>
            <a:prstDash val="solid"/>
          </a:ln>
        </p:spPr>
        <p:txBody>
          <a:bodyPr/>
          <a:p/>
        </p:txBody>
      </p:sp>
      <p:sp>
        <p:nvSpPr>
          <p:cNvPr id="11" name="Text 9"/>
          <p:cNvSpPr/>
          <p:nvPr/>
        </p:nvSpPr>
        <p:spPr>
          <a:xfrm>
            <a:off x="3547872" y="3977640"/>
            <a:ext cx="2331720" cy="777240"/>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O ipoteză</a:t>
            </a:r>
            <a:endParaRPr lang="en-US" sz="1500" dirty="0"/>
          </a:p>
        </p:txBody>
      </p:sp>
      <p:sp>
        <p:nvSpPr>
          <p:cNvPr id="12" name="Text 10"/>
          <p:cNvSpPr/>
          <p:nvPr/>
        </p:nvSpPr>
        <p:spPr>
          <a:xfrm>
            <a:off x="6016752" y="3977640"/>
            <a:ext cx="210312" cy="77724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3" name="Shape 11"/>
          <p:cNvSpPr/>
          <p:nvPr/>
        </p:nvSpPr>
        <p:spPr>
          <a:xfrm>
            <a:off x="6227064" y="3977640"/>
            <a:ext cx="2606040" cy="777240"/>
          </a:xfrm>
          <a:prstGeom prst="roundRect">
            <a:avLst>
              <a:gd name="adj" fmla="val 10588"/>
            </a:avLst>
          </a:prstGeom>
          <a:solidFill>
            <a:srgbClr val="ECEAE4"/>
          </a:solidFill>
          <a:ln w="12700">
            <a:solidFill>
              <a:srgbClr val="ECEAE4"/>
            </a:solidFill>
            <a:prstDash val="solid"/>
          </a:ln>
        </p:spPr>
        <p:txBody>
          <a:bodyPr/>
          <a:p/>
        </p:txBody>
      </p:sp>
      <p:sp>
        <p:nvSpPr>
          <p:cNvPr id="14" name="Text 12"/>
          <p:cNvSpPr/>
          <p:nvPr/>
        </p:nvSpPr>
        <p:spPr>
          <a:xfrm>
            <a:off x="6364224" y="3977640"/>
            <a:ext cx="2331720" cy="777240"/>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Testarea ei</a:t>
            </a:r>
            <a:endParaRPr lang="en-US" sz="1500" dirty="0"/>
          </a:p>
        </p:txBody>
      </p:sp>
      <p:sp>
        <p:nvSpPr>
          <p:cNvPr id="15" name="Text 13"/>
          <p:cNvSpPr/>
          <p:nvPr/>
        </p:nvSpPr>
        <p:spPr>
          <a:xfrm>
            <a:off x="8833104" y="3977640"/>
            <a:ext cx="210312" cy="77724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6" name="Shape 14"/>
          <p:cNvSpPr/>
          <p:nvPr/>
        </p:nvSpPr>
        <p:spPr>
          <a:xfrm>
            <a:off x="9043416" y="3977640"/>
            <a:ext cx="2606040" cy="777240"/>
          </a:xfrm>
          <a:prstGeom prst="roundRect">
            <a:avLst>
              <a:gd name="adj" fmla="val 10588"/>
            </a:avLst>
          </a:prstGeom>
          <a:solidFill>
            <a:srgbClr val="F9F8F5"/>
          </a:solidFill>
          <a:ln w="12700">
            <a:solidFill>
              <a:srgbClr val="F9F8F5"/>
            </a:solidFill>
            <a:prstDash val="solid"/>
          </a:ln>
        </p:spPr>
        <p:txBody>
          <a:bodyPr/>
          <a:p/>
        </p:txBody>
      </p:sp>
      <p:sp>
        <p:nvSpPr>
          <p:cNvPr id="17" name="Text 15"/>
          <p:cNvSpPr/>
          <p:nvPr/>
        </p:nvSpPr>
        <p:spPr>
          <a:xfrm>
            <a:off x="9180576" y="3977640"/>
            <a:ext cx="2331720" cy="777240"/>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Aplicarea rezultatului</a:t>
            </a:r>
            <a:endParaRPr lang="en-US" sz="1500" dirty="0"/>
          </a:p>
        </p:txBody>
      </p:sp>
      <p:sp>
        <p:nvSpPr>
          <p:cNvPr id="18" name="Text 16"/>
          <p:cNvSpPr/>
          <p:nvPr/>
        </p:nvSpPr>
        <p:spPr>
          <a:xfrm>
            <a:off x="594360" y="498348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În orașul inundat: adresele copiilor bolnavi, puse pe hartă și comparate cu rețeaua de apă.</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9B7EF7"/>
          </a:solidFill>
          <a:ln w="12700">
            <a:solidFill>
              <a:srgbClr val="9B7EF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DOI VOLUNTARI · CEL MULT TREI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Ați fi scos maneta pompei?</a:t>
            </a:r>
            <a:endParaRPr lang="en-US" sz="3600" dirty="0"/>
          </a:p>
        </p:txBody>
      </p:sp>
      <p:sp>
        <p:nvSpPr>
          <p:cNvPr id="6" name="Shape 4"/>
          <p:cNvSpPr/>
          <p:nvPr/>
        </p:nvSpPr>
        <p:spPr>
          <a:xfrm>
            <a:off x="594360" y="1783080"/>
            <a:ext cx="5394960" cy="2651760"/>
          </a:xfrm>
          <a:prstGeom prst="roundRect">
            <a:avLst>
              <a:gd name="adj" fmla="val 3103"/>
            </a:avLst>
          </a:prstGeom>
          <a:solidFill>
            <a:srgbClr val="1D1F2B"/>
          </a:solidFill>
          <a:ln w="12700">
            <a:solidFill>
              <a:srgbClr val="1D1F2B"/>
            </a:solidFill>
            <a:prstDash val="solid"/>
          </a:ln>
        </p:spPr>
        <p:txBody>
          <a:bodyPr/>
          <a:p/>
        </p:txBody>
      </p:sp>
      <p:sp>
        <p:nvSpPr>
          <p:cNvPr id="7" name="Shape 5"/>
          <p:cNvSpPr/>
          <p:nvPr/>
        </p:nvSpPr>
        <p:spPr>
          <a:xfrm>
            <a:off x="6172200" y="1783080"/>
            <a:ext cx="5394960" cy="2651760"/>
          </a:xfrm>
          <a:prstGeom prst="roundRect">
            <a:avLst>
              <a:gd name="adj" fmla="val 3103"/>
            </a:avLst>
          </a:prstGeom>
          <a:solidFill>
            <a:srgbClr val="1D1F2B"/>
          </a:solidFill>
          <a:ln w="12700">
            <a:solidFill>
              <a:srgbClr val="1D1F2B"/>
            </a:solidFill>
            <a:prstDash val="solid"/>
          </a:ln>
        </p:spPr>
        <p:txBody>
          <a:bodyPr/>
          <a:p/>
        </p:txBody>
      </p:sp>
      <p:sp>
        <p:nvSpPr>
          <p:cNvPr id="8" name="Text 6"/>
          <p:cNvSpPr/>
          <p:nvPr/>
        </p:nvSpPr>
        <p:spPr>
          <a:xfrm>
            <a:off x="868680" y="1965960"/>
            <a:ext cx="4846320" cy="365760"/>
          </a:xfrm>
          <a:prstGeom prst="rect">
            <a:avLst/>
          </a:prstGeom>
          <a:noFill/>
          <a:ln/>
        </p:spPr>
        <p:txBody>
          <a:bodyPr wrap="square" lIns="0" tIns="0" rIns="0" bIns="0" rtlCol="0" anchor="t"/>
          <a:lstStyle/>
          <a:p>
            <a:pPr indent="0" marL="0">
              <a:buNone/>
            </a:pPr>
            <a:r>
              <a:rPr lang="en-US" sz="1500" b="1" spc="200" kern="0" dirty="0">
                <a:solidFill>
                  <a:srgbClr val="27D3BE"/>
                </a:solidFill>
                <a:latin typeface="Palatino Linotype" pitchFamily="34" charset="0"/>
                <a:ea typeface="Palatino Linotype" pitchFamily="34" charset="-122"/>
                <a:cs typeface="Palatino Linotype" pitchFamily="34" charset="-120"/>
              </a:rPr>
              <a:t>JOHN SNOW</a:t>
            </a:r>
            <a:endParaRPr lang="en-US" sz="1500" dirty="0"/>
          </a:p>
        </p:txBody>
      </p:sp>
      <p:sp>
        <p:nvSpPr>
          <p:cNvPr id="9" name="Text 7"/>
          <p:cNvSpPr/>
          <p:nvPr/>
        </p:nvSpPr>
        <p:spPr>
          <a:xfrm>
            <a:off x="868680" y="2423160"/>
            <a:ext cx="4846320" cy="182880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Are harta în mână și un minut ca să-și convingă interlocutorul.</a:t>
            </a:r>
            <a:endParaRPr lang="en-US" sz="2100" dirty="0"/>
          </a:p>
        </p:txBody>
      </p:sp>
      <p:sp>
        <p:nvSpPr>
          <p:cNvPr id="10" name="Text 8"/>
          <p:cNvSpPr/>
          <p:nvPr/>
        </p:nvSpPr>
        <p:spPr>
          <a:xfrm>
            <a:off x="6446520" y="1965960"/>
            <a:ext cx="4937760" cy="365760"/>
          </a:xfrm>
          <a:prstGeom prst="rect">
            <a:avLst/>
          </a:prstGeom>
          <a:noFill/>
          <a:ln/>
        </p:spPr>
        <p:txBody>
          <a:bodyPr wrap="square" lIns="0" tIns="0" rIns="0" bIns="0" rtlCol="0" anchor="t"/>
          <a:lstStyle/>
          <a:p>
            <a:pPr indent="0" marL="0">
              <a:buNone/>
            </a:pPr>
            <a:r>
              <a:rPr lang="en-US" sz="1500" b="1" spc="200" kern="0" dirty="0">
                <a:solidFill>
                  <a:srgbClr val="FF4757"/>
                </a:solidFill>
                <a:latin typeface="Palatino Linotype" pitchFamily="34" charset="0"/>
                <a:ea typeface="Palatino Linotype" pitchFamily="34" charset="-122"/>
                <a:cs typeface="Palatino Linotype" pitchFamily="34" charset="-120"/>
              </a:rPr>
              <a:t>MEMBRUL CONSILIULUI CARTIERULUI</a:t>
            </a:r>
            <a:endParaRPr lang="en-US" sz="1500" dirty="0"/>
          </a:p>
        </p:txBody>
      </p:sp>
      <p:sp>
        <p:nvSpPr>
          <p:cNvPr id="11" name="Text 9"/>
          <p:cNvSpPr/>
          <p:nvPr/>
        </p:nvSpPr>
        <p:spPr>
          <a:xfrm>
            <a:off x="6446520" y="2423160"/>
            <a:ext cx="4846320" cy="18288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Crede că holera vine din aerul stricat. Se teme că oamenii rămân fără apă. Poate răspunde și poate pune întrebări.</a:t>
            </a:r>
            <a:endParaRPr lang="en-US" sz="1900" dirty="0"/>
          </a:p>
        </p:txBody>
      </p:sp>
      <p:sp>
        <p:nvSpPr>
          <p:cNvPr id="12" name="Text 10"/>
          <p:cNvSpPr/>
          <p:nvPr/>
        </p:nvSpPr>
        <p:spPr>
          <a:xfrm>
            <a:off x="594360" y="475488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După scenă, toată sala votează pe telefon.</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SCENĂ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 argument bun nu este suficient</a:t>
            </a:r>
            <a:endParaRPr lang="en-US" sz="3400" dirty="0"/>
          </a:p>
        </p:txBody>
      </p:sp>
      <p:sp>
        <p:nvSpPr>
          <p:cNvPr id="4" name="Shape 2"/>
          <p:cNvSpPr/>
          <p:nvPr/>
        </p:nvSpPr>
        <p:spPr>
          <a:xfrm>
            <a:off x="594360" y="1691640"/>
            <a:ext cx="5394960" cy="1188720"/>
          </a:xfrm>
          <a:prstGeom prst="roundRect">
            <a:avLst>
              <a:gd name="adj" fmla="val 6923"/>
            </a:avLst>
          </a:prstGeom>
          <a:solidFill>
            <a:srgbClr val="ECEAE4"/>
          </a:solidFill>
          <a:ln w="12700">
            <a:solidFill>
              <a:srgbClr val="ECEAE4"/>
            </a:solidFill>
            <a:prstDash val="solid"/>
          </a:ln>
        </p:spPr>
        <p:txBody>
          <a:bodyPr/>
          <a:p/>
        </p:txBody>
      </p:sp>
      <p:sp>
        <p:nvSpPr>
          <p:cNvPr id="5" name="Text 3"/>
          <p:cNvSpPr/>
          <p:nvPr/>
        </p:nvSpPr>
        <p:spPr>
          <a:xfrm>
            <a:off x="868680" y="1691640"/>
            <a:ext cx="4892040" cy="1188720"/>
          </a:xfrm>
          <a:prstGeom prst="rect">
            <a:avLst/>
          </a:prstGeom>
          <a:noFill/>
          <a:ln/>
        </p:spPr>
        <p:txBody>
          <a:bodyPr wrap="square" lIns="0" tIns="0" rIns="0" bIns="0" rtlCol="0" anchor="ctr"/>
          <a:lstStyle/>
          <a:p>
            <a:pPr indent="0" marL="0">
              <a:buNone/>
            </a:pPr>
            <a:r>
              <a:rPr lang="en-US" sz="2200" b="1" i="1" dirty="0">
                <a:solidFill>
                  <a:srgbClr val="B02532"/>
                </a:solidFill>
                <a:latin typeface="Palatino Linotype" pitchFamily="34" charset="0"/>
                <a:ea typeface="Palatino Linotype" pitchFamily="34" charset="-122"/>
                <a:cs typeface="Palatino Linotype" pitchFamily="34" charset="-120"/>
              </a:rPr>
              <a:t>Unde își vor lua apa oamenii?</a:t>
            </a:r>
            <a:endParaRPr lang="en-US" sz="2200" dirty="0"/>
          </a:p>
        </p:txBody>
      </p:sp>
      <p:sp>
        <p:nvSpPr>
          <p:cNvPr id="6" name="Shape 4"/>
          <p:cNvSpPr/>
          <p:nvPr/>
        </p:nvSpPr>
        <p:spPr>
          <a:xfrm>
            <a:off x="6172200" y="1691640"/>
            <a:ext cx="5394960" cy="1188720"/>
          </a:xfrm>
          <a:prstGeom prst="roundRect">
            <a:avLst>
              <a:gd name="adj" fmla="val 6923"/>
            </a:avLst>
          </a:prstGeom>
          <a:solidFill>
            <a:srgbClr val="ECEAE4"/>
          </a:solidFill>
          <a:ln w="12700">
            <a:solidFill>
              <a:srgbClr val="ECEAE4"/>
            </a:solidFill>
            <a:prstDash val="solid"/>
          </a:ln>
        </p:spPr>
        <p:txBody>
          <a:bodyPr/>
          <a:p/>
        </p:txBody>
      </p:sp>
      <p:sp>
        <p:nvSpPr>
          <p:cNvPr id="7" name="Text 5"/>
          <p:cNvSpPr/>
          <p:nvPr/>
        </p:nvSpPr>
        <p:spPr>
          <a:xfrm>
            <a:off x="6446520" y="1691640"/>
            <a:ext cx="4892040" cy="1188720"/>
          </a:xfrm>
          <a:prstGeom prst="rect">
            <a:avLst/>
          </a:prstGeom>
          <a:noFill/>
          <a:ln/>
        </p:spPr>
        <p:txBody>
          <a:bodyPr wrap="square" lIns="0" tIns="0" rIns="0" bIns="0" rtlCol="0" anchor="ctr"/>
          <a:lstStyle/>
          <a:p>
            <a:pPr indent="0" marL="0">
              <a:buNone/>
            </a:pPr>
            <a:r>
              <a:rPr lang="en-US" sz="2200" b="1" i="1" dirty="0">
                <a:solidFill>
                  <a:srgbClr val="B02532"/>
                </a:solidFill>
                <a:latin typeface="Palatino Linotype" pitchFamily="34" charset="0"/>
                <a:ea typeface="Palatino Linotype" pitchFamily="34" charset="-122"/>
                <a:cs typeface="Palatino Linotype" pitchFamily="34" charset="-120"/>
              </a:rPr>
              <a:t>Ce se întâmplă dacă Snow greșește?</a:t>
            </a:r>
            <a:endParaRPr lang="en-US" sz="2200" dirty="0"/>
          </a:p>
        </p:txBody>
      </p:sp>
      <p:sp>
        <p:nvSpPr>
          <p:cNvPr id="8" name="Text 6"/>
          <p:cNvSpPr/>
          <p:nvPr/>
        </p:nvSpPr>
        <p:spPr>
          <a:xfrm>
            <a:off x="594360" y="3154680"/>
            <a:ext cx="10972800" cy="9144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Întrebările consiliului sunt legitime. Snow are harta și cifrele, dar nu are o explicație care să poată fi verificată la microscop.</a:t>
            </a:r>
            <a:endParaRPr lang="en-US" sz="1900" dirty="0"/>
          </a:p>
        </p:txBody>
      </p:sp>
      <p:sp>
        <p:nvSpPr>
          <p:cNvPr id="9" name="Shape 7"/>
          <p:cNvSpPr/>
          <p:nvPr/>
        </p:nvSpPr>
        <p:spPr>
          <a:xfrm>
            <a:off x="594360" y="4297680"/>
            <a:ext cx="54864" cy="1188720"/>
          </a:xfrm>
          <a:prstGeom prst="rect">
            <a:avLst/>
          </a:prstGeom>
          <a:solidFill>
            <a:srgbClr val="0E7C6B"/>
          </a:solidFill>
          <a:ln w="12700">
            <a:solidFill>
              <a:srgbClr val="0E7C6B"/>
            </a:solidFill>
            <a:prstDash val="solid"/>
          </a:ln>
        </p:spPr>
        <p:txBody>
          <a:bodyPr/>
          <a:p/>
        </p:txBody>
      </p:sp>
      <p:sp>
        <p:nvSpPr>
          <p:cNvPr id="10" name="Text 8"/>
          <p:cNvSpPr/>
          <p:nvPr/>
        </p:nvSpPr>
        <p:spPr>
          <a:xfrm>
            <a:off x="868680" y="4297680"/>
            <a:ext cx="10607040" cy="1188720"/>
          </a:xfrm>
          <a:prstGeom prst="rect">
            <a:avLst/>
          </a:prstGeom>
          <a:noFill/>
          <a:ln/>
        </p:spPr>
        <p:txBody>
          <a:bodyPr wrap="square" lIns="0" tIns="0" rIns="0" bIns="0" rtlCol="0" anchor="ctr"/>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Scoaterea manetei a fost o decizie luată sub incertitudine, ca și carantina de la Ragusa.</a:t>
            </a:r>
            <a:endParaRPr lang="en-US" sz="2300" dirty="0"/>
          </a:p>
        </p:txBody>
      </p:sp>
      <p:sp>
        <p:nvSpPr>
          <p:cNvPr id="11" name="Text 9"/>
          <p:cNvSpPr/>
          <p:nvPr/>
        </p:nvSpPr>
        <p:spPr>
          <a:xfrm>
            <a:off x="868680" y="5577840"/>
            <a:ext cx="10607040" cy="45720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Nici azi nu știm sigur câte vieți a salvat maneta, pentru că epidemia scădea deja.</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FLORENCE NIGHTINGALE · RĂZBOIUL CRIMEII</a:t>
            </a:r>
            <a:endParaRPr lang="en-US" sz="1300" dirty="0"/>
          </a:p>
        </p:txBody>
      </p:sp>
      <p:sp>
        <p:nvSpPr>
          <p:cNvPr id="3" name="Text 1"/>
          <p:cNvSpPr/>
          <p:nvPr/>
        </p:nvSpPr>
        <p:spPr>
          <a:xfrm>
            <a:off x="594360" y="731520"/>
            <a:ext cx="73152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grafic care schimbă o armată</a:t>
            </a:r>
            <a:endParaRPr lang="en-US" sz="3000" dirty="0"/>
          </a:p>
        </p:txBody>
      </p:sp>
      <p:pic>
        <p:nvPicPr>
          <p:cNvPr id="4" name="Image 0" descr="/Users/adrianpana/Downloads/UMF_Cluj_SP/Materiale SP/Atelier_didactic/discipline/UB_ISP/active/img/C01_nightingale_trandafir.jpg">    </p:cNvPr>
          <p:cNvPicPr>
            <a:picLocks noChangeAspect="1"/>
          </p:cNvPicPr>
          <p:nvPr/>
        </p:nvPicPr>
        <p:blipFill>
          <a:blip r:embed="rId1"/>
          <a:stretch>
            <a:fillRect/>
          </a:stretch>
        </p:blipFill>
        <p:spPr>
          <a:xfrm>
            <a:off x="594360" y="1608605"/>
            <a:ext cx="7498080" cy="4097989"/>
          </a:xfrm>
          <a:prstGeom prst="rect">
            <a:avLst/>
          </a:prstGeom>
        </p:spPr>
      </p:pic>
      <p:sp>
        <p:nvSpPr>
          <p:cNvPr id="5" name="Text 2"/>
          <p:cNvSpPr/>
          <p:nvPr/>
        </p:nvSpPr>
        <p:spPr>
          <a:xfrm>
            <a:off x="594360" y="5761459"/>
            <a:ext cx="749808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Diagrama „trandafir” a lui Florence Nightingale · domeniu public · Wikimedia Commons</a:t>
            </a:r>
            <a:endParaRPr lang="en-US" sz="850" dirty="0"/>
          </a:p>
        </p:txBody>
      </p:sp>
      <p:sp>
        <p:nvSpPr>
          <p:cNvPr id="6" name="Text 3"/>
          <p:cNvSpPr/>
          <p:nvPr/>
        </p:nvSpPr>
        <p:spPr>
          <a:xfrm>
            <a:off x="8412480" y="914400"/>
            <a:ext cx="329184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din 100 de soldați internați mureau, după datele ei</a:t>
            </a:r>
            <a:endParaRPr lang="en-US" sz="1500" dirty="0"/>
          </a:p>
        </p:txBody>
      </p:sp>
      <p:sp>
        <p:nvSpPr>
          <p:cNvPr id="7" name="Text 4"/>
          <p:cNvSpPr/>
          <p:nvPr/>
        </p:nvSpPr>
        <p:spPr>
          <a:xfrm>
            <a:off x="8366760" y="1463040"/>
            <a:ext cx="3383280" cy="1005840"/>
          </a:xfrm>
          <a:prstGeom prst="rect">
            <a:avLst/>
          </a:prstGeom>
          <a:noFill/>
          <a:ln/>
        </p:spPr>
        <p:txBody>
          <a:bodyPr wrap="square" lIns="0" tIns="0" rIns="0" bIns="0" rtlCol="0" anchor="ctr"/>
          <a:lstStyle/>
          <a:p>
            <a:pPr indent="0" marL="0">
              <a:buNone/>
            </a:pPr>
            <a:r>
              <a:rPr lang="en-US" sz="6000" b="1" dirty="0">
                <a:solidFill>
                  <a:srgbClr val="B02532"/>
                </a:solidFill>
                <a:latin typeface="Palatino Linotype" pitchFamily="34" charset="0"/>
                <a:ea typeface="Palatino Linotype" pitchFamily="34" charset="-122"/>
                <a:cs typeface="Palatino Linotype" pitchFamily="34" charset="-120"/>
              </a:rPr>
              <a:t>32</a:t>
            </a:r>
            <a:pPr indent="0" marL="0">
              <a:buNone/>
            </a:pPr>
            <a:r>
              <a:rPr lang="en-US" sz="6000" b="1" dirty="0">
                <a:solidFill>
                  <a:srgbClr val="585A64"/>
                </a:solidFill>
                <a:latin typeface="Palatino Linotype" pitchFamily="34" charset="0"/>
                <a:ea typeface="Palatino Linotype" pitchFamily="34" charset="-122"/>
                <a:cs typeface="Palatino Linotype" pitchFamily="34" charset="-120"/>
              </a:rPr>
              <a:t> → </a:t>
            </a:r>
            <a:pPr indent="0" marL="0">
              <a:buNone/>
            </a:pPr>
            <a:r>
              <a:rPr lang="en-US" sz="6000" b="1" dirty="0">
                <a:solidFill>
                  <a:srgbClr val="0E7C6B"/>
                </a:solidFill>
                <a:latin typeface="Palatino Linotype" pitchFamily="34" charset="0"/>
                <a:ea typeface="Palatino Linotype" pitchFamily="34" charset="-122"/>
                <a:cs typeface="Palatino Linotype" pitchFamily="34" charset="-120"/>
              </a:rPr>
              <a:t>2</a:t>
            </a:r>
            <a:endParaRPr lang="en-US" sz="6000" dirty="0"/>
          </a:p>
        </p:txBody>
      </p:sp>
      <p:sp>
        <p:nvSpPr>
          <p:cNvPr id="8" name="Text 5"/>
          <p:cNvSpPr/>
          <p:nvPr/>
        </p:nvSpPr>
        <p:spPr>
          <a:xfrm>
            <a:off x="8412480" y="2468880"/>
            <a:ext cx="329184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la sosirea ei, apoi după șase luni (datele ei)</a:t>
            </a:r>
            <a:endParaRPr lang="en-US" sz="1400" dirty="0"/>
          </a:p>
        </p:txBody>
      </p:sp>
      <p:sp>
        <p:nvSpPr>
          <p:cNvPr id="9" name="Text 6"/>
          <p:cNvSpPr/>
          <p:nvPr/>
        </p:nvSpPr>
        <p:spPr>
          <a:xfrm>
            <a:off x="8412480" y="3063240"/>
            <a:ext cx="3291840" cy="17373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Diagramele făcute cu William Farr: morțile prin boli care puteau fi prevenite depășeau cu mult morțile prin răni.</a:t>
            </a:r>
            <a:endParaRPr lang="en-US" sz="1550" dirty="0"/>
          </a:p>
        </p:txBody>
      </p:sp>
      <p:sp>
        <p:nvSpPr>
          <p:cNvPr id="10" name="Text 7"/>
          <p:cNvSpPr/>
          <p:nvPr/>
        </p:nvSpPr>
        <p:spPr>
          <a:xfrm>
            <a:off x="8412480" y="4846320"/>
            <a:ext cx="3291840" cy="10058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O cifră corectă rămâne fără efect dacă nu convinge pe nimeni.</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jenner_vaccinare.jpg">    </p:cNvPr>
          <p:cNvPicPr>
            <a:picLocks noChangeAspect="1"/>
          </p:cNvPicPr>
          <p:nvPr/>
        </p:nvPicPr>
        <p:blipFill>
          <a:blip r:embed="rId1"/>
          <a:stretch>
            <a:fillRect/>
          </a:stretch>
        </p:blipFill>
        <p:spPr>
          <a:xfrm>
            <a:off x="411480" y="1120569"/>
            <a:ext cx="6035040" cy="4525422"/>
          </a:xfrm>
          <a:prstGeom prst="rect">
            <a:avLst/>
          </a:prstGeom>
        </p:spPr>
      </p:pic>
      <p:sp>
        <p:nvSpPr>
          <p:cNvPr id="3" name="Text 0"/>
          <p:cNvSpPr/>
          <p:nvPr/>
        </p:nvSpPr>
        <p:spPr>
          <a:xfrm>
            <a:off x="411480" y="5700855"/>
            <a:ext cx="603504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Edward Jenner vaccinând un băiat, pictură de E.-E. Hille · Wellcome Collection · CC BY 4.0</a:t>
            </a:r>
            <a:endParaRPr lang="en-US" sz="850" dirty="0"/>
          </a:p>
        </p:txBody>
      </p:sp>
      <p:sp>
        <p:nvSpPr>
          <p:cNvPr id="4" name="Text 1"/>
          <p:cNvSpPr/>
          <p:nvPr/>
        </p:nvSpPr>
        <p:spPr>
          <a:xfrm>
            <a:off x="6766560" y="502920"/>
            <a:ext cx="51206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VINOVATUL ARE UN NUME · ANGLIA, 1796</a:t>
            </a:r>
            <a:endParaRPr lang="en-US" sz="1300" dirty="0"/>
          </a:p>
        </p:txBody>
      </p:sp>
      <p:sp>
        <p:nvSpPr>
          <p:cNvPr id="5" name="Text 2"/>
          <p:cNvSpPr/>
          <p:nvPr/>
        </p:nvSpPr>
        <p:spPr>
          <a:xfrm>
            <a:off x="6766560" y="868680"/>
            <a:ext cx="5029200" cy="109728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Vaccinul de dinaintea microbilor</a:t>
            </a:r>
            <a:endParaRPr lang="en-US" sz="2800" dirty="0"/>
          </a:p>
        </p:txBody>
      </p:sp>
      <p:sp>
        <p:nvSpPr>
          <p:cNvPr id="6" name="Text 3"/>
          <p:cNvSpPr/>
          <p:nvPr/>
        </p:nvSpPr>
        <p:spPr>
          <a:xfrm>
            <a:off x="6766560" y="2011680"/>
            <a:ext cx="4937760" cy="219456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Edward Jenner ia material dintr-o pustulă de variolă a vacii, a unei mulgătoare, și îl introduce în pielea unui băiat. Expus apoi la variolă, băiatul nu se îmbolnăvește. Jenner nu știa ce este un virus.</a:t>
            </a:r>
            <a:endParaRPr lang="en-US" sz="1600" dirty="0"/>
          </a:p>
        </p:txBody>
      </p:sp>
      <p:sp>
        <p:nvSpPr>
          <p:cNvPr id="7" name="Text 4"/>
          <p:cNvSpPr/>
          <p:nvPr/>
        </p:nvSpPr>
        <p:spPr>
          <a:xfrm>
            <a:off x="6766560" y="4251960"/>
            <a:ext cx="4937760" cy="685800"/>
          </a:xfrm>
          <a:prstGeom prst="rect">
            <a:avLst/>
          </a:prstGeom>
          <a:noFill/>
          <a:ln/>
        </p:spPr>
        <p:txBody>
          <a:bodyPr wrap="square" lIns="0" tIns="0" rIns="0" bIns="0" rtlCol="0" anchor="t"/>
          <a:lstStyle/>
          <a:p>
            <a:pPr indent="0" marL="0">
              <a:buNone/>
            </a:pPr>
            <a:r>
              <a:rPr lang="en-US" sz="3600" b="1" dirty="0">
                <a:solidFill>
                  <a:srgbClr val="27D3BE"/>
                </a:solidFill>
                <a:latin typeface="Palatino Linotype" pitchFamily="34" charset="0"/>
                <a:ea typeface="Palatino Linotype" pitchFamily="34" charset="-122"/>
                <a:cs typeface="Palatino Linotype" pitchFamily="34" charset="-120"/>
              </a:rPr>
              <a:t>8 mai 1980</a:t>
            </a:r>
            <a:endParaRPr lang="en-US" sz="3600" dirty="0"/>
          </a:p>
        </p:txBody>
      </p:sp>
      <p:sp>
        <p:nvSpPr>
          <p:cNvPr id="8" name="Text 5"/>
          <p:cNvSpPr/>
          <p:nvPr/>
        </p:nvSpPr>
        <p:spPr>
          <a:xfrm>
            <a:off x="6766560" y="4983480"/>
            <a:ext cx="4937760" cy="86868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Lumea este declarată eliberată de variolă: singura boală infecțioasă umană eradicată.</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 DOUA JUMĂTATE A SECOLULUI AL XIX-LEA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Trei oameni schimbă felul în care înțelegem boala</a:t>
            </a:r>
            <a:endParaRPr lang="en-US" sz="2800" dirty="0"/>
          </a:p>
        </p:txBody>
      </p:sp>
      <p:pic>
        <p:nvPicPr>
          <p:cNvPr id="4" name="Image 0" descr="/Users/adrianpana/Downloads/UMF_Cluj_SP/Materiale SP/Atelier_didactic/discipline/UB_ISP/active/img/C01_pasteur.jpg">    </p:cNvPr>
          <p:cNvPicPr>
            <a:picLocks noChangeAspect="1"/>
          </p:cNvPicPr>
          <p:nvPr/>
        </p:nvPicPr>
        <p:blipFill>
          <a:blip r:embed="rId1"/>
          <a:stretch>
            <a:fillRect/>
          </a:stretch>
        </p:blipFill>
        <p:spPr>
          <a:xfrm>
            <a:off x="594360" y="1463040"/>
            <a:ext cx="2194560" cy="2743200"/>
          </a:xfrm>
          <a:prstGeom prst="rect">
            <a:avLst/>
          </a:prstGeom>
        </p:spPr>
      </p:pic>
      <p:sp>
        <p:nvSpPr>
          <p:cNvPr id="5" name="Text 2"/>
          <p:cNvSpPr/>
          <p:nvPr/>
        </p:nvSpPr>
        <p:spPr>
          <a:xfrm>
            <a:off x="2880360" y="3986784"/>
            <a:ext cx="128016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Foto: Paul Nadar · domeniu public</a:t>
            </a:r>
            <a:endParaRPr lang="en-US" sz="850" dirty="0"/>
          </a:p>
        </p:txBody>
      </p:sp>
      <p:sp>
        <p:nvSpPr>
          <p:cNvPr id="6" name="Text 3"/>
          <p:cNvSpPr/>
          <p:nvPr/>
        </p:nvSpPr>
        <p:spPr>
          <a:xfrm>
            <a:off x="594360" y="4315968"/>
            <a:ext cx="352044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Louis Pasteur</a:t>
            </a:r>
            <a:endParaRPr lang="en-US" sz="1900" dirty="0"/>
          </a:p>
        </p:txBody>
      </p:sp>
      <p:sp>
        <p:nvSpPr>
          <p:cNvPr id="7" name="Text 4"/>
          <p:cNvSpPr/>
          <p:nvPr/>
        </p:nvSpPr>
        <p:spPr>
          <a:xfrm>
            <a:off x="594360" y="4754880"/>
            <a:ext cx="3520440" cy="12801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1861: microbii nu apar de la sine. 1881: vaccinul împotriva antraxului, încercat public pe 50 de oi.</a:t>
            </a:r>
            <a:endParaRPr lang="en-US" sz="1550" dirty="0"/>
          </a:p>
        </p:txBody>
      </p:sp>
      <p:pic>
        <p:nvPicPr>
          <p:cNvPr id="8" name="Image 1" descr="/Users/adrianpana/Downloads/UMF_Cluj_SP/Materiale SP/Atelier_didactic/discipline/UB_ISP/active/img/C01_lister.jpg">    </p:cNvPr>
          <p:cNvPicPr>
            <a:picLocks noChangeAspect="1"/>
          </p:cNvPicPr>
          <p:nvPr/>
        </p:nvPicPr>
        <p:blipFill>
          <a:blip r:embed="rId2"/>
          <a:stretch>
            <a:fillRect/>
          </a:stretch>
        </p:blipFill>
        <p:spPr>
          <a:xfrm>
            <a:off x="4389120" y="1463040"/>
            <a:ext cx="2194560" cy="2743200"/>
          </a:xfrm>
          <a:prstGeom prst="rect">
            <a:avLst/>
          </a:prstGeom>
        </p:spPr>
      </p:pic>
      <p:sp>
        <p:nvSpPr>
          <p:cNvPr id="9" name="Text 5"/>
          <p:cNvSpPr/>
          <p:nvPr/>
        </p:nvSpPr>
        <p:spPr>
          <a:xfrm>
            <a:off x="6675120" y="3986784"/>
            <a:ext cx="128016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Sursa: Wellcome Collection · CC BY 4.0</a:t>
            </a:r>
            <a:endParaRPr lang="en-US" sz="850" dirty="0"/>
          </a:p>
        </p:txBody>
      </p:sp>
      <p:sp>
        <p:nvSpPr>
          <p:cNvPr id="10" name="Text 6"/>
          <p:cNvSpPr/>
          <p:nvPr/>
        </p:nvSpPr>
        <p:spPr>
          <a:xfrm>
            <a:off x="4389120" y="4315968"/>
            <a:ext cx="352044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Joseph Lister</a:t>
            </a:r>
            <a:endParaRPr lang="en-US" sz="1900" dirty="0"/>
          </a:p>
        </p:txBody>
      </p:sp>
      <p:sp>
        <p:nvSpPr>
          <p:cNvPr id="11" name="Text 7"/>
          <p:cNvSpPr/>
          <p:nvPr/>
        </p:nvSpPr>
        <p:spPr>
          <a:xfrm>
            <a:off x="4389120" y="4754880"/>
            <a:ext cx="3520440" cy="12801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1867, în The Lancet: soluții diluate de acid carbolic, care omoară microbii, pe răni și pe pielea pacientului înainte de incizie.</a:t>
            </a:r>
            <a:endParaRPr lang="en-US" sz="1550" dirty="0"/>
          </a:p>
        </p:txBody>
      </p:sp>
      <p:pic>
        <p:nvPicPr>
          <p:cNvPr id="12" name="Image 2" descr="/Users/adrianpana/Downloads/UMF_Cluj_SP/Materiale SP/Atelier_didactic/discipline/UB_ISP/active/img/C01_koch.jpg">    </p:cNvPr>
          <p:cNvPicPr>
            <a:picLocks noChangeAspect="1"/>
          </p:cNvPicPr>
          <p:nvPr/>
        </p:nvPicPr>
        <p:blipFill>
          <a:blip r:embed="rId3"/>
          <a:stretch>
            <a:fillRect/>
          </a:stretch>
        </p:blipFill>
        <p:spPr>
          <a:xfrm>
            <a:off x="8183880" y="1463040"/>
            <a:ext cx="2194560" cy="2743200"/>
          </a:xfrm>
          <a:prstGeom prst="rect">
            <a:avLst/>
          </a:prstGeom>
        </p:spPr>
      </p:pic>
      <p:sp>
        <p:nvSpPr>
          <p:cNvPr id="13" name="Text 8"/>
          <p:cNvSpPr/>
          <p:nvPr/>
        </p:nvSpPr>
        <p:spPr>
          <a:xfrm>
            <a:off x="10469880" y="3986784"/>
            <a:ext cx="128016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Domeniu public</a:t>
            </a:r>
            <a:endParaRPr lang="en-US" sz="850" dirty="0"/>
          </a:p>
        </p:txBody>
      </p:sp>
      <p:sp>
        <p:nvSpPr>
          <p:cNvPr id="14" name="Text 9"/>
          <p:cNvSpPr/>
          <p:nvPr/>
        </p:nvSpPr>
        <p:spPr>
          <a:xfrm>
            <a:off x="8183880" y="4315968"/>
            <a:ext cx="352044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Robert Koch</a:t>
            </a:r>
            <a:endParaRPr lang="en-US" sz="1900" dirty="0"/>
          </a:p>
        </p:txBody>
      </p:sp>
      <p:sp>
        <p:nvSpPr>
          <p:cNvPr id="15" name="Text 10"/>
          <p:cNvSpPr/>
          <p:nvPr/>
        </p:nvSpPr>
        <p:spPr>
          <a:xfrm>
            <a:off x="8183880" y="4754880"/>
            <a:ext cx="3520440" cy="12801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1882: microbul tuberculozei. 1883: microbul holerei, vinovatul din pompa lui Snow.</a:t>
            </a:r>
            <a:endParaRPr lang="en-US" sz="1550" dirty="0"/>
          </a:p>
        </p:txBody>
      </p:sp>
      <p:sp>
        <p:nvSpPr>
          <p:cNvPr id="16" name="Text 11"/>
          <p:cNvSpPr/>
          <p:nvPr/>
        </p:nvSpPr>
        <p:spPr>
          <a:xfrm>
            <a:off x="594360" y="6355080"/>
            <a:ext cx="105156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Portretele: Wikimedia Commons.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Teoria germenilor</a:t>
            </a:r>
            <a:endParaRPr lang="en-US" sz="3800" dirty="0"/>
          </a:p>
        </p:txBody>
      </p:sp>
      <p:sp>
        <p:nvSpPr>
          <p:cNvPr id="4" name="Text 2"/>
          <p:cNvSpPr/>
          <p:nvPr/>
        </p:nvSpPr>
        <p:spPr>
          <a:xfrm>
            <a:off x="594360" y="1600200"/>
            <a:ext cx="10972800" cy="109728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Multe boli sunt provocate de microorganisme anume, care trec de la un om la altul sau ajung la om prin apă, aer, hrană, insecte sau animale.</a:t>
            </a:r>
            <a:endParaRPr lang="en-US" sz="1900" dirty="0"/>
          </a:p>
        </p:txBody>
      </p:sp>
      <p:sp>
        <p:nvSpPr>
          <p:cNvPr id="5" name="Shape 3"/>
          <p:cNvSpPr/>
          <p:nvPr/>
        </p:nvSpPr>
        <p:spPr>
          <a:xfrm>
            <a:off x="594360" y="2834640"/>
            <a:ext cx="10972800" cy="1188720"/>
          </a:xfrm>
          <a:prstGeom prst="roundRect">
            <a:avLst>
              <a:gd name="adj" fmla="val 6923"/>
            </a:avLst>
          </a:prstGeom>
          <a:solidFill>
            <a:srgbClr val="FFC24B"/>
          </a:solidFill>
          <a:ln w="12700">
            <a:solidFill>
              <a:srgbClr val="FFC24B"/>
            </a:solidFill>
            <a:prstDash val="solid"/>
          </a:ln>
        </p:spPr>
        <p:txBody>
          <a:bodyPr/>
          <a:p/>
        </p:txBody>
      </p:sp>
      <p:sp>
        <p:nvSpPr>
          <p:cNvPr id="6" name="Text 4"/>
          <p:cNvSpPr/>
          <p:nvPr/>
        </p:nvSpPr>
        <p:spPr>
          <a:xfrm>
            <a:off x="868680" y="2834640"/>
            <a:ext cx="10424160" cy="1188720"/>
          </a:xfrm>
          <a:prstGeom prst="rect">
            <a:avLst/>
          </a:prstGeom>
          <a:noFill/>
          <a:ln/>
        </p:spPr>
        <p:txBody>
          <a:bodyPr wrap="square" lIns="0" tIns="0" rIns="0" bIns="0" rtlCol="0" anchor="ctr"/>
          <a:lstStyle/>
          <a:p>
            <a:pPr indent="0" marL="0">
              <a:buNone/>
            </a:pPr>
            <a:r>
              <a:rPr lang="en-US" sz="2200" b="1" i="1" dirty="0">
                <a:solidFill>
                  <a:srgbClr val="3D2A00"/>
                </a:solidFill>
                <a:latin typeface="Palatino Linotype" pitchFamily="34" charset="0"/>
                <a:ea typeface="Palatino Linotype" pitchFamily="34" charset="-122"/>
                <a:cs typeface="Palatino Linotype" pitchFamily="34" charset="-120"/>
              </a:rPr>
              <a:t>„Fiecare boală infecțioasă are un microb al ei; dacă știi microbul, știi cum să-l oprești.”</a:t>
            </a:r>
            <a:endParaRPr lang="en-US" sz="2200" dirty="0"/>
          </a:p>
        </p:txBody>
      </p:sp>
      <p:sp>
        <p:nvSpPr>
          <p:cNvPr id="7" name="Shape 5"/>
          <p:cNvSpPr/>
          <p:nvPr/>
        </p:nvSpPr>
        <p:spPr>
          <a:xfrm>
            <a:off x="594360" y="4251960"/>
            <a:ext cx="10972800" cy="676656"/>
          </a:xfrm>
          <a:prstGeom prst="roundRect">
            <a:avLst>
              <a:gd name="adj" fmla="val 12162"/>
            </a:avLst>
          </a:prstGeom>
          <a:solidFill>
            <a:srgbClr val="1D1F2B"/>
          </a:solidFill>
          <a:ln w="12700">
            <a:solidFill>
              <a:srgbClr val="1D1F2B"/>
            </a:solidFill>
            <a:prstDash val="solid"/>
          </a:ln>
        </p:spPr>
        <p:txBody>
          <a:bodyPr/>
          <a:p/>
        </p:txBody>
      </p:sp>
      <p:sp>
        <p:nvSpPr>
          <p:cNvPr id="8" name="Shape 6"/>
          <p:cNvSpPr/>
          <p:nvPr/>
        </p:nvSpPr>
        <p:spPr>
          <a:xfrm>
            <a:off x="868680" y="4379976"/>
            <a:ext cx="420624" cy="420624"/>
          </a:xfrm>
          <a:prstGeom prst="ellipse">
            <a:avLst/>
          </a:prstGeom>
          <a:solidFill>
            <a:srgbClr val="FFC24B"/>
          </a:solidFill>
          <a:ln/>
        </p:spPr>
        <p:txBody>
          <a:bodyPr/>
          <a:p/>
        </p:txBody>
      </p:sp>
      <p:sp>
        <p:nvSpPr>
          <p:cNvPr id="9" name="Text 7"/>
          <p:cNvSpPr/>
          <p:nvPr/>
        </p:nvSpPr>
        <p:spPr>
          <a:xfrm>
            <a:off x="868680" y="43799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4251960"/>
            <a:ext cx="978408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Poți face un vaccin, căuta un medicament, testa apa.</a:t>
            </a:r>
            <a:endParaRPr lang="en-US" sz="1800" dirty="0"/>
          </a:p>
        </p:txBody>
      </p:sp>
      <p:sp>
        <p:nvSpPr>
          <p:cNvPr id="11" name="Shape 9"/>
          <p:cNvSpPr/>
          <p:nvPr/>
        </p:nvSpPr>
        <p:spPr>
          <a:xfrm>
            <a:off x="594360" y="5056632"/>
            <a:ext cx="10972800" cy="676656"/>
          </a:xfrm>
          <a:prstGeom prst="roundRect">
            <a:avLst>
              <a:gd name="adj" fmla="val 12162"/>
            </a:avLst>
          </a:prstGeom>
          <a:solidFill>
            <a:srgbClr val="1D1F2B"/>
          </a:solidFill>
          <a:ln w="12700">
            <a:solidFill>
              <a:srgbClr val="1D1F2B"/>
            </a:solidFill>
            <a:prstDash val="solid"/>
          </a:ln>
        </p:spPr>
        <p:txBody>
          <a:bodyPr/>
          <a:p/>
        </p:txBody>
      </p:sp>
      <p:sp>
        <p:nvSpPr>
          <p:cNvPr id="12" name="Shape 10"/>
          <p:cNvSpPr/>
          <p:nvPr/>
        </p:nvSpPr>
        <p:spPr>
          <a:xfrm>
            <a:off x="868680" y="5184648"/>
            <a:ext cx="420624" cy="420624"/>
          </a:xfrm>
          <a:prstGeom prst="ellipse">
            <a:avLst/>
          </a:prstGeom>
          <a:solidFill>
            <a:srgbClr val="FFC24B"/>
          </a:solidFill>
          <a:ln/>
        </p:spPr>
        <p:txBody>
          <a:bodyPr/>
          <a:p/>
        </p:txBody>
      </p:sp>
      <p:sp>
        <p:nvSpPr>
          <p:cNvPr id="13" name="Text 11"/>
          <p:cNvSpPr/>
          <p:nvPr/>
        </p:nvSpPr>
        <p:spPr>
          <a:xfrm>
            <a:off x="868680" y="5184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5056632"/>
            <a:ext cx="978408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Explică, retrospectiv, de ce funcționaseră măsurile vechi.</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1005840"/>
            <a:ext cx="10972800" cy="173736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Alegeți o măsură veche și explicați-o în limbajul teoriei germenilor</a:t>
            </a:r>
            <a:endParaRPr lang="en-US" sz="3600" dirty="0"/>
          </a:p>
        </p:txBody>
      </p:sp>
      <p:sp>
        <p:nvSpPr>
          <p:cNvPr id="6" name="Shape 4"/>
          <p:cNvSpPr/>
          <p:nvPr/>
        </p:nvSpPr>
        <p:spPr>
          <a:xfrm>
            <a:off x="594360" y="3063240"/>
            <a:ext cx="2606040" cy="1005840"/>
          </a:xfrm>
          <a:prstGeom prst="roundRect">
            <a:avLst>
              <a:gd name="adj" fmla="val 8182"/>
            </a:avLst>
          </a:prstGeom>
          <a:solidFill>
            <a:srgbClr val="272A38"/>
          </a:solidFill>
          <a:ln w="12700">
            <a:solidFill>
              <a:srgbClr val="272A38"/>
            </a:solidFill>
            <a:prstDash val="solid"/>
          </a:ln>
        </p:spPr>
        <p:txBody>
          <a:bodyPr/>
          <a:p/>
        </p:txBody>
      </p:sp>
      <p:sp>
        <p:nvSpPr>
          <p:cNvPr id="7" name="Text 5"/>
          <p:cNvSpPr/>
          <p:nvPr/>
        </p:nvSpPr>
        <p:spPr>
          <a:xfrm>
            <a:off x="594360" y="3063240"/>
            <a:ext cx="2606040" cy="1005840"/>
          </a:xfrm>
          <a:prstGeom prst="rect">
            <a:avLst/>
          </a:prstGeom>
          <a:noFill/>
          <a:ln/>
        </p:spPr>
        <p:txBody>
          <a:bodyPr wrap="square" lIns="0" tIns="0" rIns="0" bIns="0" rtlCol="0" anchor="ctr"/>
          <a:lstStyle/>
          <a:p>
            <a:pPr algn="ctr" indent="0" marL="0">
              <a:buNone/>
            </a:pPr>
            <a:r>
              <a:rPr lang="en-US" sz="1900" b="1" dirty="0">
                <a:solidFill>
                  <a:srgbClr val="27D3BE"/>
                </a:solidFill>
                <a:latin typeface="Palatino Linotype" pitchFamily="34" charset="0"/>
                <a:ea typeface="Palatino Linotype" pitchFamily="34" charset="-122"/>
                <a:cs typeface="Palatino Linotype" pitchFamily="34" charset="-120"/>
              </a:rPr>
              <a:t>Carantina</a:t>
            </a:r>
            <a:endParaRPr lang="en-US" sz="1900" dirty="0"/>
          </a:p>
        </p:txBody>
      </p:sp>
      <p:sp>
        <p:nvSpPr>
          <p:cNvPr id="8" name="Shape 6"/>
          <p:cNvSpPr/>
          <p:nvPr/>
        </p:nvSpPr>
        <p:spPr>
          <a:xfrm>
            <a:off x="3410712" y="3063240"/>
            <a:ext cx="2606040" cy="1005840"/>
          </a:xfrm>
          <a:prstGeom prst="roundRect">
            <a:avLst>
              <a:gd name="adj" fmla="val 8182"/>
            </a:avLst>
          </a:prstGeom>
          <a:solidFill>
            <a:srgbClr val="272A38"/>
          </a:solidFill>
          <a:ln w="12700">
            <a:solidFill>
              <a:srgbClr val="272A38"/>
            </a:solidFill>
            <a:prstDash val="solid"/>
          </a:ln>
        </p:spPr>
        <p:txBody>
          <a:bodyPr/>
          <a:p/>
        </p:txBody>
      </p:sp>
      <p:sp>
        <p:nvSpPr>
          <p:cNvPr id="9" name="Text 7"/>
          <p:cNvSpPr/>
          <p:nvPr/>
        </p:nvSpPr>
        <p:spPr>
          <a:xfrm>
            <a:off x="3410712" y="3063240"/>
            <a:ext cx="2606040" cy="1005840"/>
          </a:xfrm>
          <a:prstGeom prst="rect">
            <a:avLst/>
          </a:prstGeom>
          <a:noFill/>
          <a:ln/>
        </p:spPr>
        <p:txBody>
          <a:bodyPr wrap="square" lIns="0" tIns="0" rIns="0" bIns="0" rtlCol="0" anchor="ctr"/>
          <a:lstStyle/>
          <a:p>
            <a:pPr algn="ctr" indent="0" marL="0">
              <a:buNone/>
            </a:pPr>
            <a:r>
              <a:rPr lang="en-US" sz="1900" b="1" dirty="0">
                <a:solidFill>
                  <a:srgbClr val="27D3BE"/>
                </a:solidFill>
                <a:latin typeface="Palatino Linotype" pitchFamily="34" charset="0"/>
                <a:ea typeface="Palatino Linotype" pitchFamily="34" charset="-122"/>
                <a:cs typeface="Palatino Linotype" pitchFamily="34" charset="-120"/>
              </a:rPr>
              <a:t>Apeductele</a:t>
            </a:r>
            <a:endParaRPr lang="en-US" sz="1900" dirty="0"/>
          </a:p>
        </p:txBody>
      </p:sp>
      <p:sp>
        <p:nvSpPr>
          <p:cNvPr id="10" name="Shape 8"/>
          <p:cNvSpPr/>
          <p:nvPr/>
        </p:nvSpPr>
        <p:spPr>
          <a:xfrm>
            <a:off x="6227064" y="3063240"/>
            <a:ext cx="2606040" cy="1005840"/>
          </a:xfrm>
          <a:prstGeom prst="roundRect">
            <a:avLst>
              <a:gd name="adj" fmla="val 8182"/>
            </a:avLst>
          </a:prstGeom>
          <a:solidFill>
            <a:srgbClr val="272A38"/>
          </a:solidFill>
          <a:ln w="12700">
            <a:solidFill>
              <a:srgbClr val="272A38"/>
            </a:solidFill>
            <a:prstDash val="solid"/>
          </a:ln>
        </p:spPr>
        <p:txBody>
          <a:bodyPr/>
          <a:p/>
        </p:txBody>
      </p:sp>
      <p:sp>
        <p:nvSpPr>
          <p:cNvPr id="11" name="Text 9"/>
          <p:cNvSpPr/>
          <p:nvPr/>
        </p:nvSpPr>
        <p:spPr>
          <a:xfrm>
            <a:off x="6227064" y="3063240"/>
            <a:ext cx="2606040" cy="1005840"/>
          </a:xfrm>
          <a:prstGeom prst="rect">
            <a:avLst/>
          </a:prstGeom>
          <a:noFill/>
          <a:ln/>
        </p:spPr>
        <p:txBody>
          <a:bodyPr wrap="square" lIns="0" tIns="0" rIns="0" bIns="0" rtlCol="0" anchor="ctr"/>
          <a:lstStyle/>
          <a:p>
            <a:pPr algn="ctr" indent="0" marL="0">
              <a:buNone/>
            </a:pPr>
            <a:r>
              <a:rPr lang="en-US" sz="1900" b="1" dirty="0">
                <a:solidFill>
                  <a:srgbClr val="27D3BE"/>
                </a:solidFill>
                <a:latin typeface="Palatino Linotype" pitchFamily="34" charset="0"/>
                <a:ea typeface="Palatino Linotype" pitchFamily="34" charset="-122"/>
                <a:cs typeface="Palatino Linotype" pitchFamily="34" charset="-120"/>
              </a:rPr>
              <a:t>Curățarea străzilor</a:t>
            </a:r>
            <a:endParaRPr lang="en-US" sz="1900" dirty="0"/>
          </a:p>
        </p:txBody>
      </p:sp>
      <p:sp>
        <p:nvSpPr>
          <p:cNvPr id="12" name="Shape 10"/>
          <p:cNvSpPr/>
          <p:nvPr/>
        </p:nvSpPr>
        <p:spPr>
          <a:xfrm>
            <a:off x="9043416" y="3063240"/>
            <a:ext cx="2606040" cy="1005840"/>
          </a:xfrm>
          <a:prstGeom prst="roundRect">
            <a:avLst>
              <a:gd name="adj" fmla="val 8182"/>
            </a:avLst>
          </a:prstGeom>
          <a:solidFill>
            <a:srgbClr val="272A38"/>
          </a:solidFill>
          <a:ln w="12700">
            <a:solidFill>
              <a:srgbClr val="272A38"/>
            </a:solidFill>
            <a:prstDash val="solid"/>
          </a:ln>
        </p:spPr>
        <p:txBody>
          <a:bodyPr/>
          <a:p/>
        </p:txBody>
      </p:sp>
      <p:sp>
        <p:nvSpPr>
          <p:cNvPr id="13" name="Text 11"/>
          <p:cNvSpPr/>
          <p:nvPr/>
        </p:nvSpPr>
        <p:spPr>
          <a:xfrm>
            <a:off x="9043416" y="3063240"/>
            <a:ext cx="2606040" cy="1005840"/>
          </a:xfrm>
          <a:prstGeom prst="rect">
            <a:avLst/>
          </a:prstGeom>
          <a:noFill/>
          <a:ln/>
        </p:spPr>
        <p:txBody>
          <a:bodyPr wrap="square" lIns="0" tIns="0" rIns="0" bIns="0" rtlCol="0" anchor="ctr"/>
          <a:lstStyle/>
          <a:p>
            <a:pPr algn="ctr" indent="0" marL="0">
              <a:buNone/>
            </a:pPr>
            <a:r>
              <a:rPr lang="en-US" sz="1900" b="1" dirty="0">
                <a:solidFill>
                  <a:srgbClr val="27D3BE"/>
                </a:solidFill>
                <a:latin typeface="Palatino Linotype" pitchFamily="34" charset="0"/>
                <a:ea typeface="Palatino Linotype" pitchFamily="34" charset="-122"/>
                <a:cs typeface="Palatino Linotype" pitchFamily="34" charset="-120"/>
              </a:rPr>
              <a:t>Maneta pompei</a:t>
            </a:r>
            <a:endParaRPr lang="en-US" sz="1900" dirty="0"/>
          </a:p>
        </p:txBody>
      </p:sp>
      <p:sp>
        <p:nvSpPr>
          <p:cNvPr id="14" name="Text 12"/>
          <p:cNvSpPr/>
          <p:nvPr/>
        </p:nvSpPr>
        <p:spPr>
          <a:xfrm>
            <a:off x="594360" y="4434840"/>
            <a:ext cx="10972800" cy="54864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Două minute; apoi câteva perechi își spun explicația cu voce tare.</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CE FUNCȚIONASERĂ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Măsurile vechi, explicate de microbi</a:t>
            </a:r>
            <a:endParaRPr lang="en-US" sz="3000" dirty="0"/>
          </a:p>
        </p:txBody>
      </p:sp>
      <p:sp>
        <p:nvSpPr>
          <p:cNvPr id="4" name="Shape 2"/>
          <p:cNvSpPr/>
          <p:nvPr/>
        </p:nvSpPr>
        <p:spPr>
          <a:xfrm>
            <a:off x="594360" y="1645920"/>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5" name="Text 3"/>
          <p:cNvSpPr/>
          <p:nvPr/>
        </p:nvSpPr>
        <p:spPr>
          <a:xfrm>
            <a:off x="868680" y="1645920"/>
            <a:ext cx="3566160" cy="74980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Carantina</a:t>
            </a:r>
            <a:endParaRPr lang="en-US" sz="1800" dirty="0"/>
          </a:p>
        </p:txBody>
      </p:sp>
      <p:sp>
        <p:nvSpPr>
          <p:cNvPr id="6" name="Text 4"/>
          <p:cNvSpPr/>
          <p:nvPr/>
        </p:nvSpPr>
        <p:spPr>
          <a:xfrm>
            <a:off x="4480560" y="1645920"/>
            <a:ext cx="6858000" cy="74980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ciuma venea cu marinarii, șobolanii și mărfurile; așteptarea depășea incubația, iar puricii infectați mureau.</a:t>
            </a:r>
            <a:endParaRPr lang="en-US" sz="1800" dirty="0"/>
          </a:p>
        </p:txBody>
      </p:sp>
      <p:sp>
        <p:nvSpPr>
          <p:cNvPr id="7" name="Shape 5"/>
          <p:cNvSpPr/>
          <p:nvPr/>
        </p:nvSpPr>
        <p:spPr>
          <a:xfrm>
            <a:off x="594360" y="2542032"/>
            <a:ext cx="10972800" cy="749808"/>
          </a:xfrm>
          <a:prstGeom prst="roundRect">
            <a:avLst>
              <a:gd name="adj" fmla="val 10976"/>
            </a:avLst>
          </a:prstGeom>
          <a:solidFill>
            <a:srgbClr val="F9F8F5"/>
          </a:solidFill>
          <a:ln w="12700">
            <a:solidFill>
              <a:srgbClr val="F9F8F5"/>
            </a:solidFill>
            <a:prstDash val="solid"/>
          </a:ln>
        </p:spPr>
        <p:txBody>
          <a:bodyPr/>
          <a:p/>
        </p:txBody>
      </p:sp>
      <p:sp>
        <p:nvSpPr>
          <p:cNvPr id="8" name="Text 6"/>
          <p:cNvSpPr/>
          <p:nvPr/>
        </p:nvSpPr>
        <p:spPr>
          <a:xfrm>
            <a:off x="868680" y="2542032"/>
            <a:ext cx="3566160" cy="74980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Apeductele și canalizarea</a:t>
            </a:r>
            <a:endParaRPr lang="en-US" sz="1800" dirty="0"/>
          </a:p>
        </p:txBody>
      </p:sp>
      <p:sp>
        <p:nvSpPr>
          <p:cNvPr id="9" name="Text 7"/>
          <p:cNvSpPr/>
          <p:nvPr/>
        </p:nvSpPr>
        <p:spPr>
          <a:xfrm>
            <a:off x="4480560" y="2542032"/>
            <a:ext cx="6858000" cy="74980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țineau apa de băut departe de materiile bolnavilor.</a:t>
            </a:r>
            <a:endParaRPr lang="en-US" sz="1800" dirty="0"/>
          </a:p>
        </p:txBody>
      </p:sp>
      <p:sp>
        <p:nvSpPr>
          <p:cNvPr id="10" name="Shape 8"/>
          <p:cNvSpPr/>
          <p:nvPr/>
        </p:nvSpPr>
        <p:spPr>
          <a:xfrm>
            <a:off x="594360" y="3438144"/>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11" name="Text 9"/>
          <p:cNvSpPr/>
          <p:nvPr/>
        </p:nvSpPr>
        <p:spPr>
          <a:xfrm>
            <a:off x="868680" y="3438144"/>
            <a:ext cx="3566160" cy="74980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Maneta pompei</a:t>
            </a:r>
            <a:endParaRPr lang="en-US" sz="1800" dirty="0"/>
          </a:p>
        </p:txBody>
      </p:sp>
      <p:sp>
        <p:nvSpPr>
          <p:cNvPr id="12" name="Text 10"/>
          <p:cNvSpPr/>
          <p:nvPr/>
        </p:nvSpPr>
        <p:spPr>
          <a:xfrm>
            <a:off x="4480560" y="3438144"/>
            <a:ext cx="6858000" cy="74980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apa pompei era contaminată cu microbul holerei.</a:t>
            </a:r>
            <a:endParaRPr lang="en-US" sz="1800" dirty="0"/>
          </a:p>
        </p:txBody>
      </p:sp>
      <p:sp>
        <p:nvSpPr>
          <p:cNvPr id="13" name="Shape 11"/>
          <p:cNvSpPr/>
          <p:nvPr/>
        </p:nvSpPr>
        <p:spPr>
          <a:xfrm>
            <a:off x="594360" y="4480560"/>
            <a:ext cx="54864" cy="1234440"/>
          </a:xfrm>
          <a:prstGeom prst="rect">
            <a:avLst/>
          </a:prstGeom>
          <a:solidFill>
            <a:srgbClr val="0E7C6B"/>
          </a:solidFill>
          <a:ln w="12700">
            <a:solidFill>
              <a:srgbClr val="0E7C6B"/>
            </a:solidFill>
            <a:prstDash val="solid"/>
          </a:ln>
        </p:spPr>
        <p:txBody>
          <a:bodyPr/>
          <a:p/>
        </p:txBody>
      </p:sp>
      <p:sp>
        <p:nvSpPr>
          <p:cNvPr id="14" name="Text 12"/>
          <p:cNvSpPr/>
          <p:nvPr/>
        </p:nvSpPr>
        <p:spPr>
          <a:xfrm>
            <a:off x="868680" y="4480560"/>
            <a:ext cx="10607040" cy="1234440"/>
          </a:xfrm>
          <a:prstGeom prst="rect">
            <a:avLst/>
          </a:prstGeom>
          <a:noFill/>
          <a:ln/>
        </p:spPr>
        <p:txBody>
          <a:bodyPr wrap="square" lIns="0" tIns="0" rIns="0" bIns="0" rtlCol="0" anchor="ctr"/>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Microbul nu explică totul. Cel al tuberculozei se transmite mai ușor în locuințe aglomerate, iar boala este mai frecventă la oamenii săraci, poate și pentru că au expuneri mai nocive.</a:t>
            </a:r>
            <a:endParaRPr lang="en-US" sz="1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APA DEVINE CURATĂ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 la Tamisa la clor</a:t>
            </a:r>
            <a:endParaRPr lang="en-US" sz="3200" dirty="0"/>
          </a:p>
        </p:txBody>
      </p:sp>
      <p:sp>
        <p:nvSpPr>
          <p:cNvPr id="4" name="Text 2"/>
          <p:cNvSpPr/>
          <p:nvPr/>
        </p:nvSpPr>
        <p:spPr>
          <a:xfrm>
            <a:off x="594360" y="1691640"/>
            <a:ext cx="1371600" cy="109728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1852</a:t>
            </a:r>
            <a:endParaRPr lang="en-US" sz="3000" dirty="0"/>
          </a:p>
        </p:txBody>
      </p:sp>
      <p:sp>
        <p:nvSpPr>
          <p:cNvPr id="5" name="Text 3"/>
          <p:cNvSpPr/>
          <p:nvPr/>
        </p:nvSpPr>
        <p:spPr>
          <a:xfrm>
            <a:off x="2011680" y="1691640"/>
            <a:ext cx="4572000" cy="10972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Legea apei pentru Londra: fără apă de băut din Tamisa în aval de Teddington; apa se filtrează.</a:t>
            </a:r>
            <a:endParaRPr lang="en-US" sz="1600" dirty="0"/>
          </a:p>
        </p:txBody>
      </p:sp>
      <p:sp>
        <p:nvSpPr>
          <p:cNvPr id="6" name="Text 4"/>
          <p:cNvSpPr/>
          <p:nvPr/>
        </p:nvSpPr>
        <p:spPr>
          <a:xfrm>
            <a:off x="594360" y="3017520"/>
            <a:ext cx="1371600" cy="109728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1908</a:t>
            </a:r>
            <a:endParaRPr lang="en-US" sz="3000" dirty="0"/>
          </a:p>
        </p:txBody>
      </p:sp>
      <p:sp>
        <p:nvSpPr>
          <p:cNvPr id="7" name="Text 5"/>
          <p:cNvSpPr/>
          <p:nvPr/>
        </p:nvSpPr>
        <p:spPr>
          <a:xfrm>
            <a:off x="2011680" y="3017520"/>
            <a:ext cx="4572000" cy="10972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Jersey City, în Statele Unite: apa de băut se tratează cu clor, la scară mare.</a:t>
            </a:r>
            <a:endParaRPr lang="en-US" sz="1600" dirty="0"/>
          </a:p>
        </p:txBody>
      </p:sp>
      <p:sp>
        <p:nvSpPr>
          <p:cNvPr id="8" name="Shape 6"/>
          <p:cNvSpPr/>
          <p:nvPr/>
        </p:nvSpPr>
        <p:spPr>
          <a:xfrm>
            <a:off x="6949440" y="1645920"/>
            <a:ext cx="27432" cy="4023360"/>
          </a:xfrm>
          <a:prstGeom prst="rect">
            <a:avLst/>
          </a:prstGeom>
          <a:solidFill>
            <a:srgbClr val="C9C6BE"/>
          </a:solidFill>
          <a:ln/>
        </p:spPr>
        <p:txBody>
          <a:bodyPr/>
          <a:p/>
        </p:txBody>
      </p:sp>
      <p:sp>
        <p:nvSpPr>
          <p:cNvPr id="9" name="Text 7"/>
          <p:cNvSpPr/>
          <p:nvPr/>
        </p:nvSpPr>
        <p:spPr>
          <a:xfrm>
            <a:off x="7269480" y="1554480"/>
            <a:ext cx="4389120" cy="1188720"/>
          </a:xfrm>
          <a:prstGeom prst="rect">
            <a:avLst/>
          </a:prstGeom>
          <a:noFill/>
          <a:ln/>
        </p:spPr>
        <p:txBody>
          <a:bodyPr wrap="square" lIns="0" tIns="0" rIns="0" bIns="0" rtlCol="0" anchor="ctr"/>
          <a:lstStyle/>
          <a:p>
            <a:pPr indent="0" marL="0">
              <a:buNone/>
            </a:pPr>
            <a:r>
              <a:rPr lang="en-US" sz="7200" b="1" dirty="0">
                <a:solidFill>
                  <a:srgbClr val="0E7C6B"/>
                </a:solidFill>
                <a:latin typeface="Palatino Linotype" pitchFamily="34" charset="0"/>
                <a:ea typeface="Palatino Linotype" pitchFamily="34" charset="-122"/>
                <a:cs typeface="Palatino Linotype" pitchFamily="34" charset="-120"/>
              </a:rPr>
              <a:t>23 la 1</a:t>
            </a:r>
            <a:endParaRPr lang="en-US" sz="7200" dirty="0"/>
          </a:p>
        </p:txBody>
      </p:sp>
      <p:sp>
        <p:nvSpPr>
          <p:cNvPr id="10" name="Text 8"/>
          <p:cNvSpPr/>
          <p:nvPr/>
        </p:nvSpPr>
        <p:spPr>
          <a:xfrm>
            <a:off x="7315200" y="2743200"/>
            <a:ext cx="429768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peste 23 la 1: câștigul la fiecare dolar investit în apă curată (Cutler și Miller).</a:t>
            </a:r>
            <a:endParaRPr lang="en-US" sz="1600" dirty="0"/>
          </a:p>
        </p:txBody>
      </p:sp>
      <p:sp>
        <p:nvSpPr>
          <p:cNvPr id="11" name="Text 9"/>
          <p:cNvSpPr/>
          <p:nvPr/>
        </p:nvSpPr>
        <p:spPr>
          <a:xfrm>
            <a:off x="7315200" y="3611880"/>
            <a:ext cx="4297680" cy="15544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Apa curată: aproape jumătate din scăderea mortalității în marile orașe americane (1900–1936), trei sferturi la copiii sub un an.</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1_gripa_1918.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309360" cy="6858000"/>
          </a:xfrm>
          <a:prstGeom prst="rect">
            <a:avLst/>
          </a:prstGeom>
          <a:solidFill>
            <a:srgbClr val="11121A">
              <a:alpha val="90000"/>
            </a:srgbClr>
          </a:solidFill>
          <a:ln w="12700">
            <a:solidFill>
              <a:srgbClr val="11121A"/>
            </a:solidFill>
            <a:prstDash val="solid"/>
          </a:ln>
        </p:spPr>
        <p:txBody>
          <a:bodyPr/>
          <a:p/>
        </p:txBody>
      </p:sp>
      <p:sp>
        <p:nvSpPr>
          <p:cNvPr id="4" name="Text 1"/>
          <p:cNvSpPr/>
          <p:nvPr/>
        </p:nvSpPr>
        <p:spPr>
          <a:xfrm>
            <a:off x="594360" y="411480"/>
            <a:ext cx="5486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SECOLUL AL XX-LEA</a:t>
            </a:r>
            <a:endParaRPr lang="en-US" sz="1300" dirty="0"/>
          </a:p>
        </p:txBody>
      </p:sp>
      <p:sp>
        <p:nvSpPr>
          <p:cNvPr id="5" name="Text 2"/>
          <p:cNvSpPr/>
          <p:nvPr/>
        </p:nvSpPr>
        <p:spPr>
          <a:xfrm>
            <a:off x="594360" y="777240"/>
            <a:ext cx="5486400" cy="109728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Gripa din 1918 și trei fronturi noi</a:t>
            </a:r>
            <a:endParaRPr lang="en-US" sz="2800" dirty="0"/>
          </a:p>
        </p:txBody>
      </p:sp>
      <p:sp>
        <p:nvSpPr>
          <p:cNvPr id="6" name="Text 3"/>
          <p:cNvSpPr/>
          <p:nvPr/>
        </p:nvSpPr>
        <p:spPr>
          <a:xfrm>
            <a:off x="594360" y="1874520"/>
            <a:ext cx="5577840" cy="822960"/>
          </a:xfrm>
          <a:prstGeom prst="rect">
            <a:avLst/>
          </a:prstGeom>
          <a:noFill/>
          <a:ln/>
        </p:spPr>
        <p:txBody>
          <a:bodyPr wrap="square" lIns="0" tIns="0" rIns="0" bIns="0" rtlCol="0" anchor="ctr"/>
          <a:lstStyle/>
          <a:p>
            <a:pPr indent="0" marL="0">
              <a:buNone/>
            </a:pPr>
            <a:r>
              <a:rPr lang="en-US" sz="4600" b="1" dirty="0">
                <a:solidFill>
                  <a:srgbClr val="FF4757"/>
                </a:solidFill>
                <a:latin typeface="Palatino Linotype" pitchFamily="34" charset="0"/>
                <a:ea typeface="Palatino Linotype" pitchFamily="34" charset="-122"/>
                <a:cs typeface="Palatino Linotype" pitchFamily="34" charset="-120"/>
              </a:rPr>
              <a:t>50 de milioane</a:t>
            </a:r>
            <a:endParaRPr lang="en-US" sz="4600" dirty="0"/>
          </a:p>
        </p:txBody>
      </p:sp>
      <p:sp>
        <p:nvSpPr>
          <p:cNvPr id="7" name="Text 4"/>
          <p:cNvSpPr/>
          <p:nvPr/>
        </p:nvSpPr>
        <p:spPr>
          <a:xfrm>
            <a:off x="594360" y="2697480"/>
            <a:ext cx="5394960" cy="91440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de morți, cel puțin. Mulți erau adulți sănătoși de 20–40 de ani: vârsta voastră.</a:t>
            </a:r>
            <a:endParaRPr lang="en-US" sz="1600" dirty="0"/>
          </a:p>
        </p:txBody>
      </p:sp>
      <p:sp>
        <p:nvSpPr>
          <p:cNvPr id="8" name="Text 5"/>
          <p:cNvSpPr/>
          <p:nvPr/>
        </p:nvSpPr>
        <p:spPr>
          <a:xfrm>
            <a:off x="594360" y="3794760"/>
            <a:ext cx="5440680" cy="713232"/>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Medicamentele: </a:t>
            </a:r>
            <a:pPr indent="0" marL="0">
              <a:buNone/>
            </a:pPr>
            <a:r>
              <a:rPr lang="en-US" sz="1450" dirty="0">
                <a:solidFill>
                  <a:srgbClr val="E6E8EF"/>
                </a:solidFill>
                <a:latin typeface="Palatino Linotype" pitchFamily="34" charset="0"/>
                <a:ea typeface="Palatino Linotype" pitchFamily="34" charset="-122"/>
                <a:cs typeface="Palatino Linotype" pitchFamily="34" charset="-120"/>
              </a:rPr>
              <a:t>penicilina, descoperită în 1928, primul pacient tratat în 1941.</a:t>
            </a:r>
            <a:endParaRPr lang="en-US" sz="1450" dirty="0"/>
          </a:p>
        </p:txBody>
      </p:sp>
      <p:sp>
        <p:nvSpPr>
          <p:cNvPr id="9" name="Text 6"/>
          <p:cNvSpPr/>
          <p:nvPr/>
        </p:nvSpPr>
        <p:spPr>
          <a:xfrm>
            <a:off x="594360" y="4544568"/>
            <a:ext cx="5440680" cy="713232"/>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Bolile fără microb: </a:t>
            </a:r>
            <a:pPr indent="0" marL="0">
              <a:buNone/>
            </a:pPr>
            <a:r>
              <a:rPr lang="en-US" sz="1450" dirty="0">
                <a:solidFill>
                  <a:srgbClr val="E6E8EF"/>
                </a:solidFill>
                <a:latin typeface="Palatino Linotype" pitchFamily="34" charset="0"/>
                <a:ea typeface="Palatino Linotype" pitchFamily="34" charset="-122"/>
                <a:cs typeface="Palatino Linotype" pitchFamily="34" charset="-120"/>
              </a:rPr>
              <a:t>inima, cancerele; studiul Framingham, din 1948; fumatul și cancerul pulmonar.</a:t>
            </a:r>
            <a:endParaRPr lang="en-US" sz="1450" dirty="0"/>
          </a:p>
        </p:txBody>
      </p:sp>
      <p:sp>
        <p:nvSpPr>
          <p:cNvPr id="10" name="Text 7"/>
          <p:cNvSpPr/>
          <p:nvPr/>
        </p:nvSpPr>
        <p:spPr>
          <a:xfrm>
            <a:off x="594360" y="5294376"/>
            <a:ext cx="5440680" cy="713232"/>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Ce mâncăm și respirăm: </a:t>
            </a:r>
            <a:pPr indent="0" marL="0">
              <a:buNone/>
            </a:pPr>
            <a:r>
              <a:rPr lang="en-US" sz="1450" dirty="0">
                <a:solidFill>
                  <a:srgbClr val="E6E8EF"/>
                </a:solidFill>
                <a:latin typeface="Palatino Linotype" pitchFamily="34" charset="0"/>
                <a:ea typeface="Palatino Linotype" pitchFamily="34" charset="-122"/>
                <a:cs typeface="Palatino Linotype" pitchFamily="34" charset="-120"/>
              </a:rPr>
              <a:t>legea alimentelor (1906), smogul de la Donora (1948).</a:t>
            </a:r>
            <a:endParaRPr lang="en-US" sz="1450" dirty="0"/>
          </a:p>
        </p:txBody>
      </p:sp>
      <p:sp>
        <p:nvSpPr>
          <p:cNvPr id="11" name="Text 8"/>
          <p:cNvSpPr/>
          <p:nvPr/>
        </p:nvSpPr>
        <p:spPr>
          <a:xfrm>
            <a:off x="6492240" y="6537960"/>
            <a:ext cx="5486400" cy="219456"/>
          </a:xfrm>
          <a:prstGeom prst="rect">
            <a:avLst/>
          </a:prstGeom>
          <a:noFill/>
          <a:ln/>
        </p:spPr>
        <p:txBody>
          <a:bodyPr wrap="square" lIns="0" tIns="0" rIns="0" bIns="0" rtlCol="0" anchor="ctr"/>
          <a:lstStyle/>
          <a:p>
            <a:pPr algn="r" indent="0" marL="0">
              <a:buNone/>
            </a:pPr>
            <a:r>
              <a:rPr lang="en-US" sz="850" i="1" dirty="0">
                <a:solidFill>
                  <a:srgbClr val="F0F1F5"/>
                </a:solidFill>
                <a:latin typeface="Palatino Linotype" pitchFamily="34" charset="0"/>
                <a:ea typeface="Palatino Linotype" pitchFamily="34" charset="-122"/>
                <a:cs typeface="Palatino Linotype" pitchFamily="34" charset="-120"/>
              </a:rPr>
              <a:t>Spital de urgență, Camp Funston, Kansas · domeniu public · Wikimedia Commons</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ORDONAȚI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LINIA TIMPULUI, CONSTRUITĂ DE VOI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Așezați momentele în ordinea în care s-au petrecut</a:t>
            </a:r>
            <a:endParaRPr lang="en-US" sz="3000" dirty="0"/>
          </a:p>
        </p:txBody>
      </p:sp>
      <p:sp>
        <p:nvSpPr>
          <p:cNvPr id="6" name="Shape 4"/>
          <p:cNvSpPr/>
          <p:nvPr/>
        </p:nvSpPr>
        <p:spPr>
          <a:xfrm>
            <a:off x="594360" y="182880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7" name="Shape 5"/>
          <p:cNvSpPr/>
          <p:nvPr/>
        </p:nvSpPr>
        <p:spPr>
          <a:xfrm>
            <a:off x="822960" y="2167128"/>
            <a:ext cx="420624" cy="420624"/>
          </a:xfrm>
          <a:prstGeom prst="ellipse">
            <a:avLst/>
          </a:prstGeom>
          <a:solidFill>
            <a:srgbClr val="FFC24B"/>
          </a:solidFill>
          <a:ln/>
        </p:spPr>
        <p:txBody>
          <a:bodyPr/>
          <a:p/>
        </p:txBody>
      </p:sp>
      <p:sp>
        <p:nvSpPr>
          <p:cNvPr id="8" name="Text 6"/>
          <p:cNvSpPr/>
          <p:nvPr/>
        </p:nvSpPr>
        <p:spPr>
          <a:xfrm>
            <a:off x="822960" y="21671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417320" y="1828800"/>
            <a:ext cx="2560320" cy="10972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Koch și microbul tuberculozei</a:t>
            </a:r>
            <a:endParaRPr lang="en-US" sz="1700" dirty="0"/>
          </a:p>
        </p:txBody>
      </p:sp>
      <p:sp>
        <p:nvSpPr>
          <p:cNvPr id="10" name="Shape 8"/>
          <p:cNvSpPr/>
          <p:nvPr/>
        </p:nvSpPr>
        <p:spPr>
          <a:xfrm>
            <a:off x="4343400" y="182880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11" name="Shape 9"/>
          <p:cNvSpPr/>
          <p:nvPr/>
        </p:nvSpPr>
        <p:spPr>
          <a:xfrm>
            <a:off x="4572000" y="2167128"/>
            <a:ext cx="420624" cy="420624"/>
          </a:xfrm>
          <a:prstGeom prst="ellipse">
            <a:avLst/>
          </a:prstGeom>
          <a:solidFill>
            <a:srgbClr val="FFC24B"/>
          </a:solidFill>
          <a:ln/>
        </p:spPr>
        <p:txBody>
          <a:bodyPr/>
          <a:p/>
        </p:txBody>
      </p:sp>
      <p:sp>
        <p:nvSpPr>
          <p:cNvPr id="12" name="Text 10"/>
          <p:cNvSpPr/>
          <p:nvPr/>
        </p:nvSpPr>
        <p:spPr>
          <a:xfrm>
            <a:off x="4572000" y="21671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5166360" y="1828800"/>
            <a:ext cx="2560320" cy="10972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Carantina de la Ragusa</a:t>
            </a:r>
            <a:endParaRPr lang="en-US" sz="1700" dirty="0"/>
          </a:p>
        </p:txBody>
      </p:sp>
      <p:sp>
        <p:nvSpPr>
          <p:cNvPr id="14" name="Shape 12"/>
          <p:cNvSpPr/>
          <p:nvPr/>
        </p:nvSpPr>
        <p:spPr>
          <a:xfrm>
            <a:off x="8092440" y="182880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15" name="Shape 13"/>
          <p:cNvSpPr/>
          <p:nvPr/>
        </p:nvSpPr>
        <p:spPr>
          <a:xfrm>
            <a:off x="8321040" y="2167128"/>
            <a:ext cx="420624" cy="420624"/>
          </a:xfrm>
          <a:prstGeom prst="ellipse">
            <a:avLst/>
          </a:prstGeom>
          <a:solidFill>
            <a:srgbClr val="FFC24B"/>
          </a:solidFill>
          <a:ln/>
        </p:spPr>
        <p:txBody>
          <a:bodyPr/>
          <a:p/>
        </p:txBody>
      </p:sp>
      <p:sp>
        <p:nvSpPr>
          <p:cNvPr id="16" name="Text 14"/>
          <p:cNvSpPr/>
          <p:nvPr/>
        </p:nvSpPr>
        <p:spPr>
          <a:xfrm>
            <a:off x="8321040" y="21671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8915400" y="1828800"/>
            <a:ext cx="2560320" cy="10972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Clorinarea apei la Jersey City</a:t>
            </a:r>
            <a:endParaRPr lang="en-US" sz="1700" dirty="0"/>
          </a:p>
        </p:txBody>
      </p:sp>
      <p:sp>
        <p:nvSpPr>
          <p:cNvPr id="18" name="Shape 16"/>
          <p:cNvSpPr/>
          <p:nvPr/>
        </p:nvSpPr>
        <p:spPr>
          <a:xfrm>
            <a:off x="594360" y="315468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19" name="Shape 17"/>
          <p:cNvSpPr/>
          <p:nvPr/>
        </p:nvSpPr>
        <p:spPr>
          <a:xfrm>
            <a:off x="822960" y="3493008"/>
            <a:ext cx="420624" cy="420624"/>
          </a:xfrm>
          <a:prstGeom prst="ellipse">
            <a:avLst/>
          </a:prstGeom>
          <a:solidFill>
            <a:srgbClr val="FFC24B"/>
          </a:solidFill>
          <a:ln/>
        </p:spPr>
        <p:txBody>
          <a:bodyPr/>
          <a:p/>
        </p:txBody>
      </p:sp>
      <p:sp>
        <p:nvSpPr>
          <p:cNvPr id="20" name="Text 18"/>
          <p:cNvSpPr/>
          <p:nvPr/>
        </p:nvSpPr>
        <p:spPr>
          <a:xfrm>
            <a:off x="822960" y="3493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417320" y="3154680"/>
            <a:ext cx="2560320" cy="10972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Vaccinul lui Jenner</a:t>
            </a:r>
            <a:endParaRPr lang="en-US" sz="1700" dirty="0"/>
          </a:p>
        </p:txBody>
      </p:sp>
      <p:sp>
        <p:nvSpPr>
          <p:cNvPr id="22" name="Shape 20"/>
          <p:cNvSpPr/>
          <p:nvPr/>
        </p:nvSpPr>
        <p:spPr>
          <a:xfrm>
            <a:off x="4343400" y="315468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23" name="Shape 21"/>
          <p:cNvSpPr/>
          <p:nvPr/>
        </p:nvSpPr>
        <p:spPr>
          <a:xfrm>
            <a:off x="4572000" y="3493008"/>
            <a:ext cx="420624" cy="420624"/>
          </a:xfrm>
          <a:prstGeom prst="ellipse">
            <a:avLst/>
          </a:prstGeom>
          <a:solidFill>
            <a:srgbClr val="FFC24B"/>
          </a:solidFill>
          <a:ln/>
        </p:spPr>
        <p:txBody>
          <a:bodyPr/>
          <a:p/>
        </p:txBody>
      </p:sp>
      <p:sp>
        <p:nvSpPr>
          <p:cNvPr id="24" name="Text 22"/>
          <p:cNvSpPr/>
          <p:nvPr/>
        </p:nvSpPr>
        <p:spPr>
          <a:xfrm>
            <a:off x="4572000" y="3493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E</a:t>
            </a:r>
            <a:endParaRPr lang="en-US" sz="1400" dirty="0"/>
          </a:p>
        </p:txBody>
      </p:sp>
      <p:sp>
        <p:nvSpPr>
          <p:cNvPr id="25" name="Text 23"/>
          <p:cNvSpPr/>
          <p:nvPr/>
        </p:nvSpPr>
        <p:spPr>
          <a:xfrm>
            <a:off x="5166360" y="3154680"/>
            <a:ext cx="2560320" cy="10972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Pompa din Broad Street</a:t>
            </a:r>
            <a:endParaRPr lang="en-US" sz="1700" dirty="0"/>
          </a:p>
        </p:txBody>
      </p:sp>
      <p:sp>
        <p:nvSpPr>
          <p:cNvPr id="26" name="Shape 24"/>
          <p:cNvSpPr/>
          <p:nvPr/>
        </p:nvSpPr>
        <p:spPr>
          <a:xfrm>
            <a:off x="8092440" y="3154680"/>
            <a:ext cx="3520440" cy="1097280"/>
          </a:xfrm>
          <a:prstGeom prst="roundRect">
            <a:avLst>
              <a:gd name="adj" fmla="val 7500"/>
            </a:avLst>
          </a:prstGeom>
          <a:solidFill>
            <a:srgbClr val="1D1F2B"/>
          </a:solidFill>
          <a:ln w="12700">
            <a:solidFill>
              <a:srgbClr val="1D1F2B"/>
            </a:solidFill>
            <a:prstDash val="solid"/>
          </a:ln>
        </p:spPr>
        <p:txBody>
          <a:bodyPr/>
          <a:p/>
        </p:txBody>
      </p:sp>
      <p:sp>
        <p:nvSpPr>
          <p:cNvPr id="27" name="Shape 25"/>
          <p:cNvSpPr/>
          <p:nvPr/>
        </p:nvSpPr>
        <p:spPr>
          <a:xfrm>
            <a:off x="8321040" y="3493008"/>
            <a:ext cx="420624" cy="420624"/>
          </a:xfrm>
          <a:prstGeom prst="ellipse">
            <a:avLst/>
          </a:prstGeom>
          <a:solidFill>
            <a:srgbClr val="FFC24B"/>
          </a:solidFill>
          <a:ln/>
        </p:spPr>
        <p:txBody>
          <a:bodyPr/>
          <a:p/>
        </p:txBody>
      </p:sp>
      <p:sp>
        <p:nvSpPr>
          <p:cNvPr id="28" name="Text 26"/>
          <p:cNvSpPr/>
          <p:nvPr/>
        </p:nvSpPr>
        <p:spPr>
          <a:xfrm>
            <a:off x="8321040" y="3493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F</a:t>
            </a:r>
            <a:endParaRPr lang="en-US" sz="1400" dirty="0"/>
          </a:p>
        </p:txBody>
      </p:sp>
      <p:sp>
        <p:nvSpPr>
          <p:cNvPr id="29" name="Text 27"/>
          <p:cNvSpPr/>
          <p:nvPr/>
        </p:nvSpPr>
        <p:spPr>
          <a:xfrm>
            <a:off x="8915400" y="3154680"/>
            <a:ext cx="2560320" cy="10972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Listele de decese analizate de Graunt</a:t>
            </a:r>
            <a:endParaRPr lang="en-US" sz="1700" dirty="0"/>
          </a:p>
        </p:txBody>
      </p:sp>
      <p:sp>
        <p:nvSpPr>
          <p:cNvPr id="30" name="Text 28"/>
          <p:cNvSpPr/>
          <p:nvPr/>
        </p:nvSpPr>
        <p:spPr>
          <a:xfrm>
            <a:off x="594360" y="4709160"/>
            <a:ext cx="10972800" cy="82296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Apoi un al doilea vot: care moment a salvat, după părerea voastră, cele mai multe vieți?</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ORDINEA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Sănătatea publică, cu un pas înaintea științei</a:t>
            </a:r>
            <a:endParaRPr lang="en-US" sz="3000" dirty="0"/>
          </a:p>
        </p:txBody>
      </p:sp>
      <p:sp>
        <p:nvSpPr>
          <p:cNvPr id="4" name="Shape 2"/>
          <p:cNvSpPr/>
          <p:nvPr/>
        </p:nvSpPr>
        <p:spPr>
          <a:xfrm>
            <a:off x="1005840" y="2834640"/>
            <a:ext cx="10104120" cy="45720"/>
          </a:xfrm>
          <a:prstGeom prst="rect">
            <a:avLst/>
          </a:prstGeom>
          <a:solidFill>
            <a:srgbClr val="11121A"/>
          </a:solidFill>
          <a:ln/>
        </p:spPr>
        <p:txBody>
          <a:bodyPr/>
          <a:p/>
        </p:txBody>
      </p:sp>
      <p:sp>
        <p:nvSpPr>
          <p:cNvPr id="5" name="Shape 3"/>
          <p:cNvSpPr/>
          <p:nvPr/>
        </p:nvSpPr>
        <p:spPr>
          <a:xfrm>
            <a:off x="877824" y="2724912"/>
            <a:ext cx="274320" cy="274320"/>
          </a:xfrm>
          <a:prstGeom prst="ellipse">
            <a:avLst/>
          </a:prstGeom>
          <a:solidFill>
            <a:srgbClr val="B02532"/>
          </a:solidFill>
          <a:ln w="25400">
            <a:solidFill>
              <a:srgbClr val="F6F5F2"/>
            </a:solidFill>
            <a:prstDash val="solid"/>
          </a:ln>
        </p:spPr>
        <p:txBody>
          <a:bodyPr/>
          <a:p/>
        </p:txBody>
      </p:sp>
      <p:sp>
        <p:nvSpPr>
          <p:cNvPr id="6" name="Text 4"/>
          <p:cNvSpPr/>
          <p:nvPr/>
        </p:nvSpPr>
        <p:spPr>
          <a:xfrm>
            <a:off x="182880" y="2057400"/>
            <a:ext cx="1645920" cy="502920"/>
          </a:xfrm>
          <a:prstGeom prst="rect">
            <a:avLst/>
          </a:prstGeom>
          <a:noFill/>
          <a:ln/>
        </p:spPr>
        <p:txBody>
          <a:bodyPr wrap="square" lIns="0" tIns="0" rIns="0" bIns="0" rtlCol="0" anchor="t"/>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1377</a:t>
            </a:r>
            <a:endParaRPr lang="en-US" sz="2200" dirty="0"/>
          </a:p>
        </p:txBody>
      </p:sp>
      <p:sp>
        <p:nvSpPr>
          <p:cNvPr id="7" name="Text 5"/>
          <p:cNvSpPr/>
          <p:nvPr/>
        </p:nvSpPr>
        <p:spPr>
          <a:xfrm>
            <a:off x="137160" y="3154680"/>
            <a:ext cx="1737360" cy="73152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Carantina, Ragusa</a:t>
            </a:r>
            <a:endParaRPr lang="en-US" sz="1400" dirty="0"/>
          </a:p>
        </p:txBody>
      </p:sp>
      <p:sp>
        <p:nvSpPr>
          <p:cNvPr id="8" name="Shape 6"/>
          <p:cNvSpPr/>
          <p:nvPr/>
        </p:nvSpPr>
        <p:spPr>
          <a:xfrm>
            <a:off x="2898648" y="2724912"/>
            <a:ext cx="274320" cy="274320"/>
          </a:xfrm>
          <a:prstGeom prst="ellipse">
            <a:avLst/>
          </a:prstGeom>
          <a:solidFill>
            <a:srgbClr val="B02532"/>
          </a:solidFill>
          <a:ln w="25400">
            <a:solidFill>
              <a:srgbClr val="F6F5F2"/>
            </a:solidFill>
            <a:prstDash val="solid"/>
          </a:ln>
        </p:spPr>
        <p:txBody>
          <a:bodyPr/>
          <a:p/>
        </p:txBody>
      </p:sp>
      <p:sp>
        <p:nvSpPr>
          <p:cNvPr id="9" name="Text 7"/>
          <p:cNvSpPr/>
          <p:nvPr/>
        </p:nvSpPr>
        <p:spPr>
          <a:xfrm>
            <a:off x="2203704" y="2057400"/>
            <a:ext cx="1645920" cy="502920"/>
          </a:xfrm>
          <a:prstGeom prst="rect">
            <a:avLst/>
          </a:prstGeom>
          <a:noFill/>
          <a:ln/>
        </p:spPr>
        <p:txBody>
          <a:bodyPr wrap="square" lIns="0" tIns="0" rIns="0" bIns="0" rtlCol="0" anchor="t"/>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1662</a:t>
            </a:r>
            <a:endParaRPr lang="en-US" sz="2200" dirty="0"/>
          </a:p>
        </p:txBody>
      </p:sp>
      <p:sp>
        <p:nvSpPr>
          <p:cNvPr id="10" name="Text 8"/>
          <p:cNvSpPr/>
          <p:nvPr/>
        </p:nvSpPr>
        <p:spPr>
          <a:xfrm>
            <a:off x="2157984" y="3154680"/>
            <a:ext cx="1737360" cy="73152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Graunt</a:t>
            </a:r>
            <a:endParaRPr lang="en-US" sz="1400" dirty="0"/>
          </a:p>
        </p:txBody>
      </p:sp>
      <p:sp>
        <p:nvSpPr>
          <p:cNvPr id="11" name="Shape 9"/>
          <p:cNvSpPr/>
          <p:nvPr/>
        </p:nvSpPr>
        <p:spPr>
          <a:xfrm>
            <a:off x="4919472" y="2724912"/>
            <a:ext cx="274320" cy="274320"/>
          </a:xfrm>
          <a:prstGeom prst="ellipse">
            <a:avLst/>
          </a:prstGeom>
          <a:solidFill>
            <a:srgbClr val="B02532"/>
          </a:solidFill>
          <a:ln w="25400">
            <a:solidFill>
              <a:srgbClr val="F6F5F2"/>
            </a:solidFill>
            <a:prstDash val="solid"/>
          </a:ln>
        </p:spPr>
        <p:txBody>
          <a:bodyPr/>
          <a:p/>
        </p:txBody>
      </p:sp>
      <p:sp>
        <p:nvSpPr>
          <p:cNvPr id="12" name="Text 10"/>
          <p:cNvSpPr/>
          <p:nvPr/>
        </p:nvSpPr>
        <p:spPr>
          <a:xfrm>
            <a:off x="4224528" y="2057400"/>
            <a:ext cx="1645920" cy="502920"/>
          </a:xfrm>
          <a:prstGeom prst="rect">
            <a:avLst/>
          </a:prstGeom>
          <a:noFill/>
          <a:ln/>
        </p:spPr>
        <p:txBody>
          <a:bodyPr wrap="square" lIns="0" tIns="0" rIns="0" bIns="0" rtlCol="0" anchor="t"/>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1796</a:t>
            </a:r>
            <a:endParaRPr lang="en-US" sz="2200" dirty="0"/>
          </a:p>
        </p:txBody>
      </p:sp>
      <p:sp>
        <p:nvSpPr>
          <p:cNvPr id="13" name="Text 11"/>
          <p:cNvSpPr/>
          <p:nvPr/>
        </p:nvSpPr>
        <p:spPr>
          <a:xfrm>
            <a:off x="4178808" y="3154680"/>
            <a:ext cx="1737360" cy="73152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Jenner</a:t>
            </a:r>
            <a:endParaRPr lang="en-US" sz="1400" dirty="0"/>
          </a:p>
        </p:txBody>
      </p:sp>
      <p:sp>
        <p:nvSpPr>
          <p:cNvPr id="14" name="Shape 12"/>
          <p:cNvSpPr/>
          <p:nvPr/>
        </p:nvSpPr>
        <p:spPr>
          <a:xfrm>
            <a:off x="6940296" y="2724912"/>
            <a:ext cx="274320" cy="274320"/>
          </a:xfrm>
          <a:prstGeom prst="ellipse">
            <a:avLst/>
          </a:prstGeom>
          <a:solidFill>
            <a:srgbClr val="B02532"/>
          </a:solidFill>
          <a:ln w="25400">
            <a:solidFill>
              <a:srgbClr val="F6F5F2"/>
            </a:solidFill>
            <a:prstDash val="solid"/>
          </a:ln>
        </p:spPr>
        <p:txBody>
          <a:bodyPr/>
          <a:p/>
        </p:txBody>
      </p:sp>
      <p:sp>
        <p:nvSpPr>
          <p:cNvPr id="15" name="Text 13"/>
          <p:cNvSpPr/>
          <p:nvPr/>
        </p:nvSpPr>
        <p:spPr>
          <a:xfrm>
            <a:off x="6245352" y="2057400"/>
            <a:ext cx="1645920" cy="502920"/>
          </a:xfrm>
          <a:prstGeom prst="rect">
            <a:avLst/>
          </a:prstGeom>
          <a:noFill/>
          <a:ln/>
        </p:spPr>
        <p:txBody>
          <a:bodyPr wrap="square" lIns="0" tIns="0" rIns="0" bIns="0" rtlCol="0" anchor="t"/>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1854</a:t>
            </a:r>
            <a:endParaRPr lang="en-US" sz="2200" dirty="0"/>
          </a:p>
        </p:txBody>
      </p:sp>
      <p:sp>
        <p:nvSpPr>
          <p:cNvPr id="16" name="Text 14"/>
          <p:cNvSpPr/>
          <p:nvPr/>
        </p:nvSpPr>
        <p:spPr>
          <a:xfrm>
            <a:off x="6199632" y="3154680"/>
            <a:ext cx="1737360" cy="73152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Broad Street</a:t>
            </a:r>
            <a:endParaRPr lang="en-US" sz="1400" dirty="0"/>
          </a:p>
        </p:txBody>
      </p:sp>
      <p:sp>
        <p:nvSpPr>
          <p:cNvPr id="17" name="Shape 15"/>
          <p:cNvSpPr/>
          <p:nvPr/>
        </p:nvSpPr>
        <p:spPr>
          <a:xfrm>
            <a:off x="8961120" y="2724912"/>
            <a:ext cx="274320" cy="274320"/>
          </a:xfrm>
          <a:prstGeom prst="ellipse">
            <a:avLst/>
          </a:prstGeom>
          <a:solidFill>
            <a:srgbClr val="0E7C6B"/>
          </a:solidFill>
          <a:ln w="25400">
            <a:solidFill>
              <a:srgbClr val="F6F5F2"/>
            </a:solidFill>
            <a:prstDash val="solid"/>
          </a:ln>
        </p:spPr>
        <p:txBody>
          <a:bodyPr/>
          <a:p/>
        </p:txBody>
      </p:sp>
      <p:sp>
        <p:nvSpPr>
          <p:cNvPr id="18" name="Text 16"/>
          <p:cNvSpPr/>
          <p:nvPr/>
        </p:nvSpPr>
        <p:spPr>
          <a:xfrm>
            <a:off x="8266176" y="2057400"/>
            <a:ext cx="1645920" cy="502920"/>
          </a:xfrm>
          <a:prstGeom prst="rect">
            <a:avLst/>
          </a:prstGeom>
          <a:noFill/>
          <a:ln/>
        </p:spPr>
        <p:txBody>
          <a:bodyPr wrap="square" lIns="0" tIns="0" rIns="0" bIns="0" rtlCol="0" anchor="t"/>
          <a:lstStyle/>
          <a:p>
            <a:pPr algn="ctr" indent="0" marL="0">
              <a:buNone/>
            </a:pPr>
            <a:r>
              <a:rPr lang="en-US" sz="2200" b="1" dirty="0">
                <a:solidFill>
                  <a:srgbClr val="0E7C6B"/>
                </a:solidFill>
                <a:latin typeface="Palatino Linotype" pitchFamily="34" charset="0"/>
                <a:ea typeface="Palatino Linotype" pitchFamily="34" charset="-122"/>
                <a:cs typeface="Palatino Linotype" pitchFamily="34" charset="-120"/>
              </a:rPr>
              <a:t>1882</a:t>
            </a:r>
            <a:endParaRPr lang="en-US" sz="2200" dirty="0"/>
          </a:p>
        </p:txBody>
      </p:sp>
      <p:sp>
        <p:nvSpPr>
          <p:cNvPr id="19" name="Text 17"/>
          <p:cNvSpPr/>
          <p:nvPr/>
        </p:nvSpPr>
        <p:spPr>
          <a:xfrm>
            <a:off x="8220456" y="3154680"/>
            <a:ext cx="1737360" cy="73152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Koch</a:t>
            </a:r>
            <a:endParaRPr lang="en-US" sz="1400" dirty="0"/>
          </a:p>
        </p:txBody>
      </p:sp>
      <p:sp>
        <p:nvSpPr>
          <p:cNvPr id="20" name="Shape 18"/>
          <p:cNvSpPr/>
          <p:nvPr/>
        </p:nvSpPr>
        <p:spPr>
          <a:xfrm>
            <a:off x="10981944" y="2724912"/>
            <a:ext cx="274320" cy="274320"/>
          </a:xfrm>
          <a:prstGeom prst="ellipse">
            <a:avLst/>
          </a:prstGeom>
          <a:solidFill>
            <a:srgbClr val="0E7C6B"/>
          </a:solidFill>
          <a:ln w="25400">
            <a:solidFill>
              <a:srgbClr val="F6F5F2"/>
            </a:solidFill>
            <a:prstDash val="solid"/>
          </a:ln>
        </p:spPr>
        <p:txBody>
          <a:bodyPr/>
          <a:p/>
        </p:txBody>
      </p:sp>
      <p:sp>
        <p:nvSpPr>
          <p:cNvPr id="21" name="Text 19"/>
          <p:cNvSpPr/>
          <p:nvPr/>
        </p:nvSpPr>
        <p:spPr>
          <a:xfrm>
            <a:off x="10287000" y="2057400"/>
            <a:ext cx="1645920" cy="502920"/>
          </a:xfrm>
          <a:prstGeom prst="rect">
            <a:avLst/>
          </a:prstGeom>
          <a:noFill/>
          <a:ln/>
        </p:spPr>
        <p:txBody>
          <a:bodyPr wrap="square" lIns="0" tIns="0" rIns="0" bIns="0" rtlCol="0" anchor="t"/>
          <a:lstStyle/>
          <a:p>
            <a:pPr algn="ctr" indent="0" marL="0">
              <a:buNone/>
            </a:pPr>
            <a:r>
              <a:rPr lang="en-US" sz="2200" b="1" dirty="0">
                <a:solidFill>
                  <a:srgbClr val="0E7C6B"/>
                </a:solidFill>
                <a:latin typeface="Palatino Linotype" pitchFamily="34" charset="0"/>
                <a:ea typeface="Palatino Linotype" pitchFamily="34" charset="-122"/>
                <a:cs typeface="Palatino Linotype" pitchFamily="34" charset="-120"/>
              </a:rPr>
              <a:t>1908</a:t>
            </a:r>
            <a:endParaRPr lang="en-US" sz="2200" dirty="0"/>
          </a:p>
        </p:txBody>
      </p:sp>
      <p:sp>
        <p:nvSpPr>
          <p:cNvPr id="22" name="Text 20"/>
          <p:cNvSpPr/>
          <p:nvPr/>
        </p:nvSpPr>
        <p:spPr>
          <a:xfrm>
            <a:off x="10241280" y="3154680"/>
            <a:ext cx="1737360" cy="73152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Clorul, Jersey City</a:t>
            </a:r>
            <a:endParaRPr lang="en-US" sz="1400" dirty="0"/>
          </a:p>
        </p:txBody>
      </p:sp>
      <p:sp>
        <p:nvSpPr>
          <p:cNvPr id="23" name="Shape 21"/>
          <p:cNvSpPr/>
          <p:nvPr/>
        </p:nvSpPr>
        <p:spPr>
          <a:xfrm>
            <a:off x="8078724" y="1737360"/>
            <a:ext cx="27432" cy="2377440"/>
          </a:xfrm>
          <a:prstGeom prst="rect">
            <a:avLst/>
          </a:prstGeom>
          <a:solidFill>
            <a:srgbClr val="585A64"/>
          </a:solidFill>
          <a:ln/>
        </p:spPr>
        <p:txBody>
          <a:bodyPr/>
          <a:p/>
        </p:txBody>
      </p:sp>
      <p:sp>
        <p:nvSpPr>
          <p:cNvPr id="24" name="Text 22"/>
          <p:cNvSpPr/>
          <p:nvPr/>
        </p:nvSpPr>
        <p:spPr>
          <a:xfrm>
            <a:off x="6615684" y="1508760"/>
            <a:ext cx="2926080" cy="274320"/>
          </a:xfrm>
          <a:prstGeom prst="rect">
            <a:avLst/>
          </a:prstGeom>
          <a:noFill/>
          <a:ln/>
        </p:spPr>
        <p:txBody>
          <a:bodyPr wrap="square" lIns="0" tIns="0" rIns="0" bIns="0" rtlCol="0" anchor="t"/>
          <a:lstStyle/>
          <a:p>
            <a:pPr algn="ctr" indent="0" marL="0">
              <a:buNone/>
            </a:pPr>
            <a:r>
              <a:rPr lang="en-US" sz="1300" i="1" dirty="0">
                <a:solidFill>
                  <a:srgbClr val="585A64"/>
                </a:solidFill>
                <a:latin typeface="Palatino Linotype" pitchFamily="34" charset="0"/>
                <a:ea typeface="Palatino Linotype" pitchFamily="34" charset="-122"/>
                <a:cs typeface="Palatino Linotype" pitchFamily="34" charset="-120"/>
              </a:rPr>
              <a:t>dovada că microbii provoacă boli</a:t>
            </a:r>
            <a:endParaRPr lang="en-US" sz="1300" dirty="0"/>
          </a:p>
        </p:txBody>
      </p:sp>
      <p:sp>
        <p:nvSpPr>
          <p:cNvPr id="25" name="Shape 23"/>
          <p:cNvSpPr/>
          <p:nvPr/>
        </p:nvSpPr>
        <p:spPr>
          <a:xfrm>
            <a:off x="594360" y="4343400"/>
            <a:ext cx="10972800" cy="1417320"/>
          </a:xfrm>
          <a:prstGeom prst="roundRect">
            <a:avLst>
              <a:gd name="adj" fmla="val 5806"/>
            </a:avLst>
          </a:prstGeom>
          <a:solidFill>
            <a:srgbClr val="ECEAE4"/>
          </a:solidFill>
          <a:ln w="12700">
            <a:solidFill>
              <a:srgbClr val="ECEAE4"/>
            </a:solidFill>
            <a:prstDash val="solid"/>
          </a:ln>
        </p:spPr>
        <p:txBody>
          <a:bodyPr/>
          <a:p/>
        </p:txBody>
      </p:sp>
      <p:sp>
        <p:nvSpPr>
          <p:cNvPr id="26" name="Text 24"/>
          <p:cNvSpPr/>
          <p:nvPr/>
        </p:nvSpPr>
        <p:spPr>
          <a:xfrm>
            <a:off x="868680" y="4343400"/>
            <a:ext cx="10424160" cy="141732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Patru din cele șase momente vin înaintea dovezii. Trei au fost măsuri luate fără ca cineva să cunoască microbul: carantina, vaccinul lui Jenner și scoaterea manetei de la pompă.</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AȚI CREDE ACEASTĂ AFIRMAȚIE?</a:t>
            </a:r>
            <a:endParaRPr lang="en-US" sz="1300" dirty="0"/>
          </a:p>
        </p:txBody>
      </p:sp>
      <p:sp>
        <p:nvSpPr>
          <p:cNvPr id="5" name="Shape 3"/>
          <p:cNvSpPr/>
          <p:nvPr/>
        </p:nvSpPr>
        <p:spPr>
          <a:xfrm>
            <a:off x="1097280" y="1097280"/>
            <a:ext cx="9966960" cy="2743200"/>
          </a:xfrm>
          <a:prstGeom prst="rect">
            <a:avLst/>
          </a:prstGeom>
          <a:solidFill>
            <a:srgbClr val="FBF8F1"/>
          </a:solidFill>
          <a:ln w="9525">
            <a:solidFill>
              <a:srgbClr val="E4DFD2"/>
            </a:solidFill>
            <a:prstDash val="solid"/>
          </a:ln>
          <a:effectLst>
            <a:outerShdw sx="100000" sy="100000" kx="0" ky="0" algn="bl" rotWithShape="0" blurRad="101600" dist="50800" dir="3600000">
              <a:srgbClr val="000000">
                <a:alpha val="40000"/>
              </a:srgbClr>
            </a:outerShdw>
          </a:effectLst>
        </p:spPr>
        <p:txBody>
          <a:bodyPr/>
          <a:p/>
        </p:txBody>
      </p:sp>
      <p:sp>
        <p:nvSpPr>
          <p:cNvPr id="6" name="Shape 4"/>
          <p:cNvSpPr/>
          <p:nvPr/>
        </p:nvSpPr>
        <p:spPr>
          <a:xfrm>
            <a:off x="1463040" y="1371600"/>
            <a:ext cx="5669280" cy="329184"/>
          </a:xfrm>
          <a:prstGeom prst="roundRect">
            <a:avLst>
              <a:gd name="adj" fmla="val 50000"/>
            </a:avLst>
          </a:prstGeom>
          <a:solidFill>
            <a:srgbClr val="ECEAE4"/>
          </a:solidFill>
          <a:ln w="12700">
            <a:solidFill>
              <a:srgbClr val="ECEAE4"/>
            </a:solidFill>
            <a:prstDash val="solid"/>
          </a:ln>
        </p:spPr>
        <p:txBody>
          <a:bodyPr/>
          <a:p/>
        </p:txBody>
      </p:sp>
      <p:sp>
        <p:nvSpPr>
          <p:cNvPr id="7" name="Text 5"/>
          <p:cNvSpPr/>
          <p:nvPr/>
        </p:nvSpPr>
        <p:spPr>
          <a:xfrm>
            <a:off x="1463040" y="1371600"/>
            <a:ext cx="5669280" cy="329184"/>
          </a:xfrm>
          <a:prstGeom prst="rect">
            <a:avLst/>
          </a:prstGeom>
          <a:noFill/>
          <a:ln/>
        </p:spPr>
        <p:txBody>
          <a:bodyPr wrap="square" lIns="0" tIns="0" rIns="0" bIns="0" rtlCol="0" anchor="ctr"/>
          <a:lstStyle/>
          <a:p>
            <a:pPr algn="ctr" indent="0" marL="0">
              <a:buNone/>
            </a:pPr>
            <a:r>
              <a:rPr lang="en-US" sz="1200" b="1" dirty="0">
                <a:solidFill>
                  <a:srgbClr val="B02532"/>
                </a:solidFill>
                <a:latin typeface="Palatino Linotype" pitchFamily="34" charset="0"/>
                <a:ea typeface="Palatino Linotype" pitchFamily="34" charset="-122"/>
                <a:cs typeface="Palatino Linotype" pitchFamily="34" charset="-120"/>
              </a:rPr>
              <a:t>EXEMPLU CONSTRUIT · NU ESTE UN TITLU DE PRESĂ</a:t>
            </a:r>
            <a:endParaRPr lang="en-US" sz="1200" dirty="0"/>
          </a:p>
        </p:txBody>
      </p:sp>
      <p:sp>
        <p:nvSpPr>
          <p:cNvPr id="8" name="Text 6"/>
          <p:cNvSpPr/>
          <p:nvPr/>
        </p:nvSpPr>
        <p:spPr>
          <a:xfrm>
            <a:off x="1463040" y="1874520"/>
            <a:ext cx="9235440" cy="1783080"/>
          </a:xfrm>
          <a:prstGeom prst="rect">
            <a:avLst/>
          </a:prstGeom>
          <a:noFill/>
          <a:ln/>
        </p:spPr>
        <p:txBody>
          <a:bodyPr wrap="square" lIns="0" tIns="0" rIns="0" bIns="0" rtlCol="0" anchor="ctr"/>
          <a:lstStyle/>
          <a:p>
            <a:pPr indent="0" marL="0">
              <a:buNone/>
            </a:pPr>
            <a:r>
              <a:rPr lang="en-US" sz="2800" b="1" i="1" dirty="0">
                <a:solidFill>
                  <a:srgbClr val="11121A"/>
                </a:solidFill>
                <a:latin typeface="Palatino Linotype" pitchFamily="34" charset="0"/>
                <a:ea typeface="Palatino Linotype" pitchFamily="34" charset="-122"/>
                <a:cs typeface="Palatino Linotype" pitchFamily="34" charset="-120"/>
              </a:rPr>
              <a:t>„Trăim mult mai mult decât străbunicii noștri datorită spitalelor și medicamentelor moderne.”</a:t>
            </a:r>
            <a:endParaRPr lang="en-US" sz="2800" dirty="0"/>
          </a:p>
        </p:txBody>
      </p:sp>
      <p:sp>
        <p:nvSpPr>
          <p:cNvPr id="9" name="Shape 7"/>
          <p:cNvSpPr/>
          <p:nvPr/>
        </p:nvSpPr>
        <p:spPr>
          <a:xfrm>
            <a:off x="1097280" y="4251960"/>
            <a:ext cx="3108960" cy="329184"/>
          </a:xfrm>
          <a:prstGeom prst="roundRect">
            <a:avLst>
              <a:gd name="adj" fmla="val 50000"/>
            </a:avLst>
          </a:prstGeom>
          <a:solidFill>
            <a:srgbClr val="272A38"/>
          </a:solidFill>
          <a:ln w="12700">
            <a:solidFill>
              <a:srgbClr val="272A38"/>
            </a:solidFill>
            <a:prstDash val="solid"/>
          </a:ln>
        </p:spPr>
        <p:txBody>
          <a:bodyPr/>
          <a:p/>
        </p:txBody>
      </p:sp>
      <p:sp>
        <p:nvSpPr>
          <p:cNvPr id="10" name="Text 8"/>
          <p:cNvSpPr/>
          <p:nvPr/>
        </p:nvSpPr>
        <p:spPr>
          <a:xfrm>
            <a:off x="1097280" y="4251960"/>
            <a:ext cx="31089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Adevărat</a:t>
            </a:r>
            <a:endParaRPr lang="en-US" sz="1600" dirty="0"/>
          </a:p>
        </p:txBody>
      </p:sp>
      <p:sp>
        <p:nvSpPr>
          <p:cNvPr id="11" name="Shape 9"/>
          <p:cNvSpPr/>
          <p:nvPr/>
        </p:nvSpPr>
        <p:spPr>
          <a:xfrm>
            <a:off x="4480560" y="4251960"/>
            <a:ext cx="3108960" cy="329184"/>
          </a:xfrm>
          <a:prstGeom prst="roundRect">
            <a:avLst>
              <a:gd name="adj" fmla="val 50000"/>
            </a:avLst>
          </a:prstGeom>
          <a:solidFill>
            <a:srgbClr val="272A38"/>
          </a:solidFill>
          <a:ln w="12700">
            <a:solidFill>
              <a:srgbClr val="272A38"/>
            </a:solidFill>
            <a:prstDash val="solid"/>
          </a:ln>
        </p:spPr>
        <p:txBody>
          <a:bodyPr/>
          <a:p/>
        </p:txBody>
      </p:sp>
      <p:sp>
        <p:nvSpPr>
          <p:cNvPr id="12" name="Text 10"/>
          <p:cNvSpPr/>
          <p:nvPr/>
        </p:nvSpPr>
        <p:spPr>
          <a:xfrm>
            <a:off x="4480560" y="4251960"/>
            <a:ext cx="31089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Fals</a:t>
            </a:r>
            <a:endParaRPr lang="en-US" sz="1600" dirty="0"/>
          </a:p>
        </p:txBody>
      </p:sp>
      <p:sp>
        <p:nvSpPr>
          <p:cNvPr id="13" name="Shape 11"/>
          <p:cNvSpPr/>
          <p:nvPr/>
        </p:nvSpPr>
        <p:spPr>
          <a:xfrm>
            <a:off x="7863840" y="4251960"/>
            <a:ext cx="310896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7863840" y="4251960"/>
            <a:ext cx="31089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Parțial adevărat</a:t>
            </a:r>
            <a:endParaRPr lang="en-US" sz="1600" dirty="0"/>
          </a:p>
        </p:txBody>
      </p:sp>
      <p:sp>
        <p:nvSpPr>
          <p:cNvPr id="15" name="Text 13"/>
          <p:cNvSpPr/>
          <p:nvPr/>
        </p:nvSpPr>
        <p:spPr>
          <a:xfrm>
            <a:off x="594360" y="4937760"/>
            <a:ext cx="10972800" cy="73152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O afirmație frecventă, pe care probabil ați auzit-o. Un minut cu colegul de bancă, înainte de rezultat.</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PARȚIAL ADEVĂRAT · STATELE UNITE, SECOLUL AL XX-LEA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Cei mai mulți ani au venit din sănătatea publică</a:t>
            </a:r>
            <a:endParaRPr lang="en-US" sz="3000" dirty="0"/>
          </a:p>
        </p:txBody>
      </p:sp>
      <p:sp>
        <p:nvSpPr>
          <p:cNvPr id="4" name="Text 2"/>
          <p:cNvSpPr/>
          <p:nvPr/>
        </p:nvSpPr>
        <p:spPr>
          <a:xfrm>
            <a:off x="594360" y="1645920"/>
            <a:ext cx="10972800" cy="3657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Speranța de viață a crescut cu peste 30 de ani; dintre ei:</a:t>
            </a:r>
            <a:endParaRPr lang="en-US" sz="1700" dirty="0"/>
          </a:p>
        </p:txBody>
      </p:sp>
      <p:sp>
        <p:nvSpPr>
          <p:cNvPr id="5" name="Shape 3"/>
          <p:cNvSpPr/>
          <p:nvPr/>
        </p:nvSpPr>
        <p:spPr>
          <a:xfrm>
            <a:off x="594360" y="2148840"/>
            <a:ext cx="8229600" cy="822960"/>
          </a:xfrm>
          <a:prstGeom prst="rect">
            <a:avLst/>
          </a:prstGeom>
          <a:solidFill>
            <a:srgbClr val="0E7C6B"/>
          </a:solidFill>
          <a:ln w="12700">
            <a:solidFill>
              <a:srgbClr val="0E7C6B"/>
            </a:solidFill>
            <a:prstDash val="solid"/>
          </a:ln>
        </p:spPr>
        <p:txBody>
          <a:bodyPr/>
          <a:p/>
        </p:txBody>
      </p:sp>
      <p:sp>
        <p:nvSpPr>
          <p:cNvPr id="6" name="Shape 4"/>
          <p:cNvSpPr/>
          <p:nvPr/>
        </p:nvSpPr>
        <p:spPr>
          <a:xfrm>
            <a:off x="8823960" y="2148840"/>
            <a:ext cx="1645920" cy="822960"/>
          </a:xfrm>
          <a:prstGeom prst="rect">
            <a:avLst/>
          </a:prstGeom>
          <a:solidFill>
            <a:srgbClr val="ECEAE4"/>
          </a:solidFill>
          <a:ln w="12700">
            <a:solidFill>
              <a:srgbClr val="C9C6BE"/>
            </a:solidFill>
            <a:prstDash val="solid"/>
          </a:ln>
        </p:spPr>
        <p:txBody>
          <a:bodyPr/>
          <a:p/>
        </p:txBody>
      </p:sp>
      <p:sp>
        <p:nvSpPr>
          <p:cNvPr id="7" name="Text 5"/>
          <p:cNvSpPr/>
          <p:nvPr/>
        </p:nvSpPr>
        <p:spPr>
          <a:xfrm>
            <a:off x="777240" y="2148840"/>
            <a:ext cx="7955280" cy="82296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25 de ani: progresele sănătății publice</a:t>
            </a:r>
            <a:endParaRPr lang="en-US" sz="2000" dirty="0"/>
          </a:p>
        </p:txBody>
      </p:sp>
      <p:sp>
        <p:nvSpPr>
          <p:cNvPr id="8" name="Text 6"/>
          <p:cNvSpPr/>
          <p:nvPr/>
        </p:nvSpPr>
        <p:spPr>
          <a:xfrm>
            <a:off x="8823960" y="2148840"/>
            <a:ext cx="1645920" cy="822960"/>
          </a:xfrm>
          <a:prstGeom prst="rect">
            <a:avLst/>
          </a:prstGeom>
          <a:noFill/>
          <a:ln/>
        </p:spPr>
        <p:txBody>
          <a:bodyPr wrap="square" lIns="0" tIns="0" rIns="0" bIns="0" rtlCol="0" anchor="ctr"/>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restul</a:t>
            </a:r>
            <a:endParaRPr lang="en-US" sz="1500" dirty="0"/>
          </a:p>
        </p:txBody>
      </p:sp>
      <p:sp>
        <p:nvSpPr>
          <p:cNvPr id="9" name="Shape 7"/>
          <p:cNvSpPr/>
          <p:nvPr/>
        </p:nvSpPr>
        <p:spPr>
          <a:xfrm>
            <a:off x="594360" y="324612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10" name="Text 8"/>
          <p:cNvSpPr/>
          <p:nvPr/>
        </p:nvSpPr>
        <p:spPr>
          <a:xfrm>
            <a:off x="594360" y="3246120"/>
            <a:ext cx="3520440" cy="329184"/>
          </a:xfrm>
          <a:prstGeom prst="rect">
            <a:avLst/>
          </a:prstGeom>
          <a:noFill/>
          <a:ln/>
        </p:spPr>
        <p:txBody>
          <a:bodyPr wrap="square" lIns="0" tIns="0" rIns="0" bIns="0" rtlCol="0" anchor="ctr"/>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vaccinarea</a:t>
            </a:r>
            <a:endParaRPr lang="en-US" sz="1400" dirty="0"/>
          </a:p>
        </p:txBody>
      </p:sp>
      <p:sp>
        <p:nvSpPr>
          <p:cNvPr id="11" name="Shape 9"/>
          <p:cNvSpPr/>
          <p:nvPr/>
        </p:nvSpPr>
        <p:spPr>
          <a:xfrm>
            <a:off x="4343400" y="324612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12" name="Text 10"/>
          <p:cNvSpPr/>
          <p:nvPr/>
        </p:nvSpPr>
        <p:spPr>
          <a:xfrm>
            <a:off x="4343400" y="3246120"/>
            <a:ext cx="3520440" cy="329184"/>
          </a:xfrm>
          <a:prstGeom prst="rect">
            <a:avLst/>
          </a:prstGeom>
          <a:noFill/>
          <a:ln/>
        </p:spPr>
        <p:txBody>
          <a:bodyPr wrap="square" lIns="0" tIns="0" rIns="0" bIns="0" rtlCol="0" anchor="ctr"/>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apa fluorizată</a:t>
            </a:r>
            <a:endParaRPr lang="en-US" sz="1400" dirty="0"/>
          </a:p>
        </p:txBody>
      </p:sp>
      <p:sp>
        <p:nvSpPr>
          <p:cNvPr id="13" name="Shape 11"/>
          <p:cNvSpPr/>
          <p:nvPr/>
        </p:nvSpPr>
        <p:spPr>
          <a:xfrm>
            <a:off x="8092440" y="324612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14" name="Text 12"/>
          <p:cNvSpPr/>
          <p:nvPr/>
        </p:nvSpPr>
        <p:spPr>
          <a:xfrm>
            <a:off x="8092440" y="3246120"/>
            <a:ext cx="3520440" cy="329184"/>
          </a:xfrm>
          <a:prstGeom prst="rect">
            <a:avLst/>
          </a:prstGeom>
          <a:noFill/>
          <a:ln/>
        </p:spPr>
        <p:txBody>
          <a:bodyPr wrap="square" lIns="0" tIns="0" rIns="0" bIns="0" rtlCol="0" anchor="ctr"/>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alimente mai sigure</a:t>
            </a:r>
            <a:endParaRPr lang="en-US" sz="1400" dirty="0"/>
          </a:p>
        </p:txBody>
      </p:sp>
      <p:sp>
        <p:nvSpPr>
          <p:cNvPr id="15" name="Shape 13"/>
          <p:cNvSpPr/>
          <p:nvPr/>
        </p:nvSpPr>
        <p:spPr>
          <a:xfrm>
            <a:off x="594360" y="370332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16" name="Text 14"/>
          <p:cNvSpPr/>
          <p:nvPr/>
        </p:nvSpPr>
        <p:spPr>
          <a:xfrm>
            <a:off x="594360" y="3703320"/>
            <a:ext cx="3520440" cy="329184"/>
          </a:xfrm>
          <a:prstGeom prst="rect">
            <a:avLst/>
          </a:prstGeom>
          <a:noFill/>
          <a:ln/>
        </p:spPr>
        <p:txBody>
          <a:bodyPr wrap="square" lIns="0" tIns="0" rIns="0" bIns="0" rtlCol="0" anchor="ctr"/>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siguranța la locul de muncă</a:t>
            </a:r>
            <a:endParaRPr lang="en-US" sz="1400" dirty="0"/>
          </a:p>
        </p:txBody>
      </p:sp>
      <p:sp>
        <p:nvSpPr>
          <p:cNvPr id="17" name="Shape 15"/>
          <p:cNvSpPr/>
          <p:nvPr/>
        </p:nvSpPr>
        <p:spPr>
          <a:xfrm>
            <a:off x="4343400" y="370332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18" name="Text 16"/>
          <p:cNvSpPr/>
          <p:nvPr/>
        </p:nvSpPr>
        <p:spPr>
          <a:xfrm>
            <a:off x="4343400" y="3703320"/>
            <a:ext cx="3520440" cy="329184"/>
          </a:xfrm>
          <a:prstGeom prst="rect">
            <a:avLst/>
          </a:prstGeom>
          <a:noFill/>
          <a:ln/>
        </p:spPr>
        <p:txBody>
          <a:bodyPr wrap="square" lIns="0" tIns="0" rIns="0" bIns="0" rtlCol="0" anchor="ctr"/>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controlul fumatului</a:t>
            </a:r>
            <a:endParaRPr lang="en-US" sz="1400" dirty="0"/>
          </a:p>
        </p:txBody>
      </p:sp>
      <p:sp>
        <p:nvSpPr>
          <p:cNvPr id="19" name="Shape 17"/>
          <p:cNvSpPr/>
          <p:nvPr/>
        </p:nvSpPr>
        <p:spPr>
          <a:xfrm>
            <a:off x="8092440" y="370332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20" name="Text 18"/>
          <p:cNvSpPr/>
          <p:nvPr/>
        </p:nvSpPr>
        <p:spPr>
          <a:xfrm>
            <a:off x="8092440" y="3703320"/>
            <a:ext cx="3520440" cy="329184"/>
          </a:xfrm>
          <a:prstGeom prst="rect">
            <a:avLst/>
          </a:prstGeom>
          <a:noFill/>
          <a:ln/>
        </p:spPr>
        <p:txBody>
          <a:bodyPr wrap="square" lIns="0" tIns="0" rIns="0" bIns="0" rtlCol="0" anchor="ctr"/>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planificarea familială</a:t>
            </a:r>
            <a:endParaRPr lang="en-US" sz="1400" dirty="0"/>
          </a:p>
        </p:txBody>
      </p:sp>
      <p:sp>
        <p:nvSpPr>
          <p:cNvPr id="21" name="Text 19"/>
          <p:cNvSpPr/>
          <p:nvPr/>
        </p:nvSpPr>
        <p:spPr>
          <a:xfrm>
            <a:off x="594360" y="4434840"/>
            <a:ext cx="10972800" cy="118872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Medicina clinică are partea ei, deloc mică. Cei mai mulți ani au venit însă din lucruri făcute pentru toți deodată.</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ÎNAPOI LA ROBINET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Același oraș inundat, în trei epoci</a:t>
            </a:r>
            <a:endParaRPr lang="en-US" sz="3000" dirty="0"/>
          </a:p>
        </p:txBody>
      </p:sp>
      <p:sp>
        <p:nvSpPr>
          <p:cNvPr id="4" name="Shape 2"/>
          <p:cNvSpPr/>
          <p:nvPr/>
        </p:nvSpPr>
        <p:spPr>
          <a:xfrm>
            <a:off x="594360" y="1645920"/>
            <a:ext cx="3520440" cy="1691640"/>
          </a:xfrm>
          <a:prstGeom prst="roundRect">
            <a:avLst>
              <a:gd name="adj" fmla="val 4865"/>
            </a:avLst>
          </a:prstGeom>
          <a:solidFill>
            <a:srgbClr val="ECEAE4"/>
          </a:solidFill>
          <a:ln w="12700">
            <a:solidFill>
              <a:srgbClr val="ECEAE4"/>
            </a:solidFill>
            <a:prstDash val="solid"/>
          </a:ln>
        </p:spPr>
        <p:txBody>
          <a:bodyPr/>
          <a:p/>
        </p:txBody>
      </p:sp>
      <p:sp>
        <p:nvSpPr>
          <p:cNvPr id="5" name="Text 3"/>
          <p:cNvSpPr/>
          <p:nvPr/>
        </p:nvSpPr>
        <p:spPr>
          <a:xfrm>
            <a:off x="822960" y="1783080"/>
            <a:ext cx="3108960" cy="3657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Secolul al XIV-lea</a:t>
            </a:r>
            <a:endParaRPr lang="en-US" sz="1700" dirty="0"/>
          </a:p>
        </p:txBody>
      </p:sp>
      <p:sp>
        <p:nvSpPr>
          <p:cNvPr id="6" name="Text 4"/>
          <p:cNvSpPr/>
          <p:nvPr/>
        </p:nvSpPr>
        <p:spPr>
          <a:xfrm>
            <a:off x="822960" y="2194560"/>
            <a:ext cx="3108960" cy="1051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Rugăciunea și căutarea unui vinovat.</a:t>
            </a:r>
            <a:endParaRPr lang="en-US" sz="1600" dirty="0"/>
          </a:p>
        </p:txBody>
      </p:sp>
      <p:sp>
        <p:nvSpPr>
          <p:cNvPr id="7" name="Shape 5"/>
          <p:cNvSpPr/>
          <p:nvPr/>
        </p:nvSpPr>
        <p:spPr>
          <a:xfrm>
            <a:off x="4343400" y="1645920"/>
            <a:ext cx="3520440" cy="1691640"/>
          </a:xfrm>
          <a:prstGeom prst="roundRect">
            <a:avLst>
              <a:gd name="adj" fmla="val 4865"/>
            </a:avLst>
          </a:prstGeom>
          <a:solidFill>
            <a:srgbClr val="F9F8F5"/>
          </a:solidFill>
          <a:ln w="12700">
            <a:solidFill>
              <a:srgbClr val="F9F8F5"/>
            </a:solidFill>
            <a:prstDash val="solid"/>
          </a:ln>
        </p:spPr>
        <p:txBody>
          <a:bodyPr/>
          <a:p/>
        </p:txBody>
      </p:sp>
      <p:sp>
        <p:nvSpPr>
          <p:cNvPr id="8" name="Text 6"/>
          <p:cNvSpPr/>
          <p:nvPr/>
        </p:nvSpPr>
        <p:spPr>
          <a:xfrm>
            <a:off x="4572000" y="1783080"/>
            <a:ext cx="3108960" cy="3657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Secolul al XIX-lea</a:t>
            </a:r>
            <a:endParaRPr lang="en-US" sz="1700" dirty="0"/>
          </a:p>
        </p:txBody>
      </p:sp>
      <p:sp>
        <p:nvSpPr>
          <p:cNvPr id="9" name="Text 7"/>
          <p:cNvSpPr/>
          <p:nvPr/>
        </p:nvSpPr>
        <p:spPr>
          <a:xfrm>
            <a:off x="4572000" y="2194560"/>
            <a:ext cx="3108960" cy="1051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Bolnavii pe hartă, pompa închisă.</a:t>
            </a:r>
            <a:endParaRPr lang="en-US" sz="1600" dirty="0"/>
          </a:p>
        </p:txBody>
      </p:sp>
      <p:sp>
        <p:nvSpPr>
          <p:cNvPr id="10" name="Shape 8"/>
          <p:cNvSpPr/>
          <p:nvPr/>
        </p:nvSpPr>
        <p:spPr>
          <a:xfrm>
            <a:off x="8092440" y="1645920"/>
            <a:ext cx="3520440" cy="1691640"/>
          </a:xfrm>
          <a:prstGeom prst="roundRect">
            <a:avLst>
              <a:gd name="adj" fmla="val 4865"/>
            </a:avLst>
          </a:prstGeom>
          <a:solidFill>
            <a:srgbClr val="ECEAE4"/>
          </a:solidFill>
          <a:ln w="12700">
            <a:solidFill>
              <a:srgbClr val="ECEAE4"/>
            </a:solidFill>
            <a:prstDash val="solid"/>
          </a:ln>
        </p:spPr>
        <p:txBody>
          <a:bodyPr/>
          <a:p/>
        </p:txBody>
      </p:sp>
      <p:sp>
        <p:nvSpPr>
          <p:cNvPr id="11" name="Text 9"/>
          <p:cNvSpPr/>
          <p:nvPr/>
        </p:nvSpPr>
        <p:spPr>
          <a:xfrm>
            <a:off x="8321040" y="1783080"/>
            <a:ext cx="3108960" cy="3657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Astăzi</a:t>
            </a:r>
            <a:endParaRPr lang="en-US" sz="1700" dirty="0"/>
          </a:p>
        </p:txBody>
      </p:sp>
      <p:sp>
        <p:nvSpPr>
          <p:cNvPr id="12" name="Text 10"/>
          <p:cNvSpPr/>
          <p:nvPr/>
        </p:nvSpPr>
        <p:spPr>
          <a:xfrm>
            <a:off x="8321040" y="2194560"/>
            <a:ext cx="3108960" cy="1051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Laboratoare, clor, cisterne, legi, medici de familie care dau alarma.</a:t>
            </a:r>
            <a:endParaRPr lang="en-US" sz="1600" dirty="0"/>
          </a:p>
        </p:txBody>
      </p:sp>
      <p:sp>
        <p:nvSpPr>
          <p:cNvPr id="13" name="Text 11"/>
          <p:cNvSpPr/>
          <p:nvPr/>
        </p:nvSpPr>
        <p:spPr>
          <a:xfrm>
            <a:off x="594360" y="3611880"/>
            <a:ext cx="10972800" cy="9144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Întrebările au rămas aceleași: ce știm sigur, ce facem până aflăm mai mult și cum îi convingem pe oameni să ne creadă.</a:t>
            </a:r>
            <a:endParaRPr lang="en-US" sz="2000" dirty="0"/>
          </a:p>
        </p:txBody>
      </p:sp>
      <p:sp>
        <p:nvSpPr>
          <p:cNvPr id="14" name="Text 12"/>
          <p:cNvSpPr/>
          <p:nvPr/>
        </p:nvSpPr>
        <p:spPr>
          <a:xfrm>
            <a:off x="594360" y="4663440"/>
            <a:ext cx="1097280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COVID-19, 2020–2023: lumea a redescoperit carantina, numărarea zilnică a cazurilor și harta focarelor.</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PATRU PROVOCĂRI CARE RĂMÂN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Aceleași unelte, probleme noi</a:t>
            </a:r>
            <a:endParaRPr lang="en-US" sz="3200" dirty="0"/>
          </a:p>
        </p:txBody>
      </p:sp>
      <p:sp>
        <p:nvSpPr>
          <p:cNvPr id="4" name="Shape 2"/>
          <p:cNvSpPr/>
          <p:nvPr/>
        </p:nvSpPr>
        <p:spPr>
          <a:xfrm>
            <a:off x="594360" y="1600200"/>
            <a:ext cx="5394960" cy="1920240"/>
          </a:xfrm>
          <a:prstGeom prst="roundRect">
            <a:avLst>
              <a:gd name="adj" fmla="val 4286"/>
            </a:avLst>
          </a:prstGeom>
          <a:solidFill>
            <a:srgbClr val="1D1F2B"/>
          </a:solidFill>
          <a:ln w="12700">
            <a:solidFill>
              <a:srgbClr val="1D1F2B"/>
            </a:solidFill>
            <a:prstDash val="solid"/>
          </a:ln>
        </p:spPr>
        <p:txBody>
          <a:bodyPr/>
          <a:p/>
        </p:txBody>
      </p:sp>
      <p:sp>
        <p:nvSpPr>
          <p:cNvPr id="5" name="Shape 3"/>
          <p:cNvSpPr/>
          <p:nvPr/>
        </p:nvSpPr>
        <p:spPr>
          <a:xfrm>
            <a:off x="594360" y="1600200"/>
            <a:ext cx="82296" cy="1920240"/>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783080"/>
            <a:ext cx="4846320" cy="41148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Cooperarea între țări</a:t>
            </a:r>
            <a:endParaRPr lang="en-US" sz="1900" dirty="0"/>
          </a:p>
        </p:txBody>
      </p:sp>
      <p:sp>
        <p:nvSpPr>
          <p:cNvPr id="7" name="Text 5"/>
          <p:cNvSpPr/>
          <p:nvPr/>
        </p:nvSpPr>
        <p:spPr>
          <a:xfrm>
            <a:off x="914400" y="2258568"/>
            <a:ext cx="4846320" cy="11430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Regulamentul Sanitar Internațional, modificat în 2024, în vigoare din 19 septembrie 2025.</a:t>
            </a:r>
            <a:endParaRPr lang="en-US" sz="1600" dirty="0"/>
          </a:p>
        </p:txBody>
      </p:sp>
      <p:sp>
        <p:nvSpPr>
          <p:cNvPr id="8" name="Shape 6"/>
          <p:cNvSpPr/>
          <p:nvPr/>
        </p:nvSpPr>
        <p:spPr>
          <a:xfrm>
            <a:off x="6172200" y="1600200"/>
            <a:ext cx="5394960" cy="1920240"/>
          </a:xfrm>
          <a:prstGeom prst="roundRect">
            <a:avLst>
              <a:gd name="adj" fmla="val 4286"/>
            </a:avLst>
          </a:prstGeom>
          <a:solidFill>
            <a:srgbClr val="1D1F2B"/>
          </a:solidFill>
          <a:ln w="12700">
            <a:solidFill>
              <a:srgbClr val="1D1F2B"/>
            </a:solidFill>
            <a:prstDash val="solid"/>
          </a:ln>
        </p:spPr>
        <p:txBody>
          <a:bodyPr/>
          <a:p/>
        </p:txBody>
      </p:sp>
      <p:sp>
        <p:nvSpPr>
          <p:cNvPr id="9" name="Shape 7"/>
          <p:cNvSpPr/>
          <p:nvPr/>
        </p:nvSpPr>
        <p:spPr>
          <a:xfrm>
            <a:off x="6172200" y="1600200"/>
            <a:ext cx="82296" cy="1920240"/>
          </a:xfrm>
          <a:prstGeom prst="rect">
            <a:avLst/>
          </a:prstGeom>
          <a:solidFill>
            <a:srgbClr val="FF4757"/>
          </a:solidFill>
          <a:ln w="12700">
            <a:solidFill>
              <a:srgbClr val="FF4757"/>
            </a:solidFill>
            <a:prstDash val="solid"/>
          </a:ln>
        </p:spPr>
        <p:txBody>
          <a:bodyPr/>
          <a:p/>
        </p:txBody>
      </p:sp>
      <p:sp>
        <p:nvSpPr>
          <p:cNvPr id="10" name="Text 8"/>
          <p:cNvSpPr/>
          <p:nvPr/>
        </p:nvSpPr>
        <p:spPr>
          <a:xfrm>
            <a:off x="6492240" y="1783080"/>
            <a:ext cx="4846320" cy="411480"/>
          </a:xfrm>
          <a:prstGeom prst="rect">
            <a:avLst/>
          </a:prstGeom>
          <a:noFill/>
          <a:ln/>
        </p:spPr>
        <p:txBody>
          <a:bodyPr wrap="square" lIns="0" tIns="0" rIns="0" bIns="0" rtlCol="0" anchor="t"/>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Microbii rezistenți</a:t>
            </a:r>
            <a:endParaRPr lang="en-US" sz="1900" dirty="0"/>
          </a:p>
        </p:txBody>
      </p:sp>
      <p:sp>
        <p:nvSpPr>
          <p:cNvPr id="11" name="Text 9"/>
          <p:cNvSpPr/>
          <p:nvPr/>
        </p:nvSpPr>
        <p:spPr>
          <a:xfrm>
            <a:off x="6492240" y="2258568"/>
            <a:ext cx="4846320" cy="11430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Antibioticele nu sunt o victorie definitivă. OMS: se urmărește rezistența și consumul de antibiotice în îngrijirea medicală, în sectorul veterinar și în agricultură.</a:t>
            </a:r>
            <a:endParaRPr lang="en-US" sz="1600" dirty="0"/>
          </a:p>
        </p:txBody>
      </p:sp>
      <p:sp>
        <p:nvSpPr>
          <p:cNvPr id="12" name="Shape 10"/>
          <p:cNvSpPr/>
          <p:nvPr/>
        </p:nvSpPr>
        <p:spPr>
          <a:xfrm>
            <a:off x="594360" y="3703320"/>
            <a:ext cx="5394960" cy="1920240"/>
          </a:xfrm>
          <a:prstGeom prst="roundRect">
            <a:avLst>
              <a:gd name="adj" fmla="val 4286"/>
            </a:avLst>
          </a:prstGeom>
          <a:solidFill>
            <a:srgbClr val="1D1F2B"/>
          </a:solidFill>
          <a:ln w="12700">
            <a:solidFill>
              <a:srgbClr val="1D1F2B"/>
            </a:solidFill>
            <a:prstDash val="solid"/>
          </a:ln>
        </p:spPr>
        <p:txBody>
          <a:bodyPr/>
          <a:p/>
        </p:txBody>
      </p:sp>
      <p:sp>
        <p:nvSpPr>
          <p:cNvPr id="13" name="Shape 11"/>
          <p:cNvSpPr/>
          <p:nvPr/>
        </p:nvSpPr>
        <p:spPr>
          <a:xfrm>
            <a:off x="594360" y="3703320"/>
            <a:ext cx="82296" cy="1920240"/>
          </a:xfrm>
          <a:prstGeom prst="rect">
            <a:avLst/>
          </a:prstGeom>
          <a:solidFill>
            <a:srgbClr val="9B7EF7"/>
          </a:solidFill>
          <a:ln w="12700">
            <a:solidFill>
              <a:srgbClr val="9B7EF7"/>
            </a:solidFill>
            <a:prstDash val="solid"/>
          </a:ln>
        </p:spPr>
        <p:txBody>
          <a:bodyPr/>
          <a:p/>
        </p:txBody>
      </p:sp>
      <p:sp>
        <p:nvSpPr>
          <p:cNvPr id="14" name="Text 12"/>
          <p:cNvSpPr/>
          <p:nvPr/>
        </p:nvSpPr>
        <p:spPr>
          <a:xfrm>
            <a:off x="914400" y="3886200"/>
            <a:ext cx="4846320" cy="411480"/>
          </a:xfrm>
          <a:prstGeom prst="rect">
            <a:avLst/>
          </a:prstGeom>
          <a:noFill/>
          <a:ln/>
        </p:spPr>
        <p:txBody>
          <a:bodyPr wrap="square" lIns="0" tIns="0" rIns="0" bIns="0" rtlCol="0" anchor="t"/>
          <a:lstStyle/>
          <a:p>
            <a:pPr indent="0" marL="0">
              <a:buNone/>
            </a:pPr>
            <a:r>
              <a:rPr lang="en-US" sz="1900" b="1" dirty="0">
                <a:solidFill>
                  <a:srgbClr val="9B7EF7"/>
                </a:solidFill>
                <a:latin typeface="Palatino Linotype" pitchFamily="34" charset="0"/>
                <a:ea typeface="Palatino Linotype" pitchFamily="34" charset="-122"/>
                <a:cs typeface="Palatino Linotype" pitchFamily="34" charset="-120"/>
              </a:rPr>
              <a:t>O singură sănătate</a:t>
            </a:r>
            <a:endParaRPr lang="en-US" sz="1900" dirty="0"/>
          </a:p>
        </p:txBody>
      </p:sp>
      <p:sp>
        <p:nvSpPr>
          <p:cNvPr id="15" name="Text 13"/>
          <p:cNvSpPr/>
          <p:nvPr/>
        </p:nvSpPr>
        <p:spPr>
          <a:xfrm>
            <a:off x="914400" y="4361688"/>
            <a:ext cx="4846320" cy="11430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Oamenii, animalele și mediul, împreună: un plan comun pentru 2022–2026.</a:t>
            </a:r>
            <a:endParaRPr lang="en-US" sz="1600" dirty="0"/>
          </a:p>
        </p:txBody>
      </p:sp>
      <p:sp>
        <p:nvSpPr>
          <p:cNvPr id="16" name="Shape 14"/>
          <p:cNvSpPr/>
          <p:nvPr/>
        </p:nvSpPr>
        <p:spPr>
          <a:xfrm>
            <a:off x="6172200" y="3703320"/>
            <a:ext cx="5394960" cy="1920240"/>
          </a:xfrm>
          <a:prstGeom prst="roundRect">
            <a:avLst>
              <a:gd name="adj" fmla="val 4286"/>
            </a:avLst>
          </a:prstGeom>
          <a:solidFill>
            <a:srgbClr val="1D1F2B"/>
          </a:solidFill>
          <a:ln w="12700">
            <a:solidFill>
              <a:srgbClr val="1D1F2B"/>
            </a:solidFill>
            <a:prstDash val="solid"/>
          </a:ln>
        </p:spPr>
        <p:txBody>
          <a:bodyPr/>
          <a:p/>
        </p:txBody>
      </p:sp>
      <p:sp>
        <p:nvSpPr>
          <p:cNvPr id="17" name="Shape 15"/>
          <p:cNvSpPr/>
          <p:nvPr/>
        </p:nvSpPr>
        <p:spPr>
          <a:xfrm>
            <a:off x="6172200" y="3703320"/>
            <a:ext cx="82296" cy="1920240"/>
          </a:xfrm>
          <a:prstGeom prst="rect">
            <a:avLst/>
          </a:prstGeom>
          <a:solidFill>
            <a:srgbClr val="FFC24B"/>
          </a:solidFill>
          <a:ln w="12700">
            <a:solidFill>
              <a:srgbClr val="FFC24B"/>
            </a:solidFill>
            <a:prstDash val="solid"/>
          </a:ln>
        </p:spPr>
        <p:txBody>
          <a:bodyPr/>
          <a:p/>
        </p:txBody>
      </p:sp>
      <p:sp>
        <p:nvSpPr>
          <p:cNvPr id="18" name="Text 16"/>
          <p:cNvSpPr/>
          <p:nvPr/>
        </p:nvSpPr>
        <p:spPr>
          <a:xfrm>
            <a:off x="6492240" y="3886200"/>
            <a:ext cx="4846320" cy="41148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Încrederea</a:t>
            </a:r>
            <a:endParaRPr lang="en-US" sz="1900" dirty="0"/>
          </a:p>
        </p:txBody>
      </p:sp>
      <p:sp>
        <p:nvSpPr>
          <p:cNvPr id="19" name="Text 17"/>
          <p:cNvSpPr/>
          <p:nvPr/>
        </p:nvSpPr>
        <p:spPr>
          <a:xfrm>
            <a:off x="6492240" y="4361688"/>
            <a:ext cx="4846320" cy="11430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13,5 milioane de copii fără nicio doză de vaccin în primul an de viață (2025).</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ACEEAȘI ÎNTREBARE, A DOUA OARĂ</a:t>
            </a:r>
            <a:endParaRPr lang="en-US" sz="1300" dirty="0"/>
          </a:p>
        </p:txBody>
      </p:sp>
      <p:sp>
        <p:nvSpPr>
          <p:cNvPr id="5" name="Text 3"/>
          <p:cNvSpPr/>
          <p:nvPr/>
        </p:nvSpPr>
        <p:spPr>
          <a:xfrm>
            <a:off x="594360" y="914400"/>
            <a:ext cx="10789920" cy="155448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Ce vă vine acum în minte când auziți „sănătate publică”?</a:t>
            </a:r>
            <a:endParaRPr lang="en-US" sz="3600" dirty="0"/>
          </a:p>
        </p:txBody>
      </p:sp>
      <p:sp>
        <p:nvSpPr>
          <p:cNvPr id="6" name="Shape 4"/>
          <p:cNvSpPr/>
          <p:nvPr/>
        </p:nvSpPr>
        <p:spPr>
          <a:xfrm>
            <a:off x="594360" y="2743200"/>
            <a:ext cx="5394960" cy="2103120"/>
          </a:xfrm>
          <a:prstGeom prst="roundRect">
            <a:avLst>
              <a:gd name="adj" fmla="val 3913"/>
            </a:avLst>
          </a:prstGeom>
          <a:solidFill>
            <a:srgbClr val="1D1F2B"/>
          </a:solidFill>
          <a:ln w="12700">
            <a:solidFill>
              <a:srgbClr val="1D1F2B"/>
            </a:solidFill>
            <a:prstDash val="solid"/>
          </a:ln>
        </p:spPr>
        <p:txBody>
          <a:bodyPr/>
          <a:p/>
        </p:txBody>
      </p:sp>
      <p:sp>
        <p:nvSpPr>
          <p:cNvPr id="7" name="Text 5"/>
          <p:cNvSpPr/>
          <p:nvPr/>
        </p:nvSpPr>
        <p:spPr>
          <a:xfrm>
            <a:off x="594360" y="2743200"/>
            <a:ext cx="5394960" cy="2103120"/>
          </a:xfrm>
          <a:prstGeom prst="rect">
            <a:avLst/>
          </a:prstGeom>
          <a:noFill/>
          <a:ln/>
        </p:spPr>
        <p:txBody>
          <a:bodyPr wrap="square" lIns="0" tIns="0" rIns="0" bIns="0" rtlCol="0" anchor="ctr"/>
          <a:lstStyle/>
          <a:p>
            <a:pPr algn="ctr" indent="0" marL="0">
              <a:buNone/>
            </a:pPr>
            <a:r>
              <a:rPr lang="en-US" sz="2000" b="1" dirty="0">
                <a:solidFill>
                  <a:srgbClr val="959BB0"/>
                </a:solidFill>
                <a:latin typeface="Palatino Linotype" pitchFamily="34" charset="0"/>
                <a:ea typeface="Palatino Linotype" pitchFamily="34" charset="-122"/>
                <a:cs typeface="Palatino Linotype" pitchFamily="34" charset="-120"/>
              </a:rPr>
              <a:t>La începutul ședinței</a:t>
            </a:r>
            <a:endParaRPr lang="en-US" sz="2000" dirty="0"/>
          </a:p>
        </p:txBody>
      </p:sp>
      <p:sp>
        <p:nvSpPr>
          <p:cNvPr id="8" name="Shape 6"/>
          <p:cNvSpPr/>
          <p:nvPr/>
        </p:nvSpPr>
        <p:spPr>
          <a:xfrm>
            <a:off x="6172200" y="2743200"/>
            <a:ext cx="5394960" cy="2103120"/>
          </a:xfrm>
          <a:prstGeom prst="roundRect">
            <a:avLst>
              <a:gd name="adj" fmla="val 3913"/>
            </a:avLst>
          </a:prstGeom>
          <a:solidFill>
            <a:srgbClr val="272A38"/>
          </a:solidFill>
          <a:ln w="12700">
            <a:solidFill>
              <a:srgbClr val="272A38"/>
            </a:solidFill>
            <a:prstDash val="solid"/>
          </a:ln>
        </p:spPr>
        <p:txBody>
          <a:bodyPr/>
          <a:p/>
        </p:txBody>
      </p:sp>
      <p:sp>
        <p:nvSpPr>
          <p:cNvPr id="9" name="Text 7"/>
          <p:cNvSpPr/>
          <p:nvPr/>
        </p:nvSpPr>
        <p:spPr>
          <a:xfrm>
            <a:off x="6172200" y="2743200"/>
            <a:ext cx="5394960" cy="2103120"/>
          </a:xfrm>
          <a:prstGeom prst="rect">
            <a:avLst/>
          </a:prstGeom>
          <a:noFill/>
          <a:ln/>
        </p:spPr>
        <p:txBody>
          <a:bodyPr wrap="square" lIns="0" tIns="0" rIns="0" bIns="0" rtlCol="0" anchor="ctr"/>
          <a:lstStyle/>
          <a:p>
            <a:pPr algn="ctr" indent="0" marL="0">
              <a:buNone/>
            </a:pPr>
            <a:r>
              <a:rPr lang="en-US" sz="2000" b="1" dirty="0">
                <a:solidFill>
                  <a:srgbClr val="959BB0"/>
                </a:solidFill>
                <a:latin typeface="Palatino Linotype" pitchFamily="34" charset="0"/>
                <a:ea typeface="Palatino Linotype" pitchFamily="34" charset="-122"/>
                <a:cs typeface="Palatino Linotype" pitchFamily="34" charset="-120"/>
              </a:rPr>
              <a:t>Acum</a:t>
            </a:r>
            <a:endParaRPr lang="en-US" sz="2000" dirty="0"/>
          </a:p>
        </p:txBody>
      </p:sp>
      <p:sp>
        <p:nvSpPr>
          <p:cNvPr id="10" name="Text 8"/>
          <p:cNvSpPr/>
          <p:nvPr/>
        </p:nvSpPr>
        <p:spPr>
          <a:xfrm>
            <a:off x="594360" y="5120640"/>
            <a:ext cx="10972800" cy="54864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Ce cuvinte au apărut? Ce cuvinte au dispărut?</a:t>
            </a:r>
            <a:endParaRPr 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MÂINE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faceți diferit</a:t>
            </a:r>
            <a:endParaRPr lang="en-US" sz="3100" dirty="0"/>
          </a:p>
        </p:txBody>
      </p:sp>
      <p:sp>
        <p:nvSpPr>
          <p:cNvPr id="4" name="Shape 2"/>
          <p:cNvSpPr/>
          <p:nvPr/>
        </p:nvSpPr>
        <p:spPr>
          <a:xfrm>
            <a:off x="594360" y="1645920"/>
            <a:ext cx="10972800" cy="896112"/>
          </a:xfrm>
          <a:prstGeom prst="roundRect">
            <a:avLst>
              <a:gd name="adj" fmla="val 9184"/>
            </a:avLst>
          </a:prstGeom>
          <a:solidFill>
            <a:srgbClr val="ECEAE4"/>
          </a:solidFill>
          <a:ln w="12700">
            <a:solidFill>
              <a:srgbClr val="ECEAE4"/>
            </a:solidFill>
            <a:prstDash val="solid"/>
          </a:ln>
        </p:spPr>
        <p:txBody>
          <a:bodyPr/>
          <a:p/>
        </p:txBody>
      </p:sp>
      <p:sp>
        <p:nvSpPr>
          <p:cNvPr id="5" name="Shape 3"/>
          <p:cNvSpPr/>
          <p:nvPr/>
        </p:nvSpPr>
        <p:spPr>
          <a:xfrm>
            <a:off x="822960" y="1883664"/>
            <a:ext cx="420624" cy="420624"/>
          </a:xfrm>
          <a:prstGeom prst="ellipse">
            <a:avLst/>
          </a:prstGeom>
          <a:solidFill>
            <a:srgbClr val="FF4757"/>
          </a:solidFill>
          <a:ln/>
        </p:spPr>
        <p:txBody>
          <a:bodyPr/>
          <a:p/>
        </p:txBody>
      </p:sp>
      <p:sp>
        <p:nvSpPr>
          <p:cNvPr id="6" name="Text 4"/>
          <p:cNvSpPr/>
          <p:nvPr/>
        </p:nvSpPr>
        <p:spPr>
          <a:xfrm>
            <a:off x="822960" y="18836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45920"/>
            <a:ext cx="9921240" cy="896112"/>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Cine este „pacientul” unei măsuri: o persoană sau o comunitate?</a:t>
            </a:r>
            <a:endParaRPr lang="en-US" sz="1800" dirty="0"/>
          </a:p>
        </p:txBody>
      </p:sp>
      <p:sp>
        <p:nvSpPr>
          <p:cNvPr id="8" name="Shape 6"/>
          <p:cNvSpPr/>
          <p:nvPr/>
        </p:nvSpPr>
        <p:spPr>
          <a:xfrm>
            <a:off x="594360" y="2670048"/>
            <a:ext cx="10972800" cy="896112"/>
          </a:xfrm>
          <a:prstGeom prst="roundRect">
            <a:avLst>
              <a:gd name="adj" fmla="val 9184"/>
            </a:avLst>
          </a:prstGeom>
          <a:solidFill>
            <a:srgbClr val="F9F8F5"/>
          </a:solidFill>
          <a:ln w="12700">
            <a:solidFill>
              <a:srgbClr val="F9F8F5"/>
            </a:solidFill>
            <a:prstDash val="solid"/>
          </a:ln>
        </p:spPr>
        <p:txBody>
          <a:bodyPr/>
          <a:p/>
        </p:txBody>
      </p:sp>
      <p:sp>
        <p:nvSpPr>
          <p:cNvPr id="9" name="Shape 7"/>
          <p:cNvSpPr/>
          <p:nvPr/>
        </p:nvSpPr>
        <p:spPr>
          <a:xfrm>
            <a:off x="822960" y="2907792"/>
            <a:ext cx="420624" cy="420624"/>
          </a:xfrm>
          <a:prstGeom prst="ellipse">
            <a:avLst/>
          </a:prstGeom>
          <a:solidFill>
            <a:srgbClr val="FF4757"/>
          </a:solidFill>
          <a:ln/>
        </p:spPr>
        <p:txBody>
          <a:bodyPr/>
          <a:p/>
        </p:txBody>
      </p:sp>
      <p:sp>
        <p:nvSpPr>
          <p:cNvPr id="10" name="Text 8"/>
          <p:cNvSpPr/>
          <p:nvPr/>
        </p:nvSpPr>
        <p:spPr>
          <a:xfrm>
            <a:off x="822960" y="290779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670048"/>
            <a:ext cx="9921240" cy="896112"/>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 este dovedit”? Gândiți-vă la Ragusa și la Broad Street: cât costă așteptarea?</a:t>
            </a:r>
            <a:endParaRPr lang="en-US" sz="1800" dirty="0"/>
          </a:p>
        </p:txBody>
      </p:sp>
      <p:sp>
        <p:nvSpPr>
          <p:cNvPr id="12" name="Shape 10"/>
          <p:cNvSpPr/>
          <p:nvPr/>
        </p:nvSpPr>
        <p:spPr>
          <a:xfrm>
            <a:off x="594360" y="3694176"/>
            <a:ext cx="10972800" cy="896112"/>
          </a:xfrm>
          <a:prstGeom prst="roundRect">
            <a:avLst>
              <a:gd name="adj" fmla="val 9184"/>
            </a:avLst>
          </a:prstGeom>
          <a:solidFill>
            <a:srgbClr val="ECEAE4"/>
          </a:solidFill>
          <a:ln w="12700">
            <a:solidFill>
              <a:srgbClr val="ECEAE4"/>
            </a:solidFill>
            <a:prstDash val="solid"/>
          </a:ln>
        </p:spPr>
        <p:txBody>
          <a:bodyPr/>
          <a:p/>
        </p:txBody>
      </p:sp>
      <p:sp>
        <p:nvSpPr>
          <p:cNvPr id="13" name="Shape 11"/>
          <p:cNvSpPr/>
          <p:nvPr/>
        </p:nvSpPr>
        <p:spPr>
          <a:xfrm>
            <a:off x="822960" y="3931920"/>
            <a:ext cx="420624" cy="420624"/>
          </a:xfrm>
          <a:prstGeom prst="ellipse">
            <a:avLst/>
          </a:prstGeom>
          <a:solidFill>
            <a:srgbClr val="FF4757"/>
          </a:solidFill>
          <a:ln/>
        </p:spPr>
        <p:txBody>
          <a:bodyPr/>
          <a:p/>
        </p:txBody>
      </p:sp>
      <p:sp>
        <p:nvSpPr>
          <p:cNvPr id="14" name="Text 12"/>
          <p:cNvSpPr/>
          <p:nvPr/>
        </p:nvSpPr>
        <p:spPr>
          <a:xfrm>
            <a:off x="822960" y="39319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694176"/>
            <a:ext cx="9921240" cy="896112"/>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 cifră despre boli: pentru ce întrebare au fost adunate datele?</a:t>
            </a:r>
            <a:endParaRPr lang="en-US" sz="1800" dirty="0"/>
          </a:p>
        </p:txBody>
      </p:sp>
      <p:sp>
        <p:nvSpPr>
          <p:cNvPr id="16" name="Shape 14"/>
          <p:cNvSpPr/>
          <p:nvPr/>
        </p:nvSpPr>
        <p:spPr>
          <a:xfrm>
            <a:off x="594360" y="4718304"/>
            <a:ext cx="10972800" cy="896112"/>
          </a:xfrm>
          <a:prstGeom prst="roundRect">
            <a:avLst>
              <a:gd name="adj" fmla="val 9184"/>
            </a:avLst>
          </a:prstGeom>
          <a:solidFill>
            <a:srgbClr val="F9F8F5"/>
          </a:solidFill>
          <a:ln w="12700">
            <a:solidFill>
              <a:srgbClr val="F9F8F5"/>
            </a:solidFill>
            <a:prstDash val="solid"/>
          </a:ln>
        </p:spPr>
        <p:txBody>
          <a:bodyPr/>
          <a:p/>
        </p:txBody>
      </p:sp>
      <p:sp>
        <p:nvSpPr>
          <p:cNvPr id="17" name="Shape 15"/>
          <p:cNvSpPr/>
          <p:nvPr/>
        </p:nvSpPr>
        <p:spPr>
          <a:xfrm>
            <a:off x="822960" y="4956048"/>
            <a:ext cx="420624" cy="420624"/>
          </a:xfrm>
          <a:prstGeom prst="ellipse">
            <a:avLst/>
          </a:prstGeom>
          <a:solidFill>
            <a:srgbClr val="FF4757"/>
          </a:solidFill>
          <a:ln/>
        </p:spPr>
        <p:txBody>
          <a:bodyPr/>
          <a:p/>
        </p:txBody>
      </p:sp>
      <p:sp>
        <p:nvSpPr>
          <p:cNvPr id="18" name="Text 16"/>
          <p:cNvSpPr/>
          <p:nvPr/>
        </p:nvSpPr>
        <p:spPr>
          <a:xfrm>
            <a:off x="822960" y="49560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4718304"/>
            <a:ext cx="9921240" cy="896112"/>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La robinet: apa curată vine din decizii colective și investiții publice.</a:t>
            </a:r>
            <a:endParaRPr lang="en-US" sz="1800" dirty="0"/>
          </a:p>
        </p:txBody>
      </p:sp>
      <p:sp>
        <p:nvSpPr>
          <p:cNvPr id="20" name="Text 18"/>
          <p:cNvSpPr/>
          <p:nvPr/>
        </p:nvSpPr>
        <p:spPr>
          <a:xfrm>
            <a:off x="594360" y="5760720"/>
            <a:ext cx="10972800" cy="36576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Ședința a doua: definițiile, funcțiile și instituțiile sănătății publice de azi.</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31720"/>
            <a:ext cx="3017520" cy="2743200"/>
          </a:xfrm>
          <a:prstGeom prst="roundRect">
            <a:avLst>
              <a:gd name="adj" fmla="val 3000"/>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Mentimeter, anonim. Răspunsurile stau la baza a două modificări, anunțate la începutul ședinței următoare.</a:t>
            </a:r>
            <a:endParaRPr lang="en-US" sz="1700" dirty="0"/>
          </a:p>
        </p:txBody>
      </p:sp>
      <p:pic>
        <p:nvPicPr>
          <p:cNvPr id="17" name="Picture 16" descr="Mentimeter_UB_ISP_C01.png"/>
          <p:cNvPicPr>
            <a:picLocks noChangeAspect="1"/>
          </p:cNvPicPr>
          <p:nvPr/>
        </p:nvPicPr>
        <p:blipFill>
          <a:blip r:embed="rId3"/>
          <a:stretch>
            <a:fillRect/>
          </a:stretch>
        </p:blipFill>
        <p:spPr>
          <a:xfrm>
            <a:off x="9000490" y="2331720"/>
            <a:ext cx="2115820" cy="2115820"/>
          </a:xfrm>
          <a:prstGeom prst="rect">
            <a:avLst/>
          </a:prstGeom>
        </p:spPr>
      </p:pic>
      <p:sp>
        <p:nvSpPr>
          <p:cNvPr id="18" name="TextBox 17"/>
          <p:cNvSpPr txBox="1"/>
          <p:nvPr/>
        </p:nvSpPr>
        <p:spPr>
          <a:xfrm>
            <a:off x="9000490" y="4485640"/>
            <a:ext cx="21158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1 - Istoricul sănătății publice</dc:title>
  <dc:subject>PptxGenJS Presentation</dc:subject>
  <dc:creator>Conf. Univ. Dr. Adrian Pana</dc:creator>
  <cp:lastModifiedBy>Conf. Univ. Dr. Adrian Pana</cp:lastModifiedBy>
  <cp:revision>1</cp:revision>
  <dcterms:created xsi:type="dcterms:W3CDTF">2026-10-03T20:47:53Z</dcterms:created>
  <dcterms:modified xsi:type="dcterms:W3CDTF">2026-10-03T20:47:53Z</dcterms:modified>
  <cp:keywords>sursa_amprenta=660a89ecfc61e2ce; proiectie</cp:keywords>
</cp:coreProperties>
</file>