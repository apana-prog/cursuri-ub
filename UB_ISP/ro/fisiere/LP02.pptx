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Lst>
  <p:notesMasterIdLst>
    <p:notesMasterId r:id="rId2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notesMaster" Target="notesMasters/notesMaster1.xml"/><Relationship Id="rId30" Type="http://schemas.openxmlformats.org/officeDocument/2006/relationships/presProps" Target="presProps.xml"/><Relationship Id="rId31" Type="http://schemas.openxmlformats.org/officeDocument/2006/relationships/viewProps" Target="viewProps.xml"/><Relationship Id="rId32" Type="http://schemas.openxmlformats.org/officeDocument/2006/relationships/theme" Target="theme/theme1.xml"/><Relationship Id="rId33"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Bine ați venit la al doilea seminar. Întrebarea de azi este în titlu: câte vieți se pierd pe drumurile din România. Veți vedea de ce aceeași realitate poate fi descrisă prin cifre care par să se contrazică, unde se găsesc datele oficiale și cum se citește fișa care le însoțește.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Seminarul are două ore: o oră în sală, cu grupele 101 și 102 împreună, și o oră de lucru a echipei, în sală sau pe Teams. Față de primul seminar sunt două schimbări: biletul de ieșire se completează la 18:50, la sfârșitul seminarului, și sunt mai puține activități în sală. Mai mult de jumătate din timp lucrați voi: votați, discutați cu colegul de bancă, vă împărțiți în două tabere și scrieți, în echipă, primul rând din registrul surselor.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Planul orei din sală și al orei echipei. În sală sunt două voturi pe telefon, un moment de lucru în perechi și în două tabere și primul rând din registrul surselor, scris în echipă. Ora echipei începe la 18:00, iar biletul de ieșire închide seminarul la 18:50.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Gândiți-vă la ultimul drum lung pe care l-ați făcut cu mașina sau cu autocarul, de acasă până la facultate. Câți oameni mor, într-un an, pe drumurile din România? Potrivit Eurostat, în 2024 au murit 1 478 de oameni. În același an, în toată Uniunea Europeană, au murit pe drumuri 19 933 de oameni.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Votați pe telefon, prin codul QR de pe ecran, o singură variantă la întrebarea: judecând numai după aceste două cifre, unde a fost mai mare, în 2024, riscul unei persoane de a muri pe drum? Variantele sunt: în România, în Uniunea Europeană, la fel și nu se poate spune din aceste două cifre. Apoi discutați două minute cu colegul de bancă: de ce informație ați mai avea nevoie ca să răspundeți sigur?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Cele două cifre nu se pot compara așa cum sunt, pentru că Uniunea Europeană are mult mai mulți locuitori decât România, iar România este ea însăși inclusă în cifra Uniunii. Pentru o comparație cinstită, numărul deceselor se raportează la populație. Eurostat publică rata în același set de date: în 2024, 7,8 decese la 100 000 de locuitori în România și 4,4 în Uniunea Europeană. Riscul a fost, așadar, de circa 1,8 ori mai mare în România. Varianta a patra, nu se poate spune din aceste două cifre, este cea corectă: fără populație, cele două numere nu arată unde a fost riscul mai 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Rata este numărul de cazuri apărute într-o populație într-un interval de timp, de regulă un an, împărțit la mărimea populației și înmulțit cu 100 000, ca să se citească ușor. În limbaj de zi cu zi: cât de des se întâmplă ceva, nu doar de câte ori. Un exemplu cu valori ipotetice: județul A are 600 000 de locuitori și 90 de decese pe drumuri într-un an, județul B are 200 000 de locuitori și 40 de decese. Județul A are mai multe decese, dar rata lui este de 15 la 100 000 de locuitori, față de 20 în județul B. Județul cu mai puține decese are riscul mai mare.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toți cei trei ani, rata României a fost mai mare decât rata Uniunii, iar ambele au scăzut între 2019 și 2024. În 2014, în România au fost 1 818 decese, adică 9,1 la 100 000 de locuitori, față de 5,5 în Uniune. În 2019, 1 864 de decese și 9,6, față de 5,1. În 2024, 1 478 de decese și 7,8, față de 4,4. Eurostat marchează ca estimate ratele României din toți cei trei ani. Rata Uniunii este estimată, cea din 2024 este și provizorie, iar cea din 2014 marchează o ruptură de serie. Scăderea ratei Uniunii se citește cu prudență, pentru că Eurostat marchează valorile ei din anii 2020–2023 cu ruptură de serie. Nici tabelul, nici graficul nu spun de ce au scăzut ratele.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2024, rata României, de 7,8 la 100 000 de locuitori, valoare estimată de Eurostat, a fost cea mai mare dintre cele 27 de state ale Uniunii. Pe locul al doilea a fost Bulgaria, cu 7,4. Pentru comparație, rata Uniunii a fost de 4,4. Nici clasamentul, nici tabelul de mai devreme nu spun de ce au scăzut ratele. Pentru asta trebuie căutate cauzele, ceea ce veți face în seminariile următoare, pentru problema echipei voastre.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Numărul are rostul lui: spune câți oameni trebuie îngrijiți, câte familii au pierdut pe cineva, câte paturi de spital sunt ocupate. Rata este necesară atunci când comparați populații: două județe, două regiuni, România și Uniunea sau două grupuri, de exemplu femeile și bărbații. Pentru seria de timp a unui singur teritoriu, numărul se poate folosi, cu unitatea scrisă, dar rata rămâne recomandată, pentru că populația se schimbă de la un an la altul. În perioada 2014–2024, cele mai multe decese pe drumurile României au fost în 2017, adică 1 951, iar în 2024 au fost 1 478.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 cifră corectă poate fi totuși înțeleasă greșit dacă nu știți ce s-a numărat. Pentru decesele rutiere, întrebarea pare simplă: cine moare într-un accident? Răspunsul depinde de o regulă. Eurostat numără șoferii și pasagerii vehiculelor cu motor și ai bicicletelor, precum și pietonii, care mor în cel mult 30 de zile de la accident. Un rănit grav care moare mai târziu de 30 de zile de la accident nu intră în această cifră.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Regula se află în metadate, fișa care însoțește orice set de date oficial. Metadatele spun ce s-a numărat, cum, la cine, pentru ce perioadă și de unde provin datele; în limbaj de zi cu zi, sunt eticheta de pe ambalaj, cu ingredientele și cu data fabricației. În fișa Eurostat a deceselor rutiere aflați că cifra se publică și ca număr, și ca număr la 100 000 de persoane. Datele provin de la Direcția Generală Mobilitate și Transporturi a Comisiei Europene, DG MOVE, din CARE, baza de date europeană a accidentelor rutiere, care adună datele raportate de țări. Ele apar în cel mult doi ani după anul la care se referă. La data acestui seminar, cel mai recent an din acest set este 2024.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Lângă unele cifre apar litere mici. În setul deceselor rutiere, Eurostat marchează cu e valorile estimate, cu p pe cele provizorii și cu b o ruptură de serie. Ruptura de serie înseamnă că metoda s-a schimbat, așa că anii de dinainte și cei de după nu sunt pe deplin comparabili. Rupturi de serie apar și în datele românești. În matricea Institutului Național de Statistică pentru mortalitatea infantilă, decesele și nașterile din 2012 și 2013 sunt repartizate după domiciliu, iar începând cu 2014, după reședința obișnuită. O echipă care pune toată seria într-un grafic trebuie să semnaleze schimbarea, de exemplu printr-o linie verticală și o notă sub grafic.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Datele folosite în acest seminar nu ne permit să spunem, mai întâi, că drumurile din România sunt cele mai periculoase din Uniune: rata raportează decesele la locuitori, nu la kilometrii parcurși sau la numărul vehiculelor. Nu ne permit să spunem de ce a scăzut numărul deceselor după 2017: datele numără, dar nu explică. Nu ne permit să spunem că cifrele din 2024 sunt definitive: rata României este estimată, iar rata Uniunii este estimată și provizorie. Și nu ne permit să spunem câți oameni mor, în total, din cauza accidentelor rutiere, pentru că cifra Eurostat nu cuprinde decesele survenite după 30 de zile de la accident.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 ecran este un titlu construit pentru exercițiu: „Drumurile din România, mult mai sigure decât cele din Uniunea Europeană: 1 478 de decese, față de 19 933”. Ați crede acest titlu? În perechi, timp de două minute, căutați ce lipsește din el. Apoi sala se împarte în două tabere, cei care l-ar crede și cei care nu l-ar crede, iar câte un voluntar din fiecare tabără își spune argumentul într-un minut.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Cifrele din titlu sunt corecte și au sursă. Concluzia este însă falsă, pentru că titlul compară numere din populații de mărimi foarte diferite, iar rata arată contrariul: riscul a fost de circa 1,8 ori mai mare în România. Unui titlu îi pot lipsi etichetele, ca în primul seminar, dar poate avea și toate cifrele corecte și totuși să înșele. Întrebarea „din câți?” îl demontează.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Cifra despre drumuri a venit de la Eurostat. Pentru alte întrebări, alte surse sunt mai potrivite. Majoritatea cifrelor de care aveți nevoie în proiect se găsesc la patru instituții. Matricele TEMPO-Online ale Institutului Național de Statistică dau multe date și pe regiuni de dezvoltare și pe județe. Eurostat publică date comparabile pentru statele Uniunii, unele și pe regiuni. Institutul Național de Sănătate Publică supraveghează starea de sănătate a populației și bolile transmisibile și netransmisibile. Observatorul Global al Sănătății al Organizației Mondiale a Sănătății prezintă date pe indicatori și pe țări.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Patru întrebări apar pe rând pe ecran. La fiecare, votați pe telefon sursa la care ați căuta întâi: Institutul Național de Statistică, Eurostat, Institutul Național de Sănătate Publică sau Organizația Mondială a Sănătății. Prima: rata mortalității infantile în județul vostru, în cel mai recent an publicat. A doua: cum stă România față de media Uniunii la speranța de viață la naștere. A treia: câte cazuri de rujeolă s-au raportat în România luna trecută. A patra: cum stă România, la speranța de viață, față de Japonia și Brazilia.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Pentru prima întrebare, sursa potrivită este Institutul Național de Statistică, pentru că matricea mortalității infantile din TEMPO-Online dă datele și pe județe. Pentru a doua, Eurostat, care publică date comparabile pentru statele Uniunii și calculează media acesteia. Pentru a treia, Institutul Național de Sănătate Publică, care supraveghează bolile transmisibile. Pentru a patra, Organizația Mondială a Sănătății, care prezintă date pe țări din toată lumea. La unele întrebări răspund mai multe surse. Alegeți atunci sursa care face comparația de care aveți nevoie, cu cel mai recent an publicat; dacă sursa primară este alta, numiți-o.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Sursa primară este instituția care a strâns sau a produs datele. În limbaj de zi cu zi: cel care a numărat, nu cel care a povestit. Cifra deceselor rutiere publicată de Eurostat vine din baza de date CARE a Comisiei Europene, care adună datele raportate de țări; țările care au raportat decesele sunt sursa primară, iar un articol de presă care preia cifra de la Eurostat este o sursă secundară. Regula proiectului este simplă. Citați sursa de unde ați luat cifra; dacă sursa doar republică datele altcuiva și metadatele indică acest lucru, numiți și sursa primară. Un articol de presă, un comunicat sau o postare nu sunt surse pentru proiect: cifra din ele se caută la sursa oficială înainte de a fi folosită.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Registrul surselor este lista tuturor surselor folosite în proiect, câte una pe rând, cu tot ce trebuie ca altcineva să găsească aceeași cifră. Îl începeți azi, în sală, și îl completați în ora echipei. Coloanele sunt: numărul rândului, instituția și setul de date, sursa primară, indicatorul și ce s-a numărat, unitatea, cel mai recent an publicat, nivelul teritorial, mențiunile sursei și, la sfârșit, adresa și data accesării. Pe ecran este exemplul deceselor rutiere.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Lucrați cu echipa voastră, pe laptop sau pe telefon. Deschideți, într-una dintre cele patru surse, un set de date pentru problema echipei. Găsiți metadatele setului și scrieți, într-o propoziție, ce s-a numărat. Completați apoi primul rând din registrul surselor, cu toate coloanele din tabel. Trec pe la fiecare echipă. Dacă nu găsiți nimic în zece minute, spuneți ce ați căutat și unde: și aceasta este o informație utilă pentru proiect.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Patru lucruri de reținut din ora din sală. Numărul spune de câte ori s-a întâmplat ceva, iar rata spune cât de des, pentru că raportează numărul la populație. Înainte de a folosi o cifră, citiți metadatele, adică fișa care spune ce s-a numărat. Fiecare sursă are rostul ei: Institutul Național de Statistică pentru regiuni și județe, Eurostat pentru comparații între statele Uniunii, Institutul Național de Sănătate Publică pentru supravegherea bolilor, Organizația Mondială a Sănătății pentru comparații cu țări din toată lumea. Iar sursa primară este instituția care a strâns datele: o numiți, dar citați de unde ați luat cifra.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predați după al doilea seminar: registrul surselor și tabelul sau graficul. Le predă coordonatorul, pentru toată echipa, până duminică, 25.10.2026, ora 22:00, în formularul echipei pentru seminarul 2. Este primul produs care se notează, cu 0, 1 sau 2 puncte. Trimiteți un singur formular pe echipă. Câmpul obligatoriu „Ce a făcut fiecare membru al echipei” se completează cu rolurile reale.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 verifică titularul la acest produs. Registrul este complet: cel puțin trei surse, dintre care cel puțin două oficiale. Fiecare cifră are cele patru etichete. Pentru fiecare indicator, metadatele au fost citite, adică există o propoziție despre ce s-a numărat. Unitatea este potrivită comparației: rata, la orice comparație între populații; la seria unui singur teritoriu, numărul cu unitatea scrisă este acceptat. Tabelul sau graficul se citește singur, cu titlu, unitate de măsură, linie de sursă și mențiunile sursei. Interpretarea este prudentă. Instrumentele de inteligență artificială se folosesc numai pentru redactare, după regula din ghidul proiectului, și se declară; ele nu caută surse și nu dau cifre.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În ora echipei construiți registrul surselor și un tabel sau un grafic. Ora echipei începe la 18:00, în sală; echipa poate lucra și într-o întâlnire pe Teams. Ce nu terminați până la 18:50 continuați acasă, până la termenul de duminică, 25.10.2026, ora 22:00. Echipele care lucrează pe Teams folosesc, pentru biletul de ieșire, codul Mentimeter anunțat în sală.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Biletul de ieșire este anonim, pe Mentimeter, de la 18:50, prin codul QR de pe ecran. Trei întrebări deschise: ce a fost util, unde v-am pierdut, ce ați putea folosi mâine. Dacă biletul are răspunsuri, la începutul seminarului următor veți vedea două lucruri schimbate după ele, iar schimbările apar și pe pagina disciplinei, lunea viitoare. Ce puteți face diferit de mâine: când auziți o cifră despre sănătate, puneți două întrebări înainte să o credeți. Prima este „din câți?”. A doua este „ce s-a numărat?”.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2.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301752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301752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SEMINARUL 2 · ORA DIN SALĂ</a:t>
            </a:r>
            <a:endParaRPr lang="en-US" sz="1300" dirty="0"/>
          </a:p>
        </p:txBody>
      </p:sp>
      <p:sp>
        <p:nvSpPr>
          <p:cNvPr id="4" name="Text 2"/>
          <p:cNvSpPr/>
          <p:nvPr/>
        </p:nvSpPr>
        <p:spPr>
          <a:xfrm>
            <a:off x="685800" y="1463040"/>
            <a:ext cx="6949440" cy="1828800"/>
          </a:xfrm>
          <a:prstGeom prst="rect">
            <a:avLst/>
          </a:prstGeom>
          <a:noFill/>
          <a:ln/>
        </p:spPr>
        <p:txBody>
          <a:bodyPr wrap="square" lIns="0" tIns="0" rIns="0" bIns="0" rtlCol="0" anchor="t"/>
          <a:lstStyle/>
          <a:p>
            <a:pPr indent="0" marL="0">
              <a:buNone/>
            </a:pPr>
            <a:r>
              <a:rPr lang="en-US" sz="4400" b="1" dirty="0">
                <a:solidFill>
                  <a:srgbClr val="FFFFFF"/>
                </a:solidFill>
                <a:latin typeface="Palatino Linotype" pitchFamily="34" charset="0"/>
                <a:ea typeface="Palatino Linotype" pitchFamily="34" charset="-122"/>
                <a:cs typeface="Palatino Linotype" pitchFamily="34" charset="-120"/>
              </a:rPr>
              <a:t>Surse de date și indicatori</a:t>
            </a:r>
            <a:endParaRPr lang="en-US" sz="4400" dirty="0"/>
          </a:p>
        </p:txBody>
      </p:sp>
      <p:sp>
        <p:nvSpPr>
          <p:cNvPr id="5" name="Text 3"/>
          <p:cNvSpPr/>
          <p:nvPr/>
        </p:nvSpPr>
        <p:spPr>
          <a:xfrm>
            <a:off x="685800" y="3429000"/>
            <a:ext cx="6766560" cy="128016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Câte vieți se pierd pe drumurile din România?</a:t>
            </a:r>
            <a:endParaRPr lang="en-US" sz="2600" dirty="0"/>
          </a:p>
        </p:txBody>
      </p:sp>
      <p:sp>
        <p:nvSpPr>
          <p:cNvPr id="6" name="Shape 4"/>
          <p:cNvSpPr/>
          <p:nvPr/>
        </p:nvSpPr>
        <p:spPr>
          <a:xfrm>
            <a:off x="713232" y="4892040"/>
            <a:ext cx="1280160" cy="27432"/>
          </a:xfrm>
          <a:prstGeom prst="rect">
            <a:avLst/>
          </a:prstGeom>
          <a:solidFill>
            <a:srgbClr val="FF4757"/>
          </a:solidFill>
          <a:ln/>
        </p:spPr>
        <p:txBody>
          <a:bodyPr/>
          <a:p/>
        </p:txBody>
      </p:sp>
      <p:sp>
        <p:nvSpPr>
          <p:cNvPr id="7" name="Text 5"/>
          <p:cNvSpPr/>
          <p:nvPr/>
        </p:nvSpPr>
        <p:spPr>
          <a:xfrm>
            <a:off x="685800" y="5074920"/>
            <a:ext cx="6766560" cy="731520"/>
          </a:xfrm>
          <a:prstGeom prst="rect">
            <a:avLst/>
          </a:prstGeom>
          <a:noFill/>
          <a:ln/>
        </p:spPr>
        <p:txBody>
          <a:bodyPr wrap="square" lIns="0" tIns="0" rIns="0" bIns="0" rtlCol="0" anchor="t"/>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Introducere în sănătate publică · UB, FSI, anul I</a:t>
            </a:r>
            <a:endParaRPr lang="en-US" sz="1500" dirty="0"/>
          </a:p>
          <a:p>
            <a:pPr indent="0" marL="0">
              <a:buNone/>
            </a:pPr>
            <a:r>
              <a:rPr lang="en-US" sz="1500" dirty="0">
                <a:solidFill>
                  <a:srgbClr val="959BB0"/>
                </a:solidFill>
                <a:latin typeface="Palatino Linotype" pitchFamily="34" charset="0"/>
                <a:ea typeface="Palatino Linotype" pitchFamily="34" charset="-122"/>
                <a:cs typeface="Palatino Linotype" pitchFamily="34" charset="-120"/>
              </a:rPr>
              <a:t>Conf. univ. dr. Adrian Pană · marți, 20 octombrie 2026</a:t>
            </a:r>
            <a:endParaRPr lang="en-US" sz="1500" dirty="0"/>
          </a:p>
        </p:txBody>
      </p:sp>
      <p:sp>
        <p:nvSpPr>
          <p:cNvPr id="8" name="Shape 6"/>
          <p:cNvSpPr/>
          <p:nvPr/>
        </p:nvSpPr>
        <p:spPr>
          <a:xfrm>
            <a:off x="7955280" y="2011680"/>
            <a:ext cx="3657600" cy="566928"/>
          </a:xfrm>
          <a:prstGeom prst="roundRect">
            <a:avLst>
              <a:gd name="adj" fmla="val 9677"/>
            </a:avLst>
          </a:prstGeom>
          <a:solidFill>
            <a:srgbClr val="27D3BE"/>
          </a:solidFill>
          <a:ln w="12700">
            <a:solidFill>
              <a:srgbClr val="27D3BE"/>
            </a:solidFill>
            <a:prstDash val="solid"/>
          </a:ln>
        </p:spPr>
        <p:txBody>
          <a:bodyPr/>
          <a:p/>
        </p:txBody>
      </p:sp>
      <p:sp>
        <p:nvSpPr>
          <p:cNvPr id="9" name="Shape 7"/>
          <p:cNvSpPr/>
          <p:nvPr/>
        </p:nvSpPr>
        <p:spPr>
          <a:xfrm>
            <a:off x="7955280" y="2880360"/>
            <a:ext cx="1737360" cy="566928"/>
          </a:xfrm>
          <a:prstGeom prst="roundRect">
            <a:avLst>
              <a:gd name="adj" fmla="val 9677"/>
            </a:avLst>
          </a:prstGeom>
          <a:solidFill>
            <a:srgbClr val="FF4757"/>
          </a:solidFill>
          <a:ln w="12700">
            <a:solidFill>
              <a:srgbClr val="FF4757"/>
            </a:solidFill>
            <a:prstDash val="solid"/>
          </a:ln>
        </p:spPr>
        <p:txBody>
          <a:bodyPr/>
          <a:p/>
        </p:txBody>
      </p:sp>
      <p:sp>
        <p:nvSpPr>
          <p:cNvPr id="10" name="Shape 8"/>
          <p:cNvSpPr/>
          <p:nvPr/>
        </p:nvSpPr>
        <p:spPr>
          <a:xfrm>
            <a:off x="9829800" y="2880360"/>
            <a:ext cx="640080" cy="566928"/>
          </a:xfrm>
          <a:prstGeom prst="roundRect">
            <a:avLst>
              <a:gd name="adj" fmla="val 9677"/>
            </a:avLst>
          </a:prstGeom>
          <a:solidFill>
            <a:srgbClr val="FFC24B"/>
          </a:solidFill>
          <a:ln w="12700">
            <a:solidFill>
              <a:srgbClr val="FFC24B"/>
            </a:solidFill>
            <a:prstDash val="solid"/>
          </a:ln>
        </p:spPr>
        <p:txBody>
          <a:bodyPr/>
          <a:p/>
        </p:txBody>
      </p:sp>
      <p:sp>
        <p:nvSpPr>
          <p:cNvPr id="11" name="Text 9"/>
          <p:cNvSpPr/>
          <p:nvPr/>
        </p:nvSpPr>
        <p:spPr>
          <a:xfrm>
            <a:off x="7955280" y="3794760"/>
            <a:ext cx="3657600" cy="914400"/>
          </a:xfrm>
          <a:prstGeom prst="rect">
            <a:avLst/>
          </a:prstGeom>
          <a:noFill/>
          <a:ln/>
        </p:spPr>
        <p:txBody>
          <a:bodyPr wrap="square" lIns="0" tIns="0" rIns="0" bIns="0" rtlCol="0" anchor="t"/>
          <a:lstStyle/>
          <a:p>
            <a:pPr indent="0" marL="0">
              <a:buNone/>
            </a:pPr>
            <a:r>
              <a:rPr lang="en-US" sz="1700" i="1" dirty="0">
                <a:solidFill>
                  <a:srgbClr val="959BB0"/>
                </a:solidFill>
                <a:latin typeface="Palatino Linotype" pitchFamily="34" charset="0"/>
                <a:ea typeface="Palatino Linotype" pitchFamily="34" charset="-122"/>
                <a:cs typeface="Palatino Linotype" pitchFamily="34" charset="-120"/>
              </a:rPr>
              <a:t>un număr · o rată · o sursă · o fișă care le însoțește</a:t>
            </a:r>
            <a:endParaRPr lang="en-US" sz="1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ORA DIN SALĂ ȘI ORA ECHIPEI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Ce faceți azi și ce am schimbat la seminar</a:t>
            </a:r>
            <a:endParaRPr lang="en-US" sz="3000" dirty="0"/>
          </a:p>
        </p:txBody>
      </p:sp>
      <p:sp>
        <p:nvSpPr>
          <p:cNvPr id="4" name="Shape 2"/>
          <p:cNvSpPr/>
          <p:nvPr/>
        </p:nvSpPr>
        <p:spPr>
          <a:xfrm>
            <a:off x="594360" y="1920240"/>
            <a:ext cx="5394960" cy="1600200"/>
          </a:xfrm>
          <a:prstGeom prst="roundRect">
            <a:avLst>
              <a:gd name="adj" fmla="val 5143"/>
            </a:avLst>
          </a:prstGeom>
          <a:solidFill>
            <a:srgbClr val="ECEAE4"/>
          </a:solidFill>
          <a:ln w="12700">
            <a:solidFill>
              <a:srgbClr val="ECEAE4"/>
            </a:solidFill>
            <a:prstDash val="solid"/>
          </a:ln>
        </p:spPr>
        <p:txBody>
          <a:bodyPr/>
          <a:p/>
        </p:txBody>
      </p:sp>
      <p:sp>
        <p:nvSpPr>
          <p:cNvPr id="5" name="Shape 3"/>
          <p:cNvSpPr/>
          <p:nvPr/>
        </p:nvSpPr>
        <p:spPr>
          <a:xfrm>
            <a:off x="594360" y="1920240"/>
            <a:ext cx="5394960" cy="82296"/>
          </a:xfrm>
          <a:prstGeom prst="rect">
            <a:avLst/>
          </a:prstGeom>
          <a:solidFill>
            <a:srgbClr val="B02532"/>
          </a:solidFill>
          <a:ln w="12700">
            <a:solidFill>
              <a:srgbClr val="B02532"/>
            </a:solidFill>
            <a:prstDash val="solid"/>
          </a:ln>
        </p:spPr>
        <p:txBody>
          <a:bodyPr/>
          <a:p/>
        </p:txBody>
      </p:sp>
      <p:sp>
        <p:nvSpPr>
          <p:cNvPr id="6" name="Text 4"/>
          <p:cNvSpPr/>
          <p:nvPr/>
        </p:nvSpPr>
        <p:spPr>
          <a:xfrm>
            <a:off x="868680" y="2103120"/>
            <a:ext cx="4846320" cy="457200"/>
          </a:xfrm>
          <a:prstGeom prst="rect">
            <a:avLst/>
          </a:prstGeom>
          <a:noFill/>
          <a:ln/>
        </p:spPr>
        <p:txBody>
          <a:bodyPr wrap="square" lIns="0" tIns="0" rIns="0" bIns="0" rtlCol="0" anchor="t"/>
          <a:lstStyle/>
          <a:p>
            <a:pPr indent="0" marL="0">
              <a:buNone/>
            </a:pPr>
            <a:r>
              <a:rPr lang="en-US" sz="2300" b="1" dirty="0">
                <a:solidFill>
                  <a:srgbClr val="B02532"/>
                </a:solidFill>
                <a:latin typeface="Palatino Linotype" pitchFamily="34" charset="0"/>
                <a:ea typeface="Palatino Linotype" pitchFamily="34" charset="-122"/>
                <a:cs typeface="Palatino Linotype" pitchFamily="34" charset="-120"/>
              </a:rPr>
              <a:t>Biletul de ieșire, la 18:50</a:t>
            </a:r>
            <a:endParaRPr lang="en-US" sz="2300" dirty="0"/>
          </a:p>
        </p:txBody>
      </p:sp>
      <p:sp>
        <p:nvSpPr>
          <p:cNvPr id="7" name="Text 5"/>
          <p:cNvSpPr/>
          <p:nvPr/>
        </p:nvSpPr>
        <p:spPr>
          <a:xfrm>
            <a:off x="868680" y="2697480"/>
            <a:ext cx="484632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Se completează la sfârșitul seminarului, după ora echipei.</a:t>
            </a:r>
            <a:endParaRPr lang="en-US" sz="1600" dirty="0"/>
          </a:p>
        </p:txBody>
      </p:sp>
      <p:sp>
        <p:nvSpPr>
          <p:cNvPr id="8" name="Shape 6"/>
          <p:cNvSpPr/>
          <p:nvPr/>
        </p:nvSpPr>
        <p:spPr>
          <a:xfrm>
            <a:off x="6172200" y="1920240"/>
            <a:ext cx="5394960" cy="1600200"/>
          </a:xfrm>
          <a:prstGeom prst="roundRect">
            <a:avLst>
              <a:gd name="adj" fmla="val 5143"/>
            </a:avLst>
          </a:prstGeom>
          <a:solidFill>
            <a:srgbClr val="ECEAE4"/>
          </a:solidFill>
          <a:ln w="12700">
            <a:solidFill>
              <a:srgbClr val="ECEAE4"/>
            </a:solidFill>
            <a:prstDash val="solid"/>
          </a:ln>
        </p:spPr>
        <p:txBody>
          <a:bodyPr/>
          <a:p/>
        </p:txBody>
      </p:sp>
      <p:sp>
        <p:nvSpPr>
          <p:cNvPr id="9" name="Shape 7"/>
          <p:cNvSpPr/>
          <p:nvPr/>
        </p:nvSpPr>
        <p:spPr>
          <a:xfrm>
            <a:off x="6172200" y="1920240"/>
            <a:ext cx="5394960" cy="82296"/>
          </a:xfrm>
          <a:prstGeom prst="rect">
            <a:avLst/>
          </a:prstGeom>
          <a:solidFill>
            <a:srgbClr val="0E7C6B"/>
          </a:solidFill>
          <a:ln w="12700">
            <a:solidFill>
              <a:srgbClr val="0E7C6B"/>
            </a:solidFill>
            <a:prstDash val="solid"/>
          </a:ln>
        </p:spPr>
        <p:txBody>
          <a:bodyPr/>
          <a:p/>
        </p:txBody>
      </p:sp>
      <p:sp>
        <p:nvSpPr>
          <p:cNvPr id="10" name="Text 8"/>
          <p:cNvSpPr/>
          <p:nvPr/>
        </p:nvSpPr>
        <p:spPr>
          <a:xfrm>
            <a:off x="6446520" y="2103120"/>
            <a:ext cx="4846320" cy="457200"/>
          </a:xfrm>
          <a:prstGeom prst="rect">
            <a:avLst/>
          </a:prstGeom>
          <a:noFill/>
          <a:ln/>
        </p:spPr>
        <p:txBody>
          <a:bodyPr wrap="square" lIns="0" tIns="0" rIns="0" bIns="0" rtlCol="0" anchor="t"/>
          <a:lstStyle/>
          <a:p>
            <a:pPr indent="0" marL="0">
              <a:buNone/>
            </a:pPr>
            <a:r>
              <a:rPr lang="en-US" sz="2300" b="1" dirty="0">
                <a:solidFill>
                  <a:srgbClr val="0E7C6B"/>
                </a:solidFill>
                <a:latin typeface="Palatino Linotype" pitchFamily="34" charset="0"/>
                <a:ea typeface="Palatino Linotype" pitchFamily="34" charset="-122"/>
                <a:cs typeface="Palatino Linotype" pitchFamily="34" charset="-120"/>
              </a:rPr>
              <a:t>Mai puține activități</a:t>
            </a:r>
            <a:endParaRPr lang="en-US" sz="2300" dirty="0"/>
          </a:p>
        </p:txBody>
      </p:sp>
      <p:sp>
        <p:nvSpPr>
          <p:cNvPr id="11" name="Text 9"/>
          <p:cNvSpPr/>
          <p:nvPr/>
        </p:nvSpPr>
        <p:spPr>
          <a:xfrm>
            <a:off x="6446520" y="2697480"/>
            <a:ext cx="4846320" cy="731520"/>
          </a:xfrm>
          <a:prstGeom prst="rect">
            <a:avLst/>
          </a:prstGeom>
          <a:noFill/>
          <a:ln/>
        </p:spPr>
        <p:txBody>
          <a:bodyPr wrap="square" lIns="0" tIns="0" rIns="0" bIns="0" rtlCol="0" anchor="t"/>
          <a:lstStyle/>
          <a:p>
            <a:pPr indent="0" marL="0">
              <a:buNone/>
            </a:pPr>
            <a:r>
              <a:rPr lang="en-US" sz="1600" dirty="0">
                <a:solidFill>
                  <a:srgbClr val="11121A"/>
                </a:solidFill>
                <a:latin typeface="Palatino Linotype" pitchFamily="34" charset="0"/>
                <a:ea typeface="Palatino Linotype" pitchFamily="34" charset="-122"/>
                <a:cs typeface="Palatino Linotype" pitchFamily="34" charset="-120"/>
              </a:rPr>
              <a:t>În sală sunt mai puține activități decât la primul seminar.</a:t>
            </a:r>
            <a:endParaRPr lang="en-US" sz="1600" dirty="0"/>
          </a:p>
        </p:txBody>
      </p:sp>
      <p:sp>
        <p:nvSpPr>
          <p:cNvPr id="12" name="Shape 10"/>
          <p:cNvSpPr/>
          <p:nvPr/>
        </p:nvSpPr>
        <p:spPr>
          <a:xfrm>
            <a:off x="594360" y="4069080"/>
            <a:ext cx="274320" cy="731520"/>
          </a:xfrm>
          <a:prstGeom prst="rect">
            <a:avLst/>
          </a:prstGeom>
          <a:solidFill>
            <a:srgbClr val="585A64"/>
          </a:solidFill>
          <a:ln w="19050">
            <a:solidFill>
              <a:srgbClr val="F6F5F2"/>
            </a:solidFill>
            <a:prstDash val="solid"/>
          </a:ln>
        </p:spPr>
        <p:txBody>
          <a:bodyPr/>
          <a:p/>
        </p:txBody>
      </p:sp>
      <p:sp>
        <p:nvSpPr>
          <p:cNvPr id="13" name="Shape 11"/>
          <p:cNvSpPr/>
          <p:nvPr/>
        </p:nvSpPr>
        <p:spPr>
          <a:xfrm>
            <a:off x="868680" y="4069080"/>
            <a:ext cx="1097280" cy="731520"/>
          </a:xfrm>
          <a:prstGeom prst="rect">
            <a:avLst/>
          </a:prstGeom>
          <a:solidFill>
            <a:srgbClr val="FF4757"/>
          </a:solidFill>
          <a:ln w="19050">
            <a:solidFill>
              <a:srgbClr val="F6F5F2"/>
            </a:solidFill>
            <a:prstDash val="solid"/>
          </a:ln>
        </p:spPr>
        <p:txBody>
          <a:bodyPr/>
          <a:p/>
        </p:txBody>
      </p:sp>
      <p:sp>
        <p:nvSpPr>
          <p:cNvPr id="14" name="Text 12"/>
          <p:cNvSpPr/>
          <p:nvPr/>
        </p:nvSpPr>
        <p:spPr>
          <a:xfrm>
            <a:off x="868680" y="4069080"/>
            <a:ext cx="1097280" cy="731520"/>
          </a:xfrm>
          <a:prstGeom prst="rect">
            <a:avLst/>
          </a:prstGeom>
          <a:noFill/>
          <a:ln/>
        </p:spPr>
        <p:txBody>
          <a:bodyPr wrap="square" lIns="0" tIns="0" rIns="0" bIns="0" rtlCol="0" anchor="ctr"/>
          <a:lstStyle/>
          <a:p>
            <a:pPr algn="ctr" indent="0" marL="0">
              <a:buNone/>
            </a:pPr>
            <a:r>
              <a:rPr lang="en-US" sz="1100" b="1" dirty="0">
                <a:solidFill>
                  <a:srgbClr val="2E060B"/>
                </a:solidFill>
                <a:latin typeface="Palatino Linotype" pitchFamily="34" charset="0"/>
                <a:ea typeface="Palatino Linotype" pitchFamily="34" charset="-122"/>
                <a:cs typeface="Palatino Linotype" pitchFamily="34" charset="-120"/>
              </a:rPr>
              <a:t>Rată</a:t>
            </a:r>
            <a:endParaRPr lang="en-US" sz="1100" dirty="0"/>
          </a:p>
        </p:txBody>
      </p:sp>
      <p:sp>
        <p:nvSpPr>
          <p:cNvPr id="15" name="Shape 13"/>
          <p:cNvSpPr/>
          <p:nvPr/>
        </p:nvSpPr>
        <p:spPr>
          <a:xfrm>
            <a:off x="1965960" y="4069080"/>
            <a:ext cx="914400" cy="731520"/>
          </a:xfrm>
          <a:prstGeom prst="rect">
            <a:avLst/>
          </a:prstGeom>
          <a:solidFill>
            <a:srgbClr val="FFC24B"/>
          </a:solidFill>
          <a:ln w="19050">
            <a:solidFill>
              <a:srgbClr val="F6F5F2"/>
            </a:solidFill>
            <a:prstDash val="solid"/>
          </a:ln>
        </p:spPr>
        <p:txBody>
          <a:bodyPr/>
          <a:p/>
        </p:txBody>
      </p:sp>
      <p:sp>
        <p:nvSpPr>
          <p:cNvPr id="16" name="Text 14"/>
          <p:cNvSpPr/>
          <p:nvPr/>
        </p:nvSpPr>
        <p:spPr>
          <a:xfrm>
            <a:off x="1965960" y="4069080"/>
            <a:ext cx="914400" cy="731520"/>
          </a:xfrm>
          <a:prstGeom prst="rect">
            <a:avLst/>
          </a:prstGeom>
          <a:noFill/>
          <a:ln/>
        </p:spPr>
        <p:txBody>
          <a:bodyPr wrap="square" lIns="0" tIns="0" rIns="0" bIns="0" rtlCol="0" anchor="ctr"/>
          <a:lstStyle/>
          <a:p>
            <a:pPr algn="ctr" indent="0" marL="0">
              <a:buNone/>
            </a:pPr>
            <a:r>
              <a:rPr lang="en-US" sz="1100" b="1" dirty="0">
                <a:solidFill>
                  <a:srgbClr val="3D2A00"/>
                </a:solidFill>
                <a:latin typeface="Palatino Linotype" pitchFamily="34" charset="0"/>
                <a:ea typeface="Palatino Linotype" pitchFamily="34" charset="-122"/>
                <a:cs typeface="Palatino Linotype" pitchFamily="34" charset="-120"/>
              </a:rPr>
              <a:t>Metadate</a:t>
            </a:r>
            <a:endParaRPr lang="en-US" sz="1100" dirty="0"/>
          </a:p>
        </p:txBody>
      </p:sp>
      <p:sp>
        <p:nvSpPr>
          <p:cNvPr id="17" name="Shape 15"/>
          <p:cNvSpPr/>
          <p:nvPr/>
        </p:nvSpPr>
        <p:spPr>
          <a:xfrm>
            <a:off x="2880360" y="4069080"/>
            <a:ext cx="731520" cy="731520"/>
          </a:xfrm>
          <a:prstGeom prst="rect">
            <a:avLst/>
          </a:prstGeom>
          <a:solidFill>
            <a:srgbClr val="27D3BE"/>
          </a:solidFill>
          <a:ln w="19050">
            <a:solidFill>
              <a:srgbClr val="F6F5F2"/>
            </a:solidFill>
            <a:prstDash val="solid"/>
          </a:ln>
        </p:spPr>
        <p:txBody>
          <a:bodyPr/>
          <a:p/>
        </p:txBody>
      </p:sp>
      <p:sp>
        <p:nvSpPr>
          <p:cNvPr id="18" name="Text 16"/>
          <p:cNvSpPr/>
          <p:nvPr/>
        </p:nvSpPr>
        <p:spPr>
          <a:xfrm>
            <a:off x="2880360" y="4069080"/>
            <a:ext cx="731520" cy="731520"/>
          </a:xfrm>
          <a:prstGeom prst="rect">
            <a:avLst/>
          </a:prstGeom>
          <a:noFill/>
          <a:ln/>
        </p:spPr>
        <p:txBody>
          <a:bodyPr wrap="square" lIns="0" tIns="0" rIns="0" bIns="0" rtlCol="0" anchor="ctr"/>
          <a:lstStyle/>
          <a:p>
            <a:pPr algn="ctr" indent="0" marL="0">
              <a:buNone/>
            </a:pPr>
            <a:r>
              <a:rPr lang="en-US" sz="1100" b="1" dirty="0">
                <a:solidFill>
                  <a:srgbClr val="073B34"/>
                </a:solidFill>
                <a:latin typeface="Palatino Linotype" pitchFamily="34" charset="0"/>
                <a:ea typeface="Palatino Linotype" pitchFamily="34" charset="-122"/>
                <a:cs typeface="Palatino Linotype" pitchFamily="34" charset="-120"/>
              </a:rPr>
              <a:t>Surse</a:t>
            </a:r>
            <a:endParaRPr lang="en-US" sz="1100" dirty="0"/>
          </a:p>
        </p:txBody>
      </p:sp>
      <p:sp>
        <p:nvSpPr>
          <p:cNvPr id="19" name="Shape 17"/>
          <p:cNvSpPr/>
          <p:nvPr/>
        </p:nvSpPr>
        <p:spPr>
          <a:xfrm>
            <a:off x="3611880" y="4069080"/>
            <a:ext cx="1554480" cy="731520"/>
          </a:xfrm>
          <a:prstGeom prst="rect">
            <a:avLst/>
          </a:prstGeom>
          <a:solidFill>
            <a:srgbClr val="9B7EF7"/>
          </a:solidFill>
          <a:ln w="19050">
            <a:solidFill>
              <a:srgbClr val="F6F5F2"/>
            </a:solidFill>
            <a:prstDash val="solid"/>
          </a:ln>
        </p:spPr>
        <p:txBody>
          <a:bodyPr/>
          <a:p/>
        </p:txBody>
      </p:sp>
      <p:sp>
        <p:nvSpPr>
          <p:cNvPr id="20" name="Text 18"/>
          <p:cNvSpPr/>
          <p:nvPr/>
        </p:nvSpPr>
        <p:spPr>
          <a:xfrm>
            <a:off x="3611880" y="4069080"/>
            <a:ext cx="1554480" cy="731520"/>
          </a:xfrm>
          <a:prstGeom prst="rect">
            <a:avLst/>
          </a:prstGeom>
          <a:noFill/>
          <a:ln/>
        </p:spPr>
        <p:txBody>
          <a:bodyPr wrap="square" lIns="0" tIns="0" rIns="0" bIns="0" rtlCol="0" anchor="ctr"/>
          <a:lstStyle/>
          <a:p>
            <a:pPr algn="ctr" indent="0" marL="0">
              <a:buNone/>
            </a:pPr>
            <a:r>
              <a:rPr lang="en-US" sz="1100" b="1" dirty="0">
                <a:solidFill>
                  <a:srgbClr val="1F1040"/>
                </a:solidFill>
                <a:latin typeface="Palatino Linotype" pitchFamily="34" charset="0"/>
                <a:ea typeface="Palatino Linotype" pitchFamily="34" charset="-122"/>
                <a:cs typeface="Palatino Linotype" pitchFamily="34" charset="-120"/>
              </a:rPr>
              <a:t>Registru</a:t>
            </a:r>
            <a:endParaRPr lang="en-US" sz="1100" dirty="0"/>
          </a:p>
        </p:txBody>
      </p:sp>
      <p:sp>
        <p:nvSpPr>
          <p:cNvPr id="21" name="Shape 19"/>
          <p:cNvSpPr/>
          <p:nvPr/>
        </p:nvSpPr>
        <p:spPr>
          <a:xfrm>
            <a:off x="5166360" y="4069080"/>
            <a:ext cx="914400" cy="731520"/>
          </a:xfrm>
          <a:prstGeom prst="rect">
            <a:avLst/>
          </a:prstGeom>
          <a:solidFill>
            <a:srgbClr val="ECEAE4"/>
          </a:solidFill>
          <a:ln w="19050">
            <a:solidFill>
              <a:srgbClr val="F6F5F2"/>
            </a:solidFill>
            <a:prstDash val="solid"/>
          </a:ln>
        </p:spPr>
        <p:txBody>
          <a:bodyPr/>
          <a:p/>
        </p:txBody>
      </p:sp>
      <p:sp>
        <p:nvSpPr>
          <p:cNvPr id="22" name="Text 20"/>
          <p:cNvSpPr/>
          <p:nvPr/>
        </p:nvSpPr>
        <p:spPr>
          <a:xfrm>
            <a:off x="5166360" y="4069080"/>
            <a:ext cx="914400" cy="731520"/>
          </a:xfrm>
          <a:prstGeom prst="rect">
            <a:avLst/>
          </a:prstGeom>
          <a:noFill/>
          <a:ln/>
        </p:spPr>
        <p:txBody>
          <a:bodyPr wrap="square" lIns="0" tIns="0" rIns="0" bIns="0" rtlCol="0" anchor="ctr"/>
          <a:lstStyle/>
          <a:p>
            <a:pPr algn="ctr" indent="0" marL="0">
              <a:buNone/>
            </a:pPr>
            <a:r>
              <a:rPr lang="en-US" sz="1100" b="1" dirty="0">
                <a:solidFill>
                  <a:srgbClr val="11121A"/>
                </a:solidFill>
                <a:latin typeface="Palatino Linotype" pitchFamily="34" charset="0"/>
                <a:ea typeface="Palatino Linotype" pitchFamily="34" charset="-122"/>
                <a:cs typeface="Palatino Linotype" pitchFamily="34" charset="-120"/>
              </a:rPr>
              <a:t>Predați</a:t>
            </a:r>
            <a:endParaRPr lang="en-US" sz="1100" dirty="0"/>
          </a:p>
        </p:txBody>
      </p:sp>
      <p:sp>
        <p:nvSpPr>
          <p:cNvPr id="23" name="Shape 21"/>
          <p:cNvSpPr/>
          <p:nvPr/>
        </p:nvSpPr>
        <p:spPr>
          <a:xfrm>
            <a:off x="6080760" y="4069080"/>
            <a:ext cx="4572000" cy="731520"/>
          </a:xfrm>
          <a:prstGeom prst="rect">
            <a:avLst/>
          </a:prstGeom>
          <a:solidFill>
            <a:srgbClr val="11121A"/>
          </a:solidFill>
          <a:ln w="19050">
            <a:solidFill>
              <a:srgbClr val="F6F5F2"/>
            </a:solidFill>
            <a:prstDash val="solid"/>
          </a:ln>
        </p:spPr>
        <p:txBody>
          <a:bodyPr/>
          <a:p/>
        </p:txBody>
      </p:sp>
      <p:sp>
        <p:nvSpPr>
          <p:cNvPr id="24" name="Text 22"/>
          <p:cNvSpPr/>
          <p:nvPr/>
        </p:nvSpPr>
        <p:spPr>
          <a:xfrm>
            <a:off x="6080760" y="4069080"/>
            <a:ext cx="4572000" cy="731520"/>
          </a:xfrm>
          <a:prstGeom prst="rect">
            <a:avLst/>
          </a:prstGeom>
          <a:noFill/>
          <a:ln/>
        </p:spPr>
        <p:txBody>
          <a:bodyPr wrap="square" lIns="0" tIns="0" rIns="0" bIns="0" rtlCol="0" anchor="ctr"/>
          <a:lstStyle/>
          <a:p>
            <a:pPr algn="ctr" indent="0" marL="0">
              <a:buNone/>
            </a:pPr>
            <a:r>
              <a:rPr lang="en-US" sz="1100" b="1" dirty="0">
                <a:solidFill>
                  <a:srgbClr val="FFFFFF"/>
                </a:solidFill>
                <a:latin typeface="Palatino Linotype" pitchFamily="34" charset="0"/>
                <a:ea typeface="Palatino Linotype" pitchFamily="34" charset="-122"/>
                <a:cs typeface="Palatino Linotype" pitchFamily="34" charset="-120"/>
              </a:rPr>
              <a:t>Ora echipei</a:t>
            </a:r>
            <a:endParaRPr lang="en-US" sz="1100" dirty="0"/>
          </a:p>
        </p:txBody>
      </p:sp>
      <p:sp>
        <p:nvSpPr>
          <p:cNvPr id="25" name="Shape 23"/>
          <p:cNvSpPr/>
          <p:nvPr/>
        </p:nvSpPr>
        <p:spPr>
          <a:xfrm>
            <a:off x="10652760" y="4069080"/>
            <a:ext cx="914400" cy="731520"/>
          </a:xfrm>
          <a:prstGeom prst="rect">
            <a:avLst/>
          </a:prstGeom>
          <a:solidFill>
            <a:srgbClr val="FF4757"/>
          </a:solidFill>
          <a:ln w="19050">
            <a:solidFill>
              <a:srgbClr val="F6F5F2"/>
            </a:solidFill>
            <a:prstDash val="solid"/>
          </a:ln>
        </p:spPr>
        <p:txBody>
          <a:bodyPr/>
          <a:p/>
        </p:txBody>
      </p:sp>
      <p:sp>
        <p:nvSpPr>
          <p:cNvPr id="26" name="Text 24"/>
          <p:cNvSpPr/>
          <p:nvPr/>
        </p:nvSpPr>
        <p:spPr>
          <a:xfrm>
            <a:off x="10652760" y="4069080"/>
            <a:ext cx="914400" cy="731520"/>
          </a:xfrm>
          <a:prstGeom prst="rect">
            <a:avLst/>
          </a:prstGeom>
          <a:noFill/>
          <a:ln/>
        </p:spPr>
        <p:txBody>
          <a:bodyPr wrap="square" lIns="0" tIns="0" rIns="0" bIns="0" rtlCol="0" anchor="ctr"/>
          <a:lstStyle/>
          <a:p>
            <a:pPr algn="ctr" indent="0" marL="0">
              <a:buNone/>
            </a:pPr>
            <a:r>
              <a:rPr lang="en-US" sz="1100" b="1" dirty="0">
                <a:solidFill>
                  <a:srgbClr val="2E060B"/>
                </a:solidFill>
                <a:latin typeface="Palatino Linotype" pitchFamily="34" charset="0"/>
                <a:ea typeface="Palatino Linotype" pitchFamily="34" charset="-122"/>
                <a:cs typeface="Palatino Linotype" pitchFamily="34" charset="-120"/>
              </a:rPr>
              <a:t>Bilet</a:t>
            </a:r>
            <a:endParaRPr lang="en-US" sz="1100" dirty="0"/>
          </a:p>
        </p:txBody>
      </p:sp>
      <p:sp>
        <p:nvSpPr>
          <p:cNvPr id="27" name="Text 25"/>
          <p:cNvSpPr/>
          <p:nvPr/>
        </p:nvSpPr>
        <p:spPr>
          <a:xfrm>
            <a:off x="594360" y="4846320"/>
            <a:ext cx="5394960" cy="274320"/>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Ora din sală</a:t>
            </a:r>
            <a:endParaRPr lang="en-US" sz="1200" dirty="0"/>
          </a:p>
        </p:txBody>
      </p:sp>
      <p:sp>
        <p:nvSpPr>
          <p:cNvPr id="28" name="Text 26"/>
          <p:cNvSpPr/>
          <p:nvPr/>
        </p:nvSpPr>
        <p:spPr>
          <a:xfrm>
            <a:off x="6080760" y="4846320"/>
            <a:ext cx="5486400" cy="274320"/>
          </a:xfrm>
          <a:prstGeom prst="rect">
            <a:avLst/>
          </a:prstGeom>
          <a:noFill/>
          <a:ln/>
        </p:spPr>
        <p:txBody>
          <a:bodyPr wrap="square" lIns="0" tIns="0" rIns="0" bIns="0" rtlCol="0" anchor="t"/>
          <a:lstStyle/>
          <a:p>
            <a:pPr indent="0" marL="0">
              <a:buNone/>
            </a:pPr>
            <a:r>
              <a:rPr lang="en-US" sz="1200" dirty="0">
                <a:solidFill>
                  <a:srgbClr val="585A64"/>
                </a:solidFill>
                <a:latin typeface="Palatino Linotype" pitchFamily="34" charset="0"/>
                <a:ea typeface="Palatino Linotype" pitchFamily="34" charset="-122"/>
                <a:cs typeface="Palatino Linotype" pitchFamily="34" charset="-120"/>
              </a:rPr>
              <a:t>Ora echipei</a:t>
            </a:r>
            <a:endParaRPr lang="en-US" sz="1200" dirty="0"/>
          </a:p>
        </p:txBody>
      </p:sp>
      <p:sp>
        <p:nvSpPr>
          <p:cNvPr id="29" name="Text 27"/>
          <p:cNvSpPr/>
          <p:nvPr/>
        </p:nvSpPr>
        <p:spPr>
          <a:xfrm>
            <a:off x="594360" y="5257800"/>
            <a:ext cx="10972800" cy="41148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Mai mult de jumătate din timp lucrați voi.</a:t>
            </a:r>
            <a:endParaRPr lang="en-US" sz="1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PLANUL SEMINARULUI · MINUTUL 0 ESTE ORA 17:00</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Șase momente în sală, apoi ora echipei</a:t>
            </a:r>
            <a:endParaRPr lang="en-US" sz="3200" dirty="0"/>
          </a:p>
        </p:txBody>
      </p:sp>
      <p:sp>
        <p:nvSpPr>
          <p:cNvPr id="4" name="Shape 2"/>
          <p:cNvSpPr/>
          <p:nvPr/>
        </p:nvSpPr>
        <p:spPr>
          <a:xfrm>
            <a:off x="594360" y="1691640"/>
            <a:ext cx="10972800" cy="457200"/>
          </a:xfrm>
          <a:prstGeom prst="roundRect">
            <a:avLst>
              <a:gd name="adj" fmla="val 18000"/>
            </a:avLst>
          </a:prstGeom>
          <a:solidFill>
            <a:srgbClr val="272A38"/>
          </a:solidFill>
          <a:ln w="12700">
            <a:solidFill>
              <a:srgbClr val="272A38"/>
            </a:solidFill>
            <a:prstDash val="solid"/>
          </a:ln>
        </p:spPr>
        <p:txBody>
          <a:bodyPr/>
          <a:p/>
        </p:txBody>
      </p:sp>
      <p:sp>
        <p:nvSpPr>
          <p:cNvPr id="5" name="Text 3"/>
          <p:cNvSpPr/>
          <p:nvPr/>
        </p:nvSpPr>
        <p:spPr>
          <a:xfrm>
            <a:off x="868680" y="1691640"/>
            <a:ext cx="1554480" cy="45720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0–3</a:t>
            </a:r>
            <a:endParaRPr lang="en-US" sz="1700" dirty="0"/>
          </a:p>
        </p:txBody>
      </p:sp>
      <p:sp>
        <p:nvSpPr>
          <p:cNvPr id="6" name="Text 4"/>
          <p:cNvSpPr/>
          <p:nvPr/>
        </p:nvSpPr>
        <p:spPr>
          <a:xfrm>
            <a:off x="2560320" y="1691640"/>
            <a:ext cx="886968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 faceți azi și ce am schimbat</a:t>
            </a:r>
            <a:endParaRPr lang="en-US" sz="1700" dirty="0"/>
          </a:p>
        </p:txBody>
      </p:sp>
      <p:sp>
        <p:nvSpPr>
          <p:cNvPr id="7" name="Shape 5"/>
          <p:cNvSpPr/>
          <p:nvPr/>
        </p:nvSpPr>
        <p:spPr>
          <a:xfrm>
            <a:off x="594360" y="2221992"/>
            <a:ext cx="10972800" cy="457200"/>
          </a:xfrm>
          <a:prstGeom prst="roundRect">
            <a:avLst>
              <a:gd name="adj" fmla="val 18000"/>
            </a:avLst>
          </a:prstGeom>
          <a:solidFill>
            <a:srgbClr val="1D1F2B"/>
          </a:solidFill>
          <a:ln w="12700">
            <a:solidFill>
              <a:srgbClr val="1D1F2B"/>
            </a:solidFill>
            <a:prstDash val="solid"/>
          </a:ln>
        </p:spPr>
        <p:txBody>
          <a:bodyPr/>
          <a:p/>
        </p:txBody>
      </p:sp>
      <p:sp>
        <p:nvSpPr>
          <p:cNvPr id="8" name="Text 6"/>
          <p:cNvSpPr/>
          <p:nvPr/>
        </p:nvSpPr>
        <p:spPr>
          <a:xfrm>
            <a:off x="868680" y="2221992"/>
            <a:ext cx="1554480" cy="45720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3–15</a:t>
            </a:r>
            <a:endParaRPr lang="en-US" sz="1700" dirty="0"/>
          </a:p>
        </p:txBody>
      </p:sp>
      <p:sp>
        <p:nvSpPr>
          <p:cNvPr id="9" name="Text 7"/>
          <p:cNvSpPr/>
          <p:nvPr/>
        </p:nvSpPr>
        <p:spPr>
          <a:xfrm>
            <a:off x="2560320" y="2221992"/>
            <a:ext cx="886968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Câte vieți se pierd pe drumuri? Numărul și rata</a:t>
            </a:r>
            <a:endParaRPr lang="en-US" sz="1700" dirty="0"/>
          </a:p>
        </p:txBody>
      </p:sp>
      <p:sp>
        <p:nvSpPr>
          <p:cNvPr id="10" name="Shape 8"/>
          <p:cNvSpPr/>
          <p:nvPr/>
        </p:nvSpPr>
        <p:spPr>
          <a:xfrm>
            <a:off x="594360" y="2752344"/>
            <a:ext cx="10972800" cy="457200"/>
          </a:xfrm>
          <a:prstGeom prst="roundRect">
            <a:avLst>
              <a:gd name="adj" fmla="val 18000"/>
            </a:avLst>
          </a:prstGeom>
          <a:solidFill>
            <a:srgbClr val="272A38"/>
          </a:solidFill>
          <a:ln w="12700">
            <a:solidFill>
              <a:srgbClr val="272A38"/>
            </a:solidFill>
            <a:prstDash val="solid"/>
          </a:ln>
        </p:spPr>
        <p:txBody>
          <a:bodyPr/>
          <a:p/>
        </p:txBody>
      </p:sp>
      <p:sp>
        <p:nvSpPr>
          <p:cNvPr id="11" name="Text 9"/>
          <p:cNvSpPr/>
          <p:nvPr/>
        </p:nvSpPr>
        <p:spPr>
          <a:xfrm>
            <a:off x="868680" y="2752344"/>
            <a:ext cx="1554480" cy="45720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15–25</a:t>
            </a:r>
            <a:endParaRPr lang="en-US" sz="1700" dirty="0"/>
          </a:p>
        </p:txBody>
      </p:sp>
      <p:sp>
        <p:nvSpPr>
          <p:cNvPr id="12" name="Text 10"/>
          <p:cNvSpPr/>
          <p:nvPr/>
        </p:nvSpPr>
        <p:spPr>
          <a:xfrm>
            <a:off x="2560320" y="2752344"/>
            <a:ext cx="886968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 s-a numărat? Metadatele și titlul de ziar</a:t>
            </a:r>
            <a:endParaRPr lang="en-US" sz="1700" dirty="0"/>
          </a:p>
        </p:txBody>
      </p:sp>
      <p:sp>
        <p:nvSpPr>
          <p:cNvPr id="13" name="Shape 11"/>
          <p:cNvSpPr/>
          <p:nvPr/>
        </p:nvSpPr>
        <p:spPr>
          <a:xfrm>
            <a:off x="594360" y="3282696"/>
            <a:ext cx="10972800" cy="457200"/>
          </a:xfrm>
          <a:prstGeom prst="roundRect">
            <a:avLst>
              <a:gd name="adj" fmla="val 18000"/>
            </a:avLst>
          </a:prstGeom>
          <a:solidFill>
            <a:srgbClr val="1D1F2B"/>
          </a:solidFill>
          <a:ln w="12700">
            <a:solidFill>
              <a:srgbClr val="1D1F2B"/>
            </a:solidFill>
            <a:prstDash val="solid"/>
          </a:ln>
        </p:spPr>
        <p:txBody>
          <a:bodyPr/>
          <a:p/>
        </p:txBody>
      </p:sp>
      <p:sp>
        <p:nvSpPr>
          <p:cNvPr id="14" name="Text 12"/>
          <p:cNvSpPr/>
          <p:nvPr/>
        </p:nvSpPr>
        <p:spPr>
          <a:xfrm>
            <a:off x="868680" y="3282696"/>
            <a:ext cx="1554480" cy="45720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25–33</a:t>
            </a:r>
            <a:endParaRPr lang="en-US" sz="1700" dirty="0"/>
          </a:p>
        </p:txBody>
      </p:sp>
      <p:sp>
        <p:nvSpPr>
          <p:cNvPr id="15" name="Text 13"/>
          <p:cNvSpPr/>
          <p:nvPr/>
        </p:nvSpPr>
        <p:spPr>
          <a:xfrm>
            <a:off x="2560320" y="3282696"/>
            <a:ext cx="886968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Patru întrebări, patru surse</a:t>
            </a:r>
            <a:endParaRPr lang="en-US" sz="1700" dirty="0"/>
          </a:p>
        </p:txBody>
      </p:sp>
      <p:sp>
        <p:nvSpPr>
          <p:cNvPr id="16" name="Shape 14"/>
          <p:cNvSpPr/>
          <p:nvPr/>
        </p:nvSpPr>
        <p:spPr>
          <a:xfrm>
            <a:off x="594360" y="3813048"/>
            <a:ext cx="10972800" cy="457200"/>
          </a:xfrm>
          <a:prstGeom prst="roundRect">
            <a:avLst>
              <a:gd name="adj" fmla="val 18000"/>
            </a:avLst>
          </a:prstGeom>
          <a:solidFill>
            <a:srgbClr val="272A38"/>
          </a:solidFill>
          <a:ln w="12700">
            <a:solidFill>
              <a:srgbClr val="272A38"/>
            </a:solidFill>
            <a:prstDash val="solid"/>
          </a:ln>
        </p:spPr>
        <p:txBody>
          <a:bodyPr/>
          <a:p/>
        </p:txBody>
      </p:sp>
      <p:sp>
        <p:nvSpPr>
          <p:cNvPr id="17" name="Text 15"/>
          <p:cNvSpPr/>
          <p:nvPr/>
        </p:nvSpPr>
        <p:spPr>
          <a:xfrm>
            <a:off x="868680" y="3813048"/>
            <a:ext cx="1554480" cy="45720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33–50</a:t>
            </a:r>
            <a:endParaRPr lang="en-US" sz="1700" dirty="0"/>
          </a:p>
        </p:txBody>
      </p:sp>
      <p:sp>
        <p:nvSpPr>
          <p:cNvPr id="18" name="Text 16"/>
          <p:cNvSpPr/>
          <p:nvPr/>
        </p:nvSpPr>
        <p:spPr>
          <a:xfrm>
            <a:off x="2560320" y="3813048"/>
            <a:ext cx="886968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Primul rând din registrul surselor</a:t>
            </a:r>
            <a:endParaRPr lang="en-US" sz="1700" dirty="0"/>
          </a:p>
        </p:txBody>
      </p:sp>
      <p:sp>
        <p:nvSpPr>
          <p:cNvPr id="19" name="Shape 17"/>
          <p:cNvSpPr/>
          <p:nvPr/>
        </p:nvSpPr>
        <p:spPr>
          <a:xfrm>
            <a:off x="594360" y="4343400"/>
            <a:ext cx="10972800" cy="457200"/>
          </a:xfrm>
          <a:prstGeom prst="roundRect">
            <a:avLst>
              <a:gd name="adj" fmla="val 18000"/>
            </a:avLst>
          </a:prstGeom>
          <a:solidFill>
            <a:srgbClr val="1D1F2B"/>
          </a:solidFill>
          <a:ln w="12700">
            <a:solidFill>
              <a:srgbClr val="1D1F2B"/>
            </a:solidFill>
            <a:prstDash val="solid"/>
          </a:ln>
        </p:spPr>
        <p:txBody>
          <a:bodyPr/>
          <a:p/>
        </p:txBody>
      </p:sp>
      <p:sp>
        <p:nvSpPr>
          <p:cNvPr id="20" name="Text 18"/>
          <p:cNvSpPr/>
          <p:nvPr/>
        </p:nvSpPr>
        <p:spPr>
          <a:xfrm>
            <a:off x="868680" y="4343400"/>
            <a:ext cx="1554480" cy="457200"/>
          </a:xfrm>
          <a:prstGeom prst="rect">
            <a:avLst/>
          </a:prstGeom>
          <a:noFill/>
          <a:ln/>
        </p:spPr>
        <p:txBody>
          <a:bodyPr wrap="square" lIns="0" tIns="0" rIns="0" bIns="0" rtlCol="0" anchor="ctr"/>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50–60</a:t>
            </a:r>
            <a:endParaRPr lang="en-US" sz="1700" dirty="0"/>
          </a:p>
        </p:txBody>
      </p:sp>
      <p:sp>
        <p:nvSpPr>
          <p:cNvPr id="21" name="Text 19"/>
          <p:cNvSpPr/>
          <p:nvPr/>
        </p:nvSpPr>
        <p:spPr>
          <a:xfrm>
            <a:off x="2560320" y="4343400"/>
            <a:ext cx="886968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Ce predați și ce verifică titularul</a:t>
            </a:r>
            <a:endParaRPr lang="en-US" sz="1700" dirty="0"/>
          </a:p>
        </p:txBody>
      </p:sp>
      <p:sp>
        <p:nvSpPr>
          <p:cNvPr id="22" name="Shape 20"/>
          <p:cNvSpPr/>
          <p:nvPr/>
        </p:nvSpPr>
        <p:spPr>
          <a:xfrm>
            <a:off x="594360" y="4873752"/>
            <a:ext cx="10972800" cy="457200"/>
          </a:xfrm>
          <a:prstGeom prst="roundRect">
            <a:avLst>
              <a:gd name="adj" fmla="val 18000"/>
            </a:avLst>
          </a:prstGeom>
          <a:solidFill>
            <a:srgbClr val="272A38"/>
          </a:solidFill>
          <a:ln w="12700">
            <a:solidFill>
              <a:srgbClr val="272A38"/>
            </a:solidFill>
            <a:prstDash val="solid"/>
          </a:ln>
        </p:spPr>
        <p:txBody>
          <a:bodyPr/>
          <a:p/>
        </p:txBody>
      </p:sp>
      <p:sp>
        <p:nvSpPr>
          <p:cNvPr id="23" name="Text 21"/>
          <p:cNvSpPr/>
          <p:nvPr/>
        </p:nvSpPr>
        <p:spPr>
          <a:xfrm>
            <a:off x="868680" y="4873752"/>
            <a:ext cx="1554480" cy="457200"/>
          </a:xfrm>
          <a:prstGeom prst="rect">
            <a:avLst/>
          </a:prstGeom>
          <a:noFill/>
          <a:ln/>
        </p:spPr>
        <p:txBody>
          <a:bodyPr wrap="square" lIns="0" tIns="0" rIns="0" bIns="0" rtlCol="0" anchor="ctr"/>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60–110</a:t>
            </a:r>
            <a:endParaRPr lang="en-US" sz="1700" dirty="0"/>
          </a:p>
        </p:txBody>
      </p:sp>
      <p:sp>
        <p:nvSpPr>
          <p:cNvPr id="24" name="Text 22"/>
          <p:cNvSpPr/>
          <p:nvPr/>
        </p:nvSpPr>
        <p:spPr>
          <a:xfrm>
            <a:off x="2560320" y="4873752"/>
            <a:ext cx="886968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Ora echipei: registrul și tabelul sau graficul</a:t>
            </a:r>
            <a:endParaRPr lang="en-US" sz="1700" dirty="0"/>
          </a:p>
        </p:txBody>
      </p:sp>
      <p:sp>
        <p:nvSpPr>
          <p:cNvPr id="25" name="Shape 23"/>
          <p:cNvSpPr/>
          <p:nvPr/>
        </p:nvSpPr>
        <p:spPr>
          <a:xfrm>
            <a:off x="594360" y="5404104"/>
            <a:ext cx="10972800" cy="457200"/>
          </a:xfrm>
          <a:prstGeom prst="roundRect">
            <a:avLst>
              <a:gd name="adj" fmla="val 18000"/>
            </a:avLst>
          </a:prstGeom>
          <a:solidFill>
            <a:srgbClr val="1D1F2B"/>
          </a:solidFill>
          <a:ln w="12700">
            <a:solidFill>
              <a:srgbClr val="1D1F2B"/>
            </a:solidFill>
            <a:prstDash val="solid"/>
          </a:ln>
        </p:spPr>
        <p:txBody>
          <a:bodyPr/>
          <a:p/>
        </p:txBody>
      </p:sp>
      <p:sp>
        <p:nvSpPr>
          <p:cNvPr id="26" name="Text 24"/>
          <p:cNvSpPr/>
          <p:nvPr/>
        </p:nvSpPr>
        <p:spPr>
          <a:xfrm>
            <a:off x="868680" y="5404104"/>
            <a:ext cx="1554480" cy="457200"/>
          </a:xfrm>
          <a:prstGeom prst="rect">
            <a:avLst/>
          </a:prstGeom>
          <a:noFill/>
          <a:ln/>
        </p:spPr>
        <p:txBody>
          <a:bodyPr wrap="square" lIns="0" tIns="0" rIns="0" bIns="0" rtlCol="0" anchor="ctr"/>
          <a:lstStyle/>
          <a:p>
            <a:pPr indent="0" marL="0">
              <a:buNone/>
            </a:pPr>
            <a:r>
              <a:rPr lang="en-US" sz="1700" b="1" dirty="0">
                <a:solidFill>
                  <a:srgbClr val="FFC24B"/>
                </a:solidFill>
                <a:latin typeface="Palatino Linotype" pitchFamily="34" charset="0"/>
                <a:ea typeface="Palatino Linotype" pitchFamily="34" charset="-122"/>
                <a:cs typeface="Palatino Linotype" pitchFamily="34" charset="-120"/>
              </a:rPr>
              <a:t>110–120</a:t>
            </a:r>
            <a:endParaRPr lang="en-US" sz="1700" dirty="0"/>
          </a:p>
        </p:txBody>
      </p:sp>
      <p:sp>
        <p:nvSpPr>
          <p:cNvPr id="27" name="Text 25"/>
          <p:cNvSpPr/>
          <p:nvPr/>
        </p:nvSpPr>
        <p:spPr>
          <a:xfrm>
            <a:off x="2560320" y="5404104"/>
            <a:ext cx="8869680" cy="45720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Biletul de ieșire, de la 18:50</a:t>
            </a:r>
            <a:endParaRPr lang="en-US" sz="1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CAZUL DE PORNIRE · 2024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Câți oameni mor într-un an pe drumurile din România?</a:t>
            </a:r>
            <a:endParaRPr lang="en-US" sz="3100" dirty="0"/>
          </a:p>
        </p:txBody>
      </p:sp>
      <p:sp>
        <p:nvSpPr>
          <p:cNvPr id="4" name="Shape 2"/>
          <p:cNvSpPr/>
          <p:nvPr/>
        </p:nvSpPr>
        <p:spPr>
          <a:xfrm>
            <a:off x="594360" y="1920240"/>
            <a:ext cx="5349240" cy="3200400"/>
          </a:xfrm>
          <a:prstGeom prst="roundRect">
            <a:avLst>
              <a:gd name="adj" fmla="val 2571"/>
            </a:avLst>
          </a:prstGeom>
          <a:solidFill>
            <a:srgbClr val="1D1F2B"/>
          </a:solidFill>
          <a:ln w="12700">
            <a:solidFill>
              <a:srgbClr val="1D1F2B"/>
            </a:solidFill>
            <a:prstDash val="solid"/>
          </a:ln>
        </p:spPr>
        <p:txBody>
          <a:bodyPr/>
          <a:p/>
        </p:txBody>
      </p:sp>
      <p:sp>
        <p:nvSpPr>
          <p:cNvPr id="5" name="Shape 3"/>
          <p:cNvSpPr/>
          <p:nvPr/>
        </p:nvSpPr>
        <p:spPr>
          <a:xfrm>
            <a:off x="6217920" y="1920240"/>
            <a:ext cx="5349240" cy="3200400"/>
          </a:xfrm>
          <a:prstGeom prst="roundRect">
            <a:avLst>
              <a:gd name="adj" fmla="val 2571"/>
            </a:avLst>
          </a:prstGeom>
          <a:solidFill>
            <a:srgbClr val="1D1F2B"/>
          </a:solidFill>
          <a:ln w="12700">
            <a:solidFill>
              <a:srgbClr val="1D1F2B"/>
            </a:solidFill>
            <a:prstDash val="solid"/>
          </a:ln>
        </p:spPr>
        <p:txBody>
          <a:bodyPr/>
          <a:p/>
        </p:txBody>
      </p:sp>
      <p:sp>
        <p:nvSpPr>
          <p:cNvPr id="6" name="Text 4"/>
          <p:cNvSpPr/>
          <p:nvPr/>
        </p:nvSpPr>
        <p:spPr>
          <a:xfrm>
            <a:off x="868680" y="2148840"/>
            <a:ext cx="4846320" cy="1554480"/>
          </a:xfrm>
          <a:prstGeom prst="rect">
            <a:avLst/>
          </a:prstGeom>
          <a:noFill/>
          <a:ln/>
        </p:spPr>
        <p:txBody>
          <a:bodyPr wrap="square" lIns="0" tIns="0" rIns="0" bIns="0" rtlCol="0" anchor="ctr"/>
          <a:lstStyle/>
          <a:p>
            <a:pPr indent="0" marL="0">
              <a:buNone/>
            </a:pPr>
            <a:r>
              <a:rPr lang="en-US" sz="8600" b="1" dirty="0">
                <a:solidFill>
                  <a:srgbClr val="27D3BE"/>
                </a:solidFill>
                <a:latin typeface="Palatino Linotype" pitchFamily="34" charset="0"/>
                <a:ea typeface="Palatino Linotype" pitchFamily="34" charset="-122"/>
                <a:cs typeface="Palatino Linotype" pitchFamily="34" charset="-120"/>
              </a:rPr>
              <a:t>1 478</a:t>
            </a:r>
            <a:endParaRPr lang="en-US" sz="8600" dirty="0"/>
          </a:p>
        </p:txBody>
      </p:sp>
      <p:sp>
        <p:nvSpPr>
          <p:cNvPr id="7" name="Text 5"/>
          <p:cNvSpPr/>
          <p:nvPr/>
        </p:nvSpPr>
        <p:spPr>
          <a:xfrm>
            <a:off x="868680" y="3840480"/>
            <a:ext cx="4846320" cy="914400"/>
          </a:xfrm>
          <a:prstGeom prst="rect">
            <a:avLst/>
          </a:prstGeom>
          <a:noFill/>
          <a:ln/>
        </p:spPr>
        <p:txBody>
          <a:bodyPr wrap="square" lIns="0" tIns="0" rIns="0" bIns="0" rtlCol="0" anchor="t"/>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decese pe drumurile din România</a:t>
            </a:r>
            <a:endParaRPr lang="en-US" sz="2200" dirty="0"/>
          </a:p>
        </p:txBody>
      </p:sp>
      <p:sp>
        <p:nvSpPr>
          <p:cNvPr id="8" name="Text 6"/>
          <p:cNvSpPr/>
          <p:nvPr/>
        </p:nvSpPr>
        <p:spPr>
          <a:xfrm>
            <a:off x="6492240" y="2148840"/>
            <a:ext cx="4846320" cy="1554480"/>
          </a:xfrm>
          <a:prstGeom prst="rect">
            <a:avLst/>
          </a:prstGeom>
          <a:noFill/>
          <a:ln/>
        </p:spPr>
        <p:txBody>
          <a:bodyPr wrap="square" lIns="0" tIns="0" rIns="0" bIns="0" rtlCol="0" anchor="ctr"/>
          <a:lstStyle/>
          <a:p>
            <a:pPr indent="0" marL="0">
              <a:buNone/>
            </a:pPr>
            <a:r>
              <a:rPr lang="en-US" sz="8600" b="1" dirty="0">
                <a:solidFill>
                  <a:srgbClr val="FF4757"/>
                </a:solidFill>
                <a:latin typeface="Palatino Linotype" pitchFamily="34" charset="0"/>
                <a:ea typeface="Palatino Linotype" pitchFamily="34" charset="-122"/>
                <a:cs typeface="Palatino Linotype" pitchFamily="34" charset="-120"/>
              </a:rPr>
              <a:t>19 933</a:t>
            </a:r>
            <a:endParaRPr lang="en-US" sz="8600" dirty="0"/>
          </a:p>
        </p:txBody>
      </p:sp>
      <p:sp>
        <p:nvSpPr>
          <p:cNvPr id="9" name="Text 7"/>
          <p:cNvSpPr/>
          <p:nvPr/>
        </p:nvSpPr>
        <p:spPr>
          <a:xfrm>
            <a:off x="6492240" y="3840480"/>
            <a:ext cx="4846320" cy="914400"/>
          </a:xfrm>
          <a:prstGeom prst="rect">
            <a:avLst/>
          </a:prstGeom>
          <a:noFill/>
          <a:ln/>
        </p:spPr>
        <p:txBody>
          <a:bodyPr wrap="square" lIns="0" tIns="0" rIns="0" bIns="0" rtlCol="0" anchor="t"/>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decese pe drumurile din toată Uniunea Europeană</a:t>
            </a:r>
            <a:endParaRPr lang="en-US" sz="2200" dirty="0"/>
          </a:p>
        </p:txBody>
      </p:sp>
      <p:sp>
        <p:nvSpPr>
          <p:cNvPr id="10" name="Text 8"/>
          <p:cNvSpPr/>
          <p:nvPr/>
        </p:nvSpPr>
        <p:spPr>
          <a:xfrm>
            <a:off x="594360" y="5440680"/>
            <a:ext cx="10972800" cy="54864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Același an, aceeași sursă. Sunt cele două cifre comparabile?</a:t>
            </a:r>
            <a:endParaRPr lang="en-US" sz="1900" dirty="0"/>
          </a:p>
        </p:txBody>
      </p:sp>
      <p:sp>
        <p:nvSpPr>
          <p:cNvPr id="11" name="Text 9"/>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Eurostat, setul sdg_11_40, 2024, toate tipurile de drum.</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VOT PE TELEFON</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ÎNTREBAREA SEMINARULUI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500" b="1" dirty="0">
                <a:solidFill>
                  <a:srgbClr val="FFFFFF"/>
                </a:solidFill>
                <a:latin typeface="Palatino Linotype" pitchFamily="34" charset="0"/>
                <a:ea typeface="Palatino Linotype" pitchFamily="34" charset="-122"/>
                <a:cs typeface="Palatino Linotype" pitchFamily="34" charset="-120"/>
              </a:rPr>
              <a:t>Judecând numai după aceste două cifre, unde a fost mai mare, în 2024, riscul unei persoane de a muri pe drum?</a:t>
            </a:r>
            <a:endParaRPr lang="en-US" sz="2500" dirty="0"/>
          </a:p>
        </p:txBody>
      </p:sp>
      <p:sp>
        <p:nvSpPr>
          <p:cNvPr id="6" name="Shape 4"/>
          <p:cNvSpPr/>
          <p:nvPr/>
        </p:nvSpPr>
        <p:spPr>
          <a:xfrm>
            <a:off x="594360" y="1965960"/>
            <a:ext cx="6949440" cy="822960"/>
          </a:xfrm>
          <a:prstGeom prst="roundRect">
            <a:avLst>
              <a:gd name="adj" fmla="val 10000"/>
            </a:avLst>
          </a:prstGeom>
          <a:solidFill>
            <a:srgbClr val="1D1F2B"/>
          </a:solidFill>
          <a:ln w="12700">
            <a:solidFill>
              <a:srgbClr val="1D1F2B"/>
            </a:solidFill>
            <a:prstDash val="solid"/>
          </a:ln>
        </p:spPr>
        <p:txBody>
          <a:bodyPr/>
          <a:p/>
        </p:txBody>
      </p:sp>
      <p:sp>
        <p:nvSpPr>
          <p:cNvPr id="7" name="Shape 5"/>
          <p:cNvSpPr/>
          <p:nvPr/>
        </p:nvSpPr>
        <p:spPr>
          <a:xfrm>
            <a:off x="914400" y="2167128"/>
            <a:ext cx="420624" cy="420624"/>
          </a:xfrm>
          <a:prstGeom prst="ellipse">
            <a:avLst/>
          </a:prstGeom>
          <a:solidFill>
            <a:srgbClr val="FFC24B"/>
          </a:solidFill>
          <a:ln/>
        </p:spPr>
        <p:txBody>
          <a:bodyPr/>
          <a:p/>
        </p:txBody>
      </p:sp>
      <p:sp>
        <p:nvSpPr>
          <p:cNvPr id="8" name="Text 6"/>
          <p:cNvSpPr/>
          <p:nvPr/>
        </p:nvSpPr>
        <p:spPr>
          <a:xfrm>
            <a:off x="914400" y="21671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A</a:t>
            </a:r>
            <a:endParaRPr lang="en-US" sz="1400" dirty="0"/>
          </a:p>
        </p:txBody>
      </p:sp>
      <p:sp>
        <p:nvSpPr>
          <p:cNvPr id="9" name="Text 7"/>
          <p:cNvSpPr/>
          <p:nvPr/>
        </p:nvSpPr>
        <p:spPr>
          <a:xfrm>
            <a:off x="1600200" y="1965960"/>
            <a:ext cx="566928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în România</a:t>
            </a:r>
            <a:endParaRPr lang="en-US" sz="2000" dirty="0"/>
          </a:p>
        </p:txBody>
      </p:sp>
      <p:sp>
        <p:nvSpPr>
          <p:cNvPr id="10" name="Shape 8"/>
          <p:cNvSpPr/>
          <p:nvPr/>
        </p:nvSpPr>
        <p:spPr>
          <a:xfrm>
            <a:off x="594360" y="2926080"/>
            <a:ext cx="6949440" cy="822960"/>
          </a:xfrm>
          <a:prstGeom prst="roundRect">
            <a:avLst>
              <a:gd name="adj" fmla="val 10000"/>
            </a:avLst>
          </a:prstGeom>
          <a:solidFill>
            <a:srgbClr val="1D1F2B"/>
          </a:solidFill>
          <a:ln w="12700">
            <a:solidFill>
              <a:srgbClr val="1D1F2B"/>
            </a:solidFill>
            <a:prstDash val="solid"/>
          </a:ln>
        </p:spPr>
        <p:txBody>
          <a:bodyPr/>
          <a:p/>
        </p:txBody>
      </p:sp>
      <p:sp>
        <p:nvSpPr>
          <p:cNvPr id="11" name="Shape 9"/>
          <p:cNvSpPr/>
          <p:nvPr/>
        </p:nvSpPr>
        <p:spPr>
          <a:xfrm>
            <a:off x="914400" y="3127248"/>
            <a:ext cx="420624" cy="420624"/>
          </a:xfrm>
          <a:prstGeom prst="ellipse">
            <a:avLst/>
          </a:prstGeom>
          <a:solidFill>
            <a:srgbClr val="FFC24B"/>
          </a:solidFill>
          <a:ln/>
        </p:spPr>
        <p:txBody>
          <a:bodyPr/>
          <a:p/>
        </p:txBody>
      </p:sp>
      <p:sp>
        <p:nvSpPr>
          <p:cNvPr id="12" name="Text 10"/>
          <p:cNvSpPr/>
          <p:nvPr/>
        </p:nvSpPr>
        <p:spPr>
          <a:xfrm>
            <a:off x="914400" y="31272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B</a:t>
            </a:r>
            <a:endParaRPr lang="en-US" sz="1400" dirty="0"/>
          </a:p>
        </p:txBody>
      </p:sp>
      <p:sp>
        <p:nvSpPr>
          <p:cNvPr id="13" name="Text 11"/>
          <p:cNvSpPr/>
          <p:nvPr/>
        </p:nvSpPr>
        <p:spPr>
          <a:xfrm>
            <a:off x="1600200" y="2926080"/>
            <a:ext cx="566928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în Uniunea Europeană</a:t>
            </a:r>
            <a:endParaRPr lang="en-US" sz="2000" dirty="0"/>
          </a:p>
        </p:txBody>
      </p:sp>
      <p:sp>
        <p:nvSpPr>
          <p:cNvPr id="14" name="Shape 12"/>
          <p:cNvSpPr/>
          <p:nvPr/>
        </p:nvSpPr>
        <p:spPr>
          <a:xfrm>
            <a:off x="594360" y="3886200"/>
            <a:ext cx="6949440" cy="822960"/>
          </a:xfrm>
          <a:prstGeom prst="roundRect">
            <a:avLst>
              <a:gd name="adj" fmla="val 10000"/>
            </a:avLst>
          </a:prstGeom>
          <a:solidFill>
            <a:srgbClr val="1D1F2B"/>
          </a:solidFill>
          <a:ln w="12700">
            <a:solidFill>
              <a:srgbClr val="1D1F2B"/>
            </a:solidFill>
            <a:prstDash val="solid"/>
          </a:ln>
        </p:spPr>
        <p:txBody>
          <a:bodyPr/>
          <a:p/>
        </p:txBody>
      </p:sp>
      <p:sp>
        <p:nvSpPr>
          <p:cNvPr id="15" name="Shape 13"/>
          <p:cNvSpPr/>
          <p:nvPr/>
        </p:nvSpPr>
        <p:spPr>
          <a:xfrm>
            <a:off x="914400" y="4087368"/>
            <a:ext cx="420624" cy="420624"/>
          </a:xfrm>
          <a:prstGeom prst="ellipse">
            <a:avLst/>
          </a:prstGeom>
          <a:solidFill>
            <a:srgbClr val="FFC24B"/>
          </a:solidFill>
          <a:ln/>
        </p:spPr>
        <p:txBody>
          <a:bodyPr/>
          <a:p/>
        </p:txBody>
      </p:sp>
      <p:sp>
        <p:nvSpPr>
          <p:cNvPr id="16" name="Text 14"/>
          <p:cNvSpPr/>
          <p:nvPr/>
        </p:nvSpPr>
        <p:spPr>
          <a:xfrm>
            <a:off x="914400" y="408736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C</a:t>
            </a:r>
            <a:endParaRPr lang="en-US" sz="1400" dirty="0"/>
          </a:p>
        </p:txBody>
      </p:sp>
      <p:sp>
        <p:nvSpPr>
          <p:cNvPr id="17" name="Text 15"/>
          <p:cNvSpPr/>
          <p:nvPr/>
        </p:nvSpPr>
        <p:spPr>
          <a:xfrm>
            <a:off x="1600200" y="3886200"/>
            <a:ext cx="566928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la fel</a:t>
            </a:r>
            <a:endParaRPr lang="en-US" sz="2000" dirty="0"/>
          </a:p>
        </p:txBody>
      </p:sp>
      <p:sp>
        <p:nvSpPr>
          <p:cNvPr id="18" name="Shape 16"/>
          <p:cNvSpPr/>
          <p:nvPr/>
        </p:nvSpPr>
        <p:spPr>
          <a:xfrm>
            <a:off x="594360" y="4846320"/>
            <a:ext cx="6949440" cy="822960"/>
          </a:xfrm>
          <a:prstGeom prst="roundRect">
            <a:avLst>
              <a:gd name="adj" fmla="val 10000"/>
            </a:avLst>
          </a:prstGeom>
          <a:solidFill>
            <a:srgbClr val="1D1F2B"/>
          </a:solidFill>
          <a:ln w="12700">
            <a:solidFill>
              <a:srgbClr val="1D1F2B"/>
            </a:solidFill>
            <a:prstDash val="solid"/>
          </a:ln>
        </p:spPr>
        <p:txBody>
          <a:bodyPr/>
          <a:p/>
        </p:txBody>
      </p:sp>
      <p:sp>
        <p:nvSpPr>
          <p:cNvPr id="19" name="Shape 17"/>
          <p:cNvSpPr/>
          <p:nvPr/>
        </p:nvSpPr>
        <p:spPr>
          <a:xfrm>
            <a:off x="914400" y="5047488"/>
            <a:ext cx="420624" cy="420624"/>
          </a:xfrm>
          <a:prstGeom prst="ellipse">
            <a:avLst/>
          </a:prstGeom>
          <a:solidFill>
            <a:srgbClr val="FFC24B"/>
          </a:solidFill>
          <a:ln/>
        </p:spPr>
        <p:txBody>
          <a:bodyPr/>
          <a:p/>
        </p:txBody>
      </p:sp>
      <p:sp>
        <p:nvSpPr>
          <p:cNvPr id="20" name="Text 18"/>
          <p:cNvSpPr/>
          <p:nvPr/>
        </p:nvSpPr>
        <p:spPr>
          <a:xfrm>
            <a:off x="914400" y="50474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D</a:t>
            </a:r>
            <a:endParaRPr lang="en-US" sz="1400" dirty="0"/>
          </a:p>
        </p:txBody>
      </p:sp>
      <p:sp>
        <p:nvSpPr>
          <p:cNvPr id="21" name="Text 19"/>
          <p:cNvSpPr/>
          <p:nvPr/>
        </p:nvSpPr>
        <p:spPr>
          <a:xfrm>
            <a:off x="1600200" y="4846320"/>
            <a:ext cx="5669280" cy="822960"/>
          </a:xfrm>
          <a:prstGeom prst="rect">
            <a:avLst/>
          </a:prstGeom>
          <a:noFill/>
          <a:ln/>
        </p:spPr>
        <p:txBody>
          <a:bodyPr wrap="square" lIns="0" tIns="0" rIns="0" bIns="0" rtlCol="0" anchor="ctr"/>
          <a:lstStyle/>
          <a:p>
            <a:pPr indent="0" marL="0">
              <a:buNone/>
            </a:pPr>
            <a:r>
              <a:rPr lang="en-US" sz="2000" dirty="0">
                <a:solidFill>
                  <a:srgbClr val="FFFFFF"/>
                </a:solidFill>
                <a:latin typeface="Palatino Linotype" pitchFamily="34" charset="0"/>
                <a:ea typeface="Palatino Linotype" pitchFamily="34" charset="-122"/>
                <a:cs typeface="Palatino Linotype" pitchFamily="34" charset="-120"/>
              </a:rPr>
              <a:t>nu se poate spune din aceste două cifre</a:t>
            </a:r>
            <a:endParaRPr lang="en-US" sz="2000" dirty="0"/>
          </a:p>
        </p:txBody>
      </p:sp>
      <p:sp>
        <p:nvSpPr>
          <p:cNvPr id="22" name="Shape 20"/>
          <p:cNvSpPr/>
          <p:nvPr/>
        </p:nvSpPr>
        <p:spPr>
          <a:xfrm>
            <a:off x="8001000" y="1965960"/>
            <a:ext cx="3566160" cy="2834640"/>
          </a:xfrm>
          <a:prstGeom prst="roundRect">
            <a:avLst>
              <a:gd name="adj" fmla="val 3226"/>
            </a:avLst>
          </a:prstGeom>
          <a:solidFill>
            <a:srgbClr val="FFFFFF"/>
          </a:solidFill>
          <a:ln w="19050">
            <a:solidFill>
              <a:srgbClr val="8E94A8"/>
            </a:solidFill>
            <a:prstDash val="dash"/>
          </a:ln>
        </p:spPr>
        <p:txBody>
          <a:bodyPr/>
          <a:p/>
        </p:txBody>
      </p:sp>
      <p:sp>
        <p:nvSpPr>
          <p:cNvPr id="24" name="Text 22"/>
          <p:cNvSpPr/>
          <p:nvPr/>
        </p:nvSpPr>
        <p:spPr>
          <a:xfrm>
            <a:off x="8001000" y="4937760"/>
            <a:ext cx="3566160" cy="45720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
        <p:nvSpPr>
          <p:cNvPr id="25" name="Text 23"/>
          <p:cNvSpPr/>
          <p:nvPr/>
        </p:nvSpPr>
        <p:spPr>
          <a:xfrm>
            <a:off x="594360" y="5715000"/>
            <a:ext cx="10972800" cy="548640"/>
          </a:xfrm>
          <a:prstGeom prst="rect">
            <a:avLst/>
          </a:prstGeom>
          <a:noFill/>
          <a:ln/>
        </p:spPr>
        <p:txBody>
          <a:bodyPr wrap="square" lIns="0" tIns="0" rIns="0" bIns="0" rtlCol="0" anchor="t"/>
          <a:lstStyle/>
          <a:p>
            <a:pPr indent="0" marL="0">
              <a:buNone/>
            </a:pPr>
            <a:r>
              <a:rPr lang="en-US" sz="1700" b="1" dirty="0">
                <a:solidFill>
                  <a:srgbClr val="27D3BE"/>
                </a:solidFill>
                <a:latin typeface="Palatino Linotype" pitchFamily="34" charset="0"/>
                <a:ea typeface="Palatino Linotype" pitchFamily="34" charset="-122"/>
                <a:cs typeface="Palatino Linotype" pitchFamily="34" charset="-120"/>
              </a:rPr>
              <a:t>Apoi două minute cu colegul de bancă: de ce informație ați mai avea nevoie ca să răspundeți sigur?</a:t>
            </a:r>
            <a:endParaRPr lang="en-US" sz="1700" dirty="0"/>
          </a:p>
        </p:txBody>
      </p:sp>
      <p:pic>
        <p:nvPicPr>
          <p:cNvPr id="26" name="Picture 25" descr="Mentimeter_UB_ISP_LP02.png"/>
          <p:cNvPicPr>
            <a:picLocks noChangeAspect="1"/>
          </p:cNvPicPr>
          <p:nvPr/>
        </p:nvPicPr>
        <p:blipFill>
          <a:blip r:embed="rId3"/>
          <a:stretch>
            <a:fillRect/>
          </a:stretch>
        </p:blipFill>
        <p:spPr>
          <a:xfrm>
            <a:off x="8680450" y="1965960"/>
            <a:ext cx="2207260" cy="2207260"/>
          </a:xfrm>
          <a:prstGeom prst="rect">
            <a:avLst/>
          </a:prstGeom>
        </p:spPr>
      </p:pic>
      <p:sp>
        <p:nvSpPr>
          <p:cNvPr id="27" name="TextBox 26"/>
          <p:cNvSpPr txBox="1"/>
          <p:nvPr/>
        </p:nvSpPr>
        <p:spPr>
          <a:xfrm>
            <a:off x="8183880" y="4211320"/>
            <a:ext cx="32004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votul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AL PATRULEA RĂSPUNS · NU SE POATE SPUNE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Numerele singure nu arată riscul</a:t>
            </a:r>
            <a:endParaRPr lang="en-US" sz="3200" dirty="0"/>
          </a:p>
        </p:txBody>
      </p:sp>
      <p:sp>
        <p:nvSpPr>
          <p:cNvPr id="4" name="Text 2"/>
          <p:cNvSpPr/>
          <p:nvPr/>
        </p:nvSpPr>
        <p:spPr>
          <a:xfrm>
            <a:off x="594360" y="1691640"/>
            <a:ext cx="5120640" cy="2377440"/>
          </a:xfrm>
          <a:prstGeom prst="rect">
            <a:avLst/>
          </a:prstGeom>
          <a:noFill/>
          <a:ln/>
        </p:spPr>
        <p:txBody>
          <a:bodyPr wrap="square" lIns="0" tIns="0" rIns="0" bIns="0" rtlCol="0" anchor="t"/>
          <a:lstStyle/>
          <a:p>
            <a:pPr indent="0" marL="0">
              <a:buNone/>
            </a:pPr>
            <a:r>
              <a:rPr lang="en-US" sz="1800" dirty="0">
                <a:solidFill>
                  <a:srgbClr val="11121A"/>
                </a:solidFill>
                <a:latin typeface="Palatino Linotype" pitchFamily="34" charset="0"/>
                <a:ea typeface="Palatino Linotype" pitchFamily="34" charset="-122"/>
                <a:cs typeface="Palatino Linotype" pitchFamily="34" charset="-120"/>
              </a:rPr>
              <a:t>Uniunea Europeană are mult mai mulți locuitori decât România, iar România este inclusă în cifra Uniunii. Pentru o comparație cinstită, numărul deceselor se raportează la populație.</a:t>
            </a:r>
            <a:endParaRPr lang="en-US" sz="1800" dirty="0"/>
          </a:p>
        </p:txBody>
      </p:sp>
      <p:sp>
        <p:nvSpPr>
          <p:cNvPr id="5" name="Shape 3"/>
          <p:cNvSpPr/>
          <p:nvPr/>
        </p:nvSpPr>
        <p:spPr>
          <a:xfrm>
            <a:off x="6035040" y="1691640"/>
            <a:ext cx="2651760" cy="2468880"/>
          </a:xfrm>
          <a:prstGeom prst="roundRect">
            <a:avLst>
              <a:gd name="adj" fmla="val 3333"/>
            </a:avLst>
          </a:prstGeom>
          <a:solidFill>
            <a:srgbClr val="11121A"/>
          </a:solidFill>
          <a:ln w="12700">
            <a:solidFill>
              <a:srgbClr val="11121A"/>
            </a:solidFill>
            <a:prstDash val="solid"/>
          </a:ln>
        </p:spPr>
        <p:txBody>
          <a:bodyPr/>
          <a:p/>
        </p:txBody>
      </p:sp>
      <p:sp>
        <p:nvSpPr>
          <p:cNvPr id="6" name="Shape 4"/>
          <p:cNvSpPr/>
          <p:nvPr/>
        </p:nvSpPr>
        <p:spPr>
          <a:xfrm>
            <a:off x="8915400" y="1691640"/>
            <a:ext cx="2651760" cy="2468880"/>
          </a:xfrm>
          <a:prstGeom prst="roundRect">
            <a:avLst>
              <a:gd name="adj" fmla="val 3333"/>
            </a:avLst>
          </a:prstGeom>
          <a:solidFill>
            <a:srgbClr val="11121A"/>
          </a:solidFill>
          <a:ln w="12700">
            <a:solidFill>
              <a:srgbClr val="11121A"/>
            </a:solidFill>
            <a:prstDash val="solid"/>
          </a:ln>
        </p:spPr>
        <p:txBody>
          <a:bodyPr/>
          <a:p/>
        </p:txBody>
      </p:sp>
      <p:sp>
        <p:nvSpPr>
          <p:cNvPr id="7" name="Text 5"/>
          <p:cNvSpPr/>
          <p:nvPr/>
        </p:nvSpPr>
        <p:spPr>
          <a:xfrm>
            <a:off x="6263640" y="1828800"/>
            <a:ext cx="2286000" cy="365760"/>
          </a:xfrm>
          <a:prstGeom prst="rect">
            <a:avLst/>
          </a:prstGeom>
          <a:noFill/>
          <a:ln/>
        </p:spPr>
        <p:txBody>
          <a:bodyPr wrap="square" lIns="0" tIns="0" rIns="0" bIns="0" rtlCol="0" anchor="t"/>
          <a:lstStyle/>
          <a:p>
            <a:pPr indent="0" marL="0">
              <a:buNone/>
            </a:pPr>
            <a:r>
              <a:rPr lang="en-US" sz="1600" b="1" dirty="0">
                <a:solidFill>
                  <a:srgbClr val="FF8A93"/>
                </a:solidFill>
                <a:latin typeface="Palatino Linotype" pitchFamily="34" charset="0"/>
                <a:ea typeface="Palatino Linotype" pitchFamily="34" charset="-122"/>
                <a:cs typeface="Palatino Linotype" pitchFamily="34" charset="-120"/>
              </a:rPr>
              <a:t>România</a:t>
            </a:r>
            <a:endParaRPr lang="en-US" sz="1600" dirty="0"/>
          </a:p>
        </p:txBody>
      </p:sp>
      <p:sp>
        <p:nvSpPr>
          <p:cNvPr id="8" name="Text 6"/>
          <p:cNvSpPr/>
          <p:nvPr/>
        </p:nvSpPr>
        <p:spPr>
          <a:xfrm>
            <a:off x="6263640" y="2240280"/>
            <a:ext cx="2286000" cy="1097280"/>
          </a:xfrm>
          <a:prstGeom prst="rect">
            <a:avLst/>
          </a:prstGeom>
          <a:noFill/>
          <a:ln/>
        </p:spPr>
        <p:txBody>
          <a:bodyPr wrap="square" lIns="0" tIns="0" rIns="0" bIns="0" rtlCol="0" anchor="ctr"/>
          <a:lstStyle/>
          <a:p>
            <a:pPr indent="0" marL="0">
              <a:buNone/>
            </a:pPr>
            <a:r>
              <a:rPr lang="en-US" sz="6200" b="1" dirty="0">
                <a:solidFill>
                  <a:srgbClr val="FFFFFF"/>
                </a:solidFill>
                <a:latin typeface="Palatino Linotype" pitchFamily="34" charset="0"/>
                <a:ea typeface="Palatino Linotype" pitchFamily="34" charset="-122"/>
                <a:cs typeface="Palatino Linotype" pitchFamily="34" charset="-120"/>
              </a:rPr>
              <a:t>7,8</a:t>
            </a:r>
            <a:endParaRPr lang="en-US" sz="6200" dirty="0"/>
          </a:p>
        </p:txBody>
      </p:sp>
      <p:sp>
        <p:nvSpPr>
          <p:cNvPr id="9" name="Text 7"/>
          <p:cNvSpPr/>
          <p:nvPr/>
        </p:nvSpPr>
        <p:spPr>
          <a:xfrm>
            <a:off x="6263640" y="3383280"/>
            <a:ext cx="2286000" cy="640080"/>
          </a:xfrm>
          <a:prstGeom prst="rect">
            <a:avLst/>
          </a:prstGeom>
          <a:noFill/>
          <a:ln/>
        </p:spPr>
        <p:txBody>
          <a:bodyPr wrap="square" lIns="0" tIns="0" rIns="0" bIns="0" rtlCol="0" anchor="t"/>
          <a:lstStyle/>
          <a:p>
            <a:pPr indent="0" marL="0">
              <a:buNone/>
            </a:pPr>
            <a:r>
              <a:rPr lang="en-US" sz="1300" dirty="0">
                <a:solidFill>
                  <a:srgbClr val="E6E8EF"/>
                </a:solidFill>
                <a:latin typeface="Palatino Linotype" pitchFamily="34" charset="0"/>
                <a:ea typeface="Palatino Linotype" pitchFamily="34" charset="-122"/>
                <a:cs typeface="Palatino Linotype" pitchFamily="34" charset="-120"/>
              </a:rPr>
              <a:t>la 100 000 de locuitori</a:t>
            </a:r>
            <a:endParaRPr lang="en-US" sz="1300" dirty="0"/>
          </a:p>
        </p:txBody>
      </p:sp>
      <p:sp>
        <p:nvSpPr>
          <p:cNvPr id="10" name="Text 8"/>
          <p:cNvSpPr/>
          <p:nvPr/>
        </p:nvSpPr>
        <p:spPr>
          <a:xfrm>
            <a:off x="9144000" y="1828800"/>
            <a:ext cx="2286000" cy="36576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Uniunea Europeană</a:t>
            </a:r>
            <a:endParaRPr lang="en-US" sz="1600" dirty="0"/>
          </a:p>
        </p:txBody>
      </p:sp>
      <p:sp>
        <p:nvSpPr>
          <p:cNvPr id="11" name="Text 9"/>
          <p:cNvSpPr/>
          <p:nvPr/>
        </p:nvSpPr>
        <p:spPr>
          <a:xfrm>
            <a:off x="9144000" y="2240280"/>
            <a:ext cx="2286000" cy="1097280"/>
          </a:xfrm>
          <a:prstGeom prst="rect">
            <a:avLst/>
          </a:prstGeom>
          <a:noFill/>
          <a:ln/>
        </p:spPr>
        <p:txBody>
          <a:bodyPr wrap="square" lIns="0" tIns="0" rIns="0" bIns="0" rtlCol="0" anchor="ctr"/>
          <a:lstStyle/>
          <a:p>
            <a:pPr indent="0" marL="0">
              <a:buNone/>
            </a:pPr>
            <a:r>
              <a:rPr lang="en-US" sz="6200" b="1" dirty="0">
                <a:solidFill>
                  <a:srgbClr val="FFFFFF"/>
                </a:solidFill>
                <a:latin typeface="Palatino Linotype" pitchFamily="34" charset="0"/>
                <a:ea typeface="Palatino Linotype" pitchFamily="34" charset="-122"/>
                <a:cs typeface="Palatino Linotype" pitchFamily="34" charset="-120"/>
              </a:rPr>
              <a:t>4,4</a:t>
            </a:r>
            <a:endParaRPr lang="en-US" sz="6200" dirty="0"/>
          </a:p>
        </p:txBody>
      </p:sp>
      <p:sp>
        <p:nvSpPr>
          <p:cNvPr id="12" name="Text 10"/>
          <p:cNvSpPr/>
          <p:nvPr/>
        </p:nvSpPr>
        <p:spPr>
          <a:xfrm>
            <a:off x="9144000" y="3383280"/>
            <a:ext cx="2286000" cy="640080"/>
          </a:xfrm>
          <a:prstGeom prst="rect">
            <a:avLst/>
          </a:prstGeom>
          <a:noFill/>
          <a:ln/>
        </p:spPr>
        <p:txBody>
          <a:bodyPr wrap="square" lIns="0" tIns="0" rIns="0" bIns="0" rtlCol="0" anchor="t"/>
          <a:lstStyle/>
          <a:p>
            <a:pPr indent="0" marL="0">
              <a:buNone/>
            </a:pPr>
            <a:r>
              <a:rPr lang="en-US" sz="1300" dirty="0">
                <a:solidFill>
                  <a:srgbClr val="E6E8EF"/>
                </a:solidFill>
                <a:latin typeface="Palatino Linotype" pitchFamily="34" charset="0"/>
                <a:ea typeface="Palatino Linotype" pitchFamily="34" charset="-122"/>
                <a:cs typeface="Palatino Linotype" pitchFamily="34" charset="-120"/>
              </a:rPr>
              <a:t>la 100 000 de locuitori</a:t>
            </a:r>
            <a:endParaRPr lang="en-US" sz="1300" dirty="0"/>
          </a:p>
        </p:txBody>
      </p:sp>
      <p:sp>
        <p:nvSpPr>
          <p:cNvPr id="13" name="Shape 11"/>
          <p:cNvSpPr/>
          <p:nvPr/>
        </p:nvSpPr>
        <p:spPr>
          <a:xfrm>
            <a:off x="594360" y="4480560"/>
            <a:ext cx="10972800" cy="1371600"/>
          </a:xfrm>
          <a:prstGeom prst="roundRect">
            <a:avLst>
              <a:gd name="adj" fmla="val 6000"/>
            </a:avLst>
          </a:prstGeom>
          <a:solidFill>
            <a:srgbClr val="ECEAE4"/>
          </a:solidFill>
          <a:ln w="12700">
            <a:solidFill>
              <a:srgbClr val="ECEAE4"/>
            </a:solidFill>
            <a:prstDash val="solid"/>
          </a:ln>
        </p:spPr>
        <p:txBody>
          <a:bodyPr/>
          <a:p/>
        </p:txBody>
      </p:sp>
      <p:sp>
        <p:nvSpPr>
          <p:cNvPr id="14" name="Text 12"/>
          <p:cNvSpPr/>
          <p:nvPr/>
        </p:nvSpPr>
        <p:spPr>
          <a:xfrm>
            <a:off x="868680" y="4480560"/>
            <a:ext cx="10424160" cy="1371600"/>
          </a:xfrm>
          <a:prstGeom prst="rect">
            <a:avLst/>
          </a:prstGeom>
          <a:noFill/>
          <a:ln/>
        </p:spPr>
        <p:txBody>
          <a:bodyPr wrap="square" lIns="0" tIns="0" rIns="0" bIns="0" rtlCol="0" anchor="ctr"/>
          <a:lstStyle/>
          <a:p>
            <a:pPr indent="0" marL="0">
              <a:buNone/>
            </a:pPr>
            <a:r>
              <a:rPr lang="en-US" sz="2300" b="1" dirty="0">
                <a:solidFill>
                  <a:srgbClr val="B02532"/>
                </a:solidFill>
                <a:latin typeface="Palatino Linotype" pitchFamily="34" charset="0"/>
                <a:ea typeface="Palatino Linotype" pitchFamily="34" charset="-122"/>
                <a:cs typeface="Palatino Linotype" pitchFamily="34" charset="-120"/>
              </a:rPr>
              <a:t>Riscul a fost de circa 1,8 ori mai mare în România.</a:t>
            </a:r>
            <a:endParaRPr lang="en-US" sz="2300" dirty="0"/>
          </a:p>
          <a:p>
            <a:pPr indent="0" marL="0">
              <a:buNone/>
            </a:pPr>
            <a:r>
              <a:rPr lang="en-US" sz="1700" dirty="0">
                <a:solidFill>
                  <a:srgbClr val="11121A"/>
                </a:solidFill>
                <a:latin typeface="Palatino Linotype" pitchFamily="34" charset="0"/>
                <a:ea typeface="Palatino Linotype" pitchFamily="34" charset="-122"/>
                <a:cs typeface="Palatino Linotype" pitchFamily="34" charset="-120"/>
              </a:rPr>
              <a:t>Fără populație, cele două numere nu arată unde a fost riscul mai mare.</a:t>
            </a:r>
            <a:endParaRPr lang="en-US" sz="2300" dirty="0"/>
          </a:p>
        </p:txBody>
      </p:sp>
      <p:sp>
        <p:nvSpPr>
          <p:cNvPr id="15" name="Text 13"/>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Eurostat, setul sdg_11_40, 2024; ratele la 100 000 de locuitori.</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PRIMUL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Cum se calculează o rată</a:t>
            </a:r>
            <a:endParaRPr lang="en-US" sz="3200" dirty="0"/>
          </a:p>
        </p:txBody>
      </p:sp>
      <p:sp>
        <p:nvSpPr>
          <p:cNvPr id="4" name="Shape 2"/>
          <p:cNvSpPr/>
          <p:nvPr/>
        </p:nvSpPr>
        <p:spPr>
          <a:xfrm>
            <a:off x="594360" y="1691640"/>
            <a:ext cx="5029200" cy="4114800"/>
          </a:xfrm>
          <a:prstGeom prst="roundRect">
            <a:avLst>
              <a:gd name="adj" fmla="val 2000"/>
            </a:avLst>
          </a:prstGeom>
          <a:solidFill>
            <a:srgbClr val="1D1F2B"/>
          </a:solidFill>
          <a:ln w="12700">
            <a:solidFill>
              <a:srgbClr val="1D1F2B"/>
            </a:solidFill>
            <a:prstDash val="solid"/>
          </a:ln>
        </p:spPr>
        <p:txBody>
          <a:bodyPr/>
          <a:p/>
        </p:txBody>
      </p:sp>
      <p:sp>
        <p:nvSpPr>
          <p:cNvPr id="5" name="Shape 3"/>
          <p:cNvSpPr/>
          <p:nvPr/>
        </p:nvSpPr>
        <p:spPr>
          <a:xfrm>
            <a:off x="594360" y="1691640"/>
            <a:ext cx="5029200" cy="91440"/>
          </a:xfrm>
          <a:prstGeom prst="rect">
            <a:avLst/>
          </a:prstGeom>
          <a:solidFill>
            <a:srgbClr val="27D3BE"/>
          </a:solidFill>
          <a:ln w="12700">
            <a:solidFill>
              <a:srgbClr val="27D3BE"/>
            </a:solidFill>
            <a:prstDash val="solid"/>
          </a:ln>
        </p:spPr>
        <p:txBody>
          <a:bodyPr/>
          <a:p/>
        </p:txBody>
      </p:sp>
      <p:sp>
        <p:nvSpPr>
          <p:cNvPr id="6" name="Text 4"/>
          <p:cNvSpPr/>
          <p:nvPr/>
        </p:nvSpPr>
        <p:spPr>
          <a:xfrm>
            <a:off x="960120" y="1965960"/>
            <a:ext cx="4297680" cy="548640"/>
          </a:xfrm>
          <a:prstGeom prst="rect">
            <a:avLst/>
          </a:prstGeom>
          <a:noFill/>
          <a:ln/>
        </p:spPr>
        <p:txBody>
          <a:bodyPr wrap="square" lIns="0" tIns="0" rIns="0" bIns="0" rtlCol="0" anchor="t"/>
          <a:lstStyle/>
          <a:p>
            <a:pPr indent="0" marL="0">
              <a:buNone/>
            </a:pPr>
            <a:r>
              <a:rPr lang="en-US" sz="2800" b="1" dirty="0">
                <a:solidFill>
                  <a:srgbClr val="27D3BE"/>
                </a:solidFill>
                <a:latin typeface="Palatino Linotype" pitchFamily="34" charset="0"/>
                <a:ea typeface="Palatino Linotype" pitchFamily="34" charset="-122"/>
                <a:cs typeface="Palatino Linotype" pitchFamily="34" charset="-120"/>
              </a:rPr>
              <a:t>Rată</a:t>
            </a:r>
            <a:endParaRPr lang="en-US" sz="2800" dirty="0"/>
          </a:p>
        </p:txBody>
      </p:sp>
      <p:sp>
        <p:nvSpPr>
          <p:cNvPr id="7" name="Text 5"/>
          <p:cNvSpPr/>
          <p:nvPr/>
        </p:nvSpPr>
        <p:spPr>
          <a:xfrm>
            <a:off x="960120" y="2651760"/>
            <a:ext cx="4297680" cy="1463040"/>
          </a:xfrm>
          <a:prstGeom prst="rect">
            <a:avLst/>
          </a:prstGeom>
          <a:noFill/>
          <a:ln/>
        </p:spPr>
        <p:txBody>
          <a:bodyPr wrap="square" lIns="0" tIns="0" rIns="0" bIns="0" rtlCol="0" anchor="t"/>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Numărul de cazuri dintr-o populație, într-un an, împărțit la mărimea populației și înmulțit cu 100 000.</a:t>
            </a:r>
            <a:endParaRPr lang="en-US" sz="1700" dirty="0"/>
          </a:p>
        </p:txBody>
      </p:sp>
      <p:sp>
        <p:nvSpPr>
          <p:cNvPr id="8" name="Shape 6"/>
          <p:cNvSpPr/>
          <p:nvPr/>
        </p:nvSpPr>
        <p:spPr>
          <a:xfrm>
            <a:off x="960120" y="4160520"/>
            <a:ext cx="4297680" cy="18288"/>
          </a:xfrm>
          <a:prstGeom prst="rect">
            <a:avLst/>
          </a:prstGeom>
          <a:solidFill>
            <a:srgbClr val="3A3E52"/>
          </a:solidFill>
          <a:ln/>
        </p:spPr>
        <p:txBody>
          <a:bodyPr/>
          <a:p/>
        </p:txBody>
      </p:sp>
      <p:sp>
        <p:nvSpPr>
          <p:cNvPr id="9" name="Text 7"/>
          <p:cNvSpPr/>
          <p:nvPr/>
        </p:nvSpPr>
        <p:spPr>
          <a:xfrm>
            <a:off x="960120" y="4343400"/>
            <a:ext cx="4297680" cy="1280160"/>
          </a:xfrm>
          <a:prstGeom prst="rect">
            <a:avLst/>
          </a:prstGeom>
          <a:noFill/>
          <a:ln/>
        </p:spPr>
        <p:txBody>
          <a:bodyPr wrap="square" lIns="0" tIns="0" rIns="0" bIns="0" rtlCol="0" anchor="t"/>
          <a:lstStyle/>
          <a:p>
            <a:pPr indent="0" marL="0">
              <a:buNone/>
            </a:pPr>
            <a:r>
              <a:rPr lang="en-US" sz="1600" b="1" dirty="0">
                <a:solidFill>
                  <a:srgbClr val="27D3BE"/>
                </a:solidFill>
                <a:latin typeface="Palatino Linotype" pitchFamily="34" charset="0"/>
                <a:ea typeface="Palatino Linotype" pitchFamily="34" charset="-122"/>
                <a:cs typeface="Palatino Linotype" pitchFamily="34" charset="-120"/>
              </a:rPr>
              <a:t>Pe scurt. </a:t>
            </a:r>
            <a:pPr indent="0" marL="0">
              <a:buNone/>
            </a:pPr>
            <a:r>
              <a:rPr lang="en-US" sz="1600" dirty="0">
                <a:solidFill>
                  <a:srgbClr val="E6E8EF"/>
                </a:solidFill>
                <a:latin typeface="Palatino Linotype" pitchFamily="34" charset="0"/>
                <a:ea typeface="Palatino Linotype" pitchFamily="34" charset="-122"/>
                <a:cs typeface="Palatino Linotype" pitchFamily="34" charset="-120"/>
              </a:rPr>
              <a:t>Cât de des se întâmplă ceva, nu doar de câte ori.</a:t>
            </a:r>
            <a:endParaRPr lang="en-US" sz="1600" dirty="0"/>
          </a:p>
        </p:txBody>
      </p:sp>
      <p:sp>
        <p:nvSpPr>
          <p:cNvPr id="10" name="Text 8"/>
          <p:cNvSpPr/>
          <p:nvPr/>
        </p:nvSpPr>
        <p:spPr>
          <a:xfrm>
            <a:off x="5943600" y="1691640"/>
            <a:ext cx="5577840" cy="320040"/>
          </a:xfrm>
          <a:prstGeom prst="rect">
            <a:avLst/>
          </a:prstGeom>
          <a:noFill/>
          <a:ln/>
        </p:spPr>
        <p:txBody>
          <a:bodyPr wrap="square" lIns="0" tIns="0" rIns="0" bIns="0" rtlCol="0" anchor="t"/>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Valori ipotetice</a:t>
            </a:r>
            <a:endParaRPr lang="en-US" sz="1300" dirty="0"/>
          </a:p>
        </p:txBody>
      </p:sp>
      <p:sp>
        <p:nvSpPr>
          <p:cNvPr id="11" name="Shape 9"/>
          <p:cNvSpPr/>
          <p:nvPr/>
        </p:nvSpPr>
        <p:spPr>
          <a:xfrm>
            <a:off x="5943600" y="2103120"/>
            <a:ext cx="5623560" cy="1325880"/>
          </a:xfrm>
          <a:prstGeom prst="roundRect">
            <a:avLst>
              <a:gd name="adj" fmla="val 6207"/>
            </a:avLst>
          </a:prstGeom>
          <a:solidFill>
            <a:srgbClr val="272A38"/>
          </a:solidFill>
          <a:ln w="12700">
            <a:solidFill>
              <a:srgbClr val="272A38"/>
            </a:solidFill>
            <a:prstDash val="solid"/>
          </a:ln>
        </p:spPr>
        <p:txBody>
          <a:bodyPr/>
          <a:p/>
        </p:txBody>
      </p:sp>
      <p:sp>
        <p:nvSpPr>
          <p:cNvPr id="12" name="Text 10"/>
          <p:cNvSpPr/>
          <p:nvPr/>
        </p:nvSpPr>
        <p:spPr>
          <a:xfrm>
            <a:off x="6217920" y="2240280"/>
            <a:ext cx="3200400" cy="365760"/>
          </a:xfrm>
          <a:prstGeom prst="rect">
            <a:avLst/>
          </a:prstGeom>
          <a:noFill/>
          <a:ln/>
        </p:spPr>
        <p:txBody>
          <a:bodyPr wrap="square" lIns="0" tIns="0" rIns="0" bIns="0" rtlCol="0" anchor="t"/>
          <a:lstStyle/>
          <a:p>
            <a:pPr indent="0" marL="0">
              <a:buNone/>
            </a:pPr>
            <a:r>
              <a:rPr lang="en-US" sz="1900" b="1" dirty="0">
                <a:solidFill>
                  <a:srgbClr val="FFC24B"/>
                </a:solidFill>
                <a:latin typeface="Palatino Linotype" pitchFamily="34" charset="0"/>
                <a:ea typeface="Palatino Linotype" pitchFamily="34" charset="-122"/>
                <a:cs typeface="Palatino Linotype" pitchFamily="34" charset="-120"/>
              </a:rPr>
              <a:t>Județul A</a:t>
            </a:r>
            <a:endParaRPr lang="en-US" sz="1900" dirty="0"/>
          </a:p>
        </p:txBody>
      </p:sp>
      <p:sp>
        <p:nvSpPr>
          <p:cNvPr id="13" name="Text 11"/>
          <p:cNvSpPr/>
          <p:nvPr/>
        </p:nvSpPr>
        <p:spPr>
          <a:xfrm>
            <a:off x="6217920" y="2697480"/>
            <a:ext cx="3566160" cy="548640"/>
          </a:xfrm>
          <a:prstGeom prst="rect">
            <a:avLst/>
          </a:prstGeom>
          <a:noFill/>
          <a:ln/>
        </p:spPr>
        <p:txBody>
          <a:bodyPr wrap="square" lIns="0" tIns="0" rIns="0" bIns="0" rtlCol="0" anchor="t"/>
          <a:lstStyle/>
          <a:p>
            <a:pPr indent="0" marL="0">
              <a:buNone/>
            </a:pPr>
            <a:r>
              <a:rPr lang="en-US" sz="1400" dirty="0">
                <a:solidFill>
                  <a:srgbClr val="FFFFFF"/>
                </a:solidFill>
                <a:latin typeface="Palatino Linotype" pitchFamily="34" charset="0"/>
                <a:ea typeface="Palatino Linotype" pitchFamily="34" charset="-122"/>
                <a:cs typeface="Palatino Linotype" pitchFamily="34" charset="-120"/>
              </a:rPr>
              <a:t>600 000 de locuitori · 90 de decese</a:t>
            </a:r>
            <a:endParaRPr lang="en-US" sz="1400" dirty="0"/>
          </a:p>
        </p:txBody>
      </p:sp>
      <p:sp>
        <p:nvSpPr>
          <p:cNvPr id="14" name="Text 12"/>
          <p:cNvSpPr/>
          <p:nvPr/>
        </p:nvSpPr>
        <p:spPr>
          <a:xfrm>
            <a:off x="9692640" y="2194560"/>
            <a:ext cx="1097280" cy="1143000"/>
          </a:xfrm>
          <a:prstGeom prst="rect">
            <a:avLst/>
          </a:prstGeom>
          <a:noFill/>
          <a:ln/>
        </p:spPr>
        <p:txBody>
          <a:bodyPr wrap="square" lIns="0" tIns="0" rIns="0" bIns="0" rtlCol="0" anchor="ctr"/>
          <a:lstStyle/>
          <a:p>
            <a:pPr algn="r" indent="0" marL="0">
              <a:buNone/>
            </a:pPr>
            <a:r>
              <a:rPr lang="en-US" sz="4800" b="1" dirty="0">
                <a:solidFill>
                  <a:srgbClr val="FFFFFF"/>
                </a:solidFill>
                <a:latin typeface="Palatino Linotype" pitchFamily="34" charset="0"/>
                <a:ea typeface="Palatino Linotype" pitchFamily="34" charset="-122"/>
                <a:cs typeface="Palatino Linotype" pitchFamily="34" charset="-120"/>
              </a:rPr>
              <a:t>15</a:t>
            </a:r>
            <a:endParaRPr lang="en-US" sz="4800" dirty="0"/>
          </a:p>
        </p:txBody>
      </p:sp>
      <p:sp>
        <p:nvSpPr>
          <p:cNvPr id="15" name="Text 13"/>
          <p:cNvSpPr/>
          <p:nvPr/>
        </p:nvSpPr>
        <p:spPr>
          <a:xfrm>
            <a:off x="10835640" y="2194560"/>
            <a:ext cx="685800" cy="1143000"/>
          </a:xfrm>
          <a:prstGeom prst="rect">
            <a:avLst/>
          </a:prstGeom>
          <a:noFill/>
          <a:ln/>
        </p:spPr>
        <p:txBody>
          <a:bodyPr wrap="square" lIns="0" tIns="0" rIns="0" bIns="0" rtlCol="0" anchor="ctr"/>
          <a:lstStyle/>
          <a:p>
            <a:pPr indent="0" marL="0">
              <a:buNone/>
            </a:pPr>
            <a:r>
              <a:rPr lang="en-US" sz="1100" dirty="0">
                <a:solidFill>
                  <a:srgbClr val="E6E8EF"/>
                </a:solidFill>
                <a:latin typeface="Palatino Linotype" pitchFamily="34" charset="0"/>
                <a:ea typeface="Palatino Linotype" pitchFamily="34" charset="-122"/>
                <a:cs typeface="Palatino Linotype" pitchFamily="34" charset="-120"/>
              </a:rPr>
              <a:t>la 100 000</a:t>
            </a:r>
            <a:endParaRPr lang="en-US" sz="1100" dirty="0"/>
          </a:p>
        </p:txBody>
      </p:sp>
      <p:sp>
        <p:nvSpPr>
          <p:cNvPr id="16" name="Shape 14"/>
          <p:cNvSpPr/>
          <p:nvPr/>
        </p:nvSpPr>
        <p:spPr>
          <a:xfrm>
            <a:off x="5943600" y="3611880"/>
            <a:ext cx="5623560" cy="1325880"/>
          </a:xfrm>
          <a:prstGeom prst="roundRect">
            <a:avLst>
              <a:gd name="adj" fmla="val 6207"/>
            </a:avLst>
          </a:prstGeom>
          <a:solidFill>
            <a:srgbClr val="FF4757"/>
          </a:solidFill>
          <a:ln w="12700">
            <a:solidFill>
              <a:srgbClr val="FF4757"/>
            </a:solidFill>
            <a:prstDash val="solid"/>
          </a:ln>
        </p:spPr>
        <p:txBody>
          <a:bodyPr/>
          <a:p/>
        </p:txBody>
      </p:sp>
      <p:sp>
        <p:nvSpPr>
          <p:cNvPr id="17" name="Text 15"/>
          <p:cNvSpPr/>
          <p:nvPr/>
        </p:nvSpPr>
        <p:spPr>
          <a:xfrm>
            <a:off x="6217920" y="3749040"/>
            <a:ext cx="3200400" cy="365760"/>
          </a:xfrm>
          <a:prstGeom prst="rect">
            <a:avLst/>
          </a:prstGeom>
          <a:noFill/>
          <a:ln/>
        </p:spPr>
        <p:txBody>
          <a:bodyPr wrap="square" lIns="0" tIns="0" rIns="0" bIns="0" rtlCol="0" anchor="t"/>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Județul B</a:t>
            </a:r>
            <a:endParaRPr lang="en-US" sz="1900" dirty="0"/>
          </a:p>
        </p:txBody>
      </p:sp>
      <p:sp>
        <p:nvSpPr>
          <p:cNvPr id="18" name="Text 16"/>
          <p:cNvSpPr/>
          <p:nvPr/>
        </p:nvSpPr>
        <p:spPr>
          <a:xfrm>
            <a:off x="6217920" y="4206240"/>
            <a:ext cx="3566160" cy="548640"/>
          </a:xfrm>
          <a:prstGeom prst="rect">
            <a:avLst/>
          </a:prstGeom>
          <a:noFill/>
          <a:ln/>
        </p:spPr>
        <p:txBody>
          <a:bodyPr wrap="square" lIns="0" tIns="0" rIns="0" bIns="0" rtlCol="0" anchor="t"/>
          <a:lstStyle/>
          <a:p>
            <a:pPr indent="0" marL="0">
              <a:buNone/>
            </a:pPr>
            <a:r>
              <a:rPr lang="en-US" sz="1400" dirty="0">
                <a:solidFill>
                  <a:srgbClr val="2E060B"/>
                </a:solidFill>
                <a:latin typeface="Palatino Linotype" pitchFamily="34" charset="0"/>
                <a:ea typeface="Palatino Linotype" pitchFamily="34" charset="-122"/>
                <a:cs typeface="Palatino Linotype" pitchFamily="34" charset="-120"/>
              </a:rPr>
              <a:t>200 000 de locuitori · 40 de decese</a:t>
            </a:r>
            <a:endParaRPr lang="en-US" sz="1400" dirty="0"/>
          </a:p>
        </p:txBody>
      </p:sp>
      <p:sp>
        <p:nvSpPr>
          <p:cNvPr id="19" name="Text 17"/>
          <p:cNvSpPr/>
          <p:nvPr/>
        </p:nvSpPr>
        <p:spPr>
          <a:xfrm>
            <a:off x="9692640" y="3703320"/>
            <a:ext cx="1097280" cy="1143000"/>
          </a:xfrm>
          <a:prstGeom prst="rect">
            <a:avLst/>
          </a:prstGeom>
          <a:noFill/>
          <a:ln/>
        </p:spPr>
        <p:txBody>
          <a:bodyPr wrap="square" lIns="0" tIns="0" rIns="0" bIns="0" rtlCol="0" anchor="ctr"/>
          <a:lstStyle/>
          <a:p>
            <a:pPr algn="r" indent="0" marL="0">
              <a:buNone/>
            </a:pPr>
            <a:r>
              <a:rPr lang="en-US" sz="4800" b="1" dirty="0">
                <a:solidFill>
                  <a:srgbClr val="2E060B"/>
                </a:solidFill>
                <a:latin typeface="Palatino Linotype" pitchFamily="34" charset="0"/>
                <a:ea typeface="Palatino Linotype" pitchFamily="34" charset="-122"/>
                <a:cs typeface="Palatino Linotype" pitchFamily="34" charset="-120"/>
              </a:rPr>
              <a:t>20</a:t>
            </a:r>
            <a:endParaRPr lang="en-US" sz="4800" dirty="0"/>
          </a:p>
        </p:txBody>
      </p:sp>
      <p:sp>
        <p:nvSpPr>
          <p:cNvPr id="20" name="Text 18"/>
          <p:cNvSpPr/>
          <p:nvPr/>
        </p:nvSpPr>
        <p:spPr>
          <a:xfrm>
            <a:off x="10835640" y="3703320"/>
            <a:ext cx="685800" cy="1143000"/>
          </a:xfrm>
          <a:prstGeom prst="rect">
            <a:avLst/>
          </a:prstGeom>
          <a:noFill/>
          <a:ln/>
        </p:spPr>
        <p:txBody>
          <a:bodyPr wrap="square" lIns="0" tIns="0" rIns="0" bIns="0" rtlCol="0" anchor="ctr"/>
          <a:lstStyle/>
          <a:p>
            <a:pPr indent="0" marL="0">
              <a:buNone/>
            </a:pPr>
            <a:r>
              <a:rPr lang="en-US" sz="1100" dirty="0">
                <a:solidFill>
                  <a:srgbClr val="2E060B"/>
                </a:solidFill>
                <a:latin typeface="Palatino Linotype" pitchFamily="34" charset="0"/>
                <a:ea typeface="Palatino Linotype" pitchFamily="34" charset="-122"/>
                <a:cs typeface="Palatino Linotype" pitchFamily="34" charset="-120"/>
              </a:rPr>
              <a:t>la 100 000</a:t>
            </a:r>
            <a:endParaRPr lang="en-US" sz="1100" dirty="0"/>
          </a:p>
        </p:txBody>
      </p:sp>
      <p:sp>
        <p:nvSpPr>
          <p:cNvPr id="21" name="Text 19"/>
          <p:cNvSpPr/>
          <p:nvPr/>
        </p:nvSpPr>
        <p:spPr>
          <a:xfrm>
            <a:off x="5943600" y="5166360"/>
            <a:ext cx="5623560" cy="548640"/>
          </a:xfrm>
          <a:prstGeom prst="rect">
            <a:avLst/>
          </a:prstGeom>
          <a:noFill/>
          <a:ln/>
        </p:spPr>
        <p:txBody>
          <a:bodyPr wrap="square" lIns="0" tIns="0" rIns="0" bIns="0" rtlCol="0" anchor="t"/>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Mai puține decese, dar risc mai mare.</a:t>
            </a:r>
            <a:endParaRPr lang="en-US" sz="1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DECESE RUTIERE · TREI ANI AI SERIEI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Rata României a rămas peste rata Uniunii în toți cei trei ani</a:t>
            </a:r>
            <a:endParaRPr lang="en-US" sz="2900" dirty="0"/>
          </a:p>
        </p:txBody>
      </p:sp>
      <p:sp>
        <p:nvSpPr>
          <p:cNvPr id="4" name="Shape 2"/>
          <p:cNvSpPr/>
          <p:nvPr/>
        </p:nvSpPr>
        <p:spPr>
          <a:xfrm>
            <a:off x="594360" y="1481328"/>
            <a:ext cx="274320" cy="201168"/>
          </a:xfrm>
          <a:prstGeom prst="rect">
            <a:avLst/>
          </a:prstGeom>
          <a:solidFill>
            <a:srgbClr val="B02532"/>
          </a:solidFill>
          <a:ln w="12700">
            <a:solidFill>
              <a:srgbClr val="B02532"/>
            </a:solidFill>
            <a:prstDash val="solid"/>
          </a:ln>
        </p:spPr>
        <p:txBody>
          <a:bodyPr/>
          <a:p/>
        </p:txBody>
      </p:sp>
      <p:sp>
        <p:nvSpPr>
          <p:cNvPr id="5" name="Text 3"/>
          <p:cNvSpPr/>
          <p:nvPr/>
        </p:nvSpPr>
        <p:spPr>
          <a:xfrm>
            <a:off x="960120" y="1417320"/>
            <a:ext cx="1463040" cy="32918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România</a:t>
            </a:r>
            <a:endParaRPr lang="en-US" sz="1400" dirty="0"/>
          </a:p>
        </p:txBody>
      </p:sp>
      <p:sp>
        <p:nvSpPr>
          <p:cNvPr id="6" name="Shape 4"/>
          <p:cNvSpPr/>
          <p:nvPr/>
        </p:nvSpPr>
        <p:spPr>
          <a:xfrm>
            <a:off x="2560320" y="1481328"/>
            <a:ext cx="274320" cy="201168"/>
          </a:xfrm>
          <a:prstGeom prst="rect">
            <a:avLst/>
          </a:prstGeom>
          <a:solidFill>
            <a:srgbClr val="0E7C6B"/>
          </a:solidFill>
          <a:ln w="12700">
            <a:solidFill>
              <a:srgbClr val="0E7C6B"/>
            </a:solidFill>
            <a:prstDash val="solid"/>
          </a:ln>
        </p:spPr>
        <p:txBody>
          <a:bodyPr/>
          <a:p/>
        </p:txBody>
      </p:sp>
      <p:sp>
        <p:nvSpPr>
          <p:cNvPr id="7" name="Text 5"/>
          <p:cNvSpPr/>
          <p:nvPr/>
        </p:nvSpPr>
        <p:spPr>
          <a:xfrm>
            <a:off x="2926080" y="1417320"/>
            <a:ext cx="2377440" cy="329184"/>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Uniunea Europeană</a:t>
            </a:r>
            <a:endParaRPr lang="en-US" sz="1400" dirty="0"/>
          </a:p>
        </p:txBody>
      </p:sp>
      <p:sp>
        <p:nvSpPr>
          <p:cNvPr id="8" name="Text 6"/>
          <p:cNvSpPr/>
          <p:nvPr/>
        </p:nvSpPr>
        <p:spPr>
          <a:xfrm>
            <a:off x="5669280" y="1417320"/>
            <a:ext cx="3108960" cy="329184"/>
          </a:xfrm>
          <a:prstGeom prst="rect">
            <a:avLst/>
          </a:prstGeom>
          <a:noFill/>
          <a:ln/>
        </p:spPr>
        <p:txBody>
          <a:bodyPr wrap="square" lIns="0" tIns="0" rIns="0" bIns="0" rtlCol="0" anchor="ctr"/>
          <a:lstStyle/>
          <a:p>
            <a:pPr indent="0" marL="0">
              <a:buNone/>
            </a:pPr>
            <a:r>
              <a:rPr lang="en-US" sz="1300" i="1" dirty="0">
                <a:solidFill>
                  <a:srgbClr val="585A64"/>
                </a:solidFill>
                <a:latin typeface="Palatino Linotype" pitchFamily="34" charset="0"/>
                <a:ea typeface="Palatino Linotype" pitchFamily="34" charset="-122"/>
                <a:cs typeface="Palatino Linotype" pitchFamily="34" charset="-120"/>
              </a:rPr>
              <a:t>rate la 100 000 de locuitori</a:t>
            </a:r>
            <a:endParaRPr lang="en-US" sz="1300" dirty="0"/>
          </a:p>
        </p:txBody>
      </p:sp>
      <p:sp>
        <p:nvSpPr>
          <p:cNvPr id="9" name="Text 7"/>
          <p:cNvSpPr/>
          <p:nvPr/>
        </p:nvSpPr>
        <p:spPr>
          <a:xfrm>
            <a:off x="9052560" y="1417320"/>
            <a:ext cx="2560320" cy="329184"/>
          </a:xfrm>
          <a:prstGeom prst="rect">
            <a:avLst/>
          </a:prstGeom>
          <a:noFill/>
          <a:ln/>
        </p:spPr>
        <p:txBody>
          <a:bodyPr wrap="square" lIns="0" tIns="0" rIns="0" bIns="0" rtlCol="0" anchor="ctr"/>
          <a:lstStyle/>
          <a:p>
            <a:pPr indent="0" marL="0">
              <a:buNone/>
            </a:pPr>
            <a:r>
              <a:rPr lang="en-US" sz="1300" b="1" dirty="0">
                <a:solidFill>
                  <a:srgbClr val="585A64"/>
                </a:solidFill>
                <a:latin typeface="Palatino Linotype" pitchFamily="34" charset="0"/>
                <a:ea typeface="Palatino Linotype" pitchFamily="34" charset="-122"/>
                <a:cs typeface="Palatino Linotype" pitchFamily="34" charset="-120"/>
              </a:rPr>
              <a:t>Decese în România (număr)</a:t>
            </a:r>
            <a:endParaRPr lang="en-US" sz="1300" dirty="0"/>
          </a:p>
        </p:txBody>
      </p:sp>
      <p:sp>
        <p:nvSpPr>
          <p:cNvPr id="10" name="Text 8"/>
          <p:cNvSpPr/>
          <p:nvPr/>
        </p:nvSpPr>
        <p:spPr>
          <a:xfrm>
            <a:off x="594360" y="1920240"/>
            <a:ext cx="1097280" cy="868680"/>
          </a:xfrm>
          <a:prstGeom prst="rect">
            <a:avLst/>
          </a:prstGeom>
          <a:noFill/>
          <a:ln/>
        </p:spPr>
        <p:txBody>
          <a:bodyPr wrap="square" lIns="0" tIns="0" rIns="0" bIns="0" rtlCol="0" anchor="ctr"/>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2014</a:t>
            </a:r>
            <a:endParaRPr lang="en-US" sz="2200" dirty="0"/>
          </a:p>
        </p:txBody>
      </p:sp>
      <p:sp>
        <p:nvSpPr>
          <p:cNvPr id="11" name="Shape 9"/>
          <p:cNvSpPr/>
          <p:nvPr/>
        </p:nvSpPr>
        <p:spPr>
          <a:xfrm>
            <a:off x="1737360" y="1920240"/>
            <a:ext cx="4160520" cy="384048"/>
          </a:xfrm>
          <a:prstGeom prst="rect">
            <a:avLst/>
          </a:prstGeom>
          <a:solidFill>
            <a:srgbClr val="B02532"/>
          </a:solidFill>
          <a:ln w="12700">
            <a:solidFill>
              <a:srgbClr val="B02532"/>
            </a:solidFill>
            <a:prstDash val="solid"/>
          </a:ln>
        </p:spPr>
        <p:txBody>
          <a:bodyPr/>
          <a:p/>
        </p:txBody>
      </p:sp>
      <p:sp>
        <p:nvSpPr>
          <p:cNvPr id="12" name="Text 10"/>
          <p:cNvSpPr/>
          <p:nvPr/>
        </p:nvSpPr>
        <p:spPr>
          <a:xfrm>
            <a:off x="6007608" y="1920240"/>
            <a:ext cx="822960" cy="384048"/>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9,1</a:t>
            </a:r>
            <a:endParaRPr lang="en-US" sz="1700" dirty="0"/>
          </a:p>
        </p:txBody>
      </p:sp>
      <p:sp>
        <p:nvSpPr>
          <p:cNvPr id="13" name="Shape 11"/>
          <p:cNvSpPr/>
          <p:nvPr/>
        </p:nvSpPr>
        <p:spPr>
          <a:xfrm>
            <a:off x="1737360" y="2377440"/>
            <a:ext cx="2514600" cy="384048"/>
          </a:xfrm>
          <a:prstGeom prst="rect">
            <a:avLst/>
          </a:prstGeom>
          <a:solidFill>
            <a:srgbClr val="0E7C6B"/>
          </a:solidFill>
          <a:ln w="12700">
            <a:solidFill>
              <a:srgbClr val="0E7C6B"/>
            </a:solidFill>
            <a:prstDash val="solid"/>
          </a:ln>
        </p:spPr>
        <p:txBody>
          <a:bodyPr/>
          <a:p/>
        </p:txBody>
      </p:sp>
      <p:sp>
        <p:nvSpPr>
          <p:cNvPr id="14" name="Text 12"/>
          <p:cNvSpPr/>
          <p:nvPr/>
        </p:nvSpPr>
        <p:spPr>
          <a:xfrm>
            <a:off x="4361688" y="2377440"/>
            <a:ext cx="822960" cy="384048"/>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5,5</a:t>
            </a:r>
            <a:endParaRPr lang="en-US" sz="1700" dirty="0"/>
          </a:p>
        </p:txBody>
      </p:sp>
      <p:sp>
        <p:nvSpPr>
          <p:cNvPr id="15" name="Text 13"/>
          <p:cNvSpPr/>
          <p:nvPr/>
        </p:nvSpPr>
        <p:spPr>
          <a:xfrm>
            <a:off x="9052560" y="1920240"/>
            <a:ext cx="2560320" cy="868680"/>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1 818</a:t>
            </a:r>
            <a:endParaRPr lang="en-US" sz="3000" dirty="0"/>
          </a:p>
        </p:txBody>
      </p:sp>
      <p:sp>
        <p:nvSpPr>
          <p:cNvPr id="16" name="Text 14"/>
          <p:cNvSpPr/>
          <p:nvPr/>
        </p:nvSpPr>
        <p:spPr>
          <a:xfrm>
            <a:off x="594360" y="3108960"/>
            <a:ext cx="1097280" cy="868680"/>
          </a:xfrm>
          <a:prstGeom prst="rect">
            <a:avLst/>
          </a:prstGeom>
          <a:noFill/>
          <a:ln/>
        </p:spPr>
        <p:txBody>
          <a:bodyPr wrap="square" lIns="0" tIns="0" rIns="0" bIns="0" rtlCol="0" anchor="ctr"/>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2019</a:t>
            </a:r>
            <a:endParaRPr lang="en-US" sz="2200" dirty="0"/>
          </a:p>
        </p:txBody>
      </p:sp>
      <p:sp>
        <p:nvSpPr>
          <p:cNvPr id="17" name="Shape 15"/>
          <p:cNvSpPr/>
          <p:nvPr/>
        </p:nvSpPr>
        <p:spPr>
          <a:xfrm>
            <a:off x="1737360" y="3108960"/>
            <a:ext cx="4389120" cy="384048"/>
          </a:xfrm>
          <a:prstGeom prst="rect">
            <a:avLst/>
          </a:prstGeom>
          <a:solidFill>
            <a:srgbClr val="B02532"/>
          </a:solidFill>
          <a:ln w="12700">
            <a:solidFill>
              <a:srgbClr val="B02532"/>
            </a:solidFill>
            <a:prstDash val="solid"/>
          </a:ln>
        </p:spPr>
        <p:txBody>
          <a:bodyPr/>
          <a:p/>
        </p:txBody>
      </p:sp>
      <p:sp>
        <p:nvSpPr>
          <p:cNvPr id="18" name="Text 16"/>
          <p:cNvSpPr/>
          <p:nvPr/>
        </p:nvSpPr>
        <p:spPr>
          <a:xfrm>
            <a:off x="6236208" y="3108960"/>
            <a:ext cx="822960" cy="384048"/>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9,6</a:t>
            </a:r>
            <a:endParaRPr lang="en-US" sz="1700" dirty="0"/>
          </a:p>
        </p:txBody>
      </p:sp>
      <p:sp>
        <p:nvSpPr>
          <p:cNvPr id="19" name="Shape 17"/>
          <p:cNvSpPr/>
          <p:nvPr/>
        </p:nvSpPr>
        <p:spPr>
          <a:xfrm>
            <a:off x="1737360" y="3566160"/>
            <a:ext cx="2331720" cy="384048"/>
          </a:xfrm>
          <a:prstGeom prst="rect">
            <a:avLst/>
          </a:prstGeom>
          <a:solidFill>
            <a:srgbClr val="0E7C6B"/>
          </a:solidFill>
          <a:ln w="12700">
            <a:solidFill>
              <a:srgbClr val="0E7C6B"/>
            </a:solidFill>
            <a:prstDash val="solid"/>
          </a:ln>
        </p:spPr>
        <p:txBody>
          <a:bodyPr/>
          <a:p/>
        </p:txBody>
      </p:sp>
      <p:sp>
        <p:nvSpPr>
          <p:cNvPr id="20" name="Text 18"/>
          <p:cNvSpPr/>
          <p:nvPr/>
        </p:nvSpPr>
        <p:spPr>
          <a:xfrm>
            <a:off x="4178808" y="3566160"/>
            <a:ext cx="822960" cy="384048"/>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5,1</a:t>
            </a:r>
            <a:endParaRPr lang="en-US" sz="1700" dirty="0"/>
          </a:p>
        </p:txBody>
      </p:sp>
      <p:sp>
        <p:nvSpPr>
          <p:cNvPr id="21" name="Text 19"/>
          <p:cNvSpPr/>
          <p:nvPr/>
        </p:nvSpPr>
        <p:spPr>
          <a:xfrm>
            <a:off x="9052560" y="3108960"/>
            <a:ext cx="2560320" cy="868680"/>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1 864</a:t>
            </a:r>
            <a:endParaRPr lang="en-US" sz="3000" dirty="0"/>
          </a:p>
        </p:txBody>
      </p:sp>
      <p:sp>
        <p:nvSpPr>
          <p:cNvPr id="22" name="Text 20"/>
          <p:cNvSpPr/>
          <p:nvPr/>
        </p:nvSpPr>
        <p:spPr>
          <a:xfrm>
            <a:off x="594360" y="4297680"/>
            <a:ext cx="1097280" cy="868680"/>
          </a:xfrm>
          <a:prstGeom prst="rect">
            <a:avLst/>
          </a:prstGeom>
          <a:noFill/>
          <a:ln/>
        </p:spPr>
        <p:txBody>
          <a:bodyPr wrap="square" lIns="0" tIns="0" rIns="0" bIns="0" rtlCol="0" anchor="ctr"/>
          <a:lstStyle/>
          <a:p>
            <a:pPr indent="0" marL="0">
              <a:buNone/>
            </a:pPr>
            <a:r>
              <a:rPr lang="en-US" sz="2200" b="1" dirty="0">
                <a:solidFill>
                  <a:srgbClr val="11121A"/>
                </a:solidFill>
                <a:latin typeface="Palatino Linotype" pitchFamily="34" charset="0"/>
                <a:ea typeface="Palatino Linotype" pitchFamily="34" charset="-122"/>
                <a:cs typeface="Palatino Linotype" pitchFamily="34" charset="-120"/>
              </a:rPr>
              <a:t>2024</a:t>
            </a:r>
            <a:endParaRPr lang="en-US" sz="2200" dirty="0"/>
          </a:p>
        </p:txBody>
      </p:sp>
      <p:sp>
        <p:nvSpPr>
          <p:cNvPr id="23" name="Shape 21"/>
          <p:cNvSpPr/>
          <p:nvPr/>
        </p:nvSpPr>
        <p:spPr>
          <a:xfrm>
            <a:off x="1737360" y="4297680"/>
            <a:ext cx="3566160" cy="384048"/>
          </a:xfrm>
          <a:prstGeom prst="rect">
            <a:avLst/>
          </a:prstGeom>
          <a:solidFill>
            <a:srgbClr val="B02532"/>
          </a:solidFill>
          <a:ln w="12700">
            <a:solidFill>
              <a:srgbClr val="B02532"/>
            </a:solidFill>
            <a:prstDash val="solid"/>
          </a:ln>
        </p:spPr>
        <p:txBody>
          <a:bodyPr/>
          <a:p/>
        </p:txBody>
      </p:sp>
      <p:sp>
        <p:nvSpPr>
          <p:cNvPr id="24" name="Text 22"/>
          <p:cNvSpPr/>
          <p:nvPr/>
        </p:nvSpPr>
        <p:spPr>
          <a:xfrm>
            <a:off x="5413248" y="4297680"/>
            <a:ext cx="822960" cy="384048"/>
          </a:xfrm>
          <a:prstGeom prst="rect">
            <a:avLst/>
          </a:prstGeom>
          <a:noFill/>
          <a:ln/>
        </p:spPr>
        <p:txBody>
          <a:bodyPr wrap="square" lIns="0" tIns="0" rIns="0" bIns="0" rtlCol="0" anchor="ctr"/>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7,8</a:t>
            </a:r>
            <a:endParaRPr lang="en-US" sz="1700" dirty="0"/>
          </a:p>
        </p:txBody>
      </p:sp>
      <p:sp>
        <p:nvSpPr>
          <p:cNvPr id="25" name="Shape 23"/>
          <p:cNvSpPr/>
          <p:nvPr/>
        </p:nvSpPr>
        <p:spPr>
          <a:xfrm>
            <a:off x="1737360" y="4754880"/>
            <a:ext cx="2011680" cy="384048"/>
          </a:xfrm>
          <a:prstGeom prst="rect">
            <a:avLst/>
          </a:prstGeom>
          <a:solidFill>
            <a:srgbClr val="0E7C6B"/>
          </a:solidFill>
          <a:ln w="12700">
            <a:solidFill>
              <a:srgbClr val="0E7C6B"/>
            </a:solidFill>
            <a:prstDash val="solid"/>
          </a:ln>
        </p:spPr>
        <p:txBody>
          <a:bodyPr/>
          <a:p/>
        </p:txBody>
      </p:sp>
      <p:sp>
        <p:nvSpPr>
          <p:cNvPr id="26" name="Text 24"/>
          <p:cNvSpPr/>
          <p:nvPr/>
        </p:nvSpPr>
        <p:spPr>
          <a:xfrm>
            <a:off x="3858768" y="4754880"/>
            <a:ext cx="822960" cy="384048"/>
          </a:xfrm>
          <a:prstGeom prst="rect">
            <a:avLst/>
          </a:prstGeom>
          <a:noFill/>
          <a:ln/>
        </p:spPr>
        <p:txBody>
          <a:bodyPr wrap="square" lIns="0" tIns="0" rIns="0" bIns="0" rtlCol="0" anchor="ctr"/>
          <a:lstStyle/>
          <a:p>
            <a:pPr indent="0" marL="0">
              <a:buNone/>
            </a:pPr>
            <a:r>
              <a:rPr lang="en-US" sz="1700" b="1" dirty="0">
                <a:solidFill>
                  <a:srgbClr val="0E7C6B"/>
                </a:solidFill>
                <a:latin typeface="Palatino Linotype" pitchFamily="34" charset="0"/>
                <a:ea typeface="Palatino Linotype" pitchFamily="34" charset="-122"/>
                <a:cs typeface="Palatino Linotype" pitchFamily="34" charset="-120"/>
              </a:rPr>
              <a:t>4,4</a:t>
            </a:r>
            <a:endParaRPr lang="en-US" sz="1700" dirty="0"/>
          </a:p>
        </p:txBody>
      </p:sp>
      <p:sp>
        <p:nvSpPr>
          <p:cNvPr id="27" name="Text 25"/>
          <p:cNvSpPr/>
          <p:nvPr/>
        </p:nvSpPr>
        <p:spPr>
          <a:xfrm>
            <a:off x="9052560" y="4297680"/>
            <a:ext cx="2560320" cy="868680"/>
          </a:xfrm>
          <a:prstGeom prst="rect">
            <a:avLst/>
          </a:prstGeom>
          <a:noFill/>
          <a:ln/>
        </p:spPr>
        <p:txBody>
          <a:bodyPr wrap="square" lIns="0" tIns="0" rIns="0" bIns="0" rtlCol="0" anchor="ctr"/>
          <a:lstStyle/>
          <a:p>
            <a:pPr indent="0" marL="0">
              <a:buNone/>
            </a:pPr>
            <a:r>
              <a:rPr lang="en-US" sz="3000" b="1" dirty="0">
                <a:solidFill>
                  <a:srgbClr val="11121A"/>
                </a:solidFill>
                <a:latin typeface="Palatino Linotype" pitchFamily="34" charset="0"/>
                <a:ea typeface="Palatino Linotype" pitchFamily="34" charset="-122"/>
                <a:cs typeface="Palatino Linotype" pitchFamily="34" charset="-120"/>
              </a:rPr>
              <a:t>1 478</a:t>
            </a:r>
            <a:endParaRPr lang="en-US" sz="3000" dirty="0"/>
          </a:p>
        </p:txBody>
      </p:sp>
      <p:sp>
        <p:nvSpPr>
          <p:cNvPr id="28" name="Text 26"/>
          <p:cNvSpPr/>
          <p:nvPr/>
        </p:nvSpPr>
        <p:spPr>
          <a:xfrm>
            <a:off x="594360" y="5486400"/>
            <a:ext cx="10972800" cy="822960"/>
          </a:xfrm>
          <a:prstGeom prst="rect">
            <a:avLst/>
          </a:prstGeom>
          <a:noFill/>
          <a:ln/>
        </p:spPr>
        <p:txBody>
          <a:bodyPr wrap="square" lIns="0" tIns="0" rIns="0" bIns="0" rtlCol="0" anchor="t"/>
          <a:lstStyle/>
          <a:p>
            <a:pPr indent="0" marL="0">
              <a:buNone/>
            </a:pPr>
            <a:r>
              <a:rPr lang="en-US" sz="1350" dirty="0">
                <a:solidFill>
                  <a:srgbClr val="585A64"/>
                </a:solidFill>
                <a:latin typeface="Palatino Linotype" pitchFamily="34" charset="0"/>
                <a:ea typeface="Palatino Linotype" pitchFamily="34" charset="-122"/>
                <a:cs typeface="Palatino Linotype" pitchFamily="34" charset="-120"/>
              </a:rPr>
              <a:t>Rata României: estimată în toți anii. Rata Uniunii: estimată; 2014 are ruptură de serie, 2024 este provizorie. Seria Uniunii din 2020–2023 are ruptură de serie: scăderea se citește cu prudență.</a:t>
            </a:r>
            <a:endParaRPr lang="en-US" sz="1350" dirty="0"/>
          </a:p>
        </p:txBody>
      </p:sp>
      <p:sp>
        <p:nvSpPr>
          <p:cNvPr id="29" name="Text 27"/>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Eurostat, setul sdg_11_40, toate tipurile de drum.</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CLASAMENTUL STATELOR UNIUNII · 2024</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FFFFFF"/>
                </a:solidFill>
                <a:latin typeface="Palatino Linotype" pitchFamily="34" charset="0"/>
                <a:ea typeface="Palatino Linotype" pitchFamily="34" charset="-122"/>
                <a:cs typeface="Palatino Linotype" pitchFamily="34" charset="-120"/>
              </a:rPr>
              <a:t>În 2024, rata României a fost cea mai mare din Uniune</a:t>
            </a:r>
            <a:endParaRPr lang="en-US" sz="3100" dirty="0"/>
          </a:p>
        </p:txBody>
      </p:sp>
      <p:sp>
        <p:nvSpPr>
          <p:cNvPr id="4" name="Text 2"/>
          <p:cNvSpPr/>
          <p:nvPr/>
        </p:nvSpPr>
        <p:spPr>
          <a:xfrm>
            <a:off x="594360" y="1920240"/>
            <a:ext cx="3108960" cy="4572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România</a:t>
            </a:r>
            <a:endParaRPr lang="en-US" sz="2100" dirty="0"/>
          </a:p>
        </p:txBody>
      </p:sp>
      <p:sp>
        <p:nvSpPr>
          <p:cNvPr id="5" name="Text 3"/>
          <p:cNvSpPr/>
          <p:nvPr/>
        </p:nvSpPr>
        <p:spPr>
          <a:xfrm>
            <a:off x="594360" y="2377440"/>
            <a:ext cx="310896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locul 1 dintre cele 27 de state</a:t>
            </a:r>
            <a:endParaRPr lang="en-US" sz="1300" dirty="0"/>
          </a:p>
        </p:txBody>
      </p:sp>
      <p:sp>
        <p:nvSpPr>
          <p:cNvPr id="6" name="Shape 4"/>
          <p:cNvSpPr/>
          <p:nvPr/>
        </p:nvSpPr>
        <p:spPr>
          <a:xfrm>
            <a:off x="3840480" y="1920240"/>
            <a:ext cx="4279392" cy="777240"/>
          </a:xfrm>
          <a:prstGeom prst="rect">
            <a:avLst/>
          </a:prstGeom>
          <a:solidFill>
            <a:srgbClr val="FF4757"/>
          </a:solidFill>
          <a:ln w="12700">
            <a:solidFill>
              <a:srgbClr val="FF4757"/>
            </a:solidFill>
            <a:prstDash val="solid"/>
          </a:ln>
        </p:spPr>
        <p:txBody>
          <a:bodyPr/>
          <a:p/>
        </p:txBody>
      </p:sp>
      <p:sp>
        <p:nvSpPr>
          <p:cNvPr id="7" name="Text 5"/>
          <p:cNvSpPr/>
          <p:nvPr/>
        </p:nvSpPr>
        <p:spPr>
          <a:xfrm>
            <a:off x="8257032" y="1920240"/>
            <a:ext cx="914400" cy="777240"/>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7,8</a:t>
            </a:r>
            <a:endParaRPr lang="en-US" sz="3000" dirty="0"/>
          </a:p>
        </p:txBody>
      </p:sp>
      <p:sp>
        <p:nvSpPr>
          <p:cNvPr id="8" name="Shape 6"/>
          <p:cNvSpPr/>
          <p:nvPr/>
        </p:nvSpPr>
        <p:spPr>
          <a:xfrm>
            <a:off x="9262872" y="2148840"/>
            <a:ext cx="1737360" cy="329184"/>
          </a:xfrm>
          <a:prstGeom prst="roundRect">
            <a:avLst>
              <a:gd name="adj" fmla="val 50000"/>
            </a:avLst>
          </a:prstGeom>
          <a:solidFill>
            <a:srgbClr val="FFC24B"/>
          </a:solidFill>
          <a:ln w="12700">
            <a:solidFill>
              <a:srgbClr val="FFC24B"/>
            </a:solidFill>
            <a:prstDash val="solid"/>
          </a:ln>
        </p:spPr>
        <p:txBody>
          <a:bodyPr/>
          <a:p/>
        </p:txBody>
      </p:sp>
      <p:sp>
        <p:nvSpPr>
          <p:cNvPr id="9" name="Text 7"/>
          <p:cNvSpPr/>
          <p:nvPr/>
        </p:nvSpPr>
        <p:spPr>
          <a:xfrm>
            <a:off x="9262872" y="2148840"/>
            <a:ext cx="1737360" cy="329184"/>
          </a:xfrm>
          <a:prstGeom prst="rect">
            <a:avLst/>
          </a:prstGeom>
          <a:noFill/>
          <a:ln/>
        </p:spPr>
        <p:txBody>
          <a:bodyPr wrap="square" lIns="0" tIns="0" rIns="0" bIns="0" rtlCol="0" anchor="ctr"/>
          <a:lstStyle/>
          <a:p>
            <a:pPr algn="ctr" indent="0" marL="0">
              <a:buNone/>
            </a:pPr>
            <a:r>
              <a:rPr lang="en-US" sz="1100" b="1" dirty="0">
                <a:solidFill>
                  <a:srgbClr val="3D2A00"/>
                </a:solidFill>
                <a:latin typeface="Palatino Linotype" pitchFamily="34" charset="0"/>
                <a:ea typeface="Palatino Linotype" pitchFamily="34" charset="-122"/>
                <a:cs typeface="Palatino Linotype" pitchFamily="34" charset="-120"/>
              </a:rPr>
              <a:t>VALOARE ESTIMATĂ</a:t>
            </a:r>
            <a:endParaRPr lang="en-US" sz="1100" dirty="0"/>
          </a:p>
        </p:txBody>
      </p:sp>
      <p:sp>
        <p:nvSpPr>
          <p:cNvPr id="10" name="Text 8"/>
          <p:cNvSpPr/>
          <p:nvPr/>
        </p:nvSpPr>
        <p:spPr>
          <a:xfrm>
            <a:off x="594360" y="3017520"/>
            <a:ext cx="3108960" cy="4572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Bulgaria</a:t>
            </a:r>
            <a:endParaRPr lang="en-US" sz="2100" dirty="0"/>
          </a:p>
        </p:txBody>
      </p:sp>
      <p:sp>
        <p:nvSpPr>
          <p:cNvPr id="11" name="Text 9"/>
          <p:cNvSpPr/>
          <p:nvPr/>
        </p:nvSpPr>
        <p:spPr>
          <a:xfrm>
            <a:off x="594360" y="3474720"/>
            <a:ext cx="310896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locul al doilea</a:t>
            </a:r>
            <a:endParaRPr lang="en-US" sz="1300" dirty="0"/>
          </a:p>
        </p:txBody>
      </p:sp>
      <p:sp>
        <p:nvSpPr>
          <p:cNvPr id="12" name="Shape 10"/>
          <p:cNvSpPr/>
          <p:nvPr/>
        </p:nvSpPr>
        <p:spPr>
          <a:xfrm>
            <a:off x="3840480" y="3017520"/>
            <a:ext cx="4059936" cy="777240"/>
          </a:xfrm>
          <a:prstGeom prst="rect">
            <a:avLst/>
          </a:prstGeom>
          <a:solidFill>
            <a:srgbClr val="FFC24B"/>
          </a:solidFill>
          <a:ln w="12700">
            <a:solidFill>
              <a:srgbClr val="FFC24B"/>
            </a:solidFill>
            <a:prstDash val="solid"/>
          </a:ln>
        </p:spPr>
        <p:txBody>
          <a:bodyPr/>
          <a:p/>
        </p:txBody>
      </p:sp>
      <p:sp>
        <p:nvSpPr>
          <p:cNvPr id="13" name="Text 11"/>
          <p:cNvSpPr/>
          <p:nvPr/>
        </p:nvSpPr>
        <p:spPr>
          <a:xfrm>
            <a:off x="8037576" y="3017520"/>
            <a:ext cx="914400" cy="777240"/>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7,4</a:t>
            </a:r>
            <a:endParaRPr lang="en-US" sz="3000" dirty="0"/>
          </a:p>
        </p:txBody>
      </p:sp>
      <p:sp>
        <p:nvSpPr>
          <p:cNvPr id="14" name="Text 12"/>
          <p:cNvSpPr/>
          <p:nvPr/>
        </p:nvSpPr>
        <p:spPr>
          <a:xfrm>
            <a:off x="594360" y="4114800"/>
            <a:ext cx="3108960" cy="457200"/>
          </a:xfrm>
          <a:prstGeom prst="rect">
            <a:avLst/>
          </a:prstGeom>
          <a:noFill/>
          <a:ln/>
        </p:spPr>
        <p:txBody>
          <a:bodyPr wrap="square" lIns="0" tIns="0" rIns="0" bIns="0" rtlCol="0" anchor="ctr"/>
          <a:lstStyle/>
          <a:p>
            <a:pPr indent="0" marL="0">
              <a:buNone/>
            </a:pPr>
            <a:r>
              <a:rPr lang="en-US" sz="2100" b="1" dirty="0">
                <a:solidFill>
                  <a:srgbClr val="FFFFFF"/>
                </a:solidFill>
                <a:latin typeface="Palatino Linotype" pitchFamily="34" charset="0"/>
                <a:ea typeface="Palatino Linotype" pitchFamily="34" charset="-122"/>
                <a:cs typeface="Palatino Linotype" pitchFamily="34" charset="-120"/>
              </a:rPr>
              <a:t>Uniunea Europeană</a:t>
            </a:r>
            <a:endParaRPr lang="en-US" sz="2100" dirty="0"/>
          </a:p>
        </p:txBody>
      </p:sp>
      <p:sp>
        <p:nvSpPr>
          <p:cNvPr id="15" name="Text 13"/>
          <p:cNvSpPr/>
          <p:nvPr/>
        </p:nvSpPr>
        <p:spPr>
          <a:xfrm>
            <a:off x="594360" y="4572000"/>
            <a:ext cx="3108960" cy="36576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media Uniunii</a:t>
            </a:r>
            <a:endParaRPr lang="en-US" sz="1300" dirty="0"/>
          </a:p>
        </p:txBody>
      </p:sp>
      <p:sp>
        <p:nvSpPr>
          <p:cNvPr id="16" name="Shape 14"/>
          <p:cNvSpPr/>
          <p:nvPr/>
        </p:nvSpPr>
        <p:spPr>
          <a:xfrm>
            <a:off x="3840480" y="4114800"/>
            <a:ext cx="2414016" cy="777240"/>
          </a:xfrm>
          <a:prstGeom prst="rect">
            <a:avLst/>
          </a:prstGeom>
          <a:solidFill>
            <a:srgbClr val="27D3BE"/>
          </a:solidFill>
          <a:ln w="12700">
            <a:solidFill>
              <a:srgbClr val="27D3BE"/>
            </a:solidFill>
            <a:prstDash val="solid"/>
          </a:ln>
        </p:spPr>
        <p:txBody>
          <a:bodyPr/>
          <a:p/>
        </p:txBody>
      </p:sp>
      <p:sp>
        <p:nvSpPr>
          <p:cNvPr id="17" name="Text 15"/>
          <p:cNvSpPr/>
          <p:nvPr/>
        </p:nvSpPr>
        <p:spPr>
          <a:xfrm>
            <a:off x="6391656" y="4114800"/>
            <a:ext cx="914400" cy="777240"/>
          </a:xfrm>
          <a:prstGeom prst="rect">
            <a:avLst/>
          </a:prstGeom>
          <a:noFill/>
          <a:ln/>
        </p:spPr>
        <p:txBody>
          <a:bodyPr wrap="square" lIns="0" tIns="0" rIns="0" bIns="0" rtlCol="0" anchor="ctr"/>
          <a:lstStyle/>
          <a:p>
            <a:pPr indent="0" marL="0">
              <a:buNone/>
            </a:pPr>
            <a:r>
              <a:rPr lang="en-US" sz="3000" b="1" dirty="0">
                <a:solidFill>
                  <a:srgbClr val="FFFFFF"/>
                </a:solidFill>
                <a:latin typeface="Palatino Linotype" pitchFamily="34" charset="0"/>
                <a:ea typeface="Palatino Linotype" pitchFamily="34" charset="-122"/>
                <a:cs typeface="Palatino Linotype" pitchFamily="34" charset="-120"/>
              </a:rPr>
              <a:t>4,4</a:t>
            </a:r>
            <a:endParaRPr lang="en-US" sz="3000" dirty="0"/>
          </a:p>
        </p:txBody>
      </p:sp>
      <p:sp>
        <p:nvSpPr>
          <p:cNvPr id="18" name="Text 16"/>
          <p:cNvSpPr/>
          <p:nvPr/>
        </p:nvSpPr>
        <p:spPr>
          <a:xfrm>
            <a:off x="594360" y="5257800"/>
            <a:ext cx="10972800" cy="365760"/>
          </a:xfrm>
          <a:prstGeom prst="rect">
            <a:avLst/>
          </a:prstGeom>
          <a:noFill/>
          <a:ln/>
        </p:spPr>
        <p:txBody>
          <a:bodyPr wrap="square" lIns="0" tIns="0" rIns="0" bIns="0" rtlCol="0" anchor="t"/>
          <a:lstStyle/>
          <a:p>
            <a:pPr indent="0" marL="0">
              <a:buNone/>
            </a:pPr>
            <a:r>
              <a:rPr lang="en-US" sz="1600" dirty="0">
                <a:solidFill>
                  <a:srgbClr val="959BB0"/>
                </a:solidFill>
                <a:latin typeface="Palatino Linotype" pitchFamily="34" charset="0"/>
                <a:ea typeface="Palatino Linotype" pitchFamily="34" charset="-122"/>
                <a:cs typeface="Palatino Linotype" pitchFamily="34" charset="-120"/>
              </a:rPr>
              <a:t>Decese rutiere la 100 000 de locuitori, 2024.</a:t>
            </a:r>
            <a:endParaRPr lang="en-US" sz="1600" dirty="0"/>
          </a:p>
        </p:txBody>
      </p:sp>
      <p:sp>
        <p:nvSpPr>
          <p:cNvPr id="19" name="Text 17"/>
          <p:cNvSpPr/>
          <p:nvPr/>
        </p:nvSpPr>
        <p:spPr>
          <a:xfrm>
            <a:off x="594360" y="5669280"/>
            <a:ext cx="10972800" cy="45720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Nici clasamentul, nici tabelul nu spun de ce au scăzut ratele.</a:t>
            </a:r>
            <a:endParaRPr lang="en-US" sz="1800" dirty="0"/>
          </a:p>
        </p:txBody>
      </p:sp>
      <p:sp>
        <p:nvSpPr>
          <p:cNvPr id="20" name="Text 18"/>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Eurostat, setul sdg_11_40, 2024.</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O SINGURĂ REGULĂ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400" b="1" dirty="0">
                <a:solidFill>
                  <a:srgbClr val="11121A"/>
                </a:solidFill>
                <a:latin typeface="Palatino Linotype" pitchFamily="34" charset="0"/>
                <a:ea typeface="Palatino Linotype" pitchFamily="34" charset="-122"/>
                <a:cs typeface="Palatino Linotype" pitchFamily="34" charset="-120"/>
              </a:rPr>
              <a:t>Număr sau rată?</a:t>
            </a:r>
            <a:endParaRPr lang="en-US" sz="3400" dirty="0"/>
          </a:p>
        </p:txBody>
      </p:sp>
      <p:sp>
        <p:nvSpPr>
          <p:cNvPr id="4" name="Shape 2"/>
          <p:cNvSpPr/>
          <p:nvPr/>
        </p:nvSpPr>
        <p:spPr>
          <a:xfrm>
            <a:off x="594360" y="1691640"/>
            <a:ext cx="5394960" cy="2468880"/>
          </a:xfrm>
          <a:prstGeom prst="roundRect">
            <a:avLst>
              <a:gd name="adj" fmla="val 3333"/>
            </a:avLst>
          </a:prstGeom>
          <a:solidFill>
            <a:srgbClr val="ECEAE4"/>
          </a:solidFill>
          <a:ln w="12700">
            <a:solidFill>
              <a:srgbClr val="ECEAE4"/>
            </a:solidFill>
            <a:prstDash val="solid"/>
          </a:ln>
        </p:spPr>
        <p:txBody>
          <a:bodyPr/>
          <a:p/>
        </p:txBody>
      </p:sp>
      <p:sp>
        <p:nvSpPr>
          <p:cNvPr id="5" name="Shape 3"/>
          <p:cNvSpPr/>
          <p:nvPr/>
        </p:nvSpPr>
        <p:spPr>
          <a:xfrm>
            <a:off x="594360" y="1691640"/>
            <a:ext cx="5394960" cy="91440"/>
          </a:xfrm>
          <a:prstGeom prst="rect">
            <a:avLst/>
          </a:prstGeom>
          <a:solidFill>
            <a:srgbClr val="0E7C6B"/>
          </a:solidFill>
          <a:ln w="12700">
            <a:solidFill>
              <a:srgbClr val="0E7C6B"/>
            </a:solidFill>
            <a:prstDash val="solid"/>
          </a:ln>
        </p:spPr>
        <p:txBody>
          <a:bodyPr/>
          <a:p/>
        </p:txBody>
      </p:sp>
      <p:sp>
        <p:nvSpPr>
          <p:cNvPr id="6" name="Text 4"/>
          <p:cNvSpPr/>
          <p:nvPr/>
        </p:nvSpPr>
        <p:spPr>
          <a:xfrm>
            <a:off x="914400" y="1920240"/>
            <a:ext cx="4754880" cy="457200"/>
          </a:xfrm>
          <a:prstGeom prst="rect">
            <a:avLst/>
          </a:prstGeom>
          <a:noFill/>
          <a:ln/>
        </p:spPr>
        <p:txBody>
          <a:bodyPr wrap="square" lIns="0" tIns="0" rIns="0" bIns="0" rtlCol="0" anchor="t"/>
          <a:lstStyle/>
          <a:p>
            <a:pPr indent="0" marL="0">
              <a:buNone/>
            </a:pPr>
            <a:r>
              <a:rPr lang="en-US" sz="2500" b="1" dirty="0">
                <a:solidFill>
                  <a:srgbClr val="0E7C6B"/>
                </a:solidFill>
                <a:latin typeface="Palatino Linotype" pitchFamily="34" charset="0"/>
                <a:ea typeface="Palatino Linotype" pitchFamily="34" charset="-122"/>
                <a:cs typeface="Palatino Linotype" pitchFamily="34" charset="-120"/>
              </a:rPr>
              <a:t>Numărul</a:t>
            </a:r>
            <a:endParaRPr lang="en-US" sz="2500" dirty="0"/>
          </a:p>
        </p:txBody>
      </p:sp>
      <p:sp>
        <p:nvSpPr>
          <p:cNvPr id="7" name="Text 5"/>
          <p:cNvSpPr/>
          <p:nvPr/>
        </p:nvSpPr>
        <p:spPr>
          <a:xfrm>
            <a:off x="914400" y="2514600"/>
            <a:ext cx="4754880" cy="155448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Spune câți oameni trebuie îngrijiți, câte familii au pierdut pe cineva, câte paturi de spital sunt ocupate.</a:t>
            </a:r>
            <a:endParaRPr lang="en-US" sz="1650" dirty="0"/>
          </a:p>
        </p:txBody>
      </p:sp>
      <p:sp>
        <p:nvSpPr>
          <p:cNvPr id="8" name="Shape 6"/>
          <p:cNvSpPr/>
          <p:nvPr/>
        </p:nvSpPr>
        <p:spPr>
          <a:xfrm>
            <a:off x="6172200" y="1691640"/>
            <a:ext cx="5394960" cy="2468880"/>
          </a:xfrm>
          <a:prstGeom prst="roundRect">
            <a:avLst>
              <a:gd name="adj" fmla="val 3333"/>
            </a:avLst>
          </a:prstGeom>
          <a:solidFill>
            <a:srgbClr val="ECEAE4"/>
          </a:solidFill>
          <a:ln w="12700">
            <a:solidFill>
              <a:srgbClr val="ECEAE4"/>
            </a:solidFill>
            <a:prstDash val="solid"/>
          </a:ln>
        </p:spPr>
        <p:txBody>
          <a:bodyPr/>
          <a:p/>
        </p:txBody>
      </p:sp>
      <p:sp>
        <p:nvSpPr>
          <p:cNvPr id="9" name="Shape 7"/>
          <p:cNvSpPr/>
          <p:nvPr/>
        </p:nvSpPr>
        <p:spPr>
          <a:xfrm>
            <a:off x="6172200" y="1691640"/>
            <a:ext cx="5394960" cy="91440"/>
          </a:xfrm>
          <a:prstGeom prst="rect">
            <a:avLst/>
          </a:prstGeom>
          <a:solidFill>
            <a:srgbClr val="B02532"/>
          </a:solidFill>
          <a:ln w="12700">
            <a:solidFill>
              <a:srgbClr val="B02532"/>
            </a:solidFill>
            <a:prstDash val="solid"/>
          </a:ln>
        </p:spPr>
        <p:txBody>
          <a:bodyPr/>
          <a:p/>
        </p:txBody>
      </p:sp>
      <p:sp>
        <p:nvSpPr>
          <p:cNvPr id="10" name="Text 8"/>
          <p:cNvSpPr/>
          <p:nvPr/>
        </p:nvSpPr>
        <p:spPr>
          <a:xfrm>
            <a:off x="6492240" y="1920240"/>
            <a:ext cx="4754880" cy="457200"/>
          </a:xfrm>
          <a:prstGeom prst="rect">
            <a:avLst/>
          </a:prstGeom>
          <a:noFill/>
          <a:ln/>
        </p:spPr>
        <p:txBody>
          <a:bodyPr wrap="square" lIns="0" tIns="0" rIns="0" bIns="0" rtlCol="0" anchor="t"/>
          <a:lstStyle/>
          <a:p>
            <a:pPr indent="0" marL="0">
              <a:buNone/>
            </a:pPr>
            <a:r>
              <a:rPr lang="en-US" sz="2500" b="1" dirty="0">
                <a:solidFill>
                  <a:srgbClr val="B02532"/>
                </a:solidFill>
                <a:latin typeface="Palatino Linotype" pitchFamily="34" charset="0"/>
                <a:ea typeface="Palatino Linotype" pitchFamily="34" charset="-122"/>
                <a:cs typeface="Palatino Linotype" pitchFamily="34" charset="-120"/>
              </a:rPr>
              <a:t>Rata</a:t>
            </a:r>
            <a:endParaRPr lang="en-US" sz="2500" dirty="0"/>
          </a:p>
        </p:txBody>
      </p:sp>
      <p:sp>
        <p:nvSpPr>
          <p:cNvPr id="11" name="Text 9"/>
          <p:cNvSpPr/>
          <p:nvPr/>
        </p:nvSpPr>
        <p:spPr>
          <a:xfrm>
            <a:off x="6492240" y="2514600"/>
            <a:ext cx="4754880" cy="1554480"/>
          </a:xfrm>
          <a:prstGeom prst="rect">
            <a:avLst/>
          </a:prstGeom>
          <a:noFill/>
          <a:ln/>
        </p:spPr>
        <p:txBody>
          <a:bodyPr wrap="square" lIns="0" tIns="0" rIns="0" bIns="0" rtlCol="0" anchor="t"/>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Este necesară când comparați populații: două județe, două regiuni, România și Uniunea, femeile și bărbații.</a:t>
            </a:r>
            <a:endParaRPr lang="en-US" sz="1650" dirty="0"/>
          </a:p>
        </p:txBody>
      </p:sp>
      <p:sp>
        <p:nvSpPr>
          <p:cNvPr id="12" name="Shape 10"/>
          <p:cNvSpPr/>
          <p:nvPr/>
        </p:nvSpPr>
        <p:spPr>
          <a:xfrm>
            <a:off x="594360" y="4434840"/>
            <a:ext cx="10972800" cy="1463040"/>
          </a:xfrm>
          <a:prstGeom prst="roundRect">
            <a:avLst>
              <a:gd name="adj" fmla="val 5625"/>
            </a:avLst>
          </a:prstGeom>
          <a:solidFill>
            <a:srgbClr val="11121A"/>
          </a:solidFill>
          <a:ln w="12700">
            <a:solidFill>
              <a:srgbClr val="11121A"/>
            </a:solidFill>
            <a:prstDash val="solid"/>
          </a:ln>
        </p:spPr>
        <p:txBody>
          <a:bodyPr/>
          <a:p/>
        </p:txBody>
      </p:sp>
      <p:sp>
        <p:nvSpPr>
          <p:cNvPr id="13" name="Text 11"/>
          <p:cNvSpPr/>
          <p:nvPr/>
        </p:nvSpPr>
        <p:spPr>
          <a:xfrm>
            <a:off x="868680" y="4434840"/>
            <a:ext cx="10424160" cy="1463040"/>
          </a:xfrm>
          <a:prstGeom prst="rect">
            <a:avLst/>
          </a:prstGeom>
          <a:noFill/>
          <a:ln/>
        </p:spPr>
        <p:txBody>
          <a:bodyPr wrap="square" lIns="0" tIns="0" rIns="0" bIns="0" rtlCol="0" anchor="ctr"/>
          <a:lstStyle/>
          <a:p>
            <a:pPr indent="0" marL="0">
              <a:buNone/>
            </a:pPr>
            <a:r>
              <a:rPr lang="en-US" sz="1900" b="1" dirty="0">
                <a:solidFill>
                  <a:srgbClr val="27D3BE"/>
                </a:solidFill>
                <a:latin typeface="Palatino Linotype" pitchFamily="34" charset="0"/>
                <a:ea typeface="Palatino Linotype" pitchFamily="34" charset="-122"/>
                <a:cs typeface="Palatino Linotype" pitchFamily="34" charset="-120"/>
              </a:rPr>
              <a:t>Seria unui singur teritoriu</a:t>
            </a:r>
            <a:endParaRPr lang="en-US" sz="1900" dirty="0"/>
          </a:p>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Numărul, cu unitatea scrisă, este acceptat. Rata rămâne recomandată, pentru că populația se schimbă de la un an la altul.</a:t>
            </a:r>
            <a:endParaRPr lang="en-US" sz="1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CE S-A NUMĂRAT?</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Cine intră în cifra deceselor rutiere?</a:t>
            </a:r>
            <a:endParaRPr lang="en-US" sz="3200" dirty="0"/>
          </a:p>
        </p:txBody>
      </p:sp>
      <p:sp>
        <p:nvSpPr>
          <p:cNvPr id="4" name="Shape 2"/>
          <p:cNvSpPr/>
          <p:nvPr/>
        </p:nvSpPr>
        <p:spPr>
          <a:xfrm>
            <a:off x="594360" y="1828800"/>
            <a:ext cx="6400800" cy="731520"/>
          </a:xfrm>
          <a:prstGeom prst="rect">
            <a:avLst/>
          </a:prstGeom>
          <a:solidFill>
            <a:srgbClr val="07564B"/>
          </a:solidFill>
          <a:ln w="12700">
            <a:solidFill>
              <a:srgbClr val="07564B"/>
            </a:solidFill>
            <a:prstDash val="solid"/>
          </a:ln>
        </p:spPr>
        <p:txBody>
          <a:bodyPr/>
          <a:p/>
        </p:txBody>
      </p:sp>
      <p:sp>
        <p:nvSpPr>
          <p:cNvPr id="5" name="Shape 3"/>
          <p:cNvSpPr/>
          <p:nvPr/>
        </p:nvSpPr>
        <p:spPr>
          <a:xfrm>
            <a:off x="6995160" y="1828800"/>
            <a:ext cx="4572000" cy="731520"/>
          </a:xfrm>
          <a:prstGeom prst="rect">
            <a:avLst/>
          </a:prstGeom>
          <a:solidFill>
            <a:srgbClr val="7A2230"/>
          </a:solidFill>
          <a:ln w="12700">
            <a:solidFill>
              <a:srgbClr val="7A2230"/>
            </a:solidFill>
            <a:prstDash val="solid"/>
          </a:ln>
        </p:spPr>
        <p:txBody>
          <a:bodyPr/>
          <a:p/>
        </p:txBody>
      </p:sp>
      <p:sp>
        <p:nvSpPr>
          <p:cNvPr id="6" name="Text 4"/>
          <p:cNvSpPr/>
          <p:nvPr/>
        </p:nvSpPr>
        <p:spPr>
          <a:xfrm>
            <a:off x="822960" y="1828800"/>
            <a:ext cx="5943600" cy="7315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intră în cifră</a:t>
            </a:r>
            <a:endParaRPr lang="en-US" sz="1900" dirty="0"/>
          </a:p>
        </p:txBody>
      </p:sp>
      <p:sp>
        <p:nvSpPr>
          <p:cNvPr id="7" name="Text 5"/>
          <p:cNvSpPr/>
          <p:nvPr/>
        </p:nvSpPr>
        <p:spPr>
          <a:xfrm>
            <a:off x="7223760" y="1828800"/>
            <a:ext cx="4206240" cy="7315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nu intră în cifră</a:t>
            </a:r>
            <a:endParaRPr lang="en-US" sz="1900" dirty="0"/>
          </a:p>
        </p:txBody>
      </p:sp>
      <p:sp>
        <p:nvSpPr>
          <p:cNvPr id="8" name="Shape 6"/>
          <p:cNvSpPr/>
          <p:nvPr/>
        </p:nvSpPr>
        <p:spPr>
          <a:xfrm>
            <a:off x="6986016" y="1691640"/>
            <a:ext cx="27432" cy="1005840"/>
          </a:xfrm>
          <a:prstGeom prst="rect">
            <a:avLst/>
          </a:prstGeom>
          <a:solidFill>
            <a:srgbClr val="FFC24B"/>
          </a:solidFill>
          <a:ln/>
        </p:spPr>
        <p:txBody>
          <a:bodyPr/>
          <a:p/>
        </p:txBody>
      </p:sp>
      <p:sp>
        <p:nvSpPr>
          <p:cNvPr id="9" name="Text 7"/>
          <p:cNvSpPr/>
          <p:nvPr/>
        </p:nvSpPr>
        <p:spPr>
          <a:xfrm>
            <a:off x="594360" y="2633472"/>
            <a:ext cx="2011680" cy="320040"/>
          </a:xfrm>
          <a:prstGeom prst="rect">
            <a:avLst/>
          </a:prstGeom>
          <a:noFill/>
          <a:ln/>
        </p:spPr>
        <p:txBody>
          <a:bodyPr wrap="square" lIns="0" tIns="0" rIns="0" bIns="0" rtlCol="0" anchor="t"/>
          <a:lstStyle/>
          <a:p>
            <a:pPr indent="0" marL="0">
              <a:buNone/>
            </a:pPr>
            <a:r>
              <a:rPr lang="en-US" sz="1300" dirty="0">
                <a:solidFill>
                  <a:srgbClr val="959BB0"/>
                </a:solidFill>
                <a:latin typeface="Palatino Linotype" pitchFamily="34" charset="0"/>
                <a:ea typeface="Palatino Linotype" pitchFamily="34" charset="-122"/>
                <a:cs typeface="Palatino Linotype" pitchFamily="34" charset="-120"/>
              </a:rPr>
              <a:t>accidentul</a:t>
            </a:r>
            <a:endParaRPr lang="en-US" sz="1300" dirty="0"/>
          </a:p>
        </p:txBody>
      </p:sp>
      <p:sp>
        <p:nvSpPr>
          <p:cNvPr id="10" name="Text 8"/>
          <p:cNvSpPr/>
          <p:nvPr/>
        </p:nvSpPr>
        <p:spPr>
          <a:xfrm>
            <a:off x="5897880" y="2633472"/>
            <a:ext cx="2194560" cy="320040"/>
          </a:xfrm>
          <a:prstGeom prst="rect">
            <a:avLst/>
          </a:prstGeom>
          <a:noFill/>
          <a:ln/>
        </p:spPr>
        <p:txBody>
          <a:bodyPr wrap="square" lIns="0" tIns="0" rIns="0" bIns="0" rtlCol="0" anchor="t"/>
          <a:lstStyle/>
          <a:p>
            <a:pPr algn="ctr" indent="0" marL="0">
              <a:buNone/>
            </a:pPr>
            <a:r>
              <a:rPr lang="en-US" sz="1400" b="1" dirty="0">
                <a:solidFill>
                  <a:srgbClr val="FFC24B"/>
                </a:solidFill>
                <a:latin typeface="Palatino Linotype" pitchFamily="34" charset="0"/>
                <a:ea typeface="Palatino Linotype" pitchFamily="34" charset="-122"/>
                <a:cs typeface="Palatino Linotype" pitchFamily="34" charset="-120"/>
              </a:rPr>
              <a:t>30 de zile</a:t>
            </a:r>
            <a:endParaRPr lang="en-US" sz="1400" dirty="0"/>
          </a:p>
        </p:txBody>
      </p:sp>
      <p:sp>
        <p:nvSpPr>
          <p:cNvPr id="11" name="Shape 9"/>
          <p:cNvSpPr/>
          <p:nvPr/>
        </p:nvSpPr>
        <p:spPr>
          <a:xfrm>
            <a:off x="594360" y="3291840"/>
            <a:ext cx="5394960" cy="2514600"/>
          </a:xfrm>
          <a:prstGeom prst="roundRect">
            <a:avLst>
              <a:gd name="adj" fmla="val 3273"/>
            </a:avLst>
          </a:prstGeom>
          <a:solidFill>
            <a:srgbClr val="1D1F2B"/>
          </a:solidFill>
          <a:ln w="12700">
            <a:solidFill>
              <a:srgbClr val="1D1F2B"/>
            </a:solidFill>
            <a:prstDash val="solid"/>
          </a:ln>
        </p:spPr>
        <p:txBody>
          <a:bodyPr/>
          <a:p/>
        </p:txBody>
      </p:sp>
      <p:sp>
        <p:nvSpPr>
          <p:cNvPr id="12" name="Shape 10"/>
          <p:cNvSpPr/>
          <p:nvPr/>
        </p:nvSpPr>
        <p:spPr>
          <a:xfrm>
            <a:off x="6172200" y="3291840"/>
            <a:ext cx="5394960" cy="2514600"/>
          </a:xfrm>
          <a:prstGeom prst="roundRect">
            <a:avLst>
              <a:gd name="adj" fmla="val 3273"/>
            </a:avLst>
          </a:prstGeom>
          <a:solidFill>
            <a:srgbClr val="1D1F2B"/>
          </a:solidFill>
          <a:ln w="12700">
            <a:solidFill>
              <a:srgbClr val="1D1F2B"/>
            </a:solidFill>
            <a:prstDash val="solid"/>
          </a:ln>
        </p:spPr>
        <p:txBody>
          <a:bodyPr/>
          <a:p/>
        </p:txBody>
      </p:sp>
      <p:sp>
        <p:nvSpPr>
          <p:cNvPr id="13" name="Text 11"/>
          <p:cNvSpPr/>
          <p:nvPr/>
        </p:nvSpPr>
        <p:spPr>
          <a:xfrm>
            <a:off x="914400" y="3474720"/>
            <a:ext cx="4754880" cy="411480"/>
          </a:xfrm>
          <a:prstGeom prst="rect">
            <a:avLst/>
          </a:prstGeom>
          <a:noFill/>
          <a:ln/>
        </p:spPr>
        <p:txBody>
          <a:bodyPr wrap="square" lIns="0" tIns="0" rIns="0" bIns="0" rtlCol="0" anchor="t"/>
          <a:lstStyle/>
          <a:p>
            <a:pPr indent="0" marL="0">
              <a:buNone/>
            </a:pPr>
            <a:r>
              <a:rPr lang="en-US" sz="2000" b="1" dirty="0">
                <a:solidFill>
                  <a:srgbClr val="27D3BE"/>
                </a:solidFill>
                <a:latin typeface="Palatino Linotype" pitchFamily="34" charset="0"/>
                <a:ea typeface="Palatino Linotype" pitchFamily="34" charset="-122"/>
                <a:cs typeface="Palatino Linotype" pitchFamily="34" charset="-120"/>
              </a:rPr>
              <a:t>Se numără</a:t>
            </a:r>
            <a:endParaRPr lang="en-US" sz="2000" dirty="0"/>
          </a:p>
        </p:txBody>
      </p:sp>
      <p:sp>
        <p:nvSpPr>
          <p:cNvPr id="14" name="Text 12"/>
          <p:cNvSpPr/>
          <p:nvPr/>
        </p:nvSpPr>
        <p:spPr>
          <a:xfrm>
            <a:off x="914400" y="3977640"/>
            <a:ext cx="4754880" cy="173736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Șoferii și pasagerii vehiculelor cu motor și ai bicicletelor, precum și pietonii, care mor în cel mult 30 de zile de la accident.</a:t>
            </a:r>
            <a:endParaRPr lang="en-US" sz="1650" dirty="0"/>
          </a:p>
        </p:txBody>
      </p:sp>
      <p:sp>
        <p:nvSpPr>
          <p:cNvPr id="15" name="Text 13"/>
          <p:cNvSpPr/>
          <p:nvPr/>
        </p:nvSpPr>
        <p:spPr>
          <a:xfrm>
            <a:off x="6492240" y="3474720"/>
            <a:ext cx="4754880" cy="411480"/>
          </a:xfrm>
          <a:prstGeom prst="rect">
            <a:avLst/>
          </a:prstGeom>
          <a:noFill/>
          <a:ln/>
        </p:spPr>
        <p:txBody>
          <a:bodyPr wrap="square" lIns="0" tIns="0" rIns="0" bIns="0" rtlCol="0" anchor="t"/>
          <a:lstStyle/>
          <a:p>
            <a:pPr indent="0" marL="0">
              <a:buNone/>
            </a:pPr>
            <a:r>
              <a:rPr lang="en-US" sz="2000" b="1" dirty="0">
                <a:solidFill>
                  <a:srgbClr val="FF8A93"/>
                </a:solidFill>
                <a:latin typeface="Palatino Linotype" pitchFamily="34" charset="0"/>
                <a:ea typeface="Palatino Linotype" pitchFamily="34" charset="-122"/>
                <a:cs typeface="Palatino Linotype" pitchFamily="34" charset="-120"/>
              </a:rPr>
              <a:t>Nu se numără</a:t>
            </a:r>
            <a:endParaRPr lang="en-US" sz="2000" dirty="0"/>
          </a:p>
        </p:txBody>
      </p:sp>
      <p:sp>
        <p:nvSpPr>
          <p:cNvPr id="16" name="Text 14"/>
          <p:cNvSpPr/>
          <p:nvPr/>
        </p:nvSpPr>
        <p:spPr>
          <a:xfrm>
            <a:off x="6492240" y="3977640"/>
            <a:ext cx="4754880" cy="173736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Un rănit grav care moare mai târziu de 30 de zile de la accident.</a:t>
            </a:r>
            <a:endParaRPr lang="en-US" sz="1650" dirty="0"/>
          </a:p>
        </p:txBody>
      </p:sp>
      <p:sp>
        <p:nvSpPr>
          <p:cNvPr id="17" name="Text 15"/>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Sursa: Eurostat, metadatele setului sdg_11_40.</a:t>
            </a:r>
            <a:endParaRPr lang="en-US" sz="11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DOILEA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Metadatele: eticheta de pe ambalaj</a:t>
            </a:r>
            <a:endParaRPr lang="en-US" sz="3200" dirty="0"/>
          </a:p>
        </p:txBody>
      </p:sp>
      <p:sp>
        <p:nvSpPr>
          <p:cNvPr id="4" name="Shape 2"/>
          <p:cNvSpPr/>
          <p:nvPr/>
        </p:nvSpPr>
        <p:spPr>
          <a:xfrm>
            <a:off x="594360" y="1691640"/>
            <a:ext cx="5120640" cy="4206240"/>
          </a:xfrm>
          <a:prstGeom prst="roundRect">
            <a:avLst>
              <a:gd name="adj" fmla="val 1957"/>
            </a:avLst>
          </a:prstGeom>
          <a:solidFill>
            <a:srgbClr val="11121A"/>
          </a:solidFill>
          <a:ln w="12700">
            <a:solidFill>
              <a:srgbClr val="11121A"/>
            </a:solidFill>
            <a:prstDash val="solid"/>
          </a:ln>
        </p:spPr>
        <p:txBody>
          <a:bodyPr/>
          <a:p/>
        </p:txBody>
      </p:sp>
      <p:sp>
        <p:nvSpPr>
          <p:cNvPr id="5" name="Shape 3"/>
          <p:cNvSpPr/>
          <p:nvPr/>
        </p:nvSpPr>
        <p:spPr>
          <a:xfrm>
            <a:off x="594360" y="1691640"/>
            <a:ext cx="5120640" cy="91440"/>
          </a:xfrm>
          <a:prstGeom prst="rect">
            <a:avLst/>
          </a:prstGeom>
          <a:solidFill>
            <a:srgbClr val="27D3BE"/>
          </a:solidFill>
          <a:ln w="12700">
            <a:solidFill>
              <a:srgbClr val="27D3BE"/>
            </a:solidFill>
            <a:prstDash val="solid"/>
          </a:ln>
        </p:spPr>
        <p:txBody>
          <a:bodyPr/>
          <a:p/>
        </p:txBody>
      </p:sp>
      <p:sp>
        <p:nvSpPr>
          <p:cNvPr id="6" name="Text 4"/>
          <p:cNvSpPr/>
          <p:nvPr/>
        </p:nvSpPr>
        <p:spPr>
          <a:xfrm>
            <a:off x="914400" y="1965960"/>
            <a:ext cx="4480560" cy="502920"/>
          </a:xfrm>
          <a:prstGeom prst="rect">
            <a:avLst/>
          </a:prstGeom>
          <a:noFill/>
          <a:ln/>
        </p:spPr>
        <p:txBody>
          <a:bodyPr wrap="square" lIns="0" tIns="0" rIns="0" bIns="0" rtlCol="0" anchor="t"/>
          <a:lstStyle/>
          <a:p>
            <a:pPr indent="0" marL="0">
              <a:buNone/>
            </a:pPr>
            <a:r>
              <a:rPr lang="en-US" sz="2700" b="1" dirty="0">
                <a:solidFill>
                  <a:srgbClr val="27D3BE"/>
                </a:solidFill>
                <a:latin typeface="Palatino Linotype" pitchFamily="34" charset="0"/>
                <a:ea typeface="Palatino Linotype" pitchFamily="34" charset="-122"/>
                <a:cs typeface="Palatino Linotype" pitchFamily="34" charset="-120"/>
              </a:rPr>
              <a:t>Metadate</a:t>
            </a:r>
            <a:endParaRPr lang="en-US" sz="2700" dirty="0"/>
          </a:p>
        </p:txBody>
      </p:sp>
      <p:sp>
        <p:nvSpPr>
          <p:cNvPr id="7" name="Text 5"/>
          <p:cNvSpPr/>
          <p:nvPr/>
        </p:nvSpPr>
        <p:spPr>
          <a:xfrm>
            <a:off x="914400" y="2606040"/>
            <a:ext cx="4480560" cy="173736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Fișa unui set de date: ce s-a numărat, cum, la cine, când, de unde.</a:t>
            </a:r>
            <a:endParaRPr lang="en-US" sz="1650" dirty="0"/>
          </a:p>
        </p:txBody>
      </p:sp>
      <p:sp>
        <p:nvSpPr>
          <p:cNvPr id="8" name="Shape 6"/>
          <p:cNvSpPr/>
          <p:nvPr/>
        </p:nvSpPr>
        <p:spPr>
          <a:xfrm>
            <a:off x="914400" y="4389120"/>
            <a:ext cx="4480560" cy="18288"/>
          </a:xfrm>
          <a:prstGeom prst="rect">
            <a:avLst/>
          </a:prstGeom>
          <a:solidFill>
            <a:srgbClr val="3A3E52"/>
          </a:solidFill>
          <a:ln/>
        </p:spPr>
        <p:txBody>
          <a:bodyPr/>
          <a:p/>
        </p:txBody>
      </p:sp>
      <p:sp>
        <p:nvSpPr>
          <p:cNvPr id="9" name="Text 7"/>
          <p:cNvSpPr/>
          <p:nvPr/>
        </p:nvSpPr>
        <p:spPr>
          <a:xfrm>
            <a:off x="914400" y="4572000"/>
            <a:ext cx="4480560" cy="1188720"/>
          </a:xfrm>
          <a:prstGeom prst="rect">
            <a:avLst/>
          </a:prstGeom>
          <a:noFill/>
          <a:ln/>
        </p:spPr>
        <p:txBody>
          <a:bodyPr wrap="square" lIns="0" tIns="0" rIns="0" bIns="0" rtlCol="0" anchor="t"/>
          <a:lstStyle/>
          <a:p>
            <a:pPr indent="0" marL="0">
              <a:buNone/>
            </a:pPr>
            <a:r>
              <a:rPr lang="en-US" sz="1550" b="1" dirty="0">
                <a:solidFill>
                  <a:srgbClr val="27D3BE"/>
                </a:solidFill>
                <a:latin typeface="Palatino Linotype" pitchFamily="34" charset="0"/>
                <a:ea typeface="Palatino Linotype" pitchFamily="34" charset="-122"/>
                <a:cs typeface="Palatino Linotype" pitchFamily="34" charset="-120"/>
              </a:rPr>
              <a:t>Pe scurt. </a:t>
            </a:r>
            <a:pPr indent="0" marL="0">
              <a:buNone/>
            </a:pPr>
            <a:r>
              <a:rPr lang="en-US" sz="1550" dirty="0">
                <a:solidFill>
                  <a:srgbClr val="E6E8EF"/>
                </a:solidFill>
                <a:latin typeface="Palatino Linotype" pitchFamily="34" charset="0"/>
                <a:ea typeface="Palatino Linotype" pitchFamily="34" charset="-122"/>
                <a:cs typeface="Palatino Linotype" pitchFamily="34" charset="-120"/>
              </a:rPr>
              <a:t>Eticheta de pe ambalaj, cu ingredientele și data fabricației.</a:t>
            </a:r>
            <a:endParaRPr lang="en-US" sz="1550" dirty="0"/>
          </a:p>
        </p:txBody>
      </p:sp>
      <p:sp>
        <p:nvSpPr>
          <p:cNvPr id="10" name="Text 8"/>
          <p:cNvSpPr/>
          <p:nvPr/>
        </p:nvSpPr>
        <p:spPr>
          <a:xfrm>
            <a:off x="6035040" y="1691640"/>
            <a:ext cx="5486400" cy="365760"/>
          </a:xfrm>
          <a:prstGeom prst="rect">
            <a:avLst/>
          </a:prstGeom>
          <a:noFill/>
          <a:ln/>
        </p:spPr>
        <p:txBody>
          <a:bodyPr wrap="square" lIns="0" tIns="0" rIns="0" bIns="0" rtlCol="0" anchor="t"/>
          <a:lstStyle/>
          <a:p>
            <a:pPr indent="0" marL="0">
              <a:buNone/>
            </a:pPr>
            <a:r>
              <a:rPr lang="en-US" sz="1700" b="1" dirty="0">
                <a:solidFill>
                  <a:srgbClr val="B02532"/>
                </a:solidFill>
                <a:latin typeface="Palatino Linotype" pitchFamily="34" charset="0"/>
                <a:ea typeface="Palatino Linotype" pitchFamily="34" charset="-122"/>
                <a:cs typeface="Palatino Linotype" pitchFamily="34" charset="-120"/>
              </a:rPr>
              <a:t>Din fișa deceselor rutiere</a:t>
            </a:r>
            <a:endParaRPr lang="en-US" sz="1700" dirty="0"/>
          </a:p>
        </p:txBody>
      </p:sp>
      <p:sp>
        <p:nvSpPr>
          <p:cNvPr id="11" name="Shape 9"/>
          <p:cNvSpPr/>
          <p:nvPr/>
        </p:nvSpPr>
        <p:spPr>
          <a:xfrm>
            <a:off x="6035040" y="2148840"/>
            <a:ext cx="5532120" cy="777240"/>
          </a:xfrm>
          <a:prstGeom prst="roundRect">
            <a:avLst>
              <a:gd name="adj" fmla="val 10588"/>
            </a:avLst>
          </a:prstGeom>
          <a:solidFill>
            <a:srgbClr val="ECEAE4"/>
          </a:solidFill>
          <a:ln w="12700">
            <a:solidFill>
              <a:srgbClr val="ECEAE4"/>
            </a:solidFill>
            <a:prstDash val="solid"/>
          </a:ln>
        </p:spPr>
        <p:txBody>
          <a:bodyPr/>
          <a:p/>
        </p:txBody>
      </p:sp>
      <p:sp>
        <p:nvSpPr>
          <p:cNvPr id="12" name="Text 10"/>
          <p:cNvSpPr/>
          <p:nvPr/>
        </p:nvSpPr>
        <p:spPr>
          <a:xfrm>
            <a:off x="6263640" y="2148840"/>
            <a:ext cx="5120640" cy="777240"/>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Cifra se publică și ca număr, și ca rată la 100 000 de persoane.</a:t>
            </a:r>
            <a:endParaRPr lang="en-US" sz="1450" dirty="0"/>
          </a:p>
        </p:txBody>
      </p:sp>
      <p:sp>
        <p:nvSpPr>
          <p:cNvPr id="13" name="Shape 11"/>
          <p:cNvSpPr/>
          <p:nvPr/>
        </p:nvSpPr>
        <p:spPr>
          <a:xfrm>
            <a:off x="6035040" y="3063240"/>
            <a:ext cx="5532120" cy="1097280"/>
          </a:xfrm>
          <a:prstGeom prst="roundRect">
            <a:avLst>
              <a:gd name="adj" fmla="val 7500"/>
            </a:avLst>
          </a:prstGeom>
          <a:solidFill>
            <a:srgbClr val="ECEAE4"/>
          </a:solidFill>
          <a:ln w="12700">
            <a:solidFill>
              <a:srgbClr val="ECEAE4"/>
            </a:solidFill>
            <a:prstDash val="solid"/>
          </a:ln>
        </p:spPr>
        <p:txBody>
          <a:bodyPr/>
          <a:p/>
        </p:txBody>
      </p:sp>
      <p:sp>
        <p:nvSpPr>
          <p:cNvPr id="14" name="Text 12"/>
          <p:cNvSpPr/>
          <p:nvPr/>
        </p:nvSpPr>
        <p:spPr>
          <a:xfrm>
            <a:off x="6263640" y="3063240"/>
            <a:ext cx="5120640" cy="1097280"/>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Datele vin din baza CARE a Comisiei Europene (DG MOVE), care adună datele raportate de țări.</a:t>
            </a:r>
            <a:endParaRPr lang="en-US" sz="1450" dirty="0"/>
          </a:p>
        </p:txBody>
      </p:sp>
      <p:sp>
        <p:nvSpPr>
          <p:cNvPr id="15" name="Shape 13"/>
          <p:cNvSpPr/>
          <p:nvPr/>
        </p:nvSpPr>
        <p:spPr>
          <a:xfrm>
            <a:off x="6035040" y="4297680"/>
            <a:ext cx="5532120" cy="777240"/>
          </a:xfrm>
          <a:prstGeom prst="roundRect">
            <a:avLst>
              <a:gd name="adj" fmla="val 10588"/>
            </a:avLst>
          </a:prstGeom>
          <a:solidFill>
            <a:srgbClr val="ECEAE4"/>
          </a:solidFill>
          <a:ln w="12700">
            <a:solidFill>
              <a:srgbClr val="ECEAE4"/>
            </a:solidFill>
            <a:prstDash val="solid"/>
          </a:ln>
        </p:spPr>
        <p:txBody>
          <a:bodyPr/>
          <a:p/>
        </p:txBody>
      </p:sp>
      <p:sp>
        <p:nvSpPr>
          <p:cNvPr id="16" name="Text 14"/>
          <p:cNvSpPr/>
          <p:nvPr/>
        </p:nvSpPr>
        <p:spPr>
          <a:xfrm>
            <a:off x="6263640" y="4297680"/>
            <a:ext cx="5120640" cy="777240"/>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Apar în cel mult doi ani după anul de referință.</a:t>
            </a:r>
            <a:endParaRPr lang="en-US" sz="1450" dirty="0"/>
          </a:p>
        </p:txBody>
      </p:sp>
      <p:sp>
        <p:nvSpPr>
          <p:cNvPr id="17" name="Shape 15"/>
          <p:cNvSpPr/>
          <p:nvPr/>
        </p:nvSpPr>
        <p:spPr>
          <a:xfrm>
            <a:off x="6035040" y="5212080"/>
            <a:ext cx="5532120" cy="777240"/>
          </a:xfrm>
          <a:prstGeom prst="roundRect">
            <a:avLst>
              <a:gd name="adj" fmla="val 10588"/>
            </a:avLst>
          </a:prstGeom>
          <a:solidFill>
            <a:srgbClr val="ECEAE4"/>
          </a:solidFill>
          <a:ln w="12700">
            <a:solidFill>
              <a:srgbClr val="ECEAE4"/>
            </a:solidFill>
            <a:prstDash val="solid"/>
          </a:ln>
        </p:spPr>
        <p:txBody>
          <a:bodyPr/>
          <a:p/>
        </p:txBody>
      </p:sp>
      <p:sp>
        <p:nvSpPr>
          <p:cNvPr id="18" name="Text 16"/>
          <p:cNvSpPr/>
          <p:nvPr/>
        </p:nvSpPr>
        <p:spPr>
          <a:xfrm>
            <a:off x="6263640" y="5212080"/>
            <a:ext cx="5120640" cy="777240"/>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Cel mai recent an din acest set: 2024.</a:t>
            </a:r>
            <a:endParaRPr lang="en-US" sz="14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LITERE MICI LÂNGĂ CIFRE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Literele mici și rupturile de serie</a:t>
            </a:r>
            <a:endParaRPr lang="en-US" sz="3200" dirty="0"/>
          </a:p>
        </p:txBody>
      </p:sp>
      <p:sp>
        <p:nvSpPr>
          <p:cNvPr id="4" name="Shape 2"/>
          <p:cNvSpPr/>
          <p:nvPr/>
        </p:nvSpPr>
        <p:spPr>
          <a:xfrm>
            <a:off x="594360" y="1645920"/>
            <a:ext cx="3474720" cy="1097280"/>
          </a:xfrm>
          <a:prstGeom prst="roundRect">
            <a:avLst>
              <a:gd name="adj" fmla="val 7500"/>
            </a:avLst>
          </a:prstGeom>
          <a:solidFill>
            <a:srgbClr val="ECEAE4"/>
          </a:solidFill>
          <a:ln w="12700">
            <a:solidFill>
              <a:srgbClr val="ECEAE4"/>
            </a:solidFill>
            <a:prstDash val="solid"/>
          </a:ln>
        </p:spPr>
        <p:txBody>
          <a:bodyPr/>
          <a:p/>
        </p:txBody>
      </p:sp>
      <p:sp>
        <p:nvSpPr>
          <p:cNvPr id="5" name="Shape 3"/>
          <p:cNvSpPr/>
          <p:nvPr/>
        </p:nvSpPr>
        <p:spPr>
          <a:xfrm>
            <a:off x="868680" y="1965960"/>
            <a:ext cx="457200" cy="457200"/>
          </a:xfrm>
          <a:prstGeom prst="ellipse">
            <a:avLst/>
          </a:prstGeom>
          <a:solidFill>
            <a:srgbClr val="0E7C6B"/>
          </a:solidFill>
          <a:ln/>
        </p:spPr>
        <p:txBody>
          <a:bodyPr/>
          <a:p/>
        </p:txBody>
      </p:sp>
      <p:sp>
        <p:nvSpPr>
          <p:cNvPr id="6" name="Text 4"/>
          <p:cNvSpPr/>
          <p:nvPr/>
        </p:nvSpPr>
        <p:spPr>
          <a:xfrm>
            <a:off x="868680"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e</a:t>
            </a:r>
            <a:endParaRPr lang="en-US" sz="1400" dirty="0"/>
          </a:p>
        </p:txBody>
      </p:sp>
      <p:sp>
        <p:nvSpPr>
          <p:cNvPr id="7" name="Text 5"/>
          <p:cNvSpPr/>
          <p:nvPr/>
        </p:nvSpPr>
        <p:spPr>
          <a:xfrm>
            <a:off x="1554480" y="1645920"/>
            <a:ext cx="2377440" cy="1097280"/>
          </a:xfrm>
          <a:prstGeom prst="rect">
            <a:avLst/>
          </a:prstGeom>
          <a:noFill/>
          <a:ln/>
        </p:spPr>
        <p:txBody>
          <a:bodyPr wrap="square" lIns="0" tIns="0" rIns="0" bIns="0" rtlCol="0" anchor="ctr"/>
          <a:lstStyle/>
          <a:p>
            <a:pPr indent="0" marL="0">
              <a:buNone/>
            </a:pPr>
            <a:r>
              <a:rPr lang="en-US" sz="1800" b="1" dirty="0">
                <a:solidFill>
                  <a:srgbClr val="0E7C6B"/>
                </a:solidFill>
                <a:latin typeface="Palatino Linotype" pitchFamily="34" charset="0"/>
                <a:ea typeface="Palatino Linotype" pitchFamily="34" charset="-122"/>
                <a:cs typeface="Palatino Linotype" pitchFamily="34" charset="-120"/>
              </a:rPr>
              <a:t>valoare estimată</a:t>
            </a:r>
            <a:endParaRPr lang="en-US" sz="1800" dirty="0"/>
          </a:p>
        </p:txBody>
      </p:sp>
      <p:sp>
        <p:nvSpPr>
          <p:cNvPr id="8" name="Shape 6"/>
          <p:cNvSpPr/>
          <p:nvPr/>
        </p:nvSpPr>
        <p:spPr>
          <a:xfrm>
            <a:off x="4343400" y="1645920"/>
            <a:ext cx="3474720" cy="1097280"/>
          </a:xfrm>
          <a:prstGeom prst="roundRect">
            <a:avLst>
              <a:gd name="adj" fmla="val 7500"/>
            </a:avLst>
          </a:prstGeom>
          <a:solidFill>
            <a:srgbClr val="ECEAE4"/>
          </a:solidFill>
          <a:ln w="12700">
            <a:solidFill>
              <a:srgbClr val="ECEAE4"/>
            </a:solidFill>
            <a:prstDash val="solid"/>
          </a:ln>
        </p:spPr>
        <p:txBody>
          <a:bodyPr/>
          <a:p/>
        </p:txBody>
      </p:sp>
      <p:sp>
        <p:nvSpPr>
          <p:cNvPr id="9" name="Shape 7"/>
          <p:cNvSpPr/>
          <p:nvPr/>
        </p:nvSpPr>
        <p:spPr>
          <a:xfrm>
            <a:off x="4617720" y="1965960"/>
            <a:ext cx="457200" cy="457200"/>
          </a:xfrm>
          <a:prstGeom prst="ellipse">
            <a:avLst/>
          </a:prstGeom>
          <a:solidFill>
            <a:srgbClr val="8A6100"/>
          </a:solidFill>
          <a:ln/>
        </p:spPr>
        <p:txBody>
          <a:bodyPr/>
          <a:p/>
        </p:txBody>
      </p:sp>
      <p:sp>
        <p:nvSpPr>
          <p:cNvPr id="10" name="Text 8"/>
          <p:cNvSpPr/>
          <p:nvPr/>
        </p:nvSpPr>
        <p:spPr>
          <a:xfrm>
            <a:off x="4617720"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p</a:t>
            </a:r>
            <a:endParaRPr lang="en-US" sz="1400" dirty="0"/>
          </a:p>
        </p:txBody>
      </p:sp>
      <p:sp>
        <p:nvSpPr>
          <p:cNvPr id="11" name="Text 9"/>
          <p:cNvSpPr/>
          <p:nvPr/>
        </p:nvSpPr>
        <p:spPr>
          <a:xfrm>
            <a:off x="5303520" y="1645920"/>
            <a:ext cx="2377440" cy="1097280"/>
          </a:xfrm>
          <a:prstGeom prst="rect">
            <a:avLst/>
          </a:prstGeom>
          <a:noFill/>
          <a:ln/>
        </p:spPr>
        <p:txBody>
          <a:bodyPr wrap="square" lIns="0" tIns="0" rIns="0" bIns="0" rtlCol="0" anchor="ctr"/>
          <a:lstStyle/>
          <a:p>
            <a:pPr indent="0" marL="0">
              <a:buNone/>
            </a:pPr>
            <a:r>
              <a:rPr lang="en-US" sz="1800" b="1" dirty="0">
                <a:solidFill>
                  <a:srgbClr val="8A6100"/>
                </a:solidFill>
                <a:latin typeface="Palatino Linotype" pitchFamily="34" charset="0"/>
                <a:ea typeface="Palatino Linotype" pitchFamily="34" charset="-122"/>
                <a:cs typeface="Palatino Linotype" pitchFamily="34" charset="-120"/>
              </a:rPr>
              <a:t>valoare provizorie</a:t>
            </a:r>
            <a:endParaRPr lang="en-US" sz="1800" dirty="0"/>
          </a:p>
        </p:txBody>
      </p:sp>
      <p:sp>
        <p:nvSpPr>
          <p:cNvPr id="12" name="Shape 10"/>
          <p:cNvSpPr/>
          <p:nvPr/>
        </p:nvSpPr>
        <p:spPr>
          <a:xfrm>
            <a:off x="8092440" y="1645920"/>
            <a:ext cx="3474720" cy="1097280"/>
          </a:xfrm>
          <a:prstGeom prst="roundRect">
            <a:avLst>
              <a:gd name="adj" fmla="val 7500"/>
            </a:avLst>
          </a:prstGeom>
          <a:solidFill>
            <a:srgbClr val="ECEAE4"/>
          </a:solidFill>
          <a:ln w="12700">
            <a:solidFill>
              <a:srgbClr val="ECEAE4"/>
            </a:solidFill>
            <a:prstDash val="solid"/>
          </a:ln>
        </p:spPr>
        <p:txBody>
          <a:bodyPr/>
          <a:p/>
        </p:txBody>
      </p:sp>
      <p:sp>
        <p:nvSpPr>
          <p:cNvPr id="13" name="Shape 11"/>
          <p:cNvSpPr/>
          <p:nvPr/>
        </p:nvSpPr>
        <p:spPr>
          <a:xfrm>
            <a:off x="8366760" y="1965960"/>
            <a:ext cx="457200" cy="457200"/>
          </a:xfrm>
          <a:prstGeom prst="ellipse">
            <a:avLst/>
          </a:prstGeom>
          <a:solidFill>
            <a:srgbClr val="B02532"/>
          </a:solidFill>
          <a:ln/>
        </p:spPr>
        <p:txBody>
          <a:bodyPr/>
          <a:p/>
        </p:txBody>
      </p:sp>
      <p:sp>
        <p:nvSpPr>
          <p:cNvPr id="14" name="Text 12"/>
          <p:cNvSpPr/>
          <p:nvPr/>
        </p:nvSpPr>
        <p:spPr>
          <a:xfrm>
            <a:off x="8366760"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b</a:t>
            </a:r>
            <a:endParaRPr lang="en-US" sz="1400" dirty="0"/>
          </a:p>
        </p:txBody>
      </p:sp>
      <p:sp>
        <p:nvSpPr>
          <p:cNvPr id="15" name="Text 13"/>
          <p:cNvSpPr/>
          <p:nvPr/>
        </p:nvSpPr>
        <p:spPr>
          <a:xfrm>
            <a:off x="9052560" y="1645920"/>
            <a:ext cx="2377440" cy="1097280"/>
          </a:xfrm>
          <a:prstGeom prst="rect">
            <a:avLst/>
          </a:prstGeom>
          <a:noFill/>
          <a:ln/>
        </p:spPr>
        <p:txBody>
          <a:bodyPr wrap="square" lIns="0" tIns="0" rIns="0" bIns="0" rtlCol="0" anchor="ctr"/>
          <a:lstStyle/>
          <a:p>
            <a:pPr indent="0" marL="0">
              <a:buNone/>
            </a:pPr>
            <a:r>
              <a:rPr lang="en-US" sz="1800" b="1" dirty="0">
                <a:solidFill>
                  <a:srgbClr val="B02532"/>
                </a:solidFill>
                <a:latin typeface="Palatino Linotype" pitchFamily="34" charset="0"/>
                <a:ea typeface="Palatino Linotype" pitchFamily="34" charset="-122"/>
                <a:cs typeface="Palatino Linotype" pitchFamily="34" charset="-120"/>
              </a:rPr>
              <a:t>ruptură de serie</a:t>
            </a:r>
            <a:endParaRPr lang="en-US" sz="1800" dirty="0"/>
          </a:p>
        </p:txBody>
      </p:sp>
      <p:sp>
        <p:nvSpPr>
          <p:cNvPr id="16" name="Text 14"/>
          <p:cNvSpPr/>
          <p:nvPr/>
        </p:nvSpPr>
        <p:spPr>
          <a:xfrm>
            <a:off x="594360" y="2926080"/>
            <a:ext cx="10972800" cy="731520"/>
          </a:xfrm>
          <a:prstGeom prst="rect">
            <a:avLst/>
          </a:prstGeom>
          <a:noFill/>
          <a:ln/>
        </p:spPr>
        <p:txBody>
          <a:bodyPr wrap="square" lIns="0" tIns="0" rIns="0" bIns="0" rtlCol="0" anchor="t"/>
          <a:lstStyle/>
          <a:p>
            <a:pPr indent="0" marL="0">
              <a:buNone/>
            </a:pPr>
            <a:r>
              <a:rPr lang="en-US" sz="1800" b="1" dirty="0">
                <a:solidFill>
                  <a:srgbClr val="11121A"/>
                </a:solidFill>
                <a:latin typeface="Palatino Linotype" pitchFamily="34" charset="0"/>
                <a:ea typeface="Palatino Linotype" pitchFamily="34" charset="-122"/>
                <a:cs typeface="Palatino Linotype" pitchFamily="34" charset="-120"/>
              </a:rPr>
              <a:t>Ruptura de serie înseamnă că metoda s-a schimbat: anii de dinainte și cei de după nu sunt pe deplin comparabili.</a:t>
            </a:r>
            <a:endParaRPr lang="en-US" sz="1800" dirty="0"/>
          </a:p>
        </p:txBody>
      </p:sp>
      <p:sp>
        <p:nvSpPr>
          <p:cNvPr id="17" name="Shape 15"/>
          <p:cNvSpPr/>
          <p:nvPr/>
        </p:nvSpPr>
        <p:spPr>
          <a:xfrm>
            <a:off x="594360" y="3794760"/>
            <a:ext cx="10972800" cy="2103120"/>
          </a:xfrm>
          <a:prstGeom prst="roundRect">
            <a:avLst>
              <a:gd name="adj" fmla="val 3913"/>
            </a:avLst>
          </a:prstGeom>
          <a:solidFill>
            <a:srgbClr val="11121A"/>
          </a:solidFill>
          <a:ln w="12700">
            <a:solidFill>
              <a:srgbClr val="11121A"/>
            </a:solidFill>
            <a:prstDash val="solid"/>
          </a:ln>
        </p:spPr>
        <p:txBody>
          <a:bodyPr/>
          <a:p/>
        </p:txBody>
      </p:sp>
      <p:sp>
        <p:nvSpPr>
          <p:cNvPr id="18" name="Text 16"/>
          <p:cNvSpPr/>
          <p:nvPr/>
        </p:nvSpPr>
        <p:spPr>
          <a:xfrm>
            <a:off x="868680" y="3931920"/>
            <a:ext cx="10424160" cy="36576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Exemplu din datele românești: mortalitatea infantilă (INS, TEMPO-Online)</a:t>
            </a:r>
            <a:endParaRPr lang="en-US" sz="1500" dirty="0"/>
          </a:p>
        </p:txBody>
      </p:sp>
      <p:sp>
        <p:nvSpPr>
          <p:cNvPr id="19" name="Shape 17"/>
          <p:cNvSpPr/>
          <p:nvPr/>
        </p:nvSpPr>
        <p:spPr>
          <a:xfrm>
            <a:off x="914400" y="4480560"/>
            <a:ext cx="914400" cy="640080"/>
          </a:xfrm>
          <a:prstGeom prst="roundRect">
            <a:avLst>
              <a:gd name="adj" fmla="val 10000"/>
            </a:avLst>
          </a:prstGeom>
          <a:solidFill>
            <a:srgbClr val="FFC24B"/>
          </a:solidFill>
          <a:ln w="12700">
            <a:solidFill>
              <a:srgbClr val="FFC24B"/>
            </a:solidFill>
            <a:prstDash val="solid"/>
          </a:ln>
        </p:spPr>
        <p:txBody>
          <a:bodyPr/>
          <a:p/>
        </p:txBody>
      </p:sp>
      <p:sp>
        <p:nvSpPr>
          <p:cNvPr id="20" name="Text 18"/>
          <p:cNvSpPr/>
          <p:nvPr/>
        </p:nvSpPr>
        <p:spPr>
          <a:xfrm>
            <a:off x="914400" y="4480560"/>
            <a:ext cx="914400" cy="640080"/>
          </a:xfrm>
          <a:prstGeom prst="rect">
            <a:avLst/>
          </a:prstGeom>
          <a:noFill/>
          <a:ln/>
        </p:spPr>
        <p:txBody>
          <a:bodyPr wrap="square" lIns="0" tIns="0" rIns="0" bIns="0" rtlCol="0" anchor="ctr"/>
          <a:lstStyle/>
          <a:p>
            <a:pPr algn="ctr" indent="0" marL="0">
              <a:buNone/>
            </a:pPr>
            <a:r>
              <a:rPr lang="en-US" sz="1800" b="1" dirty="0">
                <a:solidFill>
                  <a:srgbClr val="3D2A00"/>
                </a:solidFill>
                <a:latin typeface="Palatino Linotype" pitchFamily="34" charset="0"/>
                <a:ea typeface="Palatino Linotype" pitchFamily="34" charset="-122"/>
                <a:cs typeface="Palatino Linotype" pitchFamily="34" charset="-120"/>
              </a:rPr>
              <a:t>2012</a:t>
            </a:r>
            <a:endParaRPr lang="en-US" sz="1800" dirty="0"/>
          </a:p>
        </p:txBody>
      </p:sp>
      <p:sp>
        <p:nvSpPr>
          <p:cNvPr id="21" name="Shape 19"/>
          <p:cNvSpPr/>
          <p:nvPr/>
        </p:nvSpPr>
        <p:spPr>
          <a:xfrm>
            <a:off x="1965960" y="4480560"/>
            <a:ext cx="914400" cy="640080"/>
          </a:xfrm>
          <a:prstGeom prst="roundRect">
            <a:avLst>
              <a:gd name="adj" fmla="val 10000"/>
            </a:avLst>
          </a:prstGeom>
          <a:solidFill>
            <a:srgbClr val="FFC24B"/>
          </a:solidFill>
          <a:ln w="12700">
            <a:solidFill>
              <a:srgbClr val="FFC24B"/>
            </a:solidFill>
            <a:prstDash val="solid"/>
          </a:ln>
        </p:spPr>
        <p:txBody>
          <a:bodyPr/>
          <a:p/>
        </p:txBody>
      </p:sp>
      <p:sp>
        <p:nvSpPr>
          <p:cNvPr id="22" name="Text 20"/>
          <p:cNvSpPr/>
          <p:nvPr/>
        </p:nvSpPr>
        <p:spPr>
          <a:xfrm>
            <a:off x="1965960" y="4480560"/>
            <a:ext cx="914400" cy="640080"/>
          </a:xfrm>
          <a:prstGeom prst="rect">
            <a:avLst/>
          </a:prstGeom>
          <a:noFill/>
          <a:ln/>
        </p:spPr>
        <p:txBody>
          <a:bodyPr wrap="square" lIns="0" tIns="0" rIns="0" bIns="0" rtlCol="0" anchor="ctr"/>
          <a:lstStyle/>
          <a:p>
            <a:pPr algn="ctr" indent="0" marL="0">
              <a:buNone/>
            </a:pPr>
            <a:r>
              <a:rPr lang="en-US" sz="1800" b="1" dirty="0">
                <a:solidFill>
                  <a:srgbClr val="3D2A00"/>
                </a:solidFill>
                <a:latin typeface="Palatino Linotype" pitchFamily="34" charset="0"/>
                <a:ea typeface="Palatino Linotype" pitchFamily="34" charset="-122"/>
                <a:cs typeface="Palatino Linotype" pitchFamily="34" charset="-120"/>
              </a:rPr>
              <a:t>2013</a:t>
            </a:r>
            <a:endParaRPr lang="en-US" sz="1800" dirty="0"/>
          </a:p>
        </p:txBody>
      </p:sp>
      <p:sp>
        <p:nvSpPr>
          <p:cNvPr id="23" name="Shape 21"/>
          <p:cNvSpPr/>
          <p:nvPr/>
        </p:nvSpPr>
        <p:spPr>
          <a:xfrm>
            <a:off x="3749040" y="4480560"/>
            <a:ext cx="914400" cy="640080"/>
          </a:xfrm>
          <a:prstGeom prst="roundRect">
            <a:avLst>
              <a:gd name="adj" fmla="val 10000"/>
            </a:avLst>
          </a:prstGeom>
          <a:solidFill>
            <a:srgbClr val="27D3BE"/>
          </a:solidFill>
          <a:ln w="12700">
            <a:solidFill>
              <a:srgbClr val="27D3BE"/>
            </a:solidFill>
            <a:prstDash val="solid"/>
          </a:ln>
        </p:spPr>
        <p:txBody>
          <a:bodyPr/>
          <a:p/>
        </p:txBody>
      </p:sp>
      <p:sp>
        <p:nvSpPr>
          <p:cNvPr id="24" name="Text 22"/>
          <p:cNvSpPr/>
          <p:nvPr/>
        </p:nvSpPr>
        <p:spPr>
          <a:xfrm>
            <a:off x="3749040" y="4480560"/>
            <a:ext cx="914400" cy="640080"/>
          </a:xfrm>
          <a:prstGeom prst="rect">
            <a:avLst/>
          </a:prstGeom>
          <a:noFill/>
          <a:ln/>
        </p:spPr>
        <p:txBody>
          <a:bodyPr wrap="square" lIns="0" tIns="0" rIns="0" bIns="0" rtlCol="0" anchor="ctr"/>
          <a:lstStyle/>
          <a:p>
            <a:pPr algn="ctr" indent="0" marL="0">
              <a:buNone/>
            </a:pPr>
            <a:r>
              <a:rPr lang="en-US" sz="1800" b="1" dirty="0">
                <a:solidFill>
                  <a:srgbClr val="073B34"/>
                </a:solidFill>
                <a:latin typeface="Palatino Linotype" pitchFamily="34" charset="0"/>
                <a:ea typeface="Palatino Linotype" pitchFamily="34" charset="-122"/>
                <a:cs typeface="Palatino Linotype" pitchFamily="34" charset="-120"/>
              </a:rPr>
              <a:t>2014</a:t>
            </a:r>
            <a:endParaRPr lang="en-US" sz="1800" dirty="0"/>
          </a:p>
        </p:txBody>
      </p:sp>
      <p:sp>
        <p:nvSpPr>
          <p:cNvPr id="25" name="Shape 23"/>
          <p:cNvSpPr/>
          <p:nvPr/>
        </p:nvSpPr>
        <p:spPr>
          <a:xfrm>
            <a:off x="3200400" y="4343400"/>
            <a:ext cx="36576" cy="1051560"/>
          </a:xfrm>
          <a:prstGeom prst="rect">
            <a:avLst/>
          </a:prstGeom>
          <a:solidFill>
            <a:srgbClr val="FF4757"/>
          </a:solidFill>
          <a:ln/>
        </p:spPr>
        <p:txBody>
          <a:bodyPr/>
          <a:p/>
        </p:txBody>
      </p:sp>
      <p:sp>
        <p:nvSpPr>
          <p:cNvPr id="26" name="Text 24"/>
          <p:cNvSpPr/>
          <p:nvPr/>
        </p:nvSpPr>
        <p:spPr>
          <a:xfrm>
            <a:off x="914400" y="5212080"/>
            <a:ext cx="2194560" cy="320040"/>
          </a:xfrm>
          <a:prstGeom prst="rect">
            <a:avLst/>
          </a:prstGeom>
          <a:noFill/>
          <a:ln/>
        </p:spPr>
        <p:txBody>
          <a:bodyPr wrap="square" lIns="0" tIns="0" rIns="0" bIns="0" rtlCol="0" anchor="t"/>
          <a:lstStyle/>
          <a:p>
            <a:pPr indent="0" marL="0">
              <a:buNone/>
            </a:pPr>
            <a:r>
              <a:rPr lang="en-US" sz="1300" dirty="0">
                <a:solidFill>
                  <a:srgbClr val="E6E8EF"/>
                </a:solidFill>
                <a:latin typeface="Palatino Linotype" pitchFamily="34" charset="0"/>
                <a:ea typeface="Palatino Linotype" pitchFamily="34" charset="-122"/>
                <a:cs typeface="Palatino Linotype" pitchFamily="34" charset="-120"/>
              </a:rPr>
              <a:t>după domiciliu</a:t>
            </a:r>
            <a:endParaRPr lang="en-US" sz="1300" dirty="0"/>
          </a:p>
        </p:txBody>
      </p:sp>
      <p:sp>
        <p:nvSpPr>
          <p:cNvPr id="27" name="Text 25"/>
          <p:cNvSpPr/>
          <p:nvPr/>
        </p:nvSpPr>
        <p:spPr>
          <a:xfrm>
            <a:off x="3383280" y="5212080"/>
            <a:ext cx="3200400" cy="502920"/>
          </a:xfrm>
          <a:prstGeom prst="rect">
            <a:avLst/>
          </a:prstGeom>
          <a:noFill/>
          <a:ln/>
        </p:spPr>
        <p:txBody>
          <a:bodyPr wrap="square" lIns="0" tIns="0" rIns="0" bIns="0" rtlCol="0" anchor="t"/>
          <a:lstStyle/>
          <a:p>
            <a:pPr indent="0" marL="0">
              <a:buNone/>
            </a:pPr>
            <a:r>
              <a:rPr lang="en-US" sz="1300" dirty="0">
                <a:solidFill>
                  <a:srgbClr val="E6E8EF"/>
                </a:solidFill>
                <a:latin typeface="Palatino Linotype" pitchFamily="34" charset="0"/>
                <a:ea typeface="Palatino Linotype" pitchFamily="34" charset="-122"/>
                <a:cs typeface="Palatino Linotype" pitchFamily="34" charset="-120"/>
              </a:rPr>
              <a:t>din 2014, după reședința obișnuită</a:t>
            </a:r>
            <a:endParaRPr lang="en-US" sz="1300" dirty="0"/>
          </a:p>
        </p:txBody>
      </p:sp>
      <p:sp>
        <p:nvSpPr>
          <p:cNvPr id="28" name="Text 26"/>
          <p:cNvSpPr/>
          <p:nvPr/>
        </p:nvSpPr>
        <p:spPr>
          <a:xfrm>
            <a:off x="6949440" y="4480560"/>
            <a:ext cx="4389120" cy="10972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La grafic: o linie verticală și o notă sub grafic.</a:t>
            </a:r>
            <a:endParaRPr lang="en-US" sz="1700" dirty="0"/>
          </a:p>
        </p:txBody>
      </p:sp>
      <p:sp>
        <p:nvSpPr>
          <p:cNvPr id="29" name="Text 27"/>
          <p:cNvSpPr/>
          <p:nvPr/>
        </p:nvSpPr>
        <p:spPr>
          <a:xfrm>
            <a:off x="594360" y="6382512"/>
            <a:ext cx="10241280" cy="274320"/>
          </a:xfrm>
          <a:prstGeom prst="rect">
            <a:avLst/>
          </a:prstGeom>
          <a:noFill/>
          <a:ln/>
        </p:spPr>
        <p:txBody>
          <a:bodyPr wrap="square" lIns="0" tIns="0" rIns="0" bIns="0" rtlCol="0" anchor="ctr"/>
          <a:lstStyle/>
          <a:p>
            <a:pPr indent="0" marL="0">
              <a:buNone/>
            </a:pPr>
            <a:r>
              <a:rPr lang="en-US" sz="1100" i="1" dirty="0">
                <a:solidFill>
                  <a:srgbClr val="585A64"/>
                </a:solidFill>
                <a:latin typeface="Palatino Linotype" pitchFamily="34" charset="0"/>
                <a:ea typeface="Palatino Linotype" pitchFamily="34" charset="-122"/>
                <a:cs typeface="Palatino Linotype" pitchFamily="34" charset="-120"/>
              </a:rPr>
              <a:t>Sursa: Eurostat, setul sdg_11_40; Institutul Național de Statistică, TEMPO-Online.</a:t>
            </a:r>
            <a:endParaRPr lang="en-US" sz="11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LIMITELE CIFRELOR</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nu putem afirma din aceste date</a:t>
            </a:r>
            <a:endParaRPr lang="en-US" sz="3200" dirty="0"/>
          </a:p>
        </p:txBody>
      </p:sp>
      <p:sp>
        <p:nvSpPr>
          <p:cNvPr id="4" name="Shape 2"/>
          <p:cNvSpPr/>
          <p:nvPr/>
        </p:nvSpPr>
        <p:spPr>
          <a:xfrm>
            <a:off x="594360" y="169164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5" name="Shape 3"/>
          <p:cNvSpPr/>
          <p:nvPr/>
        </p:nvSpPr>
        <p:spPr>
          <a:xfrm>
            <a:off x="914400" y="1961388"/>
            <a:ext cx="420624" cy="420624"/>
          </a:xfrm>
          <a:prstGeom prst="ellipse">
            <a:avLst/>
          </a:prstGeom>
          <a:solidFill>
            <a:srgbClr val="FF4757"/>
          </a:solidFill>
          <a:ln/>
        </p:spPr>
        <p:txBody>
          <a:bodyPr/>
          <a:p/>
        </p:txBody>
      </p:sp>
      <p:sp>
        <p:nvSpPr>
          <p:cNvPr id="6" name="Text 4"/>
          <p:cNvSpPr/>
          <p:nvPr/>
        </p:nvSpPr>
        <p:spPr>
          <a:xfrm>
            <a:off x="914400" y="196138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1691640"/>
            <a:ext cx="9692640" cy="96012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Că drumurile României sunt cele mai periculoase din Uniune: rata raportează decesele la locuitori, nu la kilometri sau la vehicule.</a:t>
            </a:r>
            <a:endParaRPr lang="en-US" sz="1650" dirty="0"/>
          </a:p>
        </p:txBody>
      </p:sp>
      <p:sp>
        <p:nvSpPr>
          <p:cNvPr id="8" name="Shape 6"/>
          <p:cNvSpPr/>
          <p:nvPr/>
        </p:nvSpPr>
        <p:spPr>
          <a:xfrm>
            <a:off x="594360" y="278892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9" name="Shape 7"/>
          <p:cNvSpPr/>
          <p:nvPr/>
        </p:nvSpPr>
        <p:spPr>
          <a:xfrm>
            <a:off x="914400" y="3058668"/>
            <a:ext cx="420624" cy="420624"/>
          </a:xfrm>
          <a:prstGeom prst="ellipse">
            <a:avLst/>
          </a:prstGeom>
          <a:solidFill>
            <a:srgbClr val="FF4757"/>
          </a:solidFill>
          <a:ln/>
        </p:spPr>
        <p:txBody>
          <a:bodyPr/>
          <a:p/>
        </p:txBody>
      </p:sp>
      <p:sp>
        <p:nvSpPr>
          <p:cNvPr id="10" name="Text 8"/>
          <p:cNvSpPr/>
          <p:nvPr/>
        </p:nvSpPr>
        <p:spPr>
          <a:xfrm>
            <a:off x="914400" y="305866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2</a:t>
            </a:r>
            <a:endParaRPr lang="en-US" sz="1400" dirty="0"/>
          </a:p>
        </p:txBody>
      </p:sp>
      <p:sp>
        <p:nvSpPr>
          <p:cNvPr id="11" name="Text 9"/>
          <p:cNvSpPr/>
          <p:nvPr/>
        </p:nvSpPr>
        <p:spPr>
          <a:xfrm>
            <a:off x="1600200" y="2788920"/>
            <a:ext cx="9692640" cy="96012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De ce a scăzut numărul deceselor după 2017: datele numără, dar nu explică.</a:t>
            </a:r>
            <a:endParaRPr lang="en-US" sz="1650" dirty="0"/>
          </a:p>
        </p:txBody>
      </p:sp>
      <p:sp>
        <p:nvSpPr>
          <p:cNvPr id="12" name="Shape 10"/>
          <p:cNvSpPr/>
          <p:nvPr/>
        </p:nvSpPr>
        <p:spPr>
          <a:xfrm>
            <a:off x="594360" y="388620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13" name="Shape 11"/>
          <p:cNvSpPr/>
          <p:nvPr/>
        </p:nvSpPr>
        <p:spPr>
          <a:xfrm>
            <a:off x="914400" y="4155948"/>
            <a:ext cx="420624" cy="420624"/>
          </a:xfrm>
          <a:prstGeom prst="ellipse">
            <a:avLst/>
          </a:prstGeom>
          <a:solidFill>
            <a:srgbClr val="FF4757"/>
          </a:solidFill>
          <a:ln/>
        </p:spPr>
        <p:txBody>
          <a:bodyPr/>
          <a:p/>
        </p:txBody>
      </p:sp>
      <p:sp>
        <p:nvSpPr>
          <p:cNvPr id="14" name="Text 12"/>
          <p:cNvSpPr/>
          <p:nvPr/>
        </p:nvSpPr>
        <p:spPr>
          <a:xfrm>
            <a:off x="914400" y="415594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3</a:t>
            </a:r>
            <a:endParaRPr lang="en-US" sz="1400" dirty="0"/>
          </a:p>
        </p:txBody>
      </p:sp>
      <p:sp>
        <p:nvSpPr>
          <p:cNvPr id="15" name="Text 13"/>
          <p:cNvSpPr/>
          <p:nvPr/>
        </p:nvSpPr>
        <p:spPr>
          <a:xfrm>
            <a:off x="1600200" y="3886200"/>
            <a:ext cx="9692640" cy="96012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Că cifrele din 2024 sunt definitive: rata României este estimată, iar a Uniunii, estimată și provizorie.</a:t>
            </a:r>
            <a:endParaRPr lang="en-US" sz="1650" dirty="0"/>
          </a:p>
        </p:txBody>
      </p:sp>
      <p:sp>
        <p:nvSpPr>
          <p:cNvPr id="16" name="Shape 14"/>
          <p:cNvSpPr/>
          <p:nvPr/>
        </p:nvSpPr>
        <p:spPr>
          <a:xfrm>
            <a:off x="594360" y="4983480"/>
            <a:ext cx="10972800" cy="960120"/>
          </a:xfrm>
          <a:prstGeom prst="roundRect">
            <a:avLst>
              <a:gd name="adj" fmla="val 8571"/>
            </a:avLst>
          </a:prstGeom>
          <a:solidFill>
            <a:srgbClr val="1D1F2B"/>
          </a:solidFill>
          <a:ln w="12700">
            <a:solidFill>
              <a:srgbClr val="1D1F2B"/>
            </a:solidFill>
            <a:prstDash val="solid"/>
          </a:ln>
        </p:spPr>
        <p:txBody>
          <a:bodyPr/>
          <a:p/>
        </p:txBody>
      </p:sp>
      <p:sp>
        <p:nvSpPr>
          <p:cNvPr id="17" name="Shape 15"/>
          <p:cNvSpPr/>
          <p:nvPr/>
        </p:nvSpPr>
        <p:spPr>
          <a:xfrm>
            <a:off x="914400" y="5253228"/>
            <a:ext cx="420624" cy="420624"/>
          </a:xfrm>
          <a:prstGeom prst="ellipse">
            <a:avLst/>
          </a:prstGeom>
          <a:solidFill>
            <a:srgbClr val="FF4757"/>
          </a:solidFill>
          <a:ln/>
        </p:spPr>
        <p:txBody>
          <a:bodyPr/>
          <a:p/>
        </p:txBody>
      </p:sp>
      <p:sp>
        <p:nvSpPr>
          <p:cNvPr id="18" name="Text 16"/>
          <p:cNvSpPr/>
          <p:nvPr/>
        </p:nvSpPr>
        <p:spPr>
          <a:xfrm>
            <a:off x="914400" y="5253228"/>
            <a:ext cx="420624" cy="420624"/>
          </a:xfrm>
          <a:prstGeom prst="rect">
            <a:avLst/>
          </a:prstGeom>
          <a:noFill/>
          <a:ln/>
        </p:spPr>
        <p:txBody>
          <a:bodyPr wrap="square" lIns="0" tIns="0" rIns="0" bIns="0" rtlCol="0" anchor="ctr"/>
          <a:lstStyle/>
          <a:p>
            <a:pPr algn="ctr" indent="0" marL="0">
              <a:buNone/>
            </a:pPr>
            <a:r>
              <a:rPr lang="en-US" sz="1400" b="1" dirty="0">
                <a:solidFill>
                  <a:srgbClr val="2E060B"/>
                </a:solidFill>
                <a:latin typeface="Palatino Linotype" pitchFamily="34" charset="0"/>
                <a:ea typeface="Palatino Linotype" pitchFamily="34" charset="-122"/>
                <a:cs typeface="Palatino Linotype" pitchFamily="34" charset="-120"/>
              </a:rPr>
              <a:t>4</a:t>
            </a:r>
            <a:endParaRPr lang="en-US" sz="1400" dirty="0"/>
          </a:p>
        </p:txBody>
      </p:sp>
      <p:sp>
        <p:nvSpPr>
          <p:cNvPr id="19" name="Text 17"/>
          <p:cNvSpPr/>
          <p:nvPr/>
        </p:nvSpPr>
        <p:spPr>
          <a:xfrm>
            <a:off x="1600200" y="4983480"/>
            <a:ext cx="9692640" cy="96012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Câți oameni mor, în total, din cauza accidentelor: cifra nu cuprinde decesele de după 30 de zile.</a:t>
            </a:r>
            <a:endParaRPr lang="en-US" sz="16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PERECHI ȘI DOUĂ TABERE</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AȚI CREDE ACEST TITLU?</a:t>
            </a:r>
            <a:endParaRPr lang="en-US" sz="1300" dirty="0"/>
          </a:p>
        </p:txBody>
      </p:sp>
      <p:sp>
        <p:nvSpPr>
          <p:cNvPr id="5" name="Shape 3"/>
          <p:cNvSpPr/>
          <p:nvPr/>
        </p:nvSpPr>
        <p:spPr>
          <a:xfrm rot="-120000">
            <a:off x="822960" y="1325880"/>
            <a:ext cx="6035040" cy="4343400"/>
          </a:xfrm>
          <a:prstGeom prst="rect">
            <a:avLst/>
          </a:prstGeom>
          <a:solidFill>
            <a:srgbClr val="FBF8F1"/>
          </a:solidFill>
          <a:ln w="9525">
            <a:solidFill>
              <a:srgbClr val="E4DFD2"/>
            </a:solidFill>
            <a:prstDash val="solid"/>
          </a:ln>
          <a:effectLst>
            <a:outerShdw sx="100000" sy="100000" kx="0" ky="0" algn="bl" rotWithShape="0" blurRad="127000" dist="63500" dir="3600000">
              <a:srgbClr val="000000">
                <a:alpha val="45000"/>
              </a:srgbClr>
            </a:outerShdw>
          </a:effectLst>
        </p:spPr>
        <p:txBody>
          <a:bodyPr/>
          <a:p/>
        </p:txBody>
      </p:sp>
      <p:sp>
        <p:nvSpPr>
          <p:cNvPr id="6" name="Text 4"/>
          <p:cNvSpPr/>
          <p:nvPr/>
        </p:nvSpPr>
        <p:spPr>
          <a:xfrm rot="-120000">
            <a:off x="1188720" y="1600200"/>
            <a:ext cx="5303520" cy="274320"/>
          </a:xfrm>
          <a:prstGeom prst="rect">
            <a:avLst/>
          </a:prstGeom>
          <a:noFill/>
          <a:ln/>
        </p:spPr>
        <p:txBody>
          <a:bodyPr wrap="square" lIns="0" tIns="0" rIns="0" bIns="0" rtlCol="0" anchor="t"/>
          <a:lstStyle/>
          <a:p>
            <a:pPr indent="0" marL="0">
              <a:buNone/>
            </a:pPr>
            <a:r>
              <a:rPr lang="en-US" sz="1100" b="1" spc="200" kern="0" dirty="0">
                <a:solidFill>
                  <a:srgbClr val="B02532"/>
                </a:solidFill>
                <a:latin typeface="Palatino Linotype" pitchFamily="34" charset="0"/>
                <a:ea typeface="Palatino Linotype" pitchFamily="34" charset="-122"/>
                <a:cs typeface="Palatino Linotype" pitchFamily="34" charset="-120"/>
              </a:rPr>
              <a:t>ȘTIRI · TITLU CONSTRUIT PENTRU EXERCIȚIU</a:t>
            </a:r>
            <a:endParaRPr lang="en-US" sz="1100" dirty="0"/>
          </a:p>
        </p:txBody>
      </p:sp>
      <p:sp>
        <p:nvSpPr>
          <p:cNvPr id="7" name="Shape 5"/>
          <p:cNvSpPr/>
          <p:nvPr/>
        </p:nvSpPr>
        <p:spPr>
          <a:xfrm rot="-120000">
            <a:off x="1188720" y="1965960"/>
            <a:ext cx="5303520" cy="18288"/>
          </a:xfrm>
          <a:prstGeom prst="rect">
            <a:avLst/>
          </a:prstGeom>
          <a:solidFill>
            <a:srgbClr val="11121A"/>
          </a:solidFill>
          <a:ln/>
        </p:spPr>
        <p:txBody>
          <a:bodyPr/>
          <a:p/>
        </p:txBody>
      </p:sp>
      <p:sp>
        <p:nvSpPr>
          <p:cNvPr id="8" name="Text 6"/>
          <p:cNvSpPr/>
          <p:nvPr/>
        </p:nvSpPr>
        <p:spPr>
          <a:xfrm rot="-120000">
            <a:off x="1188720" y="2148840"/>
            <a:ext cx="5303520" cy="2286000"/>
          </a:xfrm>
          <a:prstGeom prst="rect">
            <a:avLst/>
          </a:prstGeom>
          <a:noFill/>
          <a:ln/>
        </p:spPr>
        <p:txBody>
          <a:bodyPr wrap="square" lIns="0" tIns="0" rIns="0" bIns="0" rtlCol="0" anchor="t"/>
          <a:lstStyle/>
          <a:p>
            <a:pPr indent="0" marL="0">
              <a:buNone/>
            </a:pPr>
            <a:r>
              <a:rPr lang="en-US" sz="2700" b="1" dirty="0">
                <a:solidFill>
                  <a:srgbClr val="11121A"/>
                </a:solidFill>
                <a:latin typeface="Palatino Linotype" pitchFamily="34" charset="0"/>
                <a:ea typeface="Palatino Linotype" pitchFamily="34" charset="-122"/>
                <a:cs typeface="Palatino Linotype" pitchFamily="34" charset="-120"/>
              </a:rPr>
              <a:t>Drumurile din România, mult mai sigure decât cele din Uniunea Europeană: 1 478 de decese, față de 19 933</a:t>
            </a:r>
            <a:endParaRPr lang="en-US" sz="2700" dirty="0"/>
          </a:p>
        </p:txBody>
      </p:sp>
      <p:sp>
        <p:nvSpPr>
          <p:cNvPr id="9" name="Shape 7"/>
          <p:cNvSpPr/>
          <p:nvPr/>
        </p:nvSpPr>
        <p:spPr>
          <a:xfrm rot="-120000">
            <a:off x="1188720" y="4572000"/>
            <a:ext cx="5303520" cy="91440"/>
          </a:xfrm>
          <a:prstGeom prst="rect">
            <a:avLst/>
          </a:prstGeom>
          <a:solidFill>
            <a:srgbClr val="D9D5CA"/>
          </a:solidFill>
          <a:ln/>
        </p:spPr>
        <p:txBody>
          <a:bodyPr/>
          <a:p/>
        </p:txBody>
      </p:sp>
      <p:sp>
        <p:nvSpPr>
          <p:cNvPr id="10" name="Shape 8"/>
          <p:cNvSpPr/>
          <p:nvPr/>
        </p:nvSpPr>
        <p:spPr>
          <a:xfrm rot="-120000">
            <a:off x="1188720" y="4892040"/>
            <a:ext cx="5303520" cy="91440"/>
          </a:xfrm>
          <a:prstGeom prst="rect">
            <a:avLst/>
          </a:prstGeom>
          <a:solidFill>
            <a:srgbClr val="D9D5CA"/>
          </a:solidFill>
          <a:ln/>
        </p:spPr>
        <p:txBody>
          <a:bodyPr/>
          <a:p/>
        </p:txBody>
      </p:sp>
      <p:sp>
        <p:nvSpPr>
          <p:cNvPr id="11" name="Shape 9"/>
          <p:cNvSpPr/>
          <p:nvPr/>
        </p:nvSpPr>
        <p:spPr>
          <a:xfrm rot="-120000">
            <a:off x="1188720" y="5212080"/>
            <a:ext cx="2743200" cy="91440"/>
          </a:xfrm>
          <a:prstGeom prst="rect">
            <a:avLst/>
          </a:prstGeom>
          <a:solidFill>
            <a:srgbClr val="D9D5CA"/>
          </a:solidFill>
          <a:ln/>
        </p:spPr>
        <p:txBody>
          <a:bodyPr/>
          <a:p/>
        </p:txBody>
      </p:sp>
      <p:sp>
        <p:nvSpPr>
          <p:cNvPr id="12" name="Text 10"/>
          <p:cNvSpPr/>
          <p:nvPr/>
        </p:nvSpPr>
        <p:spPr>
          <a:xfrm>
            <a:off x="822960" y="5989320"/>
            <a:ext cx="6035040" cy="274320"/>
          </a:xfrm>
          <a:prstGeom prst="rect">
            <a:avLst/>
          </a:prstGeom>
          <a:noFill/>
          <a:ln/>
        </p:spPr>
        <p:txBody>
          <a:bodyPr wrap="square" lIns="0" tIns="0" rIns="0" bIns="0" rtlCol="0" anchor="t"/>
          <a:lstStyle/>
          <a:p>
            <a:pPr indent="0" marL="0">
              <a:buNone/>
            </a:pPr>
            <a:r>
              <a:rPr lang="en-US" sz="1100" i="1" dirty="0">
                <a:solidFill>
                  <a:srgbClr val="8E94A8"/>
                </a:solidFill>
                <a:latin typeface="Palatino Linotype" pitchFamily="34" charset="0"/>
                <a:ea typeface="Palatino Linotype" pitchFamily="34" charset="-122"/>
                <a:cs typeface="Palatino Linotype" pitchFamily="34" charset="-120"/>
              </a:rPr>
              <a:t>Reconstituire pentru exercițiu; nu este un titlu real de presă.</a:t>
            </a:r>
            <a:endParaRPr lang="en-US" sz="1100" dirty="0"/>
          </a:p>
        </p:txBody>
      </p:sp>
      <p:sp>
        <p:nvSpPr>
          <p:cNvPr id="13" name="Shape 11"/>
          <p:cNvSpPr/>
          <p:nvPr/>
        </p:nvSpPr>
        <p:spPr>
          <a:xfrm>
            <a:off x="7498080" y="1417320"/>
            <a:ext cx="4069080" cy="2011680"/>
          </a:xfrm>
          <a:prstGeom prst="roundRect">
            <a:avLst>
              <a:gd name="adj" fmla="val 4091"/>
            </a:avLst>
          </a:prstGeom>
          <a:solidFill>
            <a:srgbClr val="1D1F2B"/>
          </a:solidFill>
          <a:ln w="12700">
            <a:solidFill>
              <a:srgbClr val="1D1F2B"/>
            </a:solidFill>
            <a:prstDash val="solid"/>
          </a:ln>
        </p:spPr>
        <p:txBody>
          <a:bodyPr/>
          <a:p/>
        </p:txBody>
      </p:sp>
      <p:sp>
        <p:nvSpPr>
          <p:cNvPr id="14" name="Shape 12"/>
          <p:cNvSpPr/>
          <p:nvPr/>
        </p:nvSpPr>
        <p:spPr>
          <a:xfrm>
            <a:off x="7772400" y="1645920"/>
            <a:ext cx="457200" cy="457200"/>
          </a:xfrm>
          <a:prstGeom prst="ellipse">
            <a:avLst/>
          </a:prstGeom>
          <a:solidFill>
            <a:srgbClr val="FFC24B"/>
          </a:solidFill>
          <a:ln/>
        </p:spPr>
        <p:txBody>
          <a:bodyPr/>
          <a:p/>
        </p:txBody>
      </p:sp>
      <p:sp>
        <p:nvSpPr>
          <p:cNvPr id="15" name="Text 13"/>
          <p:cNvSpPr/>
          <p:nvPr/>
        </p:nvSpPr>
        <p:spPr>
          <a:xfrm>
            <a:off x="7772400" y="1645920"/>
            <a:ext cx="457200" cy="457200"/>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16" name="Text 14"/>
          <p:cNvSpPr/>
          <p:nvPr/>
        </p:nvSpPr>
        <p:spPr>
          <a:xfrm>
            <a:off x="8412480" y="1417320"/>
            <a:ext cx="3017520" cy="201168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În perechi, două minute: ce lipsește din titlu?</a:t>
            </a:r>
            <a:endParaRPr lang="en-US" sz="1700" dirty="0"/>
          </a:p>
        </p:txBody>
      </p:sp>
      <p:sp>
        <p:nvSpPr>
          <p:cNvPr id="17" name="Shape 15"/>
          <p:cNvSpPr/>
          <p:nvPr/>
        </p:nvSpPr>
        <p:spPr>
          <a:xfrm>
            <a:off x="7498080" y="3611880"/>
            <a:ext cx="1965960" cy="1828800"/>
          </a:xfrm>
          <a:prstGeom prst="roundRect">
            <a:avLst>
              <a:gd name="adj" fmla="val 4500"/>
            </a:avLst>
          </a:prstGeom>
          <a:solidFill>
            <a:srgbClr val="07564B"/>
          </a:solidFill>
          <a:ln w="12700">
            <a:solidFill>
              <a:srgbClr val="07564B"/>
            </a:solidFill>
            <a:prstDash val="solid"/>
          </a:ln>
        </p:spPr>
        <p:txBody>
          <a:bodyPr/>
          <a:p/>
        </p:txBody>
      </p:sp>
      <p:sp>
        <p:nvSpPr>
          <p:cNvPr id="18" name="Shape 16"/>
          <p:cNvSpPr/>
          <p:nvPr/>
        </p:nvSpPr>
        <p:spPr>
          <a:xfrm>
            <a:off x="9601200" y="3611880"/>
            <a:ext cx="1965960" cy="1828800"/>
          </a:xfrm>
          <a:prstGeom prst="roundRect">
            <a:avLst>
              <a:gd name="adj" fmla="val 4500"/>
            </a:avLst>
          </a:prstGeom>
          <a:solidFill>
            <a:srgbClr val="7A2230"/>
          </a:solidFill>
          <a:ln w="12700">
            <a:solidFill>
              <a:srgbClr val="7A2230"/>
            </a:solidFill>
            <a:prstDash val="solid"/>
          </a:ln>
        </p:spPr>
        <p:txBody>
          <a:bodyPr/>
          <a:p/>
        </p:txBody>
      </p:sp>
      <p:sp>
        <p:nvSpPr>
          <p:cNvPr id="19" name="Text 17"/>
          <p:cNvSpPr/>
          <p:nvPr/>
        </p:nvSpPr>
        <p:spPr>
          <a:xfrm>
            <a:off x="7680960" y="3611880"/>
            <a:ext cx="1645920" cy="1828800"/>
          </a:xfrm>
          <a:prstGeom prst="rect">
            <a:avLst/>
          </a:prstGeom>
          <a:noFill/>
          <a:ln/>
        </p:spPr>
        <p:txBody>
          <a:bodyPr wrap="square" lIns="0" tIns="0" rIns="0" bIns="0" rtlCol="0" anchor="ctr"/>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Tabăra 1</a:t>
            </a:r>
            <a:endParaRPr lang="en-US" sz="1400" dirty="0"/>
          </a:p>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L-ați crede</a:t>
            </a:r>
            <a:endParaRPr lang="en-US" sz="1400" dirty="0"/>
          </a:p>
        </p:txBody>
      </p:sp>
      <p:sp>
        <p:nvSpPr>
          <p:cNvPr id="20" name="Text 18"/>
          <p:cNvSpPr/>
          <p:nvPr/>
        </p:nvSpPr>
        <p:spPr>
          <a:xfrm>
            <a:off x="9784080" y="3611880"/>
            <a:ext cx="1645920" cy="1828800"/>
          </a:xfrm>
          <a:prstGeom prst="rect">
            <a:avLst/>
          </a:prstGeom>
          <a:noFill/>
          <a:ln/>
        </p:spPr>
        <p:txBody>
          <a:bodyPr wrap="square" lIns="0" tIns="0" rIns="0" bIns="0" rtlCol="0" anchor="ctr"/>
          <a:lstStyle/>
          <a:p>
            <a:pPr indent="0" marL="0">
              <a:buNone/>
            </a:pPr>
            <a:r>
              <a:rPr lang="en-US" sz="1400" b="1" dirty="0">
                <a:solidFill>
                  <a:srgbClr val="FFC24B"/>
                </a:solidFill>
                <a:latin typeface="Palatino Linotype" pitchFamily="34" charset="0"/>
                <a:ea typeface="Palatino Linotype" pitchFamily="34" charset="-122"/>
                <a:cs typeface="Palatino Linotype" pitchFamily="34" charset="-120"/>
              </a:rPr>
              <a:t>Tabăra 2</a:t>
            </a:r>
            <a:endParaRPr lang="en-US" sz="1400" dirty="0"/>
          </a:p>
          <a:p>
            <a:pPr indent="0" marL="0">
              <a:buNone/>
            </a:pPr>
            <a:r>
              <a:rPr lang="en-US" sz="2000" b="1" dirty="0">
                <a:solidFill>
                  <a:srgbClr val="FFFFFF"/>
                </a:solidFill>
                <a:latin typeface="Palatino Linotype" pitchFamily="34" charset="0"/>
                <a:ea typeface="Palatino Linotype" pitchFamily="34" charset="-122"/>
                <a:cs typeface="Palatino Linotype" pitchFamily="34" charset="-120"/>
              </a:rPr>
              <a:t>Nu l-ați crede</a:t>
            </a:r>
            <a:endParaRPr lang="en-US" sz="1400" dirty="0"/>
          </a:p>
        </p:txBody>
      </p:sp>
      <p:sp>
        <p:nvSpPr>
          <p:cNvPr id="21" name="Text 19"/>
          <p:cNvSpPr/>
          <p:nvPr/>
        </p:nvSpPr>
        <p:spPr>
          <a:xfrm>
            <a:off x="7498080" y="5577840"/>
            <a:ext cx="4069080" cy="54864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Un voluntar din fiecare tabără își spune argumentul într-un minut.</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LIPSEȘTE DIN TITLU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Cifre corecte, concluzie falsă</a:t>
            </a:r>
            <a:endParaRPr lang="en-US" sz="3200" dirty="0"/>
          </a:p>
        </p:txBody>
      </p:sp>
      <p:sp>
        <p:nvSpPr>
          <p:cNvPr id="4" name="Shape 2"/>
          <p:cNvSpPr/>
          <p:nvPr/>
        </p:nvSpPr>
        <p:spPr>
          <a:xfrm>
            <a:off x="594360" y="169164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5" name="Text 3"/>
          <p:cNvSpPr/>
          <p:nvPr/>
        </p:nvSpPr>
        <p:spPr>
          <a:xfrm>
            <a:off x="868680" y="1691640"/>
            <a:ext cx="2743200" cy="960120"/>
          </a:xfrm>
          <a:prstGeom prst="rect">
            <a:avLst/>
          </a:prstGeom>
          <a:noFill/>
          <a:ln/>
        </p:spPr>
        <p:txBody>
          <a:bodyPr wrap="square" lIns="0" tIns="0" rIns="0" bIns="0" rtlCol="0" anchor="ctr"/>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Cifrele din titlu</a:t>
            </a:r>
            <a:endParaRPr lang="en-US" sz="1900" dirty="0"/>
          </a:p>
        </p:txBody>
      </p:sp>
      <p:sp>
        <p:nvSpPr>
          <p:cNvPr id="6" name="Shape 4"/>
          <p:cNvSpPr/>
          <p:nvPr/>
        </p:nvSpPr>
        <p:spPr>
          <a:xfrm>
            <a:off x="3657600" y="2002536"/>
            <a:ext cx="1645920" cy="329184"/>
          </a:xfrm>
          <a:prstGeom prst="roundRect">
            <a:avLst>
              <a:gd name="adj" fmla="val 50000"/>
            </a:avLst>
          </a:prstGeom>
          <a:solidFill>
            <a:srgbClr val="0E7C6B"/>
          </a:solidFill>
          <a:ln w="12700">
            <a:solidFill>
              <a:srgbClr val="0E7C6B"/>
            </a:solidFill>
            <a:prstDash val="solid"/>
          </a:ln>
        </p:spPr>
        <p:txBody>
          <a:bodyPr/>
          <a:p/>
        </p:txBody>
      </p:sp>
      <p:sp>
        <p:nvSpPr>
          <p:cNvPr id="7" name="Text 5"/>
          <p:cNvSpPr/>
          <p:nvPr/>
        </p:nvSpPr>
        <p:spPr>
          <a:xfrm>
            <a:off x="3657600" y="2002536"/>
            <a:ext cx="164592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CORECTE</a:t>
            </a:r>
            <a:endParaRPr lang="en-US" sz="1300" dirty="0"/>
          </a:p>
        </p:txBody>
      </p:sp>
      <p:sp>
        <p:nvSpPr>
          <p:cNvPr id="8" name="Text 6"/>
          <p:cNvSpPr/>
          <p:nvPr/>
        </p:nvSpPr>
        <p:spPr>
          <a:xfrm>
            <a:off x="5577840" y="1691640"/>
            <a:ext cx="5852160" cy="96012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Au sursă: 1 478 în România, 19 933 în Uniune.</a:t>
            </a:r>
            <a:endParaRPr lang="en-US" sz="1650" dirty="0"/>
          </a:p>
        </p:txBody>
      </p:sp>
      <p:sp>
        <p:nvSpPr>
          <p:cNvPr id="9" name="Shape 7"/>
          <p:cNvSpPr/>
          <p:nvPr/>
        </p:nvSpPr>
        <p:spPr>
          <a:xfrm>
            <a:off x="594360" y="2788920"/>
            <a:ext cx="10972800" cy="960120"/>
          </a:xfrm>
          <a:prstGeom prst="roundRect">
            <a:avLst>
              <a:gd name="adj" fmla="val 8571"/>
            </a:avLst>
          </a:prstGeom>
          <a:solidFill>
            <a:srgbClr val="F9F8F5"/>
          </a:solidFill>
          <a:ln w="12700">
            <a:solidFill>
              <a:srgbClr val="F9F8F5"/>
            </a:solidFill>
            <a:prstDash val="solid"/>
          </a:ln>
        </p:spPr>
        <p:txBody>
          <a:bodyPr/>
          <a:p/>
        </p:txBody>
      </p:sp>
      <p:sp>
        <p:nvSpPr>
          <p:cNvPr id="10" name="Text 8"/>
          <p:cNvSpPr/>
          <p:nvPr/>
        </p:nvSpPr>
        <p:spPr>
          <a:xfrm>
            <a:off x="868680" y="2788920"/>
            <a:ext cx="2743200" cy="960120"/>
          </a:xfrm>
          <a:prstGeom prst="rect">
            <a:avLst/>
          </a:prstGeom>
          <a:noFill/>
          <a:ln/>
        </p:spPr>
        <p:txBody>
          <a:bodyPr wrap="square" lIns="0" tIns="0" rIns="0" bIns="0" rtlCol="0" anchor="ctr"/>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Concluzia</a:t>
            </a:r>
            <a:endParaRPr lang="en-US" sz="1900" dirty="0"/>
          </a:p>
        </p:txBody>
      </p:sp>
      <p:sp>
        <p:nvSpPr>
          <p:cNvPr id="11" name="Shape 9"/>
          <p:cNvSpPr/>
          <p:nvPr/>
        </p:nvSpPr>
        <p:spPr>
          <a:xfrm>
            <a:off x="3657600" y="3099816"/>
            <a:ext cx="1645920" cy="329184"/>
          </a:xfrm>
          <a:prstGeom prst="roundRect">
            <a:avLst>
              <a:gd name="adj" fmla="val 50000"/>
            </a:avLst>
          </a:prstGeom>
          <a:solidFill>
            <a:srgbClr val="B02532"/>
          </a:solidFill>
          <a:ln w="12700">
            <a:solidFill>
              <a:srgbClr val="B02532"/>
            </a:solidFill>
            <a:prstDash val="solid"/>
          </a:ln>
        </p:spPr>
        <p:txBody>
          <a:bodyPr/>
          <a:p/>
        </p:txBody>
      </p:sp>
      <p:sp>
        <p:nvSpPr>
          <p:cNvPr id="12" name="Text 10"/>
          <p:cNvSpPr/>
          <p:nvPr/>
        </p:nvSpPr>
        <p:spPr>
          <a:xfrm>
            <a:off x="3657600" y="3099816"/>
            <a:ext cx="164592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FALSĂ</a:t>
            </a:r>
            <a:endParaRPr lang="en-US" sz="1300" dirty="0"/>
          </a:p>
        </p:txBody>
      </p:sp>
      <p:sp>
        <p:nvSpPr>
          <p:cNvPr id="13" name="Text 11"/>
          <p:cNvSpPr/>
          <p:nvPr/>
        </p:nvSpPr>
        <p:spPr>
          <a:xfrm>
            <a:off x="5577840" y="2788920"/>
            <a:ext cx="5852160" cy="96012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Compară numere din populații de mărimi foarte diferite.</a:t>
            </a:r>
            <a:endParaRPr lang="en-US" sz="1650" dirty="0"/>
          </a:p>
        </p:txBody>
      </p:sp>
      <p:sp>
        <p:nvSpPr>
          <p:cNvPr id="14" name="Shape 12"/>
          <p:cNvSpPr/>
          <p:nvPr/>
        </p:nvSpPr>
        <p:spPr>
          <a:xfrm>
            <a:off x="594360" y="388620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15" name="Text 13"/>
          <p:cNvSpPr/>
          <p:nvPr/>
        </p:nvSpPr>
        <p:spPr>
          <a:xfrm>
            <a:off x="868680" y="3886200"/>
            <a:ext cx="2743200" cy="960120"/>
          </a:xfrm>
          <a:prstGeom prst="rect">
            <a:avLst/>
          </a:prstGeom>
          <a:noFill/>
          <a:ln/>
        </p:spPr>
        <p:txBody>
          <a:bodyPr wrap="square" lIns="0" tIns="0" rIns="0" bIns="0" rtlCol="0" anchor="ctr"/>
          <a:lstStyle/>
          <a:p>
            <a:pPr indent="0" marL="0">
              <a:buNone/>
            </a:pPr>
            <a:r>
              <a:rPr lang="en-US" sz="1900" b="1" dirty="0">
                <a:solidFill>
                  <a:srgbClr val="11121A"/>
                </a:solidFill>
                <a:latin typeface="Palatino Linotype" pitchFamily="34" charset="0"/>
                <a:ea typeface="Palatino Linotype" pitchFamily="34" charset="-122"/>
                <a:cs typeface="Palatino Linotype" pitchFamily="34" charset="-120"/>
              </a:rPr>
              <a:t>Rata</a:t>
            </a:r>
            <a:endParaRPr lang="en-US" sz="1900" dirty="0"/>
          </a:p>
        </p:txBody>
      </p:sp>
      <p:sp>
        <p:nvSpPr>
          <p:cNvPr id="16" name="Shape 14"/>
          <p:cNvSpPr/>
          <p:nvPr/>
        </p:nvSpPr>
        <p:spPr>
          <a:xfrm>
            <a:off x="3657600" y="4197096"/>
            <a:ext cx="1645920" cy="329184"/>
          </a:xfrm>
          <a:prstGeom prst="roundRect">
            <a:avLst>
              <a:gd name="adj" fmla="val 50000"/>
            </a:avLst>
          </a:prstGeom>
          <a:solidFill>
            <a:srgbClr val="8A6100"/>
          </a:solidFill>
          <a:ln w="12700">
            <a:solidFill>
              <a:srgbClr val="8A6100"/>
            </a:solidFill>
            <a:prstDash val="solid"/>
          </a:ln>
        </p:spPr>
        <p:txBody>
          <a:bodyPr/>
          <a:p/>
        </p:txBody>
      </p:sp>
      <p:sp>
        <p:nvSpPr>
          <p:cNvPr id="17" name="Text 15"/>
          <p:cNvSpPr/>
          <p:nvPr/>
        </p:nvSpPr>
        <p:spPr>
          <a:xfrm>
            <a:off x="3657600" y="4197096"/>
            <a:ext cx="1645920"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Palatino Linotype" pitchFamily="34" charset="0"/>
                <a:ea typeface="Palatino Linotype" pitchFamily="34" charset="-122"/>
                <a:cs typeface="Palatino Linotype" pitchFamily="34" charset="-120"/>
              </a:rPr>
              <a:t>CONTRARIUL</a:t>
            </a:r>
            <a:endParaRPr lang="en-US" sz="1300" dirty="0"/>
          </a:p>
        </p:txBody>
      </p:sp>
      <p:sp>
        <p:nvSpPr>
          <p:cNvPr id="18" name="Text 16"/>
          <p:cNvSpPr/>
          <p:nvPr/>
        </p:nvSpPr>
        <p:spPr>
          <a:xfrm>
            <a:off x="5577840" y="3886200"/>
            <a:ext cx="5852160" cy="960120"/>
          </a:xfrm>
          <a:prstGeom prst="rect">
            <a:avLst/>
          </a:prstGeom>
          <a:noFill/>
          <a:ln/>
        </p:spPr>
        <p:txBody>
          <a:bodyPr wrap="square" lIns="0" tIns="0" rIns="0" bIns="0" rtlCol="0" anchor="ctr"/>
          <a:lstStyle/>
          <a:p>
            <a:pPr indent="0" marL="0">
              <a:buNone/>
            </a:pPr>
            <a:r>
              <a:rPr lang="en-US" sz="1650" dirty="0">
                <a:solidFill>
                  <a:srgbClr val="11121A"/>
                </a:solidFill>
                <a:latin typeface="Palatino Linotype" pitchFamily="34" charset="0"/>
                <a:ea typeface="Palatino Linotype" pitchFamily="34" charset="-122"/>
                <a:cs typeface="Palatino Linotype" pitchFamily="34" charset="-120"/>
              </a:rPr>
              <a:t>Riscul a fost de circa 1,8 ori mai mare în România.</a:t>
            </a:r>
            <a:endParaRPr lang="en-US" sz="1650" dirty="0"/>
          </a:p>
        </p:txBody>
      </p:sp>
      <p:sp>
        <p:nvSpPr>
          <p:cNvPr id="19" name="Shape 17"/>
          <p:cNvSpPr/>
          <p:nvPr/>
        </p:nvSpPr>
        <p:spPr>
          <a:xfrm>
            <a:off x="594360" y="5074920"/>
            <a:ext cx="10972800" cy="960120"/>
          </a:xfrm>
          <a:prstGeom prst="roundRect">
            <a:avLst>
              <a:gd name="adj" fmla="val 8571"/>
            </a:avLst>
          </a:prstGeom>
          <a:solidFill>
            <a:srgbClr val="11121A"/>
          </a:solidFill>
          <a:ln w="12700">
            <a:solidFill>
              <a:srgbClr val="11121A"/>
            </a:solidFill>
            <a:prstDash val="solid"/>
          </a:ln>
        </p:spPr>
        <p:txBody>
          <a:bodyPr/>
          <a:p/>
        </p:txBody>
      </p:sp>
      <p:sp>
        <p:nvSpPr>
          <p:cNvPr id="20" name="Text 18"/>
          <p:cNvSpPr/>
          <p:nvPr/>
        </p:nvSpPr>
        <p:spPr>
          <a:xfrm>
            <a:off x="868680" y="5074920"/>
            <a:ext cx="10424160" cy="960120"/>
          </a:xfrm>
          <a:prstGeom prst="rect">
            <a:avLst/>
          </a:prstGeom>
          <a:noFill/>
          <a:ln/>
        </p:spPr>
        <p:txBody>
          <a:bodyPr wrap="square" lIns="0" tIns="0" rIns="0" bIns="0" rtlCol="0" anchor="ctr"/>
          <a:lstStyle/>
          <a:p>
            <a:pPr indent="0" marL="0">
              <a:buNone/>
            </a:pPr>
            <a:r>
              <a:rPr lang="en-US" sz="1900" b="1" dirty="0">
                <a:solidFill>
                  <a:srgbClr val="FFFFFF"/>
                </a:solidFill>
                <a:latin typeface="Palatino Linotype" pitchFamily="34" charset="0"/>
                <a:ea typeface="Palatino Linotype" pitchFamily="34" charset="-122"/>
                <a:cs typeface="Palatino Linotype" pitchFamily="34" charset="-120"/>
              </a:rPr>
              <a:t>Un titlu poate avea toate cifrele corecte și totuși să înșele. Întrebarea „din câți?” îl demontează.</a:t>
            </a:r>
            <a:endParaRPr lang="en-US" sz="1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UNDE CĂUTAȚI CIFRELE</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Patru surse, patru întrebări</a:t>
            </a:r>
            <a:endParaRPr lang="en-US" sz="3200" dirty="0"/>
          </a:p>
        </p:txBody>
      </p:sp>
      <p:sp>
        <p:nvSpPr>
          <p:cNvPr id="4" name="Shape 2"/>
          <p:cNvSpPr/>
          <p:nvPr/>
        </p:nvSpPr>
        <p:spPr>
          <a:xfrm>
            <a:off x="594360" y="164592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5" name="Shape 3"/>
          <p:cNvSpPr/>
          <p:nvPr/>
        </p:nvSpPr>
        <p:spPr>
          <a:xfrm>
            <a:off x="594360" y="1645920"/>
            <a:ext cx="109728" cy="960120"/>
          </a:xfrm>
          <a:prstGeom prst="rect">
            <a:avLst/>
          </a:prstGeom>
          <a:solidFill>
            <a:srgbClr val="0E7C6B"/>
          </a:solidFill>
          <a:ln w="12700">
            <a:solidFill>
              <a:srgbClr val="0E7C6B"/>
            </a:solidFill>
            <a:prstDash val="solid"/>
          </a:ln>
        </p:spPr>
        <p:txBody>
          <a:bodyPr/>
          <a:p/>
        </p:txBody>
      </p:sp>
      <p:sp>
        <p:nvSpPr>
          <p:cNvPr id="6" name="Text 4"/>
          <p:cNvSpPr/>
          <p:nvPr/>
        </p:nvSpPr>
        <p:spPr>
          <a:xfrm>
            <a:off x="914400" y="1645920"/>
            <a:ext cx="3840480" cy="96012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Institutul Național de Statistică</a:t>
            </a:r>
            <a:endParaRPr lang="en-US" sz="1700" dirty="0"/>
          </a:p>
          <a:p>
            <a:pPr indent="0" marL="0">
              <a:buNone/>
            </a:pPr>
            <a:r>
              <a:rPr lang="en-US" sz="1400" dirty="0">
                <a:solidFill>
                  <a:srgbClr val="0E7C6B"/>
                </a:solidFill>
                <a:latin typeface="Palatino Linotype" pitchFamily="34" charset="0"/>
                <a:ea typeface="Palatino Linotype" pitchFamily="34" charset="-122"/>
                <a:cs typeface="Palatino Linotype" pitchFamily="34" charset="-120"/>
              </a:rPr>
              <a:t>TEMPO-Online</a:t>
            </a:r>
            <a:endParaRPr lang="en-US" sz="1700" dirty="0"/>
          </a:p>
        </p:txBody>
      </p:sp>
      <p:sp>
        <p:nvSpPr>
          <p:cNvPr id="7" name="Text 5"/>
          <p:cNvSpPr/>
          <p:nvPr/>
        </p:nvSpPr>
        <p:spPr>
          <a:xfrm>
            <a:off x="4892040" y="1645920"/>
            <a:ext cx="3657600" cy="9601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când vă interesează un județ sau o regiune</a:t>
            </a:r>
            <a:endParaRPr lang="en-US" sz="1500" dirty="0"/>
          </a:p>
        </p:txBody>
      </p:sp>
      <p:sp>
        <p:nvSpPr>
          <p:cNvPr id="8" name="Text 6"/>
          <p:cNvSpPr/>
          <p:nvPr/>
        </p:nvSpPr>
        <p:spPr>
          <a:xfrm>
            <a:off x="8686800" y="1645920"/>
            <a:ext cx="2788920" cy="960120"/>
          </a:xfrm>
          <a:prstGeom prst="rect">
            <a:avLst/>
          </a:prstGeom>
          <a:noFill/>
          <a:ln/>
        </p:spPr>
        <p:txBody>
          <a:bodyPr wrap="square" lIns="0" tIns="0" rIns="0" bIns="0" rtlCol="0" anchor="ctr"/>
          <a:lstStyle/>
          <a:p>
            <a:pPr indent="0" marL="0">
              <a:buNone/>
            </a:pPr>
            <a:r>
              <a:rPr lang="en-US" sz="1100" dirty="0">
                <a:solidFill>
                  <a:srgbClr val="585A64"/>
                </a:solidFill>
                <a:latin typeface="Palatino Linotype" pitchFamily="34" charset="0"/>
                <a:ea typeface="Palatino Linotype" pitchFamily="34" charset="-122"/>
                <a:cs typeface="Palatino Linotype" pitchFamily="34" charset="-120"/>
              </a:rPr>
              <a:t>http://statistici.insse.ro:8077/tempo-online/</a:t>
            </a:r>
            <a:endParaRPr lang="en-US" sz="1100" dirty="0"/>
          </a:p>
        </p:txBody>
      </p:sp>
      <p:sp>
        <p:nvSpPr>
          <p:cNvPr id="9" name="Shape 7"/>
          <p:cNvSpPr/>
          <p:nvPr/>
        </p:nvSpPr>
        <p:spPr>
          <a:xfrm>
            <a:off x="594360" y="274320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10" name="Shape 8"/>
          <p:cNvSpPr/>
          <p:nvPr/>
        </p:nvSpPr>
        <p:spPr>
          <a:xfrm>
            <a:off x="594360" y="2743200"/>
            <a:ext cx="109728" cy="960120"/>
          </a:xfrm>
          <a:prstGeom prst="rect">
            <a:avLst/>
          </a:prstGeom>
          <a:solidFill>
            <a:srgbClr val="4A2D8C"/>
          </a:solidFill>
          <a:ln w="12700">
            <a:solidFill>
              <a:srgbClr val="4A2D8C"/>
            </a:solidFill>
            <a:prstDash val="solid"/>
          </a:ln>
        </p:spPr>
        <p:txBody>
          <a:bodyPr/>
          <a:p/>
        </p:txBody>
      </p:sp>
      <p:sp>
        <p:nvSpPr>
          <p:cNvPr id="11" name="Text 9"/>
          <p:cNvSpPr/>
          <p:nvPr/>
        </p:nvSpPr>
        <p:spPr>
          <a:xfrm>
            <a:off x="914400" y="2743200"/>
            <a:ext cx="3840480" cy="96012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Eurostat</a:t>
            </a:r>
            <a:endParaRPr lang="en-US" sz="1700" dirty="0"/>
          </a:p>
          <a:p>
            <a:pPr indent="0" marL="0">
              <a:buNone/>
            </a:pPr>
            <a:r>
              <a:rPr lang="en-US" sz="1400" dirty="0">
                <a:solidFill>
                  <a:srgbClr val="4A2D8C"/>
                </a:solidFill>
                <a:latin typeface="Palatino Linotype" pitchFamily="34" charset="0"/>
                <a:ea typeface="Palatino Linotype" pitchFamily="34" charset="-122"/>
                <a:cs typeface="Palatino Linotype" pitchFamily="34" charset="-120"/>
              </a:rPr>
              <a:t>baza de date</a:t>
            </a:r>
            <a:endParaRPr lang="en-US" sz="1700" dirty="0"/>
          </a:p>
        </p:txBody>
      </p:sp>
      <p:sp>
        <p:nvSpPr>
          <p:cNvPr id="12" name="Text 10"/>
          <p:cNvSpPr/>
          <p:nvPr/>
        </p:nvSpPr>
        <p:spPr>
          <a:xfrm>
            <a:off x="4892040" y="2743200"/>
            <a:ext cx="3657600" cy="9601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când comparați România cu Uniunea sau cu alte state membre</a:t>
            </a:r>
            <a:endParaRPr lang="en-US" sz="1500" dirty="0"/>
          </a:p>
        </p:txBody>
      </p:sp>
      <p:sp>
        <p:nvSpPr>
          <p:cNvPr id="13" name="Text 11"/>
          <p:cNvSpPr/>
          <p:nvPr/>
        </p:nvSpPr>
        <p:spPr>
          <a:xfrm>
            <a:off x="8686800" y="2743200"/>
            <a:ext cx="2788920" cy="960120"/>
          </a:xfrm>
          <a:prstGeom prst="rect">
            <a:avLst/>
          </a:prstGeom>
          <a:noFill/>
          <a:ln/>
        </p:spPr>
        <p:txBody>
          <a:bodyPr wrap="square" lIns="0" tIns="0" rIns="0" bIns="0" rtlCol="0" anchor="ctr"/>
          <a:lstStyle/>
          <a:p>
            <a:pPr indent="0" marL="0">
              <a:buNone/>
            </a:pPr>
            <a:r>
              <a:rPr lang="en-US" sz="1100" dirty="0">
                <a:solidFill>
                  <a:srgbClr val="585A64"/>
                </a:solidFill>
                <a:latin typeface="Palatino Linotype" pitchFamily="34" charset="0"/>
                <a:ea typeface="Palatino Linotype" pitchFamily="34" charset="-122"/>
                <a:cs typeface="Palatino Linotype" pitchFamily="34" charset="-120"/>
              </a:rPr>
              <a:t>https://ec.europa.eu/eurostat/data/database</a:t>
            </a:r>
            <a:endParaRPr lang="en-US" sz="1100" dirty="0"/>
          </a:p>
        </p:txBody>
      </p:sp>
      <p:sp>
        <p:nvSpPr>
          <p:cNvPr id="14" name="Shape 12"/>
          <p:cNvSpPr/>
          <p:nvPr/>
        </p:nvSpPr>
        <p:spPr>
          <a:xfrm>
            <a:off x="594360" y="384048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15" name="Shape 13"/>
          <p:cNvSpPr/>
          <p:nvPr/>
        </p:nvSpPr>
        <p:spPr>
          <a:xfrm>
            <a:off x="594360" y="3840480"/>
            <a:ext cx="109728" cy="960120"/>
          </a:xfrm>
          <a:prstGeom prst="rect">
            <a:avLst/>
          </a:prstGeom>
          <a:solidFill>
            <a:srgbClr val="B02532"/>
          </a:solidFill>
          <a:ln w="12700">
            <a:solidFill>
              <a:srgbClr val="B02532"/>
            </a:solidFill>
            <a:prstDash val="solid"/>
          </a:ln>
        </p:spPr>
        <p:txBody>
          <a:bodyPr/>
          <a:p/>
        </p:txBody>
      </p:sp>
      <p:sp>
        <p:nvSpPr>
          <p:cNvPr id="16" name="Text 14"/>
          <p:cNvSpPr/>
          <p:nvPr/>
        </p:nvSpPr>
        <p:spPr>
          <a:xfrm>
            <a:off x="914400" y="3840480"/>
            <a:ext cx="3840480" cy="96012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Institutul Național de Sănătate Publică</a:t>
            </a:r>
            <a:endParaRPr lang="en-US" sz="1700" dirty="0"/>
          </a:p>
          <a:p>
            <a:pPr indent="0" marL="0">
              <a:buNone/>
            </a:pPr>
            <a:r>
              <a:rPr lang="en-US" sz="1400" dirty="0">
                <a:solidFill>
                  <a:srgbClr val="B02532"/>
                </a:solidFill>
                <a:latin typeface="Palatino Linotype" pitchFamily="34" charset="0"/>
                <a:ea typeface="Palatino Linotype" pitchFamily="34" charset="-122"/>
                <a:cs typeface="Palatino Linotype" pitchFamily="34" charset="-120"/>
              </a:rPr>
              <a:t>supravegherea bolilor</a:t>
            </a:r>
            <a:endParaRPr lang="en-US" sz="1700" dirty="0"/>
          </a:p>
        </p:txBody>
      </p:sp>
      <p:sp>
        <p:nvSpPr>
          <p:cNvPr id="17" name="Text 15"/>
          <p:cNvSpPr/>
          <p:nvPr/>
        </p:nvSpPr>
        <p:spPr>
          <a:xfrm>
            <a:off x="4892040" y="3840480"/>
            <a:ext cx="3657600" cy="9601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pentru bolile infecțioase, de exemplu rujeola și gripa, și pentru bolile cronice</a:t>
            </a:r>
            <a:endParaRPr lang="en-US" sz="1500" dirty="0"/>
          </a:p>
        </p:txBody>
      </p:sp>
      <p:sp>
        <p:nvSpPr>
          <p:cNvPr id="18" name="Text 16"/>
          <p:cNvSpPr/>
          <p:nvPr/>
        </p:nvSpPr>
        <p:spPr>
          <a:xfrm>
            <a:off x="8686800" y="3840480"/>
            <a:ext cx="2788920" cy="960120"/>
          </a:xfrm>
          <a:prstGeom prst="rect">
            <a:avLst/>
          </a:prstGeom>
          <a:noFill/>
          <a:ln/>
        </p:spPr>
        <p:txBody>
          <a:bodyPr wrap="square" lIns="0" tIns="0" rIns="0" bIns="0" rtlCol="0" anchor="ctr"/>
          <a:lstStyle/>
          <a:p>
            <a:pPr indent="0" marL="0">
              <a:buNone/>
            </a:pPr>
            <a:r>
              <a:rPr lang="en-US" sz="1100" dirty="0">
                <a:solidFill>
                  <a:srgbClr val="585A64"/>
                </a:solidFill>
                <a:latin typeface="Palatino Linotype" pitchFamily="34" charset="0"/>
                <a:ea typeface="Palatino Linotype" pitchFamily="34" charset="-122"/>
                <a:cs typeface="Palatino Linotype" pitchFamily="34" charset="-120"/>
              </a:rPr>
              <a:t>https://insp.gov.ro</a:t>
            </a:r>
            <a:endParaRPr lang="en-US" sz="1100" dirty="0"/>
          </a:p>
        </p:txBody>
      </p:sp>
      <p:sp>
        <p:nvSpPr>
          <p:cNvPr id="19" name="Shape 17"/>
          <p:cNvSpPr/>
          <p:nvPr/>
        </p:nvSpPr>
        <p:spPr>
          <a:xfrm>
            <a:off x="594360" y="4937760"/>
            <a:ext cx="10972800" cy="960120"/>
          </a:xfrm>
          <a:prstGeom prst="roundRect">
            <a:avLst>
              <a:gd name="adj" fmla="val 8571"/>
            </a:avLst>
          </a:prstGeom>
          <a:solidFill>
            <a:srgbClr val="ECEAE4"/>
          </a:solidFill>
          <a:ln w="12700">
            <a:solidFill>
              <a:srgbClr val="ECEAE4"/>
            </a:solidFill>
            <a:prstDash val="solid"/>
          </a:ln>
        </p:spPr>
        <p:txBody>
          <a:bodyPr/>
          <a:p/>
        </p:txBody>
      </p:sp>
      <p:sp>
        <p:nvSpPr>
          <p:cNvPr id="20" name="Shape 18"/>
          <p:cNvSpPr/>
          <p:nvPr/>
        </p:nvSpPr>
        <p:spPr>
          <a:xfrm>
            <a:off x="594360" y="4937760"/>
            <a:ext cx="109728" cy="960120"/>
          </a:xfrm>
          <a:prstGeom prst="rect">
            <a:avLst/>
          </a:prstGeom>
          <a:solidFill>
            <a:srgbClr val="8A6100"/>
          </a:solidFill>
          <a:ln w="12700">
            <a:solidFill>
              <a:srgbClr val="8A6100"/>
            </a:solidFill>
            <a:prstDash val="solid"/>
          </a:ln>
        </p:spPr>
        <p:txBody>
          <a:bodyPr/>
          <a:p/>
        </p:txBody>
      </p:sp>
      <p:sp>
        <p:nvSpPr>
          <p:cNvPr id="21" name="Text 19"/>
          <p:cNvSpPr/>
          <p:nvPr/>
        </p:nvSpPr>
        <p:spPr>
          <a:xfrm>
            <a:off x="914400" y="4937760"/>
            <a:ext cx="3840480" cy="960120"/>
          </a:xfrm>
          <a:prstGeom prst="rect">
            <a:avLst/>
          </a:prstGeom>
          <a:noFill/>
          <a:ln/>
        </p:spPr>
        <p:txBody>
          <a:bodyPr wrap="square" lIns="0" tIns="0" rIns="0" bIns="0" rtlCol="0" anchor="ctr"/>
          <a:lstStyle/>
          <a:p>
            <a:pPr indent="0" marL="0">
              <a:buNone/>
            </a:pPr>
            <a:r>
              <a:rPr lang="en-US" sz="1700" b="1" dirty="0">
                <a:solidFill>
                  <a:srgbClr val="11121A"/>
                </a:solidFill>
                <a:latin typeface="Palatino Linotype" pitchFamily="34" charset="0"/>
                <a:ea typeface="Palatino Linotype" pitchFamily="34" charset="-122"/>
                <a:cs typeface="Palatino Linotype" pitchFamily="34" charset="-120"/>
              </a:rPr>
              <a:t>Organizația Mondială a Sănătății</a:t>
            </a:r>
            <a:endParaRPr lang="en-US" sz="1700" dirty="0"/>
          </a:p>
          <a:p>
            <a:pPr indent="0" marL="0">
              <a:buNone/>
            </a:pPr>
            <a:r>
              <a:rPr lang="en-US" sz="1400" dirty="0">
                <a:solidFill>
                  <a:srgbClr val="8A6100"/>
                </a:solidFill>
                <a:latin typeface="Palatino Linotype" pitchFamily="34" charset="0"/>
                <a:ea typeface="Palatino Linotype" pitchFamily="34" charset="-122"/>
                <a:cs typeface="Palatino Linotype" pitchFamily="34" charset="-120"/>
              </a:rPr>
              <a:t>Global Health Observatory</a:t>
            </a:r>
            <a:endParaRPr lang="en-US" sz="1700" dirty="0"/>
          </a:p>
        </p:txBody>
      </p:sp>
      <p:sp>
        <p:nvSpPr>
          <p:cNvPr id="22" name="Text 20"/>
          <p:cNvSpPr/>
          <p:nvPr/>
        </p:nvSpPr>
        <p:spPr>
          <a:xfrm>
            <a:off x="4892040" y="4937760"/>
            <a:ext cx="3657600" cy="960120"/>
          </a:xfrm>
          <a:prstGeom prst="rect">
            <a:avLst/>
          </a:prstGeom>
          <a:noFill/>
          <a:ln/>
        </p:spPr>
        <p:txBody>
          <a:bodyPr wrap="square" lIns="0" tIns="0" rIns="0" bIns="0" rtlCol="0" anchor="ctr"/>
          <a:lstStyle/>
          <a:p>
            <a:pPr indent="0" marL="0">
              <a:buNone/>
            </a:pPr>
            <a:r>
              <a:rPr lang="en-US" sz="1500" dirty="0">
                <a:solidFill>
                  <a:srgbClr val="11121A"/>
                </a:solidFill>
                <a:latin typeface="Palatino Linotype" pitchFamily="34" charset="0"/>
                <a:ea typeface="Palatino Linotype" pitchFamily="34" charset="-122"/>
                <a:cs typeface="Palatino Linotype" pitchFamily="34" charset="-120"/>
              </a:rPr>
              <a:t>când comparați România cu țări din afara Uniunii</a:t>
            </a:r>
            <a:endParaRPr lang="en-US" sz="1500" dirty="0"/>
          </a:p>
        </p:txBody>
      </p:sp>
      <p:sp>
        <p:nvSpPr>
          <p:cNvPr id="23" name="Text 21"/>
          <p:cNvSpPr/>
          <p:nvPr/>
        </p:nvSpPr>
        <p:spPr>
          <a:xfrm>
            <a:off x="8686800" y="4937760"/>
            <a:ext cx="2788920" cy="960120"/>
          </a:xfrm>
          <a:prstGeom prst="rect">
            <a:avLst/>
          </a:prstGeom>
          <a:noFill/>
          <a:ln/>
        </p:spPr>
        <p:txBody>
          <a:bodyPr wrap="square" lIns="0" tIns="0" rIns="0" bIns="0" rtlCol="0" anchor="ctr"/>
          <a:lstStyle/>
          <a:p>
            <a:pPr indent="0" marL="0">
              <a:buNone/>
            </a:pPr>
            <a:r>
              <a:rPr lang="en-US" sz="1100" dirty="0">
                <a:solidFill>
                  <a:srgbClr val="585A64"/>
                </a:solidFill>
                <a:latin typeface="Palatino Linotype" pitchFamily="34" charset="0"/>
                <a:ea typeface="Palatino Linotype" pitchFamily="34" charset="-122"/>
                <a:cs typeface="Palatino Linotype" pitchFamily="34" charset="-120"/>
              </a:rPr>
              <a:t>https://www.who.int/data/gho</a:t>
            </a:r>
            <a:endParaRPr lang="en-US" sz="11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VOT PE TELEFON</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UNDE AȚI CĂUTA ÎNTÂI?</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FFFFFF"/>
                </a:solidFill>
                <a:latin typeface="Palatino Linotype" pitchFamily="34" charset="0"/>
                <a:ea typeface="Palatino Linotype" pitchFamily="34" charset="-122"/>
                <a:cs typeface="Palatino Linotype" pitchFamily="34" charset="-120"/>
              </a:rPr>
              <a:t>La fiecare întrebare, votați sursa la care ați căuta întâi</a:t>
            </a:r>
            <a:endParaRPr lang="en-US" sz="2900" dirty="0"/>
          </a:p>
        </p:txBody>
      </p:sp>
      <p:sp>
        <p:nvSpPr>
          <p:cNvPr id="6" name="Shape 4"/>
          <p:cNvSpPr/>
          <p:nvPr/>
        </p:nvSpPr>
        <p:spPr>
          <a:xfrm>
            <a:off x="594360" y="1783080"/>
            <a:ext cx="7223760" cy="868680"/>
          </a:xfrm>
          <a:prstGeom prst="roundRect">
            <a:avLst>
              <a:gd name="adj" fmla="val 9474"/>
            </a:avLst>
          </a:prstGeom>
          <a:solidFill>
            <a:srgbClr val="1D1F2B"/>
          </a:solidFill>
          <a:ln w="12700">
            <a:solidFill>
              <a:srgbClr val="1D1F2B"/>
            </a:solidFill>
            <a:prstDash val="solid"/>
          </a:ln>
        </p:spPr>
        <p:txBody>
          <a:bodyPr/>
          <a:p/>
        </p:txBody>
      </p:sp>
      <p:sp>
        <p:nvSpPr>
          <p:cNvPr id="7" name="Shape 5"/>
          <p:cNvSpPr/>
          <p:nvPr/>
        </p:nvSpPr>
        <p:spPr>
          <a:xfrm>
            <a:off x="914400" y="2007108"/>
            <a:ext cx="420624" cy="420624"/>
          </a:xfrm>
          <a:prstGeom prst="ellipse">
            <a:avLst/>
          </a:prstGeom>
          <a:solidFill>
            <a:srgbClr val="FFC24B"/>
          </a:solidFill>
          <a:ln/>
        </p:spPr>
        <p:txBody>
          <a:bodyPr/>
          <a:p/>
        </p:txBody>
      </p:sp>
      <p:sp>
        <p:nvSpPr>
          <p:cNvPr id="8" name="Text 6"/>
          <p:cNvSpPr/>
          <p:nvPr/>
        </p:nvSpPr>
        <p:spPr>
          <a:xfrm>
            <a:off x="914400" y="20071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600200" y="1783080"/>
            <a:ext cx="594360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Mortalitatea infantilă în județul vostru.</a:t>
            </a:r>
            <a:endParaRPr lang="en-US" sz="1600" dirty="0"/>
          </a:p>
        </p:txBody>
      </p:sp>
      <p:sp>
        <p:nvSpPr>
          <p:cNvPr id="10" name="Shape 8"/>
          <p:cNvSpPr/>
          <p:nvPr/>
        </p:nvSpPr>
        <p:spPr>
          <a:xfrm>
            <a:off x="594360" y="2788920"/>
            <a:ext cx="7223760" cy="868680"/>
          </a:xfrm>
          <a:prstGeom prst="roundRect">
            <a:avLst>
              <a:gd name="adj" fmla="val 9474"/>
            </a:avLst>
          </a:prstGeom>
          <a:solidFill>
            <a:srgbClr val="1D1F2B"/>
          </a:solidFill>
          <a:ln w="12700">
            <a:solidFill>
              <a:srgbClr val="1D1F2B"/>
            </a:solidFill>
            <a:prstDash val="solid"/>
          </a:ln>
        </p:spPr>
        <p:txBody>
          <a:bodyPr/>
          <a:p/>
        </p:txBody>
      </p:sp>
      <p:sp>
        <p:nvSpPr>
          <p:cNvPr id="11" name="Shape 9"/>
          <p:cNvSpPr/>
          <p:nvPr/>
        </p:nvSpPr>
        <p:spPr>
          <a:xfrm>
            <a:off x="914400" y="3012948"/>
            <a:ext cx="420624" cy="420624"/>
          </a:xfrm>
          <a:prstGeom prst="ellipse">
            <a:avLst/>
          </a:prstGeom>
          <a:solidFill>
            <a:srgbClr val="FFC24B"/>
          </a:solidFill>
          <a:ln/>
        </p:spPr>
        <p:txBody>
          <a:bodyPr/>
          <a:p/>
        </p:txBody>
      </p:sp>
      <p:sp>
        <p:nvSpPr>
          <p:cNvPr id="12" name="Text 10"/>
          <p:cNvSpPr/>
          <p:nvPr/>
        </p:nvSpPr>
        <p:spPr>
          <a:xfrm>
            <a:off x="914400" y="30129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600200" y="2788920"/>
            <a:ext cx="594360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România față de media Uniunii: speranța de viață la naștere.</a:t>
            </a:r>
            <a:endParaRPr lang="en-US" sz="1600" dirty="0"/>
          </a:p>
        </p:txBody>
      </p:sp>
      <p:sp>
        <p:nvSpPr>
          <p:cNvPr id="14" name="Shape 12"/>
          <p:cNvSpPr/>
          <p:nvPr/>
        </p:nvSpPr>
        <p:spPr>
          <a:xfrm>
            <a:off x="594360" y="3794760"/>
            <a:ext cx="7223760" cy="868680"/>
          </a:xfrm>
          <a:prstGeom prst="roundRect">
            <a:avLst>
              <a:gd name="adj" fmla="val 9474"/>
            </a:avLst>
          </a:prstGeom>
          <a:solidFill>
            <a:srgbClr val="1D1F2B"/>
          </a:solidFill>
          <a:ln w="12700">
            <a:solidFill>
              <a:srgbClr val="1D1F2B"/>
            </a:solidFill>
            <a:prstDash val="solid"/>
          </a:ln>
        </p:spPr>
        <p:txBody>
          <a:bodyPr/>
          <a:p/>
        </p:txBody>
      </p:sp>
      <p:sp>
        <p:nvSpPr>
          <p:cNvPr id="15" name="Shape 13"/>
          <p:cNvSpPr/>
          <p:nvPr/>
        </p:nvSpPr>
        <p:spPr>
          <a:xfrm>
            <a:off x="914400" y="4018788"/>
            <a:ext cx="420624" cy="420624"/>
          </a:xfrm>
          <a:prstGeom prst="ellipse">
            <a:avLst/>
          </a:prstGeom>
          <a:solidFill>
            <a:srgbClr val="FFC24B"/>
          </a:solidFill>
          <a:ln/>
        </p:spPr>
        <p:txBody>
          <a:bodyPr/>
          <a:p/>
        </p:txBody>
      </p:sp>
      <p:sp>
        <p:nvSpPr>
          <p:cNvPr id="16" name="Text 14"/>
          <p:cNvSpPr/>
          <p:nvPr/>
        </p:nvSpPr>
        <p:spPr>
          <a:xfrm>
            <a:off x="914400" y="40187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600200" y="3794760"/>
            <a:ext cx="594360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Cazurile de rujeolă raportate în România luna trecută.</a:t>
            </a:r>
            <a:endParaRPr lang="en-US" sz="1600" dirty="0"/>
          </a:p>
        </p:txBody>
      </p:sp>
      <p:sp>
        <p:nvSpPr>
          <p:cNvPr id="18" name="Shape 16"/>
          <p:cNvSpPr/>
          <p:nvPr/>
        </p:nvSpPr>
        <p:spPr>
          <a:xfrm>
            <a:off x="594360" y="4800600"/>
            <a:ext cx="7223760" cy="868680"/>
          </a:xfrm>
          <a:prstGeom prst="roundRect">
            <a:avLst>
              <a:gd name="adj" fmla="val 9474"/>
            </a:avLst>
          </a:prstGeom>
          <a:solidFill>
            <a:srgbClr val="1D1F2B"/>
          </a:solidFill>
          <a:ln w="12700">
            <a:solidFill>
              <a:srgbClr val="1D1F2B"/>
            </a:solidFill>
            <a:prstDash val="solid"/>
          </a:ln>
        </p:spPr>
        <p:txBody>
          <a:bodyPr/>
          <a:p/>
        </p:txBody>
      </p:sp>
      <p:sp>
        <p:nvSpPr>
          <p:cNvPr id="19" name="Shape 17"/>
          <p:cNvSpPr/>
          <p:nvPr/>
        </p:nvSpPr>
        <p:spPr>
          <a:xfrm>
            <a:off x="914400" y="5024628"/>
            <a:ext cx="420624" cy="420624"/>
          </a:xfrm>
          <a:prstGeom prst="ellipse">
            <a:avLst/>
          </a:prstGeom>
          <a:solidFill>
            <a:srgbClr val="FFC24B"/>
          </a:solidFill>
          <a:ln/>
        </p:spPr>
        <p:txBody>
          <a:bodyPr/>
          <a:p/>
        </p:txBody>
      </p:sp>
      <p:sp>
        <p:nvSpPr>
          <p:cNvPr id="20" name="Text 18"/>
          <p:cNvSpPr/>
          <p:nvPr/>
        </p:nvSpPr>
        <p:spPr>
          <a:xfrm>
            <a:off x="914400" y="50246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600200" y="4800600"/>
            <a:ext cx="5943600" cy="868680"/>
          </a:xfrm>
          <a:prstGeom prst="rect">
            <a:avLst/>
          </a:prstGeom>
          <a:noFill/>
          <a:ln/>
        </p:spPr>
        <p:txBody>
          <a:bodyPr wrap="square" lIns="0" tIns="0" rIns="0" bIns="0" rtlCol="0" anchor="ctr"/>
          <a:lstStyle/>
          <a:p>
            <a:pPr indent="0" marL="0">
              <a:buNone/>
            </a:pPr>
            <a:r>
              <a:rPr lang="en-US" sz="1600" dirty="0">
                <a:solidFill>
                  <a:srgbClr val="FFFFFF"/>
                </a:solidFill>
                <a:latin typeface="Palatino Linotype" pitchFamily="34" charset="0"/>
                <a:ea typeface="Palatino Linotype" pitchFamily="34" charset="-122"/>
                <a:cs typeface="Palatino Linotype" pitchFamily="34" charset="-120"/>
              </a:rPr>
              <a:t>România față de Japonia și Brazilia: speranța de viață.</a:t>
            </a:r>
            <a:endParaRPr lang="en-US" sz="1600" dirty="0"/>
          </a:p>
        </p:txBody>
      </p:sp>
      <p:sp>
        <p:nvSpPr>
          <p:cNvPr id="22" name="Shape 20"/>
          <p:cNvSpPr/>
          <p:nvPr/>
        </p:nvSpPr>
        <p:spPr>
          <a:xfrm>
            <a:off x="8138160" y="1783080"/>
            <a:ext cx="3429000" cy="2651760"/>
          </a:xfrm>
          <a:prstGeom prst="roundRect">
            <a:avLst>
              <a:gd name="adj" fmla="val 3448"/>
            </a:avLst>
          </a:prstGeom>
          <a:solidFill>
            <a:srgbClr val="FFFFFF"/>
          </a:solidFill>
          <a:ln w="19050">
            <a:solidFill>
              <a:srgbClr val="8E94A8"/>
            </a:solidFill>
            <a:prstDash val="dash"/>
          </a:ln>
        </p:spPr>
        <p:txBody>
          <a:bodyPr/>
          <a:p/>
        </p:txBody>
      </p:sp>
      <p:sp>
        <p:nvSpPr>
          <p:cNvPr id="24" name="Text 22"/>
          <p:cNvSpPr/>
          <p:nvPr/>
        </p:nvSpPr>
        <p:spPr>
          <a:xfrm>
            <a:off x="8138160" y="4572000"/>
            <a:ext cx="3429000" cy="457200"/>
          </a:xfrm>
          <a:prstGeom prst="rect">
            <a:avLst/>
          </a:prstGeom>
          <a:noFill/>
          <a:ln/>
        </p:spPr>
        <p:txBody>
          <a:bodyPr wrap="square" lIns="0" tIns="0" rIns="0" bIns="0" rtlCol="0" anchor="t"/>
          <a:lstStyle/>
          <a:p>
            <a:pPr indent="0" marL="0">
              <a:buNone/>
            </a:pPr>
            <a:r>
              <a:rPr lang="en-US" sz="1500" b="1" dirty="0">
                <a:solidFill>
                  <a:srgbClr val="FFC24B"/>
                </a:solidFill>
                <a:latin typeface="Palatino Linotype" pitchFamily="34" charset="0"/>
                <a:ea typeface="Palatino Linotype" pitchFamily="34" charset="-122"/>
                <a:cs typeface="Palatino Linotype" pitchFamily="34" charset="-120"/>
              </a:rPr>
              <a:t>Răspundeți pe telefon, la codul afișat.</a:t>
            </a:r>
            <a:endParaRPr lang="en-US" sz="1500" dirty="0"/>
          </a:p>
        </p:txBody>
      </p:sp>
      <p:sp>
        <p:nvSpPr>
          <p:cNvPr id="25" name="Text 23"/>
          <p:cNvSpPr/>
          <p:nvPr/>
        </p:nvSpPr>
        <p:spPr>
          <a:xfrm>
            <a:off x="594360" y="5806440"/>
            <a:ext cx="10972800" cy="548640"/>
          </a:xfrm>
          <a:prstGeom prst="rect">
            <a:avLst/>
          </a:prstGeom>
          <a:noFill/>
          <a:ln/>
        </p:spPr>
        <p:txBody>
          <a:bodyPr wrap="square" lIns="0" tIns="0" rIns="0" bIns="0" rtlCol="0" anchor="t"/>
          <a:lstStyle/>
          <a:p>
            <a:pPr indent="0" marL="0">
              <a:buNone/>
            </a:pPr>
            <a:r>
              <a:rPr lang="en-US" sz="1400" i="1" dirty="0">
                <a:solidFill>
                  <a:srgbClr val="959BB0"/>
                </a:solidFill>
                <a:latin typeface="Palatino Linotype" pitchFamily="34" charset="0"/>
                <a:ea typeface="Palatino Linotype" pitchFamily="34" charset="-122"/>
                <a:cs typeface="Palatino Linotype" pitchFamily="34" charset="-120"/>
              </a:rPr>
              <a:t>Variantele de la fiecare întrebare: Institutul Național de Statistică, Eurostat, Institutul Național de Sănătate Publică, Organizația Mondială a Sănătății.</a:t>
            </a:r>
            <a:endParaRPr lang="en-US" sz="1400" dirty="0"/>
          </a:p>
        </p:txBody>
      </p:sp>
      <p:pic>
        <p:nvPicPr>
          <p:cNvPr id="26" name="Picture 25" descr="Mentimeter_UB_ISP_LP02.png"/>
          <p:cNvPicPr>
            <a:picLocks noChangeAspect="1"/>
          </p:cNvPicPr>
          <p:nvPr/>
        </p:nvPicPr>
        <p:blipFill>
          <a:blip r:embed="rId3"/>
          <a:stretch>
            <a:fillRect/>
          </a:stretch>
        </p:blipFill>
        <p:spPr>
          <a:xfrm>
            <a:off x="8840470" y="1783080"/>
            <a:ext cx="2024380" cy="2024380"/>
          </a:xfrm>
          <a:prstGeom prst="rect">
            <a:avLst/>
          </a:prstGeom>
        </p:spPr>
      </p:pic>
      <p:sp>
        <p:nvSpPr>
          <p:cNvPr id="27" name="TextBox 26"/>
          <p:cNvSpPr txBox="1"/>
          <p:nvPr/>
        </p:nvSpPr>
        <p:spPr>
          <a:xfrm>
            <a:off x="8321040" y="3845560"/>
            <a:ext cx="306324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votul</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RĂSPUNSURILE LA CELE PATRU VOTURI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Fiecare întrebare are sursa ei</a:t>
            </a:r>
            <a:endParaRPr lang="en-US" sz="3200" dirty="0"/>
          </a:p>
        </p:txBody>
      </p:sp>
      <p:sp>
        <p:nvSpPr>
          <p:cNvPr id="4" name="Shape 2"/>
          <p:cNvSpPr/>
          <p:nvPr/>
        </p:nvSpPr>
        <p:spPr>
          <a:xfrm>
            <a:off x="594360" y="160020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5" name="Shape 3"/>
          <p:cNvSpPr/>
          <p:nvPr/>
        </p:nvSpPr>
        <p:spPr>
          <a:xfrm>
            <a:off x="822960" y="1783080"/>
            <a:ext cx="438912" cy="438912"/>
          </a:xfrm>
          <a:prstGeom prst="ellipse">
            <a:avLst/>
          </a:prstGeom>
          <a:solidFill>
            <a:srgbClr val="0E7C6B"/>
          </a:solidFill>
          <a:ln/>
        </p:spPr>
        <p:txBody>
          <a:bodyPr/>
          <a:p/>
        </p:txBody>
      </p:sp>
      <p:sp>
        <p:nvSpPr>
          <p:cNvPr id="6" name="Text 4"/>
          <p:cNvSpPr/>
          <p:nvPr/>
        </p:nvSpPr>
        <p:spPr>
          <a:xfrm>
            <a:off x="822960" y="17830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508760" y="1600200"/>
            <a:ext cx="3017520" cy="804672"/>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Mortalitatea infantilă pe județe</a:t>
            </a:r>
            <a:endParaRPr lang="en-US" sz="1450" dirty="0"/>
          </a:p>
        </p:txBody>
      </p:sp>
      <p:sp>
        <p:nvSpPr>
          <p:cNvPr id="8" name="Text 6"/>
          <p:cNvSpPr/>
          <p:nvPr/>
        </p:nvSpPr>
        <p:spPr>
          <a:xfrm>
            <a:off x="4617720" y="1600200"/>
            <a:ext cx="3291840" cy="804672"/>
          </a:xfrm>
          <a:prstGeom prst="rect">
            <a:avLst/>
          </a:prstGeom>
          <a:noFill/>
          <a:ln/>
        </p:spPr>
        <p:txBody>
          <a:bodyPr wrap="square" lIns="0" tIns="0" rIns="0" bIns="0" rtlCol="0" anchor="ctr"/>
          <a:lstStyle/>
          <a:p>
            <a:pPr indent="0" marL="0">
              <a:buNone/>
            </a:pPr>
            <a:r>
              <a:rPr lang="en-US" sz="1550" b="1" dirty="0">
                <a:solidFill>
                  <a:srgbClr val="0E7C6B"/>
                </a:solidFill>
                <a:latin typeface="Palatino Linotype" pitchFamily="34" charset="0"/>
                <a:ea typeface="Palatino Linotype" pitchFamily="34" charset="-122"/>
                <a:cs typeface="Palatino Linotype" pitchFamily="34" charset="-120"/>
              </a:rPr>
              <a:t>Institutul Național de Statistică</a:t>
            </a:r>
            <a:endParaRPr lang="en-US" sz="1550" dirty="0"/>
          </a:p>
        </p:txBody>
      </p:sp>
      <p:sp>
        <p:nvSpPr>
          <p:cNvPr id="9" name="Text 7"/>
          <p:cNvSpPr/>
          <p:nvPr/>
        </p:nvSpPr>
        <p:spPr>
          <a:xfrm>
            <a:off x="8001000" y="1600200"/>
            <a:ext cx="3474720" cy="804672"/>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TEMPO-Online dă și județele.</a:t>
            </a:r>
            <a:endParaRPr lang="en-US" sz="1350" dirty="0"/>
          </a:p>
        </p:txBody>
      </p:sp>
      <p:sp>
        <p:nvSpPr>
          <p:cNvPr id="10" name="Shape 8"/>
          <p:cNvSpPr/>
          <p:nvPr/>
        </p:nvSpPr>
        <p:spPr>
          <a:xfrm>
            <a:off x="594360" y="251460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11" name="Shape 9"/>
          <p:cNvSpPr/>
          <p:nvPr/>
        </p:nvSpPr>
        <p:spPr>
          <a:xfrm>
            <a:off x="822960" y="2697480"/>
            <a:ext cx="438912" cy="438912"/>
          </a:xfrm>
          <a:prstGeom prst="ellipse">
            <a:avLst/>
          </a:prstGeom>
          <a:solidFill>
            <a:srgbClr val="4A2D8C"/>
          </a:solidFill>
          <a:ln/>
        </p:spPr>
        <p:txBody>
          <a:bodyPr/>
          <a:p/>
        </p:txBody>
      </p:sp>
      <p:sp>
        <p:nvSpPr>
          <p:cNvPr id="12" name="Text 10"/>
          <p:cNvSpPr/>
          <p:nvPr/>
        </p:nvSpPr>
        <p:spPr>
          <a:xfrm>
            <a:off x="822960" y="26974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508760" y="2514600"/>
            <a:ext cx="3017520" cy="804672"/>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România față de media Uniunii</a:t>
            </a:r>
            <a:endParaRPr lang="en-US" sz="1450" dirty="0"/>
          </a:p>
        </p:txBody>
      </p:sp>
      <p:sp>
        <p:nvSpPr>
          <p:cNvPr id="14" name="Text 12"/>
          <p:cNvSpPr/>
          <p:nvPr/>
        </p:nvSpPr>
        <p:spPr>
          <a:xfrm>
            <a:off x="4617720" y="2514600"/>
            <a:ext cx="3291840" cy="804672"/>
          </a:xfrm>
          <a:prstGeom prst="rect">
            <a:avLst/>
          </a:prstGeom>
          <a:noFill/>
          <a:ln/>
        </p:spPr>
        <p:txBody>
          <a:bodyPr wrap="square" lIns="0" tIns="0" rIns="0" bIns="0" rtlCol="0" anchor="ctr"/>
          <a:lstStyle/>
          <a:p>
            <a:pPr indent="0" marL="0">
              <a:buNone/>
            </a:pPr>
            <a:r>
              <a:rPr lang="en-US" sz="1550" b="1" dirty="0">
                <a:solidFill>
                  <a:srgbClr val="4A2D8C"/>
                </a:solidFill>
                <a:latin typeface="Palatino Linotype" pitchFamily="34" charset="0"/>
                <a:ea typeface="Palatino Linotype" pitchFamily="34" charset="-122"/>
                <a:cs typeface="Palatino Linotype" pitchFamily="34" charset="-120"/>
              </a:rPr>
              <a:t>Eurostat</a:t>
            </a:r>
            <a:endParaRPr lang="en-US" sz="1550" dirty="0"/>
          </a:p>
        </p:txBody>
      </p:sp>
      <p:sp>
        <p:nvSpPr>
          <p:cNvPr id="15" name="Text 13"/>
          <p:cNvSpPr/>
          <p:nvPr/>
        </p:nvSpPr>
        <p:spPr>
          <a:xfrm>
            <a:off x="8001000" y="2514600"/>
            <a:ext cx="3474720" cy="804672"/>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Calculează și media Uniunii.</a:t>
            </a:r>
            <a:endParaRPr lang="en-US" sz="1350" dirty="0"/>
          </a:p>
        </p:txBody>
      </p:sp>
      <p:sp>
        <p:nvSpPr>
          <p:cNvPr id="16" name="Shape 14"/>
          <p:cNvSpPr/>
          <p:nvPr/>
        </p:nvSpPr>
        <p:spPr>
          <a:xfrm>
            <a:off x="594360" y="342900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17" name="Shape 15"/>
          <p:cNvSpPr/>
          <p:nvPr/>
        </p:nvSpPr>
        <p:spPr>
          <a:xfrm>
            <a:off x="822960" y="3611880"/>
            <a:ext cx="438912" cy="438912"/>
          </a:xfrm>
          <a:prstGeom prst="ellipse">
            <a:avLst/>
          </a:prstGeom>
          <a:solidFill>
            <a:srgbClr val="B02532"/>
          </a:solidFill>
          <a:ln/>
        </p:spPr>
        <p:txBody>
          <a:bodyPr/>
          <a:p/>
        </p:txBody>
      </p:sp>
      <p:sp>
        <p:nvSpPr>
          <p:cNvPr id="18" name="Text 16"/>
          <p:cNvSpPr/>
          <p:nvPr/>
        </p:nvSpPr>
        <p:spPr>
          <a:xfrm>
            <a:off x="822960" y="36118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19" name="Text 17"/>
          <p:cNvSpPr/>
          <p:nvPr/>
        </p:nvSpPr>
        <p:spPr>
          <a:xfrm>
            <a:off x="1508760" y="3429000"/>
            <a:ext cx="3017520" cy="804672"/>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Cazurile de rujeolă</a:t>
            </a:r>
            <a:endParaRPr lang="en-US" sz="1450" dirty="0"/>
          </a:p>
        </p:txBody>
      </p:sp>
      <p:sp>
        <p:nvSpPr>
          <p:cNvPr id="20" name="Text 18"/>
          <p:cNvSpPr/>
          <p:nvPr/>
        </p:nvSpPr>
        <p:spPr>
          <a:xfrm>
            <a:off x="4617720" y="3429000"/>
            <a:ext cx="3291840" cy="804672"/>
          </a:xfrm>
          <a:prstGeom prst="rect">
            <a:avLst/>
          </a:prstGeom>
          <a:noFill/>
          <a:ln/>
        </p:spPr>
        <p:txBody>
          <a:bodyPr wrap="square" lIns="0" tIns="0" rIns="0" bIns="0" rtlCol="0" anchor="ctr"/>
          <a:lstStyle/>
          <a:p>
            <a:pPr indent="0" marL="0">
              <a:buNone/>
            </a:pPr>
            <a:r>
              <a:rPr lang="en-US" sz="1550" b="1" dirty="0">
                <a:solidFill>
                  <a:srgbClr val="B02532"/>
                </a:solidFill>
                <a:latin typeface="Palatino Linotype" pitchFamily="34" charset="0"/>
                <a:ea typeface="Palatino Linotype" pitchFamily="34" charset="-122"/>
                <a:cs typeface="Palatino Linotype" pitchFamily="34" charset="-120"/>
              </a:rPr>
              <a:t>Institutul Național de Sănătate Publică</a:t>
            </a:r>
            <a:endParaRPr lang="en-US" sz="1550" dirty="0"/>
          </a:p>
        </p:txBody>
      </p:sp>
      <p:sp>
        <p:nvSpPr>
          <p:cNvPr id="21" name="Text 19"/>
          <p:cNvSpPr/>
          <p:nvPr/>
        </p:nvSpPr>
        <p:spPr>
          <a:xfrm>
            <a:off x="8001000" y="3429000"/>
            <a:ext cx="3474720" cy="804672"/>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Supraveghează bolile transmisibile.</a:t>
            </a:r>
            <a:endParaRPr lang="en-US" sz="1350" dirty="0"/>
          </a:p>
        </p:txBody>
      </p:sp>
      <p:sp>
        <p:nvSpPr>
          <p:cNvPr id="22" name="Shape 20"/>
          <p:cNvSpPr/>
          <p:nvPr/>
        </p:nvSpPr>
        <p:spPr>
          <a:xfrm>
            <a:off x="594360" y="4343400"/>
            <a:ext cx="10972800" cy="804672"/>
          </a:xfrm>
          <a:prstGeom prst="roundRect">
            <a:avLst>
              <a:gd name="adj" fmla="val 10227"/>
            </a:avLst>
          </a:prstGeom>
          <a:solidFill>
            <a:srgbClr val="ECEAE4"/>
          </a:solidFill>
          <a:ln w="12700">
            <a:solidFill>
              <a:srgbClr val="ECEAE4"/>
            </a:solidFill>
            <a:prstDash val="solid"/>
          </a:ln>
        </p:spPr>
        <p:txBody>
          <a:bodyPr/>
          <a:p/>
        </p:txBody>
      </p:sp>
      <p:sp>
        <p:nvSpPr>
          <p:cNvPr id="23" name="Shape 21"/>
          <p:cNvSpPr/>
          <p:nvPr/>
        </p:nvSpPr>
        <p:spPr>
          <a:xfrm>
            <a:off x="822960" y="4526280"/>
            <a:ext cx="438912" cy="438912"/>
          </a:xfrm>
          <a:prstGeom prst="ellipse">
            <a:avLst/>
          </a:prstGeom>
          <a:solidFill>
            <a:srgbClr val="8A6100"/>
          </a:solidFill>
          <a:ln/>
        </p:spPr>
        <p:txBody>
          <a:bodyPr/>
          <a:p/>
        </p:txBody>
      </p:sp>
      <p:sp>
        <p:nvSpPr>
          <p:cNvPr id="24" name="Text 22"/>
          <p:cNvSpPr/>
          <p:nvPr/>
        </p:nvSpPr>
        <p:spPr>
          <a:xfrm>
            <a:off x="822960" y="4526280"/>
            <a:ext cx="438912" cy="438912"/>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5" name="Text 23"/>
          <p:cNvSpPr/>
          <p:nvPr/>
        </p:nvSpPr>
        <p:spPr>
          <a:xfrm>
            <a:off x="1508760" y="4343400"/>
            <a:ext cx="3017520" cy="804672"/>
          </a:xfrm>
          <a:prstGeom prst="rect">
            <a:avLst/>
          </a:prstGeom>
          <a:noFill/>
          <a:ln/>
        </p:spPr>
        <p:txBody>
          <a:bodyPr wrap="square" lIns="0" tIns="0" rIns="0" bIns="0" rtlCol="0" anchor="ctr"/>
          <a:lstStyle/>
          <a:p>
            <a:pPr indent="0" marL="0">
              <a:buNone/>
            </a:pPr>
            <a:r>
              <a:rPr lang="en-US" sz="1450" dirty="0">
                <a:solidFill>
                  <a:srgbClr val="11121A"/>
                </a:solidFill>
                <a:latin typeface="Palatino Linotype" pitchFamily="34" charset="0"/>
                <a:ea typeface="Palatino Linotype" pitchFamily="34" charset="-122"/>
                <a:cs typeface="Palatino Linotype" pitchFamily="34" charset="-120"/>
              </a:rPr>
              <a:t>România față de Japonia și Brazilia</a:t>
            </a:r>
            <a:endParaRPr lang="en-US" sz="1450" dirty="0"/>
          </a:p>
        </p:txBody>
      </p:sp>
      <p:sp>
        <p:nvSpPr>
          <p:cNvPr id="26" name="Text 24"/>
          <p:cNvSpPr/>
          <p:nvPr/>
        </p:nvSpPr>
        <p:spPr>
          <a:xfrm>
            <a:off x="4617720" y="4343400"/>
            <a:ext cx="3291840" cy="804672"/>
          </a:xfrm>
          <a:prstGeom prst="rect">
            <a:avLst/>
          </a:prstGeom>
          <a:noFill/>
          <a:ln/>
        </p:spPr>
        <p:txBody>
          <a:bodyPr wrap="square" lIns="0" tIns="0" rIns="0" bIns="0" rtlCol="0" anchor="ctr"/>
          <a:lstStyle/>
          <a:p>
            <a:pPr indent="0" marL="0">
              <a:buNone/>
            </a:pPr>
            <a:r>
              <a:rPr lang="en-US" sz="1550" b="1" dirty="0">
                <a:solidFill>
                  <a:srgbClr val="8A6100"/>
                </a:solidFill>
                <a:latin typeface="Palatino Linotype" pitchFamily="34" charset="0"/>
                <a:ea typeface="Palatino Linotype" pitchFamily="34" charset="-122"/>
                <a:cs typeface="Palatino Linotype" pitchFamily="34" charset="-120"/>
              </a:rPr>
              <a:t>Organizația Mondială a Sănătății</a:t>
            </a:r>
            <a:endParaRPr lang="en-US" sz="1550" dirty="0"/>
          </a:p>
        </p:txBody>
      </p:sp>
      <p:sp>
        <p:nvSpPr>
          <p:cNvPr id="27" name="Text 25"/>
          <p:cNvSpPr/>
          <p:nvPr/>
        </p:nvSpPr>
        <p:spPr>
          <a:xfrm>
            <a:off x="8001000" y="4343400"/>
            <a:ext cx="3474720" cy="804672"/>
          </a:xfrm>
          <a:prstGeom prst="rect">
            <a:avLst/>
          </a:prstGeom>
          <a:noFill/>
          <a:ln/>
        </p:spPr>
        <p:txBody>
          <a:bodyPr wrap="square" lIns="0" tIns="0" rIns="0" bIns="0" rtlCol="0" anchor="ctr"/>
          <a:lstStyle/>
          <a:p>
            <a:pPr indent="0" marL="0">
              <a:buNone/>
            </a:pPr>
            <a:r>
              <a:rPr lang="en-US" sz="1350" dirty="0">
                <a:solidFill>
                  <a:srgbClr val="11121A"/>
                </a:solidFill>
                <a:latin typeface="Palatino Linotype" pitchFamily="34" charset="0"/>
                <a:ea typeface="Palatino Linotype" pitchFamily="34" charset="-122"/>
                <a:cs typeface="Palatino Linotype" pitchFamily="34" charset="-120"/>
              </a:rPr>
              <a:t>Date pe țări din toată lumea.</a:t>
            </a:r>
            <a:endParaRPr lang="en-US" sz="1350" dirty="0"/>
          </a:p>
        </p:txBody>
      </p:sp>
      <p:sp>
        <p:nvSpPr>
          <p:cNvPr id="28" name="Text 26"/>
          <p:cNvSpPr/>
          <p:nvPr/>
        </p:nvSpPr>
        <p:spPr>
          <a:xfrm>
            <a:off x="594360" y="5349240"/>
            <a:ext cx="10972800" cy="868680"/>
          </a:xfrm>
          <a:prstGeom prst="rect">
            <a:avLst/>
          </a:prstGeom>
          <a:noFill/>
          <a:ln/>
        </p:spPr>
        <p:txBody>
          <a:bodyPr wrap="square" lIns="0" tIns="0" rIns="0" bIns="0" rtlCol="0" anchor="t"/>
          <a:lstStyle/>
          <a:p>
            <a:pPr indent="0" marL="0">
              <a:buNone/>
            </a:pPr>
            <a:r>
              <a:rPr lang="en-US" sz="1600" b="1" dirty="0">
                <a:solidFill>
                  <a:srgbClr val="B02532"/>
                </a:solidFill>
                <a:latin typeface="Palatino Linotype" pitchFamily="34" charset="0"/>
                <a:ea typeface="Palatino Linotype" pitchFamily="34" charset="-122"/>
                <a:cs typeface="Palatino Linotype" pitchFamily="34" charset="-120"/>
              </a:rPr>
              <a:t>La unele întrebări răspund mai multe surse: alegeți cea care face comparația de care aveți nevoie; dacă sursa primară este alta, numiți-o.</a:t>
            </a:r>
            <a:endParaRPr lang="en-US" sz="16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AL TREILEA TERMEN NOU</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Sursa primară: cel care a numărat</a:t>
            </a:r>
            <a:endParaRPr lang="en-US" sz="3200" dirty="0"/>
          </a:p>
        </p:txBody>
      </p:sp>
      <p:sp>
        <p:nvSpPr>
          <p:cNvPr id="4" name="Shape 2"/>
          <p:cNvSpPr/>
          <p:nvPr/>
        </p:nvSpPr>
        <p:spPr>
          <a:xfrm>
            <a:off x="594360" y="1691640"/>
            <a:ext cx="5394960" cy="4251960"/>
          </a:xfrm>
          <a:prstGeom prst="roundRect">
            <a:avLst>
              <a:gd name="adj" fmla="val 1935"/>
            </a:avLst>
          </a:prstGeom>
          <a:solidFill>
            <a:srgbClr val="1D1F2B"/>
          </a:solidFill>
          <a:ln w="12700">
            <a:solidFill>
              <a:srgbClr val="1D1F2B"/>
            </a:solidFill>
            <a:prstDash val="solid"/>
          </a:ln>
        </p:spPr>
        <p:txBody>
          <a:bodyPr/>
          <a:p/>
        </p:txBody>
      </p:sp>
      <p:sp>
        <p:nvSpPr>
          <p:cNvPr id="5" name="Shape 3"/>
          <p:cNvSpPr/>
          <p:nvPr/>
        </p:nvSpPr>
        <p:spPr>
          <a:xfrm>
            <a:off x="594360" y="1691640"/>
            <a:ext cx="5394960" cy="91440"/>
          </a:xfrm>
          <a:prstGeom prst="rect">
            <a:avLst/>
          </a:prstGeom>
          <a:solidFill>
            <a:srgbClr val="27D3BE"/>
          </a:solidFill>
          <a:ln w="12700">
            <a:solidFill>
              <a:srgbClr val="27D3BE"/>
            </a:solidFill>
            <a:prstDash val="solid"/>
          </a:ln>
        </p:spPr>
        <p:txBody>
          <a:bodyPr/>
          <a:p/>
        </p:txBody>
      </p:sp>
      <p:sp>
        <p:nvSpPr>
          <p:cNvPr id="6" name="Text 4"/>
          <p:cNvSpPr/>
          <p:nvPr/>
        </p:nvSpPr>
        <p:spPr>
          <a:xfrm>
            <a:off x="914400" y="1920240"/>
            <a:ext cx="4754880" cy="502920"/>
          </a:xfrm>
          <a:prstGeom prst="rect">
            <a:avLst/>
          </a:prstGeom>
          <a:noFill/>
          <a:ln/>
        </p:spPr>
        <p:txBody>
          <a:bodyPr wrap="square" lIns="0" tIns="0" rIns="0" bIns="0" rtlCol="0" anchor="t"/>
          <a:lstStyle/>
          <a:p>
            <a:pPr indent="0" marL="0">
              <a:buNone/>
            </a:pPr>
            <a:r>
              <a:rPr lang="en-US" sz="2600" b="1" dirty="0">
                <a:solidFill>
                  <a:srgbClr val="27D3BE"/>
                </a:solidFill>
                <a:latin typeface="Palatino Linotype" pitchFamily="34" charset="0"/>
                <a:ea typeface="Palatino Linotype" pitchFamily="34" charset="-122"/>
                <a:cs typeface="Palatino Linotype" pitchFamily="34" charset="-120"/>
              </a:rPr>
              <a:t>Sursă primară</a:t>
            </a:r>
            <a:endParaRPr lang="en-US" sz="2600" dirty="0"/>
          </a:p>
        </p:txBody>
      </p:sp>
      <p:sp>
        <p:nvSpPr>
          <p:cNvPr id="7" name="Text 5"/>
          <p:cNvSpPr/>
          <p:nvPr/>
        </p:nvSpPr>
        <p:spPr>
          <a:xfrm>
            <a:off x="914400" y="2560320"/>
            <a:ext cx="4754880" cy="1097280"/>
          </a:xfrm>
          <a:prstGeom prst="rect">
            <a:avLst/>
          </a:prstGeom>
          <a:noFill/>
          <a:ln/>
        </p:spPr>
        <p:txBody>
          <a:bodyPr wrap="square" lIns="0" tIns="0" rIns="0" bIns="0" rtlCol="0" anchor="t"/>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Instituția care a strâns sau a produs datele: cel care a numărat, nu cel care a povestit.</a:t>
            </a:r>
            <a:endParaRPr lang="en-US" sz="1650" dirty="0"/>
          </a:p>
        </p:txBody>
      </p:sp>
      <p:sp>
        <p:nvSpPr>
          <p:cNvPr id="8" name="Shape 6"/>
          <p:cNvSpPr/>
          <p:nvPr/>
        </p:nvSpPr>
        <p:spPr>
          <a:xfrm>
            <a:off x="914400" y="3749040"/>
            <a:ext cx="4754880" cy="18288"/>
          </a:xfrm>
          <a:prstGeom prst="rect">
            <a:avLst/>
          </a:prstGeom>
          <a:solidFill>
            <a:srgbClr val="3A3E52"/>
          </a:solidFill>
          <a:ln/>
        </p:spPr>
        <p:txBody>
          <a:bodyPr/>
          <a:p/>
        </p:txBody>
      </p:sp>
      <p:sp>
        <p:nvSpPr>
          <p:cNvPr id="9" name="Text 7"/>
          <p:cNvSpPr/>
          <p:nvPr/>
        </p:nvSpPr>
        <p:spPr>
          <a:xfrm>
            <a:off x="914400" y="3886200"/>
            <a:ext cx="4754880" cy="1920240"/>
          </a:xfrm>
          <a:prstGeom prst="rect">
            <a:avLst/>
          </a:prstGeom>
          <a:noFill/>
          <a:ln/>
        </p:spPr>
        <p:txBody>
          <a:bodyPr wrap="square" lIns="0" tIns="0" rIns="0" bIns="0" rtlCol="0" anchor="t"/>
          <a:lstStyle/>
          <a:p>
            <a:pPr indent="0" marL="0">
              <a:buNone/>
            </a:pPr>
            <a:r>
              <a:rPr lang="en-US" sz="1500" b="1" dirty="0">
                <a:solidFill>
                  <a:srgbClr val="27D3BE"/>
                </a:solidFill>
                <a:latin typeface="Palatino Linotype" pitchFamily="34" charset="0"/>
                <a:ea typeface="Palatino Linotype" pitchFamily="34" charset="-122"/>
                <a:cs typeface="Palatino Linotype" pitchFamily="34" charset="-120"/>
              </a:rPr>
              <a:t>Exemplu. </a:t>
            </a:r>
            <a:pPr indent="0" marL="0">
              <a:buNone/>
            </a:pPr>
            <a:r>
              <a:rPr lang="en-US" sz="1500" dirty="0">
                <a:solidFill>
                  <a:srgbClr val="E6E8EF"/>
                </a:solidFill>
                <a:latin typeface="Palatino Linotype" pitchFamily="34" charset="0"/>
                <a:ea typeface="Palatino Linotype" pitchFamily="34" charset="-122"/>
                <a:cs typeface="Palatino Linotype" pitchFamily="34" charset="-120"/>
              </a:rPr>
              <a:t>Eurostat publică decesele rutiere din baza CARE, cu datele raportate de țări. Țările sunt sursa primară.</a:t>
            </a:r>
            <a:endParaRPr lang="en-US" sz="1500" dirty="0"/>
          </a:p>
        </p:txBody>
      </p:sp>
      <p:sp>
        <p:nvSpPr>
          <p:cNvPr id="10" name="Shape 8"/>
          <p:cNvSpPr/>
          <p:nvPr/>
        </p:nvSpPr>
        <p:spPr>
          <a:xfrm>
            <a:off x="6172200" y="1691640"/>
            <a:ext cx="5394960" cy="4251960"/>
          </a:xfrm>
          <a:prstGeom prst="roundRect">
            <a:avLst>
              <a:gd name="adj" fmla="val 1935"/>
            </a:avLst>
          </a:prstGeom>
          <a:solidFill>
            <a:srgbClr val="FF4757"/>
          </a:solidFill>
          <a:ln w="12700">
            <a:solidFill>
              <a:srgbClr val="FF4757"/>
            </a:solidFill>
            <a:prstDash val="solid"/>
          </a:ln>
        </p:spPr>
        <p:txBody>
          <a:bodyPr/>
          <a:p/>
        </p:txBody>
      </p:sp>
      <p:sp>
        <p:nvSpPr>
          <p:cNvPr id="11" name="Text 9"/>
          <p:cNvSpPr/>
          <p:nvPr/>
        </p:nvSpPr>
        <p:spPr>
          <a:xfrm>
            <a:off x="6492240" y="1920240"/>
            <a:ext cx="4754880" cy="365760"/>
          </a:xfrm>
          <a:prstGeom prst="rect">
            <a:avLst/>
          </a:prstGeom>
          <a:noFill/>
          <a:ln/>
        </p:spPr>
        <p:txBody>
          <a:bodyPr wrap="square" lIns="0" tIns="0" rIns="0" bIns="0" rtlCol="0" anchor="t"/>
          <a:lstStyle/>
          <a:p>
            <a:pPr indent="0" marL="0">
              <a:buNone/>
            </a:pPr>
            <a:r>
              <a:rPr lang="en-US" sz="1300" b="1" spc="300" kern="0" dirty="0">
                <a:solidFill>
                  <a:srgbClr val="2E060B"/>
                </a:solidFill>
                <a:latin typeface="Palatino Linotype" pitchFamily="34" charset="0"/>
                <a:ea typeface="Palatino Linotype" pitchFamily="34" charset="-122"/>
                <a:cs typeface="Palatino Linotype" pitchFamily="34" charset="-120"/>
              </a:rPr>
              <a:t>REGULA PROIECTULUI</a:t>
            </a:r>
            <a:endParaRPr lang="en-US" sz="1300" dirty="0"/>
          </a:p>
        </p:txBody>
      </p:sp>
      <p:sp>
        <p:nvSpPr>
          <p:cNvPr id="12" name="Text 10"/>
          <p:cNvSpPr/>
          <p:nvPr/>
        </p:nvSpPr>
        <p:spPr>
          <a:xfrm>
            <a:off x="6492240" y="2423160"/>
            <a:ext cx="4754880" cy="1737360"/>
          </a:xfrm>
          <a:prstGeom prst="rect">
            <a:avLst/>
          </a:prstGeom>
          <a:noFill/>
          <a:ln/>
        </p:spPr>
        <p:txBody>
          <a:bodyPr wrap="square" lIns="0" tIns="0" rIns="0" bIns="0" rtlCol="0" anchor="t"/>
          <a:lstStyle/>
          <a:p>
            <a:pPr indent="0" marL="0">
              <a:buNone/>
            </a:pPr>
            <a:r>
              <a:rPr lang="en-US" sz="1800" b="1" dirty="0">
                <a:solidFill>
                  <a:srgbClr val="2E060B"/>
                </a:solidFill>
                <a:latin typeface="Palatino Linotype" pitchFamily="34" charset="0"/>
                <a:ea typeface="Palatino Linotype" pitchFamily="34" charset="-122"/>
                <a:cs typeface="Palatino Linotype" pitchFamily="34" charset="-120"/>
              </a:rPr>
              <a:t>Citați sursa de unde ați luat cifra. Dacă sursa doar republică datele altcuiva și metadatele indică acest lucru, numiți și sursa primară.</a:t>
            </a:r>
            <a:endParaRPr lang="en-US" sz="1800" dirty="0"/>
          </a:p>
        </p:txBody>
      </p:sp>
      <p:sp>
        <p:nvSpPr>
          <p:cNvPr id="13" name="Text 11"/>
          <p:cNvSpPr/>
          <p:nvPr/>
        </p:nvSpPr>
        <p:spPr>
          <a:xfrm>
            <a:off x="6492240" y="4297680"/>
            <a:ext cx="4754880" cy="1463040"/>
          </a:xfrm>
          <a:prstGeom prst="rect">
            <a:avLst/>
          </a:prstGeom>
          <a:noFill/>
          <a:ln/>
        </p:spPr>
        <p:txBody>
          <a:bodyPr wrap="square" lIns="0" tIns="0" rIns="0" bIns="0" rtlCol="0" anchor="t"/>
          <a:lstStyle/>
          <a:p>
            <a:pPr indent="0" marL="0">
              <a:buNone/>
            </a:pPr>
            <a:r>
              <a:rPr lang="en-US" sz="1600" dirty="0">
                <a:solidFill>
                  <a:srgbClr val="2E060B"/>
                </a:solidFill>
                <a:latin typeface="Palatino Linotype" pitchFamily="34" charset="0"/>
                <a:ea typeface="Palatino Linotype" pitchFamily="34" charset="-122"/>
                <a:cs typeface="Palatino Linotype" pitchFamily="34" charset="-120"/>
              </a:rPr>
              <a:t>Un articol, un comunicat sau o postare nu sunt surse pentru proiect.</a:t>
            </a:r>
            <a:endParaRPr lang="en-US" sz="16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PRODUSUL SEMINARULUI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2900" b="1" dirty="0">
                <a:solidFill>
                  <a:srgbClr val="11121A"/>
                </a:solidFill>
                <a:latin typeface="Palatino Linotype" pitchFamily="34" charset="0"/>
                <a:ea typeface="Palatino Linotype" pitchFamily="34" charset="-122"/>
                <a:cs typeface="Palatino Linotype" pitchFamily="34" charset="-120"/>
              </a:rPr>
              <a:t>Registrul surselor: nouă coloane, exemplul deceselor rutiere</a:t>
            </a:r>
            <a:endParaRPr lang="en-US" sz="2900" dirty="0"/>
          </a:p>
        </p:txBody>
      </p:sp>
      <p:sp>
        <p:nvSpPr>
          <p:cNvPr id="4" name="Shape 2"/>
          <p:cNvSpPr/>
          <p:nvPr/>
        </p:nvSpPr>
        <p:spPr>
          <a:xfrm>
            <a:off x="594360" y="1554480"/>
            <a:ext cx="10972800" cy="438912"/>
          </a:xfrm>
          <a:prstGeom prst="roundRect">
            <a:avLst>
              <a:gd name="adj" fmla="val 18750"/>
            </a:avLst>
          </a:prstGeom>
          <a:solidFill>
            <a:srgbClr val="ECEAE4"/>
          </a:solidFill>
          <a:ln w="12700">
            <a:solidFill>
              <a:srgbClr val="ECEAE4"/>
            </a:solidFill>
            <a:prstDash val="solid"/>
          </a:ln>
        </p:spPr>
        <p:txBody>
          <a:bodyPr/>
          <a:p/>
        </p:txBody>
      </p:sp>
      <p:sp>
        <p:nvSpPr>
          <p:cNvPr id="5" name="Text 3"/>
          <p:cNvSpPr/>
          <p:nvPr/>
        </p:nvSpPr>
        <p:spPr>
          <a:xfrm>
            <a:off x="822960" y="1554480"/>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Nr.</a:t>
            </a:r>
            <a:endParaRPr lang="en-US" sz="1500" dirty="0"/>
          </a:p>
        </p:txBody>
      </p:sp>
      <p:sp>
        <p:nvSpPr>
          <p:cNvPr id="6" name="Text 4"/>
          <p:cNvSpPr/>
          <p:nvPr/>
        </p:nvSpPr>
        <p:spPr>
          <a:xfrm>
            <a:off x="4937760" y="1554480"/>
            <a:ext cx="6492240" cy="438912"/>
          </a:xfrm>
          <a:prstGeom prst="rect">
            <a:avLst/>
          </a:prstGeom>
          <a:noFill/>
          <a:ln/>
        </p:spPr>
        <p:txBody>
          <a:bodyPr wrap="square" lIns="0" tIns="0" rIns="0" bIns="0" rtlCol="0" anchor="ctr"/>
          <a:lstStyle/>
          <a:p>
            <a:pPr indent="0" marL="0">
              <a:buNone/>
            </a:pPr>
            <a:r>
              <a:rPr lang="en-US" sz="1500" dirty="0">
                <a:solidFill>
                  <a:srgbClr val="585A64"/>
                </a:solidFill>
                <a:latin typeface="Palatino Linotype" pitchFamily="34" charset="0"/>
                <a:ea typeface="Palatino Linotype" pitchFamily="34" charset="-122"/>
                <a:cs typeface="Palatino Linotype" pitchFamily="34" charset="-120"/>
              </a:rPr>
              <a:t>1</a:t>
            </a:r>
            <a:endParaRPr lang="en-US" sz="1500" dirty="0"/>
          </a:p>
        </p:txBody>
      </p:sp>
      <p:sp>
        <p:nvSpPr>
          <p:cNvPr id="7" name="Shape 5"/>
          <p:cNvSpPr/>
          <p:nvPr/>
        </p:nvSpPr>
        <p:spPr>
          <a:xfrm>
            <a:off x="594360" y="2048256"/>
            <a:ext cx="10972800" cy="438912"/>
          </a:xfrm>
          <a:prstGeom prst="roundRect">
            <a:avLst>
              <a:gd name="adj" fmla="val 18750"/>
            </a:avLst>
          </a:prstGeom>
          <a:solidFill>
            <a:srgbClr val="F9F8F5"/>
          </a:solidFill>
          <a:ln w="12700">
            <a:solidFill>
              <a:srgbClr val="F9F8F5"/>
            </a:solidFill>
            <a:prstDash val="solid"/>
          </a:ln>
        </p:spPr>
        <p:txBody>
          <a:bodyPr/>
          <a:p/>
        </p:txBody>
      </p:sp>
      <p:sp>
        <p:nvSpPr>
          <p:cNvPr id="8" name="Text 6"/>
          <p:cNvSpPr/>
          <p:nvPr/>
        </p:nvSpPr>
        <p:spPr>
          <a:xfrm>
            <a:off x="822960" y="2048256"/>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Instituția și setul de date</a:t>
            </a:r>
            <a:endParaRPr lang="en-US" sz="1500" dirty="0"/>
          </a:p>
        </p:txBody>
      </p:sp>
      <p:sp>
        <p:nvSpPr>
          <p:cNvPr id="9" name="Text 7"/>
          <p:cNvSpPr/>
          <p:nvPr/>
        </p:nvSpPr>
        <p:spPr>
          <a:xfrm>
            <a:off x="4937760" y="2048256"/>
            <a:ext cx="6492240" cy="43891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Eurostat, sdg_11_40</a:t>
            </a:r>
            <a:endParaRPr lang="en-US" sz="1500" dirty="0"/>
          </a:p>
        </p:txBody>
      </p:sp>
      <p:sp>
        <p:nvSpPr>
          <p:cNvPr id="10" name="Shape 8"/>
          <p:cNvSpPr/>
          <p:nvPr/>
        </p:nvSpPr>
        <p:spPr>
          <a:xfrm>
            <a:off x="594360" y="2542032"/>
            <a:ext cx="10972800" cy="438912"/>
          </a:xfrm>
          <a:prstGeom prst="roundRect">
            <a:avLst>
              <a:gd name="adj" fmla="val 18750"/>
            </a:avLst>
          </a:prstGeom>
          <a:solidFill>
            <a:srgbClr val="ECEAE4"/>
          </a:solidFill>
          <a:ln w="12700">
            <a:solidFill>
              <a:srgbClr val="ECEAE4"/>
            </a:solidFill>
            <a:prstDash val="solid"/>
          </a:ln>
        </p:spPr>
        <p:txBody>
          <a:bodyPr/>
          <a:p/>
        </p:txBody>
      </p:sp>
      <p:sp>
        <p:nvSpPr>
          <p:cNvPr id="11" name="Text 9"/>
          <p:cNvSpPr/>
          <p:nvPr/>
        </p:nvSpPr>
        <p:spPr>
          <a:xfrm>
            <a:off x="822960" y="2542032"/>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Sursa primară</a:t>
            </a:r>
            <a:endParaRPr lang="en-US" sz="1500" dirty="0"/>
          </a:p>
        </p:txBody>
      </p:sp>
      <p:sp>
        <p:nvSpPr>
          <p:cNvPr id="12" name="Text 10"/>
          <p:cNvSpPr/>
          <p:nvPr/>
        </p:nvSpPr>
        <p:spPr>
          <a:xfrm>
            <a:off x="4937760" y="2542032"/>
            <a:ext cx="6492240" cy="43891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țările, prin baza CARE a Comisiei Europene (DG MOVE)</a:t>
            </a:r>
            <a:endParaRPr lang="en-US" sz="1500" dirty="0"/>
          </a:p>
        </p:txBody>
      </p:sp>
      <p:sp>
        <p:nvSpPr>
          <p:cNvPr id="13" name="Shape 11"/>
          <p:cNvSpPr/>
          <p:nvPr/>
        </p:nvSpPr>
        <p:spPr>
          <a:xfrm>
            <a:off x="594360" y="3035808"/>
            <a:ext cx="10972800" cy="438912"/>
          </a:xfrm>
          <a:prstGeom prst="roundRect">
            <a:avLst>
              <a:gd name="adj" fmla="val 18750"/>
            </a:avLst>
          </a:prstGeom>
          <a:solidFill>
            <a:srgbClr val="F9F8F5"/>
          </a:solidFill>
          <a:ln w="12700">
            <a:solidFill>
              <a:srgbClr val="F9F8F5"/>
            </a:solidFill>
            <a:prstDash val="solid"/>
          </a:ln>
        </p:spPr>
        <p:txBody>
          <a:bodyPr/>
          <a:p/>
        </p:txBody>
      </p:sp>
      <p:sp>
        <p:nvSpPr>
          <p:cNvPr id="14" name="Text 12"/>
          <p:cNvSpPr/>
          <p:nvPr/>
        </p:nvSpPr>
        <p:spPr>
          <a:xfrm>
            <a:off x="822960" y="3035808"/>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Indicatorul și ce s-a numărat</a:t>
            </a:r>
            <a:endParaRPr lang="en-US" sz="1500" dirty="0"/>
          </a:p>
        </p:txBody>
      </p:sp>
      <p:sp>
        <p:nvSpPr>
          <p:cNvPr id="15" name="Text 13"/>
          <p:cNvSpPr/>
          <p:nvPr/>
        </p:nvSpPr>
        <p:spPr>
          <a:xfrm>
            <a:off x="4937760" y="3035808"/>
            <a:ext cx="6492240" cy="43891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decese în accidente rutiere, în cel mult 30 de zile de la accident</a:t>
            </a:r>
            <a:endParaRPr lang="en-US" sz="1500" dirty="0"/>
          </a:p>
        </p:txBody>
      </p:sp>
      <p:sp>
        <p:nvSpPr>
          <p:cNvPr id="16" name="Shape 14"/>
          <p:cNvSpPr/>
          <p:nvPr/>
        </p:nvSpPr>
        <p:spPr>
          <a:xfrm>
            <a:off x="594360" y="3529584"/>
            <a:ext cx="10972800" cy="438912"/>
          </a:xfrm>
          <a:prstGeom prst="roundRect">
            <a:avLst>
              <a:gd name="adj" fmla="val 18750"/>
            </a:avLst>
          </a:prstGeom>
          <a:solidFill>
            <a:srgbClr val="ECEAE4"/>
          </a:solidFill>
          <a:ln w="12700">
            <a:solidFill>
              <a:srgbClr val="ECEAE4"/>
            </a:solidFill>
            <a:prstDash val="solid"/>
          </a:ln>
        </p:spPr>
        <p:txBody>
          <a:bodyPr/>
          <a:p/>
        </p:txBody>
      </p:sp>
      <p:sp>
        <p:nvSpPr>
          <p:cNvPr id="17" name="Text 15"/>
          <p:cNvSpPr/>
          <p:nvPr/>
        </p:nvSpPr>
        <p:spPr>
          <a:xfrm>
            <a:off x="822960" y="3529584"/>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Unitatea</a:t>
            </a:r>
            <a:endParaRPr lang="en-US" sz="1500" dirty="0"/>
          </a:p>
        </p:txBody>
      </p:sp>
      <p:sp>
        <p:nvSpPr>
          <p:cNvPr id="18" name="Text 16"/>
          <p:cNvSpPr/>
          <p:nvPr/>
        </p:nvSpPr>
        <p:spPr>
          <a:xfrm>
            <a:off x="4937760" y="3529584"/>
            <a:ext cx="6492240" cy="43891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număr; rată la 100 000 de locuitori</a:t>
            </a:r>
            <a:endParaRPr lang="en-US" sz="1500" dirty="0"/>
          </a:p>
        </p:txBody>
      </p:sp>
      <p:sp>
        <p:nvSpPr>
          <p:cNvPr id="19" name="Shape 17"/>
          <p:cNvSpPr/>
          <p:nvPr/>
        </p:nvSpPr>
        <p:spPr>
          <a:xfrm>
            <a:off x="594360" y="4023360"/>
            <a:ext cx="10972800" cy="438912"/>
          </a:xfrm>
          <a:prstGeom prst="roundRect">
            <a:avLst>
              <a:gd name="adj" fmla="val 18750"/>
            </a:avLst>
          </a:prstGeom>
          <a:solidFill>
            <a:srgbClr val="F9F8F5"/>
          </a:solidFill>
          <a:ln w="12700">
            <a:solidFill>
              <a:srgbClr val="F9F8F5"/>
            </a:solidFill>
            <a:prstDash val="solid"/>
          </a:ln>
        </p:spPr>
        <p:txBody>
          <a:bodyPr/>
          <a:p/>
        </p:txBody>
      </p:sp>
      <p:sp>
        <p:nvSpPr>
          <p:cNvPr id="20" name="Text 18"/>
          <p:cNvSpPr/>
          <p:nvPr/>
        </p:nvSpPr>
        <p:spPr>
          <a:xfrm>
            <a:off x="822960" y="4023360"/>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Cel mai recent an publicat</a:t>
            </a:r>
            <a:endParaRPr lang="en-US" sz="1500" dirty="0"/>
          </a:p>
        </p:txBody>
      </p:sp>
      <p:sp>
        <p:nvSpPr>
          <p:cNvPr id="21" name="Text 19"/>
          <p:cNvSpPr/>
          <p:nvPr/>
        </p:nvSpPr>
        <p:spPr>
          <a:xfrm>
            <a:off x="4937760" y="4023360"/>
            <a:ext cx="6492240" cy="43891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2024</a:t>
            </a:r>
            <a:endParaRPr lang="en-US" sz="1500" dirty="0"/>
          </a:p>
        </p:txBody>
      </p:sp>
      <p:sp>
        <p:nvSpPr>
          <p:cNvPr id="22" name="Shape 20"/>
          <p:cNvSpPr/>
          <p:nvPr/>
        </p:nvSpPr>
        <p:spPr>
          <a:xfrm>
            <a:off x="594360" y="4517136"/>
            <a:ext cx="10972800" cy="438912"/>
          </a:xfrm>
          <a:prstGeom prst="roundRect">
            <a:avLst>
              <a:gd name="adj" fmla="val 18750"/>
            </a:avLst>
          </a:prstGeom>
          <a:solidFill>
            <a:srgbClr val="ECEAE4"/>
          </a:solidFill>
          <a:ln w="12700">
            <a:solidFill>
              <a:srgbClr val="ECEAE4"/>
            </a:solidFill>
            <a:prstDash val="solid"/>
          </a:ln>
        </p:spPr>
        <p:txBody>
          <a:bodyPr/>
          <a:p/>
        </p:txBody>
      </p:sp>
      <p:sp>
        <p:nvSpPr>
          <p:cNvPr id="23" name="Text 21"/>
          <p:cNvSpPr/>
          <p:nvPr/>
        </p:nvSpPr>
        <p:spPr>
          <a:xfrm>
            <a:off x="822960" y="4517136"/>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Nivelul teritorial</a:t>
            </a:r>
            <a:endParaRPr lang="en-US" sz="1500" dirty="0"/>
          </a:p>
        </p:txBody>
      </p:sp>
      <p:sp>
        <p:nvSpPr>
          <p:cNvPr id="24" name="Text 22"/>
          <p:cNvSpPr/>
          <p:nvPr/>
        </p:nvSpPr>
        <p:spPr>
          <a:xfrm>
            <a:off x="4937760" y="4517136"/>
            <a:ext cx="6492240" cy="43891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România; Uniunea Europeană</a:t>
            </a:r>
            <a:endParaRPr lang="en-US" sz="1500" dirty="0"/>
          </a:p>
        </p:txBody>
      </p:sp>
      <p:sp>
        <p:nvSpPr>
          <p:cNvPr id="25" name="Shape 23"/>
          <p:cNvSpPr/>
          <p:nvPr/>
        </p:nvSpPr>
        <p:spPr>
          <a:xfrm>
            <a:off x="594360" y="5010912"/>
            <a:ext cx="10972800" cy="438912"/>
          </a:xfrm>
          <a:prstGeom prst="roundRect">
            <a:avLst>
              <a:gd name="adj" fmla="val 18750"/>
            </a:avLst>
          </a:prstGeom>
          <a:solidFill>
            <a:srgbClr val="F9F8F5"/>
          </a:solidFill>
          <a:ln w="12700">
            <a:solidFill>
              <a:srgbClr val="F9F8F5"/>
            </a:solidFill>
            <a:prstDash val="solid"/>
          </a:ln>
        </p:spPr>
        <p:txBody>
          <a:bodyPr/>
          <a:p/>
        </p:txBody>
      </p:sp>
      <p:sp>
        <p:nvSpPr>
          <p:cNvPr id="26" name="Text 24"/>
          <p:cNvSpPr/>
          <p:nvPr/>
        </p:nvSpPr>
        <p:spPr>
          <a:xfrm>
            <a:off x="822960" y="5010912"/>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Mențiunile sursei</a:t>
            </a:r>
            <a:endParaRPr lang="en-US" sz="1500" dirty="0"/>
          </a:p>
        </p:txBody>
      </p:sp>
      <p:sp>
        <p:nvSpPr>
          <p:cNvPr id="27" name="Text 25"/>
          <p:cNvSpPr/>
          <p:nvPr/>
        </p:nvSpPr>
        <p:spPr>
          <a:xfrm>
            <a:off x="4937760" y="5010912"/>
            <a:ext cx="6492240" cy="43891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rata României din 2024 este estimată</a:t>
            </a:r>
            <a:endParaRPr lang="en-US" sz="1500" dirty="0"/>
          </a:p>
        </p:txBody>
      </p:sp>
      <p:sp>
        <p:nvSpPr>
          <p:cNvPr id="28" name="Shape 26"/>
          <p:cNvSpPr/>
          <p:nvPr/>
        </p:nvSpPr>
        <p:spPr>
          <a:xfrm>
            <a:off x="594360" y="5504688"/>
            <a:ext cx="10972800" cy="438912"/>
          </a:xfrm>
          <a:prstGeom prst="roundRect">
            <a:avLst>
              <a:gd name="adj" fmla="val 18750"/>
            </a:avLst>
          </a:prstGeom>
          <a:solidFill>
            <a:srgbClr val="ECEAE4"/>
          </a:solidFill>
          <a:ln w="12700">
            <a:solidFill>
              <a:srgbClr val="ECEAE4"/>
            </a:solidFill>
            <a:prstDash val="solid"/>
          </a:ln>
        </p:spPr>
        <p:txBody>
          <a:bodyPr/>
          <a:p/>
        </p:txBody>
      </p:sp>
      <p:sp>
        <p:nvSpPr>
          <p:cNvPr id="29" name="Text 27"/>
          <p:cNvSpPr/>
          <p:nvPr/>
        </p:nvSpPr>
        <p:spPr>
          <a:xfrm>
            <a:off x="822960" y="5504688"/>
            <a:ext cx="4023360" cy="438912"/>
          </a:xfrm>
          <a:prstGeom prst="rect">
            <a:avLst/>
          </a:prstGeom>
          <a:noFill/>
          <a:ln/>
        </p:spPr>
        <p:txBody>
          <a:bodyPr wrap="square" lIns="0" tIns="0" rIns="0" bIns="0" rtlCol="0" anchor="ctr"/>
          <a:lstStyle/>
          <a:p>
            <a:pPr indent="0" marL="0">
              <a:buNone/>
            </a:pPr>
            <a:r>
              <a:rPr lang="en-US" sz="1500" b="1" dirty="0">
                <a:solidFill>
                  <a:srgbClr val="11121A"/>
                </a:solidFill>
                <a:latin typeface="Palatino Linotype" pitchFamily="34" charset="0"/>
                <a:ea typeface="Palatino Linotype" pitchFamily="34" charset="-122"/>
                <a:cs typeface="Palatino Linotype" pitchFamily="34" charset="-120"/>
              </a:rPr>
              <a:t>Adresa și data accesării</a:t>
            </a:r>
            <a:endParaRPr lang="en-US" sz="1500" dirty="0"/>
          </a:p>
        </p:txBody>
      </p:sp>
      <p:sp>
        <p:nvSpPr>
          <p:cNvPr id="30" name="Text 28"/>
          <p:cNvSpPr/>
          <p:nvPr/>
        </p:nvSpPr>
        <p:spPr>
          <a:xfrm>
            <a:off x="4937760" y="5504688"/>
            <a:ext cx="6492240" cy="438912"/>
          </a:xfrm>
          <a:prstGeom prst="rect">
            <a:avLst/>
          </a:prstGeom>
          <a:noFill/>
          <a:ln/>
        </p:spPr>
        <p:txBody>
          <a:bodyPr wrap="square" lIns="0" tIns="0" rIns="0" bIns="0" rtlCol="0" anchor="ctr"/>
          <a:lstStyle/>
          <a:p>
            <a:pPr indent="0" marL="0">
              <a:buNone/>
            </a:pPr>
            <a:r>
              <a:rPr lang="en-US" sz="1500" dirty="0">
                <a:solidFill>
                  <a:srgbClr val="0E7C6B"/>
                </a:solidFill>
                <a:latin typeface="Palatino Linotype" pitchFamily="34" charset="0"/>
                <a:ea typeface="Palatino Linotype" pitchFamily="34" charset="-122"/>
                <a:cs typeface="Palatino Linotype" pitchFamily="34" charset="-120"/>
              </a:rPr>
              <a:t>adresa setului; ziua descărcării</a:t>
            </a:r>
            <a:endParaRPr lang="en-US" sz="15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ECHIPĂ · 17 MINUTE</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LUCRU ÎN ECHIPĂ</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Primul rând din registrul surselor</a:t>
            </a:r>
            <a:endParaRPr lang="en-US" sz="3200" dirty="0"/>
          </a:p>
        </p:txBody>
      </p:sp>
      <p:sp>
        <p:nvSpPr>
          <p:cNvPr id="6" name="Shape 4"/>
          <p:cNvSpPr/>
          <p:nvPr/>
        </p:nvSpPr>
        <p:spPr>
          <a:xfrm>
            <a:off x="594360" y="1691640"/>
            <a:ext cx="7223760" cy="914400"/>
          </a:xfrm>
          <a:prstGeom prst="roundRect">
            <a:avLst>
              <a:gd name="adj" fmla="val 9000"/>
            </a:avLst>
          </a:prstGeom>
          <a:solidFill>
            <a:srgbClr val="1D1F2B"/>
          </a:solidFill>
          <a:ln w="12700">
            <a:solidFill>
              <a:srgbClr val="1D1F2B"/>
            </a:solidFill>
            <a:prstDash val="solid"/>
          </a:ln>
        </p:spPr>
        <p:txBody>
          <a:bodyPr/>
          <a:p/>
        </p:txBody>
      </p:sp>
      <p:sp>
        <p:nvSpPr>
          <p:cNvPr id="7" name="Shape 5"/>
          <p:cNvSpPr/>
          <p:nvPr/>
        </p:nvSpPr>
        <p:spPr>
          <a:xfrm>
            <a:off x="822960" y="1938528"/>
            <a:ext cx="420624" cy="420624"/>
          </a:xfrm>
          <a:prstGeom prst="ellipse">
            <a:avLst/>
          </a:prstGeom>
          <a:solidFill>
            <a:srgbClr val="FFC24B"/>
          </a:solidFill>
          <a:ln/>
        </p:spPr>
        <p:txBody>
          <a:bodyPr/>
          <a:p/>
        </p:txBody>
      </p:sp>
      <p:sp>
        <p:nvSpPr>
          <p:cNvPr id="8" name="Text 6"/>
          <p:cNvSpPr/>
          <p:nvPr/>
        </p:nvSpPr>
        <p:spPr>
          <a:xfrm>
            <a:off x="822960" y="19385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463040" y="1691640"/>
            <a:ext cx="621792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Deschideți, într-una dintre cele patru surse, un set de date pentru problema echipei.</a:t>
            </a:r>
            <a:endParaRPr lang="en-US" sz="1650" dirty="0"/>
          </a:p>
        </p:txBody>
      </p:sp>
      <p:sp>
        <p:nvSpPr>
          <p:cNvPr id="10" name="Shape 8"/>
          <p:cNvSpPr/>
          <p:nvPr/>
        </p:nvSpPr>
        <p:spPr>
          <a:xfrm>
            <a:off x="594360" y="2715768"/>
            <a:ext cx="7223760" cy="914400"/>
          </a:xfrm>
          <a:prstGeom prst="roundRect">
            <a:avLst>
              <a:gd name="adj" fmla="val 9000"/>
            </a:avLst>
          </a:prstGeom>
          <a:solidFill>
            <a:srgbClr val="1D1F2B"/>
          </a:solidFill>
          <a:ln w="12700">
            <a:solidFill>
              <a:srgbClr val="1D1F2B"/>
            </a:solidFill>
            <a:prstDash val="solid"/>
          </a:ln>
        </p:spPr>
        <p:txBody>
          <a:bodyPr/>
          <a:p/>
        </p:txBody>
      </p:sp>
      <p:sp>
        <p:nvSpPr>
          <p:cNvPr id="11" name="Shape 9"/>
          <p:cNvSpPr/>
          <p:nvPr/>
        </p:nvSpPr>
        <p:spPr>
          <a:xfrm>
            <a:off x="822960" y="2962656"/>
            <a:ext cx="420624" cy="420624"/>
          </a:xfrm>
          <a:prstGeom prst="ellipse">
            <a:avLst/>
          </a:prstGeom>
          <a:solidFill>
            <a:srgbClr val="FFC24B"/>
          </a:solidFill>
          <a:ln/>
        </p:spPr>
        <p:txBody>
          <a:bodyPr/>
          <a:p/>
        </p:txBody>
      </p:sp>
      <p:sp>
        <p:nvSpPr>
          <p:cNvPr id="12" name="Text 10"/>
          <p:cNvSpPr/>
          <p:nvPr/>
        </p:nvSpPr>
        <p:spPr>
          <a:xfrm>
            <a:off x="822960" y="296265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463040" y="2715768"/>
            <a:ext cx="621792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Găsiți metadatele setului și scrieți, într-o propoziție, ce s-a numărat.</a:t>
            </a:r>
            <a:endParaRPr lang="en-US" sz="1650" dirty="0"/>
          </a:p>
        </p:txBody>
      </p:sp>
      <p:sp>
        <p:nvSpPr>
          <p:cNvPr id="14" name="Shape 12"/>
          <p:cNvSpPr/>
          <p:nvPr/>
        </p:nvSpPr>
        <p:spPr>
          <a:xfrm>
            <a:off x="594360" y="3739896"/>
            <a:ext cx="7223760" cy="914400"/>
          </a:xfrm>
          <a:prstGeom prst="roundRect">
            <a:avLst>
              <a:gd name="adj" fmla="val 9000"/>
            </a:avLst>
          </a:prstGeom>
          <a:solidFill>
            <a:srgbClr val="1D1F2B"/>
          </a:solidFill>
          <a:ln w="12700">
            <a:solidFill>
              <a:srgbClr val="1D1F2B"/>
            </a:solidFill>
            <a:prstDash val="solid"/>
          </a:ln>
        </p:spPr>
        <p:txBody>
          <a:bodyPr/>
          <a:p/>
        </p:txBody>
      </p:sp>
      <p:sp>
        <p:nvSpPr>
          <p:cNvPr id="15" name="Shape 13"/>
          <p:cNvSpPr/>
          <p:nvPr/>
        </p:nvSpPr>
        <p:spPr>
          <a:xfrm>
            <a:off x="822960" y="3986784"/>
            <a:ext cx="420624" cy="420624"/>
          </a:xfrm>
          <a:prstGeom prst="ellipse">
            <a:avLst/>
          </a:prstGeom>
          <a:solidFill>
            <a:srgbClr val="FFC24B"/>
          </a:solidFill>
          <a:ln/>
        </p:spPr>
        <p:txBody>
          <a:bodyPr/>
          <a:p/>
        </p:txBody>
      </p:sp>
      <p:sp>
        <p:nvSpPr>
          <p:cNvPr id="16" name="Text 14"/>
          <p:cNvSpPr/>
          <p:nvPr/>
        </p:nvSpPr>
        <p:spPr>
          <a:xfrm>
            <a:off x="822960" y="398678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463040" y="3739896"/>
            <a:ext cx="6217920" cy="914400"/>
          </a:xfrm>
          <a:prstGeom prst="rect">
            <a:avLst/>
          </a:prstGeom>
          <a:noFill/>
          <a:ln/>
        </p:spPr>
        <p:txBody>
          <a:bodyPr wrap="square" lIns="0" tIns="0" rIns="0" bIns="0" rtlCol="0" anchor="ctr"/>
          <a:lstStyle/>
          <a:p>
            <a:pPr indent="0" marL="0">
              <a:buNone/>
            </a:pPr>
            <a:r>
              <a:rPr lang="en-US" sz="1650" dirty="0">
                <a:solidFill>
                  <a:srgbClr val="FFFFFF"/>
                </a:solidFill>
                <a:latin typeface="Palatino Linotype" pitchFamily="34" charset="0"/>
                <a:ea typeface="Palatino Linotype" pitchFamily="34" charset="-122"/>
                <a:cs typeface="Palatino Linotype" pitchFamily="34" charset="-120"/>
              </a:rPr>
              <a:t>Completați primul rând din registru, cu toate coloanele din tabel.</a:t>
            </a:r>
            <a:endParaRPr lang="en-US" sz="1650" dirty="0"/>
          </a:p>
        </p:txBody>
      </p:sp>
      <p:sp>
        <p:nvSpPr>
          <p:cNvPr id="18" name="Shape 16"/>
          <p:cNvSpPr/>
          <p:nvPr/>
        </p:nvSpPr>
        <p:spPr>
          <a:xfrm>
            <a:off x="594360" y="4846320"/>
            <a:ext cx="7223760" cy="1097280"/>
          </a:xfrm>
          <a:prstGeom prst="roundRect">
            <a:avLst>
              <a:gd name="adj" fmla="val 7500"/>
            </a:avLst>
          </a:prstGeom>
          <a:solidFill>
            <a:srgbClr val="272A38"/>
          </a:solidFill>
          <a:ln w="12700">
            <a:solidFill>
              <a:srgbClr val="272A38"/>
            </a:solidFill>
            <a:prstDash val="solid"/>
          </a:ln>
        </p:spPr>
        <p:txBody>
          <a:bodyPr/>
          <a:p/>
        </p:txBody>
      </p:sp>
      <p:sp>
        <p:nvSpPr>
          <p:cNvPr id="19" name="Text 17"/>
          <p:cNvSpPr/>
          <p:nvPr/>
        </p:nvSpPr>
        <p:spPr>
          <a:xfrm>
            <a:off x="868680" y="4846320"/>
            <a:ext cx="6766560" cy="1097280"/>
          </a:xfrm>
          <a:prstGeom prst="rect">
            <a:avLst/>
          </a:prstGeom>
          <a:noFill/>
          <a:ln/>
        </p:spPr>
        <p:txBody>
          <a:bodyPr wrap="square" lIns="0" tIns="0" rIns="0" bIns="0" rtlCol="0" anchor="ctr"/>
          <a:lstStyle/>
          <a:p>
            <a:pPr indent="0" marL="0">
              <a:buNone/>
            </a:pPr>
            <a:r>
              <a:rPr lang="en-US" sz="1550" i="1" dirty="0">
                <a:solidFill>
                  <a:srgbClr val="E6E8EF"/>
                </a:solidFill>
                <a:latin typeface="Palatino Linotype" pitchFamily="34" charset="0"/>
                <a:ea typeface="Palatino Linotype" pitchFamily="34" charset="-122"/>
                <a:cs typeface="Palatino Linotype" pitchFamily="34" charset="-120"/>
              </a:rPr>
              <a:t>Dacă nu găsiți nimic în zece minute, spuneți ce ați căutat și unde: și aceasta este o informație utilă pentru proiect.</a:t>
            </a:r>
            <a:endParaRPr lang="en-US" sz="1550" dirty="0"/>
          </a:p>
        </p:txBody>
      </p:sp>
      <p:sp>
        <p:nvSpPr>
          <p:cNvPr id="20" name="Shape 18"/>
          <p:cNvSpPr/>
          <p:nvPr/>
        </p:nvSpPr>
        <p:spPr>
          <a:xfrm>
            <a:off x="8001000" y="1691640"/>
            <a:ext cx="3566160" cy="4251960"/>
          </a:xfrm>
          <a:prstGeom prst="roundRect">
            <a:avLst>
              <a:gd name="adj" fmla="val 2308"/>
            </a:avLst>
          </a:prstGeom>
          <a:solidFill>
            <a:srgbClr val="FF4757"/>
          </a:solidFill>
          <a:ln w="12700">
            <a:solidFill>
              <a:srgbClr val="FF4757"/>
            </a:solidFill>
            <a:prstDash val="solid"/>
          </a:ln>
        </p:spPr>
        <p:txBody>
          <a:bodyPr/>
          <a:p/>
        </p:txBody>
      </p:sp>
      <p:sp>
        <p:nvSpPr>
          <p:cNvPr id="21" name="Text 19"/>
          <p:cNvSpPr/>
          <p:nvPr/>
        </p:nvSpPr>
        <p:spPr>
          <a:xfrm>
            <a:off x="8275320" y="1920240"/>
            <a:ext cx="3017520" cy="365760"/>
          </a:xfrm>
          <a:prstGeom prst="rect">
            <a:avLst/>
          </a:prstGeom>
          <a:noFill/>
          <a:ln/>
        </p:spPr>
        <p:txBody>
          <a:bodyPr wrap="square" lIns="0" tIns="0" rIns="0" bIns="0" rtlCol="0" anchor="t"/>
          <a:lstStyle/>
          <a:p>
            <a:pPr indent="0" marL="0">
              <a:buNone/>
            </a:pPr>
            <a:r>
              <a:rPr lang="en-US" sz="1300" b="1" spc="200" kern="0" dirty="0">
                <a:solidFill>
                  <a:srgbClr val="2E060B"/>
                </a:solidFill>
                <a:latin typeface="Palatino Linotype" pitchFamily="34" charset="0"/>
                <a:ea typeface="Palatino Linotype" pitchFamily="34" charset="-122"/>
                <a:cs typeface="Palatino Linotype" pitchFamily="34" charset="-120"/>
              </a:rPr>
              <a:t>LAPTOP SAU TELEFON</a:t>
            </a:r>
            <a:endParaRPr lang="en-US" sz="1300" dirty="0"/>
          </a:p>
        </p:txBody>
      </p:sp>
      <p:sp>
        <p:nvSpPr>
          <p:cNvPr id="22" name="Text 20"/>
          <p:cNvSpPr/>
          <p:nvPr/>
        </p:nvSpPr>
        <p:spPr>
          <a:xfrm>
            <a:off x="8275320" y="2468880"/>
            <a:ext cx="3108960" cy="1097280"/>
          </a:xfrm>
          <a:prstGeom prst="rect">
            <a:avLst/>
          </a:prstGeom>
          <a:noFill/>
          <a:ln/>
        </p:spPr>
        <p:txBody>
          <a:bodyPr wrap="square" lIns="0" tIns="0" rIns="0" bIns="0" rtlCol="0" anchor="t"/>
          <a:lstStyle/>
          <a:p>
            <a:pPr indent="0" marL="0">
              <a:buNone/>
            </a:pPr>
            <a:r>
              <a:rPr lang="en-US" sz="2300" b="1" dirty="0">
                <a:solidFill>
                  <a:srgbClr val="2E060B"/>
                </a:solidFill>
                <a:latin typeface="Palatino Linotype" pitchFamily="34" charset="0"/>
                <a:ea typeface="Palatino Linotype" pitchFamily="34" charset="-122"/>
                <a:cs typeface="Palatino Linotype" pitchFamily="34" charset="-120"/>
              </a:rPr>
              <a:t>Trec pe la fiecare echipă.</a:t>
            </a:r>
            <a:endParaRPr lang="en-US" sz="2300" dirty="0"/>
          </a:p>
        </p:txBody>
      </p:sp>
      <p:sp>
        <p:nvSpPr>
          <p:cNvPr id="23" name="Text 21"/>
          <p:cNvSpPr/>
          <p:nvPr/>
        </p:nvSpPr>
        <p:spPr>
          <a:xfrm>
            <a:off x="8275320" y="3840480"/>
            <a:ext cx="3108960" cy="1463040"/>
          </a:xfrm>
          <a:prstGeom prst="rect">
            <a:avLst/>
          </a:prstGeom>
          <a:noFill/>
          <a:ln/>
        </p:spPr>
        <p:txBody>
          <a:bodyPr wrap="square" lIns="0" tIns="0" rIns="0" bIns="0" rtlCol="0" anchor="t"/>
          <a:lstStyle/>
          <a:p>
            <a:pPr indent="0" marL="0">
              <a:buNone/>
            </a:pPr>
            <a:r>
              <a:rPr lang="en-US" sz="1600" dirty="0">
                <a:solidFill>
                  <a:srgbClr val="2E060B"/>
                </a:solidFill>
                <a:latin typeface="Palatino Linotype" pitchFamily="34" charset="0"/>
                <a:ea typeface="Palatino Linotype" pitchFamily="34" charset="-122"/>
                <a:cs typeface="Palatino Linotype" pitchFamily="34" charset="-120"/>
              </a:rPr>
              <a:t>Problema este cea din fișa echipei de la primul seminar.</a:t>
            </a:r>
            <a:endParaRPr lang="en-US" sz="16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CE RĂMÂNE DIN ORA DIN SALĂ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11121A"/>
                </a:solidFill>
                <a:latin typeface="Palatino Linotype" pitchFamily="34" charset="0"/>
                <a:ea typeface="Palatino Linotype" pitchFamily="34" charset="-122"/>
                <a:cs typeface="Palatino Linotype" pitchFamily="34" charset="-120"/>
              </a:rPr>
              <a:t>Patru lucruri de reținut</a:t>
            </a:r>
            <a:endParaRPr lang="en-US" sz="3200" dirty="0"/>
          </a:p>
        </p:txBody>
      </p:sp>
      <p:sp>
        <p:nvSpPr>
          <p:cNvPr id="4" name="Shape 2"/>
          <p:cNvSpPr/>
          <p:nvPr/>
        </p:nvSpPr>
        <p:spPr>
          <a:xfrm>
            <a:off x="594360" y="1691640"/>
            <a:ext cx="5394960" cy="1965960"/>
          </a:xfrm>
          <a:prstGeom prst="roundRect">
            <a:avLst>
              <a:gd name="adj" fmla="val 4186"/>
            </a:avLst>
          </a:prstGeom>
          <a:solidFill>
            <a:srgbClr val="ECEAE4"/>
          </a:solidFill>
          <a:ln w="12700">
            <a:solidFill>
              <a:srgbClr val="ECEAE4"/>
            </a:solidFill>
            <a:prstDash val="solid"/>
          </a:ln>
        </p:spPr>
        <p:txBody>
          <a:bodyPr/>
          <a:p/>
        </p:txBody>
      </p:sp>
      <p:sp>
        <p:nvSpPr>
          <p:cNvPr id="5" name="Shape 3"/>
          <p:cNvSpPr/>
          <p:nvPr/>
        </p:nvSpPr>
        <p:spPr>
          <a:xfrm>
            <a:off x="594360" y="1691640"/>
            <a:ext cx="5394960" cy="82296"/>
          </a:xfrm>
          <a:prstGeom prst="rect">
            <a:avLst/>
          </a:prstGeom>
          <a:solidFill>
            <a:srgbClr val="B02532"/>
          </a:solidFill>
          <a:ln w="12700">
            <a:solidFill>
              <a:srgbClr val="B02532"/>
            </a:solidFill>
            <a:prstDash val="solid"/>
          </a:ln>
        </p:spPr>
        <p:txBody>
          <a:bodyPr/>
          <a:p/>
        </p:txBody>
      </p:sp>
      <p:sp>
        <p:nvSpPr>
          <p:cNvPr id="6" name="Shape 4"/>
          <p:cNvSpPr/>
          <p:nvPr/>
        </p:nvSpPr>
        <p:spPr>
          <a:xfrm>
            <a:off x="868680" y="1965960"/>
            <a:ext cx="457200" cy="457200"/>
          </a:xfrm>
          <a:prstGeom prst="ellipse">
            <a:avLst/>
          </a:prstGeom>
          <a:solidFill>
            <a:srgbClr val="B02532"/>
          </a:solidFill>
          <a:ln/>
        </p:spPr>
        <p:txBody>
          <a:bodyPr/>
          <a:p/>
        </p:txBody>
      </p:sp>
      <p:sp>
        <p:nvSpPr>
          <p:cNvPr id="7" name="Text 5"/>
          <p:cNvSpPr/>
          <p:nvPr/>
        </p:nvSpPr>
        <p:spPr>
          <a:xfrm>
            <a:off x="868680"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1</a:t>
            </a:r>
            <a:endParaRPr lang="en-US" sz="1400" dirty="0"/>
          </a:p>
        </p:txBody>
      </p:sp>
      <p:sp>
        <p:nvSpPr>
          <p:cNvPr id="8" name="Text 6"/>
          <p:cNvSpPr/>
          <p:nvPr/>
        </p:nvSpPr>
        <p:spPr>
          <a:xfrm>
            <a:off x="1508760" y="1965960"/>
            <a:ext cx="4297680" cy="457200"/>
          </a:xfrm>
          <a:prstGeom prst="rect">
            <a:avLst/>
          </a:prstGeom>
          <a:noFill/>
          <a:ln/>
        </p:spPr>
        <p:txBody>
          <a:bodyPr wrap="square" lIns="0" tIns="0" rIns="0" bIns="0" rtlCol="0" anchor="ctr"/>
          <a:lstStyle/>
          <a:p>
            <a:pPr indent="0" marL="0">
              <a:buNone/>
            </a:pPr>
            <a:r>
              <a:rPr lang="en-US" sz="2100" b="1" dirty="0">
                <a:solidFill>
                  <a:srgbClr val="B02532"/>
                </a:solidFill>
                <a:latin typeface="Palatino Linotype" pitchFamily="34" charset="0"/>
                <a:ea typeface="Palatino Linotype" pitchFamily="34" charset="-122"/>
                <a:cs typeface="Palatino Linotype" pitchFamily="34" charset="-120"/>
              </a:rPr>
              <a:t>Numărul și rata</a:t>
            </a:r>
            <a:endParaRPr lang="en-US" sz="2100" dirty="0"/>
          </a:p>
        </p:txBody>
      </p:sp>
      <p:sp>
        <p:nvSpPr>
          <p:cNvPr id="9" name="Text 7"/>
          <p:cNvSpPr/>
          <p:nvPr/>
        </p:nvSpPr>
        <p:spPr>
          <a:xfrm>
            <a:off x="868680" y="2606040"/>
            <a:ext cx="4846320" cy="9601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Numărul spune de câte ori s-a întâmplat ceva; rata spune cât de des.</a:t>
            </a:r>
            <a:endParaRPr lang="en-US" sz="1550" dirty="0"/>
          </a:p>
        </p:txBody>
      </p:sp>
      <p:sp>
        <p:nvSpPr>
          <p:cNvPr id="10" name="Shape 8"/>
          <p:cNvSpPr/>
          <p:nvPr/>
        </p:nvSpPr>
        <p:spPr>
          <a:xfrm>
            <a:off x="6172200" y="1691640"/>
            <a:ext cx="5394960" cy="1965960"/>
          </a:xfrm>
          <a:prstGeom prst="roundRect">
            <a:avLst>
              <a:gd name="adj" fmla="val 4186"/>
            </a:avLst>
          </a:prstGeom>
          <a:solidFill>
            <a:srgbClr val="ECEAE4"/>
          </a:solidFill>
          <a:ln w="12700">
            <a:solidFill>
              <a:srgbClr val="ECEAE4"/>
            </a:solidFill>
            <a:prstDash val="solid"/>
          </a:ln>
        </p:spPr>
        <p:txBody>
          <a:bodyPr/>
          <a:p/>
        </p:txBody>
      </p:sp>
      <p:sp>
        <p:nvSpPr>
          <p:cNvPr id="11" name="Shape 9"/>
          <p:cNvSpPr/>
          <p:nvPr/>
        </p:nvSpPr>
        <p:spPr>
          <a:xfrm>
            <a:off x="6172200" y="1691640"/>
            <a:ext cx="5394960" cy="82296"/>
          </a:xfrm>
          <a:prstGeom prst="rect">
            <a:avLst/>
          </a:prstGeom>
          <a:solidFill>
            <a:srgbClr val="0E7C6B"/>
          </a:solidFill>
          <a:ln w="12700">
            <a:solidFill>
              <a:srgbClr val="0E7C6B"/>
            </a:solidFill>
            <a:prstDash val="solid"/>
          </a:ln>
        </p:spPr>
        <p:txBody>
          <a:bodyPr/>
          <a:p/>
        </p:txBody>
      </p:sp>
      <p:sp>
        <p:nvSpPr>
          <p:cNvPr id="12" name="Shape 10"/>
          <p:cNvSpPr/>
          <p:nvPr/>
        </p:nvSpPr>
        <p:spPr>
          <a:xfrm>
            <a:off x="6446520" y="1965960"/>
            <a:ext cx="457200" cy="457200"/>
          </a:xfrm>
          <a:prstGeom prst="ellipse">
            <a:avLst/>
          </a:prstGeom>
          <a:solidFill>
            <a:srgbClr val="0E7C6B"/>
          </a:solidFill>
          <a:ln/>
        </p:spPr>
        <p:txBody>
          <a:bodyPr/>
          <a:p/>
        </p:txBody>
      </p:sp>
      <p:sp>
        <p:nvSpPr>
          <p:cNvPr id="13" name="Text 11"/>
          <p:cNvSpPr/>
          <p:nvPr/>
        </p:nvSpPr>
        <p:spPr>
          <a:xfrm>
            <a:off x="6446520" y="196596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2</a:t>
            </a:r>
            <a:endParaRPr lang="en-US" sz="1400" dirty="0"/>
          </a:p>
        </p:txBody>
      </p:sp>
      <p:sp>
        <p:nvSpPr>
          <p:cNvPr id="14" name="Text 12"/>
          <p:cNvSpPr/>
          <p:nvPr/>
        </p:nvSpPr>
        <p:spPr>
          <a:xfrm>
            <a:off x="7086600" y="1965960"/>
            <a:ext cx="4297680" cy="457200"/>
          </a:xfrm>
          <a:prstGeom prst="rect">
            <a:avLst/>
          </a:prstGeom>
          <a:noFill/>
          <a:ln/>
        </p:spPr>
        <p:txBody>
          <a:bodyPr wrap="square" lIns="0" tIns="0" rIns="0" bIns="0" rtlCol="0" anchor="ctr"/>
          <a:lstStyle/>
          <a:p>
            <a:pPr indent="0" marL="0">
              <a:buNone/>
            </a:pPr>
            <a:r>
              <a:rPr lang="en-US" sz="2100" b="1" dirty="0">
                <a:solidFill>
                  <a:srgbClr val="0E7C6B"/>
                </a:solidFill>
                <a:latin typeface="Palatino Linotype" pitchFamily="34" charset="0"/>
                <a:ea typeface="Palatino Linotype" pitchFamily="34" charset="-122"/>
                <a:cs typeface="Palatino Linotype" pitchFamily="34" charset="-120"/>
              </a:rPr>
              <a:t>Metadatele</a:t>
            </a:r>
            <a:endParaRPr lang="en-US" sz="2100" dirty="0"/>
          </a:p>
        </p:txBody>
      </p:sp>
      <p:sp>
        <p:nvSpPr>
          <p:cNvPr id="15" name="Text 13"/>
          <p:cNvSpPr/>
          <p:nvPr/>
        </p:nvSpPr>
        <p:spPr>
          <a:xfrm>
            <a:off x="6446520" y="2606040"/>
            <a:ext cx="4846320" cy="9601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Înainte de a folosi o cifră, citiți fișa care spune ce s-a numărat.</a:t>
            </a:r>
            <a:endParaRPr lang="en-US" sz="1550" dirty="0"/>
          </a:p>
        </p:txBody>
      </p:sp>
      <p:sp>
        <p:nvSpPr>
          <p:cNvPr id="16" name="Shape 14"/>
          <p:cNvSpPr/>
          <p:nvPr/>
        </p:nvSpPr>
        <p:spPr>
          <a:xfrm>
            <a:off x="594360" y="3886200"/>
            <a:ext cx="5394960" cy="1965960"/>
          </a:xfrm>
          <a:prstGeom prst="roundRect">
            <a:avLst>
              <a:gd name="adj" fmla="val 4186"/>
            </a:avLst>
          </a:prstGeom>
          <a:solidFill>
            <a:srgbClr val="ECEAE4"/>
          </a:solidFill>
          <a:ln w="12700">
            <a:solidFill>
              <a:srgbClr val="ECEAE4"/>
            </a:solidFill>
            <a:prstDash val="solid"/>
          </a:ln>
        </p:spPr>
        <p:txBody>
          <a:bodyPr/>
          <a:p/>
        </p:txBody>
      </p:sp>
      <p:sp>
        <p:nvSpPr>
          <p:cNvPr id="17" name="Shape 15"/>
          <p:cNvSpPr/>
          <p:nvPr/>
        </p:nvSpPr>
        <p:spPr>
          <a:xfrm>
            <a:off x="594360" y="3886200"/>
            <a:ext cx="5394960" cy="82296"/>
          </a:xfrm>
          <a:prstGeom prst="rect">
            <a:avLst/>
          </a:prstGeom>
          <a:solidFill>
            <a:srgbClr val="4A2D8C"/>
          </a:solidFill>
          <a:ln w="12700">
            <a:solidFill>
              <a:srgbClr val="4A2D8C"/>
            </a:solidFill>
            <a:prstDash val="solid"/>
          </a:ln>
        </p:spPr>
        <p:txBody>
          <a:bodyPr/>
          <a:p/>
        </p:txBody>
      </p:sp>
      <p:sp>
        <p:nvSpPr>
          <p:cNvPr id="18" name="Shape 16"/>
          <p:cNvSpPr/>
          <p:nvPr/>
        </p:nvSpPr>
        <p:spPr>
          <a:xfrm>
            <a:off x="868680" y="4160520"/>
            <a:ext cx="457200" cy="457200"/>
          </a:xfrm>
          <a:prstGeom prst="ellipse">
            <a:avLst/>
          </a:prstGeom>
          <a:solidFill>
            <a:srgbClr val="4A2D8C"/>
          </a:solidFill>
          <a:ln/>
        </p:spPr>
        <p:txBody>
          <a:bodyPr/>
          <a:p/>
        </p:txBody>
      </p:sp>
      <p:sp>
        <p:nvSpPr>
          <p:cNvPr id="19" name="Text 17"/>
          <p:cNvSpPr/>
          <p:nvPr/>
        </p:nvSpPr>
        <p:spPr>
          <a:xfrm>
            <a:off x="868680" y="4160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3</a:t>
            </a:r>
            <a:endParaRPr lang="en-US" sz="1400" dirty="0"/>
          </a:p>
        </p:txBody>
      </p:sp>
      <p:sp>
        <p:nvSpPr>
          <p:cNvPr id="20" name="Text 18"/>
          <p:cNvSpPr/>
          <p:nvPr/>
        </p:nvSpPr>
        <p:spPr>
          <a:xfrm>
            <a:off x="1508760" y="4160520"/>
            <a:ext cx="4297680" cy="457200"/>
          </a:xfrm>
          <a:prstGeom prst="rect">
            <a:avLst/>
          </a:prstGeom>
          <a:noFill/>
          <a:ln/>
        </p:spPr>
        <p:txBody>
          <a:bodyPr wrap="square" lIns="0" tIns="0" rIns="0" bIns="0" rtlCol="0" anchor="ctr"/>
          <a:lstStyle/>
          <a:p>
            <a:pPr indent="0" marL="0">
              <a:buNone/>
            </a:pPr>
            <a:r>
              <a:rPr lang="en-US" sz="2100" b="1" dirty="0">
                <a:solidFill>
                  <a:srgbClr val="4A2D8C"/>
                </a:solidFill>
                <a:latin typeface="Palatino Linotype" pitchFamily="34" charset="0"/>
                <a:ea typeface="Palatino Linotype" pitchFamily="34" charset="-122"/>
                <a:cs typeface="Palatino Linotype" pitchFamily="34" charset="-120"/>
              </a:rPr>
              <a:t>Sursa potrivită</a:t>
            </a:r>
            <a:endParaRPr lang="en-US" sz="2100" dirty="0"/>
          </a:p>
        </p:txBody>
      </p:sp>
      <p:sp>
        <p:nvSpPr>
          <p:cNvPr id="21" name="Text 19"/>
          <p:cNvSpPr/>
          <p:nvPr/>
        </p:nvSpPr>
        <p:spPr>
          <a:xfrm>
            <a:off x="868680" y="4800600"/>
            <a:ext cx="4846320" cy="9601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Statistică pentru județe, Eurostat pentru state, sănătate publică pentru boli, OMS pentru lume.</a:t>
            </a:r>
            <a:endParaRPr lang="en-US" sz="1550" dirty="0"/>
          </a:p>
        </p:txBody>
      </p:sp>
      <p:sp>
        <p:nvSpPr>
          <p:cNvPr id="22" name="Shape 20"/>
          <p:cNvSpPr/>
          <p:nvPr/>
        </p:nvSpPr>
        <p:spPr>
          <a:xfrm>
            <a:off x="6172200" y="3886200"/>
            <a:ext cx="5394960" cy="1965960"/>
          </a:xfrm>
          <a:prstGeom prst="roundRect">
            <a:avLst>
              <a:gd name="adj" fmla="val 4186"/>
            </a:avLst>
          </a:prstGeom>
          <a:solidFill>
            <a:srgbClr val="ECEAE4"/>
          </a:solidFill>
          <a:ln w="12700">
            <a:solidFill>
              <a:srgbClr val="ECEAE4"/>
            </a:solidFill>
            <a:prstDash val="solid"/>
          </a:ln>
        </p:spPr>
        <p:txBody>
          <a:bodyPr/>
          <a:p/>
        </p:txBody>
      </p:sp>
      <p:sp>
        <p:nvSpPr>
          <p:cNvPr id="23" name="Shape 21"/>
          <p:cNvSpPr/>
          <p:nvPr/>
        </p:nvSpPr>
        <p:spPr>
          <a:xfrm>
            <a:off x="6172200" y="3886200"/>
            <a:ext cx="5394960" cy="82296"/>
          </a:xfrm>
          <a:prstGeom prst="rect">
            <a:avLst/>
          </a:prstGeom>
          <a:solidFill>
            <a:srgbClr val="8A6100"/>
          </a:solidFill>
          <a:ln w="12700">
            <a:solidFill>
              <a:srgbClr val="8A6100"/>
            </a:solidFill>
            <a:prstDash val="solid"/>
          </a:ln>
        </p:spPr>
        <p:txBody>
          <a:bodyPr/>
          <a:p/>
        </p:txBody>
      </p:sp>
      <p:sp>
        <p:nvSpPr>
          <p:cNvPr id="24" name="Shape 22"/>
          <p:cNvSpPr/>
          <p:nvPr/>
        </p:nvSpPr>
        <p:spPr>
          <a:xfrm>
            <a:off x="6446520" y="4160520"/>
            <a:ext cx="457200" cy="457200"/>
          </a:xfrm>
          <a:prstGeom prst="ellipse">
            <a:avLst/>
          </a:prstGeom>
          <a:solidFill>
            <a:srgbClr val="8A6100"/>
          </a:solidFill>
          <a:ln/>
        </p:spPr>
        <p:txBody>
          <a:bodyPr/>
          <a:p/>
        </p:txBody>
      </p:sp>
      <p:sp>
        <p:nvSpPr>
          <p:cNvPr id="25" name="Text 23"/>
          <p:cNvSpPr/>
          <p:nvPr/>
        </p:nvSpPr>
        <p:spPr>
          <a:xfrm>
            <a:off x="6446520" y="4160520"/>
            <a:ext cx="457200" cy="457200"/>
          </a:xfrm>
          <a:prstGeom prst="rect">
            <a:avLst/>
          </a:prstGeom>
          <a:noFill/>
          <a:ln/>
        </p:spPr>
        <p:txBody>
          <a:bodyPr wrap="square" lIns="0" tIns="0" rIns="0" bIns="0" rtlCol="0" anchor="ctr"/>
          <a:lstStyle/>
          <a:p>
            <a:pPr algn="ctr" indent="0" marL="0">
              <a:buNone/>
            </a:pPr>
            <a:r>
              <a:rPr lang="en-US" sz="1400" b="1" dirty="0">
                <a:solidFill>
                  <a:srgbClr val="FFFFFF"/>
                </a:solidFill>
                <a:latin typeface="Palatino Linotype" pitchFamily="34" charset="0"/>
                <a:ea typeface="Palatino Linotype" pitchFamily="34" charset="-122"/>
                <a:cs typeface="Palatino Linotype" pitchFamily="34" charset="-120"/>
              </a:rPr>
              <a:t>4</a:t>
            </a:r>
            <a:endParaRPr lang="en-US" sz="1400" dirty="0"/>
          </a:p>
        </p:txBody>
      </p:sp>
      <p:sp>
        <p:nvSpPr>
          <p:cNvPr id="26" name="Text 24"/>
          <p:cNvSpPr/>
          <p:nvPr/>
        </p:nvSpPr>
        <p:spPr>
          <a:xfrm>
            <a:off x="7086600" y="4160520"/>
            <a:ext cx="4297680" cy="457200"/>
          </a:xfrm>
          <a:prstGeom prst="rect">
            <a:avLst/>
          </a:prstGeom>
          <a:noFill/>
          <a:ln/>
        </p:spPr>
        <p:txBody>
          <a:bodyPr wrap="square" lIns="0" tIns="0" rIns="0" bIns="0" rtlCol="0" anchor="ctr"/>
          <a:lstStyle/>
          <a:p>
            <a:pPr indent="0" marL="0">
              <a:buNone/>
            </a:pPr>
            <a:r>
              <a:rPr lang="en-US" sz="2100" b="1" dirty="0">
                <a:solidFill>
                  <a:srgbClr val="8A6100"/>
                </a:solidFill>
                <a:latin typeface="Palatino Linotype" pitchFamily="34" charset="0"/>
                <a:ea typeface="Palatino Linotype" pitchFamily="34" charset="-122"/>
                <a:cs typeface="Palatino Linotype" pitchFamily="34" charset="-120"/>
              </a:rPr>
              <a:t>Sursa primară</a:t>
            </a:r>
            <a:endParaRPr lang="en-US" sz="2100" dirty="0"/>
          </a:p>
        </p:txBody>
      </p:sp>
      <p:sp>
        <p:nvSpPr>
          <p:cNvPr id="27" name="Text 25"/>
          <p:cNvSpPr/>
          <p:nvPr/>
        </p:nvSpPr>
        <p:spPr>
          <a:xfrm>
            <a:off x="6446520" y="4800600"/>
            <a:ext cx="4846320" cy="960120"/>
          </a:xfrm>
          <a:prstGeom prst="rect">
            <a:avLst/>
          </a:prstGeom>
          <a:noFill/>
          <a:ln/>
        </p:spPr>
        <p:txBody>
          <a:bodyPr wrap="square" lIns="0" tIns="0" rIns="0" bIns="0" rtlCol="0" anchor="t"/>
          <a:lstStyle/>
          <a:p>
            <a:pPr indent="0" marL="0">
              <a:buNone/>
            </a:pPr>
            <a:r>
              <a:rPr lang="en-US" sz="1550" dirty="0">
                <a:solidFill>
                  <a:srgbClr val="11121A"/>
                </a:solidFill>
                <a:latin typeface="Palatino Linotype" pitchFamily="34" charset="0"/>
                <a:ea typeface="Palatino Linotype" pitchFamily="34" charset="-122"/>
                <a:cs typeface="Palatino Linotype" pitchFamily="34" charset="-120"/>
              </a:rPr>
              <a:t>O numiți, dar citați de unde ați luat cifra.</a:t>
            </a:r>
            <a:endParaRPr lang="en-US" sz="15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1121A"/>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PRIMUL PRODUS CARE SE NOTEAZĂ</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Ce predați după al doilea seminar</a:t>
            </a:r>
            <a:endParaRPr lang="en-US" sz="3200" dirty="0"/>
          </a:p>
        </p:txBody>
      </p:sp>
      <p:sp>
        <p:nvSpPr>
          <p:cNvPr id="4" name="Shape 2"/>
          <p:cNvSpPr/>
          <p:nvPr/>
        </p:nvSpPr>
        <p:spPr>
          <a:xfrm>
            <a:off x="594360" y="1691640"/>
            <a:ext cx="7315200" cy="777240"/>
          </a:xfrm>
          <a:prstGeom prst="roundRect">
            <a:avLst>
              <a:gd name="adj" fmla="val 10588"/>
            </a:avLst>
          </a:prstGeom>
          <a:solidFill>
            <a:srgbClr val="1D1F2B"/>
          </a:solidFill>
          <a:ln w="12700">
            <a:solidFill>
              <a:srgbClr val="1D1F2B"/>
            </a:solidFill>
            <a:prstDash val="solid"/>
          </a:ln>
        </p:spPr>
        <p:txBody>
          <a:bodyPr/>
          <a:p/>
        </p:txBody>
      </p:sp>
      <p:sp>
        <p:nvSpPr>
          <p:cNvPr id="5" name="Text 3"/>
          <p:cNvSpPr/>
          <p:nvPr/>
        </p:nvSpPr>
        <p:spPr>
          <a:xfrm>
            <a:off x="868680" y="1691640"/>
            <a:ext cx="1737360" cy="77724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Ce</a:t>
            </a:r>
            <a:endParaRPr lang="en-US" sz="1600" dirty="0"/>
          </a:p>
        </p:txBody>
      </p:sp>
      <p:sp>
        <p:nvSpPr>
          <p:cNvPr id="6" name="Text 4"/>
          <p:cNvSpPr/>
          <p:nvPr/>
        </p:nvSpPr>
        <p:spPr>
          <a:xfrm>
            <a:off x="2651760" y="1691640"/>
            <a:ext cx="5120640" cy="7772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Registrul surselor și tabelul sau graficul</a:t>
            </a:r>
            <a:endParaRPr lang="en-US" sz="1700" dirty="0"/>
          </a:p>
        </p:txBody>
      </p:sp>
      <p:sp>
        <p:nvSpPr>
          <p:cNvPr id="7" name="Shape 5"/>
          <p:cNvSpPr/>
          <p:nvPr/>
        </p:nvSpPr>
        <p:spPr>
          <a:xfrm>
            <a:off x="594360" y="2587752"/>
            <a:ext cx="7315200" cy="777240"/>
          </a:xfrm>
          <a:prstGeom prst="roundRect">
            <a:avLst>
              <a:gd name="adj" fmla="val 10588"/>
            </a:avLst>
          </a:prstGeom>
          <a:solidFill>
            <a:srgbClr val="1D1F2B"/>
          </a:solidFill>
          <a:ln w="12700">
            <a:solidFill>
              <a:srgbClr val="1D1F2B"/>
            </a:solidFill>
            <a:prstDash val="solid"/>
          </a:ln>
        </p:spPr>
        <p:txBody>
          <a:bodyPr/>
          <a:p/>
        </p:txBody>
      </p:sp>
      <p:sp>
        <p:nvSpPr>
          <p:cNvPr id="8" name="Text 6"/>
          <p:cNvSpPr/>
          <p:nvPr/>
        </p:nvSpPr>
        <p:spPr>
          <a:xfrm>
            <a:off x="868680" y="2587752"/>
            <a:ext cx="1737360" cy="77724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Cine</a:t>
            </a:r>
            <a:endParaRPr lang="en-US" sz="1600" dirty="0"/>
          </a:p>
        </p:txBody>
      </p:sp>
      <p:sp>
        <p:nvSpPr>
          <p:cNvPr id="9" name="Text 7"/>
          <p:cNvSpPr/>
          <p:nvPr/>
        </p:nvSpPr>
        <p:spPr>
          <a:xfrm>
            <a:off x="2651760" y="2587752"/>
            <a:ext cx="5120640" cy="7772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coordonatorul, pentru toată echipa</a:t>
            </a:r>
            <a:endParaRPr lang="en-US" sz="1700" dirty="0"/>
          </a:p>
        </p:txBody>
      </p:sp>
      <p:sp>
        <p:nvSpPr>
          <p:cNvPr id="10" name="Shape 8"/>
          <p:cNvSpPr/>
          <p:nvPr/>
        </p:nvSpPr>
        <p:spPr>
          <a:xfrm>
            <a:off x="594360" y="3483864"/>
            <a:ext cx="7315200" cy="777240"/>
          </a:xfrm>
          <a:prstGeom prst="roundRect">
            <a:avLst>
              <a:gd name="adj" fmla="val 10588"/>
            </a:avLst>
          </a:prstGeom>
          <a:solidFill>
            <a:srgbClr val="1D1F2B"/>
          </a:solidFill>
          <a:ln w="12700">
            <a:solidFill>
              <a:srgbClr val="1D1F2B"/>
            </a:solidFill>
            <a:prstDash val="solid"/>
          </a:ln>
        </p:spPr>
        <p:txBody>
          <a:bodyPr/>
          <a:p/>
        </p:txBody>
      </p:sp>
      <p:sp>
        <p:nvSpPr>
          <p:cNvPr id="11" name="Text 9"/>
          <p:cNvSpPr/>
          <p:nvPr/>
        </p:nvSpPr>
        <p:spPr>
          <a:xfrm>
            <a:off x="868680" y="3483864"/>
            <a:ext cx="1737360" cy="77724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Până când</a:t>
            </a:r>
            <a:endParaRPr lang="en-US" sz="1600" dirty="0"/>
          </a:p>
        </p:txBody>
      </p:sp>
      <p:sp>
        <p:nvSpPr>
          <p:cNvPr id="12" name="Text 10"/>
          <p:cNvSpPr/>
          <p:nvPr/>
        </p:nvSpPr>
        <p:spPr>
          <a:xfrm>
            <a:off x="2651760" y="3483864"/>
            <a:ext cx="5120640" cy="777240"/>
          </a:xfrm>
          <a:prstGeom prst="rect">
            <a:avLst/>
          </a:prstGeom>
          <a:noFill/>
          <a:ln/>
        </p:spPr>
        <p:txBody>
          <a:bodyPr wrap="square" lIns="0" tIns="0" rIns="0" bIns="0" rtlCol="0" anchor="ctr"/>
          <a:lstStyle/>
          <a:p>
            <a:pPr indent="0" marL="0">
              <a:buNone/>
            </a:pPr>
            <a:r>
              <a:rPr lang="en-US" sz="1700" b="1" dirty="0">
                <a:solidFill>
                  <a:srgbClr val="FFFFFF"/>
                </a:solidFill>
                <a:latin typeface="Palatino Linotype" pitchFamily="34" charset="0"/>
                <a:ea typeface="Palatino Linotype" pitchFamily="34" charset="-122"/>
                <a:cs typeface="Palatino Linotype" pitchFamily="34" charset="-120"/>
              </a:rPr>
              <a:t>duminică, 25.10.2026, ora 22:00</a:t>
            </a:r>
            <a:endParaRPr lang="en-US" sz="1700" dirty="0"/>
          </a:p>
        </p:txBody>
      </p:sp>
      <p:sp>
        <p:nvSpPr>
          <p:cNvPr id="13" name="Shape 11"/>
          <p:cNvSpPr/>
          <p:nvPr/>
        </p:nvSpPr>
        <p:spPr>
          <a:xfrm>
            <a:off x="594360" y="4379976"/>
            <a:ext cx="7315200" cy="777240"/>
          </a:xfrm>
          <a:prstGeom prst="roundRect">
            <a:avLst>
              <a:gd name="adj" fmla="val 10588"/>
            </a:avLst>
          </a:prstGeom>
          <a:solidFill>
            <a:srgbClr val="1D1F2B"/>
          </a:solidFill>
          <a:ln w="12700">
            <a:solidFill>
              <a:srgbClr val="1D1F2B"/>
            </a:solidFill>
            <a:prstDash val="solid"/>
          </a:ln>
        </p:spPr>
        <p:txBody>
          <a:bodyPr/>
          <a:p/>
        </p:txBody>
      </p:sp>
      <p:sp>
        <p:nvSpPr>
          <p:cNvPr id="14" name="Text 12"/>
          <p:cNvSpPr/>
          <p:nvPr/>
        </p:nvSpPr>
        <p:spPr>
          <a:xfrm>
            <a:off x="868680" y="4379976"/>
            <a:ext cx="1737360" cy="77724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Unde</a:t>
            </a:r>
            <a:endParaRPr lang="en-US" sz="1600" dirty="0"/>
          </a:p>
        </p:txBody>
      </p:sp>
      <p:sp>
        <p:nvSpPr>
          <p:cNvPr id="15" name="Text 13"/>
          <p:cNvSpPr/>
          <p:nvPr/>
        </p:nvSpPr>
        <p:spPr>
          <a:xfrm>
            <a:off x="2651760" y="4379976"/>
            <a:ext cx="5120640" cy="7772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formularul echipei pentru seminarul 2</a:t>
            </a:r>
            <a:endParaRPr lang="en-US" sz="1700" dirty="0"/>
          </a:p>
        </p:txBody>
      </p:sp>
      <p:sp>
        <p:nvSpPr>
          <p:cNvPr id="16" name="Shape 14"/>
          <p:cNvSpPr/>
          <p:nvPr/>
        </p:nvSpPr>
        <p:spPr>
          <a:xfrm>
            <a:off x="594360" y="5276088"/>
            <a:ext cx="7315200" cy="777240"/>
          </a:xfrm>
          <a:prstGeom prst="roundRect">
            <a:avLst>
              <a:gd name="adj" fmla="val 10588"/>
            </a:avLst>
          </a:prstGeom>
          <a:solidFill>
            <a:srgbClr val="1D1F2B"/>
          </a:solidFill>
          <a:ln w="12700">
            <a:solidFill>
              <a:srgbClr val="1D1F2B"/>
            </a:solidFill>
            <a:prstDash val="solid"/>
          </a:ln>
        </p:spPr>
        <p:txBody>
          <a:bodyPr/>
          <a:p/>
        </p:txBody>
      </p:sp>
      <p:sp>
        <p:nvSpPr>
          <p:cNvPr id="17" name="Text 15"/>
          <p:cNvSpPr/>
          <p:nvPr/>
        </p:nvSpPr>
        <p:spPr>
          <a:xfrm>
            <a:off x="868680" y="5276088"/>
            <a:ext cx="1737360" cy="777240"/>
          </a:xfrm>
          <a:prstGeom prst="rect">
            <a:avLst/>
          </a:prstGeom>
          <a:noFill/>
          <a:ln/>
        </p:spPr>
        <p:txBody>
          <a:bodyPr wrap="square" lIns="0" tIns="0" rIns="0" bIns="0" rtlCol="0" anchor="ctr"/>
          <a:lstStyle/>
          <a:p>
            <a:pPr indent="0" marL="0">
              <a:buNone/>
            </a:pPr>
            <a:r>
              <a:rPr lang="en-US" sz="1600" b="1" dirty="0">
                <a:solidFill>
                  <a:srgbClr val="FFC24B"/>
                </a:solidFill>
                <a:latin typeface="Palatino Linotype" pitchFamily="34" charset="0"/>
                <a:ea typeface="Palatino Linotype" pitchFamily="34" charset="-122"/>
                <a:cs typeface="Palatino Linotype" pitchFamily="34" charset="-120"/>
              </a:rPr>
              <a:t>Se notează?</a:t>
            </a:r>
            <a:endParaRPr lang="en-US" sz="1600" dirty="0"/>
          </a:p>
        </p:txBody>
      </p:sp>
      <p:sp>
        <p:nvSpPr>
          <p:cNvPr id="18" name="Text 16"/>
          <p:cNvSpPr/>
          <p:nvPr/>
        </p:nvSpPr>
        <p:spPr>
          <a:xfrm>
            <a:off x="2651760" y="5276088"/>
            <a:ext cx="5120640" cy="777240"/>
          </a:xfrm>
          <a:prstGeom prst="rect">
            <a:avLst/>
          </a:prstGeom>
          <a:noFill/>
          <a:ln/>
        </p:spPr>
        <p:txBody>
          <a:bodyPr wrap="square" lIns="0" tIns="0" rIns="0" bIns="0" rtlCol="0" anchor="ctr"/>
          <a:lstStyle/>
          <a:p>
            <a:pPr indent="0" marL="0">
              <a:buNone/>
            </a:pPr>
            <a:r>
              <a:rPr lang="en-US" sz="1700" dirty="0">
                <a:solidFill>
                  <a:srgbClr val="FFFFFF"/>
                </a:solidFill>
                <a:latin typeface="Palatino Linotype" pitchFamily="34" charset="0"/>
                <a:ea typeface="Palatino Linotype" pitchFamily="34" charset="-122"/>
                <a:cs typeface="Palatino Linotype" pitchFamily="34" charset="-120"/>
              </a:rPr>
              <a:t>da, cu 0, 1 sau 2 puncte</a:t>
            </a:r>
            <a:endParaRPr lang="en-US" sz="1700" dirty="0"/>
          </a:p>
        </p:txBody>
      </p:sp>
      <p:sp>
        <p:nvSpPr>
          <p:cNvPr id="19" name="Shape 17"/>
          <p:cNvSpPr/>
          <p:nvPr/>
        </p:nvSpPr>
        <p:spPr>
          <a:xfrm>
            <a:off x="8229600" y="1691640"/>
            <a:ext cx="3337560" cy="2834640"/>
          </a:xfrm>
          <a:prstGeom prst="roundRect">
            <a:avLst>
              <a:gd name="adj" fmla="val 3226"/>
            </a:avLst>
          </a:prstGeom>
          <a:solidFill>
            <a:srgbClr val="FFFFFF"/>
          </a:solidFill>
          <a:ln w="19050">
            <a:solidFill>
              <a:srgbClr val="8E94A8"/>
            </a:solidFill>
            <a:prstDash val="dash"/>
          </a:ln>
        </p:spPr>
        <p:txBody>
          <a:bodyPr/>
          <a:p/>
        </p:txBody>
      </p:sp>
      <p:sp>
        <p:nvSpPr>
          <p:cNvPr id="21" name="Text 19"/>
          <p:cNvSpPr/>
          <p:nvPr/>
        </p:nvSpPr>
        <p:spPr>
          <a:xfrm>
            <a:off x="8229600" y="4663440"/>
            <a:ext cx="3337560" cy="1280160"/>
          </a:xfrm>
          <a:prstGeom prst="rect">
            <a:avLst/>
          </a:prstGeom>
          <a:noFill/>
          <a:ln/>
        </p:spPr>
        <p:txBody>
          <a:bodyPr wrap="square" lIns="0" tIns="0" rIns="0" bIns="0" rtlCol="0" anchor="t"/>
          <a:lstStyle/>
          <a:p>
            <a:pPr indent="0" marL="0">
              <a:buNone/>
            </a:pPr>
            <a:r>
              <a:rPr lang="en-US" sz="1450" dirty="0">
                <a:solidFill>
                  <a:srgbClr val="E6E8EF"/>
                </a:solidFill>
                <a:latin typeface="Palatino Linotype" pitchFamily="34" charset="0"/>
                <a:ea typeface="Palatino Linotype" pitchFamily="34" charset="-122"/>
                <a:cs typeface="Palatino Linotype" pitchFamily="34" charset="-120"/>
              </a:rPr>
              <a:t>Un singur formular pe echipă. Câmpul „Ce a făcut fiecare membru al echipei” este obligatoriu.</a:t>
            </a:r>
            <a:endParaRPr lang="en-US" sz="1450" dirty="0"/>
          </a:p>
        </p:txBody>
      </p:sp>
      <p:pic>
        <p:nvPicPr>
          <p:cNvPr id="22" name="Picture 21" descr="UB_ISP_LP02_registrul_surselor_tabel_grafic.png"/>
          <p:cNvPicPr>
            <a:picLocks noChangeAspect="1"/>
          </p:cNvPicPr>
          <p:nvPr/>
        </p:nvPicPr>
        <p:blipFill>
          <a:blip r:embed="rId3"/>
          <a:stretch>
            <a:fillRect/>
          </a:stretch>
        </p:blipFill>
        <p:spPr>
          <a:xfrm>
            <a:off x="8687435" y="1691640"/>
            <a:ext cx="2421890" cy="2421890"/>
          </a:xfrm>
          <a:prstGeom prst="rect">
            <a:avLst/>
          </a:prstGeom>
        </p:spPr>
      </p:pic>
      <p:sp>
        <p:nvSpPr>
          <p:cNvPr id="23" name="TextBox 22"/>
          <p:cNvSpPr txBox="1"/>
          <p:nvPr/>
        </p:nvSpPr>
        <p:spPr>
          <a:xfrm>
            <a:off x="8412480" y="4151630"/>
            <a:ext cx="2971800" cy="412750"/>
          </a:xfrm>
          <a:prstGeom prst="rect">
            <a:avLst/>
          </a:prstGeom>
          <a:noFill/>
        </p:spPr>
        <p:txBody>
          <a:bodyPr wrap="square" lIns="0" rIns="0" tIns="0" bIns="0" anchor="t">
            <a:spAutoFit/>
          </a:bodyPr>
          <a:lstStyle/>
          <a:p>
            <a:pPr algn="ctr"/>
            <a:r>
              <a:rPr sz="1300" b="1">
                <a:solidFill>
                  <a:srgbClr val="B02532"/>
                </a:solidFill>
                <a:latin typeface="Palatino Linotype"/>
              </a:rPr>
              <a:t>formularul echipei</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6F5F2"/>
        </a:solidFill>
      </p:bgPr>
    </p:bg>
    <p:spTree>
      <p:nvGrpSpPr>
        <p:cNvPr id="1" name=""/>
        <p:cNvGrpSpPr/>
        <p:nvPr/>
      </p:nvGrpSpPr>
      <p:grpSpPr>
        <a:xfrm>
          <a:off x="0" y="0"/>
          <a:ext cx="0" cy="0"/>
          <a:chOff x="0" y="0"/>
          <a:chExt cx="0" cy="0"/>
        </a:xfrm>
      </p:grpSpPr>
      <p:sp>
        <p:nvSpPr>
          <p:cNvPr id="2" name="Text 0"/>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B02532"/>
                </a:solidFill>
                <a:latin typeface="Palatino Linotype" pitchFamily="34" charset="0"/>
                <a:ea typeface="Palatino Linotype" pitchFamily="34" charset="-122"/>
                <a:cs typeface="Palatino Linotype" pitchFamily="34" charset="-120"/>
              </a:rPr>
              <a:t>CRITERIILE PRODUSULUI</a:t>
            </a:r>
            <a:endParaRPr lang="en-US" sz="1300" dirty="0"/>
          </a:p>
        </p:txBody>
      </p:sp>
      <p:sp>
        <p:nvSpPr>
          <p:cNvPr id="3" name="Text 1"/>
          <p:cNvSpPr/>
          <p:nvPr/>
        </p:nvSpPr>
        <p:spPr>
          <a:xfrm>
            <a:off x="594360" y="694944"/>
            <a:ext cx="10972800" cy="960120"/>
          </a:xfrm>
          <a:prstGeom prst="rect">
            <a:avLst/>
          </a:prstGeom>
          <a:noFill/>
          <a:ln/>
        </p:spPr>
        <p:txBody>
          <a:bodyPr wrap="square" lIns="0" tIns="0" rIns="0" bIns="0" rtlCol="0" anchor="t"/>
          <a:lstStyle/>
          <a:p>
            <a:pPr indent="0" marL="0">
              <a:buNone/>
            </a:pPr>
            <a:r>
              <a:rPr lang="en-US" sz="3100" b="1" dirty="0">
                <a:solidFill>
                  <a:srgbClr val="11121A"/>
                </a:solidFill>
                <a:latin typeface="Palatino Linotype" pitchFamily="34" charset="0"/>
                <a:ea typeface="Palatino Linotype" pitchFamily="34" charset="-122"/>
                <a:cs typeface="Palatino Linotype" pitchFamily="34" charset="-120"/>
              </a:rPr>
              <a:t>Ce verifică titularul la acest produs</a:t>
            </a:r>
            <a:endParaRPr lang="en-US" sz="3100" dirty="0"/>
          </a:p>
        </p:txBody>
      </p:sp>
      <p:sp>
        <p:nvSpPr>
          <p:cNvPr id="4" name="Shape 2"/>
          <p:cNvSpPr/>
          <p:nvPr/>
        </p:nvSpPr>
        <p:spPr>
          <a:xfrm>
            <a:off x="594360" y="1554480"/>
            <a:ext cx="10972800" cy="566928"/>
          </a:xfrm>
          <a:prstGeom prst="roundRect">
            <a:avLst>
              <a:gd name="adj" fmla="val 14516"/>
            </a:avLst>
          </a:prstGeom>
          <a:solidFill>
            <a:srgbClr val="ECEAE4"/>
          </a:solidFill>
          <a:ln w="12700">
            <a:solidFill>
              <a:srgbClr val="ECEAE4"/>
            </a:solidFill>
            <a:prstDash val="solid"/>
          </a:ln>
        </p:spPr>
        <p:txBody>
          <a:bodyPr/>
          <a:p/>
        </p:txBody>
      </p:sp>
      <p:sp>
        <p:nvSpPr>
          <p:cNvPr id="5" name="Text 3"/>
          <p:cNvSpPr/>
          <p:nvPr/>
        </p:nvSpPr>
        <p:spPr>
          <a:xfrm>
            <a:off x="822960" y="1554480"/>
            <a:ext cx="40233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Registrul este complet</a:t>
            </a:r>
            <a:endParaRPr lang="en-US" sz="1450" dirty="0"/>
          </a:p>
        </p:txBody>
      </p:sp>
      <p:sp>
        <p:nvSpPr>
          <p:cNvPr id="6" name="Text 4"/>
          <p:cNvSpPr/>
          <p:nvPr/>
        </p:nvSpPr>
        <p:spPr>
          <a:xfrm>
            <a:off x="4937760" y="1554480"/>
            <a:ext cx="6492240" cy="566928"/>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cel puțin trei surse, două oficiale</a:t>
            </a:r>
            <a:endParaRPr lang="en-US" sz="1400" dirty="0"/>
          </a:p>
        </p:txBody>
      </p:sp>
      <p:sp>
        <p:nvSpPr>
          <p:cNvPr id="7" name="Shape 5"/>
          <p:cNvSpPr/>
          <p:nvPr/>
        </p:nvSpPr>
        <p:spPr>
          <a:xfrm>
            <a:off x="594360" y="2212848"/>
            <a:ext cx="10972800" cy="566928"/>
          </a:xfrm>
          <a:prstGeom prst="roundRect">
            <a:avLst>
              <a:gd name="adj" fmla="val 14516"/>
            </a:avLst>
          </a:prstGeom>
          <a:solidFill>
            <a:srgbClr val="F9F8F5"/>
          </a:solidFill>
          <a:ln w="12700">
            <a:solidFill>
              <a:srgbClr val="F9F8F5"/>
            </a:solidFill>
            <a:prstDash val="solid"/>
          </a:ln>
        </p:spPr>
        <p:txBody>
          <a:bodyPr/>
          <a:p/>
        </p:txBody>
      </p:sp>
      <p:sp>
        <p:nvSpPr>
          <p:cNvPr id="8" name="Text 6"/>
          <p:cNvSpPr/>
          <p:nvPr/>
        </p:nvSpPr>
        <p:spPr>
          <a:xfrm>
            <a:off x="822960" y="2212848"/>
            <a:ext cx="40233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Fiecare cifră are cele patru etichete</a:t>
            </a:r>
            <a:endParaRPr lang="en-US" sz="1450" dirty="0"/>
          </a:p>
        </p:txBody>
      </p:sp>
      <p:sp>
        <p:nvSpPr>
          <p:cNvPr id="9" name="Text 7"/>
          <p:cNvSpPr/>
          <p:nvPr/>
        </p:nvSpPr>
        <p:spPr>
          <a:xfrm>
            <a:off x="4937760" y="2212848"/>
            <a:ext cx="6492240" cy="566928"/>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sursa, indicatorul, anul, nivelul teritorial</a:t>
            </a:r>
            <a:endParaRPr lang="en-US" sz="1400" dirty="0"/>
          </a:p>
        </p:txBody>
      </p:sp>
      <p:sp>
        <p:nvSpPr>
          <p:cNvPr id="10" name="Shape 8"/>
          <p:cNvSpPr/>
          <p:nvPr/>
        </p:nvSpPr>
        <p:spPr>
          <a:xfrm>
            <a:off x="594360" y="2871216"/>
            <a:ext cx="10972800" cy="566928"/>
          </a:xfrm>
          <a:prstGeom prst="roundRect">
            <a:avLst>
              <a:gd name="adj" fmla="val 14516"/>
            </a:avLst>
          </a:prstGeom>
          <a:solidFill>
            <a:srgbClr val="ECEAE4"/>
          </a:solidFill>
          <a:ln w="12700">
            <a:solidFill>
              <a:srgbClr val="ECEAE4"/>
            </a:solidFill>
            <a:prstDash val="solid"/>
          </a:ln>
        </p:spPr>
        <p:txBody>
          <a:bodyPr/>
          <a:p/>
        </p:txBody>
      </p:sp>
      <p:sp>
        <p:nvSpPr>
          <p:cNvPr id="11" name="Text 9"/>
          <p:cNvSpPr/>
          <p:nvPr/>
        </p:nvSpPr>
        <p:spPr>
          <a:xfrm>
            <a:off x="822960" y="2871216"/>
            <a:ext cx="40233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Metadatele au fost citite</a:t>
            </a:r>
            <a:endParaRPr lang="en-US" sz="1450" dirty="0"/>
          </a:p>
        </p:txBody>
      </p:sp>
      <p:sp>
        <p:nvSpPr>
          <p:cNvPr id="12" name="Text 10"/>
          <p:cNvSpPr/>
          <p:nvPr/>
        </p:nvSpPr>
        <p:spPr>
          <a:xfrm>
            <a:off x="4937760" y="2871216"/>
            <a:ext cx="6492240" cy="566928"/>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o propoziție despre ce s-a numărat</a:t>
            </a:r>
            <a:endParaRPr lang="en-US" sz="1400" dirty="0"/>
          </a:p>
        </p:txBody>
      </p:sp>
      <p:sp>
        <p:nvSpPr>
          <p:cNvPr id="13" name="Shape 11"/>
          <p:cNvSpPr/>
          <p:nvPr/>
        </p:nvSpPr>
        <p:spPr>
          <a:xfrm>
            <a:off x="594360" y="3529584"/>
            <a:ext cx="10972800" cy="777240"/>
          </a:xfrm>
          <a:prstGeom prst="roundRect">
            <a:avLst>
              <a:gd name="adj" fmla="val 10588"/>
            </a:avLst>
          </a:prstGeom>
          <a:solidFill>
            <a:srgbClr val="F9F8F5"/>
          </a:solidFill>
          <a:ln w="12700">
            <a:solidFill>
              <a:srgbClr val="F9F8F5"/>
            </a:solidFill>
            <a:prstDash val="solid"/>
          </a:ln>
        </p:spPr>
        <p:txBody>
          <a:bodyPr/>
          <a:p/>
        </p:txBody>
      </p:sp>
      <p:sp>
        <p:nvSpPr>
          <p:cNvPr id="14" name="Text 12"/>
          <p:cNvSpPr/>
          <p:nvPr/>
        </p:nvSpPr>
        <p:spPr>
          <a:xfrm>
            <a:off x="822960" y="3529584"/>
            <a:ext cx="4023360" cy="777240"/>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Unitatea este potrivită</a:t>
            </a:r>
            <a:endParaRPr lang="en-US" sz="1450" dirty="0"/>
          </a:p>
        </p:txBody>
      </p:sp>
      <p:sp>
        <p:nvSpPr>
          <p:cNvPr id="15" name="Text 13"/>
          <p:cNvSpPr/>
          <p:nvPr/>
        </p:nvSpPr>
        <p:spPr>
          <a:xfrm>
            <a:off x="4937760" y="3529584"/>
            <a:ext cx="6492240" cy="777240"/>
          </a:xfrm>
          <a:prstGeom prst="rect">
            <a:avLst/>
          </a:prstGeom>
          <a:noFill/>
          <a:ln/>
        </p:spPr>
        <p:txBody>
          <a:bodyPr wrap="square" lIns="0" tIns="0" rIns="0" bIns="0" rtlCol="0" anchor="ctr"/>
          <a:lstStyle/>
          <a:p>
            <a:pPr indent="0" marL="0">
              <a:buNone/>
            </a:pPr>
            <a:r>
              <a:rPr lang="en-US" sz="1400" b="1" dirty="0">
                <a:solidFill>
                  <a:srgbClr val="B02532"/>
                </a:solidFill>
                <a:latin typeface="Palatino Linotype" pitchFamily="34" charset="0"/>
                <a:ea typeface="Palatino Linotype" pitchFamily="34" charset="-122"/>
                <a:cs typeface="Palatino Linotype" pitchFamily="34" charset="-120"/>
              </a:rPr>
              <a:t>rata, la comparațiile între populații; la o serie singură, numărul cu unitatea scrisă este acceptat</a:t>
            </a:r>
            <a:endParaRPr lang="en-US" sz="1400" dirty="0"/>
          </a:p>
        </p:txBody>
      </p:sp>
      <p:sp>
        <p:nvSpPr>
          <p:cNvPr id="16" name="Shape 14"/>
          <p:cNvSpPr/>
          <p:nvPr/>
        </p:nvSpPr>
        <p:spPr>
          <a:xfrm>
            <a:off x="594360" y="4398264"/>
            <a:ext cx="10972800" cy="566928"/>
          </a:xfrm>
          <a:prstGeom prst="roundRect">
            <a:avLst>
              <a:gd name="adj" fmla="val 14516"/>
            </a:avLst>
          </a:prstGeom>
          <a:solidFill>
            <a:srgbClr val="ECEAE4"/>
          </a:solidFill>
          <a:ln w="12700">
            <a:solidFill>
              <a:srgbClr val="ECEAE4"/>
            </a:solidFill>
            <a:prstDash val="solid"/>
          </a:ln>
        </p:spPr>
        <p:txBody>
          <a:bodyPr/>
          <a:p/>
        </p:txBody>
      </p:sp>
      <p:sp>
        <p:nvSpPr>
          <p:cNvPr id="17" name="Text 15"/>
          <p:cNvSpPr/>
          <p:nvPr/>
        </p:nvSpPr>
        <p:spPr>
          <a:xfrm>
            <a:off x="822960" y="4398264"/>
            <a:ext cx="40233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Tabelul sau graficul se citește singur</a:t>
            </a:r>
            <a:endParaRPr lang="en-US" sz="1450" dirty="0"/>
          </a:p>
        </p:txBody>
      </p:sp>
      <p:sp>
        <p:nvSpPr>
          <p:cNvPr id="18" name="Text 16"/>
          <p:cNvSpPr/>
          <p:nvPr/>
        </p:nvSpPr>
        <p:spPr>
          <a:xfrm>
            <a:off x="4937760" y="4398264"/>
            <a:ext cx="6492240" cy="566928"/>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titlu, unitate, linie de sursă, mențiuni</a:t>
            </a:r>
            <a:endParaRPr lang="en-US" sz="1400" dirty="0"/>
          </a:p>
        </p:txBody>
      </p:sp>
      <p:sp>
        <p:nvSpPr>
          <p:cNvPr id="19" name="Shape 17"/>
          <p:cNvSpPr/>
          <p:nvPr/>
        </p:nvSpPr>
        <p:spPr>
          <a:xfrm>
            <a:off x="594360" y="5056632"/>
            <a:ext cx="10972800" cy="566928"/>
          </a:xfrm>
          <a:prstGeom prst="roundRect">
            <a:avLst>
              <a:gd name="adj" fmla="val 14516"/>
            </a:avLst>
          </a:prstGeom>
          <a:solidFill>
            <a:srgbClr val="F9F8F5"/>
          </a:solidFill>
          <a:ln w="12700">
            <a:solidFill>
              <a:srgbClr val="F9F8F5"/>
            </a:solidFill>
            <a:prstDash val="solid"/>
          </a:ln>
        </p:spPr>
        <p:txBody>
          <a:bodyPr/>
          <a:p/>
        </p:txBody>
      </p:sp>
      <p:sp>
        <p:nvSpPr>
          <p:cNvPr id="20" name="Text 18"/>
          <p:cNvSpPr/>
          <p:nvPr/>
        </p:nvSpPr>
        <p:spPr>
          <a:xfrm>
            <a:off x="822960" y="5056632"/>
            <a:ext cx="40233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Interpretarea este prudentă</a:t>
            </a:r>
            <a:endParaRPr lang="en-US" sz="1450" dirty="0"/>
          </a:p>
        </p:txBody>
      </p:sp>
      <p:sp>
        <p:nvSpPr>
          <p:cNvPr id="21" name="Text 19"/>
          <p:cNvSpPr/>
          <p:nvPr/>
        </p:nvSpPr>
        <p:spPr>
          <a:xfrm>
            <a:off x="4937760" y="5056632"/>
            <a:ext cx="6492240" cy="566928"/>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ce arată datele și ce nu arată</a:t>
            </a:r>
            <a:endParaRPr lang="en-US" sz="1400" dirty="0"/>
          </a:p>
        </p:txBody>
      </p:sp>
      <p:sp>
        <p:nvSpPr>
          <p:cNvPr id="22" name="Shape 20"/>
          <p:cNvSpPr/>
          <p:nvPr/>
        </p:nvSpPr>
        <p:spPr>
          <a:xfrm>
            <a:off x="594360" y="5715000"/>
            <a:ext cx="10972800" cy="566928"/>
          </a:xfrm>
          <a:prstGeom prst="roundRect">
            <a:avLst>
              <a:gd name="adj" fmla="val 14516"/>
            </a:avLst>
          </a:prstGeom>
          <a:solidFill>
            <a:srgbClr val="ECEAE4"/>
          </a:solidFill>
          <a:ln w="12700">
            <a:solidFill>
              <a:srgbClr val="ECEAE4"/>
            </a:solidFill>
            <a:prstDash val="solid"/>
          </a:ln>
        </p:spPr>
        <p:txBody>
          <a:bodyPr/>
          <a:p/>
        </p:txBody>
      </p:sp>
      <p:sp>
        <p:nvSpPr>
          <p:cNvPr id="23" name="Text 21"/>
          <p:cNvSpPr/>
          <p:nvPr/>
        </p:nvSpPr>
        <p:spPr>
          <a:xfrm>
            <a:off x="822960" y="5715000"/>
            <a:ext cx="4023360" cy="566928"/>
          </a:xfrm>
          <a:prstGeom prst="rect">
            <a:avLst/>
          </a:prstGeom>
          <a:noFill/>
          <a:ln/>
        </p:spPr>
        <p:txBody>
          <a:bodyPr wrap="square" lIns="0" tIns="0" rIns="0" bIns="0" rtlCol="0" anchor="ctr"/>
          <a:lstStyle/>
          <a:p>
            <a:pPr indent="0" marL="0">
              <a:buNone/>
            </a:pPr>
            <a:r>
              <a:rPr lang="en-US" sz="1450" b="1" dirty="0">
                <a:solidFill>
                  <a:srgbClr val="11121A"/>
                </a:solidFill>
                <a:latin typeface="Palatino Linotype" pitchFamily="34" charset="0"/>
                <a:ea typeface="Palatino Linotype" pitchFamily="34" charset="-122"/>
                <a:cs typeface="Palatino Linotype" pitchFamily="34" charset="-120"/>
              </a:rPr>
              <a:t>Inteligența artificială este declarată</a:t>
            </a:r>
            <a:endParaRPr lang="en-US" sz="1450" dirty="0"/>
          </a:p>
        </p:txBody>
      </p:sp>
      <p:sp>
        <p:nvSpPr>
          <p:cNvPr id="24" name="Text 22"/>
          <p:cNvSpPr/>
          <p:nvPr/>
        </p:nvSpPr>
        <p:spPr>
          <a:xfrm>
            <a:off x="4937760" y="5715000"/>
            <a:ext cx="6492240" cy="566928"/>
          </a:xfrm>
          <a:prstGeom prst="rect">
            <a:avLst/>
          </a:prstGeom>
          <a:noFill/>
          <a:ln/>
        </p:spPr>
        <p:txBody>
          <a:bodyPr wrap="square" lIns="0" tIns="0" rIns="0" bIns="0" rtlCol="0" anchor="ctr"/>
          <a:lstStyle/>
          <a:p>
            <a:pPr indent="0" marL="0">
              <a:buNone/>
            </a:pPr>
            <a:r>
              <a:rPr lang="en-US" sz="1400" dirty="0">
                <a:solidFill>
                  <a:srgbClr val="11121A"/>
                </a:solidFill>
                <a:latin typeface="Palatino Linotype" pitchFamily="34" charset="0"/>
                <a:ea typeface="Palatino Linotype" pitchFamily="34" charset="-122"/>
                <a:cs typeface="Palatino Linotype" pitchFamily="34" charset="-120"/>
              </a:rPr>
              <a:t>numai pentru redactare, conform ghidului</a:t>
            </a:r>
            <a:endParaRPr lang="en-US" sz="14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8549640" y="292608"/>
            <a:ext cx="3017520" cy="420624"/>
          </a:xfrm>
          <a:prstGeom prst="roundRect">
            <a:avLst>
              <a:gd name="adj" fmla="val 50000"/>
            </a:avLst>
          </a:prstGeom>
          <a:solidFill>
            <a:srgbClr val="FFC24B"/>
          </a:solidFill>
          <a:ln w="12700">
            <a:solidFill>
              <a:srgbClr val="FFC24B"/>
            </a:solidFill>
            <a:prstDash val="solid"/>
          </a:ln>
        </p:spPr>
        <p:txBody>
          <a:bodyPr/>
          <a:p/>
        </p:txBody>
      </p:sp>
      <p:sp>
        <p:nvSpPr>
          <p:cNvPr id="3" name="Text 1"/>
          <p:cNvSpPr/>
          <p:nvPr/>
        </p:nvSpPr>
        <p:spPr>
          <a:xfrm>
            <a:off x="8549640" y="292608"/>
            <a:ext cx="3017520" cy="420624"/>
          </a:xfrm>
          <a:prstGeom prst="rect">
            <a:avLst/>
          </a:prstGeom>
          <a:noFill/>
          <a:ln/>
        </p:spPr>
        <p:txBody>
          <a:bodyPr wrap="square" lIns="0" tIns="0" rIns="0" bIns="0" rtlCol="0" anchor="ctr"/>
          <a:lstStyle/>
          <a:p>
            <a:pPr algn="ctr" indent="0" marL="0">
              <a:buNone/>
            </a:pPr>
            <a:r>
              <a:rPr lang="en-US" sz="1300" b="1" dirty="0">
                <a:solidFill>
                  <a:srgbClr val="11121A"/>
                </a:solidFill>
                <a:latin typeface="Palatino Linotype" pitchFamily="34" charset="0"/>
                <a:ea typeface="Palatino Linotype" pitchFamily="34" charset="-122"/>
                <a:cs typeface="Palatino Linotype" pitchFamily="34" charset="-120"/>
              </a:rPr>
              <a:t>ÎN ECHIPĂ</a:t>
            </a:r>
            <a:endParaRPr lang="en-US" sz="1300" dirty="0"/>
          </a:p>
        </p:txBody>
      </p:sp>
      <p:sp>
        <p:nvSpPr>
          <p:cNvPr id="4" name="Text 2"/>
          <p:cNvSpPr/>
          <p:nvPr/>
        </p:nvSpPr>
        <p:spPr>
          <a:xfrm>
            <a:off x="594360" y="347472"/>
            <a:ext cx="7863840" cy="329184"/>
          </a:xfrm>
          <a:prstGeom prst="rect">
            <a:avLst/>
          </a:prstGeom>
          <a:noFill/>
          <a:ln/>
        </p:spPr>
        <p:txBody>
          <a:bodyPr wrap="square" lIns="0" tIns="0" rIns="0" bIns="0" rtlCol="0" anchor="ctr"/>
          <a:lstStyle/>
          <a:p>
            <a:pPr indent="0" marL="0">
              <a:buNone/>
            </a:pPr>
            <a:r>
              <a:rPr lang="en-US" sz="1300" b="1" spc="200" kern="0" dirty="0">
                <a:solidFill>
                  <a:srgbClr val="FFC24B"/>
                </a:solidFill>
                <a:latin typeface="Palatino Linotype" pitchFamily="34" charset="0"/>
                <a:ea typeface="Palatino Linotype" pitchFamily="34" charset="-122"/>
                <a:cs typeface="Palatino Linotype" pitchFamily="34" charset="-120"/>
              </a:rPr>
              <a:t>ORA A DOUA</a:t>
            </a:r>
            <a:endParaRPr lang="en-US" sz="1300" dirty="0"/>
          </a:p>
        </p:txBody>
      </p:sp>
      <p:sp>
        <p:nvSpPr>
          <p:cNvPr id="5" name="Text 3"/>
          <p:cNvSpPr/>
          <p:nvPr/>
        </p:nvSpPr>
        <p:spPr>
          <a:xfrm>
            <a:off x="594360" y="694944"/>
            <a:ext cx="10972800" cy="960120"/>
          </a:xfrm>
          <a:prstGeom prst="rect">
            <a:avLst/>
          </a:prstGeom>
          <a:noFill/>
          <a:ln/>
        </p:spPr>
        <p:txBody>
          <a:bodyPr wrap="square" lIns="0" tIns="0" rIns="0" bIns="0" rtlCol="0" anchor="t"/>
          <a:lstStyle/>
          <a:p>
            <a:pPr indent="0" marL="0">
              <a:buNone/>
            </a:pPr>
            <a:r>
              <a:rPr lang="en-US" sz="3200" b="1" dirty="0">
                <a:solidFill>
                  <a:srgbClr val="FFFFFF"/>
                </a:solidFill>
                <a:latin typeface="Palatino Linotype" pitchFamily="34" charset="0"/>
                <a:ea typeface="Palatino Linotype" pitchFamily="34" charset="-122"/>
                <a:cs typeface="Palatino Linotype" pitchFamily="34" charset="-120"/>
              </a:rPr>
              <a:t>Ora echipei începe la 18:00</a:t>
            </a:r>
            <a:endParaRPr lang="en-US" sz="3200" dirty="0"/>
          </a:p>
        </p:txBody>
      </p:sp>
      <p:sp>
        <p:nvSpPr>
          <p:cNvPr id="6" name="Shape 4"/>
          <p:cNvSpPr/>
          <p:nvPr/>
        </p:nvSpPr>
        <p:spPr>
          <a:xfrm>
            <a:off x="594360" y="1645920"/>
            <a:ext cx="7223760" cy="749808"/>
          </a:xfrm>
          <a:prstGeom prst="roundRect">
            <a:avLst>
              <a:gd name="adj" fmla="val 10976"/>
            </a:avLst>
          </a:prstGeom>
          <a:solidFill>
            <a:srgbClr val="1D1F2B"/>
          </a:solidFill>
          <a:ln w="12700">
            <a:solidFill>
              <a:srgbClr val="1D1F2B"/>
            </a:solidFill>
            <a:prstDash val="solid"/>
          </a:ln>
        </p:spPr>
        <p:txBody>
          <a:bodyPr/>
          <a:p/>
        </p:txBody>
      </p:sp>
      <p:sp>
        <p:nvSpPr>
          <p:cNvPr id="7" name="Shape 5"/>
          <p:cNvSpPr/>
          <p:nvPr/>
        </p:nvSpPr>
        <p:spPr>
          <a:xfrm>
            <a:off x="822960" y="1810512"/>
            <a:ext cx="420624" cy="420624"/>
          </a:xfrm>
          <a:prstGeom prst="ellipse">
            <a:avLst/>
          </a:prstGeom>
          <a:solidFill>
            <a:srgbClr val="FFC24B"/>
          </a:solidFill>
          <a:ln/>
        </p:spPr>
        <p:txBody>
          <a:bodyPr/>
          <a:p/>
        </p:txBody>
      </p:sp>
      <p:sp>
        <p:nvSpPr>
          <p:cNvPr id="8" name="Text 6"/>
          <p:cNvSpPr/>
          <p:nvPr/>
        </p:nvSpPr>
        <p:spPr>
          <a:xfrm>
            <a:off x="822960" y="1810512"/>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9" name="Text 7"/>
          <p:cNvSpPr/>
          <p:nvPr/>
        </p:nvSpPr>
        <p:spPr>
          <a:xfrm>
            <a:off x="1463040" y="1645920"/>
            <a:ext cx="621792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Registrul: cel puțin trei surse, două oficiale.</a:t>
            </a:r>
            <a:endParaRPr lang="en-US" sz="1500" dirty="0"/>
          </a:p>
        </p:txBody>
      </p:sp>
      <p:sp>
        <p:nvSpPr>
          <p:cNvPr id="10" name="Shape 8"/>
          <p:cNvSpPr/>
          <p:nvPr/>
        </p:nvSpPr>
        <p:spPr>
          <a:xfrm>
            <a:off x="594360" y="2496312"/>
            <a:ext cx="7223760" cy="749808"/>
          </a:xfrm>
          <a:prstGeom prst="roundRect">
            <a:avLst>
              <a:gd name="adj" fmla="val 10976"/>
            </a:avLst>
          </a:prstGeom>
          <a:solidFill>
            <a:srgbClr val="1D1F2B"/>
          </a:solidFill>
          <a:ln w="12700">
            <a:solidFill>
              <a:srgbClr val="1D1F2B"/>
            </a:solidFill>
            <a:prstDash val="solid"/>
          </a:ln>
        </p:spPr>
        <p:txBody>
          <a:bodyPr/>
          <a:p/>
        </p:txBody>
      </p:sp>
      <p:sp>
        <p:nvSpPr>
          <p:cNvPr id="11" name="Shape 9"/>
          <p:cNvSpPr/>
          <p:nvPr/>
        </p:nvSpPr>
        <p:spPr>
          <a:xfrm>
            <a:off x="822960" y="2660904"/>
            <a:ext cx="420624" cy="420624"/>
          </a:xfrm>
          <a:prstGeom prst="ellipse">
            <a:avLst/>
          </a:prstGeom>
          <a:solidFill>
            <a:srgbClr val="FFC24B"/>
          </a:solidFill>
          <a:ln/>
        </p:spPr>
        <p:txBody>
          <a:bodyPr/>
          <a:p/>
        </p:txBody>
      </p:sp>
      <p:sp>
        <p:nvSpPr>
          <p:cNvPr id="12" name="Text 10"/>
          <p:cNvSpPr/>
          <p:nvPr/>
        </p:nvSpPr>
        <p:spPr>
          <a:xfrm>
            <a:off x="822960" y="2660904"/>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3" name="Text 11"/>
          <p:cNvSpPr/>
          <p:nvPr/>
        </p:nvSpPr>
        <p:spPr>
          <a:xfrm>
            <a:off x="1463040" y="2496312"/>
            <a:ext cx="621792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Pentru fiecare indicator, o propoziție despre ce s-a numărat.</a:t>
            </a:r>
            <a:endParaRPr lang="en-US" sz="1500" dirty="0"/>
          </a:p>
        </p:txBody>
      </p:sp>
      <p:sp>
        <p:nvSpPr>
          <p:cNvPr id="14" name="Shape 12"/>
          <p:cNvSpPr/>
          <p:nvPr/>
        </p:nvSpPr>
        <p:spPr>
          <a:xfrm>
            <a:off x="594360" y="3346704"/>
            <a:ext cx="7223760" cy="749808"/>
          </a:xfrm>
          <a:prstGeom prst="roundRect">
            <a:avLst>
              <a:gd name="adj" fmla="val 10976"/>
            </a:avLst>
          </a:prstGeom>
          <a:solidFill>
            <a:srgbClr val="1D1F2B"/>
          </a:solidFill>
          <a:ln w="12700">
            <a:solidFill>
              <a:srgbClr val="1D1F2B"/>
            </a:solidFill>
            <a:prstDash val="solid"/>
          </a:ln>
        </p:spPr>
        <p:txBody>
          <a:bodyPr/>
          <a:p/>
        </p:txBody>
      </p:sp>
      <p:sp>
        <p:nvSpPr>
          <p:cNvPr id="15" name="Shape 13"/>
          <p:cNvSpPr/>
          <p:nvPr/>
        </p:nvSpPr>
        <p:spPr>
          <a:xfrm>
            <a:off x="822960" y="3511296"/>
            <a:ext cx="420624" cy="420624"/>
          </a:xfrm>
          <a:prstGeom prst="ellipse">
            <a:avLst/>
          </a:prstGeom>
          <a:solidFill>
            <a:srgbClr val="FFC24B"/>
          </a:solidFill>
          <a:ln/>
        </p:spPr>
        <p:txBody>
          <a:bodyPr/>
          <a:p/>
        </p:txBody>
      </p:sp>
      <p:sp>
        <p:nvSpPr>
          <p:cNvPr id="16" name="Text 14"/>
          <p:cNvSpPr/>
          <p:nvPr/>
        </p:nvSpPr>
        <p:spPr>
          <a:xfrm>
            <a:off x="822960" y="3511296"/>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7" name="Text 15"/>
          <p:cNvSpPr/>
          <p:nvPr/>
        </p:nvSpPr>
        <p:spPr>
          <a:xfrm>
            <a:off x="1463040" y="3346704"/>
            <a:ext cx="621792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Rata, la comparațiile între populații.</a:t>
            </a:r>
            <a:endParaRPr lang="en-US" sz="1500" dirty="0"/>
          </a:p>
        </p:txBody>
      </p:sp>
      <p:sp>
        <p:nvSpPr>
          <p:cNvPr id="18" name="Shape 16"/>
          <p:cNvSpPr/>
          <p:nvPr/>
        </p:nvSpPr>
        <p:spPr>
          <a:xfrm>
            <a:off x="594360" y="4197096"/>
            <a:ext cx="7223760" cy="749808"/>
          </a:xfrm>
          <a:prstGeom prst="roundRect">
            <a:avLst>
              <a:gd name="adj" fmla="val 10976"/>
            </a:avLst>
          </a:prstGeom>
          <a:solidFill>
            <a:srgbClr val="1D1F2B"/>
          </a:solidFill>
          <a:ln w="12700">
            <a:solidFill>
              <a:srgbClr val="1D1F2B"/>
            </a:solidFill>
            <a:prstDash val="solid"/>
          </a:ln>
        </p:spPr>
        <p:txBody>
          <a:bodyPr/>
          <a:p/>
        </p:txBody>
      </p:sp>
      <p:sp>
        <p:nvSpPr>
          <p:cNvPr id="19" name="Shape 17"/>
          <p:cNvSpPr/>
          <p:nvPr/>
        </p:nvSpPr>
        <p:spPr>
          <a:xfrm>
            <a:off x="822960" y="4361688"/>
            <a:ext cx="420624" cy="420624"/>
          </a:xfrm>
          <a:prstGeom prst="ellipse">
            <a:avLst/>
          </a:prstGeom>
          <a:solidFill>
            <a:srgbClr val="FFC24B"/>
          </a:solidFill>
          <a:ln/>
        </p:spPr>
        <p:txBody>
          <a:bodyPr/>
          <a:p/>
        </p:txBody>
      </p:sp>
      <p:sp>
        <p:nvSpPr>
          <p:cNvPr id="20" name="Text 18"/>
          <p:cNvSpPr/>
          <p:nvPr/>
        </p:nvSpPr>
        <p:spPr>
          <a:xfrm>
            <a:off x="822960" y="436168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4</a:t>
            </a:r>
            <a:endParaRPr lang="en-US" sz="1400" dirty="0"/>
          </a:p>
        </p:txBody>
      </p:sp>
      <p:sp>
        <p:nvSpPr>
          <p:cNvPr id="21" name="Text 19"/>
          <p:cNvSpPr/>
          <p:nvPr/>
        </p:nvSpPr>
        <p:spPr>
          <a:xfrm>
            <a:off x="1463040" y="4197096"/>
            <a:ext cx="621792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Tabel sau grafic: titlu, unitate, linie de sursă.</a:t>
            </a:r>
            <a:endParaRPr lang="en-US" sz="1500" dirty="0"/>
          </a:p>
        </p:txBody>
      </p:sp>
      <p:sp>
        <p:nvSpPr>
          <p:cNvPr id="22" name="Shape 20"/>
          <p:cNvSpPr/>
          <p:nvPr/>
        </p:nvSpPr>
        <p:spPr>
          <a:xfrm>
            <a:off x="594360" y="5047488"/>
            <a:ext cx="7223760" cy="749808"/>
          </a:xfrm>
          <a:prstGeom prst="roundRect">
            <a:avLst>
              <a:gd name="adj" fmla="val 10976"/>
            </a:avLst>
          </a:prstGeom>
          <a:solidFill>
            <a:srgbClr val="1D1F2B"/>
          </a:solidFill>
          <a:ln w="12700">
            <a:solidFill>
              <a:srgbClr val="1D1F2B"/>
            </a:solidFill>
            <a:prstDash val="solid"/>
          </a:ln>
        </p:spPr>
        <p:txBody>
          <a:bodyPr/>
          <a:p/>
        </p:txBody>
      </p:sp>
      <p:sp>
        <p:nvSpPr>
          <p:cNvPr id="23" name="Shape 21"/>
          <p:cNvSpPr/>
          <p:nvPr/>
        </p:nvSpPr>
        <p:spPr>
          <a:xfrm>
            <a:off x="822960" y="5212080"/>
            <a:ext cx="420624" cy="420624"/>
          </a:xfrm>
          <a:prstGeom prst="ellipse">
            <a:avLst/>
          </a:prstGeom>
          <a:solidFill>
            <a:srgbClr val="FFC24B"/>
          </a:solidFill>
          <a:ln/>
        </p:spPr>
        <p:txBody>
          <a:bodyPr/>
          <a:p/>
        </p:txBody>
      </p:sp>
      <p:sp>
        <p:nvSpPr>
          <p:cNvPr id="24" name="Text 22"/>
          <p:cNvSpPr/>
          <p:nvPr/>
        </p:nvSpPr>
        <p:spPr>
          <a:xfrm>
            <a:off x="822960" y="5212080"/>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5</a:t>
            </a:r>
            <a:endParaRPr lang="en-US" sz="1400" dirty="0"/>
          </a:p>
        </p:txBody>
      </p:sp>
      <p:sp>
        <p:nvSpPr>
          <p:cNvPr id="25" name="Text 23"/>
          <p:cNvSpPr/>
          <p:nvPr/>
        </p:nvSpPr>
        <p:spPr>
          <a:xfrm>
            <a:off x="1463040" y="5047488"/>
            <a:ext cx="6217920" cy="749808"/>
          </a:xfrm>
          <a:prstGeom prst="rect">
            <a:avLst/>
          </a:prstGeom>
          <a:noFill/>
          <a:ln/>
        </p:spPr>
        <p:txBody>
          <a:bodyPr wrap="square" lIns="0" tIns="0" rIns="0" bIns="0" rtlCol="0" anchor="ctr"/>
          <a:lstStyle/>
          <a:p>
            <a:pPr indent="0" marL="0">
              <a:buNone/>
            </a:pPr>
            <a:r>
              <a:rPr lang="en-US" sz="1500" dirty="0">
                <a:solidFill>
                  <a:srgbClr val="FFFFFF"/>
                </a:solidFill>
                <a:latin typeface="Palatino Linotype" pitchFamily="34" charset="0"/>
                <a:ea typeface="Palatino Linotype" pitchFamily="34" charset="-122"/>
                <a:cs typeface="Palatino Linotype" pitchFamily="34" charset="-120"/>
              </a:rPr>
              <a:t>Două-trei propoziții despre ce arată, una despre ce nu arată.</a:t>
            </a:r>
            <a:endParaRPr lang="en-US" sz="1500" dirty="0"/>
          </a:p>
        </p:txBody>
      </p:sp>
      <p:sp>
        <p:nvSpPr>
          <p:cNvPr id="26" name="Shape 24"/>
          <p:cNvSpPr/>
          <p:nvPr/>
        </p:nvSpPr>
        <p:spPr>
          <a:xfrm>
            <a:off x="8001000" y="1645920"/>
            <a:ext cx="3566160" cy="1600200"/>
          </a:xfrm>
          <a:prstGeom prst="roundRect">
            <a:avLst>
              <a:gd name="adj" fmla="val 5143"/>
            </a:avLst>
          </a:prstGeom>
          <a:solidFill>
            <a:srgbClr val="FF4757"/>
          </a:solidFill>
          <a:ln w="12700">
            <a:solidFill>
              <a:srgbClr val="FF4757"/>
            </a:solidFill>
            <a:prstDash val="solid"/>
          </a:ln>
        </p:spPr>
        <p:txBody>
          <a:bodyPr/>
          <a:p/>
        </p:txBody>
      </p:sp>
      <p:sp>
        <p:nvSpPr>
          <p:cNvPr id="27" name="Text 25"/>
          <p:cNvSpPr/>
          <p:nvPr/>
        </p:nvSpPr>
        <p:spPr>
          <a:xfrm>
            <a:off x="8275320" y="1645920"/>
            <a:ext cx="3063240" cy="1600200"/>
          </a:xfrm>
          <a:prstGeom prst="rect">
            <a:avLst/>
          </a:prstGeom>
          <a:noFill/>
          <a:ln/>
        </p:spPr>
        <p:txBody>
          <a:bodyPr wrap="square" lIns="0" tIns="0" rIns="0" bIns="0" rtlCol="0" anchor="ctr"/>
          <a:lstStyle/>
          <a:p>
            <a:pPr indent="0" marL="0">
              <a:buNone/>
            </a:pPr>
            <a:r>
              <a:rPr lang="en-US" sz="1900" b="1" dirty="0">
                <a:solidFill>
                  <a:srgbClr val="2E060B"/>
                </a:solidFill>
                <a:latin typeface="Palatino Linotype" pitchFamily="34" charset="0"/>
                <a:ea typeface="Palatino Linotype" pitchFamily="34" charset="-122"/>
                <a:cs typeface="Palatino Linotype" pitchFamily="34" charset="-120"/>
              </a:rPr>
              <a:t>În sală sau pe Teams</a:t>
            </a:r>
            <a:endParaRPr lang="en-US" sz="1900" dirty="0"/>
          </a:p>
          <a:p>
            <a:pPr indent="0" marL="0">
              <a:buNone/>
            </a:pPr>
            <a:r>
              <a:rPr lang="en-US" sz="1500" dirty="0">
                <a:solidFill>
                  <a:srgbClr val="2E060B"/>
                </a:solidFill>
                <a:latin typeface="Palatino Linotype" pitchFamily="34" charset="0"/>
                <a:ea typeface="Palatino Linotype" pitchFamily="34" charset="-122"/>
                <a:cs typeface="Palatino Linotype" pitchFamily="34" charset="-120"/>
              </a:rPr>
              <a:t>Ce nu terminați până la 18:50 continuați acasă.</a:t>
            </a:r>
            <a:endParaRPr lang="en-US" sz="1900" dirty="0"/>
          </a:p>
        </p:txBody>
      </p:sp>
      <p:sp>
        <p:nvSpPr>
          <p:cNvPr id="28" name="Shape 26"/>
          <p:cNvSpPr/>
          <p:nvPr/>
        </p:nvSpPr>
        <p:spPr>
          <a:xfrm>
            <a:off x="8001000" y="3429000"/>
            <a:ext cx="3566160" cy="2423160"/>
          </a:xfrm>
          <a:prstGeom prst="roundRect">
            <a:avLst>
              <a:gd name="adj" fmla="val 3774"/>
            </a:avLst>
          </a:prstGeom>
          <a:solidFill>
            <a:srgbClr val="FFFFFF"/>
          </a:solidFill>
          <a:ln w="19050">
            <a:solidFill>
              <a:srgbClr val="8E94A8"/>
            </a:solidFill>
            <a:prstDash val="dash"/>
          </a:ln>
        </p:spPr>
        <p:txBody>
          <a:bodyPr/>
          <a:p/>
        </p:txBody>
      </p:sp>
      <p:sp>
        <p:nvSpPr>
          <p:cNvPr id="30" name="Text 28"/>
          <p:cNvSpPr/>
          <p:nvPr/>
        </p:nvSpPr>
        <p:spPr>
          <a:xfrm>
            <a:off x="8001000" y="5897880"/>
            <a:ext cx="3566160" cy="457200"/>
          </a:xfrm>
          <a:prstGeom prst="rect">
            <a:avLst/>
          </a:prstGeom>
          <a:noFill/>
          <a:ln/>
        </p:spPr>
        <p:txBody>
          <a:bodyPr wrap="square" lIns="0" tIns="0" rIns="0" bIns="0" rtlCol="0" anchor="t"/>
          <a:lstStyle/>
          <a:p>
            <a:pPr indent="0" marL="0">
              <a:buNone/>
            </a:pPr>
            <a:r>
              <a:rPr lang="en-US" sz="1250" b="1" dirty="0">
                <a:solidFill>
                  <a:srgbClr val="FFC24B"/>
                </a:solidFill>
                <a:latin typeface="Palatino Linotype" pitchFamily="34" charset="0"/>
                <a:ea typeface="Palatino Linotype" pitchFamily="34" charset="-122"/>
                <a:cs typeface="Palatino Linotype" pitchFamily="34" charset="-120"/>
              </a:rPr>
              <a:t>Echipele de pe Teams: biletul de ieșire, de la 18:50.</a:t>
            </a:r>
            <a:endParaRPr lang="en-US" sz="1250" dirty="0"/>
          </a:p>
        </p:txBody>
      </p:sp>
      <p:pic>
        <p:nvPicPr>
          <p:cNvPr id="31" name="Picture 30" descr="Mentimeter_UB_ISP_LP02.png"/>
          <p:cNvPicPr>
            <a:picLocks noChangeAspect="1"/>
          </p:cNvPicPr>
          <p:nvPr/>
        </p:nvPicPr>
        <p:blipFill>
          <a:blip r:embed="rId3"/>
          <a:stretch>
            <a:fillRect/>
          </a:stretch>
        </p:blipFill>
        <p:spPr>
          <a:xfrm>
            <a:off x="8886190" y="3429000"/>
            <a:ext cx="1795780" cy="1795780"/>
          </a:xfrm>
          <a:prstGeom prst="rect">
            <a:avLst/>
          </a:prstGeom>
        </p:spPr>
      </p:pic>
      <p:sp>
        <p:nvSpPr>
          <p:cNvPr id="32" name="TextBox 31"/>
          <p:cNvSpPr txBox="1"/>
          <p:nvPr/>
        </p:nvSpPr>
        <p:spPr>
          <a:xfrm>
            <a:off x="8183880" y="5262880"/>
            <a:ext cx="320040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biletul de ieșire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11121A"/>
        </a:solidFill>
      </p:bgPr>
    </p:bg>
    <p:spTree>
      <p:nvGrpSpPr>
        <p:cNvPr id="1" name=""/>
        <p:cNvGrpSpPr/>
        <p:nvPr/>
      </p:nvGrpSpPr>
      <p:grpSpPr>
        <a:xfrm>
          <a:off x="0" y="0"/>
          <a:ext cx="0" cy="0"/>
          <a:chOff x="0" y="0"/>
          <a:chExt cx="0" cy="0"/>
        </a:xfrm>
      </p:grpSpPr>
      <p:sp>
        <p:nvSpPr>
          <p:cNvPr id="2" name="Shape 0"/>
          <p:cNvSpPr/>
          <p:nvPr/>
        </p:nvSpPr>
        <p:spPr>
          <a:xfrm>
            <a:off x="685800" y="822960"/>
            <a:ext cx="4754880" cy="329184"/>
          </a:xfrm>
          <a:prstGeom prst="roundRect">
            <a:avLst>
              <a:gd name="adj" fmla="val 50000"/>
            </a:avLst>
          </a:prstGeom>
          <a:solidFill>
            <a:srgbClr val="FF4757"/>
          </a:solidFill>
          <a:ln w="12700">
            <a:solidFill>
              <a:srgbClr val="FF4757"/>
            </a:solidFill>
            <a:prstDash val="solid"/>
          </a:ln>
        </p:spPr>
        <p:txBody>
          <a:bodyPr/>
          <a:p/>
        </p:txBody>
      </p:sp>
      <p:sp>
        <p:nvSpPr>
          <p:cNvPr id="3" name="Text 1"/>
          <p:cNvSpPr/>
          <p:nvPr/>
        </p:nvSpPr>
        <p:spPr>
          <a:xfrm>
            <a:off x="685800" y="822960"/>
            <a:ext cx="4754880" cy="329184"/>
          </a:xfrm>
          <a:prstGeom prst="rect">
            <a:avLst/>
          </a:prstGeom>
          <a:noFill/>
          <a:ln/>
        </p:spPr>
        <p:txBody>
          <a:bodyPr wrap="square" lIns="0" tIns="0" rIns="0" bIns="0" rtlCol="0" anchor="ctr"/>
          <a:lstStyle/>
          <a:p>
            <a:pPr algn="ctr" indent="0" marL="0">
              <a:buNone/>
            </a:pPr>
            <a:r>
              <a:rPr lang="en-US" sz="1300" b="1" dirty="0">
                <a:solidFill>
                  <a:srgbClr val="2E060B"/>
                </a:solidFill>
                <a:latin typeface="Palatino Linotype" pitchFamily="34" charset="0"/>
                <a:ea typeface="Palatino Linotype" pitchFamily="34" charset="-122"/>
                <a:cs typeface="Palatino Linotype" pitchFamily="34" charset="-120"/>
              </a:rPr>
              <a:t>BILETUL DE IEȘIRE · DE LA 18:50 · ANONIM</a:t>
            </a:r>
            <a:endParaRPr lang="en-US" sz="1300" dirty="0"/>
          </a:p>
        </p:txBody>
      </p:sp>
      <p:sp>
        <p:nvSpPr>
          <p:cNvPr id="4" name="Text 2"/>
          <p:cNvSpPr/>
          <p:nvPr/>
        </p:nvSpPr>
        <p:spPr>
          <a:xfrm>
            <a:off x="685800" y="1371600"/>
            <a:ext cx="10058400" cy="822960"/>
          </a:xfrm>
          <a:prstGeom prst="rect">
            <a:avLst/>
          </a:prstGeom>
          <a:noFill/>
          <a:ln/>
        </p:spPr>
        <p:txBody>
          <a:bodyPr wrap="square" lIns="0" tIns="0" rIns="0" bIns="0" rtlCol="0" anchor="t"/>
          <a:lstStyle/>
          <a:p>
            <a:pPr indent="0" marL="0">
              <a:buNone/>
            </a:pPr>
            <a:r>
              <a:rPr lang="en-US" sz="4000" b="1" dirty="0">
                <a:solidFill>
                  <a:srgbClr val="FFFFFF"/>
                </a:solidFill>
                <a:latin typeface="Palatino Linotype" pitchFamily="34" charset="0"/>
                <a:ea typeface="Palatino Linotype" pitchFamily="34" charset="-122"/>
                <a:cs typeface="Palatino Linotype" pitchFamily="34" charset="-120"/>
              </a:rPr>
              <a:t>Trei întrebări pentru final</a:t>
            </a:r>
            <a:endParaRPr lang="en-US" sz="4000" dirty="0"/>
          </a:p>
        </p:txBody>
      </p:sp>
      <p:sp>
        <p:nvSpPr>
          <p:cNvPr id="5" name="Shape 3"/>
          <p:cNvSpPr/>
          <p:nvPr/>
        </p:nvSpPr>
        <p:spPr>
          <a:xfrm>
            <a:off x="914400" y="2670048"/>
            <a:ext cx="420624" cy="420624"/>
          </a:xfrm>
          <a:prstGeom prst="ellipse">
            <a:avLst/>
          </a:prstGeom>
          <a:solidFill>
            <a:srgbClr val="FFC24B"/>
          </a:solidFill>
          <a:ln/>
        </p:spPr>
        <p:txBody>
          <a:bodyPr/>
          <a:p/>
        </p:txBody>
      </p:sp>
      <p:sp>
        <p:nvSpPr>
          <p:cNvPr id="6" name="Text 4"/>
          <p:cNvSpPr/>
          <p:nvPr/>
        </p:nvSpPr>
        <p:spPr>
          <a:xfrm>
            <a:off x="914400" y="267004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1</a:t>
            </a:r>
            <a:endParaRPr lang="en-US" sz="1400" dirty="0"/>
          </a:p>
        </p:txBody>
      </p:sp>
      <p:sp>
        <p:nvSpPr>
          <p:cNvPr id="7" name="Text 5"/>
          <p:cNvSpPr/>
          <p:nvPr/>
        </p:nvSpPr>
        <p:spPr>
          <a:xfrm>
            <a:off x="1600200" y="251460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 fost util?</a:t>
            </a:r>
            <a:endParaRPr lang="en-US" sz="2200" dirty="0"/>
          </a:p>
        </p:txBody>
      </p:sp>
      <p:sp>
        <p:nvSpPr>
          <p:cNvPr id="8" name="Shape 6"/>
          <p:cNvSpPr/>
          <p:nvPr/>
        </p:nvSpPr>
        <p:spPr>
          <a:xfrm>
            <a:off x="914400" y="3538728"/>
            <a:ext cx="420624" cy="420624"/>
          </a:xfrm>
          <a:prstGeom prst="ellipse">
            <a:avLst/>
          </a:prstGeom>
          <a:solidFill>
            <a:srgbClr val="FFC24B"/>
          </a:solidFill>
          <a:ln/>
        </p:spPr>
        <p:txBody>
          <a:bodyPr/>
          <a:p/>
        </p:txBody>
      </p:sp>
      <p:sp>
        <p:nvSpPr>
          <p:cNvPr id="9" name="Text 7"/>
          <p:cNvSpPr/>
          <p:nvPr/>
        </p:nvSpPr>
        <p:spPr>
          <a:xfrm>
            <a:off x="914400" y="353872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2</a:t>
            </a:r>
            <a:endParaRPr lang="en-US" sz="1400" dirty="0"/>
          </a:p>
        </p:txBody>
      </p:sp>
      <p:sp>
        <p:nvSpPr>
          <p:cNvPr id="10" name="Text 8"/>
          <p:cNvSpPr/>
          <p:nvPr/>
        </p:nvSpPr>
        <p:spPr>
          <a:xfrm>
            <a:off x="1600200" y="338328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Unde te-am pierdut?</a:t>
            </a:r>
            <a:endParaRPr lang="en-US" sz="2200" dirty="0"/>
          </a:p>
        </p:txBody>
      </p:sp>
      <p:sp>
        <p:nvSpPr>
          <p:cNvPr id="11" name="Shape 9"/>
          <p:cNvSpPr/>
          <p:nvPr/>
        </p:nvSpPr>
        <p:spPr>
          <a:xfrm>
            <a:off x="914400" y="4407408"/>
            <a:ext cx="420624" cy="420624"/>
          </a:xfrm>
          <a:prstGeom prst="ellipse">
            <a:avLst/>
          </a:prstGeom>
          <a:solidFill>
            <a:srgbClr val="FFC24B"/>
          </a:solidFill>
          <a:ln/>
        </p:spPr>
        <p:txBody>
          <a:bodyPr/>
          <a:p/>
        </p:txBody>
      </p:sp>
      <p:sp>
        <p:nvSpPr>
          <p:cNvPr id="12" name="Text 10"/>
          <p:cNvSpPr/>
          <p:nvPr/>
        </p:nvSpPr>
        <p:spPr>
          <a:xfrm>
            <a:off x="914400" y="4407408"/>
            <a:ext cx="420624" cy="420624"/>
          </a:xfrm>
          <a:prstGeom prst="rect">
            <a:avLst/>
          </a:prstGeom>
          <a:noFill/>
          <a:ln/>
        </p:spPr>
        <p:txBody>
          <a:bodyPr wrap="square" lIns="0" tIns="0" rIns="0" bIns="0" rtlCol="0" anchor="ctr"/>
          <a:lstStyle/>
          <a:p>
            <a:pPr algn="ctr" indent="0" marL="0">
              <a:buNone/>
            </a:pPr>
            <a:r>
              <a:rPr lang="en-US" sz="1400" b="1" dirty="0">
                <a:solidFill>
                  <a:srgbClr val="11121A"/>
                </a:solidFill>
                <a:latin typeface="Palatino Linotype" pitchFamily="34" charset="0"/>
                <a:ea typeface="Palatino Linotype" pitchFamily="34" charset="-122"/>
                <a:cs typeface="Palatino Linotype" pitchFamily="34" charset="-120"/>
              </a:rPr>
              <a:t>3</a:t>
            </a:r>
            <a:endParaRPr lang="en-US" sz="1400" dirty="0"/>
          </a:p>
        </p:txBody>
      </p:sp>
      <p:sp>
        <p:nvSpPr>
          <p:cNvPr id="13" name="Text 11"/>
          <p:cNvSpPr/>
          <p:nvPr/>
        </p:nvSpPr>
        <p:spPr>
          <a:xfrm>
            <a:off x="1600200" y="4251960"/>
            <a:ext cx="6309360" cy="731520"/>
          </a:xfrm>
          <a:prstGeom prst="rect">
            <a:avLst/>
          </a:prstGeom>
          <a:noFill/>
          <a:ln/>
        </p:spPr>
        <p:txBody>
          <a:bodyPr wrap="square" lIns="0" tIns="0" rIns="0" bIns="0" rtlCol="0" anchor="ctr"/>
          <a:lstStyle/>
          <a:p>
            <a:pPr indent="0" marL="0">
              <a:buNone/>
            </a:pPr>
            <a:r>
              <a:rPr lang="en-US" sz="2200" dirty="0">
                <a:solidFill>
                  <a:srgbClr val="FFFFFF"/>
                </a:solidFill>
                <a:latin typeface="Palatino Linotype" pitchFamily="34" charset="0"/>
                <a:ea typeface="Palatino Linotype" pitchFamily="34" charset="-122"/>
                <a:cs typeface="Palatino Linotype" pitchFamily="34" charset="-120"/>
              </a:rPr>
              <a:t>Ce ai putea folosi mâine?</a:t>
            </a:r>
            <a:endParaRPr lang="en-US" sz="2200" dirty="0"/>
          </a:p>
        </p:txBody>
      </p:sp>
      <p:sp>
        <p:nvSpPr>
          <p:cNvPr id="14" name="Shape 12"/>
          <p:cNvSpPr/>
          <p:nvPr/>
        </p:nvSpPr>
        <p:spPr>
          <a:xfrm>
            <a:off x="8549640" y="2514600"/>
            <a:ext cx="3017520" cy="2468880"/>
          </a:xfrm>
          <a:prstGeom prst="roundRect">
            <a:avLst>
              <a:gd name="adj" fmla="val 3704"/>
            </a:avLst>
          </a:prstGeom>
          <a:solidFill>
            <a:srgbClr val="FFFFFF"/>
          </a:solidFill>
          <a:ln w="19050">
            <a:solidFill>
              <a:srgbClr val="8E94A8"/>
            </a:solidFill>
            <a:prstDash val="dash"/>
          </a:ln>
        </p:spPr>
        <p:txBody>
          <a:bodyPr/>
          <a:p/>
        </p:txBody>
      </p:sp>
      <p:sp>
        <p:nvSpPr>
          <p:cNvPr id="16" name="Text 14"/>
          <p:cNvSpPr/>
          <p:nvPr/>
        </p:nvSpPr>
        <p:spPr>
          <a:xfrm>
            <a:off x="594360" y="5349240"/>
            <a:ext cx="10972800" cy="822960"/>
          </a:xfrm>
          <a:prstGeom prst="rect">
            <a:avLst/>
          </a:prstGeom>
          <a:noFill/>
          <a:ln/>
        </p:spPr>
        <p:txBody>
          <a:bodyPr wrap="square" lIns="0" tIns="0" rIns="0" bIns="0" rtlCol="0" anchor="t"/>
          <a:lstStyle/>
          <a:p>
            <a:pPr indent="0" marL="0">
              <a:buNone/>
            </a:pPr>
            <a:r>
              <a:rPr lang="en-US" sz="1800" b="1" dirty="0">
                <a:solidFill>
                  <a:srgbClr val="27D3BE"/>
                </a:solidFill>
                <a:latin typeface="Palatino Linotype" pitchFamily="34" charset="0"/>
                <a:ea typeface="Palatino Linotype" pitchFamily="34" charset="-122"/>
                <a:cs typeface="Palatino Linotype" pitchFamily="34" charset="-120"/>
              </a:rPr>
              <a:t>Ce puteți face diferit de mâine: când auziți o cifră despre sănătate, puneți două întrebări înainte să o credeți. Prima: „din câți?”. A doua: „ce s-a numărat?”.</a:t>
            </a:r>
            <a:endParaRPr lang="en-US" sz="1800" dirty="0"/>
          </a:p>
        </p:txBody>
      </p:sp>
      <p:pic>
        <p:nvPicPr>
          <p:cNvPr id="17" name="Picture 16" descr="Mentimeter_UB_ISP_LP02.png"/>
          <p:cNvPicPr>
            <a:picLocks noChangeAspect="1"/>
          </p:cNvPicPr>
          <p:nvPr/>
        </p:nvPicPr>
        <p:blipFill>
          <a:blip r:embed="rId3"/>
          <a:stretch>
            <a:fillRect/>
          </a:stretch>
        </p:blipFill>
        <p:spPr>
          <a:xfrm>
            <a:off x="9137650" y="2514600"/>
            <a:ext cx="1841500" cy="1841500"/>
          </a:xfrm>
          <a:prstGeom prst="rect">
            <a:avLst/>
          </a:prstGeom>
        </p:spPr>
      </p:pic>
      <p:sp>
        <p:nvSpPr>
          <p:cNvPr id="18" name="TextBox 17"/>
          <p:cNvSpPr txBox="1"/>
          <p:nvPr/>
        </p:nvSpPr>
        <p:spPr>
          <a:xfrm>
            <a:off x="8732520" y="4394200"/>
            <a:ext cx="2651760" cy="627380"/>
          </a:xfrm>
          <a:prstGeom prst="rect">
            <a:avLst/>
          </a:prstGeom>
          <a:noFill/>
        </p:spPr>
        <p:txBody>
          <a:bodyPr wrap="square" lIns="0" rIns="0" tIns="0" bIns="0" anchor="t">
            <a:spAutoFit/>
          </a:bodyPr>
          <a:lstStyle/>
          <a:p>
            <a:pPr algn="ctr"/>
            <a:r>
              <a:rPr sz="1300" b="1">
                <a:solidFill>
                  <a:srgbClr val="B02532"/>
                </a:solidFill>
                <a:latin typeface="Palatino Linotype"/>
              </a:rPr>
              <a:t>menti.com</a:t>
            </a:r>
          </a:p>
          <a:p>
            <a:pPr algn="ctr"/>
            <a:r>
              <a:rPr sz="1300" b="1">
                <a:solidFill>
                  <a:srgbClr val="B02532"/>
                </a:solidFill>
                <a:latin typeface="Palatino Linotype"/>
              </a:rPr>
              <a:t>anonim, fără cont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27</Slides>
  <Notes>27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27</vt:i4>
      </vt:variant>
    </vt:vector>
  </HeadingPairs>
  <TitlesOfParts>
    <vt:vector size="3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UB ISP · Seminarul 2 · Surse de date și indicatori</dc:title>
  <dc:subject>PptxGenJS Presentation</dc:subject>
  <dc:creator>Conf. Univ. Dr. Adrian Pana</dc:creator>
  <cp:lastModifiedBy>Conf. Univ. Dr. Adrian Pana</cp:lastModifiedBy>
  <cp:revision>1</cp:revision>
  <dcterms:created xsi:type="dcterms:W3CDTF">2026-10-17T08:02:31Z</dcterms:created>
  <dcterms:modified xsi:type="dcterms:W3CDTF">2026-10-17T08:02:31Z</dcterms:modified>
  <cp:keywords>sursa_amprenta=0b3f35e8cb577b2b; proiectie</cp:keywords>
</cp:coreProperties>
</file>