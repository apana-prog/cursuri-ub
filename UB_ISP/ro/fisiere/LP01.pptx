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Bine ați venit la primul seminar. Azi faceți trei lucruri: formați o echipă, alegeți o temă și învățați o regulă pentru orice cifră pe care o veți scrie în proiect. Proiectul de echipă este 35% din nota finală. Începe azi și se termină în ultimul seminar.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Seminarul are două ore: o oră în sală, cu grupele 101 și 102 împreună, și o oră de lucru a echipei, pe care o puteți face acasă. Seminarul urmează imediat după curs și se ține o dată la două săptămâni. În sală lucrați mai mult voi decât eu: votați, discutați cu colegul de bancă, formați echipa și completați un test. La sfârșit predați două lucruri: înscrierea echipei și testul.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Imaginați-vă doi copii născuți în același an: unul crește în regiunea București-Ilfov, celălalt în regiunea Nord-Est, care cuprinde, între altele, județele Iași, Suceava și Botoșani. În 2024, speranța de viață la naștere era de 77,8 ani în regiunea București-Ilfov și de 75,5 ani în regiunea Nord-Est, prima și ultima regiune din țară. Diferența este de 2,3 ani.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Întrebarea de azi: este doar o diferență sau este o problemă de sănătate publică? Alegeți o singură variantă, prin codul QR de pe ecran. Apoi discutați două minute cu colegul de bancă: dacă ați ales „depinde”, de ce anume depinde?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Răspunsul cel mai exact este „depinde”. O diferență între două cifre, dintr-un singur an, poate fi o întâmplare. Ea devine o inechitate în sănătate, adică o diferență de care sănătatea publică trebuie să se ocupe, atunci când este sistematică, adică nu este repartizată la întâmplare, ci urmează un tipar constant între grupuri; vine din condițiile în care trăiesc oamenii, deci se poate schimba; și este nedreaptă. Inechitatea în sănătate este o diferență care nu ține de noroc sau de biologie și pe care societatea ar putea-o reduce; reducerea ei privește sănătatea publică.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indiciu pentru prima condiție se poate citi direct în date: tiparul dintre regiuni nu se schimbă de la un an la altul. În fiecare an din perioada 2014–2024, regiunea București-Ilfov a avut cea mai mare speranță de viață la naștere, iar regiunea Nord-Est s-a aflat printre ultimele două regiuni (date Eurostat, în cea mai mare parte valori estimate). Diferența nu este, așadar, accidentul unui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Celelalte două condiții nu se citesc dintr-un tabel; ele cer o întrebare despre cauze. Diferă venitul, locurile de muncă, drumul până la un spital, obiceiurile alimentare, fumatul? Dacă diferența vine din astfel de condiții, ea se poate reduce prin acțiune organizată. Asta spune definiția clasică a lui Winslow, din 1920: sănătatea publică previne boala și prelungește viața prin eforturile organizate ale comunității. La această întrebare veți răspunde, pentru tema voastră, în seminariile următoare.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Spusă singură, cifra 75,5 nu spune aproape nimic. Dacă o citiți într-un ziar, pe o rețea socială sau într-un document oficial, cine o poate verifica? Ce ați vrea să știți despre ea, înainte să o credeți?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 să poată fi verificată de oricine, o cifră are nevoie de patru etichete: sursa, indicatorul, anul de referință și nivelul teritorial. Scrisă complet, cifra arată așa: în 2024, speranța de viață la naștere în regiunea Nord-Est a fost de 75,5 ani (valoare estimată), potrivit Eurostat, setul demo_r_mlifexp. Anul de referință este anul la care se referă cifra, nu anul în care a fost publicată sau descărcată.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Doi termeni noi. Indicatorul este o cifră calculată după o regulă fixă, ca media de la facultate: toți o calculează la fel. Speranța de viață la naștere arată câți ani ar trăi în medie un nou-născut dacă riscurile de deces din acel an ar rămâne neschimbate. Nivelul teritorial este bucata de hartă pentru care este calculată cifra. Regiunea București-Ilfov cuprinde municipiul București și județul Ilfov, deci cifra ei nu este cifra orașului.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este un titlu construit pentru exercițiu: „Bucureștenii trăiesc cel mai mult din țară”. Ați crede acest titlu? În perechi, căutați care dintre cele patru etichete lipsesc. Apoi sala se împarte în două tabere: cei care l-ar crede și cei care nu l-ar crede, iar câte un voluntar din fiecare tabără își spune argumentul.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Titlul are un sâmbure de adevăr, pentru că regiunea București-Ilfov are cea mai mare speranță de viață la naștere din țară. Două etichete lipsesc: sursa și anul. A treia, nivelul teritorial, este greșită, fiindcă cifra este a regiunii, nu a orașului. Cea de-a patra, indicatorul, este deformată de verbul „trăiesc”, care sugerează o durată a vieții deja măsurată, iar indicatorul descrie un nou-născut ipotetic, expus riscurilor de deces din acel an. Un titlu căruia îi lipsesc etichetele nu este neapărat fals, dar nu poate fi verificat.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Proiectul se face în echipe stabile, formate azi. Fiecare echipă alege o singură problemă de sănătate publică din România, din această listă, și o urmărește tot semestrul. O temă poate fi aleasă de cel mult două echipe, deci este bine să aveți o a doua variantă.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Formați o echipă cu vecinii de bancă, o echipă de patru până la șase studenți, inclusiv coordonatorul. Alegeți un coordonator, care deschide pe telefon formularul „Fișa echipei”, prin codul QR de pe ecran, alege varianta „Înscrierea echipei, în sală” și trece numele echipei, numele membrilor și tema. Pe ecran apare, în timp real, câte echipe au ales fiecare temă. Când o temă are deja două echipe, următoarea echipă alege a doua variantă. Colegii rămași fără echipă îi repartizează titularul.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Testul de pornire vă arată ce ați prins de la curs, despre istoricul sănătății publice, și din regula cifrei. Se completează individual, pe telefon, cu contul instituțional, în aproximativ șapte minute. Testul nu se notează. După trimitere, formularul vă arată răspunsurile corecte și explicațiile, iar la final discutăm întrebarea la care au greșit cei mai mulți.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Seminariile se țin marți, de la 17 la 19, în sala 1.1 FSI, cu grupele 101 și 102 împreună, imediat după curs, o dată la două săptămâni. Fiecare seminar adaugă o piesă a proiectului. Data de 1 decembrie este zi liberă legală și trebuie mutată; seminarul 7 se confirmă după calendarul Universității. Produsele seminariilor de la al doilea la al șaselea se notează; produsul primului seminar nu se notează. Produsele 2–6 se predau până duminica de după seminar, la ora 22:00, prin formularul echipei.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Nota finală are trei componente: examenul scris, 50%; proiectul de echipă, 35%; produsele seminariilor de la al doilea la al șaselea, 15%. Proiectul înseamnă o prezentare de 10–12 minute, cu 12–15 diapozitive și cel puțin trei vorbitori, în seminarul 7. Examenul are 36 de întrebări-grilă, 24 cu o singură variantă corectă și 12 cu mai multe. Pentru fiecare dintre cele cinci produse primiți 0, 1 sau 2 puncte, după predarea până duminica de după seminar, la ora 22:00, și corectitudine; nota la produse este suma punctelor, cel mult 10. Nota proiectului este aceeași pentru toți membrii echipei; titularul poate scădea nota unui membru care, după câmpul „Ce a făcut fiecare membru al echipei” și după prezentare, nu a contribuit la proiect. Promovarea cere cel puțin nota 5 atât la examenul scris, cât și la proiect, adică la nota proiectului de echipă, iar nota finală nu include punct din oficiu. Intrarea în prima examinare cere prezența la cel puțin 30% din cursuri și 30% din seminarii, adică la cel puțin 3 din cele 7 seminarii. La restanță, reexaminare sau mărire se reface numai examenul scris; notele de cel puțin 5 de la proiect și de la produsele intermediare se păstrează.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Grila de evaluare a proiectului are cinci criterii: structura și claritatea prezentării, 20%; corectitudinea și relevanța conținutului, 30%; aplicarea conceptelor din curs, 25%; propunerile de intervenții și de politici, 15%; prezentarea orală, 10%. Aceeași grilă se folosește pentru evaluarea colegială din ultimul seminar, care este informativă și nu intră în notă. Instrumentele de inteligență artificială sunt permise numai pentru redactare, adică pentru formularea și corectura textului scris de voi, iar folosirea lor se declară. Nu sunt permise pentru găsirea surselor sau a cifrelor: datele și sursele se iau de la sursa primară și se verifică acolo. Un instrument de inteligență artificială nu este o sursă. Un produs în care folosirea acestor instrumente nu este declarată primește 0 puncte până când echipa îl reface și declară folosirea lor, în termen de o săptămână. La proiectul final, folosirea nedeclarată poate duce la scăderea notei.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ora echipei se redactează prima pagină a proiectului: fișa echipei și definirea problemei. Lucrați împreună, în aceeași cameră sau într-o întâlnire pe Teams, și trimiteți un singur formular pe echipă, prin coordonator. Alegeți problema, căutați o primă cifră într-una dintre sursele seminarului și scrieți-o cu cele patru etichete. Răspundeți la patru întrebări despre problema voastră și scrieți definirea ei într-un paragraf. Câmpul „Ce a făcut fiecare membru al echipei” este obligatoriu. Termenul este duminică, 11.10.2026, ora 22:00. Fișa nu se notează, dar pe ea se construiește tot proiectul.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Ultimele cinci minute sunt ale voastre: trei întrebări, anonim, pe Mentimeter. Ce a fost util azi? Unde v-am pierdut? Ce ați putea folosi mâine? La începutul seminarului următor veți vedea două lucruri schimbate după răspunsurile voastre, iar schimbările apar și pe pagina disciplinei, lunea viitoare. Ce puteți face diferit de mâine: când citiți o cifră despre sănătate, într-un ziar, pe o rețea socială sau într-un document oficial, căutați cele patru etichete înainte să o credeți sau să o dați mai departe.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01752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0175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SEMINARUL 1 · ORA DIN SALĂ</a:t>
            </a:r>
            <a:endParaRPr lang="en-US" sz="1300" dirty="0"/>
          </a:p>
        </p:txBody>
      </p:sp>
      <p:sp>
        <p:nvSpPr>
          <p:cNvPr id="4" name="Text 2"/>
          <p:cNvSpPr/>
          <p:nvPr/>
        </p:nvSpPr>
        <p:spPr>
          <a:xfrm>
            <a:off x="685800" y="1463040"/>
            <a:ext cx="6766560" cy="219456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Lansarea proiectului de echipă</a:t>
            </a:r>
            <a:endParaRPr lang="en-US" sz="4400" dirty="0"/>
          </a:p>
        </p:txBody>
      </p:sp>
      <p:sp>
        <p:nvSpPr>
          <p:cNvPr id="5" name="Text 3"/>
          <p:cNvSpPr/>
          <p:nvPr/>
        </p:nvSpPr>
        <p:spPr>
          <a:xfrm>
            <a:off x="685800" y="3703320"/>
            <a:ext cx="6583680" cy="100584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Diferență sau problemă de sănătate publică?</a:t>
            </a:r>
            <a:endParaRPr lang="en-US" sz="2600" dirty="0"/>
          </a:p>
        </p:txBody>
      </p:sp>
      <p:sp>
        <p:nvSpPr>
          <p:cNvPr id="6" name="Shape 4"/>
          <p:cNvSpPr/>
          <p:nvPr/>
        </p:nvSpPr>
        <p:spPr>
          <a:xfrm>
            <a:off x="713232" y="4892040"/>
            <a:ext cx="1280160" cy="27432"/>
          </a:xfrm>
          <a:prstGeom prst="rect">
            <a:avLst/>
          </a:prstGeom>
          <a:solidFill>
            <a:srgbClr val="FF4757"/>
          </a:solidFill>
          <a:ln/>
        </p:spPr>
        <p:txBody>
          <a:bodyPr/>
          <a:p/>
        </p:txBody>
      </p:sp>
      <p:sp>
        <p:nvSpPr>
          <p:cNvPr id="7" name="Text 5"/>
          <p:cNvSpPr/>
          <p:nvPr/>
        </p:nvSpPr>
        <p:spPr>
          <a:xfrm>
            <a:off x="685800" y="5074920"/>
            <a:ext cx="67665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Introducere în sănătate publică · UB, FSI, anul I</a:t>
            </a:r>
            <a:endParaRPr lang="en-US" sz="1500" dirty="0"/>
          </a:p>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Conf. univ. dr. Adrian Pană · marți, 6.10.2026</a:t>
            </a:r>
            <a:endParaRPr lang="en-US" sz="1500" dirty="0"/>
          </a:p>
        </p:txBody>
      </p:sp>
      <p:sp>
        <p:nvSpPr>
          <p:cNvPr id="8" name="Shape 6"/>
          <p:cNvSpPr/>
          <p:nvPr/>
        </p:nvSpPr>
        <p:spPr>
          <a:xfrm>
            <a:off x="7955280" y="2011680"/>
            <a:ext cx="3657600" cy="566928"/>
          </a:xfrm>
          <a:prstGeom prst="roundRect">
            <a:avLst>
              <a:gd name="adj" fmla="val 9677"/>
            </a:avLst>
          </a:prstGeom>
          <a:solidFill>
            <a:srgbClr val="27D3BE"/>
          </a:solidFill>
          <a:ln w="12700">
            <a:solidFill>
              <a:srgbClr val="27D3BE"/>
            </a:solidFill>
            <a:prstDash val="solid"/>
          </a:ln>
        </p:spPr>
        <p:txBody>
          <a:bodyPr/>
          <a:p/>
        </p:txBody>
      </p:sp>
      <p:sp>
        <p:nvSpPr>
          <p:cNvPr id="9" name="Shape 7"/>
          <p:cNvSpPr/>
          <p:nvPr/>
        </p:nvSpPr>
        <p:spPr>
          <a:xfrm>
            <a:off x="10972800" y="2011680"/>
            <a:ext cx="640080" cy="566928"/>
          </a:xfrm>
          <a:prstGeom prst="roundRect">
            <a:avLst>
              <a:gd name="adj" fmla="val 9677"/>
            </a:avLst>
          </a:prstGeom>
          <a:solidFill>
            <a:srgbClr val="FFC24B"/>
          </a:solidFill>
          <a:ln w="12700">
            <a:solidFill>
              <a:srgbClr val="FFC24B"/>
            </a:solidFill>
            <a:prstDash val="solid"/>
          </a:ln>
        </p:spPr>
        <p:txBody>
          <a:bodyPr/>
          <a:p/>
        </p:txBody>
      </p:sp>
      <p:sp>
        <p:nvSpPr>
          <p:cNvPr id="10" name="Shape 8"/>
          <p:cNvSpPr/>
          <p:nvPr/>
        </p:nvSpPr>
        <p:spPr>
          <a:xfrm>
            <a:off x="7955280" y="2880360"/>
            <a:ext cx="3547872" cy="566928"/>
          </a:xfrm>
          <a:prstGeom prst="roundRect">
            <a:avLst>
              <a:gd name="adj" fmla="val 9677"/>
            </a:avLst>
          </a:prstGeom>
          <a:solidFill>
            <a:srgbClr val="FF4757"/>
          </a:solidFill>
          <a:ln w="12700">
            <a:solidFill>
              <a:srgbClr val="FF4757"/>
            </a:solidFill>
            <a:prstDash val="solid"/>
          </a:ln>
        </p:spPr>
        <p:txBody>
          <a:bodyPr/>
          <a:p/>
        </p:txBody>
      </p:sp>
      <p:sp>
        <p:nvSpPr>
          <p:cNvPr id="11" name="Text 9"/>
          <p:cNvSpPr/>
          <p:nvPr/>
        </p:nvSpPr>
        <p:spPr>
          <a:xfrm>
            <a:off x="7955280" y="3794760"/>
            <a:ext cx="3657600" cy="91440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o echipă · o temă · o regulă pentru orice cifră</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ORA DIN SALĂ ȘI ORA ECHIPEI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azi și ce predați la sfârșit</a:t>
            </a:r>
            <a:endParaRPr lang="en-US" sz="3000" dirty="0"/>
          </a:p>
        </p:txBody>
      </p:sp>
      <p:sp>
        <p:nvSpPr>
          <p:cNvPr id="4" name="Shape 2"/>
          <p:cNvSpPr/>
          <p:nvPr/>
        </p:nvSpPr>
        <p:spPr>
          <a:xfrm>
            <a:off x="59436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5" name="Shape 3"/>
          <p:cNvSpPr/>
          <p:nvPr/>
        </p:nvSpPr>
        <p:spPr>
          <a:xfrm>
            <a:off x="594360" y="1783080"/>
            <a:ext cx="3474720"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011680"/>
            <a:ext cx="2926080" cy="457200"/>
          </a:xfrm>
          <a:prstGeom prst="rect">
            <a:avLst/>
          </a:prstGeom>
          <a:noFill/>
          <a:ln/>
        </p:spPr>
        <p:txBody>
          <a:bodyPr wrap="square" lIns="0" tIns="0" rIns="0" bIns="0" rtlCol="0" anchor="t"/>
          <a:lstStyle/>
          <a:p>
            <a:pPr indent="0" marL="0">
              <a:buNone/>
            </a:pPr>
            <a:r>
              <a:rPr lang="en-US" sz="2400" b="1" dirty="0">
                <a:solidFill>
                  <a:srgbClr val="B02532"/>
                </a:solidFill>
                <a:latin typeface="Palatino Linotype" pitchFamily="34" charset="0"/>
                <a:ea typeface="Palatino Linotype" pitchFamily="34" charset="-122"/>
                <a:cs typeface="Palatino Linotype" pitchFamily="34" charset="-120"/>
              </a:rPr>
              <a:t>O echipă</a:t>
            </a:r>
            <a:endParaRPr lang="en-US" sz="2400" dirty="0"/>
          </a:p>
        </p:txBody>
      </p:sp>
      <p:sp>
        <p:nvSpPr>
          <p:cNvPr id="7" name="Text 5"/>
          <p:cNvSpPr/>
          <p:nvPr/>
        </p:nvSpPr>
        <p:spPr>
          <a:xfrm>
            <a:off x="86868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Patru până la șase studenți, stabili tot semestrul.</a:t>
            </a:r>
            <a:endParaRPr lang="en-US" sz="1600" dirty="0"/>
          </a:p>
        </p:txBody>
      </p:sp>
      <p:sp>
        <p:nvSpPr>
          <p:cNvPr id="8" name="Shape 6"/>
          <p:cNvSpPr/>
          <p:nvPr/>
        </p:nvSpPr>
        <p:spPr>
          <a:xfrm>
            <a:off x="434340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9" name="Shape 7"/>
          <p:cNvSpPr/>
          <p:nvPr/>
        </p:nvSpPr>
        <p:spPr>
          <a:xfrm>
            <a:off x="4343400" y="1783080"/>
            <a:ext cx="3474720" cy="82296"/>
          </a:xfrm>
          <a:prstGeom prst="rect">
            <a:avLst/>
          </a:prstGeom>
          <a:solidFill>
            <a:srgbClr val="0E7C6B"/>
          </a:solidFill>
          <a:ln w="12700">
            <a:solidFill>
              <a:srgbClr val="0E7C6B"/>
            </a:solidFill>
            <a:prstDash val="solid"/>
          </a:ln>
        </p:spPr>
        <p:txBody>
          <a:bodyPr/>
          <a:p/>
        </p:txBody>
      </p:sp>
      <p:sp>
        <p:nvSpPr>
          <p:cNvPr id="10" name="Text 8"/>
          <p:cNvSpPr/>
          <p:nvPr/>
        </p:nvSpPr>
        <p:spPr>
          <a:xfrm>
            <a:off x="4617720" y="2011680"/>
            <a:ext cx="2926080" cy="457200"/>
          </a:xfrm>
          <a:prstGeom prst="rect">
            <a:avLst/>
          </a:prstGeom>
          <a:noFill/>
          <a:ln/>
        </p:spPr>
        <p:txBody>
          <a:bodyPr wrap="square" lIns="0" tIns="0" rIns="0" bIns="0" rtlCol="0" anchor="t"/>
          <a:lstStyle/>
          <a:p>
            <a:pPr indent="0" marL="0">
              <a:buNone/>
            </a:pPr>
            <a:r>
              <a:rPr lang="en-US" sz="2400" b="1" dirty="0">
                <a:solidFill>
                  <a:srgbClr val="0E7C6B"/>
                </a:solidFill>
                <a:latin typeface="Palatino Linotype" pitchFamily="34" charset="0"/>
                <a:ea typeface="Palatino Linotype" pitchFamily="34" charset="-122"/>
                <a:cs typeface="Palatino Linotype" pitchFamily="34" charset="-120"/>
              </a:rPr>
              <a:t>O temă</a:t>
            </a:r>
            <a:endParaRPr lang="en-US" sz="2400" dirty="0"/>
          </a:p>
        </p:txBody>
      </p:sp>
      <p:sp>
        <p:nvSpPr>
          <p:cNvPr id="11" name="Text 9"/>
          <p:cNvSpPr/>
          <p:nvPr/>
        </p:nvSpPr>
        <p:spPr>
          <a:xfrm>
            <a:off x="461772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Una din lista seminarului, urmărită până la ultimul seminar.</a:t>
            </a:r>
            <a:endParaRPr lang="en-US" sz="1600" dirty="0"/>
          </a:p>
        </p:txBody>
      </p:sp>
      <p:sp>
        <p:nvSpPr>
          <p:cNvPr id="12" name="Shape 10"/>
          <p:cNvSpPr/>
          <p:nvPr/>
        </p:nvSpPr>
        <p:spPr>
          <a:xfrm>
            <a:off x="8092440" y="1783080"/>
            <a:ext cx="3474720" cy="1691640"/>
          </a:xfrm>
          <a:prstGeom prst="roundRect">
            <a:avLst>
              <a:gd name="adj" fmla="val 4865"/>
            </a:avLst>
          </a:prstGeom>
          <a:solidFill>
            <a:srgbClr val="ECEAE4"/>
          </a:solidFill>
          <a:ln w="12700">
            <a:solidFill>
              <a:srgbClr val="ECEAE4"/>
            </a:solidFill>
            <a:prstDash val="solid"/>
          </a:ln>
        </p:spPr>
        <p:txBody>
          <a:bodyPr/>
          <a:p/>
        </p:txBody>
      </p:sp>
      <p:sp>
        <p:nvSpPr>
          <p:cNvPr id="13" name="Shape 11"/>
          <p:cNvSpPr/>
          <p:nvPr/>
        </p:nvSpPr>
        <p:spPr>
          <a:xfrm>
            <a:off x="8092440" y="1783080"/>
            <a:ext cx="3474720" cy="82296"/>
          </a:xfrm>
          <a:prstGeom prst="rect">
            <a:avLst/>
          </a:prstGeom>
          <a:solidFill>
            <a:srgbClr val="4A2D8C"/>
          </a:solidFill>
          <a:ln w="12700">
            <a:solidFill>
              <a:srgbClr val="4A2D8C"/>
            </a:solidFill>
            <a:prstDash val="solid"/>
          </a:ln>
        </p:spPr>
        <p:txBody>
          <a:bodyPr/>
          <a:p/>
        </p:txBody>
      </p:sp>
      <p:sp>
        <p:nvSpPr>
          <p:cNvPr id="14" name="Text 12"/>
          <p:cNvSpPr/>
          <p:nvPr/>
        </p:nvSpPr>
        <p:spPr>
          <a:xfrm>
            <a:off x="8366760" y="2011680"/>
            <a:ext cx="2926080" cy="457200"/>
          </a:xfrm>
          <a:prstGeom prst="rect">
            <a:avLst/>
          </a:prstGeom>
          <a:noFill/>
          <a:ln/>
        </p:spPr>
        <p:txBody>
          <a:bodyPr wrap="square" lIns="0" tIns="0" rIns="0" bIns="0" rtlCol="0" anchor="t"/>
          <a:lstStyle/>
          <a:p>
            <a:pPr indent="0" marL="0">
              <a:buNone/>
            </a:pPr>
            <a:r>
              <a:rPr lang="en-US" sz="2400" b="1" dirty="0">
                <a:solidFill>
                  <a:srgbClr val="4A2D8C"/>
                </a:solidFill>
                <a:latin typeface="Palatino Linotype" pitchFamily="34" charset="0"/>
                <a:ea typeface="Palatino Linotype" pitchFamily="34" charset="-122"/>
                <a:cs typeface="Palatino Linotype" pitchFamily="34" charset="-120"/>
              </a:rPr>
              <a:t>O regulă</a:t>
            </a:r>
            <a:endParaRPr lang="en-US" sz="2400" dirty="0"/>
          </a:p>
        </p:txBody>
      </p:sp>
      <p:sp>
        <p:nvSpPr>
          <p:cNvPr id="15" name="Text 13"/>
          <p:cNvSpPr/>
          <p:nvPr/>
        </p:nvSpPr>
        <p:spPr>
          <a:xfrm>
            <a:off x="8366760" y="2560320"/>
            <a:ext cx="2971800" cy="82296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Orice cifră din proiect poartă patru etichete.</a:t>
            </a:r>
            <a:endParaRPr lang="en-US" sz="1600" dirty="0"/>
          </a:p>
        </p:txBody>
      </p:sp>
      <p:sp>
        <p:nvSpPr>
          <p:cNvPr id="16" name="Shape 14"/>
          <p:cNvSpPr/>
          <p:nvPr/>
        </p:nvSpPr>
        <p:spPr>
          <a:xfrm>
            <a:off x="594360" y="4069080"/>
            <a:ext cx="548640" cy="731520"/>
          </a:xfrm>
          <a:prstGeom prst="rect">
            <a:avLst/>
          </a:prstGeom>
          <a:solidFill>
            <a:srgbClr val="585A64"/>
          </a:solidFill>
          <a:ln w="19050">
            <a:solidFill>
              <a:srgbClr val="F6F5F2"/>
            </a:solidFill>
            <a:prstDash val="solid"/>
          </a:ln>
        </p:spPr>
        <p:txBody>
          <a:bodyPr/>
          <a:p/>
        </p:txBody>
      </p:sp>
      <p:sp>
        <p:nvSpPr>
          <p:cNvPr id="17" name="Shape 15"/>
          <p:cNvSpPr/>
          <p:nvPr/>
        </p:nvSpPr>
        <p:spPr>
          <a:xfrm>
            <a:off x="1143000" y="4069080"/>
            <a:ext cx="2194560" cy="731520"/>
          </a:xfrm>
          <a:prstGeom prst="rect">
            <a:avLst/>
          </a:prstGeom>
          <a:solidFill>
            <a:srgbClr val="FF4757"/>
          </a:solidFill>
          <a:ln w="19050">
            <a:solidFill>
              <a:srgbClr val="F6F5F2"/>
            </a:solidFill>
            <a:prstDash val="solid"/>
          </a:ln>
        </p:spPr>
        <p:txBody>
          <a:bodyPr/>
          <a:p/>
        </p:txBody>
      </p:sp>
      <p:sp>
        <p:nvSpPr>
          <p:cNvPr id="18" name="Text 16"/>
          <p:cNvSpPr/>
          <p:nvPr/>
        </p:nvSpPr>
        <p:spPr>
          <a:xfrm>
            <a:off x="1143000" y="4069080"/>
            <a:ext cx="2194560" cy="731520"/>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Vot și perechi</a:t>
            </a:r>
            <a:endParaRPr lang="en-US" sz="1300" dirty="0"/>
          </a:p>
        </p:txBody>
      </p:sp>
      <p:sp>
        <p:nvSpPr>
          <p:cNvPr id="19" name="Shape 17"/>
          <p:cNvSpPr/>
          <p:nvPr/>
        </p:nvSpPr>
        <p:spPr>
          <a:xfrm>
            <a:off x="3337560" y="4069080"/>
            <a:ext cx="2194560" cy="731520"/>
          </a:xfrm>
          <a:prstGeom prst="rect">
            <a:avLst/>
          </a:prstGeom>
          <a:solidFill>
            <a:srgbClr val="FFC24B"/>
          </a:solidFill>
          <a:ln w="19050">
            <a:solidFill>
              <a:srgbClr val="F6F5F2"/>
            </a:solidFill>
            <a:prstDash val="solid"/>
          </a:ln>
        </p:spPr>
        <p:txBody>
          <a:bodyPr/>
          <a:p/>
        </p:txBody>
      </p:sp>
      <p:sp>
        <p:nvSpPr>
          <p:cNvPr id="20" name="Text 18"/>
          <p:cNvSpPr/>
          <p:nvPr/>
        </p:nvSpPr>
        <p:spPr>
          <a:xfrm>
            <a:off x="3337560" y="4069080"/>
            <a:ext cx="2194560" cy="731520"/>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Cifra și titlul</a:t>
            </a:r>
            <a:endParaRPr lang="en-US" sz="1300" dirty="0"/>
          </a:p>
        </p:txBody>
      </p:sp>
      <p:sp>
        <p:nvSpPr>
          <p:cNvPr id="21" name="Shape 19"/>
          <p:cNvSpPr/>
          <p:nvPr/>
        </p:nvSpPr>
        <p:spPr>
          <a:xfrm>
            <a:off x="5532120" y="4069080"/>
            <a:ext cx="2743200" cy="731520"/>
          </a:xfrm>
          <a:prstGeom prst="rect">
            <a:avLst/>
          </a:prstGeom>
          <a:solidFill>
            <a:srgbClr val="27D3BE"/>
          </a:solidFill>
          <a:ln w="19050">
            <a:solidFill>
              <a:srgbClr val="F6F5F2"/>
            </a:solidFill>
            <a:prstDash val="solid"/>
          </a:ln>
        </p:spPr>
        <p:txBody>
          <a:bodyPr/>
          <a:p/>
        </p:txBody>
      </p:sp>
      <p:sp>
        <p:nvSpPr>
          <p:cNvPr id="22" name="Text 20"/>
          <p:cNvSpPr/>
          <p:nvPr/>
        </p:nvSpPr>
        <p:spPr>
          <a:xfrm>
            <a:off x="5532120" y="4069080"/>
            <a:ext cx="2743200" cy="731520"/>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Echipa și tema</a:t>
            </a:r>
            <a:endParaRPr lang="en-US" sz="1300" dirty="0"/>
          </a:p>
        </p:txBody>
      </p:sp>
      <p:sp>
        <p:nvSpPr>
          <p:cNvPr id="23" name="Shape 21"/>
          <p:cNvSpPr/>
          <p:nvPr/>
        </p:nvSpPr>
        <p:spPr>
          <a:xfrm>
            <a:off x="8275320" y="4069080"/>
            <a:ext cx="1463040" cy="731520"/>
          </a:xfrm>
          <a:prstGeom prst="rect">
            <a:avLst/>
          </a:prstGeom>
          <a:solidFill>
            <a:srgbClr val="9B7EF7"/>
          </a:solidFill>
          <a:ln w="19050">
            <a:solidFill>
              <a:srgbClr val="F6F5F2"/>
            </a:solidFill>
            <a:prstDash val="solid"/>
          </a:ln>
        </p:spPr>
        <p:txBody>
          <a:bodyPr/>
          <a:p/>
        </p:txBody>
      </p:sp>
      <p:sp>
        <p:nvSpPr>
          <p:cNvPr id="24" name="Text 22"/>
          <p:cNvSpPr/>
          <p:nvPr/>
        </p:nvSpPr>
        <p:spPr>
          <a:xfrm>
            <a:off x="8275320" y="4069080"/>
            <a:ext cx="1463040" cy="731520"/>
          </a:xfrm>
          <a:prstGeom prst="rect">
            <a:avLst/>
          </a:prstGeom>
          <a:noFill/>
          <a:ln/>
        </p:spPr>
        <p:txBody>
          <a:bodyPr wrap="square" lIns="0" tIns="0" rIns="0" bIns="0" rtlCol="0" anchor="ctr"/>
          <a:lstStyle/>
          <a:p>
            <a:pPr algn="ctr" indent="0" marL="0">
              <a:buNone/>
            </a:pPr>
            <a:r>
              <a:rPr lang="en-US" sz="1300" b="1" dirty="0">
                <a:solidFill>
                  <a:srgbClr val="1F1040"/>
                </a:solidFill>
                <a:latin typeface="Palatino Linotype" pitchFamily="34" charset="0"/>
                <a:ea typeface="Palatino Linotype" pitchFamily="34" charset="-122"/>
                <a:cs typeface="Palatino Linotype" pitchFamily="34" charset="-120"/>
              </a:rPr>
              <a:t>Test</a:t>
            </a:r>
            <a:endParaRPr lang="en-US" sz="1300" dirty="0"/>
          </a:p>
        </p:txBody>
      </p:sp>
      <p:sp>
        <p:nvSpPr>
          <p:cNvPr id="25" name="Shape 23"/>
          <p:cNvSpPr/>
          <p:nvPr/>
        </p:nvSpPr>
        <p:spPr>
          <a:xfrm>
            <a:off x="9738360" y="4069080"/>
            <a:ext cx="1828800" cy="731520"/>
          </a:xfrm>
          <a:prstGeom prst="rect">
            <a:avLst/>
          </a:prstGeom>
          <a:solidFill>
            <a:srgbClr val="ECEAE4"/>
          </a:solidFill>
          <a:ln w="19050">
            <a:solidFill>
              <a:srgbClr val="F6F5F2"/>
            </a:solidFill>
            <a:prstDash val="solid"/>
          </a:ln>
        </p:spPr>
        <p:txBody>
          <a:bodyPr/>
          <a:p/>
        </p:txBody>
      </p:sp>
      <p:sp>
        <p:nvSpPr>
          <p:cNvPr id="26" name="Text 24"/>
          <p:cNvSpPr/>
          <p:nvPr/>
        </p:nvSpPr>
        <p:spPr>
          <a:xfrm>
            <a:off x="9738360" y="4069080"/>
            <a:ext cx="1828800" cy="731520"/>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Ghid și bilet</a:t>
            </a:r>
            <a:endParaRPr lang="en-US" sz="1300" dirty="0"/>
          </a:p>
        </p:txBody>
      </p:sp>
      <p:sp>
        <p:nvSpPr>
          <p:cNvPr id="27" name="Text 25"/>
          <p:cNvSpPr/>
          <p:nvPr/>
        </p:nvSpPr>
        <p:spPr>
          <a:xfrm>
            <a:off x="594360" y="4983480"/>
            <a:ext cx="10972800" cy="4114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Mai mult de jumătate din timp lucrați voi.</a:t>
            </a:r>
            <a:endParaRPr lang="en-US" sz="1800" dirty="0"/>
          </a:p>
        </p:txBody>
      </p:sp>
      <p:sp>
        <p:nvSpPr>
          <p:cNvPr id="28" name="Text 26"/>
          <p:cNvSpPr/>
          <p:nvPr/>
        </p:nvSpPr>
        <p:spPr>
          <a:xfrm>
            <a:off x="594360" y="5440680"/>
            <a:ext cx="10972800" cy="411480"/>
          </a:xfrm>
          <a:prstGeom prst="rect">
            <a:avLst/>
          </a:prstGeom>
          <a:noFill/>
          <a:ln/>
        </p:spPr>
        <p:txBody>
          <a:bodyPr wrap="square" lIns="0" tIns="0" rIns="0" bIns="0" rtlCol="0" anchor="t"/>
          <a:lstStyle/>
          <a:p>
            <a:pPr indent="0" marL="0">
              <a:buNone/>
            </a:pPr>
            <a:r>
              <a:rPr lang="en-US" sz="1700" dirty="0">
                <a:solidFill>
                  <a:srgbClr val="585A64"/>
                </a:solidFill>
                <a:latin typeface="Palatino Linotype" pitchFamily="34" charset="0"/>
                <a:ea typeface="Palatino Linotype" pitchFamily="34" charset="-122"/>
                <a:cs typeface="Palatino Linotype" pitchFamily="34" charset="-120"/>
              </a:rPr>
              <a:t>La sfârșit predați înscrierea echipei și testul. Ora a doua este a echipei.</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CAZUL DE PORNIRE · 2024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Doi copii născuți în același an</a:t>
            </a:r>
            <a:endParaRPr lang="en-US" sz="3200" dirty="0"/>
          </a:p>
        </p:txBody>
      </p:sp>
      <p:sp>
        <p:nvSpPr>
          <p:cNvPr id="4" name="Text 2"/>
          <p:cNvSpPr/>
          <p:nvPr/>
        </p:nvSpPr>
        <p:spPr>
          <a:xfrm>
            <a:off x="594360" y="1417320"/>
            <a:ext cx="10972800" cy="3657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Speranța de viață la naștere, în ani. Scara pornește de la zero.</a:t>
            </a:r>
            <a:endParaRPr lang="en-US" sz="1600" dirty="0"/>
          </a:p>
        </p:txBody>
      </p:sp>
      <p:sp>
        <p:nvSpPr>
          <p:cNvPr id="5" name="Text 3"/>
          <p:cNvSpPr/>
          <p:nvPr/>
        </p:nvSpPr>
        <p:spPr>
          <a:xfrm>
            <a:off x="594360" y="2514600"/>
            <a:ext cx="2377440" cy="4572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București-Ilfov</a:t>
            </a:r>
            <a:endParaRPr lang="en-US" sz="2100" dirty="0"/>
          </a:p>
        </p:txBody>
      </p:sp>
      <p:sp>
        <p:nvSpPr>
          <p:cNvPr id="6" name="Text 4"/>
          <p:cNvSpPr/>
          <p:nvPr/>
        </p:nvSpPr>
        <p:spPr>
          <a:xfrm>
            <a:off x="594360" y="2971800"/>
            <a:ext cx="237744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prima regiune din țară</a:t>
            </a:r>
            <a:endParaRPr lang="en-US" sz="1300" dirty="0"/>
          </a:p>
        </p:txBody>
      </p:sp>
      <p:sp>
        <p:nvSpPr>
          <p:cNvPr id="7" name="Shape 5"/>
          <p:cNvSpPr/>
          <p:nvPr/>
        </p:nvSpPr>
        <p:spPr>
          <a:xfrm>
            <a:off x="3063240" y="2514600"/>
            <a:ext cx="6903720" cy="868680"/>
          </a:xfrm>
          <a:prstGeom prst="rect">
            <a:avLst/>
          </a:prstGeom>
          <a:solidFill>
            <a:srgbClr val="27D3BE"/>
          </a:solidFill>
          <a:ln w="12700">
            <a:solidFill>
              <a:srgbClr val="27D3BE"/>
            </a:solidFill>
            <a:prstDash val="solid"/>
          </a:ln>
        </p:spPr>
        <p:txBody>
          <a:bodyPr/>
          <a:p/>
        </p:txBody>
      </p:sp>
      <p:sp>
        <p:nvSpPr>
          <p:cNvPr id="8" name="Shape 6"/>
          <p:cNvSpPr/>
          <p:nvPr/>
        </p:nvSpPr>
        <p:spPr>
          <a:xfrm>
            <a:off x="9966960" y="2514600"/>
            <a:ext cx="210312" cy="868680"/>
          </a:xfrm>
          <a:prstGeom prst="rect">
            <a:avLst/>
          </a:prstGeom>
          <a:solidFill>
            <a:srgbClr val="FFC24B"/>
          </a:solidFill>
          <a:ln w="12700">
            <a:solidFill>
              <a:srgbClr val="FFC24B"/>
            </a:solidFill>
            <a:prstDash val="solid"/>
          </a:ln>
        </p:spPr>
        <p:txBody>
          <a:bodyPr/>
          <a:p/>
        </p:txBody>
      </p:sp>
      <p:sp>
        <p:nvSpPr>
          <p:cNvPr id="9" name="Text 7"/>
          <p:cNvSpPr/>
          <p:nvPr/>
        </p:nvSpPr>
        <p:spPr>
          <a:xfrm>
            <a:off x="10314432" y="2514600"/>
            <a:ext cx="1554480" cy="868680"/>
          </a:xfrm>
          <a:prstGeom prst="rect">
            <a:avLst/>
          </a:prstGeom>
          <a:noFill/>
          <a:ln/>
        </p:spPr>
        <p:txBody>
          <a:bodyPr wrap="square" lIns="0" tIns="0" rIns="0" bIns="0" rtlCol="0" anchor="ctr"/>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77,8 ani</a:t>
            </a:r>
            <a:endParaRPr lang="en-US" sz="2400" dirty="0"/>
          </a:p>
        </p:txBody>
      </p:sp>
      <p:sp>
        <p:nvSpPr>
          <p:cNvPr id="10" name="Text 8"/>
          <p:cNvSpPr/>
          <p:nvPr/>
        </p:nvSpPr>
        <p:spPr>
          <a:xfrm>
            <a:off x="594360" y="3840480"/>
            <a:ext cx="2377440" cy="4572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Nord-Est</a:t>
            </a:r>
            <a:endParaRPr lang="en-US" sz="2100" dirty="0"/>
          </a:p>
        </p:txBody>
      </p:sp>
      <p:sp>
        <p:nvSpPr>
          <p:cNvPr id="11" name="Text 9"/>
          <p:cNvSpPr/>
          <p:nvPr/>
        </p:nvSpPr>
        <p:spPr>
          <a:xfrm>
            <a:off x="594360" y="4297680"/>
            <a:ext cx="237744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ultima regiune din țară</a:t>
            </a:r>
            <a:endParaRPr lang="en-US" sz="1300" dirty="0"/>
          </a:p>
        </p:txBody>
      </p:sp>
      <p:sp>
        <p:nvSpPr>
          <p:cNvPr id="12" name="Shape 10"/>
          <p:cNvSpPr/>
          <p:nvPr/>
        </p:nvSpPr>
        <p:spPr>
          <a:xfrm>
            <a:off x="3063240" y="3840480"/>
            <a:ext cx="6903720" cy="868680"/>
          </a:xfrm>
          <a:prstGeom prst="rect">
            <a:avLst/>
          </a:prstGeom>
          <a:solidFill>
            <a:srgbClr val="FF4757"/>
          </a:solidFill>
          <a:ln w="12700">
            <a:solidFill>
              <a:srgbClr val="FF4757"/>
            </a:solidFill>
            <a:prstDash val="solid"/>
          </a:ln>
        </p:spPr>
        <p:txBody>
          <a:bodyPr/>
          <a:p/>
        </p:txBody>
      </p:sp>
      <p:sp>
        <p:nvSpPr>
          <p:cNvPr id="13" name="Text 11"/>
          <p:cNvSpPr/>
          <p:nvPr/>
        </p:nvSpPr>
        <p:spPr>
          <a:xfrm>
            <a:off x="10104120" y="3840480"/>
            <a:ext cx="1554480" cy="868680"/>
          </a:xfrm>
          <a:prstGeom prst="rect">
            <a:avLst/>
          </a:prstGeom>
          <a:noFill/>
          <a:ln/>
        </p:spPr>
        <p:txBody>
          <a:bodyPr wrap="square" lIns="0" tIns="0" rIns="0" bIns="0" rtlCol="0" anchor="ctr"/>
          <a:lstStyle/>
          <a:p>
            <a:pPr indent="0" marL="0">
              <a:buNone/>
            </a:pPr>
            <a:r>
              <a:rPr lang="en-US" sz="2400" b="1" dirty="0">
                <a:solidFill>
                  <a:srgbClr val="FFFFFF"/>
                </a:solidFill>
                <a:latin typeface="Palatino Linotype" pitchFamily="34" charset="0"/>
                <a:ea typeface="Palatino Linotype" pitchFamily="34" charset="-122"/>
                <a:cs typeface="Palatino Linotype" pitchFamily="34" charset="-120"/>
              </a:rPr>
              <a:t>75,5 ani</a:t>
            </a:r>
            <a:endParaRPr lang="en-US" sz="2400" dirty="0"/>
          </a:p>
        </p:txBody>
      </p:sp>
      <p:sp>
        <p:nvSpPr>
          <p:cNvPr id="14" name="Shape 12"/>
          <p:cNvSpPr/>
          <p:nvPr/>
        </p:nvSpPr>
        <p:spPr>
          <a:xfrm>
            <a:off x="9966960" y="3429000"/>
            <a:ext cx="18288" cy="1188720"/>
          </a:xfrm>
          <a:prstGeom prst="rect">
            <a:avLst/>
          </a:prstGeom>
          <a:solidFill>
            <a:srgbClr val="FFC24B"/>
          </a:solidFill>
          <a:ln/>
        </p:spPr>
        <p:txBody>
          <a:bodyPr/>
          <a:p/>
        </p:txBody>
      </p:sp>
      <p:sp>
        <p:nvSpPr>
          <p:cNvPr id="15" name="Text 13"/>
          <p:cNvSpPr/>
          <p:nvPr/>
        </p:nvSpPr>
        <p:spPr>
          <a:xfrm>
            <a:off x="8229600" y="2011680"/>
            <a:ext cx="3566160" cy="411480"/>
          </a:xfrm>
          <a:prstGeom prst="rect">
            <a:avLst/>
          </a:prstGeom>
          <a:noFill/>
          <a:ln/>
        </p:spPr>
        <p:txBody>
          <a:bodyPr wrap="square" lIns="0" tIns="0" rIns="0" bIns="0" rtlCol="0" anchor="t"/>
          <a:lstStyle/>
          <a:p>
            <a:pPr algn="r" indent="0" marL="0">
              <a:buNone/>
            </a:pPr>
            <a:r>
              <a:rPr lang="en-US" sz="1900" b="1" dirty="0">
                <a:solidFill>
                  <a:srgbClr val="FFC24B"/>
                </a:solidFill>
                <a:latin typeface="Palatino Linotype" pitchFamily="34" charset="0"/>
                <a:ea typeface="Palatino Linotype" pitchFamily="34" charset="-122"/>
                <a:cs typeface="Palatino Linotype" pitchFamily="34" charset="-120"/>
              </a:rPr>
              <a:t>diferența: 2,3 ani</a:t>
            </a:r>
            <a:endParaRPr lang="en-US" sz="1900" dirty="0"/>
          </a:p>
        </p:txBody>
      </p:sp>
      <p:sp>
        <p:nvSpPr>
          <p:cNvPr id="16" name="Shape 14"/>
          <p:cNvSpPr/>
          <p:nvPr/>
        </p:nvSpPr>
        <p:spPr>
          <a:xfrm>
            <a:off x="594360" y="5074920"/>
            <a:ext cx="10972800" cy="914400"/>
          </a:xfrm>
          <a:prstGeom prst="roundRect">
            <a:avLst>
              <a:gd name="adj" fmla="val 9000"/>
            </a:avLst>
          </a:prstGeom>
          <a:solidFill>
            <a:srgbClr val="1D1F2B"/>
          </a:solidFill>
          <a:ln w="12700">
            <a:solidFill>
              <a:srgbClr val="1D1F2B"/>
            </a:solidFill>
            <a:prstDash val="solid"/>
          </a:ln>
        </p:spPr>
        <p:txBody>
          <a:bodyPr/>
          <a:p/>
        </p:txBody>
      </p:sp>
      <p:sp>
        <p:nvSpPr>
          <p:cNvPr id="17" name="Text 15"/>
          <p:cNvSpPr/>
          <p:nvPr/>
        </p:nvSpPr>
        <p:spPr>
          <a:xfrm>
            <a:off x="868680" y="5074920"/>
            <a:ext cx="10424160" cy="9144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Unul crește în regiunea București-Ilfov, celălalt în Nord-Est (Iași, Suceava, Botoșani, între altele). Doi ani și ceva în plus pentru primul.</a:t>
            </a:r>
            <a:endParaRPr lang="en-US" sz="1700" dirty="0"/>
          </a:p>
        </p:txBody>
      </p:sp>
      <p:sp>
        <p:nvSpPr>
          <p:cNvPr id="18" name="Text 16"/>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Eurostat, setul demo_r_mlifexp, 2024, regiuni NUTS 2; România: valori estimate.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VOT PE TELEFON</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ÎNTREBAREA SEMINARULUI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Este doar o diferență sau o problemă de sănătate publică?</a:t>
            </a:r>
            <a:endParaRPr lang="en-US" sz="3000" dirty="0"/>
          </a:p>
        </p:txBody>
      </p:sp>
      <p:sp>
        <p:nvSpPr>
          <p:cNvPr id="6" name="Shape 4"/>
          <p:cNvSpPr/>
          <p:nvPr/>
        </p:nvSpPr>
        <p:spPr>
          <a:xfrm>
            <a:off x="594360" y="2011680"/>
            <a:ext cx="6949440" cy="914400"/>
          </a:xfrm>
          <a:prstGeom prst="roundRect">
            <a:avLst>
              <a:gd name="adj" fmla="val 9000"/>
            </a:avLst>
          </a:prstGeom>
          <a:solidFill>
            <a:srgbClr val="1D1F2B"/>
          </a:solidFill>
          <a:ln w="12700">
            <a:solidFill>
              <a:srgbClr val="1D1F2B"/>
            </a:solidFill>
            <a:prstDash val="solid"/>
          </a:ln>
        </p:spPr>
        <p:txBody>
          <a:bodyPr/>
          <a:p/>
        </p:txBody>
      </p:sp>
      <p:sp>
        <p:nvSpPr>
          <p:cNvPr id="7" name="Shape 5"/>
          <p:cNvSpPr/>
          <p:nvPr/>
        </p:nvSpPr>
        <p:spPr>
          <a:xfrm>
            <a:off x="914400" y="2258568"/>
            <a:ext cx="420624" cy="420624"/>
          </a:xfrm>
          <a:prstGeom prst="ellipse">
            <a:avLst/>
          </a:prstGeom>
          <a:solidFill>
            <a:srgbClr val="FFC24B"/>
          </a:solidFill>
          <a:ln/>
        </p:spPr>
        <p:txBody>
          <a:bodyPr/>
          <a:p/>
        </p:txBody>
      </p:sp>
      <p:sp>
        <p:nvSpPr>
          <p:cNvPr id="8" name="Text 6"/>
          <p:cNvSpPr/>
          <p:nvPr/>
        </p:nvSpPr>
        <p:spPr>
          <a:xfrm>
            <a:off x="914400" y="22585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2011680"/>
            <a:ext cx="5669280" cy="91440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Este doar o diferență</a:t>
            </a:r>
            <a:endParaRPr lang="en-US" sz="2100" dirty="0"/>
          </a:p>
        </p:txBody>
      </p:sp>
      <p:sp>
        <p:nvSpPr>
          <p:cNvPr id="10" name="Shape 8"/>
          <p:cNvSpPr/>
          <p:nvPr/>
        </p:nvSpPr>
        <p:spPr>
          <a:xfrm>
            <a:off x="594360" y="3154680"/>
            <a:ext cx="6949440" cy="914400"/>
          </a:xfrm>
          <a:prstGeom prst="roundRect">
            <a:avLst>
              <a:gd name="adj" fmla="val 9000"/>
            </a:avLst>
          </a:prstGeom>
          <a:solidFill>
            <a:srgbClr val="1D1F2B"/>
          </a:solidFill>
          <a:ln w="12700">
            <a:solidFill>
              <a:srgbClr val="1D1F2B"/>
            </a:solidFill>
            <a:prstDash val="solid"/>
          </a:ln>
        </p:spPr>
        <p:txBody>
          <a:bodyPr/>
          <a:p/>
        </p:txBody>
      </p:sp>
      <p:sp>
        <p:nvSpPr>
          <p:cNvPr id="11" name="Shape 9"/>
          <p:cNvSpPr/>
          <p:nvPr/>
        </p:nvSpPr>
        <p:spPr>
          <a:xfrm>
            <a:off x="914400" y="3401568"/>
            <a:ext cx="420624" cy="420624"/>
          </a:xfrm>
          <a:prstGeom prst="ellipse">
            <a:avLst/>
          </a:prstGeom>
          <a:solidFill>
            <a:srgbClr val="FFC24B"/>
          </a:solidFill>
          <a:ln/>
        </p:spPr>
        <p:txBody>
          <a:bodyPr/>
          <a:p/>
        </p:txBody>
      </p:sp>
      <p:sp>
        <p:nvSpPr>
          <p:cNvPr id="12" name="Text 10"/>
          <p:cNvSpPr/>
          <p:nvPr/>
        </p:nvSpPr>
        <p:spPr>
          <a:xfrm>
            <a:off x="914400" y="34015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3154680"/>
            <a:ext cx="5669280" cy="91440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Este o problemă de sănătate publică</a:t>
            </a:r>
            <a:endParaRPr lang="en-US" sz="2100" dirty="0"/>
          </a:p>
        </p:txBody>
      </p:sp>
      <p:sp>
        <p:nvSpPr>
          <p:cNvPr id="14" name="Shape 12"/>
          <p:cNvSpPr/>
          <p:nvPr/>
        </p:nvSpPr>
        <p:spPr>
          <a:xfrm>
            <a:off x="594360" y="4297680"/>
            <a:ext cx="6949440" cy="914400"/>
          </a:xfrm>
          <a:prstGeom prst="roundRect">
            <a:avLst>
              <a:gd name="adj" fmla="val 9000"/>
            </a:avLst>
          </a:prstGeom>
          <a:solidFill>
            <a:srgbClr val="1D1F2B"/>
          </a:solidFill>
          <a:ln w="12700">
            <a:solidFill>
              <a:srgbClr val="1D1F2B"/>
            </a:solidFill>
            <a:prstDash val="solid"/>
          </a:ln>
        </p:spPr>
        <p:txBody>
          <a:bodyPr/>
          <a:p/>
        </p:txBody>
      </p:sp>
      <p:sp>
        <p:nvSpPr>
          <p:cNvPr id="15" name="Shape 13"/>
          <p:cNvSpPr/>
          <p:nvPr/>
        </p:nvSpPr>
        <p:spPr>
          <a:xfrm>
            <a:off x="914400" y="4544568"/>
            <a:ext cx="420624" cy="420624"/>
          </a:xfrm>
          <a:prstGeom prst="ellipse">
            <a:avLst/>
          </a:prstGeom>
          <a:solidFill>
            <a:srgbClr val="FFC24B"/>
          </a:solidFill>
          <a:ln/>
        </p:spPr>
        <p:txBody>
          <a:bodyPr/>
          <a:p/>
        </p:txBody>
      </p:sp>
      <p:sp>
        <p:nvSpPr>
          <p:cNvPr id="16" name="Text 14"/>
          <p:cNvSpPr/>
          <p:nvPr/>
        </p:nvSpPr>
        <p:spPr>
          <a:xfrm>
            <a:off x="914400" y="45445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4297680"/>
            <a:ext cx="5669280" cy="914400"/>
          </a:xfrm>
          <a:prstGeom prst="rect">
            <a:avLst/>
          </a:prstGeom>
          <a:noFill/>
          <a:ln/>
        </p:spPr>
        <p:txBody>
          <a:bodyPr wrap="square" lIns="0" tIns="0" rIns="0" bIns="0" rtlCol="0" anchor="ctr"/>
          <a:lstStyle/>
          <a:p>
            <a:pPr indent="0" marL="0">
              <a:buNone/>
            </a:pPr>
            <a:r>
              <a:rPr lang="en-US" sz="2100" dirty="0">
                <a:solidFill>
                  <a:srgbClr val="FFFFFF"/>
                </a:solidFill>
                <a:latin typeface="Palatino Linotype" pitchFamily="34" charset="0"/>
                <a:ea typeface="Palatino Linotype" pitchFamily="34" charset="-122"/>
                <a:cs typeface="Palatino Linotype" pitchFamily="34" charset="-120"/>
              </a:rPr>
              <a:t>Depinde</a:t>
            </a:r>
            <a:endParaRPr lang="en-US" sz="2100" dirty="0"/>
          </a:p>
        </p:txBody>
      </p:sp>
      <p:sp>
        <p:nvSpPr>
          <p:cNvPr id="18" name="Shape 16"/>
          <p:cNvSpPr/>
          <p:nvPr/>
        </p:nvSpPr>
        <p:spPr>
          <a:xfrm>
            <a:off x="8001000" y="2011680"/>
            <a:ext cx="3566160" cy="2971800"/>
          </a:xfrm>
          <a:prstGeom prst="roundRect">
            <a:avLst>
              <a:gd name="adj" fmla="val 3077"/>
            </a:avLst>
          </a:prstGeom>
          <a:solidFill>
            <a:srgbClr val="FFFFFF"/>
          </a:solidFill>
          <a:ln w="19050">
            <a:solidFill>
              <a:srgbClr val="8E94A8"/>
            </a:solidFill>
            <a:prstDash val="dash"/>
          </a:ln>
        </p:spPr>
        <p:txBody>
          <a:bodyPr/>
          <a:p/>
        </p:txBody>
      </p:sp>
      <p:sp>
        <p:nvSpPr>
          <p:cNvPr id="20" name="Text 18"/>
          <p:cNvSpPr/>
          <p:nvPr/>
        </p:nvSpPr>
        <p:spPr>
          <a:xfrm>
            <a:off x="594360" y="5532120"/>
            <a:ext cx="10972800" cy="54864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Apoi două minute cu colegul de bancă: dacă ați ales „depinde”, de ce anume depinde?</a:t>
            </a:r>
            <a:endParaRPr lang="en-US" sz="1800" dirty="0"/>
          </a:p>
        </p:txBody>
      </p:sp>
      <p:pic>
        <p:nvPicPr>
          <p:cNvPr id="21" name="Picture 20" descr="Mentimeter_UB_ISP_LP01.png"/>
          <p:cNvPicPr>
            <a:picLocks noChangeAspect="1"/>
          </p:cNvPicPr>
          <p:nvPr/>
        </p:nvPicPr>
        <p:blipFill>
          <a:blip r:embed="rId3"/>
          <a:stretch>
            <a:fillRect/>
          </a:stretch>
        </p:blipFill>
        <p:spPr>
          <a:xfrm>
            <a:off x="8611870" y="2011680"/>
            <a:ext cx="2344420" cy="2344420"/>
          </a:xfrm>
          <a:prstGeom prst="rect">
            <a:avLst/>
          </a:prstGeom>
        </p:spPr>
      </p:pic>
      <p:sp>
        <p:nvSpPr>
          <p:cNvPr id="22" name="TextBox 21"/>
          <p:cNvSpPr txBox="1"/>
          <p:nvPr/>
        </p:nvSpPr>
        <p:spPr>
          <a:xfrm>
            <a:off x="8611870" y="4394200"/>
            <a:ext cx="234442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DEPINDE · TREI CONDIȚII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Când o diferență devine inechitate în sănătate</a:t>
            </a:r>
            <a:endParaRPr lang="en-US" sz="2900" dirty="0"/>
          </a:p>
        </p:txBody>
      </p:sp>
      <p:sp>
        <p:nvSpPr>
          <p:cNvPr id="4" name="Shape 2"/>
          <p:cNvSpPr/>
          <p:nvPr/>
        </p:nvSpPr>
        <p:spPr>
          <a:xfrm>
            <a:off x="594360" y="1828800"/>
            <a:ext cx="3474720" cy="2468880"/>
          </a:xfrm>
          <a:prstGeom prst="roundRect">
            <a:avLst>
              <a:gd name="adj" fmla="val 3333"/>
            </a:avLst>
          </a:prstGeom>
          <a:solidFill>
            <a:srgbClr val="ECEAE4"/>
          </a:solidFill>
          <a:ln w="12700">
            <a:solidFill>
              <a:srgbClr val="ECEAE4"/>
            </a:solidFill>
            <a:prstDash val="solid"/>
          </a:ln>
        </p:spPr>
        <p:txBody>
          <a:bodyPr/>
          <a:p/>
        </p:txBody>
      </p:sp>
      <p:sp>
        <p:nvSpPr>
          <p:cNvPr id="5" name="Shape 3"/>
          <p:cNvSpPr/>
          <p:nvPr/>
        </p:nvSpPr>
        <p:spPr>
          <a:xfrm>
            <a:off x="868680" y="2057400"/>
            <a:ext cx="512064" cy="512064"/>
          </a:xfrm>
          <a:prstGeom prst="ellipse">
            <a:avLst/>
          </a:prstGeom>
          <a:solidFill>
            <a:srgbClr val="B02532"/>
          </a:solidFill>
          <a:ln/>
        </p:spPr>
        <p:txBody>
          <a:bodyPr/>
          <a:p/>
        </p:txBody>
      </p:sp>
      <p:sp>
        <p:nvSpPr>
          <p:cNvPr id="6" name="Text 4"/>
          <p:cNvSpPr/>
          <p:nvPr/>
        </p:nvSpPr>
        <p:spPr>
          <a:xfrm>
            <a:off x="868680" y="205740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1</a:t>
            </a:r>
            <a:endParaRPr lang="en-US" sz="1700" dirty="0"/>
          </a:p>
        </p:txBody>
      </p:sp>
      <p:sp>
        <p:nvSpPr>
          <p:cNvPr id="7" name="Text 5"/>
          <p:cNvSpPr/>
          <p:nvPr/>
        </p:nvSpPr>
        <p:spPr>
          <a:xfrm>
            <a:off x="868680" y="2697480"/>
            <a:ext cx="2971800" cy="73152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Este sistematică</a:t>
            </a:r>
            <a:endParaRPr lang="en-US" sz="1900" dirty="0"/>
          </a:p>
        </p:txBody>
      </p:sp>
      <p:sp>
        <p:nvSpPr>
          <p:cNvPr id="8" name="Text 6"/>
          <p:cNvSpPr/>
          <p:nvPr/>
        </p:nvSpPr>
        <p:spPr>
          <a:xfrm>
            <a:off x="868680" y="3474720"/>
            <a:ext cx="2971800" cy="7315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Urmează un tipar constant între grupuri, nu o întâmplare.</a:t>
            </a:r>
            <a:endParaRPr lang="en-US" sz="1550" dirty="0"/>
          </a:p>
        </p:txBody>
      </p:sp>
      <p:sp>
        <p:nvSpPr>
          <p:cNvPr id="9" name="Shape 7"/>
          <p:cNvSpPr/>
          <p:nvPr/>
        </p:nvSpPr>
        <p:spPr>
          <a:xfrm>
            <a:off x="4343400" y="1828800"/>
            <a:ext cx="3474720" cy="2468880"/>
          </a:xfrm>
          <a:prstGeom prst="roundRect">
            <a:avLst>
              <a:gd name="adj" fmla="val 3333"/>
            </a:avLst>
          </a:prstGeom>
          <a:solidFill>
            <a:srgbClr val="ECEAE4"/>
          </a:solidFill>
          <a:ln w="12700">
            <a:solidFill>
              <a:srgbClr val="ECEAE4"/>
            </a:solidFill>
            <a:prstDash val="solid"/>
          </a:ln>
        </p:spPr>
        <p:txBody>
          <a:bodyPr/>
          <a:p/>
        </p:txBody>
      </p:sp>
      <p:sp>
        <p:nvSpPr>
          <p:cNvPr id="10" name="Shape 8"/>
          <p:cNvSpPr/>
          <p:nvPr/>
        </p:nvSpPr>
        <p:spPr>
          <a:xfrm>
            <a:off x="4617720" y="2057400"/>
            <a:ext cx="512064" cy="512064"/>
          </a:xfrm>
          <a:prstGeom prst="ellipse">
            <a:avLst/>
          </a:prstGeom>
          <a:solidFill>
            <a:srgbClr val="0E7C6B"/>
          </a:solidFill>
          <a:ln/>
        </p:spPr>
        <p:txBody>
          <a:bodyPr/>
          <a:p/>
        </p:txBody>
      </p:sp>
      <p:sp>
        <p:nvSpPr>
          <p:cNvPr id="11" name="Text 9"/>
          <p:cNvSpPr/>
          <p:nvPr/>
        </p:nvSpPr>
        <p:spPr>
          <a:xfrm>
            <a:off x="4617720" y="205740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2</a:t>
            </a:r>
            <a:endParaRPr lang="en-US" sz="1700" dirty="0"/>
          </a:p>
        </p:txBody>
      </p:sp>
      <p:sp>
        <p:nvSpPr>
          <p:cNvPr id="12" name="Text 10"/>
          <p:cNvSpPr/>
          <p:nvPr/>
        </p:nvSpPr>
        <p:spPr>
          <a:xfrm>
            <a:off x="4617720" y="2697480"/>
            <a:ext cx="2971800" cy="73152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Vine din condițiile de viață</a:t>
            </a:r>
            <a:endParaRPr lang="en-US" sz="1900" dirty="0"/>
          </a:p>
        </p:txBody>
      </p:sp>
      <p:sp>
        <p:nvSpPr>
          <p:cNvPr id="13" name="Text 11"/>
          <p:cNvSpPr/>
          <p:nvPr/>
        </p:nvSpPr>
        <p:spPr>
          <a:xfrm>
            <a:off x="4617720" y="3474720"/>
            <a:ext cx="2971800" cy="7315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Deci se poate schimba prin acțiune organizată.</a:t>
            </a:r>
            <a:endParaRPr lang="en-US" sz="1550" dirty="0"/>
          </a:p>
        </p:txBody>
      </p:sp>
      <p:sp>
        <p:nvSpPr>
          <p:cNvPr id="14" name="Shape 12"/>
          <p:cNvSpPr/>
          <p:nvPr/>
        </p:nvSpPr>
        <p:spPr>
          <a:xfrm>
            <a:off x="8092440" y="1828800"/>
            <a:ext cx="3474720" cy="2468880"/>
          </a:xfrm>
          <a:prstGeom prst="roundRect">
            <a:avLst>
              <a:gd name="adj" fmla="val 3333"/>
            </a:avLst>
          </a:prstGeom>
          <a:solidFill>
            <a:srgbClr val="ECEAE4"/>
          </a:solidFill>
          <a:ln w="12700">
            <a:solidFill>
              <a:srgbClr val="ECEAE4"/>
            </a:solidFill>
            <a:prstDash val="solid"/>
          </a:ln>
        </p:spPr>
        <p:txBody>
          <a:bodyPr/>
          <a:p/>
        </p:txBody>
      </p:sp>
      <p:sp>
        <p:nvSpPr>
          <p:cNvPr id="15" name="Shape 13"/>
          <p:cNvSpPr/>
          <p:nvPr/>
        </p:nvSpPr>
        <p:spPr>
          <a:xfrm>
            <a:off x="8366760" y="2057400"/>
            <a:ext cx="512064" cy="512064"/>
          </a:xfrm>
          <a:prstGeom prst="ellipse">
            <a:avLst/>
          </a:prstGeom>
          <a:solidFill>
            <a:srgbClr val="4A2D8C"/>
          </a:solidFill>
          <a:ln/>
        </p:spPr>
        <p:txBody>
          <a:bodyPr/>
          <a:p/>
        </p:txBody>
      </p:sp>
      <p:sp>
        <p:nvSpPr>
          <p:cNvPr id="16" name="Text 14"/>
          <p:cNvSpPr/>
          <p:nvPr/>
        </p:nvSpPr>
        <p:spPr>
          <a:xfrm>
            <a:off x="8366760" y="2057400"/>
            <a:ext cx="512064" cy="512064"/>
          </a:xfrm>
          <a:prstGeom prst="rect">
            <a:avLst/>
          </a:prstGeom>
          <a:noFill/>
          <a:ln/>
        </p:spPr>
        <p:txBody>
          <a:bodyPr wrap="square" lIns="0" tIns="0" rIns="0" bIns="0" rtlCol="0" anchor="ctr"/>
          <a:lstStyle/>
          <a:p>
            <a:pPr algn="ctr" indent="0" marL="0">
              <a:buNone/>
            </a:pPr>
            <a:r>
              <a:rPr lang="en-US" sz="1700" b="1" dirty="0">
                <a:solidFill>
                  <a:srgbClr val="FFFFFF"/>
                </a:solidFill>
                <a:latin typeface="Palatino Linotype" pitchFamily="34" charset="0"/>
                <a:ea typeface="Palatino Linotype" pitchFamily="34" charset="-122"/>
                <a:cs typeface="Palatino Linotype" pitchFamily="34" charset="-120"/>
              </a:rPr>
              <a:t>3</a:t>
            </a:r>
            <a:endParaRPr lang="en-US" sz="1700" dirty="0"/>
          </a:p>
        </p:txBody>
      </p:sp>
      <p:sp>
        <p:nvSpPr>
          <p:cNvPr id="17" name="Text 15"/>
          <p:cNvSpPr/>
          <p:nvPr/>
        </p:nvSpPr>
        <p:spPr>
          <a:xfrm>
            <a:off x="8366760" y="2697480"/>
            <a:ext cx="2971800" cy="73152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Este nedreaptă</a:t>
            </a:r>
            <a:endParaRPr lang="en-US" sz="1900" dirty="0"/>
          </a:p>
        </p:txBody>
      </p:sp>
      <p:sp>
        <p:nvSpPr>
          <p:cNvPr id="18" name="Text 16"/>
          <p:cNvSpPr/>
          <p:nvPr/>
        </p:nvSpPr>
        <p:spPr>
          <a:xfrm>
            <a:off x="8366760" y="3474720"/>
            <a:ext cx="2971800" cy="7315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Produsă și menținută de aranjamente sociale nedrepte.</a:t>
            </a:r>
            <a:endParaRPr lang="en-US" sz="1550" dirty="0"/>
          </a:p>
        </p:txBody>
      </p:sp>
      <p:sp>
        <p:nvSpPr>
          <p:cNvPr id="19" name="Shape 17"/>
          <p:cNvSpPr/>
          <p:nvPr/>
        </p:nvSpPr>
        <p:spPr>
          <a:xfrm>
            <a:off x="594360" y="4572000"/>
            <a:ext cx="10972800" cy="1188720"/>
          </a:xfrm>
          <a:prstGeom prst="roundRect">
            <a:avLst>
              <a:gd name="adj" fmla="val 6923"/>
            </a:avLst>
          </a:prstGeom>
          <a:solidFill>
            <a:srgbClr val="11121A"/>
          </a:solidFill>
          <a:ln w="12700">
            <a:solidFill>
              <a:srgbClr val="11121A"/>
            </a:solidFill>
            <a:prstDash val="solid"/>
          </a:ln>
        </p:spPr>
        <p:txBody>
          <a:bodyPr/>
          <a:p/>
        </p:txBody>
      </p:sp>
      <p:sp>
        <p:nvSpPr>
          <p:cNvPr id="20" name="Text 18"/>
          <p:cNvSpPr/>
          <p:nvPr/>
        </p:nvSpPr>
        <p:spPr>
          <a:xfrm>
            <a:off x="868680" y="4572000"/>
            <a:ext cx="10424160" cy="118872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Inechitate în sănătate</a:t>
            </a:r>
            <a:endParaRPr lang="en-US" sz="1900" dirty="0"/>
          </a:p>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O diferență care nu ține de noroc sau de biologie și pe care societatea ar putea-o reduce. Reducerea ei privește sănătatea publică.</a:t>
            </a:r>
            <a:endParaRPr lang="en-US" sz="1900" dirty="0"/>
          </a:p>
        </p:txBody>
      </p:sp>
      <p:sp>
        <p:nvSpPr>
          <p:cNvPr id="21" name="Text 19"/>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Whitehead M, Dahlgren G. Levelling up (part 1). Biroul Regional OMS pentru Europa, 2006, partea A, p.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 INDICIU PENTRU PRIMA CONDIȚIE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Diferența nu este accidentul unui an</a:t>
            </a:r>
            <a:endParaRPr lang="en-US" sz="3100" dirty="0"/>
          </a:p>
        </p:txBody>
      </p:sp>
      <p:sp>
        <p:nvSpPr>
          <p:cNvPr id="4" name="Text 2"/>
          <p:cNvSpPr/>
          <p:nvPr/>
        </p:nvSpPr>
        <p:spPr>
          <a:xfrm>
            <a:off x="594360" y="1965960"/>
            <a:ext cx="2926080" cy="365760"/>
          </a:xfrm>
          <a:prstGeom prst="rect">
            <a:avLst/>
          </a:prstGeom>
          <a:noFill/>
          <a:ln/>
        </p:spPr>
        <p:txBody>
          <a:bodyPr wrap="square" lIns="0" tIns="0" rIns="0" bIns="0" rtlCol="0" anchor="t"/>
          <a:lstStyle/>
          <a:p>
            <a:pPr indent="0" marL="0">
              <a:buNone/>
            </a:pPr>
            <a:r>
              <a:rPr lang="en-US" sz="2000" b="1" dirty="0">
                <a:solidFill>
                  <a:srgbClr val="0E7C6B"/>
                </a:solidFill>
                <a:latin typeface="Palatino Linotype" pitchFamily="34" charset="0"/>
                <a:ea typeface="Palatino Linotype" pitchFamily="34" charset="-122"/>
                <a:cs typeface="Palatino Linotype" pitchFamily="34" charset="-120"/>
              </a:rPr>
              <a:t>București-Ilfov</a:t>
            </a:r>
            <a:endParaRPr lang="en-US" sz="2000" dirty="0"/>
          </a:p>
        </p:txBody>
      </p:sp>
      <p:sp>
        <p:nvSpPr>
          <p:cNvPr id="5" name="Text 3"/>
          <p:cNvSpPr/>
          <p:nvPr/>
        </p:nvSpPr>
        <p:spPr>
          <a:xfrm>
            <a:off x="594360" y="2331720"/>
            <a:ext cx="2926080" cy="6400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cea mai mare speranță de viață la naștere</a:t>
            </a:r>
            <a:endParaRPr lang="en-US" sz="1400" dirty="0"/>
          </a:p>
        </p:txBody>
      </p:sp>
      <p:sp>
        <p:nvSpPr>
          <p:cNvPr id="6" name="Text 4"/>
          <p:cNvSpPr/>
          <p:nvPr/>
        </p:nvSpPr>
        <p:spPr>
          <a:xfrm>
            <a:off x="594360" y="3383280"/>
            <a:ext cx="2926080" cy="365760"/>
          </a:xfrm>
          <a:prstGeom prst="rect">
            <a:avLst/>
          </a:prstGeom>
          <a:noFill/>
          <a:ln/>
        </p:spPr>
        <p:txBody>
          <a:bodyPr wrap="square" lIns="0" tIns="0" rIns="0" bIns="0" rtlCol="0" anchor="t"/>
          <a:lstStyle/>
          <a:p>
            <a:pPr indent="0" marL="0">
              <a:buNone/>
            </a:pPr>
            <a:r>
              <a:rPr lang="en-US" sz="2000" b="1" dirty="0">
                <a:solidFill>
                  <a:srgbClr val="B02532"/>
                </a:solidFill>
                <a:latin typeface="Palatino Linotype" pitchFamily="34" charset="0"/>
                <a:ea typeface="Palatino Linotype" pitchFamily="34" charset="-122"/>
                <a:cs typeface="Palatino Linotype" pitchFamily="34" charset="-120"/>
              </a:rPr>
              <a:t>Nord-Est</a:t>
            </a:r>
            <a:endParaRPr lang="en-US" sz="2000" dirty="0"/>
          </a:p>
        </p:txBody>
      </p:sp>
      <p:sp>
        <p:nvSpPr>
          <p:cNvPr id="7" name="Text 5"/>
          <p:cNvSpPr/>
          <p:nvPr/>
        </p:nvSpPr>
        <p:spPr>
          <a:xfrm>
            <a:off x="594360" y="3749040"/>
            <a:ext cx="2926080" cy="640080"/>
          </a:xfrm>
          <a:prstGeom prst="rect">
            <a:avLst/>
          </a:prstGeom>
          <a:noFill/>
          <a:ln/>
        </p:spPr>
        <p:txBody>
          <a:bodyPr wrap="square" lIns="0" tIns="0" rIns="0" bIns="0" rtlCol="0" anchor="t"/>
          <a:lstStyle/>
          <a:p>
            <a:pPr indent="0" marL="0">
              <a:buNone/>
            </a:pPr>
            <a:r>
              <a:rPr lang="en-US" sz="1400" dirty="0">
                <a:solidFill>
                  <a:srgbClr val="585A64"/>
                </a:solidFill>
                <a:latin typeface="Palatino Linotype" pitchFamily="34" charset="0"/>
                <a:ea typeface="Palatino Linotype" pitchFamily="34" charset="-122"/>
                <a:cs typeface="Palatino Linotype" pitchFamily="34" charset="-120"/>
              </a:rPr>
              <a:t>printre ultimele două regiuni</a:t>
            </a:r>
            <a:endParaRPr lang="en-US" sz="1400" dirty="0"/>
          </a:p>
        </p:txBody>
      </p:sp>
      <p:sp>
        <p:nvSpPr>
          <p:cNvPr id="8" name="Shape 6"/>
          <p:cNvSpPr/>
          <p:nvPr/>
        </p:nvSpPr>
        <p:spPr>
          <a:xfrm>
            <a:off x="3657600"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9" name="Shape 7"/>
          <p:cNvSpPr/>
          <p:nvPr/>
        </p:nvSpPr>
        <p:spPr>
          <a:xfrm>
            <a:off x="3657600"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10" name="Shape 8"/>
          <p:cNvSpPr/>
          <p:nvPr/>
        </p:nvSpPr>
        <p:spPr>
          <a:xfrm>
            <a:off x="4352544"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11" name="Shape 9"/>
          <p:cNvSpPr/>
          <p:nvPr/>
        </p:nvSpPr>
        <p:spPr>
          <a:xfrm>
            <a:off x="4352544"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12" name="Shape 10"/>
          <p:cNvSpPr/>
          <p:nvPr/>
        </p:nvSpPr>
        <p:spPr>
          <a:xfrm>
            <a:off x="5047488"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13" name="Shape 11"/>
          <p:cNvSpPr/>
          <p:nvPr/>
        </p:nvSpPr>
        <p:spPr>
          <a:xfrm>
            <a:off x="5047488"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14" name="Shape 12"/>
          <p:cNvSpPr/>
          <p:nvPr/>
        </p:nvSpPr>
        <p:spPr>
          <a:xfrm>
            <a:off x="5742432"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15" name="Shape 13"/>
          <p:cNvSpPr/>
          <p:nvPr/>
        </p:nvSpPr>
        <p:spPr>
          <a:xfrm>
            <a:off x="5742432"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16" name="Shape 14"/>
          <p:cNvSpPr/>
          <p:nvPr/>
        </p:nvSpPr>
        <p:spPr>
          <a:xfrm>
            <a:off x="6437376"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17" name="Shape 15"/>
          <p:cNvSpPr/>
          <p:nvPr/>
        </p:nvSpPr>
        <p:spPr>
          <a:xfrm>
            <a:off x="6437376"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18" name="Shape 16"/>
          <p:cNvSpPr/>
          <p:nvPr/>
        </p:nvSpPr>
        <p:spPr>
          <a:xfrm>
            <a:off x="7132320"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19" name="Shape 17"/>
          <p:cNvSpPr/>
          <p:nvPr/>
        </p:nvSpPr>
        <p:spPr>
          <a:xfrm>
            <a:off x="7132320"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20" name="Shape 18"/>
          <p:cNvSpPr/>
          <p:nvPr/>
        </p:nvSpPr>
        <p:spPr>
          <a:xfrm>
            <a:off x="7827264"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21" name="Shape 19"/>
          <p:cNvSpPr/>
          <p:nvPr/>
        </p:nvSpPr>
        <p:spPr>
          <a:xfrm>
            <a:off x="7827264"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22" name="Shape 20"/>
          <p:cNvSpPr/>
          <p:nvPr/>
        </p:nvSpPr>
        <p:spPr>
          <a:xfrm>
            <a:off x="8522208"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23" name="Shape 21"/>
          <p:cNvSpPr/>
          <p:nvPr/>
        </p:nvSpPr>
        <p:spPr>
          <a:xfrm>
            <a:off x="8522208"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24" name="Shape 22"/>
          <p:cNvSpPr/>
          <p:nvPr/>
        </p:nvSpPr>
        <p:spPr>
          <a:xfrm>
            <a:off x="9217152"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25" name="Shape 23"/>
          <p:cNvSpPr/>
          <p:nvPr/>
        </p:nvSpPr>
        <p:spPr>
          <a:xfrm>
            <a:off x="9217152"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26" name="Shape 24"/>
          <p:cNvSpPr/>
          <p:nvPr/>
        </p:nvSpPr>
        <p:spPr>
          <a:xfrm>
            <a:off x="9912096"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27" name="Shape 25"/>
          <p:cNvSpPr/>
          <p:nvPr/>
        </p:nvSpPr>
        <p:spPr>
          <a:xfrm>
            <a:off x="9912096"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28" name="Shape 26"/>
          <p:cNvSpPr/>
          <p:nvPr/>
        </p:nvSpPr>
        <p:spPr>
          <a:xfrm>
            <a:off x="10607040" y="2011680"/>
            <a:ext cx="566928" cy="566928"/>
          </a:xfrm>
          <a:prstGeom prst="roundRect">
            <a:avLst>
              <a:gd name="adj" fmla="val 11290"/>
            </a:avLst>
          </a:prstGeom>
          <a:solidFill>
            <a:srgbClr val="0E7C6B"/>
          </a:solidFill>
          <a:ln w="12700">
            <a:solidFill>
              <a:srgbClr val="0E7C6B"/>
            </a:solidFill>
            <a:prstDash val="solid"/>
          </a:ln>
        </p:spPr>
        <p:txBody>
          <a:bodyPr/>
          <a:p/>
        </p:txBody>
      </p:sp>
      <p:sp>
        <p:nvSpPr>
          <p:cNvPr id="29" name="Shape 27"/>
          <p:cNvSpPr/>
          <p:nvPr/>
        </p:nvSpPr>
        <p:spPr>
          <a:xfrm>
            <a:off x="10607040" y="3429000"/>
            <a:ext cx="566928" cy="566928"/>
          </a:xfrm>
          <a:prstGeom prst="roundRect">
            <a:avLst>
              <a:gd name="adj" fmla="val 11290"/>
            </a:avLst>
          </a:prstGeom>
          <a:solidFill>
            <a:srgbClr val="B02532"/>
          </a:solidFill>
          <a:ln w="12700">
            <a:solidFill>
              <a:srgbClr val="B02532"/>
            </a:solidFill>
            <a:prstDash val="solid"/>
          </a:ln>
        </p:spPr>
        <p:txBody>
          <a:bodyPr/>
          <a:p/>
        </p:txBody>
      </p:sp>
      <p:sp>
        <p:nvSpPr>
          <p:cNvPr id="30" name="Text 28"/>
          <p:cNvSpPr/>
          <p:nvPr/>
        </p:nvSpPr>
        <p:spPr>
          <a:xfrm>
            <a:off x="3474720" y="4160520"/>
            <a:ext cx="914400" cy="320040"/>
          </a:xfrm>
          <a:prstGeom prst="rect">
            <a:avLst/>
          </a:prstGeom>
          <a:noFill/>
          <a:ln/>
        </p:spPr>
        <p:txBody>
          <a:bodyPr wrap="square" lIns="0" tIns="0" rIns="0" bIns="0" rtlCol="0" anchor="t"/>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2014</a:t>
            </a:r>
            <a:endParaRPr lang="en-US" sz="1500" dirty="0"/>
          </a:p>
        </p:txBody>
      </p:sp>
      <p:sp>
        <p:nvSpPr>
          <p:cNvPr id="31" name="Text 29"/>
          <p:cNvSpPr/>
          <p:nvPr/>
        </p:nvSpPr>
        <p:spPr>
          <a:xfrm>
            <a:off x="10241280" y="4160520"/>
            <a:ext cx="914400" cy="320040"/>
          </a:xfrm>
          <a:prstGeom prst="rect">
            <a:avLst/>
          </a:prstGeom>
          <a:noFill/>
          <a:ln/>
        </p:spPr>
        <p:txBody>
          <a:bodyPr wrap="square" lIns="0" tIns="0" rIns="0" bIns="0" rtlCol="0" anchor="t"/>
          <a:lstStyle/>
          <a:p>
            <a:pPr algn="r" indent="0" marL="0">
              <a:buNone/>
            </a:pPr>
            <a:r>
              <a:rPr lang="en-US" sz="1500" b="1" dirty="0">
                <a:solidFill>
                  <a:srgbClr val="11121A"/>
                </a:solidFill>
                <a:latin typeface="Palatino Linotype" pitchFamily="34" charset="0"/>
                <a:ea typeface="Palatino Linotype" pitchFamily="34" charset="-122"/>
                <a:cs typeface="Palatino Linotype" pitchFamily="34" charset="-120"/>
              </a:rPr>
              <a:t>2024</a:t>
            </a:r>
            <a:endParaRPr lang="en-US" sz="1500" dirty="0"/>
          </a:p>
        </p:txBody>
      </p:sp>
      <p:sp>
        <p:nvSpPr>
          <p:cNvPr id="32" name="Shape 30"/>
          <p:cNvSpPr/>
          <p:nvPr/>
        </p:nvSpPr>
        <p:spPr>
          <a:xfrm>
            <a:off x="3657600" y="2898648"/>
            <a:ext cx="7516368" cy="22860"/>
          </a:xfrm>
          <a:prstGeom prst="rect">
            <a:avLst/>
          </a:prstGeom>
          <a:solidFill>
            <a:srgbClr val="C9C6BE"/>
          </a:solidFill>
          <a:ln/>
        </p:spPr>
        <p:txBody>
          <a:bodyPr/>
          <a:p/>
        </p:txBody>
      </p:sp>
      <p:sp>
        <p:nvSpPr>
          <p:cNvPr id="33" name="Text 31"/>
          <p:cNvSpPr/>
          <p:nvPr/>
        </p:nvSpPr>
        <p:spPr>
          <a:xfrm>
            <a:off x="594360" y="4892040"/>
            <a:ext cx="10972800" cy="82296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Un pătrat este un an. În fiecare an al perioadei, aceeași regiune a fost prima, iar cealaltă s-a aflat în coada clasamentului.</a:t>
            </a:r>
            <a:endParaRPr lang="en-US" sz="1800" dirty="0"/>
          </a:p>
        </p:txBody>
      </p:sp>
      <p:sp>
        <p:nvSpPr>
          <p:cNvPr id="34" name="Text 32"/>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 setul demo_r_mlifexp, clasamentul regiunilor pe ani; în cea mai mare parte valori estimate.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CELELALTE DOUĂ CONDIȚII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Ele cer o întrebare despre cauze</a:t>
            </a:r>
            <a:endParaRPr lang="en-US" sz="3200" dirty="0"/>
          </a:p>
        </p:txBody>
      </p:sp>
      <p:sp>
        <p:nvSpPr>
          <p:cNvPr id="4" name="Shape 2"/>
          <p:cNvSpPr/>
          <p:nvPr/>
        </p:nvSpPr>
        <p:spPr>
          <a:xfrm>
            <a:off x="594360" y="1783080"/>
            <a:ext cx="1128370" cy="329184"/>
          </a:xfrm>
          <a:prstGeom prst="roundRect">
            <a:avLst>
              <a:gd name="adj" fmla="val 50000"/>
            </a:avLst>
          </a:prstGeom>
          <a:solidFill>
            <a:srgbClr val="FF4757"/>
          </a:solidFill>
          <a:ln w="12700">
            <a:solidFill>
              <a:srgbClr val="FF4757"/>
            </a:solidFill>
            <a:prstDash val="solid"/>
          </a:ln>
        </p:spPr>
        <p:txBody>
          <a:bodyPr/>
          <a:p/>
        </p:txBody>
      </p:sp>
      <p:sp>
        <p:nvSpPr>
          <p:cNvPr id="5" name="Text 3"/>
          <p:cNvSpPr/>
          <p:nvPr/>
        </p:nvSpPr>
        <p:spPr>
          <a:xfrm>
            <a:off x="594360" y="1783080"/>
            <a:ext cx="1128370" cy="32918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venitul</a:t>
            </a:r>
            <a:endParaRPr lang="en-US" sz="1400" dirty="0"/>
          </a:p>
        </p:txBody>
      </p:sp>
      <p:sp>
        <p:nvSpPr>
          <p:cNvPr id="6" name="Shape 4"/>
          <p:cNvSpPr/>
          <p:nvPr/>
        </p:nvSpPr>
        <p:spPr>
          <a:xfrm>
            <a:off x="1832458" y="1783080"/>
            <a:ext cx="2152498" cy="329184"/>
          </a:xfrm>
          <a:prstGeom prst="roundRect">
            <a:avLst>
              <a:gd name="adj" fmla="val 50000"/>
            </a:avLst>
          </a:prstGeom>
          <a:solidFill>
            <a:srgbClr val="FFC24B"/>
          </a:solidFill>
          <a:ln w="12700">
            <a:solidFill>
              <a:srgbClr val="FFC24B"/>
            </a:solidFill>
            <a:prstDash val="solid"/>
          </a:ln>
        </p:spPr>
        <p:txBody>
          <a:bodyPr/>
          <a:p/>
        </p:txBody>
      </p:sp>
      <p:sp>
        <p:nvSpPr>
          <p:cNvPr id="7" name="Text 5"/>
          <p:cNvSpPr/>
          <p:nvPr/>
        </p:nvSpPr>
        <p:spPr>
          <a:xfrm>
            <a:off x="1832458" y="1783080"/>
            <a:ext cx="2152498" cy="329184"/>
          </a:xfrm>
          <a:prstGeom prst="rect">
            <a:avLst/>
          </a:prstGeom>
          <a:noFill/>
          <a:ln/>
        </p:spPr>
        <p:txBody>
          <a:bodyPr wrap="square" lIns="0" tIns="0" rIns="0" bIns="0" rtlCol="0" anchor="ctr"/>
          <a:lstStyle/>
          <a:p>
            <a:pPr algn="ctr" indent="0" marL="0">
              <a:buNone/>
            </a:pPr>
            <a:r>
              <a:rPr lang="en-US" sz="1400" b="1" dirty="0">
                <a:solidFill>
                  <a:srgbClr val="3D2A00"/>
                </a:solidFill>
                <a:latin typeface="Palatino Linotype" pitchFamily="34" charset="0"/>
                <a:ea typeface="Palatino Linotype" pitchFamily="34" charset="-122"/>
                <a:cs typeface="Palatino Linotype" pitchFamily="34" charset="-120"/>
              </a:rPr>
              <a:t>locurile de muncă</a:t>
            </a:r>
            <a:endParaRPr lang="en-US" sz="1400" dirty="0"/>
          </a:p>
        </p:txBody>
      </p:sp>
      <p:sp>
        <p:nvSpPr>
          <p:cNvPr id="8" name="Shape 6"/>
          <p:cNvSpPr/>
          <p:nvPr/>
        </p:nvSpPr>
        <p:spPr>
          <a:xfrm>
            <a:off x="4094683" y="1783080"/>
            <a:ext cx="2869387" cy="329184"/>
          </a:xfrm>
          <a:prstGeom prst="roundRect">
            <a:avLst>
              <a:gd name="adj" fmla="val 50000"/>
            </a:avLst>
          </a:prstGeom>
          <a:solidFill>
            <a:srgbClr val="27D3BE"/>
          </a:solidFill>
          <a:ln w="12700">
            <a:solidFill>
              <a:srgbClr val="27D3BE"/>
            </a:solidFill>
            <a:prstDash val="solid"/>
          </a:ln>
        </p:spPr>
        <p:txBody>
          <a:bodyPr/>
          <a:p/>
        </p:txBody>
      </p:sp>
      <p:sp>
        <p:nvSpPr>
          <p:cNvPr id="9" name="Text 7"/>
          <p:cNvSpPr/>
          <p:nvPr/>
        </p:nvSpPr>
        <p:spPr>
          <a:xfrm>
            <a:off x="4094683" y="1783080"/>
            <a:ext cx="2869387" cy="329184"/>
          </a:xfrm>
          <a:prstGeom prst="rect">
            <a:avLst/>
          </a:prstGeom>
          <a:noFill/>
          <a:ln/>
        </p:spPr>
        <p:txBody>
          <a:bodyPr wrap="square" lIns="0" tIns="0" rIns="0" bIns="0" rtlCol="0" anchor="ctr"/>
          <a:lstStyle/>
          <a:p>
            <a:pPr algn="ctr" indent="0" marL="0">
              <a:buNone/>
            </a:pPr>
            <a:r>
              <a:rPr lang="en-US" sz="1400" b="1" dirty="0">
                <a:solidFill>
                  <a:srgbClr val="073B34"/>
                </a:solidFill>
                <a:latin typeface="Palatino Linotype" pitchFamily="34" charset="0"/>
                <a:ea typeface="Palatino Linotype" pitchFamily="34" charset="-122"/>
                <a:cs typeface="Palatino Linotype" pitchFamily="34" charset="-120"/>
              </a:rPr>
              <a:t>drumul până la un spital</a:t>
            </a:r>
            <a:endParaRPr lang="en-US" sz="1400" dirty="0"/>
          </a:p>
        </p:txBody>
      </p:sp>
      <p:sp>
        <p:nvSpPr>
          <p:cNvPr id="10" name="Shape 8"/>
          <p:cNvSpPr/>
          <p:nvPr/>
        </p:nvSpPr>
        <p:spPr>
          <a:xfrm>
            <a:off x="7073798" y="1783080"/>
            <a:ext cx="2664562" cy="329184"/>
          </a:xfrm>
          <a:prstGeom prst="roundRect">
            <a:avLst>
              <a:gd name="adj" fmla="val 50000"/>
            </a:avLst>
          </a:prstGeom>
          <a:solidFill>
            <a:srgbClr val="9B7EF7"/>
          </a:solidFill>
          <a:ln w="12700">
            <a:solidFill>
              <a:srgbClr val="9B7EF7"/>
            </a:solidFill>
            <a:prstDash val="solid"/>
          </a:ln>
        </p:spPr>
        <p:txBody>
          <a:bodyPr/>
          <a:p/>
        </p:txBody>
      </p:sp>
      <p:sp>
        <p:nvSpPr>
          <p:cNvPr id="11" name="Text 9"/>
          <p:cNvSpPr/>
          <p:nvPr/>
        </p:nvSpPr>
        <p:spPr>
          <a:xfrm>
            <a:off x="7073798" y="1783080"/>
            <a:ext cx="2664562" cy="329184"/>
          </a:xfrm>
          <a:prstGeom prst="rect">
            <a:avLst/>
          </a:prstGeom>
          <a:noFill/>
          <a:ln/>
        </p:spPr>
        <p:txBody>
          <a:bodyPr wrap="square" lIns="0" tIns="0" rIns="0" bIns="0" rtlCol="0" anchor="ctr"/>
          <a:lstStyle/>
          <a:p>
            <a:pPr algn="ctr" indent="0" marL="0">
              <a:buNone/>
            </a:pPr>
            <a:r>
              <a:rPr lang="en-US" sz="1400" b="1" dirty="0">
                <a:solidFill>
                  <a:srgbClr val="1F1040"/>
                </a:solidFill>
                <a:latin typeface="Palatino Linotype" pitchFamily="34" charset="0"/>
                <a:ea typeface="Palatino Linotype" pitchFamily="34" charset="-122"/>
                <a:cs typeface="Palatino Linotype" pitchFamily="34" charset="-120"/>
              </a:rPr>
              <a:t>obiceiurile alimentare</a:t>
            </a:r>
            <a:endParaRPr lang="en-US" sz="1400" dirty="0"/>
          </a:p>
        </p:txBody>
      </p:sp>
      <p:sp>
        <p:nvSpPr>
          <p:cNvPr id="12" name="Shape 10"/>
          <p:cNvSpPr/>
          <p:nvPr/>
        </p:nvSpPr>
        <p:spPr>
          <a:xfrm>
            <a:off x="9848088" y="1783080"/>
            <a:ext cx="1128370" cy="329184"/>
          </a:xfrm>
          <a:prstGeom prst="roundRect">
            <a:avLst>
              <a:gd name="adj" fmla="val 50000"/>
            </a:avLst>
          </a:prstGeom>
          <a:solidFill>
            <a:srgbClr val="FF8A3D"/>
          </a:solidFill>
          <a:ln w="12700">
            <a:solidFill>
              <a:srgbClr val="FF8A3D"/>
            </a:solidFill>
            <a:prstDash val="solid"/>
          </a:ln>
        </p:spPr>
        <p:txBody>
          <a:bodyPr/>
          <a:p/>
        </p:txBody>
      </p:sp>
      <p:sp>
        <p:nvSpPr>
          <p:cNvPr id="13" name="Text 11"/>
          <p:cNvSpPr/>
          <p:nvPr/>
        </p:nvSpPr>
        <p:spPr>
          <a:xfrm>
            <a:off x="9848088" y="1783080"/>
            <a:ext cx="1128370" cy="32918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fumatul</a:t>
            </a:r>
            <a:endParaRPr lang="en-US" sz="1400" dirty="0"/>
          </a:p>
        </p:txBody>
      </p:sp>
      <p:sp>
        <p:nvSpPr>
          <p:cNvPr id="14" name="Text 12"/>
          <p:cNvSpPr/>
          <p:nvPr/>
        </p:nvSpPr>
        <p:spPr>
          <a:xfrm>
            <a:off x="594360" y="2514600"/>
            <a:ext cx="10972800" cy="822960"/>
          </a:xfrm>
          <a:prstGeom prst="rect">
            <a:avLst/>
          </a:prstGeom>
          <a:noFill/>
          <a:ln/>
        </p:spPr>
        <p:txBody>
          <a:bodyPr wrap="square" lIns="0" tIns="0" rIns="0" bIns="0" rtlCol="0" anchor="t"/>
          <a:lstStyle/>
          <a:p>
            <a:pPr indent="0" marL="0">
              <a:buNone/>
            </a:pPr>
            <a:r>
              <a:rPr lang="en-US" sz="2300" b="1" dirty="0">
                <a:solidFill>
                  <a:srgbClr val="FFFFFF"/>
                </a:solidFill>
                <a:latin typeface="Palatino Linotype" pitchFamily="34" charset="0"/>
                <a:ea typeface="Palatino Linotype" pitchFamily="34" charset="-122"/>
                <a:cs typeface="Palatino Linotype" pitchFamily="34" charset="-120"/>
              </a:rPr>
              <a:t>Dacă diferența vine din astfel de condiții, ea se poate reduce prin acțiune organizată.</a:t>
            </a:r>
            <a:endParaRPr lang="en-US" sz="2300" dirty="0"/>
          </a:p>
        </p:txBody>
      </p:sp>
      <p:sp>
        <p:nvSpPr>
          <p:cNvPr id="15" name="Shape 13"/>
          <p:cNvSpPr/>
          <p:nvPr/>
        </p:nvSpPr>
        <p:spPr>
          <a:xfrm>
            <a:off x="594360" y="3611880"/>
            <a:ext cx="10972800" cy="1600200"/>
          </a:xfrm>
          <a:prstGeom prst="roundRect">
            <a:avLst>
              <a:gd name="adj" fmla="val 5143"/>
            </a:avLst>
          </a:prstGeom>
          <a:solidFill>
            <a:srgbClr val="1D1F2B"/>
          </a:solidFill>
          <a:ln w="12700">
            <a:solidFill>
              <a:srgbClr val="1D1F2B"/>
            </a:solidFill>
            <a:prstDash val="solid"/>
          </a:ln>
        </p:spPr>
        <p:txBody>
          <a:bodyPr/>
          <a:p/>
        </p:txBody>
      </p:sp>
      <p:sp>
        <p:nvSpPr>
          <p:cNvPr id="16" name="Shape 14"/>
          <p:cNvSpPr/>
          <p:nvPr/>
        </p:nvSpPr>
        <p:spPr>
          <a:xfrm>
            <a:off x="868680" y="3840480"/>
            <a:ext cx="64008" cy="1143000"/>
          </a:xfrm>
          <a:prstGeom prst="rect">
            <a:avLst/>
          </a:prstGeom>
          <a:solidFill>
            <a:srgbClr val="FF4757"/>
          </a:solidFill>
          <a:ln w="12700">
            <a:solidFill>
              <a:srgbClr val="FF4757"/>
            </a:solidFill>
            <a:prstDash val="solid"/>
          </a:ln>
        </p:spPr>
        <p:txBody>
          <a:bodyPr/>
          <a:p/>
        </p:txBody>
      </p:sp>
      <p:sp>
        <p:nvSpPr>
          <p:cNvPr id="17" name="Text 15"/>
          <p:cNvSpPr/>
          <p:nvPr/>
        </p:nvSpPr>
        <p:spPr>
          <a:xfrm>
            <a:off x="1188720" y="3611880"/>
            <a:ext cx="10058400" cy="1600200"/>
          </a:xfrm>
          <a:prstGeom prst="rect">
            <a:avLst/>
          </a:prstGeom>
          <a:noFill/>
          <a:ln/>
        </p:spPr>
        <p:txBody>
          <a:bodyPr wrap="square" lIns="0" tIns="0" rIns="0" bIns="0" rtlCol="0" anchor="ctr"/>
          <a:lstStyle/>
          <a:p>
            <a:pPr indent="0" marL="0">
              <a:buNone/>
            </a:pPr>
            <a:r>
              <a:rPr lang="en-US" sz="1400" b="1" dirty="0">
                <a:solidFill>
                  <a:srgbClr val="FF4757"/>
                </a:solidFill>
                <a:latin typeface="Palatino Linotype" pitchFamily="34" charset="0"/>
                <a:ea typeface="Palatino Linotype" pitchFamily="34" charset="-122"/>
                <a:cs typeface="Palatino Linotype" pitchFamily="34" charset="-120"/>
              </a:rPr>
              <a:t>Definiția clasică a lui Winslow, din 1920</a:t>
            </a:r>
            <a:endParaRPr lang="en-US" sz="1400" dirty="0"/>
          </a:p>
          <a:p>
            <a:pPr indent="0" marL="0">
              <a:buNone/>
            </a:pPr>
            <a:r>
              <a:rPr lang="en-US" sz="2100" i="1" dirty="0">
                <a:solidFill>
                  <a:srgbClr val="FFFFFF"/>
                </a:solidFill>
                <a:latin typeface="Palatino Linotype" pitchFamily="34" charset="0"/>
                <a:ea typeface="Palatino Linotype" pitchFamily="34" charset="-122"/>
                <a:cs typeface="Palatino Linotype" pitchFamily="34" charset="-120"/>
              </a:rPr>
              <a:t>Sănătatea publică previne boala și prelungește viața prin eforturile organizate ale comunității.</a:t>
            </a:r>
            <a:endParaRPr lang="en-US" sz="1400" dirty="0"/>
          </a:p>
        </p:txBody>
      </p:sp>
      <p:sp>
        <p:nvSpPr>
          <p:cNvPr id="18" name="Text 16"/>
          <p:cNvSpPr/>
          <p:nvPr/>
        </p:nvSpPr>
        <p:spPr>
          <a:xfrm>
            <a:off x="594360" y="5486400"/>
            <a:ext cx="10972800" cy="45720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La aceste întrebări veți răspunde, pentru tema voastră, în seminariile următoare.</a:t>
            </a:r>
            <a:endParaRPr lang="en-US" sz="1700" dirty="0"/>
          </a:p>
        </p:txBody>
      </p:sp>
      <p:sp>
        <p:nvSpPr>
          <p:cNvPr id="19" name="Text 17"/>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Winslow CEA. The untilled fields of public health. Science 1920;51(1306):23–33, p. 30.</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 DOUĂ MINUTE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 SINGUR NUMĂR PE ECRAN</a:t>
            </a:r>
            <a:endParaRPr lang="en-US" sz="1300" dirty="0"/>
          </a:p>
        </p:txBody>
      </p:sp>
      <p:sp>
        <p:nvSpPr>
          <p:cNvPr id="5" name="Text 3"/>
          <p:cNvSpPr/>
          <p:nvPr/>
        </p:nvSpPr>
        <p:spPr>
          <a:xfrm>
            <a:off x="594360" y="1371600"/>
            <a:ext cx="7498080" cy="2926080"/>
          </a:xfrm>
          <a:prstGeom prst="rect">
            <a:avLst/>
          </a:prstGeom>
          <a:noFill/>
          <a:ln/>
        </p:spPr>
        <p:txBody>
          <a:bodyPr wrap="square" lIns="0" tIns="0" rIns="0" bIns="0" rtlCol="0" anchor="ctr"/>
          <a:lstStyle/>
          <a:p>
            <a:pPr indent="0" marL="0">
              <a:buNone/>
            </a:pPr>
            <a:r>
              <a:rPr lang="en-US" sz="19000" b="1" dirty="0">
                <a:solidFill>
                  <a:srgbClr val="FF4757"/>
                </a:solidFill>
                <a:latin typeface="Palatino Linotype" pitchFamily="34" charset="0"/>
                <a:ea typeface="Palatino Linotype" pitchFamily="34" charset="-122"/>
                <a:cs typeface="Palatino Linotype" pitchFamily="34" charset="-120"/>
              </a:rPr>
              <a:t>75,5</a:t>
            </a:r>
            <a:endParaRPr lang="en-US" sz="19000" dirty="0"/>
          </a:p>
        </p:txBody>
      </p:sp>
      <p:sp>
        <p:nvSpPr>
          <p:cNvPr id="6" name="Text 4"/>
          <p:cNvSpPr/>
          <p:nvPr/>
        </p:nvSpPr>
        <p:spPr>
          <a:xfrm>
            <a:off x="594360" y="4434840"/>
            <a:ext cx="7315200" cy="731520"/>
          </a:xfrm>
          <a:prstGeom prst="rect">
            <a:avLst/>
          </a:prstGeom>
          <a:noFill/>
          <a:ln/>
        </p:spPr>
        <p:txBody>
          <a:bodyPr wrap="square" lIns="0" tIns="0" rIns="0" bIns="0" rtlCol="0" anchor="t"/>
          <a:lstStyle/>
          <a:p>
            <a:pPr indent="0" marL="0">
              <a:buNone/>
            </a:pPr>
            <a:r>
              <a:rPr lang="en-US" sz="3800" b="1" dirty="0">
                <a:solidFill>
                  <a:srgbClr val="FFFFFF"/>
                </a:solidFill>
                <a:latin typeface="Palatino Linotype" pitchFamily="34" charset="0"/>
                <a:ea typeface="Palatino Linotype" pitchFamily="34" charset="-122"/>
                <a:cs typeface="Palatino Linotype" pitchFamily="34" charset="-120"/>
              </a:rPr>
              <a:t>Ce lipsește?</a:t>
            </a:r>
            <a:endParaRPr lang="en-US" sz="3800" dirty="0"/>
          </a:p>
        </p:txBody>
      </p:sp>
      <p:sp>
        <p:nvSpPr>
          <p:cNvPr id="7" name="Text 5"/>
          <p:cNvSpPr/>
          <p:nvPr/>
        </p:nvSpPr>
        <p:spPr>
          <a:xfrm>
            <a:off x="594360" y="5212080"/>
            <a:ext cx="7498080" cy="914400"/>
          </a:xfrm>
          <a:prstGeom prst="rect">
            <a:avLst/>
          </a:prstGeom>
          <a:noFill/>
          <a:ln/>
        </p:spPr>
        <p:txBody>
          <a:bodyPr wrap="square" lIns="0" tIns="0" rIns="0" bIns="0" rtlCol="0" anchor="t"/>
          <a:lstStyle/>
          <a:p>
            <a:pPr indent="0" marL="0">
              <a:buNone/>
            </a:pPr>
            <a:r>
              <a:rPr lang="en-US" sz="1700" dirty="0">
                <a:solidFill>
                  <a:srgbClr val="959BB0"/>
                </a:solidFill>
                <a:latin typeface="Palatino Linotype" pitchFamily="34" charset="0"/>
                <a:ea typeface="Palatino Linotype" pitchFamily="34" charset="-122"/>
                <a:cs typeface="Palatino Linotype" pitchFamily="34" charset="-120"/>
              </a:rPr>
              <a:t>Spusă singură, o cifră nu spune aproape nimic: într-un ziar, pe o rețea socială sau într-un document oficial, cine o poate verifica?</a:t>
            </a:r>
            <a:endParaRPr lang="en-US" sz="1700" dirty="0"/>
          </a:p>
        </p:txBody>
      </p:sp>
      <p:sp>
        <p:nvSpPr>
          <p:cNvPr id="8" name="Shape 6"/>
          <p:cNvSpPr/>
          <p:nvPr/>
        </p:nvSpPr>
        <p:spPr>
          <a:xfrm>
            <a:off x="8503920" y="1828800"/>
            <a:ext cx="3063240" cy="3108960"/>
          </a:xfrm>
          <a:prstGeom prst="roundRect">
            <a:avLst>
              <a:gd name="adj" fmla="val 2687"/>
            </a:avLst>
          </a:prstGeom>
          <a:solidFill>
            <a:srgbClr val="1D1F2B"/>
          </a:solidFill>
          <a:ln w="12700">
            <a:solidFill>
              <a:srgbClr val="1D1F2B"/>
            </a:solidFill>
            <a:prstDash val="solid"/>
          </a:ln>
        </p:spPr>
        <p:txBody>
          <a:bodyPr/>
          <a:p/>
        </p:txBody>
      </p:sp>
      <p:sp>
        <p:nvSpPr>
          <p:cNvPr id="9" name="Text 7"/>
          <p:cNvSpPr/>
          <p:nvPr/>
        </p:nvSpPr>
        <p:spPr>
          <a:xfrm>
            <a:off x="8778240" y="1828800"/>
            <a:ext cx="2560320" cy="3108960"/>
          </a:xfrm>
          <a:prstGeom prst="rect">
            <a:avLst/>
          </a:prstGeom>
          <a:noFill/>
          <a:ln/>
        </p:spPr>
        <p:txBody>
          <a:bodyPr wrap="square" lIns="0" tIns="0" rIns="0" bIns="0" rtlCol="0" anchor="ctr"/>
          <a:lstStyle/>
          <a:p>
            <a:pPr indent="0" marL="0">
              <a:buNone/>
            </a:pPr>
            <a:r>
              <a:rPr lang="en-US" sz="1800" dirty="0">
                <a:solidFill>
                  <a:srgbClr val="FFFFFF"/>
                </a:solidFill>
                <a:latin typeface="Palatino Linotype" pitchFamily="34" charset="0"/>
                <a:ea typeface="Palatino Linotype" pitchFamily="34" charset="-122"/>
                <a:cs typeface="Palatino Linotype" pitchFamily="34" charset="-120"/>
              </a:rPr>
              <a:t>Notați în perechi tot ce ați vrea să știți despre cifră, înainte să o credeți.</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REGULA DE LUCRU A PROIECTULUI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Cifra cu patru etichete</a:t>
            </a:r>
            <a:endParaRPr lang="en-US" sz="3200" dirty="0"/>
          </a:p>
        </p:txBody>
      </p:sp>
      <p:sp>
        <p:nvSpPr>
          <p:cNvPr id="4" name="Shape 2"/>
          <p:cNvSpPr/>
          <p:nvPr/>
        </p:nvSpPr>
        <p:spPr>
          <a:xfrm>
            <a:off x="594360" y="1554480"/>
            <a:ext cx="10972800" cy="1417320"/>
          </a:xfrm>
          <a:prstGeom prst="roundRect">
            <a:avLst>
              <a:gd name="adj" fmla="val 5806"/>
            </a:avLst>
          </a:prstGeom>
          <a:solidFill>
            <a:srgbClr val="11121A"/>
          </a:solidFill>
          <a:ln w="12700">
            <a:solidFill>
              <a:srgbClr val="11121A"/>
            </a:solidFill>
            <a:prstDash val="solid"/>
          </a:ln>
        </p:spPr>
        <p:txBody>
          <a:bodyPr/>
          <a:p/>
        </p:txBody>
      </p:sp>
      <p:sp>
        <p:nvSpPr>
          <p:cNvPr id="5" name="Text 3"/>
          <p:cNvSpPr/>
          <p:nvPr/>
        </p:nvSpPr>
        <p:spPr>
          <a:xfrm>
            <a:off x="868680" y="1554480"/>
            <a:ext cx="10424160" cy="1417320"/>
          </a:xfrm>
          <a:prstGeom prst="rect">
            <a:avLst/>
          </a:prstGeom>
          <a:noFill/>
          <a:ln/>
        </p:spPr>
        <p:txBody>
          <a:bodyPr wrap="square" lIns="0" tIns="0" rIns="0" bIns="0" rtlCol="0" anchor="ctr"/>
          <a:lstStyle/>
          <a:p>
            <a:pPr indent="0" marL="0">
              <a:buNone/>
            </a:pPr>
            <a:r>
              <a:rPr lang="en-US" sz="2300" b="1" dirty="0">
                <a:solidFill>
                  <a:srgbClr val="FFC24B"/>
                </a:solidFill>
                <a:latin typeface="Palatino Linotype" pitchFamily="34" charset="0"/>
                <a:ea typeface="Palatino Linotype" pitchFamily="34" charset="-122"/>
                <a:cs typeface="Palatino Linotype" pitchFamily="34" charset="-120"/>
              </a:rPr>
              <a:t>În 2024</a:t>
            </a:r>
            <a:pPr indent="0" marL="0">
              <a:buNone/>
            </a:pPr>
            <a:r>
              <a:rPr lang="en-US" sz="2300" dirty="0">
                <a:solidFill>
                  <a:srgbClr val="FFFFFF"/>
                </a:solidFill>
                <a:latin typeface="Palatino Linotype" pitchFamily="34" charset="0"/>
                <a:ea typeface="Palatino Linotype" pitchFamily="34" charset="-122"/>
                <a:cs typeface="Palatino Linotype" pitchFamily="34" charset="-120"/>
              </a:rPr>
              <a:t>, </a:t>
            </a:r>
            <a:pPr indent="0" marL="0">
              <a:buNone/>
            </a:pPr>
            <a:r>
              <a:rPr lang="en-US" sz="2300" b="1" dirty="0">
                <a:solidFill>
                  <a:srgbClr val="27D3BE"/>
                </a:solidFill>
                <a:latin typeface="Palatino Linotype" pitchFamily="34" charset="0"/>
                <a:ea typeface="Palatino Linotype" pitchFamily="34" charset="-122"/>
                <a:cs typeface="Palatino Linotype" pitchFamily="34" charset="-120"/>
              </a:rPr>
              <a:t>speranța de viață la naștere</a:t>
            </a:r>
            <a:pPr indent="0" marL="0">
              <a:buNone/>
            </a:pPr>
            <a:r>
              <a:rPr lang="en-US" sz="2300" dirty="0">
                <a:solidFill>
                  <a:srgbClr val="FFFFFF"/>
                </a:solidFill>
                <a:latin typeface="Palatino Linotype" pitchFamily="34" charset="0"/>
                <a:ea typeface="Palatino Linotype" pitchFamily="34" charset="-122"/>
                <a:cs typeface="Palatino Linotype" pitchFamily="34" charset="-120"/>
              </a:rPr>
              <a:t> </a:t>
            </a:r>
            <a:pPr indent="0" marL="0">
              <a:buNone/>
            </a:pPr>
            <a:r>
              <a:rPr lang="en-US" sz="2300" b="1" dirty="0">
                <a:solidFill>
                  <a:srgbClr val="FF8A93"/>
                </a:solidFill>
                <a:latin typeface="Palatino Linotype" pitchFamily="34" charset="0"/>
                <a:ea typeface="Palatino Linotype" pitchFamily="34" charset="-122"/>
                <a:cs typeface="Palatino Linotype" pitchFamily="34" charset="-120"/>
              </a:rPr>
              <a:t>în regiunea Nord-Est</a:t>
            </a:r>
            <a:pPr indent="0" marL="0">
              <a:buNone/>
            </a:pPr>
            <a:r>
              <a:rPr lang="en-US" sz="2300" dirty="0">
                <a:solidFill>
                  <a:srgbClr val="FFFFFF"/>
                </a:solidFill>
                <a:latin typeface="Palatino Linotype" pitchFamily="34" charset="0"/>
                <a:ea typeface="Palatino Linotype" pitchFamily="34" charset="-122"/>
                <a:cs typeface="Palatino Linotype" pitchFamily="34" charset="-120"/>
              </a:rPr>
              <a:t> a fost de 75,5 ani (valoare estimată), potrivit </a:t>
            </a:r>
            <a:pPr indent="0" marL="0">
              <a:buNone/>
            </a:pPr>
            <a:r>
              <a:rPr lang="en-US" sz="2300" b="1" dirty="0">
                <a:solidFill>
                  <a:srgbClr val="B9A5FF"/>
                </a:solidFill>
                <a:latin typeface="Palatino Linotype" pitchFamily="34" charset="0"/>
                <a:ea typeface="Palatino Linotype" pitchFamily="34" charset="-122"/>
                <a:cs typeface="Palatino Linotype" pitchFamily="34" charset="-120"/>
              </a:rPr>
              <a:t>Eurostat, setul demo_r_mlifexp</a:t>
            </a:r>
            <a:pPr indent="0" marL="0">
              <a:buNone/>
            </a:pPr>
            <a:r>
              <a:rPr lang="en-US" sz="2300" dirty="0">
                <a:solidFill>
                  <a:srgbClr val="FFFFFF"/>
                </a:solidFill>
                <a:latin typeface="Palatino Linotype" pitchFamily="34" charset="0"/>
                <a:ea typeface="Palatino Linotype" pitchFamily="34" charset="-122"/>
                <a:cs typeface="Palatino Linotype" pitchFamily="34" charset="-120"/>
              </a:rPr>
              <a:t>.</a:t>
            </a:r>
            <a:endParaRPr lang="en-US" sz="2300" dirty="0"/>
          </a:p>
        </p:txBody>
      </p:sp>
      <p:sp>
        <p:nvSpPr>
          <p:cNvPr id="6" name="Shape 4"/>
          <p:cNvSpPr/>
          <p:nvPr/>
        </p:nvSpPr>
        <p:spPr>
          <a:xfrm>
            <a:off x="594360" y="3291840"/>
            <a:ext cx="2651760" cy="2468880"/>
          </a:xfrm>
          <a:prstGeom prst="roundRect">
            <a:avLst>
              <a:gd name="adj" fmla="val 3333"/>
            </a:avLst>
          </a:prstGeom>
          <a:solidFill>
            <a:srgbClr val="ECEAE4"/>
          </a:solidFill>
          <a:ln w="12700">
            <a:solidFill>
              <a:srgbClr val="ECEAE4"/>
            </a:solidFill>
            <a:prstDash val="solid"/>
          </a:ln>
        </p:spPr>
        <p:txBody>
          <a:bodyPr/>
          <a:p/>
        </p:txBody>
      </p:sp>
      <p:sp>
        <p:nvSpPr>
          <p:cNvPr id="7" name="Shape 5"/>
          <p:cNvSpPr/>
          <p:nvPr/>
        </p:nvSpPr>
        <p:spPr>
          <a:xfrm>
            <a:off x="594360" y="3291840"/>
            <a:ext cx="2651760" cy="91440"/>
          </a:xfrm>
          <a:prstGeom prst="rect">
            <a:avLst/>
          </a:prstGeom>
          <a:solidFill>
            <a:srgbClr val="4A2D8C"/>
          </a:solidFill>
          <a:ln w="12700">
            <a:solidFill>
              <a:srgbClr val="4A2D8C"/>
            </a:solidFill>
            <a:prstDash val="solid"/>
          </a:ln>
        </p:spPr>
        <p:txBody>
          <a:bodyPr/>
          <a:p/>
        </p:txBody>
      </p:sp>
      <p:sp>
        <p:nvSpPr>
          <p:cNvPr id="8" name="Shape 6"/>
          <p:cNvSpPr/>
          <p:nvPr/>
        </p:nvSpPr>
        <p:spPr>
          <a:xfrm>
            <a:off x="822960" y="3566160"/>
            <a:ext cx="457200" cy="457200"/>
          </a:xfrm>
          <a:prstGeom prst="ellipse">
            <a:avLst/>
          </a:prstGeom>
          <a:solidFill>
            <a:srgbClr val="4A2D8C"/>
          </a:solidFill>
          <a:ln/>
        </p:spPr>
        <p:txBody>
          <a:bodyPr/>
          <a:p/>
        </p:txBody>
      </p:sp>
      <p:sp>
        <p:nvSpPr>
          <p:cNvPr id="9" name="Text 7"/>
          <p:cNvSpPr/>
          <p:nvPr/>
        </p:nvSpPr>
        <p:spPr>
          <a:xfrm>
            <a:off x="82296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10" name="Text 8"/>
          <p:cNvSpPr/>
          <p:nvPr/>
        </p:nvSpPr>
        <p:spPr>
          <a:xfrm>
            <a:off x="822960" y="4114800"/>
            <a:ext cx="2286000" cy="457200"/>
          </a:xfrm>
          <a:prstGeom prst="rect">
            <a:avLst/>
          </a:prstGeom>
          <a:noFill/>
          <a:ln/>
        </p:spPr>
        <p:txBody>
          <a:bodyPr wrap="square" lIns="0" tIns="0" rIns="0" bIns="0" rtlCol="0" anchor="t"/>
          <a:lstStyle/>
          <a:p>
            <a:pPr indent="0" marL="0">
              <a:buNone/>
            </a:pPr>
            <a:r>
              <a:rPr lang="en-US" sz="1900" b="1" dirty="0">
                <a:solidFill>
                  <a:srgbClr val="4A2D8C"/>
                </a:solidFill>
                <a:latin typeface="Palatino Linotype" pitchFamily="34" charset="0"/>
                <a:ea typeface="Palatino Linotype" pitchFamily="34" charset="-122"/>
                <a:cs typeface="Palatino Linotype" pitchFamily="34" charset="-120"/>
              </a:rPr>
              <a:t>Sursa</a:t>
            </a:r>
            <a:endParaRPr lang="en-US" sz="1900" dirty="0"/>
          </a:p>
        </p:txBody>
      </p:sp>
      <p:sp>
        <p:nvSpPr>
          <p:cNvPr id="11" name="Text 9"/>
          <p:cNvSpPr/>
          <p:nvPr/>
        </p:nvSpPr>
        <p:spPr>
          <a:xfrm>
            <a:off x="822960" y="4617720"/>
            <a:ext cx="2240280" cy="10972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Cine a publicat cifra și unde o găsește oricine?</a:t>
            </a:r>
            <a:endParaRPr lang="en-US" sz="1450" dirty="0"/>
          </a:p>
        </p:txBody>
      </p:sp>
      <p:sp>
        <p:nvSpPr>
          <p:cNvPr id="12" name="Shape 10"/>
          <p:cNvSpPr/>
          <p:nvPr/>
        </p:nvSpPr>
        <p:spPr>
          <a:xfrm>
            <a:off x="3383280" y="3291840"/>
            <a:ext cx="2651760" cy="2468880"/>
          </a:xfrm>
          <a:prstGeom prst="roundRect">
            <a:avLst>
              <a:gd name="adj" fmla="val 3333"/>
            </a:avLst>
          </a:prstGeom>
          <a:solidFill>
            <a:srgbClr val="ECEAE4"/>
          </a:solidFill>
          <a:ln w="12700">
            <a:solidFill>
              <a:srgbClr val="ECEAE4"/>
            </a:solidFill>
            <a:prstDash val="solid"/>
          </a:ln>
        </p:spPr>
        <p:txBody>
          <a:bodyPr/>
          <a:p/>
        </p:txBody>
      </p:sp>
      <p:sp>
        <p:nvSpPr>
          <p:cNvPr id="13" name="Shape 11"/>
          <p:cNvSpPr/>
          <p:nvPr/>
        </p:nvSpPr>
        <p:spPr>
          <a:xfrm>
            <a:off x="3383280" y="3291840"/>
            <a:ext cx="2651760" cy="91440"/>
          </a:xfrm>
          <a:prstGeom prst="rect">
            <a:avLst/>
          </a:prstGeom>
          <a:solidFill>
            <a:srgbClr val="0E7C6B"/>
          </a:solidFill>
          <a:ln w="12700">
            <a:solidFill>
              <a:srgbClr val="0E7C6B"/>
            </a:solidFill>
            <a:prstDash val="solid"/>
          </a:ln>
        </p:spPr>
        <p:txBody>
          <a:bodyPr/>
          <a:p/>
        </p:txBody>
      </p:sp>
      <p:sp>
        <p:nvSpPr>
          <p:cNvPr id="14" name="Shape 12"/>
          <p:cNvSpPr/>
          <p:nvPr/>
        </p:nvSpPr>
        <p:spPr>
          <a:xfrm>
            <a:off x="3611880" y="3566160"/>
            <a:ext cx="457200" cy="457200"/>
          </a:xfrm>
          <a:prstGeom prst="ellipse">
            <a:avLst/>
          </a:prstGeom>
          <a:solidFill>
            <a:srgbClr val="0E7C6B"/>
          </a:solidFill>
          <a:ln/>
        </p:spPr>
        <p:txBody>
          <a:bodyPr/>
          <a:p/>
        </p:txBody>
      </p:sp>
      <p:sp>
        <p:nvSpPr>
          <p:cNvPr id="15" name="Text 13"/>
          <p:cNvSpPr/>
          <p:nvPr/>
        </p:nvSpPr>
        <p:spPr>
          <a:xfrm>
            <a:off x="361188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6" name="Text 14"/>
          <p:cNvSpPr/>
          <p:nvPr/>
        </p:nvSpPr>
        <p:spPr>
          <a:xfrm>
            <a:off x="3611880" y="4114800"/>
            <a:ext cx="2286000" cy="457200"/>
          </a:xfrm>
          <a:prstGeom prst="rect">
            <a:avLst/>
          </a:prstGeom>
          <a:noFill/>
          <a:ln/>
        </p:spPr>
        <p:txBody>
          <a:bodyPr wrap="square" lIns="0" tIns="0" rIns="0" bIns="0" rtlCol="0" anchor="t"/>
          <a:lstStyle/>
          <a:p>
            <a:pPr indent="0" marL="0">
              <a:buNone/>
            </a:pPr>
            <a:r>
              <a:rPr lang="en-US" sz="1900" b="1" dirty="0">
                <a:solidFill>
                  <a:srgbClr val="0E7C6B"/>
                </a:solidFill>
                <a:latin typeface="Palatino Linotype" pitchFamily="34" charset="0"/>
                <a:ea typeface="Palatino Linotype" pitchFamily="34" charset="-122"/>
                <a:cs typeface="Palatino Linotype" pitchFamily="34" charset="-120"/>
              </a:rPr>
              <a:t>Indicatorul</a:t>
            </a:r>
            <a:endParaRPr lang="en-US" sz="1900" dirty="0"/>
          </a:p>
        </p:txBody>
      </p:sp>
      <p:sp>
        <p:nvSpPr>
          <p:cNvPr id="17" name="Text 15"/>
          <p:cNvSpPr/>
          <p:nvPr/>
        </p:nvSpPr>
        <p:spPr>
          <a:xfrm>
            <a:off x="3611880" y="4617720"/>
            <a:ext cx="2240280" cy="10972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Ce s-a măsurat, după ce regulă?</a:t>
            </a:r>
            <a:endParaRPr lang="en-US" sz="1450" dirty="0"/>
          </a:p>
        </p:txBody>
      </p:sp>
      <p:sp>
        <p:nvSpPr>
          <p:cNvPr id="18" name="Shape 16"/>
          <p:cNvSpPr/>
          <p:nvPr/>
        </p:nvSpPr>
        <p:spPr>
          <a:xfrm>
            <a:off x="6172200" y="3291840"/>
            <a:ext cx="2651760" cy="2468880"/>
          </a:xfrm>
          <a:prstGeom prst="roundRect">
            <a:avLst>
              <a:gd name="adj" fmla="val 3333"/>
            </a:avLst>
          </a:prstGeom>
          <a:solidFill>
            <a:srgbClr val="ECEAE4"/>
          </a:solidFill>
          <a:ln w="12700">
            <a:solidFill>
              <a:srgbClr val="ECEAE4"/>
            </a:solidFill>
            <a:prstDash val="solid"/>
          </a:ln>
        </p:spPr>
        <p:txBody>
          <a:bodyPr/>
          <a:p/>
        </p:txBody>
      </p:sp>
      <p:sp>
        <p:nvSpPr>
          <p:cNvPr id="19" name="Shape 17"/>
          <p:cNvSpPr/>
          <p:nvPr/>
        </p:nvSpPr>
        <p:spPr>
          <a:xfrm>
            <a:off x="6172200" y="3291840"/>
            <a:ext cx="2651760" cy="91440"/>
          </a:xfrm>
          <a:prstGeom prst="rect">
            <a:avLst/>
          </a:prstGeom>
          <a:solidFill>
            <a:srgbClr val="8A6100"/>
          </a:solidFill>
          <a:ln w="12700">
            <a:solidFill>
              <a:srgbClr val="8A6100"/>
            </a:solidFill>
            <a:prstDash val="solid"/>
          </a:ln>
        </p:spPr>
        <p:txBody>
          <a:bodyPr/>
          <a:p/>
        </p:txBody>
      </p:sp>
      <p:sp>
        <p:nvSpPr>
          <p:cNvPr id="20" name="Shape 18"/>
          <p:cNvSpPr/>
          <p:nvPr/>
        </p:nvSpPr>
        <p:spPr>
          <a:xfrm>
            <a:off x="6400800" y="3566160"/>
            <a:ext cx="457200" cy="457200"/>
          </a:xfrm>
          <a:prstGeom prst="ellipse">
            <a:avLst/>
          </a:prstGeom>
          <a:solidFill>
            <a:srgbClr val="8A6100"/>
          </a:solidFill>
          <a:ln/>
        </p:spPr>
        <p:txBody>
          <a:bodyPr/>
          <a:p/>
        </p:txBody>
      </p:sp>
      <p:sp>
        <p:nvSpPr>
          <p:cNvPr id="21" name="Text 19"/>
          <p:cNvSpPr/>
          <p:nvPr/>
        </p:nvSpPr>
        <p:spPr>
          <a:xfrm>
            <a:off x="640080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2" name="Text 20"/>
          <p:cNvSpPr/>
          <p:nvPr/>
        </p:nvSpPr>
        <p:spPr>
          <a:xfrm>
            <a:off x="6400800" y="4114800"/>
            <a:ext cx="2286000" cy="457200"/>
          </a:xfrm>
          <a:prstGeom prst="rect">
            <a:avLst/>
          </a:prstGeom>
          <a:noFill/>
          <a:ln/>
        </p:spPr>
        <p:txBody>
          <a:bodyPr wrap="square" lIns="0" tIns="0" rIns="0" bIns="0" rtlCol="0" anchor="t"/>
          <a:lstStyle/>
          <a:p>
            <a:pPr indent="0" marL="0">
              <a:buNone/>
            </a:pPr>
            <a:r>
              <a:rPr lang="en-US" sz="1900" b="1" dirty="0">
                <a:solidFill>
                  <a:srgbClr val="8A6100"/>
                </a:solidFill>
                <a:latin typeface="Palatino Linotype" pitchFamily="34" charset="0"/>
                <a:ea typeface="Palatino Linotype" pitchFamily="34" charset="-122"/>
                <a:cs typeface="Palatino Linotype" pitchFamily="34" charset="-120"/>
              </a:rPr>
              <a:t>Anul de referință</a:t>
            </a:r>
            <a:endParaRPr lang="en-US" sz="1900" dirty="0"/>
          </a:p>
        </p:txBody>
      </p:sp>
      <p:sp>
        <p:nvSpPr>
          <p:cNvPr id="23" name="Text 21"/>
          <p:cNvSpPr/>
          <p:nvPr/>
        </p:nvSpPr>
        <p:spPr>
          <a:xfrm>
            <a:off x="6400800" y="4617720"/>
            <a:ext cx="2240280" cy="10972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Anul la care se referă cifra, nu anul publicării sau al descărcării.</a:t>
            </a:r>
            <a:endParaRPr lang="en-US" sz="1450" dirty="0"/>
          </a:p>
        </p:txBody>
      </p:sp>
      <p:sp>
        <p:nvSpPr>
          <p:cNvPr id="24" name="Shape 22"/>
          <p:cNvSpPr/>
          <p:nvPr/>
        </p:nvSpPr>
        <p:spPr>
          <a:xfrm>
            <a:off x="8961120" y="3291840"/>
            <a:ext cx="2651760" cy="2468880"/>
          </a:xfrm>
          <a:prstGeom prst="roundRect">
            <a:avLst>
              <a:gd name="adj" fmla="val 3333"/>
            </a:avLst>
          </a:prstGeom>
          <a:solidFill>
            <a:srgbClr val="ECEAE4"/>
          </a:solidFill>
          <a:ln w="12700">
            <a:solidFill>
              <a:srgbClr val="ECEAE4"/>
            </a:solidFill>
            <a:prstDash val="solid"/>
          </a:ln>
        </p:spPr>
        <p:txBody>
          <a:bodyPr/>
          <a:p/>
        </p:txBody>
      </p:sp>
      <p:sp>
        <p:nvSpPr>
          <p:cNvPr id="25" name="Shape 23"/>
          <p:cNvSpPr/>
          <p:nvPr/>
        </p:nvSpPr>
        <p:spPr>
          <a:xfrm>
            <a:off x="8961120" y="3291840"/>
            <a:ext cx="2651760" cy="91440"/>
          </a:xfrm>
          <a:prstGeom prst="rect">
            <a:avLst/>
          </a:prstGeom>
          <a:solidFill>
            <a:srgbClr val="B02532"/>
          </a:solidFill>
          <a:ln w="12700">
            <a:solidFill>
              <a:srgbClr val="B02532"/>
            </a:solidFill>
            <a:prstDash val="solid"/>
          </a:ln>
        </p:spPr>
        <p:txBody>
          <a:bodyPr/>
          <a:p/>
        </p:txBody>
      </p:sp>
      <p:sp>
        <p:nvSpPr>
          <p:cNvPr id="26" name="Shape 24"/>
          <p:cNvSpPr/>
          <p:nvPr/>
        </p:nvSpPr>
        <p:spPr>
          <a:xfrm>
            <a:off x="9189720" y="3566160"/>
            <a:ext cx="457200" cy="457200"/>
          </a:xfrm>
          <a:prstGeom prst="ellipse">
            <a:avLst/>
          </a:prstGeom>
          <a:solidFill>
            <a:srgbClr val="B02532"/>
          </a:solidFill>
          <a:ln/>
        </p:spPr>
        <p:txBody>
          <a:bodyPr/>
          <a:p/>
        </p:txBody>
      </p:sp>
      <p:sp>
        <p:nvSpPr>
          <p:cNvPr id="27" name="Text 25"/>
          <p:cNvSpPr/>
          <p:nvPr/>
        </p:nvSpPr>
        <p:spPr>
          <a:xfrm>
            <a:off x="9189720"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8" name="Text 26"/>
          <p:cNvSpPr/>
          <p:nvPr/>
        </p:nvSpPr>
        <p:spPr>
          <a:xfrm>
            <a:off x="9189720" y="4114800"/>
            <a:ext cx="2286000" cy="457200"/>
          </a:xfrm>
          <a:prstGeom prst="rect">
            <a:avLst/>
          </a:prstGeom>
          <a:noFill/>
          <a:ln/>
        </p:spPr>
        <p:txBody>
          <a:bodyPr wrap="square" lIns="0" tIns="0" rIns="0" bIns="0" rtlCol="0" anchor="t"/>
          <a:lstStyle/>
          <a:p>
            <a:pPr indent="0" marL="0">
              <a:buNone/>
            </a:pPr>
            <a:r>
              <a:rPr lang="en-US" sz="1900" b="1" dirty="0">
                <a:solidFill>
                  <a:srgbClr val="B02532"/>
                </a:solidFill>
                <a:latin typeface="Palatino Linotype" pitchFamily="34" charset="0"/>
                <a:ea typeface="Palatino Linotype" pitchFamily="34" charset="-122"/>
                <a:cs typeface="Palatino Linotype" pitchFamily="34" charset="-120"/>
              </a:rPr>
              <a:t>Nivelul teritorial</a:t>
            </a:r>
            <a:endParaRPr lang="en-US" sz="1900" dirty="0"/>
          </a:p>
        </p:txBody>
      </p:sp>
      <p:sp>
        <p:nvSpPr>
          <p:cNvPr id="29" name="Text 27"/>
          <p:cNvSpPr/>
          <p:nvPr/>
        </p:nvSpPr>
        <p:spPr>
          <a:xfrm>
            <a:off x="9189720" y="4617720"/>
            <a:ext cx="2240280" cy="1097280"/>
          </a:xfrm>
          <a:prstGeom prst="rect">
            <a:avLst/>
          </a:prstGeom>
          <a:noFill/>
          <a:ln/>
        </p:spPr>
        <p:txBody>
          <a:bodyPr wrap="square" lIns="0" tIns="0" rIns="0" bIns="0" rtlCol="0" anchor="t"/>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Pentru ce teritoriu este calculată?</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DOI TERMENI NOI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Indicatorul și nivelul teritorial</a:t>
            </a:r>
            <a:endParaRPr lang="en-US" sz="3200" dirty="0"/>
          </a:p>
        </p:txBody>
      </p:sp>
      <p:sp>
        <p:nvSpPr>
          <p:cNvPr id="4" name="Shape 2"/>
          <p:cNvSpPr/>
          <p:nvPr/>
        </p:nvSpPr>
        <p:spPr>
          <a:xfrm>
            <a:off x="594360" y="1783080"/>
            <a:ext cx="5394960" cy="4023360"/>
          </a:xfrm>
          <a:prstGeom prst="roundRect">
            <a:avLst>
              <a:gd name="adj" fmla="val 2045"/>
            </a:avLst>
          </a:prstGeom>
          <a:solidFill>
            <a:srgbClr val="1D1F2B"/>
          </a:solidFill>
          <a:ln w="12700">
            <a:solidFill>
              <a:srgbClr val="1D1F2B"/>
            </a:solidFill>
            <a:prstDash val="solid"/>
          </a:ln>
        </p:spPr>
        <p:txBody>
          <a:bodyPr/>
          <a:p/>
        </p:txBody>
      </p:sp>
      <p:sp>
        <p:nvSpPr>
          <p:cNvPr id="5" name="Shape 3"/>
          <p:cNvSpPr/>
          <p:nvPr/>
        </p:nvSpPr>
        <p:spPr>
          <a:xfrm>
            <a:off x="594360" y="1783080"/>
            <a:ext cx="5394960" cy="91440"/>
          </a:xfrm>
          <a:prstGeom prst="rect">
            <a:avLst/>
          </a:prstGeom>
          <a:solidFill>
            <a:srgbClr val="27D3BE"/>
          </a:solidFill>
          <a:ln w="12700">
            <a:solidFill>
              <a:srgbClr val="27D3BE"/>
            </a:solidFill>
            <a:prstDash val="solid"/>
          </a:ln>
        </p:spPr>
        <p:txBody>
          <a:bodyPr/>
          <a:p/>
        </p:txBody>
      </p:sp>
      <p:sp>
        <p:nvSpPr>
          <p:cNvPr id="6" name="Text 4"/>
          <p:cNvSpPr/>
          <p:nvPr/>
        </p:nvSpPr>
        <p:spPr>
          <a:xfrm>
            <a:off x="960120" y="2103120"/>
            <a:ext cx="4663440" cy="54864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Indicator</a:t>
            </a:r>
            <a:endParaRPr lang="en-US" sz="2800" dirty="0"/>
          </a:p>
        </p:txBody>
      </p:sp>
      <p:sp>
        <p:nvSpPr>
          <p:cNvPr id="7" name="Text 5"/>
          <p:cNvSpPr/>
          <p:nvPr/>
        </p:nvSpPr>
        <p:spPr>
          <a:xfrm>
            <a:off x="960120" y="2834640"/>
            <a:ext cx="4663440" cy="12344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 cifră calculată după o regulă fixă, ca media de la facultate.</a:t>
            </a:r>
            <a:endParaRPr lang="en-US" sz="1700" dirty="0"/>
          </a:p>
        </p:txBody>
      </p:sp>
      <p:sp>
        <p:nvSpPr>
          <p:cNvPr id="8" name="Shape 6"/>
          <p:cNvSpPr/>
          <p:nvPr/>
        </p:nvSpPr>
        <p:spPr>
          <a:xfrm>
            <a:off x="960120" y="4114800"/>
            <a:ext cx="4663440" cy="18288"/>
          </a:xfrm>
          <a:prstGeom prst="rect">
            <a:avLst/>
          </a:prstGeom>
          <a:solidFill>
            <a:srgbClr val="3A3E52"/>
          </a:solidFill>
          <a:ln/>
        </p:spPr>
        <p:txBody>
          <a:bodyPr/>
          <a:p/>
        </p:txBody>
      </p:sp>
      <p:sp>
        <p:nvSpPr>
          <p:cNvPr id="9" name="Text 7"/>
          <p:cNvSpPr/>
          <p:nvPr/>
        </p:nvSpPr>
        <p:spPr>
          <a:xfrm>
            <a:off x="960120" y="4297680"/>
            <a:ext cx="4663440" cy="1371600"/>
          </a:xfrm>
          <a:prstGeom prst="rect">
            <a:avLst/>
          </a:prstGeom>
          <a:noFill/>
          <a:ln/>
        </p:spPr>
        <p:txBody>
          <a:bodyPr wrap="square" lIns="0" tIns="0" rIns="0" bIns="0" rtlCol="0" anchor="t"/>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Exemplu. </a:t>
            </a:r>
            <a:pPr indent="0" marL="0">
              <a:buNone/>
            </a:pPr>
            <a:r>
              <a:rPr lang="en-US" sz="1550" dirty="0">
                <a:solidFill>
                  <a:srgbClr val="E6E8EF"/>
                </a:solidFill>
                <a:latin typeface="Palatino Linotype" pitchFamily="34" charset="0"/>
                <a:ea typeface="Palatino Linotype" pitchFamily="34" charset="-122"/>
                <a:cs typeface="Palatino Linotype" pitchFamily="34" charset="-120"/>
              </a:rPr>
              <a:t>Speranța de viață la naștere arată câți ani ar trăi în medie un nou-născut dacă riscurile de deces din acel an ar rămâne neschimbate.</a:t>
            </a:r>
            <a:endParaRPr lang="en-US" sz="1550" dirty="0"/>
          </a:p>
        </p:txBody>
      </p:sp>
      <p:sp>
        <p:nvSpPr>
          <p:cNvPr id="10" name="Shape 8"/>
          <p:cNvSpPr/>
          <p:nvPr/>
        </p:nvSpPr>
        <p:spPr>
          <a:xfrm>
            <a:off x="6172200" y="1783080"/>
            <a:ext cx="5394960" cy="4023360"/>
          </a:xfrm>
          <a:prstGeom prst="roundRect">
            <a:avLst>
              <a:gd name="adj" fmla="val 2045"/>
            </a:avLst>
          </a:prstGeom>
          <a:solidFill>
            <a:srgbClr val="1D1F2B"/>
          </a:solidFill>
          <a:ln w="12700">
            <a:solidFill>
              <a:srgbClr val="1D1F2B"/>
            </a:solidFill>
            <a:prstDash val="solid"/>
          </a:ln>
        </p:spPr>
        <p:txBody>
          <a:bodyPr/>
          <a:p/>
        </p:txBody>
      </p:sp>
      <p:sp>
        <p:nvSpPr>
          <p:cNvPr id="11" name="Shape 9"/>
          <p:cNvSpPr/>
          <p:nvPr/>
        </p:nvSpPr>
        <p:spPr>
          <a:xfrm>
            <a:off x="6172200" y="1783080"/>
            <a:ext cx="5394960" cy="91440"/>
          </a:xfrm>
          <a:prstGeom prst="rect">
            <a:avLst/>
          </a:prstGeom>
          <a:solidFill>
            <a:srgbClr val="FF4757"/>
          </a:solidFill>
          <a:ln w="12700">
            <a:solidFill>
              <a:srgbClr val="FF4757"/>
            </a:solidFill>
            <a:prstDash val="solid"/>
          </a:ln>
        </p:spPr>
        <p:txBody>
          <a:bodyPr/>
          <a:p/>
        </p:txBody>
      </p:sp>
      <p:sp>
        <p:nvSpPr>
          <p:cNvPr id="12" name="Text 10"/>
          <p:cNvSpPr/>
          <p:nvPr/>
        </p:nvSpPr>
        <p:spPr>
          <a:xfrm>
            <a:off x="6537960" y="2103120"/>
            <a:ext cx="4663440" cy="548640"/>
          </a:xfrm>
          <a:prstGeom prst="rect">
            <a:avLst/>
          </a:prstGeom>
          <a:noFill/>
          <a:ln/>
        </p:spPr>
        <p:txBody>
          <a:bodyPr wrap="square" lIns="0" tIns="0" rIns="0" bIns="0" rtlCol="0" anchor="t"/>
          <a:lstStyle/>
          <a:p>
            <a:pPr indent="0" marL="0">
              <a:buNone/>
            </a:pPr>
            <a:r>
              <a:rPr lang="en-US" sz="2800" b="1" dirty="0">
                <a:solidFill>
                  <a:srgbClr val="FF4757"/>
                </a:solidFill>
                <a:latin typeface="Palatino Linotype" pitchFamily="34" charset="0"/>
                <a:ea typeface="Palatino Linotype" pitchFamily="34" charset="-122"/>
                <a:cs typeface="Palatino Linotype" pitchFamily="34" charset="-120"/>
              </a:rPr>
              <a:t>Nivel teritorial</a:t>
            </a:r>
            <a:endParaRPr lang="en-US" sz="2800" dirty="0"/>
          </a:p>
        </p:txBody>
      </p:sp>
      <p:sp>
        <p:nvSpPr>
          <p:cNvPr id="13" name="Text 11"/>
          <p:cNvSpPr/>
          <p:nvPr/>
        </p:nvSpPr>
        <p:spPr>
          <a:xfrm>
            <a:off x="6537960" y="2834640"/>
            <a:ext cx="4663440" cy="12344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Pentru ce bucată de hartă este calculată cifra.</a:t>
            </a:r>
            <a:endParaRPr lang="en-US" sz="1700" dirty="0"/>
          </a:p>
        </p:txBody>
      </p:sp>
      <p:sp>
        <p:nvSpPr>
          <p:cNvPr id="14" name="Shape 12"/>
          <p:cNvSpPr/>
          <p:nvPr/>
        </p:nvSpPr>
        <p:spPr>
          <a:xfrm>
            <a:off x="6537960" y="4114800"/>
            <a:ext cx="4663440" cy="18288"/>
          </a:xfrm>
          <a:prstGeom prst="rect">
            <a:avLst/>
          </a:prstGeom>
          <a:solidFill>
            <a:srgbClr val="3A3E52"/>
          </a:solidFill>
          <a:ln/>
        </p:spPr>
        <p:txBody>
          <a:bodyPr/>
          <a:p/>
        </p:txBody>
      </p:sp>
      <p:sp>
        <p:nvSpPr>
          <p:cNvPr id="15" name="Text 13"/>
          <p:cNvSpPr/>
          <p:nvPr/>
        </p:nvSpPr>
        <p:spPr>
          <a:xfrm>
            <a:off x="6537960" y="4297680"/>
            <a:ext cx="4663440" cy="1371600"/>
          </a:xfrm>
          <a:prstGeom prst="rect">
            <a:avLst/>
          </a:prstGeom>
          <a:noFill/>
          <a:ln/>
        </p:spPr>
        <p:txBody>
          <a:bodyPr wrap="square" lIns="0" tIns="0" rIns="0" bIns="0" rtlCol="0" anchor="t"/>
          <a:lstStyle/>
          <a:p>
            <a:pPr indent="0" marL="0">
              <a:buNone/>
            </a:pPr>
            <a:r>
              <a:rPr lang="en-US" sz="1550" b="1" dirty="0">
                <a:solidFill>
                  <a:srgbClr val="FF4757"/>
                </a:solidFill>
                <a:latin typeface="Palatino Linotype" pitchFamily="34" charset="0"/>
                <a:ea typeface="Palatino Linotype" pitchFamily="34" charset="-122"/>
                <a:cs typeface="Palatino Linotype" pitchFamily="34" charset="-120"/>
              </a:rPr>
              <a:t>Exemplu. </a:t>
            </a:r>
            <a:pPr indent="0" marL="0">
              <a:buNone/>
            </a:pPr>
            <a:r>
              <a:rPr lang="en-US" sz="1550" dirty="0">
                <a:solidFill>
                  <a:srgbClr val="E6E8EF"/>
                </a:solidFill>
                <a:latin typeface="Palatino Linotype" pitchFamily="34" charset="0"/>
                <a:ea typeface="Palatino Linotype" pitchFamily="34" charset="-122"/>
                <a:cs typeface="Palatino Linotype" pitchFamily="34" charset="-120"/>
              </a:rPr>
              <a:t>Regiunea București-Ilfov cuprinde municipiul București și județul Ilfov: cifra ei nu este cifra orașului.</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ȘI DOUĂ TABERE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120000">
            <a:off x="822960" y="1325880"/>
            <a:ext cx="6035040" cy="434340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6" name="Text 4"/>
          <p:cNvSpPr/>
          <p:nvPr/>
        </p:nvSpPr>
        <p:spPr>
          <a:xfrm rot="-120000">
            <a:off x="1188720" y="1600200"/>
            <a:ext cx="5303520" cy="274320"/>
          </a:xfrm>
          <a:prstGeom prst="rect">
            <a:avLst/>
          </a:prstGeom>
          <a:noFill/>
          <a:ln/>
        </p:spPr>
        <p:txBody>
          <a:bodyPr wrap="square" lIns="0" tIns="0" rIns="0" bIns="0" rtlCol="0" anchor="t"/>
          <a:lstStyle/>
          <a:p>
            <a:pPr indent="0" marL="0">
              <a:buNone/>
            </a:pPr>
            <a:r>
              <a:rPr lang="en-US" sz="1100" b="1" spc="200" kern="0" dirty="0">
                <a:solidFill>
                  <a:srgbClr val="B02532"/>
                </a:solidFill>
                <a:latin typeface="Palatino Linotype" pitchFamily="34" charset="0"/>
                <a:ea typeface="Palatino Linotype" pitchFamily="34" charset="-122"/>
                <a:cs typeface="Palatino Linotype" pitchFamily="34" charset="-120"/>
              </a:rPr>
              <a:t>ȘTIRI · TITLU CONSTRUIT PENTRU EXERCIȚIU</a:t>
            </a:r>
            <a:endParaRPr lang="en-US" sz="1100" dirty="0"/>
          </a:p>
        </p:txBody>
      </p:sp>
      <p:sp>
        <p:nvSpPr>
          <p:cNvPr id="7" name="Shape 5"/>
          <p:cNvSpPr/>
          <p:nvPr/>
        </p:nvSpPr>
        <p:spPr>
          <a:xfrm rot="-120000">
            <a:off x="1188720" y="1965960"/>
            <a:ext cx="5303520" cy="18288"/>
          </a:xfrm>
          <a:prstGeom prst="rect">
            <a:avLst/>
          </a:prstGeom>
          <a:solidFill>
            <a:srgbClr val="11121A"/>
          </a:solidFill>
          <a:ln/>
        </p:spPr>
        <p:txBody>
          <a:bodyPr/>
          <a:p/>
        </p:txBody>
      </p:sp>
      <p:sp>
        <p:nvSpPr>
          <p:cNvPr id="8" name="Text 6"/>
          <p:cNvSpPr/>
          <p:nvPr/>
        </p:nvSpPr>
        <p:spPr>
          <a:xfrm rot="-120000">
            <a:off x="1188720" y="2148840"/>
            <a:ext cx="5303520" cy="1737360"/>
          </a:xfrm>
          <a:prstGeom prst="rect">
            <a:avLst/>
          </a:prstGeom>
          <a:noFill/>
          <a:ln/>
        </p:spPr>
        <p:txBody>
          <a:bodyPr wrap="square" lIns="0" tIns="0" rIns="0" bIns="0" rtlCol="0" anchor="t"/>
          <a:lstStyle/>
          <a:p>
            <a:pPr indent="0" marL="0">
              <a:buNone/>
            </a:pPr>
            <a:r>
              <a:rPr lang="en-US" sz="3600" b="1" dirty="0">
                <a:solidFill>
                  <a:srgbClr val="11121A"/>
                </a:solidFill>
                <a:latin typeface="Palatino Linotype" pitchFamily="34" charset="0"/>
                <a:ea typeface="Palatino Linotype" pitchFamily="34" charset="-122"/>
                <a:cs typeface="Palatino Linotype" pitchFamily="34" charset="-120"/>
              </a:rPr>
              <a:t>Bucureștenii trăiesc cel mai mult din țară</a:t>
            </a:r>
            <a:endParaRPr lang="en-US" sz="3600" dirty="0"/>
          </a:p>
        </p:txBody>
      </p:sp>
      <p:sp>
        <p:nvSpPr>
          <p:cNvPr id="9" name="Shape 7"/>
          <p:cNvSpPr/>
          <p:nvPr/>
        </p:nvSpPr>
        <p:spPr>
          <a:xfrm rot="-120000">
            <a:off x="1188720" y="4069080"/>
            <a:ext cx="5303520" cy="91440"/>
          </a:xfrm>
          <a:prstGeom prst="rect">
            <a:avLst/>
          </a:prstGeom>
          <a:solidFill>
            <a:srgbClr val="D9D5CA"/>
          </a:solidFill>
          <a:ln/>
        </p:spPr>
        <p:txBody>
          <a:bodyPr/>
          <a:p/>
        </p:txBody>
      </p:sp>
      <p:sp>
        <p:nvSpPr>
          <p:cNvPr id="10" name="Shape 8"/>
          <p:cNvSpPr/>
          <p:nvPr/>
        </p:nvSpPr>
        <p:spPr>
          <a:xfrm rot="-120000">
            <a:off x="1188720" y="4389120"/>
            <a:ext cx="5303520" cy="91440"/>
          </a:xfrm>
          <a:prstGeom prst="rect">
            <a:avLst/>
          </a:prstGeom>
          <a:solidFill>
            <a:srgbClr val="D9D5CA"/>
          </a:solidFill>
          <a:ln/>
        </p:spPr>
        <p:txBody>
          <a:bodyPr/>
          <a:p/>
        </p:txBody>
      </p:sp>
      <p:sp>
        <p:nvSpPr>
          <p:cNvPr id="11" name="Shape 9"/>
          <p:cNvSpPr/>
          <p:nvPr/>
        </p:nvSpPr>
        <p:spPr>
          <a:xfrm rot="-120000">
            <a:off x="1188720" y="4709160"/>
            <a:ext cx="5303520" cy="91440"/>
          </a:xfrm>
          <a:prstGeom prst="rect">
            <a:avLst/>
          </a:prstGeom>
          <a:solidFill>
            <a:srgbClr val="D9D5CA"/>
          </a:solidFill>
          <a:ln/>
        </p:spPr>
        <p:txBody>
          <a:bodyPr/>
          <a:p/>
        </p:txBody>
      </p:sp>
      <p:sp>
        <p:nvSpPr>
          <p:cNvPr id="12" name="Shape 10"/>
          <p:cNvSpPr/>
          <p:nvPr/>
        </p:nvSpPr>
        <p:spPr>
          <a:xfrm rot="-120000">
            <a:off x="1188720" y="5029200"/>
            <a:ext cx="2743200" cy="91440"/>
          </a:xfrm>
          <a:prstGeom prst="rect">
            <a:avLst/>
          </a:prstGeom>
          <a:solidFill>
            <a:srgbClr val="D9D5CA"/>
          </a:solidFill>
          <a:ln/>
        </p:spPr>
        <p:txBody>
          <a:bodyPr/>
          <a:p/>
        </p:txBody>
      </p:sp>
      <p:sp>
        <p:nvSpPr>
          <p:cNvPr id="13" name="Text 11"/>
          <p:cNvSpPr/>
          <p:nvPr/>
        </p:nvSpPr>
        <p:spPr>
          <a:xfrm>
            <a:off x="822960" y="5989320"/>
            <a:ext cx="6035040" cy="274320"/>
          </a:xfrm>
          <a:prstGeom prst="rect">
            <a:avLst/>
          </a:prstGeom>
          <a:noFill/>
          <a:ln/>
        </p:spPr>
        <p:txBody>
          <a:bodyPr wrap="square" lIns="0" tIns="0" rIns="0" bIns="0" rtlCol="0" anchor="t"/>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Reconstituire pentru exercițiu; nu este un titlu real de presă.</a:t>
            </a:r>
            <a:endParaRPr lang="en-US" sz="1100" dirty="0"/>
          </a:p>
        </p:txBody>
      </p:sp>
      <p:sp>
        <p:nvSpPr>
          <p:cNvPr id="14" name="Shape 12"/>
          <p:cNvSpPr/>
          <p:nvPr/>
        </p:nvSpPr>
        <p:spPr>
          <a:xfrm>
            <a:off x="7498080" y="1417320"/>
            <a:ext cx="4069080" cy="2011680"/>
          </a:xfrm>
          <a:prstGeom prst="roundRect">
            <a:avLst>
              <a:gd name="adj" fmla="val 4091"/>
            </a:avLst>
          </a:prstGeom>
          <a:solidFill>
            <a:srgbClr val="1D1F2B"/>
          </a:solidFill>
          <a:ln w="12700">
            <a:solidFill>
              <a:srgbClr val="1D1F2B"/>
            </a:solidFill>
            <a:prstDash val="solid"/>
          </a:ln>
        </p:spPr>
        <p:txBody>
          <a:bodyPr/>
          <a:p/>
        </p:txBody>
      </p:sp>
      <p:sp>
        <p:nvSpPr>
          <p:cNvPr id="15" name="Shape 13"/>
          <p:cNvSpPr/>
          <p:nvPr/>
        </p:nvSpPr>
        <p:spPr>
          <a:xfrm>
            <a:off x="7772400" y="1645920"/>
            <a:ext cx="457200" cy="457200"/>
          </a:xfrm>
          <a:prstGeom prst="ellipse">
            <a:avLst/>
          </a:prstGeom>
          <a:solidFill>
            <a:srgbClr val="FFC24B"/>
          </a:solidFill>
          <a:ln/>
        </p:spPr>
        <p:txBody>
          <a:bodyPr/>
          <a:p/>
        </p:txBody>
      </p:sp>
      <p:sp>
        <p:nvSpPr>
          <p:cNvPr id="16" name="Text 14"/>
          <p:cNvSpPr/>
          <p:nvPr/>
        </p:nvSpPr>
        <p:spPr>
          <a:xfrm>
            <a:off x="7772400" y="164592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7" name="Text 15"/>
          <p:cNvSpPr/>
          <p:nvPr/>
        </p:nvSpPr>
        <p:spPr>
          <a:xfrm>
            <a:off x="8412480" y="1417320"/>
            <a:ext cx="3017520" cy="20116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În perechi: care dintre cele patru etichete lipsesc?</a:t>
            </a:r>
            <a:endParaRPr lang="en-US" sz="1700" dirty="0"/>
          </a:p>
        </p:txBody>
      </p:sp>
      <p:sp>
        <p:nvSpPr>
          <p:cNvPr id="18" name="Shape 16"/>
          <p:cNvSpPr/>
          <p:nvPr/>
        </p:nvSpPr>
        <p:spPr>
          <a:xfrm>
            <a:off x="7498080" y="3611880"/>
            <a:ext cx="1965960" cy="1828800"/>
          </a:xfrm>
          <a:prstGeom prst="roundRect">
            <a:avLst>
              <a:gd name="adj" fmla="val 4500"/>
            </a:avLst>
          </a:prstGeom>
          <a:solidFill>
            <a:srgbClr val="07564B"/>
          </a:solidFill>
          <a:ln w="12700">
            <a:solidFill>
              <a:srgbClr val="07564B"/>
            </a:solidFill>
            <a:prstDash val="solid"/>
          </a:ln>
        </p:spPr>
        <p:txBody>
          <a:bodyPr/>
          <a:p/>
        </p:txBody>
      </p:sp>
      <p:sp>
        <p:nvSpPr>
          <p:cNvPr id="19" name="Shape 17"/>
          <p:cNvSpPr/>
          <p:nvPr/>
        </p:nvSpPr>
        <p:spPr>
          <a:xfrm>
            <a:off x="9601200" y="3611880"/>
            <a:ext cx="1965960" cy="1828800"/>
          </a:xfrm>
          <a:prstGeom prst="roundRect">
            <a:avLst>
              <a:gd name="adj" fmla="val 4500"/>
            </a:avLst>
          </a:prstGeom>
          <a:solidFill>
            <a:srgbClr val="7A2230"/>
          </a:solidFill>
          <a:ln w="12700">
            <a:solidFill>
              <a:srgbClr val="7A2230"/>
            </a:solidFill>
            <a:prstDash val="solid"/>
          </a:ln>
        </p:spPr>
        <p:txBody>
          <a:bodyPr/>
          <a:p/>
        </p:txBody>
      </p:sp>
      <p:sp>
        <p:nvSpPr>
          <p:cNvPr id="20" name="Text 18"/>
          <p:cNvSpPr/>
          <p:nvPr/>
        </p:nvSpPr>
        <p:spPr>
          <a:xfrm>
            <a:off x="7680960" y="361188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1</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L-ați crede</a:t>
            </a:r>
            <a:endParaRPr lang="en-US" sz="1400" dirty="0"/>
          </a:p>
        </p:txBody>
      </p:sp>
      <p:sp>
        <p:nvSpPr>
          <p:cNvPr id="21" name="Text 19"/>
          <p:cNvSpPr/>
          <p:nvPr/>
        </p:nvSpPr>
        <p:spPr>
          <a:xfrm>
            <a:off x="9784080" y="361188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2</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Nu l-ați crede</a:t>
            </a:r>
            <a:endParaRPr lang="en-US" sz="1400" dirty="0"/>
          </a:p>
        </p:txBody>
      </p:sp>
      <p:sp>
        <p:nvSpPr>
          <p:cNvPr id="22" name="Text 20"/>
          <p:cNvSpPr/>
          <p:nvPr/>
        </p:nvSpPr>
        <p:spPr>
          <a:xfrm>
            <a:off x="7498080" y="5577840"/>
            <a:ext cx="4069080" cy="54864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Un voluntar din fiecare tabără își spune argumentul.</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LIPSEȘTE DIN TITLU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Un titlu fără etichete nu poate fi verificat</a:t>
            </a:r>
            <a:endParaRPr lang="en-US" sz="3000" dirty="0"/>
          </a:p>
        </p:txBody>
      </p:sp>
      <p:sp>
        <p:nvSpPr>
          <p:cNvPr id="4" name="Shape 2"/>
          <p:cNvSpPr/>
          <p:nvPr/>
        </p:nvSpPr>
        <p:spPr>
          <a:xfrm>
            <a:off x="594360" y="164592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5" name="Text 3"/>
          <p:cNvSpPr/>
          <p:nvPr/>
        </p:nvSpPr>
        <p:spPr>
          <a:xfrm>
            <a:off x="868680" y="1645920"/>
            <a:ext cx="2743200" cy="804672"/>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Sursa</a:t>
            </a:r>
            <a:endParaRPr lang="en-US" sz="1800" dirty="0"/>
          </a:p>
        </p:txBody>
      </p:sp>
      <p:sp>
        <p:nvSpPr>
          <p:cNvPr id="6" name="Shape 4"/>
          <p:cNvSpPr/>
          <p:nvPr/>
        </p:nvSpPr>
        <p:spPr>
          <a:xfrm>
            <a:off x="3657600" y="1883664"/>
            <a:ext cx="1508760" cy="329184"/>
          </a:xfrm>
          <a:prstGeom prst="roundRect">
            <a:avLst>
              <a:gd name="adj" fmla="val 50000"/>
            </a:avLst>
          </a:prstGeom>
          <a:solidFill>
            <a:srgbClr val="B02532"/>
          </a:solidFill>
          <a:ln w="12700">
            <a:solidFill>
              <a:srgbClr val="B02532"/>
            </a:solidFill>
            <a:prstDash val="solid"/>
          </a:ln>
        </p:spPr>
        <p:txBody>
          <a:bodyPr/>
          <a:p/>
        </p:txBody>
      </p:sp>
      <p:sp>
        <p:nvSpPr>
          <p:cNvPr id="7" name="Text 5"/>
          <p:cNvSpPr/>
          <p:nvPr/>
        </p:nvSpPr>
        <p:spPr>
          <a:xfrm>
            <a:off x="3657600" y="1883664"/>
            <a:ext cx="1508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LIPSEȘTE</a:t>
            </a:r>
            <a:endParaRPr lang="en-US" sz="1300" dirty="0"/>
          </a:p>
        </p:txBody>
      </p:sp>
      <p:sp>
        <p:nvSpPr>
          <p:cNvPr id="8" name="Text 6"/>
          <p:cNvSpPr/>
          <p:nvPr/>
        </p:nvSpPr>
        <p:spPr>
          <a:xfrm>
            <a:off x="5440680" y="1645920"/>
            <a:ext cx="59436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 spune cine a publicat cifra.</a:t>
            </a:r>
            <a:endParaRPr lang="en-US" sz="1600" dirty="0"/>
          </a:p>
        </p:txBody>
      </p:sp>
      <p:sp>
        <p:nvSpPr>
          <p:cNvPr id="9" name="Shape 7"/>
          <p:cNvSpPr/>
          <p:nvPr/>
        </p:nvSpPr>
        <p:spPr>
          <a:xfrm>
            <a:off x="594360" y="2560320"/>
            <a:ext cx="10972800" cy="804672"/>
          </a:xfrm>
          <a:prstGeom prst="roundRect">
            <a:avLst>
              <a:gd name="adj" fmla="val 10227"/>
            </a:avLst>
          </a:prstGeom>
          <a:solidFill>
            <a:srgbClr val="F9F8F5"/>
          </a:solidFill>
          <a:ln w="12700">
            <a:solidFill>
              <a:srgbClr val="F9F8F5"/>
            </a:solidFill>
            <a:prstDash val="solid"/>
          </a:ln>
        </p:spPr>
        <p:txBody>
          <a:bodyPr/>
          <a:p/>
        </p:txBody>
      </p:sp>
      <p:sp>
        <p:nvSpPr>
          <p:cNvPr id="10" name="Text 8"/>
          <p:cNvSpPr/>
          <p:nvPr/>
        </p:nvSpPr>
        <p:spPr>
          <a:xfrm>
            <a:off x="868680" y="2560320"/>
            <a:ext cx="2743200" cy="804672"/>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Anul de referință</a:t>
            </a:r>
            <a:endParaRPr lang="en-US" sz="1800" dirty="0"/>
          </a:p>
        </p:txBody>
      </p:sp>
      <p:sp>
        <p:nvSpPr>
          <p:cNvPr id="11" name="Shape 9"/>
          <p:cNvSpPr/>
          <p:nvPr/>
        </p:nvSpPr>
        <p:spPr>
          <a:xfrm>
            <a:off x="3657600" y="2798064"/>
            <a:ext cx="1508760" cy="329184"/>
          </a:xfrm>
          <a:prstGeom prst="roundRect">
            <a:avLst>
              <a:gd name="adj" fmla="val 50000"/>
            </a:avLst>
          </a:prstGeom>
          <a:solidFill>
            <a:srgbClr val="B02532"/>
          </a:solidFill>
          <a:ln w="12700">
            <a:solidFill>
              <a:srgbClr val="B02532"/>
            </a:solidFill>
            <a:prstDash val="solid"/>
          </a:ln>
        </p:spPr>
        <p:txBody>
          <a:bodyPr/>
          <a:p/>
        </p:txBody>
      </p:sp>
      <p:sp>
        <p:nvSpPr>
          <p:cNvPr id="12" name="Text 10"/>
          <p:cNvSpPr/>
          <p:nvPr/>
        </p:nvSpPr>
        <p:spPr>
          <a:xfrm>
            <a:off x="3657600" y="2798064"/>
            <a:ext cx="1508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LIPSEȘTE</a:t>
            </a:r>
            <a:endParaRPr lang="en-US" sz="1300" dirty="0"/>
          </a:p>
        </p:txBody>
      </p:sp>
      <p:sp>
        <p:nvSpPr>
          <p:cNvPr id="13" name="Text 11"/>
          <p:cNvSpPr/>
          <p:nvPr/>
        </p:nvSpPr>
        <p:spPr>
          <a:xfrm>
            <a:off x="5440680" y="2560320"/>
            <a:ext cx="59436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Nu spune la ce an se referă.</a:t>
            </a:r>
            <a:endParaRPr lang="en-US" sz="1600" dirty="0"/>
          </a:p>
        </p:txBody>
      </p:sp>
      <p:sp>
        <p:nvSpPr>
          <p:cNvPr id="14" name="Shape 12"/>
          <p:cNvSpPr/>
          <p:nvPr/>
        </p:nvSpPr>
        <p:spPr>
          <a:xfrm>
            <a:off x="594360" y="347472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15" name="Text 13"/>
          <p:cNvSpPr/>
          <p:nvPr/>
        </p:nvSpPr>
        <p:spPr>
          <a:xfrm>
            <a:off x="868680" y="3474720"/>
            <a:ext cx="2743200" cy="804672"/>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Nivelul teritorial</a:t>
            </a:r>
            <a:endParaRPr lang="en-US" sz="1800" dirty="0"/>
          </a:p>
        </p:txBody>
      </p:sp>
      <p:sp>
        <p:nvSpPr>
          <p:cNvPr id="16" name="Shape 14"/>
          <p:cNvSpPr/>
          <p:nvPr/>
        </p:nvSpPr>
        <p:spPr>
          <a:xfrm>
            <a:off x="3657600" y="3712464"/>
            <a:ext cx="1508760" cy="329184"/>
          </a:xfrm>
          <a:prstGeom prst="roundRect">
            <a:avLst>
              <a:gd name="adj" fmla="val 50000"/>
            </a:avLst>
          </a:prstGeom>
          <a:solidFill>
            <a:srgbClr val="B02532"/>
          </a:solidFill>
          <a:ln w="12700">
            <a:solidFill>
              <a:srgbClr val="B02532"/>
            </a:solidFill>
            <a:prstDash val="solid"/>
          </a:ln>
        </p:spPr>
        <p:txBody>
          <a:bodyPr/>
          <a:p/>
        </p:txBody>
      </p:sp>
      <p:sp>
        <p:nvSpPr>
          <p:cNvPr id="17" name="Text 15"/>
          <p:cNvSpPr/>
          <p:nvPr/>
        </p:nvSpPr>
        <p:spPr>
          <a:xfrm>
            <a:off x="3657600" y="3712464"/>
            <a:ext cx="1508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GREȘIT</a:t>
            </a:r>
            <a:endParaRPr lang="en-US" sz="1300" dirty="0"/>
          </a:p>
        </p:txBody>
      </p:sp>
      <p:sp>
        <p:nvSpPr>
          <p:cNvPr id="18" name="Text 16"/>
          <p:cNvSpPr/>
          <p:nvPr/>
        </p:nvSpPr>
        <p:spPr>
          <a:xfrm>
            <a:off x="5440680" y="3474720"/>
            <a:ext cx="59436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Cifra este a regiunii București-Ilfov, nu a orașului.</a:t>
            </a:r>
            <a:endParaRPr lang="en-US" sz="1600" dirty="0"/>
          </a:p>
        </p:txBody>
      </p:sp>
      <p:sp>
        <p:nvSpPr>
          <p:cNvPr id="19" name="Shape 17"/>
          <p:cNvSpPr/>
          <p:nvPr/>
        </p:nvSpPr>
        <p:spPr>
          <a:xfrm>
            <a:off x="594360" y="4389120"/>
            <a:ext cx="10972800" cy="804672"/>
          </a:xfrm>
          <a:prstGeom prst="roundRect">
            <a:avLst>
              <a:gd name="adj" fmla="val 10227"/>
            </a:avLst>
          </a:prstGeom>
          <a:solidFill>
            <a:srgbClr val="F9F8F5"/>
          </a:solidFill>
          <a:ln w="12700">
            <a:solidFill>
              <a:srgbClr val="F9F8F5"/>
            </a:solidFill>
            <a:prstDash val="solid"/>
          </a:ln>
        </p:spPr>
        <p:txBody>
          <a:bodyPr/>
          <a:p/>
        </p:txBody>
      </p:sp>
      <p:sp>
        <p:nvSpPr>
          <p:cNvPr id="20" name="Text 18"/>
          <p:cNvSpPr/>
          <p:nvPr/>
        </p:nvSpPr>
        <p:spPr>
          <a:xfrm>
            <a:off x="868680" y="4389120"/>
            <a:ext cx="2743200" cy="804672"/>
          </a:xfrm>
          <a:prstGeom prst="rect">
            <a:avLst/>
          </a:prstGeom>
          <a:noFill/>
          <a:ln/>
        </p:spPr>
        <p:txBody>
          <a:bodyPr wrap="square" lIns="0" tIns="0" rIns="0" bIns="0" rtlCol="0" anchor="ctr"/>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Indicatorul</a:t>
            </a:r>
            <a:endParaRPr lang="en-US" sz="1800" dirty="0"/>
          </a:p>
        </p:txBody>
      </p:sp>
      <p:sp>
        <p:nvSpPr>
          <p:cNvPr id="21" name="Shape 19"/>
          <p:cNvSpPr/>
          <p:nvPr/>
        </p:nvSpPr>
        <p:spPr>
          <a:xfrm>
            <a:off x="3657600" y="4626864"/>
            <a:ext cx="1508760" cy="329184"/>
          </a:xfrm>
          <a:prstGeom prst="roundRect">
            <a:avLst>
              <a:gd name="adj" fmla="val 50000"/>
            </a:avLst>
          </a:prstGeom>
          <a:solidFill>
            <a:srgbClr val="8A6100"/>
          </a:solidFill>
          <a:ln w="12700">
            <a:solidFill>
              <a:srgbClr val="8A6100"/>
            </a:solidFill>
            <a:prstDash val="solid"/>
          </a:ln>
        </p:spPr>
        <p:txBody>
          <a:bodyPr/>
          <a:p/>
        </p:txBody>
      </p:sp>
      <p:sp>
        <p:nvSpPr>
          <p:cNvPr id="22" name="Text 20"/>
          <p:cNvSpPr/>
          <p:nvPr/>
        </p:nvSpPr>
        <p:spPr>
          <a:xfrm>
            <a:off x="3657600" y="4626864"/>
            <a:ext cx="150876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ÎNȘELĂTOR</a:t>
            </a:r>
            <a:endParaRPr lang="en-US" sz="1300" dirty="0"/>
          </a:p>
        </p:txBody>
      </p:sp>
      <p:sp>
        <p:nvSpPr>
          <p:cNvPr id="23" name="Text 21"/>
          <p:cNvSpPr/>
          <p:nvPr/>
        </p:nvSpPr>
        <p:spPr>
          <a:xfrm>
            <a:off x="5440680" y="4389120"/>
            <a:ext cx="5943600" cy="804672"/>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„Trăiesc” sugerează o viață deja măsurată; indicatorul descrie un nou-născut ipotetic.</a:t>
            </a:r>
            <a:endParaRPr lang="en-US" sz="1600" dirty="0"/>
          </a:p>
        </p:txBody>
      </p:sp>
      <p:sp>
        <p:nvSpPr>
          <p:cNvPr id="24" name="Text 22"/>
          <p:cNvSpPr/>
          <p:nvPr/>
        </p:nvSpPr>
        <p:spPr>
          <a:xfrm>
            <a:off x="594360" y="5440680"/>
            <a:ext cx="10972800" cy="77724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Titlul are un sâmbure de adevăr, dar nu poate fi verificat.</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ECHIPA ȘI TEMA</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Zece teme, cel mult două echipe pe temă</a:t>
            </a:r>
            <a:endParaRPr lang="en-US" sz="3000" dirty="0"/>
          </a:p>
        </p:txBody>
      </p:sp>
      <p:sp>
        <p:nvSpPr>
          <p:cNvPr id="4" name="Shape 2"/>
          <p:cNvSpPr/>
          <p:nvPr/>
        </p:nvSpPr>
        <p:spPr>
          <a:xfrm>
            <a:off x="594360" y="160020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5" name="Shape 3"/>
          <p:cNvSpPr/>
          <p:nvPr/>
        </p:nvSpPr>
        <p:spPr>
          <a:xfrm>
            <a:off x="594360" y="1600200"/>
            <a:ext cx="2103120" cy="82296"/>
          </a:xfrm>
          <a:prstGeom prst="rect">
            <a:avLst/>
          </a:prstGeom>
          <a:solidFill>
            <a:srgbClr val="FF4757"/>
          </a:solidFill>
          <a:ln w="12700">
            <a:solidFill>
              <a:srgbClr val="FF4757"/>
            </a:solidFill>
            <a:prstDash val="solid"/>
          </a:ln>
        </p:spPr>
        <p:txBody>
          <a:bodyPr/>
          <a:p/>
        </p:txBody>
      </p:sp>
      <p:sp>
        <p:nvSpPr>
          <p:cNvPr id="6" name="Text 4"/>
          <p:cNvSpPr/>
          <p:nvPr/>
        </p:nvSpPr>
        <p:spPr>
          <a:xfrm>
            <a:off x="777240" y="182880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Rujeola</a:t>
            </a:r>
            <a:endParaRPr lang="en-US" sz="1600" dirty="0"/>
          </a:p>
        </p:txBody>
      </p:sp>
      <p:sp>
        <p:nvSpPr>
          <p:cNvPr id="7" name="Text 5"/>
          <p:cNvSpPr/>
          <p:nvPr/>
        </p:nvSpPr>
        <p:spPr>
          <a:xfrm>
            <a:off x="777240" y="260604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revine când vaccinarea scade</a:t>
            </a:r>
            <a:endParaRPr lang="en-US" sz="1300" dirty="0"/>
          </a:p>
        </p:txBody>
      </p:sp>
      <p:sp>
        <p:nvSpPr>
          <p:cNvPr id="8" name="Shape 6"/>
          <p:cNvSpPr/>
          <p:nvPr/>
        </p:nvSpPr>
        <p:spPr>
          <a:xfrm>
            <a:off x="2820924" y="160020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9" name="Shape 7"/>
          <p:cNvSpPr/>
          <p:nvPr/>
        </p:nvSpPr>
        <p:spPr>
          <a:xfrm>
            <a:off x="2820924" y="1600200"/>
            <a:ext cx="2103120" cy="82296"/>
          </a:xfrm>
          <a:prstGeom prst="rect">
            <a:avLst/>
          </a:prstGeom>
          <a:solidFill>
            <a:srgbClr val="FFC24B"/>
          </a:solidFill>
          <a:ln w="12700">
            <a:solidFill>
              <a:srgbClr val="FFC24B"/>
            </a:solidFill>
            <a:prstDash val="solid"/>
          </a:ln>
        </p:spPr>
        <p:txBody>
          <a:bodyPr/>
          <a:p/>
        </p:txBody>
      </p:sp>
      <p:sp>
        <p:nvSpPr>
          <p:cNvPr id="10" name="Text 8"/>
          <p:cNvSpPr/>
          <p:nvPr/>
        </p:nvSpPr>
        <p:spPr>
          <a:xfrm>
            <a:off x="3003804" y="182880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Obezitatea la adolescenți</a:t>
            </a:r>
            <a:endParaRPr lang="en-US" sz="1600" dirty="0"/>
          </a:p>
        </p:txBody>
      </p:sp>
      <p:sp>
        <p:nvSpPr>
          <p:cNvPr id="11" name="Text 9"/>
          <p:cNvSpPr/>
          <p:nvPr/>
        </p:nvSpPr>
        <p:spPr>
          <a:xfrm>
            <a:off x="3003804" y="260604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alimentație și mișcare în anii de școală</a:t>
            </a:r>
            <a:endParaRPr lang="en-US" sz="1300" dirty="0"/>
          </a:p>
        </p:txBody>
      </p:sp>
      <p:sp>
        <p:nvSpPr>
          <p:cNvPr id="12" name="Shape 10"/>
          <p:cNvSpPr/>
          <p:nvPr/>
        </p:nvSpPr>
        <p:spPr>
          <a:xfrm>
            <a:off x="5047488" y="160020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13" name="Shape 11"/>
          <p:cNvSpPr/>
          <p:nvPr/>
        </p:nvSpPr>
        <p:spPr>
          <a:xfrm>
            <a:off x="5047488" y="1600200"/>
            <a:ext cx="2103120" cy="82296"/>
          </a:xfrm>
          <a:prstGeom prst="rect">
            <a:avLst/>
          </a:prstGeom>
          <a:solidFill>
            <a:srgbClr val="27D3BE"/>
          </a:solidFill>
          <a:ln w="12700">
            <a:solidFill>
              <a:srgbClr val="27D3BE"/>
            </a:solidFill>
            <a:prstDash val="solid"/>
          </a:ln>
        </p:spPr>
        <p:txBody>
          <a:bodyPr/>
          <a:p/>
        </p:txBody>
      </p:sp>
      <p:sp>
        <p:nvSpPr>
          <p:cNvPr id="14" name="Text 12"/>
          <p:cNvSpPr/>
          <p:nvPr/>
        </p:nvSpPr>
        <p:spPr>
          <a:xfrm>
            <a:off x="5230368" y="182880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Fumatul la tineri</a:t>
            </a:r>
            <a:endParaRPr lang="en-US" sz="1600" dirty="0"/>
          </a:p>
        </p:txBody>
      </p:sp>
      <p:sp>
        <p:nvSpPr>
          <p:cNvPr id="15" name="Text 13"/>
          <p:cNvSpPr/>
          <p:nvPr/>
        </p:nvSpPr>
        <p:spPr>
          <a:xfrm>
            <a:off x="5230368" y="260604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țigările electronice, reglementarea</a:t>
            </a:r>
            <a:endParaRPr lang="en-US" sz="1300" dirty="0"/>
          </a:p>
        </p:txBody>
      </p:sp>
      <p:sp>
        <p:nvSpPr>
          <p:cNvPr id="16" name="Shape 14"/>
          <p:cNvSpPr/>
          <p:nvPr/>
        </p:nvSpPr>
        <p:spPr>
          <a:xfrm>
            <a:off x="7274052" y="160020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17" name="Shape 15"/>
          <p:cNvSpPr/>
          <p:nvPr/>
        </p:nvSpPr>
        <p:spPr>
          <a:xfrm>
            <a:off x="7274052" y="1600200"/>
            <a:ext cx="2103120" cy="82296"/>
          </a:xfrm>
          <a:prstGeom prst="rect">
            <a:avLst/>
          </a:prstGeom>
          <a:solidFill>
            <a:srgbClr val="9B7EF7"/>
          </a:solidFill>
          <a:ln w="12700">
            <a:solidFill>
              <a:srgbClr val="9B7EF7"/>
            </a:solidFill>
            <a:prstDash val="solid"/>
          </a:ln>
        </p:spPr>
        <p:txBody>
          <a:bodyPr/>
          <a:p/>
        </p:txBody>
      </p:sp>
      <p:sp>
        <p:nvSpPr>
          <p:cNvPr id="18" name="Text 16"/>
          <p:cNvSpPr/>
          <p:nvPr/>
        </p:nvSpPr>
        <p:spPr>
          <a:xfrm>
            <a:off x="7456932" y="182880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Gripa sezonieră</a:t>
            </a:r>
            <a:endParaRPr lang="en-US" sz="1600" dirty="0"/>
          </a:p>
        </p:txBody>
      </p:sp>
      <p:sp>
        <p:nvSpPr>
          <p:cNvPr id="19" name="Text 17"/>
          <p:cNvSpPr/>
          <p:nvPr/>
        </p:nvSpPr>
        <p:spPr>
          <a:xfrm>
            <a:off x="7456932" y="260604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epidemiile de iarnă, presiunea pe spitale</a:t>
            </a:r>
            <a:endParaRPr lang="en-US" sz="1300" dirty="0"/>
          </a:p>
        </p:txBody>
      </p:sp>
      <p:sp>
        <p:nvSpPr>
          <p:cNvPr id="20" name="Shape 18"/>
          <p:cNvSpPr/>
          <p:nvPr/>
        </p:nvSpPr>
        <p:spPr>
          <a:xfrm>
            <a:off x="9500616" y="160020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21" name="Shape 19"/>
          <p:cNvSpPr/>
          <p:nvPr/>
        </p:nvSpPr>
        <p:spPr>
          <a:xfrm>
            <a:off x="9500616" y="1600200"/>
            <a:ext cx="2103120" cy="82296"/>
          </a:xfrm>
          <a:prstGeom prst="rect">
            <a:avLst/>
          </a:prstGeom>
          <a:solidFill>
            <a:srgbClr val="FF8A3D"/>
          </a:solidFill>
          <a:ln w="12700">
            <a:solidFill>
              <a:srgbClr val="FF8A3D"/>
            </a:solidFill>
            <a:prstDash val="solid"/>
          </a:ln>
        </p:spPr>
        <p:txBody>
          <a:bodyPr/>
          <a:p/>
        </p:txBody>
      </p:sp>
      <p:sp>
        <p:nvSpPr>
          <p:cNvPr id="22" name="Text 20"/>
          <p:cNvSpPr/>
          <p:nvPr/>
        </p:nvSpPr>
        <p:spPr>
          <a:xfrm>
            <a:off x="9683496" y="182880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Accidentele rutiere</a:t>
            </a:r>
            <a:endParaRPr lang="en-US" sz="1600" dirty="0"/>
          </a:p>
        </p:txBody>
      </p:sp>
      <p:sp>
        <p:nvSpPr>
          <p:cNvPr id="23" name="Text 21"/>
          <p:cNvSpPr/>
          <p:nvPr/>
        </p:nvSpPr>
        <p:spPr>
          <a:xfrm>
            <a:off x="9683496" y="260604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viteza, alcoolul la volan</a:t>
            </a:r>
            <a:endParaRPr lang="en-US" sz="1300" dirty="0"/>
          </a:p>
        </p:txBody>
      </p:sp>
      <p:sp>
        <p:nvSpPr>
          <p:cNvPr id="24" name="Shape 22"/>
          <p:cNvSpPr/>
          <p:nvPr/>
        </p:nvSpPr>
        <p:spPr>
          <a:xfrm>
            <a:off x="594360" y="384048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25" name="Shape 23"/>
          <p:cNvSpPr/>
          <p:nvPr/>
        </p:nvSpPr>
        <p:spPr>
          <a:xfrm>
            <a:off x="594360" y="3840480"/>
            <a:ext cx="2103120" cy="82296"/>
          </a:xfrm>
          <a:prstGeom prst="rect">
            <a:avLst/>
          </a:prstGeom>
          <a:solidFill>
            <a:srgbClr val="FF4757"/>
          </a:solidFill>
          <a:ln w="12700">
            <a:solidFill>
              <a:srgbClr val="FF4757"/>
            </a:solidFill>
            <a:prstDash val="solid"/>
          </a:ln>
        </p:spPr>
        <p:txBody>
          <a:bodyPr/>
          <a:p/>
        </p:txBody>
      </p:sp>
      <p:sp>
        <p:nvSpPr>
          <p:cNvPr id="26" name="Text 24"/>
          <p:cNvSpPr/>
          <p:nvPr/>
        </p:nvSpPr>
        <p:spPr>
          <a:xfrm>
            <a:off x="777240" y="406908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Sănătatea mintală la tineri</a:t>
            </a:r>
            <a:endParaRPr lang="en-US" sz="1600" dirty="0"/>
          </a:p>
        </p:txBody>
      </p:sp>
      <p:sp>
        <p:nvSpPr>
          <p:cNvPr id="27" name="Text 25"/>
          <p:cNvSpPr/>
          <p:nvPr/>
        </p:nvSpPr>
        <p:spPr>
          <a:xfrm>
            <a:off x="777240" y="484632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anxietatea, depresia, accesul la ajutor</a:t>
            </a:r>
            <a:endParaRPr lang="en-US" sz="1300" dirty="0"/>
          </a:p>
        </p:txBody>
      </p:sp>
      <p:sp>
        <p:nvSpPr>
          <p:cNvPr id="28" name="Shape 26"/>
          <p:cNvSpPr/>
          <p:nvPr/>
        </p:nvSpPr>
        <p:spPr>
          <a:xfrm>
            <a:off x="2820924" y="384048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29" name="Shape 27"/>
          <p:cNvSpPr/>
          <p:nvPr/>
        </p:nvSpPr>
        <p:spPr>
          <a:xfrm>
            <a:off x="2820924" y="3840480"/>
            <a:ext cx="2103120" cy="82296"/>
          </a:xfrm>
          <a:prstGeom prst="rect">
            <a:avLst/>
          </a:prstGeom>
          <a:solidFill>
            <a:srgbClr val="FFC24B"/>
          </a:solidFill>
          <a:ln w="12700">
            <a:solidFill>
              <a:srgbClr val="FFC24B"/>
            </a:solidFill>
            <a:prstDash val="solid"/>
          </a:ln>
        </p:spPr>
        <p:txBody>
          <a:bodyPr/>
          <a:p/>
        </p:txBody>
      </p:sp>
      <p:sp>
        <p:nvSpPr>
          <p:cNvPr id="30" name="Text 28"/>
          <p:cNvSpPr/>
          <p:nvPr/>
        </p:nvSpPr>
        <p:spPr>
          <a:xfrm>
            <a:off x="3003804" y="406908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Consumul de alcool</a:t>
            </a:r>
            <a:endParaRPr lang="en-US" sz="1600" dirty="0"/>
          </a:p>
        </p:txBody>
      </p:sp>
      <p:sp>
        <p:nvSpPr>
          <p:cNvPr id="31" name="Text 29"/>
          <p:cNvSpPr/>
          <p:nvPr/>
        </p:nvSpPr>
        <p:spPr>
          <a:xfrm>
            <a:off x="3003804" y="484632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cât, cine, cu ce urmări pentru sănătate</a:t>
            </a:r>
            <a:endParaRPr lang="en-US" sz="1300" dirty="0"/>
          </a:p>
        </p:txBody>
      </p:sp>
      <p:sp>
        <p:nvSpPr>
          <p:cNvPr id="32" name="Shape 30"/>
          <p:cNvSpPr/>
          <p:nvPr/>
        </p:nvSpPr>
        <p:spPr>
          <a:xfrm>
            <a:off x="5047488" y="384048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33" name="Shape 31"/>
          <p:cNvSpPr/>
          <p:nvPr/>
        </p:nvSpPr>
        <p:spPr>
          <a:xfrm>
            <a:off x="5047488" y="3840480"/>
            <a:ext cx="2103120" cy="82296"/>
          </a:xfrm>
          <a:prstGeom prst="rect">
            <a:avLst/>
          </a:prstGeom>
          <a:solidFill>
            <a:srgbClr val="27D3BE"/>
          </a:solidFill>
          <a:ln w="12700">
            <a:solidFill>
              <a:srgbClr val="27D3BE"/>
            </a:solidFill>
            <a:prstDash val="solid"/>
          </a:ln>
        </p:spPr>
        <p:txBody>
          <a:bodyPr/>
          <a:p/>
        </p:txBody>
      </p:sp>
      <p:sp>
        <p:nvSpPr>
          <p:cNvPr id="34" name="Text 32"/>
          <p:cNvSpPr/>
          <p:nvPr/>
        </p:nvSpPr>
        <p:spPr>
          <a:xfrm>
            <a:off x="5230368" y="406908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Poluarea aerului în orașe</a:t>
            </a:r>
            <a:endParaRPr lang="en-US" sz="1600" dirty="0"/>
          </a:p>
        </p:txBody>
      </p:sp>
      <p:sp>
        <p:nvSpPr>
          <p:cNvPr id="35" name="Text 33"/>
          <p:cNvSpPr/>
          <p:nvPr/>
        </p:nvSpPr>
        <p:spPr>
          <a:xfrm>
            <a:off x="5230368" y="484632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aerul marilor orașe și efectele lui</a:t>
            </a:r>
            <a:endParaRPr lang="en-US" sz="1300" dirty="0"/>
          </a:p>
        </p:txBody>
      </p:sp>
      <p:sp>
        <p:nvSpPr>
          <p:cNvPr id="36" name="Shape 34"/>
          <p:cNvSpPr/>
          <p:nvPr/>
        </p:nvSpPr>
        <p:spPr>
          <a:xfrm>
            <a:off x="7274052" y="384048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37" name="Shape 35"/>
          <p:cNvSpPr/>
          <p:nvPr/>
        </p:nvSpPr>
        <p:spPr>
          <a:xfrm>
            <a:off x="7274052" y="3840480"/>
            <a:ext cx="2103120" cy="82296"/>
          </a:xfrm>
          <a:prstGeom prst="rect">
            <a:avLst/>
          </a:prstGeom>
          <a:solidFill>
            <a:srgbClr val="9B7EF7"/>
          </a:solidFill>
          <a:ln w="12700">
            <a:solidFill>
              <a:srgbClr val="9B7EF7"/>
            </a:solidFill>
            <a:prstDash val="solid"/>
          </a:ln>
        </p:spPr>
        <p:txBody>
          <a:bodyPr/>
          <a:p/>
        </p:txBody>
      </p:sp>
      <p:sp>
        <p:nvSpPr>
          <p:cNvPr id="38" name="Text 36"/>
          <p:cNvSpPr/>
          <p:nvPr/>
        </p:nvSpPr>
        <p:spPr>
          <a:xfrm>
            <a:off x="7456932" y="406908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Sedentarismul</a:t>
            </a:r>
            <a:endParaRPr lang="en-US" sz="1600" dirty="0"/>
          </a:p>
        </p:txBody>
      </p:sp>
      <p:sp>
        <p:nvSpPr>
          <p:cNvPr id="39" name="Text 37"/>
          <p:cNvSpPr/>
          <p:nvPr/>
        </p:nvSpPr>
        <p:spPr>
          <a:xfrm>
            <a:off x="7456932" y="484632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lipsa mișcării la toate vârstele</a:t>
            </a:r>
            <a:endParaRPr lang="en-US" sz="1300" dirty="0"/>
          </a:p>
        </p:txBody>
      </p:sp>
      <p:sp>
        <p:nvSpPr>
          <p:cNvPr id="40" name="Shape 38"/>
          <p:cNvSpPr/>
          <p:nvPr/>
        </p:nvSpPr>
        <p:spPr>
          <a:xfrm>
            <a:off x="9500616" y="3840480"/>
            <a:ext cx="2103120" cy="2103120"/>
          </a:xfrm>
          <a:prstGeom prst="roundRect">
            <a:avLst>
              <a:gd name="adj" fmla="val 3913"/>
            </a:avLst>
          </a:prstGeom>
          <a:solidFill>
            <a:srgbClr val="1D1F2B"/>
          </a:solidFill>
          <a:ln w="12700">
            <a:solidFill>
              <a:srgbClr val="1D1F2B"/>
            </a:solidFill>
            <a:prstDash val="solid"/>
          </a:ln>
        </p:spPr>
        <p:txBody>
          <a:bodyPr/>
          <a:p/>
        </p:txBody>
      </p:sp>
      <p:sp>
        <p:nvSpPr>
          <p:cNvPr id="41" name="Shape 39"/>
          <p:cNvSpPr/>
          <p:nvPr/>
        </p:nvSpPr>
        <p:spPr>
          <a:xfrm>
            <a:off x="9500616" y="3840480"/>
            <a:ext cx="2103120" cy="82296"/>
          </a:xfrm>
          <a:prstGeom prst="rect">
            <a:avLst/>
          </a:prstGeom>
          <a:solidFill>
            <a:srgbClr val="FF8A3D"/>
          </a:solidFill>
          <a:ln w="12700">
            <a:solidFill>
              <a:srgbClr val="FF8A3D"/>
            </a:solidFill>
            <a:prstDash val="solid"/>
          </a:ln>
        </p:spPr>
        <p:txBody>
          <a:bodyPr/>
          <a:p/>
        </p:txBody>
      </p:sp>
      <p:sp>
        <p:nvSpPr>
          <p:cNvPr id="42" name="Text 40"/>
          <p:cNvSpPr/>
          <p:nvPr/>
        </p:nvSpPr>
        <p:spPr>
          <a:xfrm>
            <a:off x="9683496" y="4069080"/>
            <a:ext cx="1737360" cy="731520"/>
          </a:xfrm>
          <a:prstGeom prst="rect">
            <a:avLst/>
          </a:prstGeom>
          <a:noFill/>
          <a:ln/>
        </p:spPr>
        <p:txBody>
          <a:bodyPr wrap="square" lIns="0" tIns="0" rIns="0" bIns="0" rtlCol="0" anchor="t"/>
          <a:lstStyle/>
          <a:p>
            <a:pPr indent="0" marL="0">
              <a:buNone/>
            </a:pPr>
            <a:r>
              <a:rPr lang="en-US" sz="1600" b="1" dirty="0">
                <a:solidFill>
                  <a:srgbClr val="FFFFFF"/>
                </a:solidFill>
                <a:latin typeface="Palatino Linotype" pitchFamily="34" charset="0"/>
                <a:ea typeface="Palatino Linotype" pitchFamily="34" charset="-122"/>
                <a:cs typeface="Palatino Linotype" pitchFamily="34" charset="-120"/>
              </a:rPr>
              <a:t>Vaccinarea HPV</a:t>
            </a:r>
            <a:endParaRPr lang="en-US" sz="1600" dirty="0"/>
          </a:p>
        </p:txBody>
      </p:sp>
      <p:sp>
        <p:nvSpPr>
          <p:cNvPr id="43" name="Text 41"/>
          <p:cNvSpPr/>
          <p:nvPr/>
        </p:nvSpPr>
        <p:spPr>
          <a:xfrm>
            <a:off x="9683496" y="4846320"/>
            <a:ext cx="1783080" cy="1051560"/>
          </a:xfrm>
          <a:prstGeom prst="rect">
            <a:avLst/>
          </a:prstGeom>
          <a:noFill/>
          <a:ln/>
        </p:spPr>
        <p:txBody>
          <a:bodyPr wrap="square" lIns="0" tIns="0" rIns="0" bIns="0" rtlCol="0" anchor="t"/>
          <a:lstStyle/>
          <a:p>
            <a:pPr indent="0" marL="0">
              <a:buNone/>
            </a:pPr>
            <a:r>
              <a:rPr lang="en-US" sz="1300" dirty="0">
                <a:solidFill>
                  <a:srgbClr val="C9CCD8"/>
                </a:solidFill>
                <a:latin typeface="Palatino Linotype" pitchFamily="34" charset="0"/>
                <a:ea typeface="Palatino Linotype" pitchFamily="34" charset="-122"/>
                <a:cs typeface="Palatino Linotype" pitchFamily="34" charset="-120"/>
              </a:rPr>
              <a:t>prevenirea cancerului de col uterin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5F2"/>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GRUPURI DE BANCĂ · FORMULAR</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FORMAȚI ECHIPA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Echipa și înscrierea în formular</a:t>
            </a:r>
            <a:endParaRPr lang="en-US" sz="3000" dirty="0"/>
          </a:p>
        </p:txBody>
      </p:sp>
      <p:sp>
        <p:nvSpPr>
          <p:cNvPr id="6" name="Shape 4"/>
          <p:cNvSpPr/>
          <p:nvPr/>
        </p:nvSpPr>
        <p:spPr>
          <a:xfrm>
            <a:off x="594360" y="1783080"/>
            <a:ext cx="7223760" cy="868680"/>
          </a:xfrm>
          <a:prstGeom prst="roundRect">
            <a:avLst>
              <a:gd name="adj" fmla="val 9474"/>
            </a:avLst>
          </a:prstGeom>
          <a:solidFill>
            <a:srgbClr val="ECEAE4"/>
          </a:solidFill>
          <a:ln w="12700">
            <a:solidFill>
              <a:srgbClr val="ECEAE4"/>
            </a:solidFill>
            <a:prstDash val="solid"/>
          </a:ln>
        </p:spPr>
        <p:txBody>
          <a:bodyPr/>
          <a:p/>
        </p:txBody>
      </p:sp>
      <p:sp>
        <p:nvSpPr>
          <p:cNvPr id="7" name="Shape 5"/>
          <p:cNvSpPr/>
          <p:nvPr/>
        </p:nvSpPr>
        <p:spPr>
          <a:xfrm>
            <a:off x="914400" y="2007108"/>
            <a:ext cx="420624" cy="420624"/>
          </a:xfrm>
          <a:prstGeom prst="ellipse">
            <a:avLst/>
          </a:prstGeom>
          <a:solidFill>
            <a:srgbClr val="FF4757"/>
          </a:solidFill>
          <a:ln/>
        </p:spPr>
        <p:txBody>
          <a:bodyPr/>
          <a:p/>
        </p:txBody>
      </p:sp>
      <p:sp>
        <p:nvSpPr>
          <p:cNvPr id="8" name="Text 6"/>
          <p:cNvSpPr/>
          <p:nvPr/>
        </p:nvSpPr>
        <p:spPr>
          <a:xfrm>
            <a:off x="914400" y="200710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783080"/>
            <a:ext cx="5943600" cy="8686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Formați echipa: patru până la șase studenți, vecini de bancă.</a:t>
            </a:r>
            <a:endParaRPr lang="en-US" sz="1600" dirty="0"/>
          </a:p>
        </p:txBody>
      </p:sp>
      <p:sp>
        <p:nvSpPr>
          <p:cNvPr id="10" name="Shape 8"/>
          <p:cNvSpPr/>
          <p:nvPr/>
        </p:nvSpPr>
        <p:spPr>
          <a:xfrm>
            <a:off x="594360" y="2788920"/>
            <a:ext cx="7223760" cy="868680"/>
          </a:xfrm>
          <a:prstGeom prst="roundRect">
            <a:avLst>
              <a:gd name="adj" fmla="val 9474"/>
            </a:avLst>
          </a:prstGeom>
          <a:solidFill>
            <a:srgbClr val="ECEAE4"/>
          </a:solidFill>
          <a:ln w="12700">
            <a:solidFill>
              <a:srgbClr val="ECEAE4"/>
            </a:solidFill>
            <a:prstDash val="solid"/>
          </a:ln>
        </p:spPr>
        <p:txBody>
          <a:bodyPr/>
          <a:p/>
        </p:txBody>
      </p:sp>
      <p:sp>
        <p:nvSpPr>
          <p:cNvPr id="11" name="Shape 9"/>
          <p:cNvSpPr/>
          <p:nvPr/>
        </p:nvSpPr>
        <p:spPr>
          <a:xfrm>
            <a:off x="914400" y="3012948"/>
            <a:ext cx="420624" cy="420624"/>
          </a:xfrm>
          <a:prstGeom prst="ellipse">
            <a:avLst/>
          </a:prstGeom>
          <a:solidFill>
            <a:srgbClr val="FF4757"/>
          </a:solidFill>
          <a:ln/>
        </p:spPr>
        <p:txBody>
          <a:bodyPr/>
          <a:p/>
        </p:txBody>
      </p:sp>
      <p:sp>
        <p:nvSpPr>
          <p:cNvPr id="12" name="Text 10"/>
          <p:cNvSpPr/>
          <p:nvPr/>
        </p:nvSpPr>
        <p:spPr>
          <a:xfrm>
            <a:off x="914400" y="30129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88920"/>
            <a:ext cx="5943600" cy="8686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Alegeți un coordonator: el deschide „Fișa echipei”.</a:t>
            </a:r>
            <a:endParaRPr lang="en-US" sz="1600" dirty="0"/>
          </a:p>
        </p:txBody>
      </p:sp>
      <p:sp>
        <p:nvSpPr>
          <p:cNvPr id="14" name="Shape 12"/>
          <p:cNvSpPr/>
          <p:nvPr/>
        </p:nvSpPr>
        <p:spPr>
          <a:xfrm>
            <a:off x="594360" y="3794760"/>
            <a:ext cx="7223760" cy="868680"/>
          </a:xfrm>
          <a:prstGeom prst="roundRect">
            <a:avLst>
              <a:gd name="adj" fmla="val 9474"/>
            </a:avLst>
          </a:prstGeom>
          <a:solidFill>
            <a:srgbClr val="ECEAE4"/>
          </a:solidFill>
          <a:ln w="12700">
            <a:solidFill>
              <a:srgbClr val="ECEAE4"/>
            </a:solidFill>
            <a:prstDash val="solid"/>
          </a:ln>
        </p:spPr>
        <p:txBody>
          <a:bodyPr/>
          <a:p/>
        </p:txBody>
      </p:sp>
      <p:sp>
        <p:nvSpPr>
          <p:cNvPr id="15" name="Shape 13"/>
          <p:cNvSpPr/>
          <p:nvPr/>
        </p:nvSpPr>
        <p:spPr>
          <a:xfrm>
            <a:off x="914400" y="4018788"/>
            <a:ext cx="420624" cy="420624"/>
          </a:xfrm>
          <a:prstGeom prst="ellipse">
            <a:avLst/>
          </a:prstGeom>
          <a:solidFill>
            <a:srgbClr val="FF4757"/>
          </a:solidFill>
          <a:ln/>
        </p:spPr>
        <p:txBody>
          <a:bodyPr/>
          <a:p/>
        </p:txBody>
      </p:sp>
      <p:sp>
        <p:nvSpPr>
          <p:cNvPr id="16" name="Text 14"/>
          <p:cNvSpPr/>
          <p:nvPr/>
        </p:nvSpPr>
        <p:spPr>
          <a:xfrm>
            <a:off x="914400" y="40187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794760"/>
            <a:ext cx="5943600" cy="8686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Alegeți „Înscrierea echipei, în sală”: nume, membri, temă.</a:t>
            </a:r>
            <a:endParaRPr lang="en-US" sz="1600" dirty="0"/>
          </a:p>
        </p:txBody>
      </p:sp>
      <p:sp>
        <p:nvSpPr>
          <p:cNvPr id="18" name="Shape 16"/>
          <p:cNvSpPr/>
          <p:nvPr/>
        </p:nvSpPr>
        <p:spPr>
          <a:xfrm>
            <a:off x="594360" y="4800600"/>
            <a:ext cx="7223760" cy="868680"/>
          </a:xfrm>
          <a:prstGeom prst="roundRect">
            <a:avLst>
              <a:gd name="adj" fmla="val 9474"/>
            </a:avLst>
          </a:prstGeom>
          <a:solidFill>
            <a:srgbClr val="ECEAE4"/>
          </a:solidFill>
          <a:ln w="12700">
            <a:solidFill>
              <a:srgbClr val="ECEAE4"/>
            </a:solidFill>
            <a:prstDash val="solid"/>
          </a:ln>
        </p:spPr>
        <p:txBody>
          <a:bodyPr/>
          <a:p/>
        </p:txBody>
      </p:sp>
      <p:sp>
        <p:nvSpPr>
          <p:cNvPr id="19" name="Shape 17"/>
          <p:cNvSpPr/>
          <p:nvPr/>
        </p:nvSpPr>
        <p:spPr>
          <a:xfrm>
            <a:off x="914400" y="5024628"/>
            <a:ext cx="420624" cy="420624"/>
          </a:xfrm>
          <a:prstGeom prst="ellipse">
            <a:avLst/>
          </a:prstGeom>
          <a:solidFill>
            <a:srgbClr val="FF4757"/>
          </a:solidFill>
          <a:ln/>
        </p:spPr>
        <p:txBody>
          <a:bodyPr/>
          <a:p/>
        </p:txBody>
      </p:sp>
      <p:sp>
        <p:nvSpPr>
          <p:cNvPr id="20" name="Text 18"/>
          <p:cNvSpPr/>
          <p:nvPr/>
        </p:nvSpPr>
        <p:spPr>
          <a:xfrm>
            <a:off x="914400" y="50246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800600"/>
            <a:ext cx="5943600" cy="868680"/>
          </a:xfrm>
          <a:prstGeom prst="rect">
            <a:avLst/>
          </a:prstGeom>
          <a:noFill/>
          <a:ln/>
        </p:spPr>
        <p:txBody>
          <a:bodyPr wrap="square" lIns="0" tIns="0" rIns="0" bIns="0" rtlCol="0" anchor="ctr"/>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Tema are deja două echipe? Alegeți a doua variantă.</a:t>
            </a:r>
            <a:endParaRPr lang="en-US" sz="1600" dirty="0"/>
          </a:p>
        </p:txBody>
      </p:sp>
      <p:sp>
        <p:nvSpPr>
          <p:cNvPr id="22" name="Shape 20"/>
          <p:cNvSpPr/>
          <p:nvPr/>
        </p:nvSpPr>
        <p:spPr>
          <a:xfrm>
            <a:off x="8138160" y="1783080"/>
            <a:ext cx="3429000" cy="2926080"/>
          </a:xfrm>
          <a:prstGeom prst="roundRect">
            <a:avLst>
              <a:gd name="adj" fmla="val 3125"/>
            </a:avLst>
          </a:prstGeom>
          <a:solidFill>
            <a:srgbClr val="FFFFFF"/>
          </a:solidFill>
          <a:ln w="19050">
            <a:solidFill>
              <a:srgbClr val="8E94A8"/>
            </a:solidFill>
            <a:prstDash val="dash"/>
          </a:ln>
        </p:spPr>
        <p:txBody>
          <a:bodyPr/>
          <a:p/>
        </p:txBody>
      </p:sp>
      <p:sp>
        <p:nvSpPr>
          <p:cNvPr id="24" name="Text 22"/>
          <p:cNvSpPr/>
          <p:nvPr/>
        </p:nvSpPr>
        <p:spPr>
          <a:xfrm>
            <a:off x="8138160" y="4846320"/>
            <a:ext cx="3429000" cy="822960"/>
          </a:xfrm>
          <a:prstGeom prst="rect">
            <a:avLst/>
          </a:prstGeom>
          <a:noFill/>
          <a:ln/>
        </p:spPr>
        <p:txBody>
          <a:bodyPr wrap="square" lIns="0" tIns="0" rIns="0" bIns="0" rtlCol="0" anchor="t"/>
          <a:lstStyle/>
          <a:p>
            <a:pPr indent="0" marL="0">
              <a:buNone/>
            </a:pPr>
            <a:r>
              <a:rPr lang="en-US" sz="1450" dirty="0">
                <a:solidFill>
                  <a:srgbClr val="585A64"/>
                </a:solidFill>
                <a:latin typeface="Palatino Linotype" pitchFamily="34" charset="0"/>
                <a:ea typeface="Palatino Linotype" pitchFamily="34" charset="-122"/>
                <a:cs typeface="Palatino Linotype" pitchFamily="34" charset="-120"/>
              </a:rPr>
              <a:t>Pe ecran apare, în timp real, câte echipe au ales fiecare temă.</a:t>
            </a:r>
            <a:endParaRPr lang="en-US" sz="1450" dirty="0"/>
          </a:p>
        </p:txBody>
      </p:sp>
      <p:sp>
        <p:nvSpPr>
          <p:cNvPr id="25" name="Text 23"/>
          <p:cNvSpPr/>
          <p:nvPr/>
        </p:nvSpPr>
        <p:spPr>
          <a:xfrm>
            <a:off x="594360" y="5760720"/>
            <a:ext cx="10972800" cy="457200"/>
          </a:xfrm>
          <a:prstGeom prst="rect">
            <a:avLst/>
          </a:prstGeom>
          <a:noFill/>
          <a:ln/>
        </p:spPr>
        <p:txBody>
          <a:bodyPr wrap="square" lIns="0" tIns="0" rIns="0" bIns="0" rtlCol="0" anchor="t"/>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Cine rămâne fără echipă este repartizat de titular.</a:t>
            </a:r>
            <a:endParaRPr lang="en-US" sz="1550" dirty="0"/>
          </a:p>
        </p:txBody>
      </p:sp>
      <p:pic>
        <p:nvPicPr>
          <p:cNvPr id="26" name="Picture 25" descr="UB_ISP_LP01_fisa_echipei.png"/>
          <p:cNvPicPr>
            <a:picLocks noChangeAspect="1"/>
          </p:cNvPicPr>
          <p:nvPr/>
        </p:nvPicPr>
        <p:blipFill>
          <a:blip r:embed="rId3"/>
          <a:stretch>
            <a:fillRect/>
          </a:stretch>
        </p:blipFill>
        <p:spPr>
          <a:xfrm>
            <a:off x="8595995" y="1783080"/>
            <a:ext cx="2513330" cy="2513330"/>
          </a:xfrm>
          <a:prstGeom prst="rect">
            <a:avLst/>
          </a:prstGeom>
        </p:spPr>
      </p:pic>
      <p:sp>
        <p:nvSpPr>
          <p:cNvPr id="27" name="TextBox 26"/>
          <p:cNvSpPr txBox="1"/>
          <p:nvPr/>
        </p:nvSpPr>
        <p:spPr>
          <a:xfrm>
            <a:off x="8595995" y="4334510"/>
            <a:ext cx="2513330" cy="412750"/>
          </a:xfrm>
          <a:prstGeom prst="rect">
            <a:avLst/>
          </a:prstGeom>
          <a:noFill/>
        </p:spPr>
        <p:txBody>
          <a:bodyPr wrap="square" lIns="0" rIns="0" tIns="0" bIns="0" anchor="t">
            <a:spAutoFit/>
          </a:bodyPr>
          <a:lstStyle/>
          <a:p>
            <a:pPr algn="ctr"/>
            <a:r>
              <a:rPr sz="1300" b="1">
                <a:solidFill>
                  <a:srgbClr val="B02532"/>
                </a:solidFill>
                <a:latin typeface="Palatino Linotype"/>
              </a:rPr>
              <a:t>Fișa echipei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TEST PE TELEFON · INDIVIDUAL</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TESTUL DE PORNIRE</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Ce ați prins de la curs și din regula cifrei</a:t>
            </a:r>
            <a:endParaRPr lang="en-US" sz="3000" dirty="0"/>
          </a:p>
        </p:txBody>
      </p:sp>
      <p:sp>
        <p:nvSpPr>
          <p:cNvPr id="6" name="Shape 4"/>
          <p:cNvSpPr/>
          <p:nvPr/>
        </p:nvSpPr>
        <p:spPr>
          <a:xfrm>
            <a:off x="594360" y="1783080"/>
            <a:ext cx="7132320" cy="1097280"/>
          </a:xfrm>
          <a:prstGeom prst="roundRect">
            <a:avLst>
              <a:gd name="adj" fmla="val 7500"/>
            </a:avLst>
          </a:prstGeom>
          <a:solidFill>
            <a:srgbClr val="1D1F2B"/>
          </a:solidFill>
          <a:ln w="12700">
            <a:solidFill>
              <a:srgbClr val="1D1F2B"/>
            </a:solidFill>
            <a:prstDash val="solid"/>
          </a:ln>
        </p:spPr>
        <p:txBody>
          <a:bodyPr/>
          <a:p/>
        </p:txBody>
      </p:sp>
      <p:sp>
        <p:nvSpPr>
          <p:cNvPr id="7" name="Text 5"/>
          <p:cNvSpPr/>
          <p:nvPr/>
        </p:nvSpPr>
        <p:spPr>
          <a:xfrm>
            <a:off x="868680" y="1783080"/>
            <a:ext cx="2103120" cy="1097280"/>
          </a:xfrm>
          <a:prstGeom prst="rect">
            <a:avLst/>
          </a:prstGeom>
          <a:noFill/>
          <a:ln/>
        </p:spPr>
        <p:txBody>
          <a:bodyPr wrap="square" lIns="0" tIns="0" rIns="0" bIns="0" rtlCol="0" anchor="ctr"/>
          <a:lstStyle/>
          <a:p>
            <a:pPr indent="0" marL="0">
              <a:buNone/>
            </a:pPr>
            <a:r>
              <a:rPr lang="en-US" sz="3600" b="1" dirty="0">
                <a:solidFill>
                  <a:srgbClr val="FF4757"/>
                </a:solidFill>
                <a:latin typeface="Palatino Linotype" pitchFamily="34" charset="0"/>
                <a:ea typeface="Palatino Linotype" pitchFamily="34" charset="-122"/>
                <a:cs typeface="Palatino Linotype" pitchFamily="34" charset="-120"/>
              </a:rPr>
              <a:t>opt</a:t>
            </a:r>
            <a:endParaRPr lang="en-US" sz="3600" dirty="0"/>
          </a:p>
        </p:txBody>
      </p:sp>
      <p:sp>
        <p:nvSpPr>
          <p:cNvPr id="8" name="Text 6"/>
          <p:cNvSpPr/>
          <p:nvPr/>
        </p:nvSpPr>
        <p:spPr>
          <a:xfrm>
            <a:off x="3017520" y="1783080"/>
            <a:ext cx="4572000" cy="10972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întrebări, fiecare cu un singur răspuns corect</a:t>
            </a:r>
            <a:endParaRPr lang="en-US" sz="1700" dirty="0"/>
          </a:p>
        </p:txBody>
      </p:sp>
      <p:sp>
        <p:nvSpPr>
          <p:cNvPr id="9" name="Shape 7"/>
          <p:cNvSpPr/>
          <p:nvPr/>
        </p:nvSpPr>
        <p:spPr>
          <a:xfrm>
            <a:off x="594360" y="3063240"/>
            <a:ext cx="7132320" cy="1097280"/>
          </a:xfrm>
          <a:prstGeom prst="roundRect">
            <a:avLst>
              <a:gd name="adj" fmla="val 7500"/>
            </a:avLst>
          </a:prstGeom>
          <a:solidFill>
            <a:srgbClr val="1D1F2B"/>
          </a:solidFill>
          <a:ln w="12700">
            <a:solidFill>
              <a:srgbClr val="1D1F2B"/>
            </a:solidFill>
            <a:prstDash val="solid"/>
          </a:ln>
        </p:spPr>
        <p:txBody>
          <a:bodyPr/>
          <a:p/>
        </p:txBody>
      </p:sp>
      <p:sp>
        <p:nvSpPr>
          <p:cNvPr id="10" name="Text 8"/>
          <p:cNvSpPr/>
          <p:nvPr/>
        </p:nvSpPr>
        <p:spPr>
          <a:xfrm>
            <a:off x="868680" y="3063240"/>
            <a:ext cx="2103120" cy="1097280"/>
          </a:xfrm>
          <a:prstGeom prst="rect">
            <a:avLst/>
          </a:prstGeom>
          <a:noFill/>
          <a:ln/>
        </p:spPr>
        <p:txBody>
          <a:bodyPr wrap="square" lIns="0" tIns="0" rIns="0" bIns="0" rtlCol="0" anchor="ctr"/>
          <a:lstStyle/>
          <a:p>
            <a:pPr indent="0" marL="0">
              <a:buNone/>
            </a:pPr>
            <a:r>
              <a:rPr lang="en-US" sz="3600" b="1" dirty="0">
                <a:solidFill>
                  <a:srgbClr val="27D3BE"/>
                </a:solidFill>
                <a:latin typeface="Palatino Linotype" pitchFamily="34" charset="0"/>
                <a:ea typeface="Palatino Linotype" pitchFamily="34" charset="-122"/>
                <a:cs typeface="Palatino Linotype" pitchFamily="34" charset="-120"/>
              </a:rPr>
              <a:t>șapte</a:t>
            </a:r>
            <a:endParaRPr lang="en-US" sz="3600" dirty="0"/>
          </a:p>
        </p:txBody>
      </p:sp>
      <p:sp>
        <p:nvSpPr>
          <p:cNvPr id="11" name="Text 9"/>
          <p:cNvSpPr/>
          <p:nvPr/>
        </p:nvSpPr>
        <p:spPr>
          <a:xfrm>
            <a:off x="3017520" y="3063240"/>
            <a:ext cx="4572000" cy="10972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minute, individual, pe telefon, cu contul instituțional</a:t>
            </a:r>
            <a:endParaRPr lang="en-US" sz="1700" dirty="0"/>
          </a:p>
        </p:txBody>
      </p:sp>
      <p:sp>
        <p:nvSpPr>
          <p:cNvPr id="12" name="Shape 10"/>
          <p:cNvSpPr/>
          <p:nvPr/>
        </p:nvSpPr>
        <p:spPr>
          <a:xfrm>
            <a:off x="594360" y="4343400"/>
            <a:ext cx="7132320" cy="1097280"/>
          </a:xfrm>
          <a:prstGeom prst="roundRect">
            <a:avLst>
              <a:gd name="adj" fmla="val 7500"/>
            </a:avLst>
          </a:prstGeom>
          <a:solidFill>
            <a:srgbClr val="1D1F2B"/>
          </a:solidFill>
          <a:ln w="12700">
            <a:solidFill>
              <a:srgbClr val="1D1F2B"/>
            </a:solidFill>
            <a:prstDash val="solid"/>
          </a:ln>
        </p:spPr>
        <p:txBody>
          <a:bodyPr/>
          <a:p/>
        </p:txBody>
      </p:sp>
      <p:sp>
        <p:nvSpPr>
          <p:cNvPr id="13" name="Text 11"/>
          <p:cNvSpPr/>
          <p:nvPr/>
        </p:nvSpPr>
        <p:spPr>
          <a:xfrm>
            <a:off x="868680" y="4343400"/>
            <a:ext cx="2103120" cy="1097280"/>
          </a:xfrm>
          <a:prstGeom prst="rect">
            <a:avLst/>
          </a:prstGeom>
          <a:noFill/>
          <a:ln/>
        </p:spPr>
        <p:txBody>
          <a:bodyPr wrap="square" lIns="0" tIns="0" rIns="0" bIns="0" rtlCol="0" anchor="ctr"/>
          <a:lstStyle/>
          <a:p>
            <a:pPr indent="0" marL="0">
              <a:buNone/>
            </a:pPr>
            <a:r>
              <a:rPr lang="en-US" sz="3600" b="1" dirty="0">
                <a:solidFill>
                  <a:srgbClr val="FFC24B"/>
                </a:solidFill>
                <a:latin typeface="Palatino Linotype" pitchFamily="34" charset="0"/>
                <a:ea typeface="Palatino Linotype" pitchFamily="34" charset="-122"/>
                <a:cs typeface="Palatino Linotype" pitchFamily="34" charset="-120"/>
              </a:rPr>
              <a:t>zero</a:t>
            </a:r>
            <a:endParaRPr lang="en-US" sz="3600" dirty="0"/>
          </a:p>
        </p:txBody>
      </p:sp>
      <p:sp>
        <p:nvSpPr>
          <p:cNvPr id="14" name="Text 12"/>
          <p:cNvSpPr/>
          <p:nvPr/>
        </p:nvSpPr>
        <p:spPr>
          <a:xfrm>
            <a:off x="3017520" y="4343400"/>
            <a:ext cx="4572000" cy="109728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note: testul nu se notează</a:t>
            </a:r>
            <a:endParaRPr lang="en-US" sz="1700" dirty="0"/>
          </a:p>
        </p:txBody>
      </p:sp>
      <p:sp>
        <p:nvSpPr>
          <p:cNvPr id="15" name="Text 13"/>
          <p:cNvSpPr/>
          <p:nvPr/>
        </p:nvSpPr>
        <p:spPr>
          <a:xfrm>
            <a:off x="594360" y="5623560"/>
            <a:ext cx="7132320" cy="640080"/>
          </a:xfrm>
          <a:prstGeom prst="rect">
            <a:avLst/>
          </a:prstGeom>
          <a:noFill/>
          <a:ln/>
        </p:spPr>
        <p:txBody>
          <a:bodyPr wrap="square" lIns="0" tIns="0" rIns="0" bIns="0" rtlCol="0" anchor="t"/>
          <a:lstStyle/>
          <a:p>
            <a:pPr indent="0" marL="0">
              <a:buNone/>
            </a:pPr>
            <a:r>
              <a:rPr lang="en-US" sz="1450" dirty="0">
                <a:solidFill>
                  <a:srgbClr val="959BB0"/>
                </a:solidFill>
                <a:latin typeface="Palatino Linotype" pitchFamily="34" charset="0"/>
                <a:ea typeface="Palatino Linotype" pitchFamily="34" charset="-122"/>
                <a:cs typeface="Palatino Linotype" pitchFamily="34" charset="-120"/>
              </a:rPr>
              <a:t>Cinci întrebări sunt din cursul despre istoricul sănătății publice, trei din regula cifrei. După trimitere, formularul arată răspunsurile corecte și explicațiile.</a:t>
            </a:r>
            <a:endParaRPr lang="en-US" sz="1450" dirty="0"/>
          </a:p>
        </p:txBody>
      </p:sp>
      <p:sp>
        <p:nvSpPr>
          <p:cNvPr id="16" name="Shape 14"/>
          <p:cNvSpPr/>
          <p:nvPr/>
        </p:nvSpPr>
        <p:spPr>
          <a:xfrm>
            <a:off x="8138160" y="1783080"/>
            <a:ext cx="3429000" cy="3474720"/>
          </a:xfrm>
          <a:prstGeom prst="roundRect">
            <a:avLst>
              <a:gd name="adj" fmla="val 2667"/>
            </a:avLst>
          </a:prstGeom>
          <a:solidFill>
            <a:srgbClr val="FFFFFF"/>
          </a:solidFill>
          <a:ln w="19050">
            <a:solidFill>
              <a:srgbClr val="8E94A8"/>
            </a:solidFill>
            <a:prstDash val="dash"/>
          </a:ln>
        </p:spPr>
        <p:txBody>
          <a:bodyPr/>
          <a:p/>
        </p:txBody>
      </p:sp>
      <p:pic>
        <p:nvPicPr>
          <p:cNvPr id="17" name="Picture 16" descr="UB_ISP_LP01_test_pornire.png"/>
          <p:cNvPicPr>
            <a:picLocks noChangeAspect="1"/>
          </p:cNvPicPr>
          <p:nvPr/>
        </p:nvPicPr>
        <p:blipFill>
          <a:blip r:embed="rId3"/>
          <a:stretch>
            <a:fillRect/>
          </a:stretch>
        </p:blipFill>
        <p:spPr>
          <a:xfrm>
            <a:off x="8321675" y="1783080"/>
            <a:ext cx="3061970" cy="3061970"/>
          </a:xfrm>
          <a:prstGeom prst="rect">
            <a:avLst/>
          </a:prstGeom>
        </p:spPr>
      </p:pic>
      <p:sp>
        <p:nvSpPr>
          <p:cNvPr id="18" name="TextBox 17"/>
          <p:cNvSpPr txBox="1"/>
          <p:nvPr/>
        </p:nvSpPr>
        <p:spPr>
          <a:xfrm>
            <a:off x="8321675" y="4883150"/>
            <a:ext cx="3061970" cy="412750"/>
          </a:xfrm>
          <a:prstGeom prst="rect">
            <a:avLst/>
          </a:prstGeom>
          <a:noFill/>
        </p:spPr>
        <p:txBody>
          <a:bodyPr wrap="square" lIns="0" rIns="0" tIns="0" bIns="0" anchor="t">
            <a:spAutoFit/>
          </a:bodyPr>
          <a:lstStyle/>
          <a:p>
            <a:pPr algn="ctr"/>
            <a:r>
              <a:rPr sz="1300" b="1">
                <a:solidFill>
                  <a:srgbClr val="B02532"/>
                </a:solidFill>
                <a:latin typeface="Palatino Linotype"/>
              </a:rPr>
              <a:t>Testul de pornire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GHIDUL PROIECTULUI · O PAGINĂ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Șapte seminarii, un proiect</a:t>
            </a:r>
            <a:endParaRPr lang="en-US" sz="3000" dirty="0"/>
          </a:p>
        </p:txBody>
      </p:sp>
      <p:sp>
        <p:nvSpPr>
          <p:cNvPr id="4" name="Shape 2"/>
          <p:cNvSpPr/>
          <p:nvPr/>
        </p:nvSpPr>
        <p:spPr>
          <a:xfrm>
            <a:off x="594360" y="1371600"/>
            <a:ext cx="10972800" cy="384048"/>
          </a:xfrm>
          <a:prstGeom prst="rect">
            <a:avLst/>
          </a:prstGeom>
          <a:solidFill>
            <a:srgbClr val="11121A"/>
          </a:solidFill>
          <a:ln w="12700">
            <a:solidFill>
              <a:srgbClr val="11121A"/>
            </a:solidFill>
            <a:prstDash val="solid"/>
          </a:ln>
        </p:spPr>
        <p:txBody>
          <a:bodyPr/>
          <a:p/>
        </p:txBody>
      </p:sp>
      <p:sp>
        <p:nvSpPr>
          <p:cNvPr id="5" name="Text 3"/>
          <p:cNvSpPr/>
          <p:nvPr/>
        </p:nvSpPr>
        <p:spPr>
          <a:xfrm>
            <a:off x="731520" y="1371600"/>
            <a:ext cx="548640" cy="384048"/>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Nr.</a:t>
            </a:r>
            <a:endParaRPr lang="en-US" sz="1300" dirty="0"/>
          </a:p>
        </p:txBody>
      </p:sp>
      <p:sp>
        <p:nvSpPr>
          <p:cNvPr id="6" name="Text 4"/>
          <p:cNvSpPr/>
          <p:nvPr/>
        </p:nvSpPr>
        <p:spPr>
          <a:xfrm>
            <a:off x="1463040" y="1371600"/>
            <a:ext cx="2468880" cy="384048"/>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Data</a:t>
            </a:r>
            <a:endParaRPr lang="en-US" sz="1300" dirty="0"/>
          </a:p>
        </p:txBody>
      </p:sp>
      <p:sp>
        <p:nvSpPr>
          <p:cNvPr id="7" name="Text 5"/>
          <p:cNvSpPr/>
          <p:nvPr/>
        </p:nvSpPr>
        <p:spPr>
          <a:xfrm>
            <a:off x="4114800" y="1371600"/>
            <a:ext cx="3840480" cy="384048"/>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Tema</a:t>
            </a:r>
            <a:endParaRPr lang="en-US" sz="1300" dirty="0"/>
          </a:p>
        </p:txBody>
      </p:sp>
      <p:sp>
        <p:nvSpPr>
          <p:cNvPr id="8" name="Text 6"/>
          <p:cNvSpPr/>
          <p:nvPr/>
        </p:nvSpPr>
        <p:spPr>
          <a:xfrm>
            <a:off x="8138160" y="1371600"/>
            <a:ext cx="3383280" cy="384048"/>
          </a:xfrm>
          <a:prstGeom prst="rect">
            <a:avLst/>
          </a:prstGeom>
          <a:noFill/>
          <a:ln/>
        </p:spPr>
        <p:txBody>
          <a:bodyPr wrap="square" lIns="0" tIns="0" rIns="0" bIns="0" rtlCol="0" anchor="ctr"/>
          <a:lstStyle/>
          <a:p>
            <a:pPr indent="0" marL="0">
              <a:buNone/>
            </a:pPr>
            <a:r>
              <a:rPr lang="en-US" sz="1300" b="1" dirty="0">
                <a:solidFill>
                  <a:srgbClr val="FFFFFF"/>
                </a:solidFill>
                <a:latin typeface="Palatino Linotype" pitchFamily="34" charset="0"/>
                <a:ea typeface="Palatino Linotype" pitchFamily="34" charset="-122"/>
                <a:cs typeface="Palatino Linotype" pitchFamily="34" charset="-120"/>
              </a:rPr>
              <a:t>Produsul echipei</a:t>
            </a:r>
            <a:endParaRPr lang="en-US" sz="1300" dirty="0"/>
          </a:p>
        </p:txBody>
      </p:sp>
      <p:sp>
        <p:nvSpPr>
          <p:cNvPr id="9" name="Shape 7"/>
          <p:cNvSpPr/>
          <p:nvPr/>
        </p:nvSpPr>
        <p:spPr>
          <a:xfrm>
            <a:off x="594360" y="1801368"/>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10" name="Text 8"/>
          <p:cNvSpPr/>
          <p:nvPr/>
        </p:nvSpPr>
        <p:spPr>
          <a:xfrm>
            <a:off x="731520" y="1801368"/>
            <a:ext cx="457200" cy="56692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1</a:t>
            </a:r>
            <a:endParaRPr lang="en-US" sz="1800" dirty="0"/>
          </a:p>
        </p:txBody>
      </p:sp>
      <p:sp>
        <p:nvSpPr>
          <p:cNvPr id="11" name="Text 9"/>
          <p:cNvSpPr/>
          <p:nvPr/>
        </p:nvSpPr>
        <p:spPr>
          <a:xfrm>
            <a:off x="1463040" y="1801368"/>
            <a:ext cx="2651760" cy="566928"/>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6.10.2026</a:t>
            </a:r>
            <a:endParaRPr lang="en-US" sz="1500" dirty="0"/>
          </a:p>
        </p:txBody>
      </p:sp>
      <p:sp>
        <p:nvSpPr>
          <p:cNvPr id="12" name="Text 10"/>
          <p:cNvSpPr/>
          <p:nvPr/>
        </p:nvSpPr>
        <p:spPr>
          <a:xfrm>
            <a:off x="4114800" y="1801368"/>
            <a:ext cx="37490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Lansarea proiectului de echipă</a:t>
            </a:r>
            <a:endParaRPr lang="en-US" sz="1350" dirty="0"/>
          </a:p>
        </p:txBody>
      </p:sp>
      <p:sp>
        <p:nvSpPr>
          <p:cNvPr id="13" name="Text 11"/>
          <p:cNvSpPr/>
          <p:nvPr/>
        </p:nvSpPr>
        <p:spPr>
          <a:xfrm>
            <a:off x="8138160" y="1801368"/>
            <a:ext cx="333756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fișa echipei și definirea problemei (nu se notează)</a:t>
            </a:r>
            <a:endParaRPr lang="en-US" sz="1350" dirty="0"/>
          </a:p>
        </p:txBody>
      </p:sp>
      <p:sp>
        <p:nvSpPr>
          <p:cNvPr id="14" name="Shape 12"/>
          <p:cNvSpPr/>
          <p:nvPr/>
        </p:nvSpPr>
        <p:spPr>
          <a:xfrm>
            <a:off x="594360" y="2404872"/>
            <a:ext cx="10972800" cy="566928"/>
          </a:xfrm>
          <a:prstGeom prst="roundRect">
            <a:avLst>
              <a:gd name="adj" fmla="val 14516"/>
            </a:avLst>
          </a:prstGeom>
          <a:solidFill>
            <a:srgbClr val="F9F8F5"/>
          </a:solidFill>
          <a:ln w="12700">
            <a:solidFill>
              <a:srgbClr val="F9F8F5"/>
            </a:solidFill>
            <a:prstDash val="solid"/>
          </a:ln>
        </p:spPr>
        <p:txBody>
          <a:bodyPr/>
          <a:p/>
        </p:txBody>
      </p:sp>
      <p:sp>
        <p:nvSpPr>
          <p:cNvPr id="15" name="Text 13"/>
          <p:cNvSpPr/>
          <p:nvPr/>
        </p:nvSpPr>
        <p:spPr>
          <a:xfrm>
            <a:off x="731520" y="2404872"/>
            <a:ext cx="457200" cy="56692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2</a:t>
            </a:r>
            <a:endParaRPr lang="en-US" sz="1800" dirty="0"/>
          </a:p>
        </p:txBody>
      </p:sp>
      <p:sp>
        <p:nvSpPr>
          <p:cNvPr id="16" name="Text 14"/>
          <p:cNvSpPr/>
          <p:nvPr/>
        </p:nvSpPr>
        <p:spPr>
          <a:xfrm>
            <a:off x="1463040" y="2404872"/>
            <a:ext cx="2651760" cy="566928"/>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20.10.2026</a:t>
            </a:r>
            <a:endParaRPr lang="en-US" sz="1500" dirty="0"/>
          </a:p>
        </p:txBody>
      </p:sp>
      <p:sp>
        <p:nvSpPr>
          <p:cNvPr id="17" name="Text 15"/>
          <p:cNvSpPr/>
          <p:nvPr/>
        </p:nvSpPr>
        <p:spPr>
          <a:xfrm>
            <a:off x="4114800" y="2404872"/>
            <a:ext cx="37490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Surse de date și indicatori</a:t>
            </a:r>
            <a:endParaRPr lang="en-US" sz="1350" dirty="0"/>
          </a:p>
        </p:txBody>
      </p:sp>
      <p:sp>
        <p:nvSpPr>
          <p:cNvPr id="18" name="Text 16"/>
          <p:cNvSpPr/>
          <p:nvPr/>
        </p:nvSpPr>
        <p:spPr>
          <a:xfrm>
            <a:off x="8138160" y="2404872"/>
            <a:ext cx="333756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registrul surselor și un tabel sau un grafic</a:t>
            </a:r>
            <a:endParaRPr lang="en-US" sz="1350" dirty="0"/>
          </a:p>
        </p:txBody>
      </p:sp>
      <p:sp>
        <p:nvSpPr>
          <p:cNvPr id="19" name="Shape 17"/>
          <p:cNvSpPr/>
          <p:nvPr/>
        </p:nvSpPr>
        <p:spPr>
          <a:xfrm>
            <a:off x="594360" y="3008376"/>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20" name="Text 18"/>
          <p:cNvSpPr/>
          <p:nvPr/>
        </p:nvSpPr>
        <p:spPr>
          <a:xfrm>
            <a:off x="731520" y="3008376"/>
            <a:ext cx="457200" cy="56692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3</a:t>
            </a:r>
            <a:endParaRPr lang="en-US" sz="1800" dirty="0"/>
          </a:p>
        </p:txBody>
      </p:sp>
      <p:sp>
        <p:nvSpPr>
          <p:cNvPr id="21" name="Text 19"/>
          <p:cNvSpPr/>
          <p:nvPr/>
        </p:nvSpPr>
        <p:spPr>
          <a:xfrm>
            <a:off x="1463040" y="3008376"/>
            <a:ext cx="2651760" cy="566928"/>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3.11.2026</a:t>
            </a:r>
            <a:endParaRPr lang="en-US" sz="1500" dirty="0"/>
          </a:p>
        </p:txBody>
      </p:sp>
      <p:sp>
        <p:nvSpPr>
          <p:cNvPr id="22" name="Text 20"/>
          <p:cNvSpPr/>
          <p:nvPr/>
        </p:nvSpPr>
        <p:spPr>
          <a:xfrm>
            <a:off x="4114800" y="3008376"/>
            <a:ext cx="37490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Citirea datelor și elemente epidemiologice</a:t>
            </a:r>
            <a:endParaRPr lang="en-US" sz="1350" dirty="0"/>
          </a:p>
        </p:txBody>
      </p:sp>
      <p:sp>
        <p:nvSpPr>
          <p:cNvPr id="23" name="Text 21"/>
          <p:cNvSpPr/>
          <p:nvPr/>
        </p:nvSpPr>
        <p:spPr>
          <a:xfrm>
            <a:off x="8138160" y="3008376"/>
            <a:ext cx="333756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descrierea datelor și schema cauzală</a:t>
            </a:r>
            <a:endParaRPr lang="en-US" sz="1350" dirty="0"/>
          </a:p>
        </p:txBody>
      </p:sp>
      <p:sp>
        <p:nvSpPr>
          <p:cNvPr id="24" name="Shape 22"/>
          <p:cNvSpPr/>
          <p:nvPr/>
        </p:nvSpPr>
        <p:spPr>
          <a:xfrm>
            <a:off x="594360" y="3611880"/>
            <a:ext cx="10972800" cy="566928"/>
          </a:xfrm>
          <a:prstGeom prst="roundRect">
            <a:avLst>
              <a:gd name="adj" fmla="val 14516"/>
            </a:avLst>
          </a:prstGeom>
          <a:solidFill>
            <a:srgbClr val="F9F8F5"/>
          </a:solidFill>
          <a:ln w="12700">
            <a:solidFill>
              <a:srgbClr val="F9F8F5"/>
            </a:solidFill>
            <a:prstDash val="solid"/>
          </a:ln>
        </p:spPr>
        <p:txBody>
          <a:bodyPr/>
          <a:p/>
        </p:txBody>
      </p:sp>
      <p:sp>
        <p:nvSpPr>
          <p:cNvPr id="25" name="Text 23"/>
          <p:cNvSpPr/>
          <p:nvPr/>
        </p:nvSpPr>
        <p:spPr>
          <a:xfrm>
            <a:off x="731520" y="3611880"/>
            <a:ext cx="457200" cy="56692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4</a:t>
            </a:r>
            <a:endParaRPr lang="en-US" sz="1800" dirty="0"/>
          </a:p>
        </p:txBody>
      </p:sp>
      <p:sp>
        <p:nvSpPr>
          <p:cNvPr id="26" name="Text 24"/>
          <p:cNvSpPr/>
          <p:nvPr/>
        </p:nvSpPr>
        <p:spPr>
          <a:xfrm>
            <a:off x="1463040" y="3611880"/>
            <a:ext cx="2651760" cy="566928"/>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17.11.2026</a:t>
            </a:r>
            <a:endParaRPr lang="en-US" sz="1500" dirty="0"/>
          </a:p>
        </p:txBody>
      </p:sp>
      <p:sp>
        <p:nvSpPr>
          <p:cNvPr id="27" name="Text 25"/>
          <p:cNvSpPr/>
          <p:nvPr/>
        </p:nvSpPr>
        <p:spPr>
          <a:xfrm>
            <a:off x="4114800" y="3611880"/>
            <a:ext cx="37490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Determinanți sociali, comportamente de risc și grupuri vulnerabile</a:t>
            </a:r>
            <a:endParaRPr lang="en-US" sz="1350" dirty="0"/>
          </a:p>
        </p:txBody>
      </p:sp>
      <p:sp>
        <p:nvSpPr>
          <p:cNvPr id="28" name="Text 26"/>
          <p:cNvSpPr/>
          <p:nvPr/>
        </p:nvSpPr>
        <p:spPr>
          <a:xfrm>
            <a:off x="8138160" y="3611880"/>
            <a:ext cx="333756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harta determinanților</a:t>
            </a:r>
            <a:endParaRPr lang="en-US" sz="1350" dirty="0"/>
          </a:p>
        </p:txBody>
      </p:sp>
      <p:sp>
        <p:nvSpPr>
          <p:cNvPr id="29" name="Shape 27"/>
          <p:cNvSpPr/>
          <p:nvPr/>
        </p:nvSpPr>
        <p:spPr>
          <a:xfrm>
            <a:off x="594360" y="4215384"/>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30" name="Text 28"/>
          <p:cNvSpPr/>
          <p:nvPr/>
        </p:nvSpPr>
        <p:spPr>
          <a:xfrm>
            <a:off x="731520" y="4215384"/>
            <a:ext cx="457200" cy="56692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5</a:t>
            </a:r>
            <a:endParaRPr lang="en-US" sz="1800" dirty="0"/>
          </a:p>
        </p:txBody>
      </p:sp>
      <p:sp>
        <p:nvSpPr>
          <p:cNvPr id="31" name="Text 29"/>
          <p:cNvSpPr/>
          <p:nvPr/>
        </p:nvSpPr>
        <p:spPr>
          <a:xfrm>
            <a:off x="1463040" y="4215384"/>
            <a:ext cx="2651760" cy="566928"/>
          </a:xfrm>
          <a:prstGeom prst="rect">
            <a:avLst/>
          </a:prstGeom>
          <a:noFill/>
          <a:ln/>
        </p:spPr>
        <p:txBody>
          <a:bodyPr wrap="square" lIns="0" tIns="0" rIns="0" bIns="0" rtlCol="0" anchor="ctr"/>
          <a:lstStyle/>
          <a:p>
            <a:pPr indent="0" marL="0">
              <a:buNone/>
            </a:pPr>
            <a:r>
              <a:rPr lang="en-US" sz="1400" b="1" dirty="0">
                <a:solidFill>
                  <a:srgbClr val="8A6100"/>
                </a:solidFill>
                <a:latin typeface="Palatino Linotype" pitchFamily="34" charset="0"/>
                <a:ea typeface="Palatino Linotype" pitchFamily="34" charset="-122"/>
                <a:cs typeface="Palatino Linotype" pitchFamily="34" charset="-120"/>
              </a:rPr>
              <a:t>1.12.2026</a:t>
            </a:r>
            <a:endParaRPr lang="en-US" sz="1400" dirty="0"/>
          </a:p>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zi liberă · se mută</a:t>
            </a:r>
            <a:endParaRPr lang="en-US" sz="1400" dirty="0"/>
          </a:p>
        </p:txBody>
      </p:sp>
      <p:sp>
        <p:nvSpPr>
          <p:cNvPr id="32" name="Text 30"/>
          <p:cNvSpPr/>
          <p:nvPr/>
        </p:nvSpPr>
        <p:spPr>
          <a:xfrm>
            <a:off x="4114800" y="4215384"/>
            <a:ext cx="37490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Instituții, legislație și circuitul datelor</a:t>
            </a:r>
            <a:endParaRPr lang="en-US" sz="1350" dirty="0"/>
          </a:p>
        </p:txBody>
      </p:sp>
      <p:sp>
        <p:nvSpPr>
          <p:cNvPr id="33" name="Text 31"/>
          <p:cNvSpPr/>
          <p:nvPr/>
        </p:nvSpPr>
        <p:spPr>
          <a:xfrm>
            <a:off x="8138160" y="4215384"/>
            <a:ext cx="333756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harta instituțiilor și fișa actelor normative</a:t>
            </a:r>
            <a:endParaRPr lang="en-US" sz="1350" dirty="0"/>
          </a:p>
        </p:txBody>
      </p:sp>
      <p:sp>
        <p:nvSpPr>
          <p:cNvPr id="34" name="Shape 32"/>
          <p:cNvSpPr/>
          <p:nvPr/>
        </p:nvSpPr>
        <p:spPr>
          <a:xfrm>
            <a:off x="594360" y="4818888"/>
            <a:ext cx="10972800" cy="566928"/>
          </a:xfrm>
          <a:prstGeom prst="roundRect">
            <a:avLst>
              <a:gd name="adj" fmla="val 14516"/>
            </a:avLst>
          </a:prstGeom>
          <a:solidFill>
            <a:srgbClr val="F9F8F5"/>
          </a:solidFill>
          <a:ln w="12700">
            <a:solidFill>
              <a:srgbClr val="F9F8F5"/>
            </a:solidFill>
            <a:prstDash val="solid"/>
          </a:ln>
        </p:spPr>
        <p:txBody>
          <a:bodyPr/>
          <a:p/>
        </p:txBody>
      </p:sp>
      <p:sp>
        <p:nvSpPr>
          <p:cNvPr id="35" name="Text 33"/>
          <p:cNvSpPr/>
          <p:nvPr/>
        </p:nvSpPr>
        <p:spPr>
          <a:xfrm>
            <a:off x="731520" y="4818888"/>
            <a:ext cx="457200" cy="56692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6</a:t>
            </a:r>
            <a:endParaRPr lang="en-US" sz="1800" dirty="0"/>
          </a:p>
        </p:txBody>
      </p:sp>
      <p:sp>
        <p:nvSpPr>
          <p:cNvPr id="36" name="Text 34"/>
          <p:cNvSpPr/>
          <p:nvPr/>
        </p:nvSpPr>
        <p:spPr>
          <a:xfrm>
            <a:off x="1463040" y="4818888"/>
            <a:ext cx="2651760" cy="566928"/>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15.12.2026</a:t>
            </a:r>
            <a:endParaRPr lang="en-US" sz="1500" dirty="0"/>
          </a:p>
        </p:txBody>
      </p:sp>
      <p:sp>
        <p:nvSpPr>
          <p:cNvPr id="37" name="Text 35"/>
          <p:cNvSpPr/>
          <p:nvPr/>
        </p:nvSpPr>
        <p:spPr>
          <a:xfrm>
            <a:off x="4114800" y="4818888"/>
            <a:ext cx="37490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Intervenții, politici și plan de comunicare</a:t>
            </a:r>
            <a:endParaRPr lang="en-US" sz="1350" dirty="0"/>
          </a:p>
        </p:txBody>
      </p:sp>
      <p:sp>
        <p:nvSpPr>
          <p:cNvPr id="38" name="Text 36"/>
          <p:cNvSpPr/>
          <p:nvPr/>
        </p:nvSpPr>
        <p:spPr>
          <a:xfrm>
            <a:off x="8138160" y="4818888"/>
            <a:ext cx="333756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propunerile de intervenții și planul de comunicare</a:t>
            </a:r>
            <a:endParaRPr lang="en-US" sz="1350" dirty="0"/>
          </a:p>
        </p:txBody>
      </p:sp>
      <p:sp>
        <p:nvSpPr>
          <p:cNvPr id="39" name="Shape 37"/>
          <p:cNvSpPr/>
          <p:nvPr/>
        </p:nvSpPr>
        <p:spPr>
          <a:xfrm>
            <a:off x="594360" y="5422392"/>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40" name="Text 38"/>
          <p:cNvSpPr/>
          <p:nvPr/>
        </p:nvSpPr>
        <p:spPr>
          <a:xfrm>
            <a:off x="731520" y="5422392"/>
            <a:ext cx="457200" cy="566928"/>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7</a:t>
            </a:r>
            <a:endParaRPr lang="en-US" sz="1800" dirty="0"/>
          </a:p>
        </p:txBody>
      </p:sp>
      <p:sp>
        <p:nvSpPr>
          <p:cNvPr id="41" name="Text 39"/>
          <p:cNvSpPr/>
          <p:nvPr/>
        </p:nvSpPr>
        <p:spPr>
          <a:xfrm>
            <a:off x="1463040" y="5422392"/>
            <a:ext cx="2651760" cy="566928"/>
          </a:xfrm>
          <a:prstGeom prst="rect">
            <a:avLst/>
          </a:prstGeom>
          <a:noFill/>
          <a:ln/>
        </p:spPr>
        <p:txBody>
          <a:bodyPr wrap="square" lIns="0" tIns="0" rIns="0" bIns="0" rtlCol="0" anchor="ctr"/>
          <a:lstStyle/>
          <a:p>
            <a:pPr indent="0" marL="0">
              <a:buNone/>
            </a:pPr>
            <a:r>
              <a:rPr lang="en-US" sz="1400" b="1" dirty="0">
                <a:solidFill>
                  <a:srgbClr val="8A6100"/>
                </a:solidFill>
                <a:latin typeface="Palatino Linotype" pitchFamily="34" charset="0"/>
                <a:ea typeface="Palatino Linotype" pitchFamily="34" charset="-122"/>
                <a:cs typeface="Palatino Linotype" pitchFamily="34" charset="-120"/>
              </a:rPr>
              <a:t>de confirmat</a:t>
            </a:r>
            <a:endParaRPr lang="en-US" sz="1400" dirty="0"/>
          </a:p>
          <a:p>
            <a:pPr indent="0" marL="0">
              <a:buNone/>
            </a:pPr>
            <a:r>
              <a:rPr lang="en-US" sz="1300" dirty="0">
                <a:solidFill>
                  <a:srgbClr val="585A64"/>
                </a:solidFill>
                <a:latin typeface="Palatino Linotype" pitchFamily="34" charset="0"/>
                <a:ea typeface="Palatino Linotype" pitchFamily="34" charset="-122"/>
                <a:cs typeface="Palatino Linotype" pitchFamily="34" charset="-120"/>
              </a:rPr>
              <a:t>după vacanța de iarnă</a:t>
            </a:r>
            <a:endParaRPr lang="en-US" sz="1400" dirty="0"/>
          </a:p>
        </p:txBody>
      </p:sp>
      <p:sp>
        <p:nvSpPr>
          <p:cNvPr id="42" name="Text 40"/>
          <p:cNvSpPr/>
          <p:nvPr/>
        </p:nvSpPr>
        <p:spPr>
          <a:xfrm>
            <a:off x="4114800" y="5422392"/>
            <a:ext cx="374904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Susținerea proiectelor</a:t>
            </a:r>
            <a:endParaRPr lang="en-US" sz="1350" dirty="0"/>
          </a:p>
        </p:txBody>
      </p:sp>
      <p:sp>
        <p:nvSpPr>
          <p:cNvPr id="43" name="Text 41"/>
          <p:cNvSpPr/>
          <p:nvPr/>
        </p:nvSpPr>
        <p:spPr>
          <a:xfrm>
            <a:off x="8138160" y="5422392"/>
            <a:ext cx="3337560" cy="566928"/>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prezentarea proiectului</a:t>
            </a:r>
            <a:endParaRPr lang="en-US" sz="1350" dirty="0"/>
          </a:p>
        </p:txBody>
      </p:sp>
      <p:sp>
        <p:nvSpPr>
          <p:cNvPr id="44" name="Text 42"/>
          <p:cNvSpPr/>
          <p:nvPr/>
        </p:nvSpPr>
        <p:spPr>
          <a:xfrm>
            <a:off x="594360" y="6080760"/>
            <a:ext cx="10972800" cy="365760"/>
          </a:xfrm>
          <a:prstGeom prst="rect">
            <a:avLst/>
          </a:prstGeom>
          <a:noFill/>
          <a:ln/>
        </p:spPr>
        <p:txBody>
          <a:bodyPr wrap="square" lIns="0" tIns="0" rIns="0" bIns="0" rtlCol="0" anchor="t"/>
          <a:lstStyle/>
          <a:p>
            <a:pPr indent="0" marL="0">
              <a:buNone/>
            </a:pPr>
            <a:r>
              <a:rPr lang="en-US" sz="1450" b="1" dirty="0">
                <a:solidFill>
                  <a:srgbClr val="B02532"/>
                </a:solidFill>
                <a:latin typeface="Palatino Linotype" pitchFamily="34" charset="0"/>
                <a:ea typeface="Palatino Linotype" pitchFamily="34" charset="-122"/>
                <a:cs typeface="Palatino Linotype" pitchFamily="34" charset="-120"/>
              </a:rPr>
              <a:t>Marți, 17–19, sala 1.1 FSI: grupele 101 și 102 împreună, după curs, o dată la două săptămâni. Data de 1.12 se mută.</a:t>
            </a:r>
            <a:endParaRPr lang="en-US" sz="14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7D3BE"/>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073B34"/>
                </a:solidFill>
                <a:latin typeface="Palatino Linotype" pitchFamily="34" charset="0"/>
                <a:ea typeface="Palatino Linotype" pitchFamily="34" charset="-122"/>
                <a:cs typeface="Palatino Linotype" pitchFamily="34" charset="-120"/>
              </a:rPr>
              <a:t>EVALUAREA, PE O PAGINĂ</a:t>
            </a:r>
            <a:endParaRPr lang="en-US" sz="1300" dirty="0"/>
          </a:p>
        </p:txBody>
      </p:sp>
      <p:sp>
        <p:nvSpPr>
          <p:cNvPr id="3" name="Text 1"/>
          <p:cNvSpPr/>
          <p:nvPr/>
        </p:nvSpPr>
        <p:spPr>
          <a:xfrm>
            <a:off x="594360" y="731520"/>
            <a:ext cx="10972800" cy="731520"/>
          </a:xfrm>
          <a:prstGeom prst="rect">
            <a:avLst/>
          </a:prstGeom>
          <a:noFill/>
          <a:ln/>
        </p:spPr>
        <p:txBody>
          <a:bodyPr wrap="square" lIns="0" tIns="0" rIns="0" bIns="0" rtlCol="0" anchor="t"/>
          <a:lstStyle/>
          <a:p>
            <a:pPr indent="0" marL="0">
              <a:buNone/>
            </a:pPr>
            <a:r>
              <a:rPr lang="en-US" sz="3200" b="1" dirty="0">
                <a:solidFill>
                  <a:srgbClr val="073B34"/>
                </a:solidFill>
                <a:latin typeface="Palatino Linotype" pitchFamily="34" charset="0"/>
                <a:ea typeface="Palatino Linotype" pitchFamily="34" charset="-122"/>
                <a:cs typeface="Palatino Linotype" pitchFamily="34" charset="-120"/>
              </a:rPr>
              <a:t>Cum se formează nota finală</a:t>
            </a:r>
            <a:endParaRPr lang="en-US" sz="3200" dirty="0"/>
          </a:p>
        </p:txBody>
      </p:sp>
      <p:sp>
        <p:nvSpPr>
          <p:cNvPr id="4" name="Shape 2"/>
          <p:cNvSpPr/>
          <p:nvPr/>
        </p:nvSpPr>
        <p:spPr>
          <a:xfrm>
            <a:off x="594360" y="1691640"/>
            <a:ext cx="5486400" cy="1234440"/>
          </a:xfrm>
          <a:prstGeom prst="rect">
            <a:avLst/>
          </a:prstGeom>
          <a:solidFill>
            <a:srgbClr val="11121A"/>
          </a:solidFill>
          <a:ln w="25400">
            <a:solidFill>
              <a:srgbClr val="27D3BE"/>
            </a:solidFill>
            <a:prstDash val="solid"/>
          </a:ln>
        </p:spPr>
        <p:txBody>
          <a:bodyPr/>
          <a:p/>
        </p:txBody>
      </p:sp>
      <p:sp>
        <p:nvSpPr>
          <p:cNvPr id="5" name="Text 3"/>
          <p:cNvSpPr/>
          <p:nvPr/>
        </p:nvSpPr>
        <p:spPr>
          <a:xfrm>
            <a:off x="777240" y="1691640"/>
            <a:ext cx="5212080" cy="1234440"/>
          </a:xfrm>
          <a:prstGeom prst="rect">
            <a:avLst/>
          </a:prstGeom>
          <a:noFill/>
          <a:ln/>
        </p:spPr>
        <p:txBody>
          <a:bodyPr wrap="square" lIns="0" tIns="0" rIns="0" bIns="0" rtlCol="0" anchor="ctr"/>
          <a:lstStyle/>
          <a:p>
            <a:pPr indent="0" marL="0">
              <a:buNone/>
            </a:pPr>
            <a:r>
              <a:rPr lang="en-US" sz="5000" b="1" dirty="0">
                <a:solidFill>
                  <a:srgbClr val="FFC24B"/>
                </a:solidFill>
                <a:latin typeface="Palatino Linotype" pitchFamily="34" charset="0"/>
                <a:ea typeface="Palatino Linotype" pitchFamily="34" charset="-122"/>
                <a:cs typeface="Palatino Linotype" pitchFamily="34" charset="-120"/>
              </a:rPr>
              <a:t>50%</a:t>
            </a:r>
            <a:endParaRPr lang="en-US" sz="5000" dirty="0"/>
          </a:p>
        </p:txBody>
      </p:sp>
      <p:sp>
        <p:nvSpPr>
          <p:cNvPr id="6" name="Shape 4"/>
          <p:cNvSpPr/>
          <p:nvPr/>
        </p:nvSpPr>
        <p:spPr>
          <a:xfrm>
            <a:off x="6080760" y="1691640"/>
            <a:ext cx="3840480" cy="1234440"/>
          </a:xfrm>
          <a:prstGeom prst="rect">
            <a:avLst/>
          </a:prstGeom>
          <a:solidFill>
            <a:srgbClr val="FF4757"/>
          </a:solidFill>
          <a:ln w="25400">
            <a:solidFill>
              <a:srgbClr val="27D3BE"/>
            </a:solidFill>
            <a:prstDash val="solid"/>
          </a:ln>
        </p:spPr>
        <p:txBody>
          <a:bodyPr/>
          <a:p/>
        </p:txBody>
      </p:sp>
      <p:sp>
        <p:nvSpPr>
          <p:cNvPr id="7" name="Text 5"/>
          <p:cNvSpPr/>
          <p:nvPr/>
        </p:nvSpPr>
        <p:spPr>
          <a:xfrm>
            <a:off x="6263640" y="1691640"/>
            <a:ext cx="3566160" cy="1234440"/>
          </a:xfrm>
          <a:prstGeom prst="rect">
            <a:avLst/>
          </a:prstGeom>
          <a:noFill/>
          <a:ln/>
        </p:spPr>
        <p:txBody>
          <a:bodyPr wrap="square" lIns="0" tIns="0" rIns="0" bIns="0" rtlCol="0" anchor="ctr"/>
          <a:lstStyle/>
          <a:p>
            <a:pPr indent="0" marL="0">
              <a:buNone/>
            </a:pPr>
            <a:r>
              <a:rPr lang="en-US" sz="5000" b="1" dirty="0">
                <a:solidFill>
                  <a:srgbClr val="2E060B"/>
                </a:solidFill>
                <a:latin typeface="Palatino Linotype" pitchFamily="34" charset="0"/>
                <a:ea typeface="Palatino Linotype" pitchFamily="34" charset="-122"/>
                <a:cs typeface="Palatino Linotype" pitchFamily="34" charset="-120"/>
              </a:rPr>
              <a:t>35%</a:t>
            </a:r>
            <a:endParaRPr lang="en-US" sz="5000" dirty="0"/>
          </a:p>
        </p:txBody>
      </p:sp>
      <p:sp>
        <p:nvSpPr>
          <p:cNvPr id="8" name="Shape 6"/>
          <p:cNvSpPr/>
          <p:nvPr/>
        </p:nvSpPr>
        <p:spPr>
          <a:xfrm>
            <a:off x="9921240" y="1691640"/>
            <a:ext cx="1645920" cy="1234440"/>
          </a:xfrm>
          <a:prstGeom prst="rect">
            <a:avLst/>
          </a:prstGeom>
          <a:solidFill>
            <a:srgbClr val="FFFFFF"/>
          </a:solidFill>
          <a:ln w="25400">
            <a:solidFill>
              <a:srgbClr val="27D3BE"/>
            </a:solidFill>
            <a:prstDash val="solid"/>
          </a:ln>
        </p:spPr>
        <p:txBody>
          <a:bodyPr/>
          <a:p/>
        </p:txBody>
      </p:sp>
      <p:sp>
        <p:nvSpPr>
          <p:cNvPr id="9" name="Text 7"/>
          <p:cNvSpPr/>
          <p:nvPr/>
        </p:nvSpPr>
        <p:spPr>
          <a:xfrm>
            <a:off x="10104120" y="1691640"/>
            <a:ext cx="1371600" cy="1234440"/>
          </a:xfrm>
          <a:prstGeom prst="rect">
            <a:avLst/>
          </a:prstGeom>
          <a:noFill/>
          <a:ln/>
        </p:spPr>
        <p:txBody>
          <a:bodyPr wrap="square" lIns="0" tIns="0" rIns="0" bIns="0" rtlCol="0" anchor="ctr"/>
          <a:lstStyle/>
          <a:p>
            <a:pPr indent="0" marL="0">
              <a:buNone/>
            </a:pPr>
            <a:r>
              <a:rPr lang="en-US" sz="3400" b="1" dirty="0">
                <a:solidFill>
                  <a:srgbClr val="0E7C6B"/>
                </a:solidFill>
                <a:latin typeface="Palatino Linotype" pitchFamily="34" charset="0"/>
                <a:ea typeface="Palatino Linotype" pitchFamily="34" charset="-122"/>
                <a:cs typeface="Palatino Linotype" pitchFamily="34" charset="-120"/>
              </a:rPr>
              <a:t>15%</a:t>
            </a:r>
            <a:endParaRPr lang="en-US" sz="3400" dirty="0"/>
          </a:p>
        </p:txBody>
      </p:sp>
      <p:sp>
        <p:nvSpPr>
          <p:cNvPr id="10" name="Shape 8"/>
          <p:cNvSpPr/>
          <p:nvPr/>
        </p:nvSpPr>
        <p:spPr>
          <a:xfrm>
            <a:off x="594360" y="3200400"/>
            <a:ext cx="3474720" cy="1828800"/>
          </a:xfrm>
          <a:prstGeom prst="roundRect">
            <a:avLst>
              <a:gd name="adj" fmla="val 4500"/>
            </a:avLst>
          </a:prstGeom>
          <a:solidFill>
            <a:srgbClr val="07564B"/>
          </a:solidFill>
          <a:ln w="12700">
            <a:solidFill>
              <a:srgbClr val="07564B"/>
            </a:solidFill>
            <a:prstDash val="solid"/>
          </a:ln>
        </p:spPr>
        <p:txBody>
          <a:bodyPr/>
          <a:p/>
        </p:txBody>
      </p:sp>
      <p:sp>
        <p:nvSpPr>
          <p:cNvPr id="11" name="Text 9"/>
          <p:cNvSpPr/>
          <p:nvPr/>
        </p:nvSpPr>
        <p:spPr>
          <a:xfrm>
            <a:off x="822960" y="3291840"/>
            <a:ext cx="3017520" cy="5029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Examenul scris</a:t>
            </a:r>
            <a:endParaRPr lang="en-US" sz="1700" dirty="0"/>
          </a:p>
        </p:txBody>
      </p:sp>
      <p:sp>
        <p:nvSpPr>
          <p:cNvPr id="12" name="Text 10"/>
          <p:cNvSpPr/>
          <p:nvPr/>
        </p:nvSpPr>
        <p:spPr>
          <a:xfrm>
            <a:off x="822960" y="3840480"/>
            <a:ext cx="3063240" cy="11887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36 de întrebări-grilă (24 cu un singur răspuns corect, 12 cu mai multe), din suportul de curs și bibliografie.</a:t>
            </a:r>
            <a:endParaRPr lang="en-US" sz="1500" dirty="0"/>
          </a:p>
        </p:txBody>
      </p:sp>
      <p:sp>
        <p:nvSpPr>
          <p:cNvPr id="13" name="Shape 11"/>
          <p:cNvSpPr/>
          <p:nvPr/>
        </p:nvSpPr>
        <p:spPr>
          <a:xfrm>
            <a:off x="4343400" y="3200400"/>
            <a:ext cx="3474720" cy="1828800"/>
          </a:xfrm>
          <a:prstGeom prst="roundRect">
            <a:avLst>
              <a:gd name="adj" fmla="val 4500"/>
            </a:avLst>
          </a:prstGeom>
          <a:solidFill>
            <a:srgbClr val="07564B"/>
          </a:solidFill>
          <a:ln w="12700">
            <a:solidFill>
              <a:srgbClr val="07564B"/>
            </a:solidFill>
            <a:prstDash val="solid"/>
          </a:ln>
        </p:spPr>
        <p:txBody>
          <a:bodyPr/>
          <a:p/>
        </p:txBody>
      </p:sp>
      <p:sp>
        <p:nvSpPr>
          <p:cNvPr id="14" name="Text 12"/>
          <p:cNvSpPr/>
          <p:nvPr/>
        </p:nvSpPr>
        <p:spPr>
          <a:xfrm>
            <a:off x="4572000" y="3291840"/>
            <a:ext cx="3017520" cy="5029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Proiectul de echipă</a:t>
            </a:r>
            <a:endParaRPr lang="en-US" sz="1700" dirty="0"/>
          </a:p>
        </p:txBody>
      </p:sp>
      <p:sp>
        <p:nvSpPr>
          <p:cNvPr id="15" name="Text 13"/>
          <p:cNvSpPr/>
          <p:nvPr/>
        </p:nvSpPr>
        <p:spPr>
          <a:xfrm>
            <a:off x="4572000" y="3840480"/>
            <a:ext cx="3063240" cy="11887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Nota proiectului de echipă: 10–12 minute, 12–15 diapozitive, cel puțin trei vorbitori, în seminarul 7.</a:t>
            </a:r>
            <a:endParaRPr lang="en-US" sz="1500" dirty="0"/>
          </a:p>
        </p:txBody>
      </p:sp>
      <p:sp>
        <p:nvSpPr>
          <p:cNvPr id="16" name="Shape 14"/>
          <p:cNvSpPr/>
          <p:nvPr/>
        </p:nvSpPr>
        <p:spPr>
          <a:xfrm>
            <a:off x="8092440" y="3200400"/>
            <a:ext cx="3474720" cy="1828800"/>
          </a:xfrm>
          <a:prstGeom prst="roundRect">
            <a:avLst>
              <a:gd name="adj" fmla="val 4500"/>
            </a:avLst>
          </a:prstGeom>
          <a:solidFill>
            <a:srgbClr val="07564B"/>
          </a:solidFill>
          <a:ln w="12700">
            <a:solidFill>
              <a:srgbClr val="07564B"/>
            </a:solidFill>
            <a:prstDash val="solid"/>
          </a:ln>
        </p:spPr>
        <p:txBody>
          <a:bodyPr/>
          <a:p/>
        </p:txBody>
      </p:sp>
      <p:sp>
        <p:nvSpPr>
          <p:cNvPr id="17" name="Text 15"/>
          <p:cNvSpPr/>
          <p:nvPr/>
        </p:nvSpPr>
        <p:spPr>
          <a:xfrm>
            <a:off x="8321040" y="3291840"/>
            <a:ext cx="3017520" cy="502920"/>
          </a:xfrm>
          <a:prstGeom prst="rect">
            <a:avLst/>
          </a:prstGeom>
          <a:noFill/>
          <a:ln/>
        </p:spPr>
        <p:txBody>
          <a:bodyPr wrap="square" lIns="0" tIns="0" rIns="0" bIns="0" rtlCol="0" anchor="t"/>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Produsele seminariilor 2–6</a:t>
            </a:r>
            <a:endParaRPr lang="en-US" sz="1700" dirty="0"/>
          </a:p>
        </p:txBody>
      </p:sp>
      <p:sp>
        <p:nvSpPr>
          <p:cNvPr id="18" name="Text 16"/>
          <p:cNvSpPr/>
          <p:nvPr/>
        </p:nvSpPr>
        <p:spPr>
          <a:xfrm>
            <a:off x="8321040" y="3840480"/>
            <a:ext cx="3063240" cy="11887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câte 0, 1 sau 2 puncte pentru fiecare produs, predat până duminica de după seminar, ora 22:00. Nota = suma punctelor, cel mult 10.</a:t>
            </a:r>
            <a:endParaRPr lang="en-US" sz="1500" dirty="0"/>
          </a:p>
        </p:txBody>
      </p:sp>
      <p:sp>
        <p:nvSpPr>
          <p:cNvPr id="19" name="Text 17"/>
          <p:cNvSpPr/>
          <p:nvPr/>
        </p:nvSpPr>
        <p:spPr>
          <a:xfrm>
            <a:off x="594360" y="5257800"/>
            <a:ext cx="10972800" cy="411480"/>
          </a:xfrm>
          <a:prstGeom prst="rect">
            <a:avLst/>
          </a:prstGeom>
          <a:noFill/>
          <a:ln/>
        </p:spPr>
        <p:txBody>
          <a:bodyPr wrap="square" lIns="0" tIns="0" rIns="0" bIns="0" rtlCol="0" anchor="t"/>
          <a:lstStyle/>
          <a:p>
            <a:pPr indent="0" marL="0">
              <a:buNone/>
            </a:pPr>
            <a:r>
              <a:rPr lang="en-US" sz="1800" b="1" dirty="0">
                <a:solidFill>
                  <a:srgbClr val="073B34"/>
                </a:solidFill>
                <a:latin typeface="Palatino Linotype" pitchFamily="34" charset="0"/>
                <a:ea typeface="Palatino Linotype" pitchFamily="34" charset="-122"/>
                <a:cs typeface="Palatino Linotype" pitchFamily="34" charset="-120"/>
              </a:rPr>
              <a:t>Promovați numai dacă treceți și examenul, și proiectul. Fără punct din oficiu.</a:t>
            </a:r>
            <a:endParaRPr lang="en-US" sz="1800" dirty="0"/>
          </a:p>
        </p:txBody>
      </p:sp>
      <p:sp>
        <p:nvSpPr>
          <p:cNvPr id="20" name="Text 18"/>
          <p:cNvSpPr/>
          <p:nvPr/>
        </p:nvSpPr>
        <p:spPr>
          <a:xfrm>
            <a:off x="594360" y="5715000"/>
            <a:ext cx="10972800" cy="594360"/>
          </a:xfrm>
          <a:prstGeom prst="rect">
            <a:avLst/>
          </a:prstGeom>
          <a:noFill/>
          <a:ln/>
        </p:spPr>
        <p:txBody>
          <a:bodyPr wrap="square" lIns="0" tIns="0" rIns="0" bIns="0" rtlCol="0" anchor="t"/>
          <a:lstStyle/>
          <a:p>
            <a:pPr indent="0" marL="0">
              <a:buNone/>
            </a:pPr>
            <a:r>
              <a:rPr lang="en-US" sz="1550" dirty="0">
                <a:solidFill>
                  <a:srgbClr val="073B34"/>
                </a:solidFill>
                <a:latin typeface="Palatino Linotype" pitchFamily="34" charset="0"/>
                <a:ea typeface="Palatino Linotype" pitchFamily="34" charset="-122"/>
                <a:cs typeface="Palatino Linotype" pitchFamily="34" charset="-120"/>
              </a:rPr>
              <a:t>Nota proiectului este aceeași pentru toți membrii echipei; titularul poate scădea nota unui membru care nu a contribuit.</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CUM SE NOTEAZĂ PROIECTUL</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Cum se notează proiectul</a:t>
            </a:r>
            <a:endParaRPr lang="en-US" sz="3100" dirty="0"/>
          </a:p>
        </p:txBody>
      </p:sp>
      <p:sp>
        <p:nvSpPr>
          <p:cNvPr id="4" name="Text 2"/>
          <p:cNvSpPr/>
          <p:nvPr/>
        </p:nvSpPr>
        <p:spPr>
          <a:xfrm>
            <a:off x="594360" y="1691640"/>
            <a:ext cx="3200400" cy="73152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Structura și claritatea prezentării</a:t>
            </a:r>
            <a:endParaRPr lang="en-US" sz="1500" dirty="0"/>
          </a:p>
        </p:txBody>
      </p:sp>
      <p:sp>
        <p:nvSpPr>
          <p:cNvPr id="5" name="Shape 3"/>
          <p:cNvSpPr/>
          <p:nvPr/>
        </p:nvSpPr>
        <p:spPr>
          <a:xfrm>
            <a:off x="3931920" y="1801368"/>
            <a:ext cx="1828800" cy="512064"/>
          </a:xfrm>
          <a:prstGeom prst="roundRect">
            <a:avLst>
              <a:gd name="adj" fmla="val 8929"/>
            </a:avLst>
          </a:prstGeom>
          <a:solidFill>
            <a:srgbClr val="0E7C6B"/>
          </a:solidFill>
          <a:ln w="12700">
            <a:solidFill>
              <a:srgbClr val="0E7C6B"/>
            </a:solidFill>
            <a:prstDash val="solid"/>
          </a:ln>
        </p:spPr>
        <p:txBody>
          <a:bodyPr/>
          <a:p/>
        </p:txBody>
      </p:sp>
      <p:sp>
        <p:nvSpPr>
          <p:cNvPr id="6" name="Text 4"/>
          <p:cNvSpPr/>
          <p:nvPr/>
        </p:nvSpPr>
        <p:spPr>
          <a:xfrm>
            <a:off x="5897880" y="1691640"/>
            <a:ext cx="1097280" cy="731520"/>
          </a:xfrm>
          <a:prstGeom prst="rect">
            <a:avLst/>
          </a:prstGeom>
          <a:noFill/>
          <a:ln/>
        </p:spPr>
        <p:txBody>
          <a:bodyPr wrap="square" lIns="0" tIns="0" rIns="0" bIns="0" rtlCol="0" anchor="ctr"/>
          <a:lstStyle/>
          <a:p>
            <a:pPr indent="0" marL="0">
              <a:buNone/>
            </a:pPr>
            <a:r>
              <a:rPr lang="en-US" sz="2200" b="1" dirty="0">
                <a:solidFill>
                  <a:srgbClr val="0E7C6B"/>
                </a:solidFill>
                <a:latin typeface="Palatino Linotype" pitchFamily="34" charset="0"/>
                <a:ea typeface="Palatino Linotype" pitchFamily="34" charset="-122"/>
                <a:cs typeface="Palatino Linotype" pitchFamily="34" charset="-120"/>
              </a:rPr>
              <a:t>20%</a:t>
            </a:r>
            <a:endParaRPr lang="en-US" sz="2200" dirty="0"/>
          </a:p>
        </p:txBody>
      </p:sp>
      <p:sp>
        <p:nvSpPr>
          <p:cNvPr id="7" name="Text 5"/>
          <p:cNvSpPr/>
          <p:nvPr/>
        </p:nvSpPr>
        <p:spPr>
          <a:xfrm>
            <a:off x="594360" y="2560320"/>
            <a:ext cx="3200400" cy="73152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Corectitudinea și relevanța conținutului</a:t>
            </a:r>
            <a:endParaRPr lang="en-US" sz="1500" dirty="0"/>
          </a:p>
        </p:txBody>
      </p:sp>
      <p:sp>
        <p:nvSpPr>
          <p:cNvPr id="8" name="Shape 6"/>
          <p:cNvSpPr/>
          <p:nvPr/>
        </p:nvSpPr>
        <p:spPr>
          <a:xfrm>
            <a:off x="3931920" y="2670048"/>
            <a:ext cx="2743200" cy="512064"/>
          </a:xfrm>
          <a:prstGeom prst="roundRect">
            <a:avLst>
              <a:gd name="adj" fmla="val 8929"/>
            </a:avLst>
          </a:prstGeom>
          <a:solidFill>
            <a:srgbClr val="B02532"/>
          </a:solidFill>
          <a:ln w="12700">
            <a:solidFill>
              <a:srgbClr val="B02532"/>
            </a:solidFill>
            <a:prstDash val="solid"/>
          </a:ln>
        </p:spPr>
        <p:txBody>
          <a:bodyPr/>
          <a:p/>
        </p:txBody>
      </p:sp>
      <p:sp>
        <p:nvSpPr>
          <p:cNvPr id="9" name="Text 7"/>
          <p:cNvSpPr/>
          <p:nvPr/>
        </p:nvSpPr>
        <p:spPr>
          <a:xfrm>
            <a:off x="6812280" y="2560320"/>
            <a:ext cx="1097280" cy="731520"/>
          </a:xfrm>
          <a:prstGeom prst="rect">
            <a:avLst/>
          </a:prstGeom>
          <a:noFill/>
          <a:ln/>
        </p:spPr>
        <p:txBody>
          <a:bodyPr wrap="square" lIns="0" tIns="0" rIns="0" bIns="0" rtlCol="0" anchor="ctr"/>
          <a:lstStyle/>
          <a:p>
            <a:pPr indent="0" marL="0">
              <a:buNone/>
            </a:pPr>
            <a:r>
              <a:rPr lang="en-US" sz="2200" b="1" dirty="0">
                <a:solidFill>
                  <a:srgbClr val="B02532"/>
                </a:solidFill>
                <a:latin typeface="Palatino Linotype" pitchFamily="34" charset="0"/>
                <a:ea typeface="Palatino Linotype" pitchFamily="34" charset="-122"/>
                <a:cs typeface="Palatino Linotype" pitchFamily="34" charset="-120"/>
              </a:rPr>
              <a:t>30%</a:t>
            </a:r>
            <a:endParaRPr lang="en-US" sz="2200" dirty="0"/>
          </a:p>
        </p:txBody>
      </p:sp>
      <p:sp>
        <p:nvSpPr>
          <p:cNvPr id="10" name="Text 8"/>
          <p:cNvSpPr/>
          <p:nvPr/>
        </p:nvSpPr>
        <p:spPr>
          <a:xfrm>
            <a:off x="594360" y="3429000"/>
            <a:ext cx="3200400" cy="73152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Aplicarea conceptelor din curs</a:t>
            </a:r>
            <a:endParaRPr lang="en-US" sz="1500" dirty="0"/>
          </a:p>
        </p:txBody>
      </p:sp>
      <p:sp>
        <p:nvSpPr>
          <p:cNvPr id="11" name="Shape 9"/>
          <p:cNvSpPr/>
          <p:nvPr/>
        </p:nvSpPr>
        <p:spPr>
          <a:xfrm>
            <a:off x="3931920" y="3538728"/>
            <a:ext cx="2286000" cy="512064"/>
          </a:xfrm>
          <a:prstGeom prst="roundRect">
            <a:avLst>
              <a:gd name="adj" fmla="val 8929"/>
            </a:avLst>
          </a:prstGeom>
          <a:solidFill>
            <a:srgbClr val="4A2D8C"/>
          </a:solidFill>
          <a:ln w="12700">
            <a:solidFill>
              <a:srgbClr val="4A2D8C"/>
            </a:solidFill>
            <a:prstDash val="solid"/>
          </a:ln>
        </p:spPr>
        <p:txBody>
          <a:bodyPr/>
          <a:p/>
        </p:txBody>
      </p:sp>
      <p:sp>
        <p:nvSpPr>
          <p:cNvPr id="12" name="Text 10"/>
          <p:cNvSpPr/>
          <p:nvPr/>
        </p:nvSpPr>
        <p:spPr>
          <a:xfrm>
            <a:off x="6355080" y="3429000"/>
            <a:ext cx="1097280" cy="731520"/>
          </a:xfrm>
          <a:prstGeom prst="rect">
            <a:avLst/>
          </a:prstGeom>
          <a:noFill/>
          <a:ln/>
        </p:spPr>
        <p:txBody>
          <a:bodyPr wrap="square" lIns="0" tIns="0" rIns="0" bIns="0" rtlCol="0" anchor="ctr"/>
          <a:lstStyle/>
          <a:p>
            <a:pPr indent="0" marL="0">
              <a:buNone/>
            </a:pPr>
            <a:r>
              <a:rPr lang="en-US" sz="2200" b="1" dirty="0">
                <a:solidFill>
                  <a:srgbClr val="4A2D8C"/>
                </a:solidFill>
                <a:latin typeface="Palatino Linotype" pitchFamily="34" charset="0"/>
                <a:ea typeface="Palatino Linotype" pitchFamily="34" charset="-122"/>
                <a:cs typeface="Palatino Linotype" pitchFamily="34" charset="-120"/>
              </a:rPr>
              <a:t>25%</a:t>
            </a:r>
            <a:endParaRPr lang="en-US" sz="2200" dirty="0"/>
          </a:p>
        </p:txBody>
      </p:sp>
      <p:sp>
        <p:nvSpPr>
          <p:cNvPr id="13" name="Text 11"/>
          <p:cNvSpPr/>
          <p:nvPr/>
        </p:nvSpPr>
        <p:spPr>
          <a:xfrm>
            <a:off x="594360" y="4297680"/>
            <a:ext cx="3200400" cy="73152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Propunerile de intervenții și de politici</a:t>
            </a:r>
            <a:endParaRPr lang="en-US" sz="1500" dirty="0"/>
          </a:p>
        </p:txBody>
      </p:sp>
      <p:sp>
        <p:nvSpPr>
          <p:cNvPr id="14" name="Shape 12"/>
          <p:cNvSpPr/>
          <p:nvPr/>
        </p:nvSpPr>
        <p:spPr>
          <a:xfrm>
            <a:off x="3931920" y="4407408"/>
            <a:ext cx="1371600" cy="512064"/>
          </a:xfrm>
          <a:prstGeom prst="roundRect">
            <a:avLst>
              <a:gd name="adj" fmla="val 8929"/>
            </a:avLst>
          </a:prstGeom>
          <a:solidFill>
            <a:srgbClr val="8A6100"/>
          </a:solidFill>
          <a:ln w="12700">
            <a:solidFill>
              <a:srgbClr val="8A6100"/>
            </a:solidFill>
            <a:prstDash val="solid"/>
          </a:ln>
        </p:spPr>
        <p:txBody>
          <a:bodyPr/>
          <a:p/>
        </p:txBody>
      </p:sp>
      <p:sp>
        <p:nvSpPr>
          <p:cNvPr id="15" name="Text 13"/>
          <p:cNvSpPr/>
          <p:nvPr/>
        </p:nvSpPr>
        <p:spPr>
          <a:xfrm>
            <a:off x="5440680" y="4297680"/>
            <a:ext cx="1097280" cy="731520"/>
          </a:xfrm>
          <a:prstGeom prst="rect">
            <a:avLst/>
          </a:prstGeom>
          <a:noFill/>
          <a:ln/>
        </p:spPr>
        <p:txBody>
          <a:bodyPr wrap="square" lIns="0" tIns="0" rIns="0" bIns="0" rtlCol="0" anchor="ctr"/>
          <a:lstStyle/>
          <a:p>
            <a:pPr indent="0" marL="0">
              <a:buNone/>
            </a:pPr>
            <a:r>
              <a:rPr lang="en-US" sz="2200" b="1" dirty="0">
                <a:solidFill>
                  <a:srgbClr val="8A6100"/>
                </a:solidFill>
                <a:latin typeface="Palatino Linotype" pitchFamily="34" charset="0"/>
                <a:ea typeface="Palatino Linotype" pitchFamily="34" charset="-122"/>
                <a:cs typeface="Palatino Linotype" pitchFamily="34" charset="-120"/>
              </a:rPr>
              <a:t>15%</a:t>
            </a:r>
            <a:endParaRPr lang="en-US" sz="2200" dirty="0"/>
          </a:p>
        </p:txBody>
      </p:sp>
      <p:sp>
        <p:nvSpPr>
          <p:cNvPr id="16" name="Text 14"/>
          <p:cNvSpPr/>
          <p:nvPr/>
        </p:nvSpPr>
        <p:spPr>
          <a:xfrm>
            <a:off x="594360" y="5166360"/>
            <a:ext cx="3200400" cy="731520"/>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Prezentarea orală</a:t>
            </a:r>
            <a:endParaRPr lang="en-US" sz="1500" dirty="0"/>
          </a:p>
        </p:txBody>
      </p:sp>
      <p:sp>
        <p:nvSpPr>
          <p:cNvPr id="17" name="Shape 15"/>
          <p:cNvSpPr/>
          <p:nvPr/>
        </p:nvSpPr>
        <p:spPr>
          <a:xfrm>
            <a:off x="3931920" y="5276088"/>
            <a:ext cx="914400" cy="512064"/>
          </a:xfrm>
          <a:prstGeom prst="roundRect">
            <a:avLst>
              <a:gd name="adj" fmla="val 8929"/>
            </a:avLst>
          </a:prstGeom>
          <a:solidFill>
            <a:srgbClr val="9C4A0A"/>
          </a:solidFill>
          <a:ln w="12700">
            <a:solidFill>
              <a:srgbClr val="9C4A0A"/>
            </a:solidFill>
            <a:prstDash val="solid"/>
          </a:ln>
        </p:spPr>
        <p:txBody>
          <a:bodyPr/>
          <a:p/>
        </p:txBody>
      </p:sp>
      <p:sp>
        <p:nvSpPr>
          <p:cNvPr id="18" name="Text 16"/>
          <p:cNvSpPr/>
          <p:nvPr/>
        </p:nvSpPr>
        <p:spPr>
          <a:xfrm>
            <a:off x="4983480" y="5166360"/>
            <a:ext cx="1097280" cy="731520"/>
          </a:xfrm>
          <a:prstGeom prst="rect">
            <a:avLst/>
          </a:prstGeom>
          <a:noFill/>
          <a:ln/>
        </p:spPr>
        <p:txBody>
          <a:bodyPr wrap="square" lIns="0" tIns="0" rIns="0" bIns="0" rtlCol="0" anchor="ctr"/>
          <a:lstStyle/>
          <a:p>
            <a:pPr indent="0" marL="0">
              <a:buNone/>
            </a:pPr>
            <a:r>
              <a:rPr lang="en-US" sz="2200" b="1" dirty="0">
                <a:solidFill>
                  <a:srgbClr val="9C4A0A"/>
                </a:solidFill>
                <a:latin typeface="Palatino Linotype" pitchFamily="34" charset="0"/>
                <a:ea typeface="Palatino Linotype" pitchFamily="34" charset="-122"/>
                <a:cs typeface="Palatino Linotype" pitchFamily="34" charset="-120"/>
              </a:rPr>
              <a:t>10%</a:t>
            </a:r>
            <a:endParaRPr lang="en-US" sz="2200" dirty="0"/>
          </a:p>
        </p:txBody>
      </p:sp>
      <p:sp>
        <p:nvSpPr>
          <p:cNvPr id="19" name="Text 17"/>
          <p:cNvSpPr/>
          <p:nvPr/>
        </p:nvSpPr>
        <p:spPr>
          <a:xfrm>
            <a:off x="594360" y="6035040"/>
            <a:ext cx="7040880" cy="365760"/>
          </a:xfrm>
          <a:prstGeom prst="rect">
            <a:avLst/>
          </a:prstGeom>
          <a:noFill/>
          <a:ln/>
        </p:spPr>
        <p:txBody>
          <a:bodyPr wrap="square" lIns="0" tIns="0" rIns="0" bIns="0" rtlCol="0" anchor="t"/>
          <a:lstStyle/>
          <a:p>
            <a:pPr indent="0" marL="0">
              <a:buNone/>
            </a:pPr>
            <a:r>
              <a:rPr lang="en-US" sz="1400" i="1" dirty="0">
                <a:solidFill>
                  <a:srgbClr val="585A64"/>
                </a:solidFill>
                <a:latin typeface="Palatino Linotype" pitchFamily="34" charset="0"/>
                <a:ea typeface="Palatino Linotype" pitchFamily="34" charset="-122"/>
                <a:cs typeface="Palatino Linotype" pitchFamily="34" charset="-120"/>
              </a:rPr>
              <a:t>Aceeași grilă se folosește pentru evaluarea colegială din ultimul seminar, care este informativă și nu intră în notă.</a:t>
            </a:r>
            <a:endParaRPr lang="en-US" sz="1400" dirty="0"/>
          </a:p>
        </p:txBody>
      </p:sp>
      <p:sp>
        <p:nvSpPr>
          <p:cNvPr id="20" name="Shape 18"/>
          <p:cNvSpPr/>
          <p:nvPr/>
        </p:nvSpPr>
        <p:spPr>
          <a:xfrm>
            <a:off x="7909560" y="1691640"/>
            <a:ext cx="3657600" cy="4251960"/>
          </a:xfrm>
          <a:prstGeom prst="roundRect">
            <a:avLst>
              <a:gd name="adj" fmla="val 2250"/>
            </a:avLst>
          </a:prstGeom>
          <a:solidFill>
            <a:srgbClr val="11121A"/>
          </a:solidFill>
          <a:ln w="12700">
            <a:solidFill>
              <a:srgbClr val="11121A"/>
            </a:solidFill>
            <a:prstDash val="solid"/>
          </a:ln>
        </p:spPr>
        <p:txBody>
          <a:bodyPr/>
          <a:p/>
        </p:txBody>
      </p:sp>
      <p:sp>
        <p:nvSpPr>
          <p:cNvPr id="21" name="Text 19"/>
          <p:cNvSpPr/>
          <p:nvPr/>
        </p:nvSpPr>
        <p:spPr>
          <a:xfrm>
            <a:off x="8183880" y="1874520"/>
            <a:ext cx="3200400" cy="45720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Inteligența artificială</a:t>
            </a:r>
            <a:endParaRPr lang="en-US" sz="2000" dirty="0"/>
          </a:p>
        </p:txBody>
      </p:sp>
      <p:sp>
        <p:nvSpPr>
          <p:cNvPr id="22" name="Text 20"/>
          <p:cNvSpPr/>
          <p:nvPr/>
        </p:nvSpPr>
        <p:spPr>
          <a:xfrm>
            <a:off x="8183880" y="2377440"/>
            <a:ext cx="3154680" cy="100584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Permisă numai pentru redactare (formulare, corectură), cu declarație pe ultimul diapozitiv.</a:t>
            </a:r>
            <a:endParaRPr lang="en-US" sz="1500" dirty="0"/>
          </a:p>
        </p:txBody>
      </p:sp>
      <p:sp>
        <p:nvSpPr>
          <p:cNvPr id="23" name="Shape 21"/>
          <p:cNvSpPr/>
          <p:nvPr/>
        </p:nvSpPr>
        <p:spPr>
          <a:xfrm>
            <a:off x="8183880" y="3456432"/>
            <a:ext cx="3108960" cy="18288"/>
          </a:xfrm>
          <a:prstGeom prst="rect">
            <a:avLst/>
          </a:prstGeom>
          <a:solidFill>
            <a:srgbClr val="3A3E52"/>
          </a:solidFill>
          <a:ln/>
        </p:spPr>
        <p:txBody>
          <a:bodyPr/>
          <a:p/>
        </p:txBody>
      </p:sp>
      <p:sp>
        <p:nvSpPr>
          <p:cNvPr id="24" name="Text 22"/>
          <p:cNvSpPr/>
          <p:nvPr/>
        </p:nvSpPr>
        <p:spPr>
          <a:xfrm>
            <a:off x="8183880" y="3566160"/>
            <a:ext cx="3154680" cy="141732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Nu pentru găsirea surselor sau a cifrelor: acestea se iau și se verifică la sursa primară. Un instrument de inteligență artificială nu este o sursă.</a:t>
            </a:r>
            <a:endParaRPr lang="en-US" sz="1500" dirty="0"/>
          </a:p>
        </p:txBody>
      </p:sp>
      <p:sp>
        <p:nvSpPr>
          <p:cNvPr id="25" name="Shape 23"/>
          <p:cNvSpPr/>
          <p:nvPr/>
        </p:nvSpPr>
        <p:spPr>
          <a:xfrm>
            <a:off x="8183880" y="5029200"/>
            <a:ext cx="3108960" cy="18288"/>
          </a:xfrm>
          <a:prstGeom prst="rect">
            <a:avLst/>
          </a:prstGeom>
          <a:solidFill>
            <a:srgbClr val="3A3E52"/>
          </a:solidFill>
          <a:ln/>
        </p:spPr>
        <p:txBody>
          <a:bodyPr/>
          <a:p/>
        </p:txBody>
      </p:sp>
      <p:sp>
        <p:nvSpPr>
          <p:cNvPr id="26" name="Text 24"/>
          <p:cNvSpPr/>
          <p:nvPr/>
        </p:nvSpPr>
        <p:spPr>
          <a:xfrm>
            <a:off x="8183880" y="5120640"/>
            <a:ext cx="3154680" cy="73152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Folosire nedeclarată: 0 puncte, până când echipa reface și declară, în cel mult o săptămână.</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ORA A DOUA · ECHIPA, ACASĂ SAU ÎN SALĂ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Prima pagină a proiectului</a:t>
            </a:r>
            <a:endParaRPr lang="en-US" sz="3200" dirty="0"/>
          </a:p>
        </p:txBody>
      </p:sp>
      <p:sp>
        <p:nvSpPr>
          <p:cNvPr id="4" name="Shape 2"/>
          <p:cNvSpPr/>
          <p:nvPr/>
        </p:nvSpPr>
        <p:spPr>
          <a:xfrm>
            <a:off x="594360" y="1691640"/>
            <a:ext cx="7223760" cy="749808"/>
          </a:xfrm>
          <a:prstGeom prst="roundRect">
            <a:avLst>
              <a:gd name="adj" fmla="val 10976"/>
            </a:avLst>
          </a:prstGeom>
          <a:solidFill>
            <a:srgbClr val="1D1F2B"/>
          </a:solidFill>
          <a:ln w="12700">
            <a:solidFill>
              <a:srgbClr val="1D1F2B"/>
            </a:solidFill>
            <a:prstDash val="solid"/>
          </a:ln>
        </p:spPr>
        <p:txBody>
          <a:bodyPr/>
          <a:p/>
        </p:txBody>
      </p:sp>
      <p:sp>
        <p:nvSpPr>
          <p:cNvPr id="5" name="Shape 3"/>
          <p:cNvSpPr/>
          <p:nvPr/>
        </p:nvSpPr>
        <p:spPr>
          <a:xfrm>
            <a:off x="822960" y="1856232"/>
            <a:ext cx="420624" cy="420624"/>
          </a:xfrm>
          <a:prstGeom prst="ellipse">
            <a:avLst/>
          </a:prstGeom>
          <a:solidFill>
            <a:srgbClr val="FFC24B"/>
          </a:solidFill>
          <a:ln/>
        </p:spPr>
        <p:txBody>
          <a:bodyPr/>
          <a:p/>
        </p:txBody>
      </p:sp>
      <p:sp>
        <p:nvSpPr>
          <p:cNvPr id="6" name="Text 4"/>
          <p:cNvSpPr/>
          <p:nvPr/>
        </p:nvSpPr>
        <p:spPr>
          <a:xfrm>
            <a:off x="822960" y="185623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463040" y="1691640"/>
            <a:ext cx="6217920" cy="749808"/>
          </a:xfrm>
          <a:prstGeom prst="rect">
            <a:avLst/>
          </a:prstGeom>
          <a:noFill/>
          <a:ln/>
        </p:spPr>
        <p:txBody>
          <a:bodyPr wrap="square" lIns="0" tIns="0" rIns="0" bIns="0" rtlCol="0" anchor="ctr"/>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Alegeți problema; scrieți-o în două sau trei propoziții.</a:t>
            </a:r>
            <a:endParaRPr lang="en-US" sz="1450" dirty="0"/>
          </a:p>
        </p:txBody>
      </p:sp>
      <p:sp>
        <p:nvSpPr>
          <p:cNvPr id="8" name="Shape 6"/>
          <p:cNvSpPr/>
          <p:nvPr/>
        </p:nvSpPr>
        <p:spPr>
          <a:xfrm>
            <a:off x="594360" y="2542032"/>
            <a:ext cx="7223760" cy="749808"/>
          </a:xfrm>
          <a:prstGeom prst="roundRect">
            <a:avLst>
              <a:gd name="adj" fmla="val 10976"/>
            </a:avLst>
          </a:prstGeom>
          <a:solidFill>
            <a:srgbClr val="1D1F2B"/>
          </a:solidFill>
          <a:ln w="12700">
            <a:solidFill>
              <a:srgbClr val="1D1F2B"/>
            </a:solidFill>
            <a:prstDash val="solid"/>
          </a:ln>
        </p:spPr>
        <p:txBody>
          <a:bodyPr/>
          <a:p/>
        </p:txBody>
      </p:sp>
      <p:sp>
        <p:nvSpPr>
          <p:cNvPr id="9" name="Shape 7"/>
          <p:cNvSpPr/>
          <p:nvPr/>
        </p:nvSpPr>
        <p:spPr>
          <a:xfrm>
            <a:off x="822960" y="2706624"/>
            <a:ext cx="420624" cy="420624"/>
          </a:xfrm>
          <a:prstGeom prst="ellipse">
            <a:avLst/>
          </a:prstGeom>
          <a:solidFill>
            <a:srgbClr val="FFC24B"/>
          </a:solidFill>
          <a:ln/>
        </p:spPr>
        <p:txBody>
          <a:bodyPr/>
          <a:p/>
        </p:txBody>
      </p:sp>
      <p:sp>
        <p:nvSpPr>
          <p:cNvPr id="10" name="Text 8"/>
          <p:cNvSpPr/>
          <p:nvPr/>
        </p:nvSpPr>
        <p:spPr>
          <a:xfrm>
            <a:off x="822960" y="270662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463040" y="2542032"/>
            <a:ext cx="6217920" cy="749808"/>
          </a:xfrm>
          <a:prstGeom prst="rect">
            <a:avLst/>
          </a:prstGeom>
          <a:noFill/>
          <a:ln/>
        </p:spPr>
        <p:txBody>
          <a:bodyPr wrap="square" lIns="0" tIns="0" rIns="0" bIns="0" rtlCol="0" anchor="ctr"/>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O primă cifră din TEMPO-Online, Eurostat, GBD Compare sau ECDC, cu cele patru etichete.</a:t>
            </a:r>
            <a:endParaRPr lang="en-US" sz="1450" dirty="0"/>
          </a:p>
        </p:txBody>
      </p:sp>
      <p:sp>
        <p:nvSpPr>
          <p:cNvPr id="12" name="Shape 10"/>
          <p:cNvSpPr/>
          <p:nvPr/>
        </p:nvSpPr>
        <p:spPr>
          <a:xfrm>
            <a:off x="594360" y="3392424"/>
            <a:ext cx="7223760" cy="749808"/>
          </a:xfrm>
          <a:prstGeom prst="roundRect">
            <a:avLst>
              <a:gd name="adj" fmla="val 10976"/>
            </a:avLst>
          </a:prstGeom>
          <a:solidFill>
            <a:srgbClr val="1D1F2B"/>
          </a:solidFill>
          <a:ln w="12700">
            <a:solidFill>
              <a:srgbClr val="1D1F2B"/>
            </a:solidFill>
            <a:prstDash val="solid"/>
          </a:ln>
        </p:spPr>
        <p:txBody>
          <a:bodyPr/>
          <a:p/>
        </p:txBody>
      </p:sp>
      <p:sp>
        <p:nvSpPr>
          <p:cNvPr id="13" name="Shape 11"/>
          <p:cNvSpPr/>
          <p:nvPr/>
        </p:nvSpPr>
        <p:spPr>
          <a:xfrm>
            <a:off x="822960" y="3557016"/>
            <a:ext cx="420624" cy="420624"/>
          </a:xfrm>
          <a:prstGeom prst="ellipse">
            <a:avLst/>
          </a:prstGeom>
          <a:solidFill>
            <a:srgbClr val="FFC24B"/>
          </a:solidFill>
          <a:ln/>
        </p:spPr>
        <p:txBody>
          <a:bodyPr/>
          <a:p/>
        </p:txBody>
      </p:sp>
      <p:sp>
        <p:nvSpPr>
          <p:cNvPr id="14" name="Text 12"/>
          <p:cNvSpPr/>
          <p:nvPr/>
        </p:nvSpPr>
        <p:spPr>
          <a:xfrm>
            <a:off x="822960" y="355701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463040" y="3392424"/>
            <a:ext cx="6217920" cy="749808"/>
          </a:xfrm>
          <a:prstGeom prst="rect">
            <a:avLst/>
          </a:prstGeom>
          <a:noFill/>
          <a:ln/>
        </p:spPr>
        <p:txBody>
          <a:bodyPr wrap="square" lIns="0" tIns="0" rIns="0" bIns="0" rtlCol="0" anchor="ctr"/>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Patru întrebări: câți afectează, cât de grave sunt urmările, se repetă, se poate preveni.</a:t>
            </a:r>
            <a:endParaRPr lang="en-US" sz="1450" dirty="0"/>
          </a:p>
        </p:txBody>
      </p:sp>
      <p:sp>
        <p:nvSpPr>
          <p:cNvPr id="16" name="Shape 14"/>
          <p:cNvSpPr/>
          <p:nvPr/>
        </p:nvSpPr>
        <p:spPr>
          <a:xfrm>
            <a:off x="594360" y="4242816"/>
            <a:ext cx="7223760" cy="749808"/>
          </a:xfrm>
          <a:prstGeom prst="roundRect">
            <a:avLst>
              <a:gd name="adj" fmla="val 10976"/>
            </a:avLst>
          </a:prstGeom>
          <a:solidFill>
            <a:srgbClr val="1D1F2B"/>
          </a:solidFill>
          <a:ln w="12700">
            <a:solidFill>
              <a:srgbClr val="1D1F2B"/>
            </a:solidFill>
            <a:prstDash val="solid"/>
          </a:ln>
        </p:spPr>
        <p:txBody>
          <a:bodyPr/>
          <a:p/>
        </p:txBody>
      </p:sp>
      <p:sp>
        <p:nvSpPr>
          <p:cNvPr id="17" name="Shape 15"/>
          <p:cNvSpPr/>
          <p:nvPr/>
        </p:nvSpPr>
        <p:spPr>
          <a:xfrm>
            <a:off x="822960" y="4407408"/>
            <a:ext cx="420624" cy="420624"/>
          </a:xfrm>
          <a:prstGeom prst="ellipse">
            <a:avLst/>
          </a:prstGeom>
          <a:solidFill>
            <a:srgbClr val="FFC24B"/>
          </a:solidFill>
          <a:ln/>
        </p:spPr>
        <p:txBody>
          <a:bodyPr/>
          <a:p/>
        </p:txBody>
      </p:sp>
      <p:sp>
        <p:nvSpPr>
          <p:cNvPr id="18" name="Text 16"/>
          <p:cNvSpPr/>
          <p:nvPr/>
        </p:nvSpPr>
        <p:spPr>
          <a:xfrm>
            <a:off x="82296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463040" y="4242816"/>
            <a:ext cx="6217920" cy="749808"/>
          </a:xfrm>
          <a:prstGeom prst="rect">
            <a:avLst/>
          </a:prstGeom>
          <a:noFill/>
          <a:ln/>
        </p:spPr>
        <p:txBody>
          <a:bodyPr wrap="square" lIns="0" tIns="0" rIns="0" bIns="0" rtlCol="0" anchor="ctr"/>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Definirea problemei: cinci până la opt propoziții.</a:t>
            </a:r>
            <a:endParaRPr lang="en-US" sz="1450" dirty="0"/>
          </a:p>
        </p:txBody>
      </p:sp>
      <p:sp>
        <p:nvSpPr>
          <p:cNvPr id="20" name="Shape 18"/>
          <p:cNvSpPr/>
          <p:nvPr/>
        </p:nvSpPr>
        <p:spPr>
          <a:xfrm>
            <a:off x="594360" y="5093208"/>
            <a:ext cx="7223760" cy="749808"/>
          </a:xfrm>
          <a:prstGeom prst="roundRect">
            <a:avLst>
              <a:gd name="adj" fmla="val 10976"/>
            </a:avLst>
          </a:prstGeom>
          <a:solidFill>
            <a:srgbClr val="1D1F2B"/>
          </a:solidFill>
          <a:ln w="12700">
            <a:solidFill>
              <a:srgbClr val="1D1F2B"/>
            </a:solidFill>
            <a:prstDash val="solid"/>
          </a:ln>
        </p:spPr>
        <p:txBody>
          <a:bodyPr/>
          <a:p/>
        </p:txBody>
      </p:sp>
      <p:sp>
        <p:nvSpPr>
          <p:cNvPr id="21" name="Shape 19"/>
          <p:cNvSpPr/>
          <p:nvPr/>
        </p:nvSpPr>
        <p:spPr>
          <a:xfrm>
            <a:off x="822960" y="5257800"/>
            <a:ext cx="420624" cy="420624"/>
          </a:xfrm>
          <a:prstGeom prst="ellipse">
            <a:avLst/>
          </a:prstGeom>
          <a:solidFill>
            <a:srgbClr val="FFC24B"/>
          </a:solidFill>
          <a:ln/>
        </p:spPr>
        <p:txBody>
          <a:bodyPr/>
          <a:p/>
        </p:txBody>
      </p:sp>
      <p:sp>
        <p:nvSpPr>
          <p:cNvPr id="22" name="Text 20"/>
          <p:cNvSpPr/>
          <p:nvPr/>
        </p:nvSpPr>
        <p:spPr>
          <a:xfrm>
            <a:off x="822960" y="525780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3" name="Text 21"/>
          <p:cNvSpPr/>
          <p:nvPr/>
        </p:nvSpPr>
        <p:spPr>
          <a:xfrm>
            <a:off x="1463040" y="5093208"/>
            <a:ext cx="6217920" cy="749808"/>
          </a:xfrm>
          <a:prstGeom prst="rect">
            <a:avLst/>
          </a:prstGeom>
          <a:noFill/>
          <a:ln/>
        </p:spPr>
        <p:txBody>
          <a:bodyPr wrap="square" lIns="0" tIns="0" rIns="0" bIns="0" rtlCol="0" anchor="ctr"/>
          <a:lstStyle/>
          <a:p>
            <a:pPr indent="0" marL="0">
              <a:buNone/>
            </a:pPr>
            <a:r>
              <a:rPr lang="en-US" sz="1450" dirty="0">
                <a:solidFill>
                  <a:srgbClr val="FFFFFF"/>
                </a:solidFill>
                <a:latin typeface="Palatino Linotype" pitchFamily="34" charset="0"/>
                <a:ea typeface="Palatino Linotype" pitchFamily="34" charset="-122"/>
                <a:cs typeface="Palatino Linotype" pitchFamily="34" charset="-120"/>
              </a:rPr>
              <a:t>Coordonatorul trimite fișa completă, cu ce a făcut fiecare membru.</a:t>
            </a:r>
            <a:endParaRPr lang="en-US" sz="1450" dirty="0"/>
          </a:p>
        </p:txBody>
      </p:sp>
      <p:sp>
        <p:nvSpPr>
          <p:cNvPr id="24" name="Shape 22"/>
          <p:cNvSpPr/>
          <p:nvPr/>
        </p:nvSpPr>
        <p:spPr>
          <a:xfrm>
            <a:off x="8001000" y="1691640"/>
            <a:ext cx="3566160" cy="2880360"/>
          </a:xfrm>
          <a:prstGeom prst="roundRect">
            <a:avLst>
              <a:gd name="adj" fmla="val 2857"/>
            </a:avLst>
          </a:prstGeom>
          <a:solidFill>
            <a:srgbClr val="FF4757"/>
          </a:solidFill>
          <a:ln w="12700">
            <a:solidFill>
              <a:srgbClr val="FF4757"/>
            </a:solidFill>
            <a:prstDash val="solid"/>
          </a:ln>
        </p:spPr>
        <p:txBody>
          <a:bodyPr/>
          <a:p/>
        </p:txBody>
      </p:sp>
      <p:sp>
        <p:nvSpPr>
          <p:cNvPr id="25" name="Text 23"/>
          <p:cNvSpPr/>
          <p:nvPr/>
        </p:nvSpPr>
        <p:spPr>
          <a:xfrm>
            <a:off x="8275320" y="1874520"/>
            <a:ext cx="2926080" cy="320040"/>
          </a:xfrm>
          <a:prstGeom prst="rect">
            <a:avLst/>
          </a:prstGeom>
          <a:noFill/>
          <a:ln/>
        </p:spPr>
        <p:txBody>
          <a:bodyPr wrap="square" lIns="0" tIns="0" rIns="0" bIns="0" rtlCol="0" anchor="t"/>
          <a:lstStyle/>
          <a:p>
            <a:pPr indent="0" marL="0">
              <a:buNone/>
            </a:pPr>
            <a:r>
              <a:rPr lang="en-US" sz="1300" b="1" spc="300" kern="0" dirty="0">
                <a:solidFill>
                  <a:srgbClr val="2E060B"/>
                </a:solidFill>
                <a:latin typeface="Palatino Linotype" pitchFamily="34" charset="0"/>
                <a:ea typeface="Palatino Linotype" pitchFamily="34" charset="-122"/>
                <a:cs typeface="Palatino Linotype" pitchFamily="34" charset="-120"/>
              </a:rPr>
              <a:t>TERMENUL</a:t>
            </a:r>
            <a:endParaRPr lang="en-US" sz="1300" dirty="0"/>
          </a:p>
        </p:txBody>
      </p:sp>
      <p:sp>
        <p:nvSpPr>
          <p:cNvPr id="26" name="Text 24"/>
          <p:cNvSpPr/>
          <p:nvPr/>
        </p:nvSpPr>
        <p:spPr>
          <a:xfrm>
            <a:off x="8275320" y="2286000"/>
            <a:ext cx="3200400" cy="1371600"/>
          </a:xfrm>
          <a:prstGeom prst="rect">
            <a:avLst/>
          </a:prstGeom>
          <a:noFill/>
          <a:ln/>
        </p:spPr>
        <p:txBody>
          <a:bodyPr wrap="square" lIns="0" tIns="0" rIns="0" bIns="0" rtlCol="0" anchor="t"/>
          <a:lstStyle/>
          <a:p>
            <a:pPr indent="0" marL="0">
              <a:buNone/>
            </a:pPr>
            <a:r>
              <a:rPr lang="en-US" sz="2300" b="1" dirty="0">
                <a:solidFill>
                  <a:srgbClr val="2E060B"/>
                </a:solidFill>
                <a:latin typeface="Palatino Linotype" pitchFamily="34" charset="0"/>
                <a:ea typeface="Palatino Linotype" pitchFamily="34" charset="-122"/>
                <a:cs typeface="Palatino Linotype" pitchFamily="34" charset="-120"/>
              </a:rPr>
              <a:t>duminică, 11.10.2026,</a:t>
            </a:r>
            <a:endParaRPr lang="en-US" sz="2300" dirty="0"/>
          </a:p>
          <a:p>
            <a:pPr indent="0" marL="0">
              <a:buNone/>
            </a:pPr>
            <a:r>
              <a:rPr lang="en-US" sz="2300" b="1" dirty="0">
                <a:solidFill>
                  <a:srgbClr val="2E060B"/>
                </a:solidFill>
                <a:latin typeface="Palatino Linotype" pitchFamily="34" charset="0"/>
                <a:ea typeface="Palatino Linotype" pitchFamily="34" charset="-122"/>
                <a:cs typeface="Palatino Linotype" pitchFamily="34" charset="-120"/>
              </a:rPr>
              <a:t>ora 22:00</a:t>
            </a:r>
            <a:endParaRPr lang="en-US" sz="2300" dirty="0"/>
          </a:p>
        </p:txBody>
      </p:sp>
      <p:sp>
        <p:nvSpPr>
          <p:cNvPr id="27" name="Text 25"/>
          <p:cNvSpPr/>
          <p:nvPr/>
        </p:nvSpPr>
        <p:spPr>
          <a:xfrm>
            <a:off x="8275320" y="3657600"/>
            <a:ext cx="3200400" cy="822960"/>
          </a:xfrm>
          <a:prstGeom prst="rect">
            <a:avLst/>
          </a:prstGeom>
          <a:noFill/>
          <a:ln/>
        </p:spPr>
        <p:txBody>
          <a:bodyPr wrap="square" lIns="0" tIns="0" rIns="0" bIns="0" rtlCol="0" anchor="t"/>
          <a:lstStyle/>
          <a:p>
            <a:pPr indent="0" marL="0">
              <a:buNone/>
            </a:pPr>
            <a:r>
              <a:rPr lang="en-US" sz="1450" dirty="0">
                <a:solidFill>
                  <a:srgbClr val="2E060B"/>
                </a:solidFill>
                <a:latin typeface="Palatino Linotype" pitchFamily="34" charset="0"/>
                <a:ea typeface="Palatino Linotype" pitchFamily="34" charset="-122"/>
                <a:cs typeface="Palatino Linotype" pitchFamily="34" charset="-120"/>
              </a:rPr>
              <a:t>Formularul „Fișa echipei”, varianta „Fișa completă”. Nu se notează.</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8404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8404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ULTIMELE CINCI MINUTE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 azi?</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v-am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ați putea folosi mâine?</a:t>
            </a:r>
            <a:endParaRPr lang="en-US" sz="2200" dirty="0"/>
          </a:p>
        </p:txBody>
      </p:sp>
      <p:sp>
        <p:nvSpPr>
          <p:cNvPr id="14" name="Shape 12"/>
          <p:cNvSpPr/>
          <p:nvPr/>
        </p:nvSpPr>
        <p:spPr>
          <a:xfrm>
            <a:off x="8549640" y="2514600"/>
            <a:ext cx="3017520" cy="2468880"/>
          </a:xfrm>
          <a:prstGeom prst="roundRect">
            <a:avLst>
              <a:gd name="adj" fmla="val 3704"/>
            </a:avLst>
          </a:prstGeom>
          <a:solidFill>
            <a:srgbClr val="FFFFFF"/>
          </a:solidFill>
          <a:ln w="19050">
            <a:solidFill>
              <a:srgbClr val="8E94A8"/>
            </a:solidFill>
            <a:prstDash val="dash"/>
          </a:ln>
        </p:spPr>
        <p:txBody>
          <a:bodyPr/>
          <a:p/>
        </p:txBody>
      </p:sp>
      <p:sp>
        <p:nvSpPr>
          <p:cNvPr id="16" name="Text 14"/>
          <p:cNvSpPr/>
          <p:nvPr/>
        </p:nvSpPr>
        <p:spPr>
          <a:xfrm>
            <a:off x="594360" y="5349240"/>
            <a:ext cx="10972800" cy="73152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Ce puteți face diferit de mâine: când citiți o cifră despre sănătate, căutați cele patru etichete înainte să o credeți sau să o dați mai departe.</a:t>
            </a:r>
            <a:endParaRPr lang="en-US" sz="1800" dirty="0"/>
          </a:p>
        </p:txBody>
      </p:sp>
      <p:pic>
        <p:nvPicPr>
          <p:cNvPr id="17" name="Picture 16" descr="Mentimeter_UB_ISP_LP01.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9137650" y="4394200"/>
            <a:ext cx="18415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ISP · Seminarul 1 · Lansarea proiectului de echipă</dc:title>
  <dc:subject>PptxGenJS Presentation</dc:subject>
  <dc:creator>Conf. Univ. Dr. Adrian Pana</dc:creator>
  <cp:lastModifiedBy>Conf. Univ. Dr. Adrian Pana</cp:lastModifiedBy>
  <cp:revision>1</cp:revision>
  <dcterms:created xsi:type="dcterms:W3CDTF">2026-10-04T14:45:28Z</dcterms:created>
  <dcterms:modified xsi:type="dcterms:W3CDTF">2026-10-04T14:45:28Z</dcterms:modified>
  <cp:keywords>sursa_amprenta=aff663e8b844b80b; proiectie</cp:keywords>
</cp:coreProperties>
</file>