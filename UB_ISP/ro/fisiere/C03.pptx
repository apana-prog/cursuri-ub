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4-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Titlul de azi sună administrativ: date, sistem, informații. În spatele lui stă o întrebare foarte concretă, pe care v-o puteți pune oricând citiți o știre despre sănătate: de unde știe cineva cifra asta?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Răspunsul scurt, provizoriu: dintr-un lanț de oameni, formulare și reguli. Pentru mortalitatea infantilă, Institutul Național de Statistică împarte copiii decedați înainte de un an la copiii născuți vii în același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Azi aveți trei termeni noi, fiecare spus și în cuvinte obișnuite. Jumătate din timp lucrați voi. Biletul de ieșire de data trecută nu a primit niciun răspuns, așa că azi îl completăm împreună, înainte să plecați.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Situația este construită pentru acest curs și nu descrie persoane reale. Urmăriți ce se întâmplă cu acest deces după ce familia pleacă de la primărie.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Tabelul este public. Copilul din caz ar fi una dintre cele 467 de decese din mediul rural. Rămâne întrebarea: cum a ajuns decesul lui în acest tabel?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vot anonim. Nu se poate ghici fără să cunoașteți procedura, și tocmai asta vrem să vedem.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Serviciul public comunitar de evidență a persoanelor din primărie completează buletinul statistic, care trece prin direcția județeană de statistică și ajunge la institut. De aici vine o regulă: ce nu se înregistrează nu se numără.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Aveți toate cifrele pe ecran. Calculați întâi pentru mediul rural, apoi pentru cel urban.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Calculul nu are nimic misterios. Partea grea nu este împărțirea, ci numărătorul și numitorul: cine i-a numărat și dacă au fost numărați toți.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termen nou al zilei. Pe scurt: lanțul pe care tocmai l-ați urmărit, de la primărie la tabel.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2008, Organizația Mondială a Sănătății a descris sistemul prin aceste șase componente. Pachetul ei actual, SCORE, grupează ce au de făcut țările în cinci intervenții. Ultima componentă, utilizarea, este cea mai ușor de uitat: rata din mediul rural devine utilă abia când cineva o pune lângă cea urbană și se întreabă de ce diferă.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fiecare întrebare de sănătate publică, primul pas este să alegeți sursa potrivită. Statisticile vitale sunt coloana vertebrală a sistemului: din ele se calculează mortalitatea și speranța de viață.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Discutați cu colegul de bancă și scrieți pe telefon numele sursei și un motiv. Citim câteva răspunsuri împreună.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Exercițiul arată regula generală: întrebarea alege sursa, nu invers.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Casa Națională de Asigurări de Sănătate și dosarul electronic revin în a treia parte a cursului.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Valorile sunt ipotetice. Rata pare să se fi înjumătățit într-un singur an. Înainte să vă bucurați, uitați-vă la cele două lucruri din dreapta.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variante, un singur vot. Gândiți-vă la toate informațiile din exemplu, nu numai la cifra din raport.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semnale merg în aceeași direcție. Niciunul nu dovedește singur o eroare.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termen nou. Cele patru cuvinte sunt lista acestui curs, o definiție de lucru, ușor de ținut minte.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 două liste seamănă, dar nu sunt aceeași listă. A patra dimensiune a ghidului este cea mai ușor de uitat: numitorul, adică cifra de populație din care se calculează 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minute cu colegul de bancă. Aici nu există o variantă bună sau rea: vrem să vedem ce vă îngrijorează mai mult.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valoare extremă înseamnă, simplu, o cifră care sare mult față de anii dinainte. Nu o aruncați: o verificați înainte de a o folosi.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exact observația pe care v-am rugat s-o citiți înainte de ședință, în tabelul din TEMPO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Datele brute devin utile când sunt transformate în indicatori, adică în cifre comparabile între ani și între locuri. Rata mortalității infantile am calculat-o deja; al doilea indicator este speranța de viață.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corectează limita speranței de viață; a doua măsoară povara bolilor. Pentru bolile care nu ucid repede mai sunt două cifre, incidența și prevalența, pe care le lucrați în detaliu la epidemiologie.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Boala A ucide tineri; boala B ucide rar, dar ține mii de oameni cu dureri și limitări. Valorile sunt ipotetice.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Patru variante, un singur vot. Citiți cu atenție ce vrea să afle primarul.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Speranța de viață numără toți anii, buni și răi. Anii ajustați pentru dizabilitate măsoară ce s-a pierdut.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Situația este construită pentru acest curs și nu descrie persoane reale. Ce ar putea face farmacista din Valencia?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astfel de situații, statele Uniunii Europene au construit serviciile MyHealth@EU. Aceasta este pagina pe care v-am rugat s-o citiți înainte de ședință.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Aceeași rețetă, două folosiri. Un singur cuvânt, fără să vă gândiți prea mult.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termen nou. Distincția nu este doar o idee de curs: regulamentul european o scrie chiar în definițiile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Două întrebări scurte, cu aceleași două variante.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situație este utilizare primară, a doua utilizare secundară, după chiar definițiile regulamentului.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Două regulamente europene se citesc împreună. Primul este cel general. Pe scurt: datele se strâng pentru un scop clar, numai cât trebuie, corecte, păstrate cât este nevoie și protejate.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regulament adaugă reguli speciale pentru datele electronice de sănătate. Câteva prevederi vă privesc direct, dar nu de azi.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Ambele prevederi se aplică din 2029. Organismul de acces este o instituție publică; în România nu am găsit încă actul de desemnare.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Numai datele cu adevărat anonime, din care persoana nu mai poate fi identificată, ies din sfera regulamentului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 se împarte în două tabere. Fiecare tabără pregătește un singur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Argumentele voastre sunt chiar cele dintre care au ales legiuitorii.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3 iulie 2022, un site românesc de știri a dat acest titlu. Nu ne îndoim de știre. Ne întrebăm ce risc sugerează.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Două estimări, fără să căutați pe internet. Contează prima impresie.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murit mai puțin de douăzeci de oameni după mușcături de rechin și în jur de trei sute de mii prin înec. Comparația se face pe numere de decese, nu pe riscuri.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mesaj bun nu sperie mai mult decât este nevoie și nu liniștește mai mult decât e cazul.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Valorile sunt ipotetice. Uitați-vă întâi la grafic, apoi la axă.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Diferența reală este de un punct procentual, oricât de diferite ar părea barele.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Prezentarea veche a cursului conținea câteva afirmații pe care nu le-am putut confirma. De aceea nu apar în curs sau apar formulate cu prudență.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viitoare când citiți o cifră despre sănătate, într-o știre sau într-o postare, puneți aceste patru întrebări. Dacă nu găsiți răspunsul la niciuna, cifra nu este încă o informație.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anonim, pe Mentimeter. Data trecută nu a răspuns nimeni; fără răspunsurile voastre nu pot ști ce să schimb.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4757"/>
          </a:solidFill>
          <a:ln w="12700">
            <a:solidFill>
              <a:srgbClr val="FF4757"/>
            </a:solidFill>
            <a:prstDash val="solid"/>
          </a:ln>
        </p:spPr>
        <p:txBody>
          <a:bodyPr/>
          <a:p/>
        </p:txBody>
      </p:sp>
      <p:sp>
        <p:nvSpPr>
          <p:cNvPr id="3" name="Shape 1"/>
          <p:cNvSpPr/>
          <p:nvPr/>
        </p:nvSpPr>
        <p:spPr>
          <a:xfrm>
            <a:off x="640080" y="777240"/>
            <a:ext cx="2743200" cy="329184"/>
          </a:xfrm>
          <a:prstGeom prst="roundRect">
            <a:avLst>
              <a:gd name="adj" fmla="val 50000"/>
            </a:avLst>
          </a:prstGeom>
          <a:solidFill>
            <a:srgbClr val="FF4757"/>
          </a:solidFill>
          <a:ln w="12700">
            <a:solidFill>
              <a:srgbClr val="FF4757"/>
            </a:solidFill>
            <a:prstDash val="solid"/>
          </a:ln>
        </p:spPr>
        <p:txBody>
          <a:bodyPr/>
          <a:p/>
        </p:txBody>
      </p:sp>
      <p:sp>
        <p:nvSpPr>
          <p:cNvPr id="4" name="Text 2"/>
          <p:cNvSpPr/>
          <p:nvPr/>
        </p:nvSpPr>
        <p:spPr>
          <a:xfrm>
            <a:off x="640080" y="777240"/>
            <a:ext cx="274320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TREIA</a:t>
            </a:r>
            <a:endParaRPr lang="en-US" sz="1300" dirty="0"/>
          </a:p>
        </p:txBody>
      </p:sp>
      <p:sp>
        <p:nvSpPr>
          <p:cNvPr id="5" name="Text 3"/>
          <p:cNvSpPr/>
          <p:nvPr/>
        </p:nvSpPr>
        <p:spPr>
          <a:xfrm>
            <a:off x="640080" y="1280160"/>
            <a:ext cx="7315200" cy="192024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Datele și sistemul informațional aferent sănătății publice</a:t>
            </a:r>
            <a:endParaRPr lang="en-US" sz="3600" dirty="0"/>
          </a:p>
        </p:txBody>
      </p:sp>
      <p:sp>
        <p:nvSpPr>
          <p:cNvPr id="6" name="Text 4"/>
          <p:cNvSpPr/>
          <p:nvPr/>
        </p:nvSpPr>
        <p:spPr>
          <a:xfrm>
            <a:off x="640080" y="3429000"/>
            <a:ext cx="6949440" cy="73152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De unde știe cineva cifra asta?</a:t>
            </a:r>
            <a:endParaRPr lang="en-US" sz="2600" dirty="0"/>
          </a:p>
        </p:txBody>
      </p:sp>
      <p:sp>
        <p:nvSpPr>
          <p:cNvPr id="7" name="Shape 5"/>
          <p:cNvSpPr/>
          <p:nvPr/>
        </p:nvSpPr>
        <p:spPr>
          <a:xfrm>
            <a:off x="667512" y="4251960"/>
            <a:ext cx="1280160" cy="27432"/>
          </a:xfrm>
          <a:prstGeom prst="rect">
            <a:avLst/>
          </a:prstGeom>
          <a:solidFill>
            <a:srgbClr val="FF4757"/>
          </a:solidFill>
          <a:ln/>
        </p:spPr>
        <p:txBody>
          <a:bodyPr/>
          <a:p/>
        </p:txBody>
      </p:sp>
      <p:sp>
        <p:nvSpPr>
          <p:cNvPr id="8" name="Text 6"/>
          <p:cNvSpPr/>
          <p:nvPr/>
        </p:nvSpPr>
        <p:spPr>
          <a:xfrm>
            <a:off x="640080" y="4480560"/>
            <a:ext cx="6400800" cy="100584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Introducere în sănătate publică</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Servicii și politici de sănătate publică, anul I</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Conf. univ. dr. Adrian Pană</a:t>
            </a:r>
            <a:endParaRPr lang="en-US" sz="1400" dirty="0"/>
          </a:p>
        </p:txBody>
      </p:sp>
      <p:sp>
        <p:nvSpPr>
          <p:cNvPr id="9" name="Shape 7"/>
          <p:cNvSpPr/>
          <p:nvPr/>
        </p:nvSpPr>
        <p:spPr>
          <a:xfrm>
            <a:off x="8321040" y="1280160"/>
            <a:ext cx="3291840" cy="4206240"/>
          </a:xfrm>
          <a:prstGeom prst="roundRect">
            <a:avLst>
              <a:gd name="adj" fmla="val 2500"/>
            </a:avLst>
          </a:prstGeom>
          <a:solidFill>
            <a:srgbClr val="1D1F2B"/>
          </a:solidFill>
          <a:ln w="12700">
            <a:solidFill>
              <a:srgbClr val="1D1F2B"/>
            </a:solidFill>
            <a:prstDash val="solid"/>
          </a:ln>
        </p:spPr>
        <p:txBody>
          <a:bodyPr/>
          <a:p/>
        </p:txBody>
      </p:sp>
      <p:sp>
        <p:nvSpPr>
          <p:cNvPr id="10" name="Text 8"/>
          <p:cNvSpPr/>
          <p:nvPr/>
        </p:nvSpPr>
        <p:spPr>
          <a:xfrm>
            <a:off x="8321040" y="1508760"/>
            <a:ext cx="3291840" cy="329184"/>
          </a:xfrm>
          <a:prstGeom prst="rect">
            <a:avLst/>
          </a:prstGeom>
          <a:noFill/>
          <a:ln/>
        </p:spPr>
        <p:txBody>
          <a:bodyPr wrap="square" lIns="0" tIns="0" rIns="0" bIns="0" rtlCol="0" anchor="t"/>
          <a:lstStyle/>
          <a:p>
            <a:pPr algn="ct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PREGĂTIȚI TELEFONUL</a:t>
            </a:r>
            <a:endParaRPr lang="en-US" sz="1300" dirty="0"/>
          </a:p>
        </p:txBody>
      </p:sp>
      <p:sp>
        <p:nvSpPr>
          <p:cNvPr id="11" name="Text 9"/>
          <p:cNvSpPr/>
          <p:nvPr/>
        </p:nvSpPr>
        <p:spPr>
          <a:xfrm>
            <a:off x="8595360" y="2103120"/>
            <a:ext cx="2743200" cy="2377440"/>
          </a:xfrm>
          <a:prstGeom prst="rect">
            <a:avLst/>
          </a:prstGeom>
          <a:noFill/>
          <a:ln/>
        </p:spPr>
        <p:txBody>
          <a:bodyPr wrap="square" lIns="0" tIns="0" rIns="0" bIns="0" rtlCol="0" anchor="ctr"/>
          <a:lstStyle/>
          <a:p>
            <a:pPr algn="ctr" indent="0" marL="0">
              <a:buNone/>
            </a:pPr>
            <a:r>
              <a:rPr lang="en-US" sz="1700" dirty="0">
                <a:solidFill>
                  <a:srgbClr val="E6E8EF"/>
                </a:solidFill>
                <a:latin typeface="Palatino Linotype" pitchFamily="34" charset="0"/>
                <a:ea typeface="Palatino Linotype" pitchFamily="34" charset="-122"/>
                <a:cs typeface="Palatino Linotype" pitchFamily="34" charset="-120"/>
              </a:rPr>
              <a:t>Azi lucrați mult pe telefon: voturi, un calcul pe cifre reale, un nor de cuvinte și biletul de ieșire.</a:t>
            </a:r>
            <a:endParaRPr lang="en-US" sz="1700" dirty="0"/>
          </a:p>
        </p:txBody>
      </p:sp>
      <p:sp>
        <p:nvSpPr>
          <p:cNvPr id="12" name="Text 10"/>
          <p:cNvSpPr/>
          <p:nvPr/>
        </p:nvSpPr>
        <p:spPr>
          <a:xfrm>
            <a:off x="8321040" y="4709160"/>
            <a:ext cx="3291840" cy="457200"/>
          </a:xfrm>
          <a:prstGeom prst="rect">
            <a:avLst/>
          </a:prstGeom>
          <a:noFill/>
          <a:ln/>
        </p:spPr>
        <p:txBody>
          <a:bodyPr wrap="square" lIns="0" tIns="0" rIns="0" bIns="0" rtlCol="0" anchor="t"/>
          <a:lstStyle/>
          <a:p>
            <a:pPr algn="ctr" indent="0" marL="0">
              <a:buNone/>
            </a:pPr>
            <a:r>
              <a:rPr lang="en-US" sz="1500" i="1" dirty="0">
                <a:solidFill>
                  <a:srgbClr val="27D3BE"/>
                </a:solidFill>
                <a:latin typeface="Palatino Linotype" pitchFamily="34" charset="0"/>
                <a:ea typeface="Palatino Linotype" pitchFamily="34" charset="-122"/>
                <a:cs typeface="Palatino Linotype" pitchFamily="34" charset="-120"/>
              </a:rPr>
              <a:t>Mentimeter, anonim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ÎNTREBAREA DIN TITLU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De unde știe cineva cifra asta?</a:t>
            </a:r>
            <a:endParaRPr lang="en-US" sz="3200" dirty="0"/>
          </a:p>
        </p:txBody>
      </p:sp>
      <p:sp>
        <p:nvSpPr>
          <p:cNvPr id="4" name="Shape 2"/>
          <p:cNvSpPr/>
          <p:nvPr/>
        </p:nvSpPr>
        <p:spPr>
          <a:xfrm>
            <a:off x="594360" y="1554480"/>
            <a:ext cx="10972800" cy="1325880"/>
          </a:xfrm>
          <a:prstGeom prst="roundRect">
            <a:avLst>
              <a:gd name="adj" fmla="val 6207"/>
            </a:avLst>
          </a:prstGeom>
          <a:solidFill>
            <a:srgbClr val="FBF8F1"/>
          </a:solidFill>
          <a:ln w="12700">
            <a:solidFill>
              <a:srgbClr val="FBF8F1"/>
            </a:solidFill>
            <a:prstDash val="solid"/>
          </a:ln>
        </p:spPr>
        <p:txBody>
          <a:bodyPr/>
          <a:p/>
        </p:txBody>
      </p:sp>
      <p:sp>
        <p:nvSpPr>
          <p:cNvPr id="5" name="Shape 3"/>
          <p:cNvSpPr/>
          <p:nvPr/>
        </p:nvSpPr>
        <p:spPr>
          <a:xfrm>
            <a:off x="594360" y="1554480"/>
            <a:ext cx="91440" cy="1325880"/>
          </a:xfrm>
          <a:prstGeom prst="rect">
            <a:avLst/>
          </a:prstGeom>
          <a:solidFill>
            <a:srgbClr val="B02532"/>
          </a:solidFill>
          <a:ln w="12700">
            <a:solidFill>
              <a:srgbClr val="B02532"/>
            </a:solidFill>
            <a:prstDash val="solid"/>
          </a:ln>
        </p:spPr>
        <p:txBody>
          <a:bodyPr/>
          <a:p/>
        </p:txBody>
      </p:sp>
      <p:sp>
        <p:nvSpPr>
          <p:cNvPr id="6" name="Text 4"/>
          <p:cNvSpPr/>
          <p:nvPr/>
        </p:nvSpPr>
        <p:spPr>
          <a:xfrm>
            <a:off x="914400" y="1554480"/>
            <a:ext cx="10424160" cy="1325880"/>
          </a:xfrm>
          <a:prstGeom prst="rect">
            <a:avLst/>
          </a:prstGeom>
          <a:noFill/>
          <a:ln/>
        </p:spPr>
        <p:txBody>
          <a:bodyPr wrap="square" lIns="0" tIns="0" rIns="0" bIns="0" rtlCol="0" anchor="ctr"/>
          <a:lstStyle/>
          <a:p>
            <a:pPr indent="0" marL="0">
              <a:buNone/>
            </a:pPr>
            <a:r>
              <a:rPr lang="en-US" sz="2000" i="1" dirty="0">
                <a:solidFill>
                  <a:srgbClr val="11121A"/>
                </a:solidFill>
                <a:latin typeface="Palatino Linotype" pitchFamily="34" charset="0"/>
                <a:ea typeface="Palatino Linotype" pitchFamily="34" charset="-122"/>
                <a:cs typeface="Palatino Linotype" pitchFamily="34" charset="-120"/>
              </a:rPr>
              <a:t>Un ziar scrie că în satele României mor mai mulți sugari decât în orașe. Cine i-a numărat și cât de sigur e rezultatul?</a:t>
            </a:r>
            <a:endParaRPr lang="en-US" sz="2000" dirty="0"/>
          </a:p>
        </p:txBody>
      </p:sp>
      <p:sp>
        <p:nvSpPr>
          <p:cNvPr id="7" name="Text 5"/>
          <p:cNvSpPr/>
          <p:nvPr/>
        </p:nvSpPr>
        <p:spPr>
          <a:xfrm>
            <a:off x="594360" y="3154680"/>
            <a:ext cx="10972800" cy="329184"/>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RĂSPUNSUL SCURT, PROVIZORIU: DINTR-UN LANȚ</a:t>
            </a:r>
            <a:endParaRPr lang="en-US" sz="1300" dirty="0"/>
          </a:p>
        </p:txBody>
      </p:sp>
      <p:sp>
        <p:nvSpPr>
          <p:cNvPr id="8" name="Shape 6"/>
          <p:cNvSpPr/>
          <p:nvPr/>
        </p:nvSpPr>
        <p:spPr>
          <a:xfrm>
            <a:off x="594360" y="3611880"/>
            <a:ext cx="2697480" cy="1097280"/>
          </a:xfrm>
          <a:prstGeom prst="homePlate">
            <a:avLst/>
          </a:prstGeom>
          <a:solidFill>
            <a:srgbClr val="07564B"/>
          </a:solidFill>
          <a:ln w="12700">
            <a:solidFill>
              <a:srgbClr val="F6F5F2"/>
            </a:solidFill>
            <a:prstDash val="solid"/>
          </a:ln>
        </p:spPr>
        <p:txBody>
          <a:bodyPr/>
          <a:p/>
        </p:txBody>
      </p:sp>
      <p:sp>
        <p:nvSpPr>
          <p:cNvPr id="9" name="Text 7"/>
          <p:cNvSpPr/>
          <p:nvPr/>
        </p:nvSpPr>
        <p:spPr>
          <a:xfrm>
            <a:off x="731520" y="3611880"/>
            <a:ext cx="2194560"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Un medic constată un fapt</a:t>
            </a:r>
            <a:endParaRPr lang="en-US" sz="1500" dirty="0"/>
          </a:p>
        </p:txBody>
      </p:sp>
      <p:sp>
        <p:nvSpPr>
          <p:cNvPr id="10" name="Shape 8"/>
          <p:cNvSpPr/>
          <p:nvPr/>
        </p:nvSpPr>
        <p:spPr>
          <a:xfrm>
            <a:off x="3337560" y="3611880"/>
            <a:ext cx="2697480" cy="1097280"/>
          </a:xfrm>
          <a:prstGeom prst="chevron">
            <a:avLst/>
          </a:prstGeom>
          <a:solidFill>
            <a:srgbClr val="0E7C6B"/>
          </a:solidFill>
          <a:ln w="12700">
            <a:solidFill>
              <a:srgbClr val="F6F5F2"/>
            </a:solidFill>
            <a:prstDash val="solid"/>
          </a:ln>
        </p:spPr>
        <p:txBody>
          <a:bodyPr/>
          <a:p/>
        </p:txBody>
      </p:sp>
      <p:sp>
        <p:nvSpPr>
          <p:cNvPr id="11" name="Text 9"/>
          <p:cNvSpPr/>
          <p:nvPr/>
        </p:nvSpPr>
        <p:spPr>
          <a:xfrm>
            <a:off x="3749040" y="3611880"/>
            <a:ext cx="1920240"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O instituție îl înregistrează</a:t>
            </a:r>
            <a:endParaRPr lang="en-US" sz="1500" dirty="0"/>
          </a:p>
        </p:txBody>
      </p:sp>
      <p:sp>
        <p:nvSpPr>
          <p:cNvPr id="12" name="Shape 10"/>
          <p:cNvSpPr/>
          <p:nvPr/>
        </p:nvSpPr>
        <p:spPr>
          <a:xfrm>
            <a:off x="6080760" y="3611880"/>
            <a:ext cx="2697480" cy="1097280"/>
          </a:xfrm>
          <a:prstGeom prst="chevron">
            <a:avLst/>
          </a:prstGeom>
          <a:solidFill>
            <a:srgbClr val="07564B"/>
          </a:solidFill>
          <a:ln w="12700">
            <a:solidFill>
              <a:srgbClr val="F6F5F2"/>
            </a:solidFill>
            <a:prstDash val="solid"/>
          </a:ln>
        </p:spPr>
        <p:txBody>
          <a:bodyPr/>
          <a:p/>
        </p:txBody>
      </p:sp>
      <p:sp>
        <p:nvSpPr>
          <p:cNvPr id="13" name="Text 11"/>
          <p:cNvSpPr/>
          <p:nvPr/>
        </p:nvSpPr>
        <p:spPr>
          <a:xfrm>
            <a:off x="6492240" y="3611880"/>
            <a:ext cx="1920240"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Statistica oficială îl adună</a:t>
            </a:r>
            <a:endParaRPr lang="en-US" sz="1500" dirty="0"/>
          </a:p>
        </p:txBody>
      </p:sp>
      <p:sp>
        <p:nvSpPr>
          <p:cNvPr id="14" name="Shape 12"/>
          <p:cNvSpPr/>
          <p:nvPr/>
        </p:nvSpPr>
        <p:spPr>
          <a:xfrm>
            <a:off x="8823960" y="3611880"/>
            <a:ext cx="2697480" cy="1097280"/>
          </a:xfrm>
          <a:prstGeom prst="chevron">
            <a:avLst/>
          </a:prstGeom>
          <a:solidFill>
            <a:srgbClr val="B02532"/>
          </a:solidFill>
          <a:ln w="12700">
            <a:solidFill>
              <a:srgbClr val="F6F5F2"/>
            </a:solidFill>
            <a:prstDash val="solid"/>
          </a:ln>
        </p:spPr>
        <p:txBody>
          <a:bodyPr/>
          <a:p/>
        </p:txBody>
      </p:sp>
      <p:sp>
        <p:nvSpPr>
          <p:cNvPr id="15" name="Text 13"/>
          <p:cNvSpPr/>
          <p:nvPr/>
        </p:nvSpPr>
        <p:spPr>
          <a:xfrm>
            <a:off x="9235440" y="3611880"/>
            <a:ext cx="1920240"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 și îl raportează la populația potrivită</a:t>
            </a:r>
            <a:endParaRPr lang="en-US" sz="1500" dirty="0"/>
          </a:p>
        </p:txBody>
      </p:sp>
      <p:sp>
        <p:nvSpPr>
          <p:cNvPr id="16" name="Text 14"/>
          <p:cNvSpPr/>
          <p:nvPr/>
        </p:nvSpPr>
        <p:spPr>
          <a:xfrm>
            <a:off x="594360" y="5029200"/>
            <a:ext cx="10972800" cy="640080"/>
          </a:xfrm>
          <a:prstGeom prst="rect">
            <a:avLst/>
          </a:prstGeom>
          <a:noFill/>
          <a:ln/>
        </p:spPr>
        <p:txBody>
          <a:bodyPr wrap="square" lIns="0" tIns="0" rIns="0" bIns="0" rtlCol="0" anchor="t"/>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Restul cursului desface lanțul, verigă cu verigă.</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CUM SE DESFĂȘOARĂ ȘEDINȚA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Șase părți, jumătate din timp lucrați voi</a:t>
            </a:r>
            <a:endParaRPr lang="en-US" sz="3000" dirty="0"/>
          </a:p>
        </p:txBody>
      </p:sp>
      <p:sp>
        <p:nvSpPr>
          <p:cNvPr id="4" name="Shape 2"/>
          <p:cNvSpPr/>
          <p:nvPr/>
        </p:nvSpPr>
        <p:spPr>
          <a:xfrm>
            <a:off x="594360" y="1645920"/>
            <a:ext cx="5394960" cy="694944"/>
          </a:xfrm>
          <a:prstGeom prst="roundRect">
            <a:avLst>
              <a:gd name="adj" fmla="val 11842"/>
            </a:avLst>
          </a:prstGeom>
          <a:solidFill>
            <a:srgbClr val="ECEAE4"/>
          </a:solidFill>
          <a:ln w="12700">
            <a:solidFill>
              <a:srgbClr val="ECEAE4"/>
            </a:solidFill>
            <a:prstDash val="solid"/>
          </a:ln>
        </p:spPr>
        <p:txBody>
          <a:bodyPr/>
          <a:p/>
        </p:txBody>
      </p:sp>
      <p:sp>
        <p:nvSpPr>
          <p:cNvPr id="5" name="Shape 3"/>
          <p:cNvSpPr/>
          <p:nvPr/>
        </p:nvSpPr>
        <p:spPr>
          <a:xfrm>
            <a:off x="594360" y="1645920"/>
            <a:ext cx="914400" cy="694944"/>
          </a:xfrm>
          <a:prstGeom prst="roundRect">
            <a:avLst>
              <a:gd name="adj" fmla="val 11842"/>
            </a:avLst>
          </a:prstGeom>
          <a:solidFill>
            <a:srgbClr val="FF4757"/>
          </a:solidFill>
          <a:ln w="12700">
            <a:solidFill>
              <a:srgbClr val="FF4757"/>
            </a:solidFill>
            <a:prstDash val="solid"/>
          </a:ln>
        </p:spPr>
        <p:txBody>
          <a:bodyPr/>
          <a:p/>
        </p:txBody>
      </p:sp>
      <p:sp>
        <p:nvSpPr>
          <p:cNvPr id="6" name="Text 4"/>
          <p:cNvSpPr/>
          <p:nvPr/>
        </p:nvSpPr>
        <p:spPr>
          <a:xfrm>
            <a:off x="594360" y="1645920"/>
            <a:ext cx="914400" cy="694944"/>
          </a:xfrm>
          <a:prstGeom prst="rect">
            <a:avLst/>
          </a:prstGeom>
          <a:noFill/>
          <a:ln/>
        </p:spPr>
        <p:txBody>
          <a:bodyPr wrap="square" lIns="0" tIns="0" rIns="0" bIns="0" rtlCol="0" anchor="ctr"/>
          <a:lstStyle/>
          <a:p>
            <a:pPr algn="ctr" indent="0" marL="0">
              <a:buNone/>
            </a:pPr>
            <a:r>
              <a:rPr lang="en-US" sz="1800" b="1" dirty="0">
                <a:solidFill>
                  <a:srgbClr val="2E060B"/>
                </a:solidFill>
                <a:latin typeface="Palatino Linotype" pitchFamily="34" charset="0"/>
                <a:ea typeface="Palatino Linotype" pitchFamily="34" charset="-122"/>
                <a:cs typeface="Palatino Linotype" pitchFamily="34" charset="-120"/>
              </a:rPr>
              <a:t>5′</a:t>
            </a:r>
            <a:endParaRPr lang="en-US" sz="1800" dirty="0"/>
          </a:p>
        </p:txBody>
      </p:sp>
      <p:sp>
        <p:nvSpPr>
          <p:cNvPr id="7" name="Text 5"/>
          <p:cNvSpPr/>
          <p:nvPr/>
        </p:nvSpPr>
        <p:spPr>
          <a:xfrm>
            <a:off x="1691640" y="1645920"/>
            <a:ext cx="4160520" cy="69494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Deschiderea</a:t>
            </a:r>
            <a:endParaRPr lang="en-US" sz="1700" dirty="0"/>
          </a:p>
        </p:txBody>
      </p:sp>
      <p:sp>
        <p:nvSpPr>
          <p:cNvPr id="8" name="Shape 6"/>
          <p:cNvSpPr/>
          <p:nvPr/>
        </p:nvSpPr>
        <p:spPr>
          <a:xfrm>
            <a:off x="6172200" y="1645920"/>
            <a:ext cx="5394960" cy="694944"/>
          </a:xfrm>
          <a:prstGeom prst="roundRect">
            <a:avLst>
              <a:gd name="adj" fmla="val 11842"/>
            </a:avLst>
          </a:prstGeom>
          <a:solidFill>
            <a:srgbClr val="ECEAE4"/>
          </a:solidFill>
          <a:ln w="12700">
            <a:solidFill>
              <a:srgbClr val="ECEAE4"/>
            </a:solidFill>
            <a:prstDash val="solid"/>
          </a:ln>
        </p:spPr>
        <p:txBody>
          <a:bodyPr/>
          <a:p/>
        </p:txBody>
      </p:sp>
      <p:sp>
        <p:nvSpPr>
          <p:cNvPr id="9" name="Shape 7"/>
          <p:cNvSpPr/>
          <p:nvPr/>
        </p:nvSpPr>
        <p:spPr>
          <a:xfrm>
            <a:off x="6172200" y="1645920"/>
            <a:ext cx="914400" cy="694944"/>
          </a:xfrm>
          <a:prstGeom prst="roundRect">
            <a:avLst>
              <a:gd name="adj" fmla="val 11842"/>
            </a:avLst>
          </a:prstGeom>
          <a:solidFill>
            <a:srgbClr val="FFC24B"/>
          </a:solidFill>
          <a:ln w="12700">
            <a:solidFill>
              <a:srgbClr val="FFC24B"/>
            </a:solidFill>
            <a:prstDash val="solid"/>
          </a:ln>
        </p:spPr>
        <p:txBody>
          <a:bodyPr/>
          <a:p/>
        </p:txBody>
      </p:sp>
      <p:sp>
        <p:nvSpPr>
          <p:cNvPr id="10" name="Text 8"/>
          <p:cNvSpPr/>
          <p:nvPr/>
        </p:nvSpPr>
        <p:spPr>
          <a:xfrm>
            <a:off x="6172200" y="1645920"/>
            <a:ext cx="914400" cy="694944"/>
          </a:xfrm>
          <a:prstGeom prst="rect">
            <a:avLst/>
          </a:prstGeom>
          <a:noFill/>
          <a:ln/>
        </p:spPr>
        <p:txBody>
          <a:bodyPr wrap="square" lIns="0" tIns="0" rIns="0" bIns="0" rtlCol="0" anchor="ctr"/>
          <a:lstStyle/>
          <a:p>
            <a:pPr algn="ctr" indent="0" marL="0">
              <a:buNone/>
            </a:pPr>
            <a:r>
              <a:rPr lang="en-US" sz="1800" b="1" dirty="0">
                <a:solidFill>
                  <a:srgbClr val="3D2A00"/>
                </a:solidFill>
                <a:latin typeface="Palatino Linotype" pitchFamily="34" charset="0"/>
                <a:ea typeface="Palatino Linotype" pitchFamily="34" charset="-122"/>
                <a:cs typeface="Palatino Linotype" pitchFamily="34" charset="-120"/>
              </a:rPr>
              <a:t>25′</a:t>
            </a:r>
            <a:endParaRPr lang="en-US" sz="1800" dirty="0"/>
          </a:p>
        </p:txBody>
      </p:sp>
      <p:sp>
        <p:nvSpPr>
          <p:cNvPr id="11" name="Text 9"/>
          <p:cNvSpPr/>
          <p:nvPr/>
        </p:nvSpPr>
        <p:spPr>
          <a:xfrm>
            <a:off x="7269480" y="1645920"/>
            <a:ext cx="4160520" cy="69494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Drumul unei cifre</a:t>
            </a:r>
            <a:endParaRPr lang="en-US" sz="1700" dirty="0"/>
          </a:p>
        </p:txBody>
      </p:sp>
      <p:sp>
        <p:nvSpPr>
          <p:cNvPr id="12" name="Shape 10"/>
          <p:cNvSpPr/>
          <p:nvPr/>
        </p:nvSpPr>
        <p:spPr>
          <a:xfrm>
            <a:off x="594360" y="2468880"/>
            <a:ext cx="5394960" cy="694944"/>
          </a:xfrm>
          <a:prstGeom prst="roundRect">
            <a:avLst>
              <a:gd name="adj" fmla="val 11842"/>
            </a:avLst>
          </a:prstGeom>
          <a:solidFill>
            <a:srgbClr val="ECEAE4"/>
          </a:solidFill>
          <a:ln w="12700">
            <a:solidFill>
              <a:srgbClr val="ECEAE4"/>
            </a:solidFill>
            <a:prstDash val="solid"/>
          </a:ln>
        </p:spPr>
        <p:txBody>
          <a:bodyPr/>
          <a:p/>
        </p:txBody>
      </p:sp>
      <p:sp>
        <p:nvSpPr>
          <p:cNvPr id="13" name="Shape 11"/>
          <p:cNvSpPr/>
          <p:nvPr/>
        </p:nvSpPr>
        <p:spPr>
          <a:xfrm>
            <a:off x="594360" y="2468880"/>
            <a:ext cx="914400" cy="694944"/>
          </a:xfrm>
          <a:prstGeom prst="roundRect">
            <a:avLst>
              <a:gd name="adj" fmla="val 11842"/>
            </a:avLst>
          </a:prstGeom>
          <a:solidFill>
            <a:srgbClr val="27D3BE"/>
          </a:solidFill>
          <a:ln w="12700">
            <a:solidFill>
              <a:srgbClr val="27D3BE"/>
            </a:solidFill>
            <a:prstDash val="solid"/>
          </a:ln>
        </p:spPr>
        <p:txBody>
          <a:bodyPr/>
          <a:p/>
        </p:txBody>
      </p:sp>
      <p:sp>
        <p:nvSpPr>
          <p:cNvPr id="14" name="Text 12"/>
          <p:cNvSpPr/>
          <p:nvPr/>
        </p:nvSpPr>
        <p:spPr>
          <a:xfrm>
            <a:off x="594360" y="2468880"/>
            <a:ext cx="914400" cy="694944"/>
          </a:xfrm>
          <a:prstGeom prst="rect">
            <a:avLst/>
          </a:prstGeom>
          <a:noFill/>
          <a:ln/>
        </p:spPr>
        <p:txBody>
          <a:bodyPr wrap="square" lIns="0" tIns="0" rIns="0" bIns="0" rtlCol="0" anchor="ctr"/>
          <a:lstStyle/>
          <a:p>
            <a:pPr algn="ctr" indent="0" marL="0">
              <a:buNone/>
            </a:pPr>
            <a:r>
              <a:rPr lang="en-US" sz="1800" b="1" dirty="0">
                <a:solidFill>
                  <a:srgbClr val="073B34"/>
                </a:solidFill>
                <a:latin typeface="Palatino Linotype" pitchFamily="34" charset="0"/>
                <a:ea typeface="Palatino Linotype" pitchFamily="34" charset="-122"/>
                <a:cs typeface="Palatino Linotype" pitchFamily="34" charset="-120"/>
              </a:rPr>
              <a:t>25′</a:t>
            </a:r>
            <a:endParaRPr lang="en-US" sz="1800" dirty="0"/>
          </a:p>
        </p:txBody>
      </p:sp>
      <p:sp>
        <p:nvSpPr>
          <p:cNvPr id="15" name="Text 13"/>
          <p:cNvSpPr/>
          <p:nvPr/>
        </p:nvSpPr>
        <p:spPr>
          <a:xfrm>
            <a:off x="1691640" y="2468880"/>
            <a:ext cx="4160520" cy="69494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Cât de bună este cifra?</a:t>
            </a:r>
            <a:endParaRPr lang="en-US" sz="1700" dirty="0"/>
          </a:p>
        </p:txBody>
      </p:sp>
      <p:sp>
        <p:nvSpPr>
          <p:cNvPr id="16" name="Shape 14"/>
          <p:cNvSpPr/>
          <p:nvPr/>
        </p:nvSpPr>
        <p:spPr>
          <a:xfrm>
            <a:off x="6172200" y="2468880"/>
            <a:ext cx="5394960" cy="694944"/>
          </a:xfrm>
          <a:prstGeom prst="roundRect">
            <a:avLst>
              <a:gd name="adj" fmla="val 11842"/>
            </a:avLst>
          </a:prstGeom>
          <a:solidFill>
            <a:srgbClr val="ECEAE4"/>
          </a:solidFill>
          <a:ln w="12700">
            <a:solidFill>
              <a:srgbClr val="ECEAE4"/>
            </a:solidFill>
            <a:prstDash val="solid"/>
          </a:ln>
        </p:spPr>
        <p:txBody>
          <a:bodyPr/>
          <a:p/>
        </p:txBody>
      </p:sp>
      <p:sp>
        <p:nvSpPr>
          <p:cNvPr id="17" name="Shape 15"/>
          <p:cNvSpPr/>
          <p:nvPr/>
        </p:nvSpPr>
        <p:spPr>
          <a:xfrm>
            <a:off x="6172200" y="2468880"/>
            <a:ext cx="914400" cy="694944"/>
          </a:xfrm>
          <a:prstGeom prst="roundRect">
            <a:avLst>
              <a:gd name="adj" fmla="val 11842"/>
            </a:avLst>
          </a:prstGeom>
          <a:solidFill>
            <a:srgbClr val="9B7EF7"/>
          </a:solidFill>
          <a:ln w="12700">
            <a:solidFill>
              <a:srgbClr val="9B7EF7"/>
            </a:solidFill>
            <a:prstDash val="solid"/>
          </a:ln>
        </p:spPr>
        <p:txBody>
          <a:bodyPr/>
          <a:p/>
        </p:txBody>
      </p:sp>
      <p:sp>
        <p:nvSpPr>
          <p:cNvPr id="18" name="Text 16"/>
          <p:cNvSpPr/>
          <p:nvPr/>
        </p:nvSpPr>
        <p:spPr>
          <a:xfrm>
            <a:off x="6172200" y="2468880"/>
            <a:ext cx="914400" cy="694944"/>
          </a:xfrm>
          <a:prstGeom prst="rect">
            <a:avLst/>
          </a:prstGeom>
          <a:noFill/>
          <a:ln/>
        </p:spPr>
        <p:txBody>
          <a:bodyPr wrap="square" lIns="0" tIns="0" rIns="0" bIns="0" rtlCol="0" anchor="ctr"/>
          <a:lstStyle/>
          <a:p>
            <a:pPr algn="ctr" indent="0" marL="0">
              <a:buNone/>
            </a:pPr>
            <a:r>
              <a:rPr lang="en-US" sz="1800" b="1" dirty="0">
                <a:solidFill>
                  <a:srgbClr val="1F1040"/>
                </a:solidFill>
                <a:latin typeface="Palatino Linotype" pitchFamily="34" charset="0"/>
                <a:ea typeface="Palatino Linotype" pitchFamily="34" charset="-122"/>
                <a:cs typeface="Palatino Linotype" pitchFamily="34" charset="-120"/>
              </a:rPr>
              <a:t>25′</a:t>
            </a:r>
            <a:endParaRPr lang="en-US" sz="1800" dirty="0"/>
          </a:p>
        </p:txBody>
      </p:sp>
      <p:sp>
        <p:nvSpPr>
          <p:cNvPr id="19" name="Text 17"/>
          <p:cNvSpPr/>
          <p:nvPr/>
        </p:nvSpPr>
        <p:spPr>
          <a:xfrm>
            <a:off x="7269480" y="2468880"/>
            <a:ext cx="4160520" cy="69494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Cine are voie să vă vadă datele</a:t>
            </a:r>
            <a:endParaRPr lang="en-US" sz="1700" dirty="0"/>
          </a:p>
        </p:txBody>
      </p:sp>
      <p:sp>
        <p:nvSpPr>
          <p:cNvPr id="20" name="Shape 18"/>
          <p:cNvSpPr/>
          <p:nvPr/>
        </p:nvSpPr>
        <p:spPr>
          <a:xfrm>
            <a:off x="594360" y="3291840"/>
            <a:ext cx="5394960" cy="694944"/>
          </a:xfrm>
          <a:prstGeom prst="roundRect">
            <a:avLst>
              <a:gd name="adj" fmla="val 11842"/>
            </a:avLst>
          </a:prstGeom>
          <a:solidFill>
            <a:srgbClr val="ECEAE4"/>
          </a:solidFill>
          <a:ln w="12700">
            <a:solidFill>
              <a:srgbClr val="ECEAE4"/>
            </a:solidFill>
            <a:prstDash val="solid"/>
          </a:ln>
        </p:spPr>
        <p:txBody>
          <a:bodyPr/>
          <a:p/>
        </p:txBody>
      </p:sp>
      <p:sp>
        <p:nvSpPr>
          <p:cNvPr id="21" name="Shape 19"/>
          <p:cNvSpPr/>
          <p:nvPr/>
        </p:nvSpPr>
        <p:spPr>
          <a:xfrm>
            <a:off x="594360" y="3291840"/>
            <a:ext cx="914400" cy="694944"/>
          </a:xfrm>
          <a:prstGeom prst="roundRect">
            <a:avLst>
              <a:gd name="adj" fmla="val 11842"/>
            </a:avLst>
          </a:prstGeom>
          <a:solidFill>
            <a:srgbClr val="FF8A3D"/>
          </a:solidFill>
          <a:ln w="12700">
            <a:solidFill>
              <a:srgbClr val="FF8A3D"/>
            </a:solidFill>
            <a:prstDash val="solid"/>
          </a:ln>
        </p:spPr>
        <p:txBody>
          <a:bodyPr/>
          <a:p/>
        </p:txBody>
      </p:sp>
      <p:sp>
        <p:nvSpPr>
          <p:cNvPr id="22" name="Text 20"/>
          <p:cNvSpPr/>
          <p:nvPr/>
        </p:nvSpPr>
        <p:spPr>
          <a:xfrm>
            <a:off x="594360" y="3291840"/>
            <a:ext cx="914400" cy="694944"/>
          </a:xfrm>
          <a:prstGeom prst="rect">
            <a:avLst/>
          </a:prstGeom>
          <a:noFill/>
          <a:ln/>
        </p:spPr>
        <p:txBody>
          <a:bodyPr wrap="square" lIns="0" tIns="0" rIns="0" bIns="0" rtlCol="0" anchor="ctr"/>
          <a:lstStyle/>
          <a:p>
            <a:pPr algn="ctr" indent="0" marL="0">
              <a:buNone/>
            </a:pPr>
            <a:r>
              <a:rPr lang="en-US" sz="1800" b="1" dirty="0">
                <a:solidFill>
                  <a:srgbClr val="11121A"/>
                </a:solidFill>
                <a:latin typeface="Palatino Linotype" pitchFamily="34" charset="0"/>
                <a:ea typeface="Palatino Linotype" pitchFamily="34" charset="-122"/>
                <a:cs typeface="Palatino Linotype" pitchFamily="34" charset="-120"/>
              </a:rPr>
              <a:t>15′</a:t>
            </a:r>
            <a:endParaRPr lang="en-US" sz="1800" dirty="0"/>
          </a:p>
        </p:txBody>
      </p:sp>
      <p:sp>
        <p:nvSpPr>
          <p:cNvPr id="23" name="Text 21"/>
          <p:cNvSpPr/>
          <p:nvPr/>
        </p:nvSpPr>
        <p:spPr>
          <a:xfrm>
            <a:off x="1691640" y="3291840"/>
            <a:ext cx="4160520" cy="69494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Ați crede acest titlu?</a:t>
            </a:r>
            <a:endParaRPr lang="en-US" sz="1700" dirty="0"/>
          </a:p>
        </p:txBody>
      </p:sp>
      <p:sp>
        <p:nvSpPr>
          <p:cNvPr id="24" name="Shape 22"/>
          <p:cNvSpPr/>
          <p:nvPr/>
        </p:nvSpPr>
        <p:spPr>
          <a:xfrm>
            <a:off x="6172200" y="3291840"/>
            <a:ext cx="5394960" cy="694944"/>
          </a:xfrm>
          <a:prstGeom prst="roundRect">
            <a:avLst>
              <a:gd name="adj" fmla="val 11842"/>
            </a:avLst>
          </a:prstGeom>
          <a:solidFill>
            <a:srgbClr val="ECEAE4"/>
          </a:solidFill>
          <a:ln w="12700">
            <a:solidFill>
              <a:srgbClr val="ECEAE4"/>
            </a:solidFill>
            <a:prstDash val="solid"/>
          </a:ln>
        </p:spPr>
        <p:txBody>
          <a:bodyPr/>
          <a:p/>
        </p:txBody>
      </p:sp>
      <p:sp>
        <p:nvSpPr>
          <p:cNvPr id="25" name="Shape 23"/>
          <p:cNvSpPr/>
          <p:nvPr/>
        </p:nvSpPr>
        <p:spPr>
          <a:xfrm>
            <a:off x="6172200" y="3291840"/>
            <a:ext cx="914400" cy="694944"/>
          </a:xfrm>
          <a:prstGeom prst="roundRect">
            <a:avLst>
              <a:gd name="adj" fmla="val 11842"/>
            </a:avLst>
          </a:prstGeom>
          <a:solidFill>
            <a:srgbClr val="585A64"/>
          </a:solidFill>
          <a:ln w="12700">
            <a:solidFill>
              <a:srgbClr val="585A64"/>
            </a:solidFill>
            <a:prstDash val="solid"/>
          </a:ln>
        </p:spPr>
        <p:txBody>
          <a:bodyPr/>
          <a:p/>
        </p:txBody>
      </p:sp>
      <p:sp>
        <p:nvSpPr>
          <p:cNvPr id="26" name="Text 24"/>
          <p:cNvSpPr/>
          <p:nvPr/>
        </p:nvSpPr>
        <p:spPr>
          <a:xfrm>
            <a:off x="6172200" y="3291840"/>
            <a:ext cx="91440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10′</a:t>
            </a:r>
            <a:endParaRPr lang="en-US" sz="1800" dirty="0"/>
          </a:p>
        </p:txBody>
      </p:sp>
      <p:sp>
        <p:nvSpPr>
          <p:cNvPr id="27" name="Text 25"/>
          <p:cNvSpPr/>
          <p:nvPr/>
        </p:nvSpPr>
        <p:spPr>
          <a:xfrm>
            <a:off x="7269480" y="3291840"/>
            <a:ext cx="4160520" cy="69494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Ce rămâne și biletul de ieșire</a:t>
            </a:r>
            <a:endParaRPr lang="en-US" sz="1700" dirty="0"/>
          </a:p>
        </p:txBody>
      </p:sp>
      <p:sp>
        <p:nvSpPr>
          <p:cNvPr id="28" name="Shape 26"/>
          <p:cNvSpPr/>
          <p:nvPr/>
        </p:nvSpPr>
        <p:spPr>
          <a:xfrm>
            <a:off x="594360" y="4251960"/>
            <a:ext cx="10972800" cy="1463040"/>
          </a:xfrm>
          <a:prstGeom prst="roundRect">
            <a:avLst>
              <a:gd name="adj" fmla="val 5625"/>
            </a:avLst>
          </a:prstGeom>
          <a:solidFill>
            <a:srgbClr val="F9F8F5"/>
          </a:solidFill>
          <a:ln w="12700">
            <a:solidFill>
              <a:srgbClr val="F9F8F5"/>
            </a:solidFill>
            <a:prstDash val="solid"/>
          </a:ln>
        </p:spPr>
        <p:txBody>
          <a:bodyPr/>
          <a:p/>
        </p:txBody>
      </p:sp>
      <p:sp>
        <p:nvSpPr>
          <p:cNvPr id="29" name="Text 27"/>
          <p:cNvSpPr/>
          <p:nvPr/>
        </p:nvSpPr>
        <p:spPr>
          <a:xfrm>
            <a:off x="868680" y="4251960"/>
            <a:ext cx="10424160" cy="146304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Trei termeni noi: </a:t>
            </a:r>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sistemul informațional de sănătate publică · calitatea datelor · utilizarea secundară a datelor.</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Biletul de ieșire de data trecută nu a primit niciun răspuns: azi îl completăm în sală.</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ISP/active/img/C03_spital_judetean.jpg">    </p:cNvPr>
          <p:cNvPicPr>
            <a:picLocks noChangeAspect="1"/>
          </p:cNvPicPr>
          <p:nvPr/>
        </p:nvPicPr>
        <p:blipFill>
          <a:blip r:embed="rId1"/>
          <a:srcRect l="0" r="0" t="0" b="0"/>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80000"/>
            </a:srgbClr>
          </a:solidFill>
          <a:ln w="12700">
            <a:solidFill>
              <a:srgbClr val="11121A"/>
            </a:solidFill>
            <a:prstDash val="solid"/>
          </a:ln>
        </p:spPr>
        <p:txBody>
          <a:bodyPr/>
          <a:p/>
        </p:txBody>
      </p:sp>
      <p:sp>
        <p:nvSpPr>
          <p:cNvPr id="4" name="Text 1"/>
          <p:cNvSpPr/>
          <p:nvPr/>
        </p:nvSpPr>
        <p:spPr>
          <a:xfrm>
            <a:off x="6976872"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Un spital județean din România (ilustrație)</a:t>
            </a:r>
            <a:endParaRPr lang="en-US" sz="1100" dirty="0"/>
          </a:p>
        </p:txBody>
      </p:sp>
      <p:sp>
        <p:nvSpPr>
          <p:cNvPr id="5" name="Text 2"/>
          <p:cNvSpPr/>
          <p:nvPr/>
        </p:nvSpPr>
        <p:spPr>
          <a:xfrm>
            <a:off x="6976872"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foto Chainwit. · CC BY-SA 4.0 · Wikimedia Commons (Timișoara)</a:t>
            </a:r>
            <a:endParaRPr lang="en-US" sz="850" dirty="0"/>
          </a:p>
        </p:txBody>
      </p:sp>
      <p:sp>
        <p:nvSpPr>
          <p:cNvPr id="6" name="Text 3"/>
          <p:cNvSpPr/>
          <p:nvPr/>
        </p:nvSpPr>
        <p:spPr>
          <a:xfrm>
            <a:off x="594360" y="347472"/>
            <a:ext cx="58521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SITUAȚIE CONSTRUITĂ PENTRU CURS</a:t>
            </a:r>
            <a:endParaRPr lang="en-US" sz="1300" dirty="0"/>
          </a:p>
        </p:txBody>
      </p:sp>
      <p:sp>
        <p:nvSpPr>
          <p:cNvPr id="7" name="Text 4"/>
          <p:cNvSpPr/>
          <p:nvPr/>
        </p:nvSpPr>
        <p:spPr>
          <a:xfrm>
            <a:off x="594360" y="777240"/>
            <a:ext cx="5852160" cy="11887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O noapte de iarnă, într-o comună din nord-est</a:t>
            </a:r>
            <a:endParaRPr lang="en-US" sz="3000" dirty="0"/>
          </a:p>
        </p:txBody>
      </p:sp>
      <p:sp>
        <p:nvSpPr>
          <p:cNvPr id="8" name="Text 5"/>
          <p:cNvSpPr/>
          <p:nvPr/>
        </p:nvSpPr>
        <p:spPr>
          <a:xfrm>
            <a:off x="594360" y="2057400"/>
            <a:ext cx="5852160" cy="13716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Un sugar de câteva luni face febră mare. Până la spitalul județean sunt aproape două ore de drum. Copilul nu supraviețuiește.</a:t>
            </a:r>
            <a:endParaRPr lang="en-US" sz="1900" dirty="0"/>
          </a:p>
        </p:txBody>
      </p:sp>
      <p:sp>
        <p:nvSpPr>
          <p:cNvPr id="9" name="Shape 6"/>
          <p:cNvSpPr/>
          <p:nvPr/>
        </p:nvSpPr>
        <p:spPr>
          <a:xfrm>
            <a:off x="594360" y="3611880"/>
            <a:ext cx="5852160" cy="640080"/>
          </a:xfrm>
          <a:prstGeom prst="roundRect">
            <a:avLst>
              <a:gd name="adj" fmla="val 12857"/>
            </a:avLst>
          </a:prstGeom>
          <a:solidFill>
            <a:srgbClr val="1D1F2B"/>
          </a:solidFill>
          <a:ln w="12700">
            <a:solidFill>
              <a:srgbClr val="1D1F2B"/>
            </a:solidFill>
            <a:prstDash val="solid"/>
          </a:ln>
        </p:spPr>
        <p:txBody>
          <a:bodyPr/>
          <a:p/>
        </p:txBody>
      </p:sp>
      <p:sp>
        <p:nvSpPr>
          <p:cNvPr id="10" name="Shape 7"/>
          <p:cNvSpPr/>
          <p:nvPr/>
        </p:nvSpPr>
        <p:spPr>
          <a:xfrm>
            <a:off x="594360" y="3611880"/>
            <a:ext cx="82296" cy="640080"/>
          </a:xfrm>
          <a:prstGeom prst="rect">
            <a:avLst/>
          </a:prstGeom>
          <a:solidFill>
            <a:srgbClr val="FFC24B"/>
          </a:solidFill>
          <a:ln w="12700">
            <a:solidFill>
              <a:srgbClr val="FFC24B"/>
            </a:solidFill>
            <a:prstDash val="solid"/>
          </a:ln>
        </p:spPr>
        <p:txBody>
          <a:bodyPr/>
          <a:p/>
        </p:txBody>
      </p:sp>
      <p:sp>
        <p:nvSpPr>
          <p:cNvPr id="11" name="Text 8"/>
          <p:cNvSpPr/>
          <p:nvPr/>
        </p:nvSpPr>
        <p:spPr>
          <a:xfrm>
            <a:off x="868680" y="3611880"/>
            <a:ext cx="5486400" cy="640080"/>
          </a:xfrm>
          <a:prstGeom prst="rect">
            <a:avLst/>
          </a:prstGeom>
          <a:noFill/>
          <a:ln/>
        </p:spPr>
        <p:txBody>
          <a:bodyPr wrap="square" lIns="0" tIns="0" rIns="0" bIns="0" rtlCol="0" anchor="ctr"/>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A doua zi: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medicul completează actele</a:t>
            </a:r>
            <a:endParaRPr lang="en-US" sz="1600" dirty="0"/>
          </a:p>
        </p:txBody>
      </p:sp>
      <p:sp>
        <p:nvSpPr>
          <p:cNvPr id="12" name="Shape 9"/>
          <p:cNvSpPr/>
          <p:nvPr/>
        </p:nvSpPr>
        <p:spPr>
          <a:xfrm>
            <a:off x="594360" y="4361688"/>
            <a:ext cx="5852160" cy="640080"/>
          </a:xfrm>
          <a:prstGeom prst="roundRect">
            <a:avLst>
              <a:gd name="adj" fmla="val 12857"/>
            </a:avLst>
          </a:prstGeom>
          <a:solidFill>
            <a:srgbClr val="1D1F2B"/>
          </a:solidFill>
          <a:ln w="12700">
            <a:solidFill>
              <a:srgbClr val="1D1F2B"/>
            </a:solidFill>
            <a:prstDash val="solid"/>
          </a:ln>
        </p:spPr>
        <p:txBody>
          <a:bodyPr/>
          <a:p/>
        </p:txBody>
      </p:sp>
      <p:sp>
        <p:nvSpPr>
          <p:cNvPr id="13" name="Shape 10"/>
          <p:cNvSpPr/>
          <p:nvPr/>
        </p:nvSpPr>
        <p:spPr>
          <a:xfrm>
            <a:off x="594360" y="4361688"/>
            <a:ext cx="82296" cy="640080"/>
          </a:xfrm>
          <a:prstGeom prst="rect">
            <a:avLst/>
          </a:prstGeom>
          <a:solidFill>
            <a:srgbClr val="FFC24B"/>
          </a:solidFill>
          <a:ln w="12700">
            <a:solidFill>
              <a:srgbClr val="FFC24B"/>
            </a:solidFill>
            <a:prstDash val="solid"/>
          </a:ln>
        </p:spPr>
        <p:txBody>
          <a:bodyPr/>
          <a:p/>
        </p:txBody>
      </p:sp>
      <p:sp>
        <p:nvSpPr>
          <p:cNvPr id="14" name="Text 11"/>
          <p:cNvSpPr/>
          <p:nvPr/>
        </p:nvSpPr>
        <p:spPr>
          <a:xfrm>
            <a:off x="868680" y="4361688"/>
            <a:ext cx="5486400" cy="640080"/>
          </a:xfrm>
          <a:prstGeom prst="rect">
            <a:avLst/>
          </a:prstGeom>
          <a:noFill/>
          <a:ln/>
        </p:spPr>
        <p:txBody>
          <a:bodyPr wrap="square" lIns="0" tIns="0" rIns="0" bIns="0" rtlCol="0" anchor="ctr"/>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Apoi: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familia declară decesul la primărie</a:t>
            </a:r>
            <a:endParaRPr lang="en-US" sz="1600" dirty="0"/>
          </a:p>
        </p:txBody>
      </p:sp>
      <p:sp>
        <p:nvSpPr>
          <p:cNvPr id="15" name="Shape 12"/>
          <p:cNvSpPr/>
          <p:nvPr/>
        </p:nvSpPr>
        <p:spPr>
          <a:xfrm>
            <a:off x="594360" y="5111496"/>
            <a:ext cx="5852160" cy="640080"/>
          </a:xfrm>
          <a:prstGeom prst="roundRect">
            <a:avLst>
              <a:gd name="adj" fmla="val 12857"/>
            </a:avLst>
          </a:prstGeom>
          <a:solidFill>
            <a:srgbClr val="1D1F2B"/>
          </a:solidFill>
          <a:ln w="12700">
            <a:solidFill>
              <a:srgbClr val="1D1F2B"/>
            </a:solidFill>
            <a:prstDash val="solid"/>
          </a:ln>
        </p:spPr>
        <p:txBody>
          <a:bodyPr/>
          <a:p/>
        </p:txBody>
      </p:sp>
      <p:sp>
        <p:nvSpPr>
          <p:cNvPr id="16" name="Shape 13"/>
          <p:cNvSpPr/>
          <p:nvPr/>
        </p:nvSpPr>
        <p:spPr>
          <a:xfrm>
            <a:off x="594360" y="5111496"/>
            <a:ext cx="82296" cy="640080"/>
          </a:xfrm>
          <a:prstGeom prst="rect">
            <a:avLst/>
          </a:prstGeom>
          <a:solidFill>
            <a:srgbClr val="FFC24B"/>
          </a:solidFill>
          <a:ln w="12700">
            <a:solidFill>
              <a:srgbClr val="FFC24B"/>
            </a:solidFill>
            <a:prstDash val="solid"/>
          </a:ln>
        </p:spPr>
        <p:txBody>
          <a:bodyPr/>
          <a:p/>
        </p:txBody>
      </p:sp>
      <p:sp>
        <p:nvSpPr>
          <p:cNvPr id="17" name="Text 14"/>
          <p:cNvSpPr/>
          <p:nvPr/>
        </p:nvSpPr>
        <p:spPr>
          <a:xfrm>
            <a:off x="868680" y="5111496"/>
            <a:ext cx="5486400" cy="640080"/>
          </a:xfrm>
          <a:prstGeom prst="rect">
            <a:avLst/>
          </a:prstGeom>
          <a:noFill/>
          <a:ln/>
        </p:spPr>
        <p:txBody>
          <a:bodyPr wrap="square" lIns="0" tIns="0" rIns="0" bIns="0" rtlCol="0" anchor="ctr"/>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La sfârșitul anului: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copilul devine o cifră într-un tabel</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TABELUL EXISTĂ ȘI ESTE PUBLIC · ROMÂNIA, 2025</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 an, două cifre</a:t>
            </a:r>
            <a:endParaRPr lang="en-US" sz="3200" dirty="0"/>
          </a:p>
        </p:txBody>
      </p:sp>
      <p:sp>
        <p:nvSpPr>
          <p:cNvPr id="4" name="Text 2"/>
          <p:cNvSpPr/>
          <p:nvPr/>
        </p:nvSpPr>
        <p:spPr>
          <a:xfrm>
            <a:off x="594360" y="1463040"/>
            <a:ext cx="5852160" cy="36576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Rata mortalității infantile, la o mie de născuți vii</a:t>
            </a:r>
            <a:endParaRPr lang="en-US" sz="1500" dirty="0"/>
          </a:p>
        </p:txBody>
      </p:sp>
      <p:sp>
        <p:nvSpPr>
          <p:cNvPr id="5" name="Shape 3"/>
          <p:cNvSpPr/>
          <p:nvPr/>
        </p:nvSpPr>
        <p:spPr>
          <a:xfrm>
            <a:off x="914400" y="2712110"/>
            <a:ext cx="2011680" cy="2362810"/>
          </a:xfrm>
          <a:prstGeom prst="rect">
            <a:avLst/>
          </a:prstGeom>
          <a:solidFill>
            <a:srgbClr val="B02532"/>
          </a:solidFill>
          <a:ln w="12700">
            <a:solidFill>
              <a:srgbClr val="B02532"/>
            </a:solidFill>
            <a:prstDash val="solid"/>
          </a:ln>
        </p:spPr>
        <p:txBody>
          <a:bodyPr/>
          <a:p/>
        </p:txBody>
      </p:sp>
      <p:sp>
        <p:nvSpPr>
          <p:cNvPr id="6" name="Text 4"/>
          <p:cNvSpPr/>
          <p:nvPr/>
        </p:nvSpPr>
        <p:spPr>
          <a:xfrm>
            <a:off x="548640" y="2072030"/>
            <a:ext cx="2743200" cy="594360"/>
          </a:xfrm>
          <a:prstGeom prst="rect">
            <a:avLst/>
          </a:prstGeom>
          <a:noFill/>
          <a:ln/>
        </p:spPr>
        <p:txBody>
          <a:bodyPr wrap="square" lIns="0" tIns="0" rIns="0" bIns="0" rtlCol="0" anchor="t"/>
          <a:lstStyle/>
          <a:p>
            <a:pPr algn="ctr" indent="0" marL="0">
              <a:buNone/>
            </a:pPr>
            <a:r>
              <a:rPr lang="en-US" sz="3400" b="1" dirty="0">
                <a:solidFill>
                  <a:srgbClr val="B02532"/>
                </a:solidFill>
                <a:latin typeface="Palatino Linotype" pitchFamily="34" charset="0"/>
                <a:ea typeface="Palatino Linotype" pitchFamily="34" charset="-122"/>
                <a:cs typeface="Palatino Linotype" pitchFamily="34" charset="-120"/>
              </a:rPr>
              <a:t>6,8</a:t>
            </a:r>
            <a:endParaRPr lang="en-US" sz="3400" dirty="0"/>
          </a:p>
        </p:txBody>
      </p:sp>
      <p:sp>
        <p:nvSpPr>
          <p:cNvPr id="7" name="Text 5"/>
          <p:cNvSpPr/>
          <p:nvPr/>
        </p:nvSpPr>
        <p:spPr>
          <a:xfrm>
            <a:off x="548640" y="5166360"/>
            <a:ext cx="2743200" cy="365760"/>
          </a:xfrm>
          <a:prstGeom prst="rect">
            <a:avLst/>
          </a:prstGeom>
          <a:noFill/>
          <a:ln/>
        </p:spPr>
        <p:txBody>
          <a:bodyPr wrap="square" lIns="0" tIns="0" rIns="0" bIns="0" rtlCol="0" anchor="t"/>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mediul rural</a:t>
            </a:r>
            <a:endParaRPr lang="en-US" sz="1600" dirty="0"/>
          </a:p>
        </p:txBody>
      </p:sp>
      <p:sp>
        <p:nvSpPr>
          <p:cNvPr id="8" name="Shape 6"/>
          <p:cNvSpPr/>
          <p:nvPr/>
        </p:nvSpPr>
        <p:spPr>
          <a:xfrm>
            <a:off x="3566160" y="3302813"/>
            <a:ext cx="2011680" cy="1772107"/>
          </a:xfrm>
          <a:prstGeom prst="rect">
            <a:avLst/>
          </a:prstGeom>
          <a:solidFill>
            <a:srgbClr val="0E7C6B"/>
          </a:solidFill>
          <a:ln w="12700">
            <a:solidFill>
              <a:srgbClr val="0E7C6B"/>
            </a:solidFill>
            <a:prstDash val="solid"/>
          </a:ln>
        </p:spPr>
        <p:txBody>
          <a:bodyPr/>
          <a:p/>
        </p:txBody>
      </p:sp>
      <p:sp>
        <p:nvSpPr>
          <p:cNvPr id="9" name="Text 7"/>
          <p:cNvSpPr/>
          <p:nvPr/>
        </p:nvSpPr>
        <p:spPr>
          <a:xfrm>
            <a:off x="3200400" y="2662733"/>
            <a:ext cx="2743200" cy="594360"/>
          </a:xfrm>
          <a:prstGeom prst="rect">
            <a:avLst/>
          </a:prstGeom>
          <a:noFill/>
          <a:ln/>
        </p:spPr>
        <p:txBody>
          <a:bodyPr wrap="square" lIns="0" tIns="0" rIns="0" bIns="0" rtlCol="0" anchor="t"/>
          <a:lstStyle/>
          <a:p>
            <a:pPr algn="ctr" indent="0" marL="0">
              <a:buNone/>
            </a:pPr>
            <a:r>
              <a:rPr lang="en-US" sz="3400" b="1" dirty="0">
                <a:solidFill>
                  <a:srgbClr val="0E7C6B"/>
                </a:solidFill>
                <a:latin typeface="Palatino Linotype" pitchFamily="34" charset="0"/>
                <a:ea typeface="Palatino Linotype" pitchFamily="34" charset="-122"/>
                <a:cs typeface="Palatino Linotype" pitchFamily="34" charset="-120"/>
              </a:rPr>
              <a:t>5,1</a:t>
            </a:r>
            <a:endParaRPr lang="en-US" sz="3400" dirty="0"/>
          </a:p>
        </p:txBody>
      </p:sp>
      <p:sp>
        <p:nvSpPr>
          <p:cNvPr id="10" name="Text 8"/>
          <p:cNvSpPr/>
          <p:nvPr/>
        </p:nvSpPr>
        <p:spPr>
          <a:xfrm>
            <a:off x="3200400" y="5166360"/>
            <a:ext cx="2743200" cy="365760"/>
          </a:xfrm>
          <a:prstGeom prst="rect">
            <a:avLst/>
          </a:prstGeom>
          <a:noFill/>
          <a:ln/>
        </p:spPr>
        <p:txBody>
          <a:bodyPr wrap="square" lIns="0" tIns="0" rIns="0" bIns="0" rtlCol="0" anchor="t"/>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mediul urban</a:t>
            </a:r>
            <a:endParaRPr lang="en-US" sz="1600" dirty="0"/>
          </a:p>
        </p:txBody>
      </p:sp>
      <p:sp>
        <p:nvSpPr>
          <p:cNvPr id="11" name="Shape 9"/>
          <p:cNvSpPr/>
          <p:nvPr/>
        </p:nvSpPr>
        <p:spPr>
          <a:xfrm>
            <a:off x="640080" y="5074920"/>
            <a:ext cx="5394960" cy="27432"/>
          </a:xfrm>
          <a:prstGeom prst="rect">
            <a:avLst/>
          </a:prstGeom>
          <a:solidFill>
            <a:srgbClr val="C9C6BE"/>
          </a:solidFill>
          <a:ln w="12700">
            <a:solidFill>
              <a:srgbClr val="C9C6BE"/>
            </a:solidFill>
            <a:prstDash val="solid"/>
          </a:ln>
        </p:spPr>
        <p:txBody>
          <a:bodyPr/>
          <a:p/>
        </p:txBody>
      </p:sp>
      <p:sp>
        <p:nvSpPr>
          <p:cNvPr id="12" name="Shape 10"/>
          <p:cNvSpPr/>
          <p:nvPr/>
        </p:nvSpPr>
        <p:spPr>
          <a:xfrm>
            <a:off x="6675120" y="1600200"/>
            <a:ext cx="4892040" cy="4114800"/>
          </a:xfrm>
          <a:prstGeom prst="roundRect">
            <a:avLst>
              <a:gd name="adj" fmla="val 2000"/>
            </a:avLst>
          </a:prstGeom>
          <a:solidFill>
            <a:srgbClr val="ECEAE4"/>
          </a:solidFill>
          <a:ln w="12700">
            <a:solidFill>
              <a:srgbClr val="ECEAE4"/>
            </a:solidFill>
            <a:prstDash val="solid"/>
          </a:ln>
        </p:spPr>
        <p:txBody>
          <a:bodyPr/>
          <a:p/>
        </p:txBody>
      </p:sp>
      <p:sp>
        <p:nvSpPr>
          <p:cNvPr id="13" name="Text 11"/>
          <p:cNvSpPr/>
          <p:nvPr/>
        </p:nvSpPr>
        <p:spPr>
          <a:xfrm>
            <a:off x="6949440" y="1783080"/>
            <a:ext cx="4389120" cy="36576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Din ce se calculează</a:t>
            </a:r>
            <a:endParaRPr lang="en-US" sz="1700" dirty="0"/>
          </a:p>
        </p:txBody>
      </p:sp>
      <p:sp>
        <p:nvSpPr>
          <p:cNvPr id="14" name="Text 12"/>
          <p:cNvSpPr/>
          <p:nvPr/>
        </p:nvSpPr>
        <p:spPr>
          <a:xfrm>
            <a:off x="6949440" y="2240280"/>
            <a:ext cx="4389120" cy="164592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Rural: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467 de decese sub un an, 68 916 născuți vii</a:t>
            </a:r>
            <a:endParaRPr lang="en-US" sz="1700" dirty="0"/>
          </a:p>
          <a:p>
            <a:pPr indent="0" marL="0">
              <a:buNone/>
            </a:pPr>
            <a:r>
              <a:rPr lang="en-US" sz="800" dirty="0">
                <a:solidFill>
                  <a:srgbClr val="11121A"/>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Urban: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332 de decese sub un an, 65 322 de născuți vii</a:t>
            </a:r>
            <a:endParaRPr lang="en-US" sz="1700" dirty="0"/>
          </a:p>
        </p:txBody>
      </p:sp>
      <p:sp>
        <p:nvSpPr>
          <p:cNvPr id="15" name="Text 13"/>
          <p:cNvSpPr/>
          <p:nvPr/>
        </p:nvSpPr>
        <p:spPr>
          <a:xfrm>
            <a:off x="6949440" y="4023360"/>
            <a:ext cx="4389120" cy="1371600"/>
          </a:xfrm>
          <a:prstGeom prst="rect">
            <a:avLst/>
          </a:prstGeom>
          <a:noFill/>
          <a:ln/>
        </p:spPr>
        <p:txBody>
          <a:bodyPr wrap="square" lIns="0" tIns="0" rIns="0" bIns="0" rtlCol="0" anchor="t"/>
          <a:lstStyle/>
          <a:p>
            <a:pPr indent="0" marL="0">
              <a:buNone/>
            </a:pPr>
            <a:r>
              <a:rPr lang="en-US" sz="1600" i="1" dirty="0">
                <a:solidFill>
                  <a:srgbClr val="11121A"/>
                </a:solidFill>
                <a:latin typeface="Palatino Linotype" pitchFamily="34" charset="0"/>
                <a:ea typeface="Palatino Linotype" pitchFamily="34" charset="-122"/>
                <a:cs typeface="Palatino Linotype" pitchFamily="34" charset="-120"/>
              </a:rPr>
              <a:t>La o mie de născuți vii, după reședința mamei.</a:t>
            </a:r>
            <a:endParaRPr lang="en-US" sz="1600" dirty="0"/>
          </a:p>
        </p:txBody>
      </p:sp>
      <p:sp>
        <p:nvSpPr>
          <p:cNvPr id="16" name="Text 14"/>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Institutul Național de Statistică, TEMPO Online, 2025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VOTAȚI PE TELEFON</a:t>
            </a:r>
            <a:endParaRPr lang="en-US" sz="1300" dirty="0"/>
          </a:p>
        </p:txBody>
      </p:sp>
      <p:sp>
        <p:nvSpPr>
          <p:cNvPr id="5" name="Text 3"/>
          <p:cNvSpPr/>
          <p:nvPr/>
        </p:nvSpPr>
        <p:spPr>
          <a:xfrm>
            <a:off x="594360" y="777240"/>
            <a:ext cx="10972800" cy="109728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De unde a aflat Institutul Național de Statistică despre decesul sugarului din comună?</a:t>
            </a:r>
            <a:endParaRPr lang="en-US" sz="2600" dirty="0"/>
          </a:p>
        </p:txBody>
      </p:sp>
      <p:sp>
        <p:nvSpPr>
          <p:cNvPr id="6" name="Shape 4"/>
          <p:cNvSpPr/>
          <p:nvPr/>
        </p:nvSpPr>
        <p:spPr>
          <a:xfrm>
            <a:off x="594360" y="1965960"/>
            <a:ext cx="7498080" cy="566928"/>
          </a:xfrm>
          <a:prstGeom prst="roundRect">
            <a:avLst>
              <a:gd name="adj" fmla="val 14516"/>
            </a:avLst>
          </a:prstGeom>
          <a:solidFill>
            <a:srgbClr val="1D1F2B"/>
          </a:solidFill>
          <a:ln w="12700">
            <a:solidFill>
              <a:srgbClr val="1D1F2B"/>
            </a:solidFill>
            <a:prstDash val="solid"/>
          </a:ln>
        </p:spPr>
        <p:txBody>
          <a:bodyPr/>
          <a:p/>
        </p:txBody>
      </p:sp>
      <p:sp>
        <p:nvSpPr>
          <p:cNvPr id="7" name="Shape 5"/>
          <p:cNvSpPr/>
          <p:nvPr/>
        </p:nvSpPr>
        <p:spPr>
          <a:xfrm>
            <a:off x="868680" y="2039112"/>
            <a:ext cx="420624" cy="420624"/>
          </a:xfrm>
          <a:prstGeom prst="ellipse">
            <a:avLst/>
          </a:prstGeom>
          <a:solidFill>
            <a:srgbClr val="FFC24B"/>
          </a:solidFill>
          <a:ln/>
        </p:spPr>
        <p:txBody>
          <a:bodyPr/>
          <a:p/>
        </p:txBody>
      </p:sp>
      <p:sp>
        <p:nvSpPr>
          <p:cNvPr id="8" name="Text 6"/>
          <p:cNvSpPr/>
          <p:nvPr/>
        </p:nvSpPr>
        <p:spPr>
          <a:xfrm>
            <a:off x="868680" y="20391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965960"/>
            <a:ext cx="6309360" cy="56692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De la spitalul județean</a:t>
            </a:r>
            <a:endParaRPr lang="en-US" sz="1900" dirty="0"/>
          </a:p>
        </p:txBody>
      </p:sp>
      <p:sp>
        <p:nvSpPr>
          <p:cNvPr id="10" name="Shape 8"/>
          <p:cNvSpPr/>
          <p:nvPr/>
        </p:nvSpPr>
        <p:spPr>
          <a:xfrm>
            <a:off x="594360" y="2642616"/>
            <a:ext cx="7498080" cy="566928"/>
          </a:xfrm>
          <a:prstGeom prst="roundRect">
            <a:avLst>
              <a:gd name="adj" fmla="val 14516"/>
            </a:avLst>
          </a:prstGeom>
          <a:solidFill>
            <a:srgbClr val="1D1F2B"/>
          </a:solidFill>
          <a:ln w="12700">
            <a:solidFill>
              <a:srgbClr val="1D1F2B"/>
            </a:solidFill>
            <a:prstDash val="solid"/>
          </a:ln>
        </p:spPr>
        <p:txBody>
          <a:bodyPr/>
          <a:p/>
        </p:txBody>
      </p:sp>
      <p:sp>
        <p:nvSpPr>
          <p:cNvPr id="11" name="Shape 9"/>
          <p:cNvSpPr/>
          <p:nvPr/>
        </p:nvSpPr>
        <p:spPr>
          <a:xfrm>
            <a:off x="868680" y="2715768"/>
            <a:ext cx="420624" cy="420624"/>
          </a:xfrm>
          <a:prstGeom prst="ellipse">
            <a:avLst/>
          </a:prstGeom>
          <a:solidFill>
            <a:srgbClr val="FFC24B"/>
          </a:solidFill>
          <a:ln/>
        </p:spPr>
        <p:txBody>
          <a:bodyPr/>
          <a:p/>
        </p:txBody>
      </p:sp>
      <p:sp>
        <p:nvSpPr>
          <p:cNvPr id="12" name="Text 10"/>
          <p:cNvSpPr/>
          <p:nvPr/>
        </p:nvSpPr>
        <p:spPr>
          <a:xfrm>
            <a:off x="868680" y="27157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642616"/>
            <a:ext cx="6309360" cy="56692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De la medicul de familie</a:t>
            </a:r>
            <a:endParaRPr lang="en-US" sz="1900" dirty="0"/>
          </a:p>
        </p:txBody>
      </p:sp>
      <p:sp>
        <p:nvSpPr>
          <p:cNvPr id="14" name="Shape 12"/>
          <p:cNvSpPr/>
          <p:nvPr/>
        </p:nvSpPr>
        <p:spPr>
          <a:xfrm>
            <a:off x="594360" y="3319272"/>
            <a:ext cx="7498080" cy="566928"/>
          </a:xfrm>
          <a:prstGeom prst="roundRect">
            <a:avLst>
              <a:gd name="adj" fmla="val 14516"/>
            </a:avLst>
          </a:prstGeom>
          <a:solidFill>
            <a:srgbClr val="1D1F2B"/>
          </a:solidFill>
          <a:ln w="12700">
            <a:solidFill>
              <a:srgbClr val="1D1F2B"/>
            </a:solidFill>
            <a:prstDash val="solid"/>
          </a:ln>
        </p:spPr>
        <p:txBody>
          <a:bodyPr/>
          <a:p/>
        </p:txBody>
      </p:sp>
      <p:sp>
        <p:nvSpPr>
          <p:cNvPr id="15" name="Shape 13"/>
          <p:cNvSpPr/>
          <p:nvPr/>
        </p:nvSpPr>
        <p:spPr>
          <a:xfrm>
            <a:off x="868680" y="3392424"/>
            <a:ext cx="420624" cy="420624"/>
          </a:xfrm>
          <a:prstGeom prst="ellipse">
            <a:avLst/>
          </a:prstGeom>
          <a:solidFill>
            <a:srgbClr val="FFC24B"/>
          </a:solidFill>
          <a:ln/>
        </p:spPr>
        <p:txBody>
          <a:bodyPr/>
          <a:p/>
        </p:txBody>
      </p:sp>
      <p:sp>
        <p:nvSpPr>
          <p:cNvPr id="16" name="Text 14"/>
          <p:cNvSpPr/>
          <p:nvPr/>
        </p:nvSpPr>
        <p:spPr>
          <a:xfrm>
            <a:off x="868680" y="33924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319272"/>
            <a:ext cx="6309360" cy="56692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De la starea civilă a primăriei</a:t>
            </a:r>
            <a:endParaRPr lang="en-US" sz="1900" dirty="0"/>
          </a:p>
        </p:txBody>
      </p:sp>
      <p:sp>
        <p:nvSpPr>
          <p:cNvPr id="18" name="Shape 16"/>
          <p:cNvSpPr/>
          <p:nvPr/>
        </p:nvSpPr>
        <p:spPr>
          <a:xfrm>
            <a:off x="594360" y="3995928"/>
            <a:ext cx="7498080" cy="566928"/>
          </a:xfrm>
          <a:prstGeom prst="roundRect">
            <a:avLst>
              <a:gd name="adj" fmla="val 14516"/>
            </a:avLst>
          </a:prstGeom>
          <a:solidFill>
            <a:srgbClr val="1D1F2B"/>
          </a:solidFill>
          <a:ln w="12700">
            <a:solidFill>
              <a:srgbClr val="1D1F2B"/>
            </a:solidFill>
            <a:prstDash val="solid"/>
          </a:ln>
        </p:spPr>
        <p:txBody>
          <a:bodyPr/>
          <a:p/>
        </p:txBody>
      </p:sp>
      <p:sp>
        <p:nvSpPr>
          <p:cNvPr id="19" name="Shape 17"/>
          <p:cNvSpPr/>
          <p:nvPr/>
        </p:nvSpPr>
        <p:spPr>
          <a:xfrm>
            <a:off x="868680" y="4069080"/>
            <a:ext cx="420624" cy="420624"/>
          </a:xfrm>
          <a:prstGeom prst="ellipse">
            <a:avLst/>
          </a:prstGeom>
          <a:solidFill>
            <a:srgbClr val="FFC24B"/>
          </a:solidFill>
          <a:ln/>
        </p:spPr>
        <p:txBody>
          <a:bodyPr/>
          <a:p/>
        </p:txBody>
      </p:sp>
      <p:sp>
        <p:nvSpPr>
          <p:cNvPr id="20" name="Text 18"/>
          <p:cNvSpPr/>
          <p:nvPr/>
        </p:nvSpPr>
        <p:spPr>
          <a:xfrm>
            <a:off x="868680" y="40690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3995928"/>
            <a:ext cx="6309360" cy="56692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De la casa de asigurări de sănătate</a:t>
            </a:r>
            <a:endParaRPr lang="en-US" sz="1900" dirty="0"/>
          </a:p>
        </p:txBody>
      </p:sp>
      <p:sp>
        <p:nvSpPr>
          <p:cNvPr id="22" name="Shape 20"/>
          <p:cNvSpPr/>
          <p:nvPr/>
        </p:nvSpPr>
        <p:spPr>
          <a:xfrm>
            <a:off x="594360" y="4672584"/>
            <a:ext cx="7498080" cy="566928"/>
          </a:xfrm>
          <a:prstGeom prst="roundRect">
            <a:avLst>
              <a:gd name="adj" fmla="val 14516"/>
            </a:avLst>
          </a:prstGeom>
          <a:solidFill>
            <a:srgbClr val="1D1F2B"/>
          </a:solidFill>
          <a:ln w="12700">
            <a:solidFill>
              <a:srgbClr val="1D1F2B"/>
            </a:solidFill>
            <a:prstDash val="solid"/>
          </a:ln>
        </p:spPr>
        <p:txBody>
          <a:bodyPr/>
          <a:p/>
        </p:txBody>
      </p:sp>
      <p:sp>
        <p:nvSpPr>
          <p:cNvPr id="23" name="Shape 21"/>
          <p:cNvSpPr/>
          <p:nvPr/>
        </p:nvSpPr>
        <p:spPr>
          <a:xfrm>
            <a:off x="868680" y="4745736"/>
            <a:ext cx="420624" cy="420624"/>
          </a:xfrm>
          <a:prstGeom prst="ellipse">
            <a:avLst/>
          </a:prstGeom>
          <a:solidFill>
            <a:srgbClr val="FFC24B"/>
          </a:solidFill>
          <a:ln/>
        </p:spPr>
        <p:txBody>
          <a:bodyPr/>
          <a:p/>
        </p:txBody>
      </p:sp>
      <p:sp>
        <p:nvSpPr>
          <p:cNvPr id="24" name="Text 22"/>
          <p:cNvSpPr/>
          <p:nvPr/>
        </p:nvSpPr>
        <p:spPr>
          <a:xfrm>
            <a:off x="868680" y="47457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E</a:t>
            </a:r>
            <a:endParaRPr lang="en-US" sz="1400" dirty="0"/>
          </a:p>
        </p:txBody>
      </p:sp>
      <p:sp>
        <p:nvSpPr>
          <p:cNvPr id="25" name="Text 23"/>
          <p:cNvSpPr/>
          <p:nvPr/>
        </p:nvSpPr>
        <p:spPr>
          <a:xfrm>
            <a:off x="1508760" y="4672584"/>
            <a:ext cx="6309360" cy="56692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Nu știu</a:t>
            </a:r>
            <a:endParaRPr lang="en-US" sz="1900" dirty="0"/>
          </a:p>
        </p:txBody>
      </p:sp>
      <p:sp>
        <p:nvSpPr>
          <p:cNvPr id="26" name="Text 24"/>
          <p:cNvSpPr/>
          <p:nvPr/>
        </p:nvSpPr>
        <p:spPr>
          <a:xfrm>
            <a:off x="594360" y="5440680"/>
            <a:ext cx="10972800" cy="36576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Apoi, două minute cu colegul de bancă: unde ați putea verifica răspunsul?</a:t>
            </a:r>
            <a:endParaRPr lang="en-US" sz="1700" dirty="0"/>
          </a:p>
        </p:txBody>
      </p:sp>
      <p:sp>
        <p:nvSpPr>
          <p:cNvPr id="27" name="Text 25"/>
          <p:cNvSpPr/>
          <p:nvPr/>
        </p:nvSpPr>
        <p:spPr>
          <a:xfrm>
            <a:off x="594360" y="5897880"/>
            <a:ext cx="7680960" cy="365760"/>
          </a:xfrm>
          <a:prstGeom prst="rect">
            <a:avLst/>
          </a:prstGeom>
          <a:noFill/>
          <a:ln/>
        </p:spPr>
        <p:txBody>
          <a:bodyPr wrap="square" lIns="0" tIns="0" rIns="0" bIns="0" rtlCol="0" anchor="t"/>
          <a:lstStyle/>
          <a:p>
            <a:pPr indent="0" marL="0">
              <a:buNone/>
            </a:pPr>
            <a:r>
              <a:rPr lang="en-US" sz="1600" b="1" i="1" dirty="0">
                <a:solidFill>
                  <a:srgbClr val="27D3BE"/>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STAREA CIVILĂ A PRIMĂRIEI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Decesul intră în statistică prin primărie</a:t>
            </a:r>
            <a:endParaRPr lang="en-US" sz="3000" dirty="0"/>
          </a:p>
        </p:txBody>
      </p:sp>
      <p:sp>
        <p:nvSpPr>
          <p:cNvPr id="4" name="Shape 2"/>
          <p:cNvSpPr/>
          <p:nvPr/>
        </p:nvSpPr>
        <p:spPr>
          <a:xfrm>
            <a:off x="594360" y="1691640"/>
            <a:ext cx="2697480" cy="1143000"/>
          </a:xfrm>
          <a:prstGeom prst="homePlate">
            <a:avLst/>
          </a:prstGeom>
          <a:solidFill>
            <a:srgbClr val="B02532"/>
          </a:solidFill>
          <a:ln w="12700">
            <a:solidFill>
              <a:srgbClr val="F6F5F2"/>
            </a:solidFill>
            <a:prstDash val="solid"/>
          </a:ln>
        </p:spPr>
        <p:txBody>
          <a:bodyPr/>
          <a:p/>
        </p:txBody>
      </p:sp>
      <p:sp>
        <p:nvSpPr>
          <p:cNvPr id="5" name="Text 3"/>
          <p:cNvSpPr/>
          <p:nvPr/>
        </p:nvSpPr>
        <p:spPr>
          <a:xfrm>
            <a:off x="731520" y="1691640"/>
            <a:ext cx="2194560" cy="114300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Primăria: evidența persoanelor</a:t>
            </a:r>
            <a:endParaRPr lang="en-US" sz="1500" dirty="0"/>
          </a:p>
        </p:txBody>
      </p:sp>
      <p:sp>
        <p:nvSpPr>
          <p:cNvPr id="6" name="Shape 4"/>
          <p:cNvSpPr/>
          <p:nvPr/>
        </p:nvSpPr>
        <p:spPr>
          <a:xfrm>
            <a:off x="3337560" y="1691640"/>
            <a:ext cx="2697480" cy="1143000"/>
          </a:xfrm>
          <a:prstGeom prst="chevron">
            <a:avLst/>
          </a:prstGeom>
          <a:solidFill>
            <a:srgbClr val="07564B"/>
          </a:solidFill>
          <a:ln w="12700">
            <a:solidFill>
              <a:srgbClr val="F6F5F2"/>
            </a:solidFill>
            <a:prstDash val="solid"/>
          </a:ln>
        </p:spPr>
        <p:txBody>
          <a:bodyPr/>
          <a:p/>
        </p:txBody>
      </p:sp>
      <p:sp>
        <p:nvSpPr>
          <p:cNvPr id="7" name="Text 5"/>
          <p:cNvSpPr/>
          <p:nvPr/>
        </p:nvSpPr>
        <p:spPr>
          <a:xfrm>
            <a:off x="3749040" y="1691640"/>
            <a:ext cx="1920240" cy="114300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Buletinul statistic de deces</a:t>
            </a:r>
            <a:endParaRPr lang="en-US" sz="1500" dirty="0"/>
          </a:p>
        </p:txBody>
      </p:sp>
      <p:sp>
        <p:nvSpPr>
          <p:cNvPr id="8" name="Shape 6"/>
          <p:cNvSpPr/>
          <p:nvPr/>
        </p:nvSpPr>
        <p:spPr>
          <a:xfrm>
            <a:off x="6080760" y="1691640"/>
            <a:ext cx="2697480" cy="1143000"/>
          </a:xfrm>
          <a:prstGeom prst="chevron">
            <a:avLst/>
          </a:prstGeom>
          <a:solidFill>
            <a:srgbClr val="0E7C6B"/>
          </a:solidFill>
          <a:ln w="12700">
            <a:solidFill>
              <a:srgbClr val="F6F5F2"/>
            </a:solidFill>
            <a:prstDash val="solid"/>
          </a:ln>
        </p:spPr>
        <p:txBody>
          <a:bodyPr/>
          <a:p/>
        </p:txBody>
      </p:sp>
      <p:sp>
        <p:nvSpPr>
          <p:cNvPr id="9" name="Text 7"/>
          <p:cNvSpPr/>
          <p:nvPr/>
        </p:nvSpPr>
        <p:spPr>
          <a:xfrm>
            <a:off x="6492240" y="1691640"/>
            <a:ext cx="1920240" cy="114300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Direcția județeană de statistică</a:t>
            </a:r>
            <a:endParaRPr lang="en-US" sz="1500" dirty="0"/>
          </a:p>
        </p:txBody>
      </p:sp>
      <p:sp>
        <p:nvSpPr>
          <p:cNvPr id="10" name="Shape 8"/>
          <p:cNvSpPr/>
          <p:nvPr/>
        </p:nvSpPr>
        <p:spPr>
          <a:xfrm>
            <a:off x="8823960" y="1691640"/>
            <a:ext cx="2697480" cy="1143000"/>
          </a:xfrm>
          <a:prstGeom prst="chevron">
            <a:avLst/>
          </a:prstGeom>
          <a:solidFill>
            <a:srgbClr val="07564B"/>
          </a:solidFill>
          <a:ln w="12700">
            <a:solidFill>
              <a:srgbClr val="F6F5F2"/>
            </a:solidFill>
            <a:prstDash val="solid"/>
          </a:ln>
        </p:spPr>
        <p:txBody>
          <a:bodyPr/>
          <a:p/>
        </p:txBody>
      </p:sp>
      <p:sp>
        <p:nvSpPr>
          <p:cNvPr id="11" name="Text 9"/>
          <p:cNvSpPr/>
          <p:nvPr/>
        </p:nvSpPr>
        <p:spPr>
          <a:xfrm>
            <a:off x="9235440" y="1691640"/>
            <a:ext cx="1920240" cy="114300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Institutul Național de Statistică</a:t>
            </a:r>
            <a:endParaRPr lang="en-US" sz="1500" dirty="0"/>
          </a:p>
        </p:txBody>
      </p:sp>
      <p:sp>
        <p:nvSpPr>
          <p:cNvPr id="12" name="Text 10"/>
          <p:cNvSpPr/>
          <p:nvPr/>
        </p:nvSpPr>
        <p:spPr>
          <a:xfrm>
            <a:off x="594360" y="3063240"/>
            <a:ext cx="10972800" cy="128016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Buletinul se completează la înregistrarea decesului. Datele nu vin din dosarul spitalului și nici din decontările casei de asigurări.</a:t>
            </a:r>
            <a:endParaRPr lang="en-US" sz="1900" dirty="0"/>
          </a:p>
        </p:txBody>
      </p:sp>
      <p:sp>
        <p:nvSpPr>
          <p:cNvPr id="13" name="Shape 11"/>
          <p:cNvSpPr/>
          <p:nvPr/>
        </p:nvSpPr>
        <p:spPr>
          <a:xfrm>
            <a:off x="594360" y="4572000"/>
            <a:ext cx="10972800" cy="1143000"/>
          </a:xfrm>
          <a:prstGeom prst="roundRect">
            <a:avLst>
              <a:gd name="adj" fmla="val 7200"/>
            </a:avLst>
          </a:prstGeom>
          <a:solidFill>
            <a:srgbClr val="ECEAE4"/>
          </a:solidFill>
          <a:ln w="12700">
            <a:solidFill>
              <a:srgbClr val="ECEAE4"/>
            </a:solidFill>
            <a:prstDash val="solid"/>
          </a:ln>
        </p:spPr>
        <p:txBody>
          <a:bodyPr/>
          <a:p/>
        </p:txBody>
      </p:sp>
      <p:sp>
        <p:nvSpPr>
          <p:cNvPr id="14" name="Shape 12"/>
          <p:cNvSpPr/>
          <p:nvPr/>
        </p:nvSpPr>
        <p:spPr>
          <a:xfrm>
            <a:off x="594360" y="4572000"/>
            <a:ext cx="91440" cy="1143000"/>
          </a:xfrm>
          <a:prstGeom prst="rect">
            <a:avLst/>
          </a:prstGeom>
          <a:solidFill>
            <a:srgbClr val="B02532"/>
          </a:solidFill>
          <a:ln w="12700">
            <a:solidFill>
              <a:srgbClr val="B02532"/>
            </a:solidFill>
            <a:prstDash val="solid"/>
          </a:ln>
        </p:spPr>
        <p:txBody>
          <a:bodyPr/>
          <a:p/>
        </p:txBody>
      </p:sp>
      <p:sp>
        <p:nvSpPr>
          <p:cNvPr id="15" name="Text 13"/>
          <p:cNvSpPr/>
          <p:nvPr/>
        </p:nvSpPr>
        <p:spPr>
          <a:xfrm>
            <a:off x="914400" y="4572000"/>
            <a:ext cx="10424160" cy="1143000"/>
          </a:xfrm>
          <a:prstGeom prst="rect">
            <a:avLst/>
          </a:prstGeom>
          <a:noFill/>
          <a:ln/>
        </p:spPr>
        <p:txBody>
          <a:bodyPr wrap="square" lIns="0" tIns="0" rIns="0" bIns="0" rtlCol="0" anchor="ctr"/>
          <a:lstStyle/>
          <a:p>
            <a:pPr indent="0" marL="0">
              <a:buNone/>
            </a:pPr>
            <a:r>
              <a:rPr lang="en-US" sz="1900" dirty="0">
                <a:solidFill>
                  <a:srgbClr val="B02532"/>
                </a:solidFill>
                <a:latin typeface="Palatino Linotype" pitchFamily="34" charset="0"/>
                <a:ea typeface="Palatino Linotype" pitchFamily="34" charset="-122"/>
                <a:cs typeface="Palatino Linotype" pitchFamily="34" charset="-120"/>
              </a:rPr>
              <a:t>Un deces neînregistrat lipsește din cifră, oricât de bine l-ar cunoaște medicii.</a:t>
            </a:r>
            <a:endParaRPr lang="en-US" sz="1900" dirty="0"/>
          </a:p>
        </p:txBody>
      </p:sp>
      <p:sp>
        <p:nvSpPr>
          <p:cNvPr id="16" name="Text 14"/>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Institutul Național de Statistică, metadatele statisticii demografice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EXERCIȚIU · PERECHI</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CU COLEGUL DE BANCĂ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Calculați voi rata</a:t>
            </a:r>
            <a:endParaRPr lang="en-US" sz="3600" dirty="0"/>
          </a:p>
        </p:txBody>
      </p:sp>
      <p:sp>
        <p:nvSpPr>
          <p:cNvPr id="6" name="Shape 4"/>
          <p:cNvSpPr/>
          <p:nvPr/>
        </p:nvSpPr>
        <p:spPr>
          <a:xfrm>
            <a:off x="594360" y="1691640"/>
            <a:ext cx="10972800" cy="1005840"/>
          </a:xfrm>
          <a:prstGeom prst="roundRect">
            <a:avLst>
              <a:gd name="adj" fmla="val 8182"/>
            </a:avLst>
          </a:prstGeom>
          <a:solidFill>
            <a:srgbClr val="272A38"/>
          </a:solidFill>
          <a:ln w="12700">
            <a:solidFill>
              <a:srgbClr val="272A38"/>
            </a:solidFill>
            <a:prstDash val="solid"/>
          </a:ln>
        </p:spPr>
        <p:txBody>
          <a:bodyPr/>
          <a:p/>
        </p:txBody>
      </p:sp>
      <p:sp>
        <p:nvSpPr>
          <p:cNvPr id="7" name="Text 5"/>
          <p:cNvSpPr/>
          <p:nvPr/>
        </p:nvSpPr>
        <p:spPr>
          <a:xfrm>
            <a:off x="594360" y="1691640"/>
            <a:ext cx="10972800" cy="1005840"/>
          </a:xfrm>
          <a:prstGeom prst="rect">
            <a:avLst/>
          </a:prstGeom>
          <a:noFill/>
          <a:ln/>
        </p:spPr>
        <p:txBody>
          <a:bodyPr wrap="square" lIns="0" tIns="0" rIns="0" bIns="0" rtlCol="0" anchor="ctr"/>
          <a:lstStyle/>
          <a:p>
            <a:pPr algn="ctr" indent="0" marL="0">
              <a:buNone/>
            </a:pPr>
            <a:r>
              <a:rPr lang="en-US" sz="3000" b="1" dirty="0">
                <a:solidFill>
                  <a:srgbClr val="FFC24B"/>
                </a:solidFill>
                <a:latin typeface="Palatino Linotype" pitchFamily="34" charset="0"/>
                <a:ea typeface="Palatino Linotype" pitchFamily="34" charset="-122"/>
                <a:cs typeface="Palatino Linotype" pitchFamily="34" charset="-120"/>
              </a:rPr>
              <a:t>decesele sub un an  ÷  născuții vii  ×  1 000</a:t>
            </a:r>
            <a:endParaRPr lang="en-US" sz="3000" dirty="0"/>
          </a:p>
        </p:txBody>
      </p:sp>
      <p:sp>
        <p:nvSpPr>
          <p:cNvPr id="8" name="Shape 6"/>
          <p:cNvSpPr/>
          <p:nvPr/>
        </p:nvSpPr>
        <p:spPr>
          <a:xfrm>
            <a:off x="594360" y="2926080"/>
            <a:ext cx="5394960" cy="1463040"/>
          </a:xfrm>
          <a:prstGeom prst="roundRect">
            <a:avLst>
              <a:gd name="adj" fmla="val 5625"/>
            </a:avLst>
          </a:prstGeom>
          <a:solidFill>
            <a:srgbClr val="1D1F2B"/>
          </a:solidFill>
          <a:ln w="12700">
            <a:solidFill>
              <a:srgbClr val="1D1F2B"/>
            </a:solidFill>
            <a:prstDash val="solid"/>
          </a:ln>
        </p:spPr>
        <p:txBody>
          <a:bodyPr/>
          <a:p/>
        </p:txBody>
      </p:sp>
      <p:sp>
        <p:nvSpPr>
          <p:cNvPr id="9" name="Shape 7"/>
          <p:cNvSpPr/>
          <p:nvPr/>
        </p:nvSpPr>
        <p:spPr>
          <a:xfrm>
            <a:off x="594360" y="2926080"/>
            <a:ext cx="82296" cy="1463040"/>
          </a:xfrm>
          <a:prstGeom prst="rect">
            <a:avLst/>
          </a:prstGeom>
          <a:solidFill>
            <a:srgbClr val="FF4757"/>
          </a:solidFill>
          <a:ln w="12700">
            <a:solidFill>
              <a:srgbClr val="FF4757"/>
            </a:solidFill>
            <a:prstDash val="solid"/>
          </a:ln>
        </p:spPr>
        <p:txBody>
          <a:bodyPr/>
          <a:p/>
        </p:txBody>
      </p:sp>
      <p:sp>
        <p:nvSpPr>
          <p:cNvPr id="10" name="Text 8"/>
          <p:cNvSpPr/>
          <p:nvPr/>
        </p:nvSpPr>
        <p:spPr>
          <a:xfrm>
            <a:off x="914400" y="3063240"/>
            <a:ext cx="4846320" cy="411480"/>
          </a:xfrm>
          <a:prstGeom prst="rect">
            <a:avLst/>
          </a:prstGeom>
          <a:noFill/>
          <a:ln/>
        </p:spPr>
        <p:txBody>
          <a:bodyPr wrap="square" lIns="0" tIns="0" rIns="0" bIns="0" rtlCol="0" anchor="t"/>
          <a:lstStyle/>
          <a:p>
            <a:pPr indent="0" marL="0">
              <a:buNone/>
            </a:pPr>
            <a:r>
              <a:rPr lang="en-US" sz="1900" b="1" dirty="0">
                <a:solidFill>
                  <a:srgbClr val="FF4757"/>
                </a:solidFill>
                <a:latin typeface="Palatino Linotype" pitchFamily="34" charset="0"/>
                <a:ea typeface="Palatino Linotype" pitchFamily="34" charset="-122"/>
                <a:cs typeface="Palatino Linotype" pitchFamily="34" charset="-120"/>
              </a:rPr>
              <a:t>Mediul rural</a:t>
            </a:r>
            <a:endParaRPr lang="en-US" sz="1900" dirty="0"/>
          </a:p>
        </p:txBody>
      </p:sp>
      <p:sp>
        <p:nvSpPr>
          <p:cNvPr id="11" name="Text 9"/>
          <p:cNvSpPr/>
          <p:nvPr/>
        </p:nvSpPr>
        <p:spPr>
          <a:xfrm>
            <a:off x="914400" y="3520440"/>
            <a:ext cx="4846320" cy="73152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467 de decese · 68 916 născuți vii</a:t>
            </a:r>
            <a:endParaRPr lang="en-US" sz="2000" dirty="0"/>
          </a:p>
        </p:txBody>
      </p:sp>
      <p:sp>
        <p:nvSpPr>
          <p:cNvPr id="12" name="Shape 10"/>
          <p:cNvSpPr/>
          <p:nvPr/>
        </p:nvSpPr>
        <p:spPr>
          <a:xfrm>
            <a:off x="6172200" y="2926080"/>
            <a:ext cx="5394960" cy="1463040"/>
          </a:xfrm>
          <a:prstGeom prst="roundRect">
            <a:avLst>
              <a:gd name="adj" fmla="val 5625"/>
            </a:avLst>
          </a:prstGeom>
          <a:solidFill>
            <a:srgbClr val="1D1F2B"/>
          </a:solidFill>
          <a:ln w="12700">
            <a:solidFill>
              <a:srgbClr val="1D1F2B"/>
            </a:solidFill>
            <a:prstDash val="solid"/>
          </a:ln>
        </p:spPr>
        <p:txBody>
          <a:bodyPr/>
          <a:p/>
        </p:txBody>
      </p:sp>
      <p:sp>
        <p:nvSpPr>
          <p:cNvPr id="13" name="Shape 11"/>
          <p:cNvSpPr/>
          <p:nvPr/>
        </p:nvSpPr>
        <p:spPr>
          <a:xfrm>
            <a:off x="6172200" y="2926080"/>
            <a:ext cx="82296" cy="1463040"/>
          </a:xfrm>
          <a:prstGeom prst="rect">
            <a:avLst/>
          </a:prstGeom>
          <a:solidFill>
            <a:srgbClr val="27D3BE"/>
          </a:solidFill>
          <a:ln w="12700">
            <a:solidFill>
              <a:srgbClr val="27D3BE"/>
            </a:solidFill>
            <a:prstDash val="solid"/>
          </a:ln>
        </p:spPr>
        <p:txBody>
          <a:bodyPr/>
          <a:p/>
        </p:txBody>
      </p:sp>
      <p:sp>
        <p:nvSpPr>
          <p:cNvPr id="14" name="Text 12"/>
          <p:cNvSpPr/>
          <p:nvPr/>
        </p:nvSpPr>
        <p:spPr>
          <a:xfrm>
            <a:off x="6492240" y="3063240"/>
            <a:ext cx="4846320" cy="41148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Mediul urban</a:t>
            </a:r>
            <a:endParaRPr lang="en-US" sz="1900" dirty="0"/>
          </a:p>
        </p:txBody>
      </p:sp>
      <p:sp>
        <p:nvSpPr>
          <p:cNvPr id="15" name="Text 13"/>
          <p:cNvSpPr/>
          <p:nvPr/>
        </p:nvSpPr>
        <p:spPr>
          <a:xfrm>
            <a:off x="6492240" y="3520440"/>
            <a:ext cx="4846320" cy="73152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332 de decese · 65 322 de născuți vii</a:t>
            </a:r>
            <a:endParaRPr lang="en-US" sz="2000" dirty="0"/>
          </a:p>
        </p:txBody>
      </p:sp>
      <p:sp>
        <p:nvSpPr>
          <p:cNvPr id="16" name="Text 14"/>
          <p:cNvSpPr/>
          <p:nvPr/>
        </p:nvSpPr>
        <p:spPr>
          <a:xfrm>
            <a:off x="594360" y="4663440"/>
            <a:ext cx="10972800" cy="73152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Calculați pe telefon, apoi comparați rezultatul cu cifrele publicate de Institutul Național de Statistică.</a:t>
            </a:r>
            <a:endParaRPr lang="en-US" sz="1900" dirty="0"/>
          </a:p>
        </p:txBody>
      </p:sp>
      <p:sp>
        <p:nvSpPr>
          <p:cNvPr id="17" name="Text 15"/>
          <p:cNvSpPr/>
          <p:nvPr/>
        </p:nvSpPr>
        <p:spPr>
          <a:xfrm>
            <a:off x="594360" y="5669280"/>
            <a:ext cx="7680960" cy="365760"/>
          </a:xfrm>
          <a:prstGeom prst="rect">
            <a:avLst/>
          </a:prstGeom>
          <a:noFill/>
          <a:ln/>
        </p:spPr>
        <p:txBody>
          <a:bodyPr wrap="square" lIns="0" tIns="0" rIns="0" bIns="0" rtlCol="0" anchor="t"/>
          <a:lstStyle/>
          <a:p>
            <a:pPr indent="0" marL="0">
              <a:buNone/>
            </a:pPr>
            <a:r>
              <a:rPr lang="en-US" sz="1600" b="1" i="1" dirty="0">
                <a:solidFill>
                  <a:srgbClr val="27D3BE"/>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REZULTATUL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Aproape șapte la sat, circa cinci la oraș</a:t>
            </a:r>
            <a:endParaRPr lang="en-US" sz="3000" dirty="0"/>
          </a:p>
        </p:txBody>
      </p:sp>
      <p:sp>
        <p:nvSpPr>
          <p:cNvPr id="4" name="Shape 2"/>
          <p:cNvSpPr/>
          <p:nvPr/>
        </p:nvSpPr>
        <p:spPr>
          <a:xfrm>
            <a:off x="594360" y="1645920"/>
            <a:ext cx="10972800" cy="1234440"/>
          </a:xfrm>
          <a:prstGeom prst="roundRect">
            <a:avLst>
              <a:gd name="adj" fmla="val 6667"/>
            </a:avLst>
          </a:prstGeom>
          <a:solidFill>
            <a:srgbClr val="ECEAE4"/>
          </a:solidFill>
          <a:ln w="12700">
            <a:solidFill>
              <a:srgbClr val="ECEAE4"/>
            </a:solidFill>
            <a:prstDash val="solid"/>
          </a:ln>
        </p:spPr>
        <p:txBody>
          <a:bodyPr/>
          <a:p/>
        </p:txBody>
      </p:sp>
      <p:sp>
        <p:nvSpPr>
          <p:cNvPr id="5" name="Shape 3"/>
          <p:cNvSpPr/>
          <p:nvPr/>
        </p:nvSpPr>
        <p:spPr>
          <a:xfrm>
            <a:off x="594360" y="1645920"/>
            <a:ext cx="109728" cy="1234440"/>
          </a:xfrm>
          <a:prstGeom prst="rect">
            <a:avLst/>
          </a:prstGeom>
          <a:solidFill>
            <a:srgbClr val="B02532"/>
          </a:solidFill>
          <a:ln w="12700">
            <a:solidFill>
              <a:srgbClr val="B02532"/>
            </a:solidFill>
            <a:prstDash val="solid"/>
          </a:ln>
        </p:spPr>
        <p:txBody>
          <a:bodyPr/>
          <a:p/>
        </p:txBody>
      </p:sp>
      <p:sp>
        <p:nvSpPr>
          <p:cNvPr id="6" name="Text 4"/>
          <p:cNvSpPr/>
          <p:nvPr/>
        </p:nvSpPr>
        <p:spPr>
          <a:xfrm>
            <a:off x="914400" y="1645920"/>
            <a:ext cx="1463040" cy="1234440"/>
          </a:xfrm>
          <a:prstGeom prst="rect">
            <a:avLst/>
          </a:prstGeom>
          <a:noFill/>
          <a:ln/>
        </p:spPr>
        <p:txBody>
          <a:bodyPr wrap="square" lIns="0" tIns="0" rIns="0" bIns="0" rtlCol="0" anchor="ctr"/>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Rural</a:t>
            </a:r>
            <a:endParaRPr lang="en-US" sz="2200" dirty="0"/>
          </a:p>
        </p:txBody>
      </p:sp>
      <p:sp>
        <p:nvSpPr>
          <p:cNvPr id="7" name="Text 5"/>
          <p:cNvSpPr/>
          <p:nvPr/>
        </p:nvSpPr>
        <p:spPr>
          <a:xfrm>
            <a:off x="2468880" y="1645920"/>
            <a:ext cx="4480560" cy="1234440"/>
          </a:xfrm>
          <a:prstGeom prst="rect">
            <a:avLst/>
          </a:prstGeom>
          <a:noFill/>
          <a:ln/>
        </p:spPr>
        <p:txBody>
          <a:bodyPr wrap="square" lIns="0" tIns="0" rIns="0" bIns="0" rtlCol="0" anchor="ctr"/>
          <a:lstStyle/>
          <a:p>
            <a:pPr indent="0" marL="0">
              <a:buNone/>
            </a:pPr>
            <a:r>
              <a:rPr lang="en-US" sz="2200" dirty="0">
                <a:solidFill>
                  <a:srgbClr val="11121A"/>
                </a:solidFill>
                <a:latin typeface="Palatino Linotype" pitchFamily="34" charset="0"/>
                <a:ea typeface="Palatino Linotype" pitchFamily="34" charset="-122"/>
                <a:cs typeface="Palatino Linotype" pitchFamily="34" charset="-120"/>
              </a:rPr>
              <a:t>467 ÷ 68 916 = 0,006776</a:t>
            </a:r>
            <a:endParaRPr lang="en-US" sz="2200" dirty="0"/>
          </a:p>
        </p:txBody>
      </p:sp>
      <p:sp>
        <p:nvSpPr>
          <p:cNvPr id="8" name="Text 6"/>
          <p:cNvSpPr/>
          <p:nvPr/>
        </p:nvSpPr>
        <p:spPr>
          <a:xfrm>
            <a:off x="6949440" y="1645920"/>
            <a:ext cx="4480560" cy="1234440"/>
          </a:xfrm>
          <a:prstGeom prst="rect">
            <a:avLst/>
          </a:prstGeom>
          <a:noFill/>
          <a:ln/>
        </p:spPr>
        <p:txBody>
          <a:bodyPr wrap="square" lIns="0" tIns="0" rIns="0" bIns="0" rtlCol="0" anchor="ctr"/>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 1 000 = 6,78 ≈ 6,8 la mie</a:t>
            </a:r>
            <a:endParaRPr lang="en-US" sz="2200" dirty="0"/>
          </a:p>
        </p:txBody>
      </p:sp>
      <p:sp>
        <p:nvSpPr>
          <p:cNvPr id="9" name="Shape 7"/>
          <p:cNvSpPr/>
          <p:nvPr/>
        </p:nvSpPr>
        <p:spPr>
          <a:xfrm>
            <a:off x="594360" y="3063240"/>
            <a:ext cx="10972800" cy="1234440"/>
          </a:xfrm>
          <a:prstGeom prst="roundRect">
            <a:avLst>
              <a:gd name="adj" fmla="val 6667"/>
            </a:avLst>
          </a:prstGeom>
          <a:solidFill>
            <a:srgbClr val="F9F8F5"/>
          </a:solidFill>
          <a:ln w="12700">
            <a:solidFill>
              <a:srgbClr val="F9F8F5"/>
            </a:solidFill>
            <a:prstDash val="solid"/>
          </a:ln>
        </p:spPr>
        <p:txBody>
          <a:bodyPr/>
          <a:p/>
        </p:txBody>
      </p:sp>
      <p:sp>
        <p:nvSpPr>
          <p:cNvPr id="10" name="Shape 8"/>
          <p:cNvSpPr/>
          <p:nvPr/>
        </p:nvSpPr>
        <p:spPr>
          <a:xfrm>
            <a:off x="594360" y="3063240"/>
            <a:ext cx="109728" cy="1234440"/>
          </a:xfrm>
          <a:prstGeom prst="rect">
            <a:avLst/>
          </a:prstGeom>
          <a:solidFill>
            <a:srgbClr val="0E7C6B"/>
          </a:solidFill>
          <a:ln w="12700">
            <a:solidFill>
              <a:srgbClr val="0E7C6B"/>
            </a:solidFill>
            <a:prstDash val="solid"/>
          </a:ln>
        </p:spPr>
        <p:txBody>
          <a:bodyPr/>
          <a:p/>
        </p:txBody>
      </p:sp>
      <p:sp>
        <p:nvSpPr>
          <p:cNvPr id="11" name="Text 9"/>
          <p:cNvSpPr/>
          <p:nvPr/>
        </p:nvSpPr>
        <p:spPr>
          <a:xfrm>
            <a:off x="914400" y="3063240"/>
            <a:ext cx="1463040" cy="123444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Urban</a:t>
            </a:r>
            <a:endParaRPr lang="en-US" sz="2200" dirty="0"/>
          </a:p>
        </p:txBody>
      </p:sp>
      <p:sp>
        <p:nvSpPr>
          <p:cNvPr id="12" name="Text 10"/>
          <p:cNvSpPr/>
          <p:nvPr/>
        </p:nvSpPr>
        <p:spPr>
          <a:xfrm>
            <a:off x="2468880" y="3063240"/>
            <a:ext cx="4480560" cy="1234440"/>
          </a:xfrm>
          <a:prstGeom prst="rect">
            <a:avLst/>
          </a:prstGeom>
          <a:noFill/>
          <a:ln/>
        </p:spPr>
        <p:txBody>
          <a:bodyPr wrap="square" lIns="0" tIns="0" rIns="0" bIns="0" rtlCol="0" anchor="ctr"/>
          <a:lstStyle/>
          <a:p>
            <a:pPr indent="0" marL="0">
              <a:buNone/>
            </a:pPr>
            <a:r>
              <a:rPr lang="en-US" sz="2200" dirty="0">
                <a:solidFill>
                  <a:srgbClr val="11121A"/>
                </a:solidFill>
                <a:latin typeface="Palatino Linotype" pitchFamily="34" charset="0"/>
                <a:ea typeface="Palatino Linotype" pitchFamily="34" charset="-122"/>
                <a:cs typeface="Palatino Linotype" pitchFamily="34" charset="-120"/>
              </a:rPr>
              <a:t>332 ÷ 65 322 = 0,005083</a:t>
            </a:r>
            <a:endParaRPr lang="en-US" sz="2200" dirty="0"/>
          </a:p>
        </p:txBody>
      </p:sp>
      <p:sp>
        <p:nvSpPr>
          <p:cNvPr id="13" name="Text 11"/>
          <p:cNvSpPr/>
          <p:nvPr/>
        </p:nvSpPr>
        <p:spPr>
          <a:xfrm>
            <a:off x="6949440" y="3063240"/>
            <a:ext cx="4480560" cy="123444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 1 000 = 5,08 ≈ 5,1 la mie</a:t>
            </a:r>
            <a:endParaRPr lang="en-US" sz="2200" dirty="0"/>
          </a:p>
        </p:txBody>
      </p:sp>
      <p:sp>
        <p:nvSpPr>
          <p:cNvPr id="14" name="Text 12"/>
          <p:cNvSpPr/>
          <p:nvPr/>
        </p:nvSpPr>
        <p:spPr>
          <a:xfrm>
            <a:off x="594360" y="4572000"/>
            <a:ext cx="10972800" cy="10972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La o mie de copii născuți la sat au murit în primul an aproape șapte; la oraș, circa cinci. Exact cifrele publicate.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Sistemul informațional de sănătate publică</a:t>
            </a:r>
            <a:endParaRPr lang="en-US" sz="3000" dirty="0"/>
          </a:p>
        </p:txBody>
      </p:sp>
      <p:sp>
        <p:nvSpPr>
          <p:cNvPr id="4" name="Shape 2"/>
          <p:cNvSpPr/>
          <p:nvPr/>
        </p:nvSpPr>
        <p:spPr>
          <a:xfrm>
            <a:off x="594360" y="1600200"/>
            <a:ext cx="10972800" cy="1600200"/>
          </a:xfrm>
          <a:prstGeom prst="roundRect">
            <a:avLst>
              <a:gd name="adj" fmla="val 5143"/>
            </a:avLst>
          </a:prstGeom>
          <a:solidFill>
            <a:srgbClr val="ECEAE4"/>
          </a:solidFill>
          <a:ln w="12700">
            <a:solidFill>
              <a:srgbClr val="ECEAE4"/>
            </a:solidFill>
            <a:prstDash val="solid"/>
          </a:ln>
        </p:spPr>
        <p:txBody>
          <a:bodyPr/>
          <a:p/>
        </p:txBody>
      </p:sp>
      <p:sp>
        <p:nvSpPr>
          <p:cNvPr id="5" name="Text 3"/>
          <p:cNvSpPr/>
          <p:nvPr/>
        </p:nvSpPr>
        <p:spPr>
          <a:xfrm>
            <a:off x="868680" y="1737360"/>
            <a:ext cx="10424160" cy="329184"/>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ÎN LIMBAJ DE ZI CU ZI</a:t>
            </a:r>
            <a:endParaRPr lang="en-US" sz="1300" dirty="0"/>
          </a:p>
        </p:txBody>
      </p:sp>
      <p:sp>
        <p:nvSpPr>
          <p:cNvPr id="6" name="Text 4"/>
          <p:cNvSpPr/>
          <p:nvPr/>
        </p:nvSpPr>
        <p:spPr>
          <a:xfrm>
            <a:off x="868680" y="2103120"/>
            <a:ext cx="10424160" cy="1005840"/>
          </a:xfrm>
          <a:prstGeom prst="rect">
            <a:avLst/>
          </a:prstGeom>
          <a:noFill/>
          <a:ln/>
        </p:spPr>
        <p:txBody>
          <a:bodyPr wrap="square" lIns="0" tIns="0" rIns="0" bIns="0" rtlCol="0" anchor="t"/>
          <a:lstStyle/>
          <a:p>
            <a:pPr indent="0" marL="0">
              <a:buNone/>
            </a:pPr>
            <a:r>
              <a:rPr lang="en-US" sz="2400" b="1" dirty="0">
                <a:solidFill>
                  <a:srgbClr val="11121A"/>
                </a:solidFill>
                <a:latin typeface="Palatino Linotype" pitchFamily="34" charset="0"/>
                <a:ea typeface="Palatino Linotype" pitchFamily="34" charset="-122"/>
                <a:cs typeface="Palatino Linotype" pitchFamily="34" charset="-120"/>
              </a:rPr>
              <a:t>lanțul care transformă un fapt dintr-un cabinet sau dintr-o primărie într-o cifră pe care se poate decide</a:t>
            </a:r>
            <a:endParaRPr lang="en-US" sz="2400" dirty="0"/>
          </a:p>
        </p:txBody>
      </p:sp>
      <p:sp>
        <p:nvSpPr>
          <p:cNvPr id="7" name="Text 5"/>
          <p:cNvSpPr/>
          <p:nvPr/>
        </p:nvSpPr>
        <p:spPr>
          <a:xfrm>
            <a:off x="594360" y="3520440"/>
            <a:ext cx="10972800" cy="164592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Definiția de lucru a cursului: </a:t>
            </a:r>
            <a:pPr indent="0" marL="0">
              <a:buNone/>
            </a:pPr>
            <a:r>
              <a:rPr lang="en-US" sz="1900" dirty="0">
                <a:solidFill>
                  <a:srgbClr val="11121A"/>
                </a:solidFill>
                <a:latin typeface="Palatino Linotype" pitchFamily="34" charset="0"/>
                <a:ea typeface="Palatino Linotype" pitchFamily="34" charset="-122"/>
                <a:cs typeface="Palatino Linotype" pitchFamily="34" charset="-120"/>
              </a:rPr>
              <a:t>oamenii, regulile, instituțiile și mijloacele tehnice prin care se strâng, se verifică, se analizează și se fac publice datele de care are nevoie sănătatea publică: pentru prevenție, pentru supraveghere și pentru decizii.</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OMS, 2008 · REȚEAUA HEALTH METRICS NETWORK</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Șase componente, pe cazul nostru</a:t>
            </a:r>
            <a:endParaRPr lang="en-US" sz="3000" dirty="0"/>
          </a:p>
        </p:txBody>
      </p:sp>
      <p:sp>
        <p:nvSpPr>
          <p:cNvPr id="4" name="Shape 2"/>
          <p:cNvSpPr/>
          <p:nvPr/>
        </p:nvSpPr>
        <p:spPr>
          <a:xfrm>
            <a:off x="594360" y="1554480"/>
            <a:ext cx="3520440" cy="1325880"/>
          </a:xfrm>
          <a:prstGeom prst="roundRect">
            <a:avLst>
              <a:gd name="adj" fmla="val 6207"/>
            </a:avLst>
          </a:prstGeom>
          <a:solidFill>
            <a:srgbClr val="1D1F2B"/>
          </a:solidFill>
          <a:ln w="12700">
            <a:solidFill>
              <a:srgbClr val="1D1F2B"/>
            </a:solidFill>
            <a:prstDash val="solid"/>
          </a:ln>
        </p:spPr>
        <p:txBody>
          <a:bodyPr/>
          <a:p/>
        </p:txBody>
      </p:sp>
      <p:sp>
        <p:nvSpPr>
          <p:cNvPr id="5" name="Shape 3"/>
          <p:cNvSpPr/>
          <p:nvPr/>
        </p:nvSpPr>
        <p:spPr>
          <a:xfrm>
            <a:off x="594360" y="1554480"/>
            <a:ext cx="3520440" cy="64008"/>
          </a:xfrm>
          <a:prstGeom prst="rect">
            <a:avLst/>
          </a:prstGeom>
          <a:solidFill>
            <a:srgbClr val="FF4757"/>
          </a:solidFill>
          <a:ln w="12700">
            <a:solidFill>
              <a:srgbClr val="FF4757"/>
            </a:solidFill>
            <a:prstDash val="solid"/>
          </a:ln>
        </p:spPr>
        <p:txBody>
          <a:bodyPr/>
          <a:p/>
        </p:txBody>
      </p:sp>
      <p:sp>
        <p:nvSpPr>
          <p:cNvPr id="6" name="Text 4"/>
          <p:cNvSpPr/>
          <p:nvPr/>
        </p:nvSpPr>
        <p:spPr>
          <a:xfrm>
            <a:off x="822960" y="1691640"/>
            <a:ext cx="3108960" cy="411480"/>
          </a:xfrm>
          <a:prstGeom prst="rect">
            <a:avLst/>
          </a:prstGeom>
          <a:noFill/>
          <a:ln/>
        </p:spPr>
        <p:txBody>
          <a:bodyPr wrap="square" lIns="0" tIns="0" rIns="0" bIns="0" rtlCol="0" anchor="t"/>
          <a:lstStyle/>
          <a:p>
            <a:pPr indent="0" marL="0">
              <a:buNone/>
            </a:pPr>
            <a:r>
              <a:rPr lang="en-US" sz="1700" b="1" dirty="0">
                <a:solidFill>
                  <a:srgbClr val="FF4757"/>
                </a:solidFill>
                <a:latin typeface="Palatino Linotype" pitchFamily="34" charset="0"/>
                <a:ea typeface="Palatino Linotype" pitchFamily="34" charset="-122"/>
                <a:cs typeface="Palatino Linotype" pitchFamily="34" charset="-120"/>
              </a:rPr>
              <a:t>Resursele</a:t>
            </a:r>
            <a:endParaRPr lang="en-US" sz="1700" dirty="0"/>
          </a:p>
        </p:txBody>
      </p:sp>
      <p:sp>
        <p:nvSpPr>
          <p:cNvPr id="7" name="Text 5"/>
          <p:cNvSpPr/>
          <p:nvPr/>
        </p:nvSpPr>
        <p:spPr>
          <a:xfrm>
            <a:off x="822960" y="2103120"/>
            <a:ext cx="3108960" cy="7315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legi, oameni, bani, calculatoare</a:t>
            </a:r>
            <a:endParaRPr lang="en-US" sz="1500" dirty="0"/>
          </a:p>
        </p:txBody>
      </p:sp>
      <p:sp>
        <p:nvSpPr>
          <p:cNvPr id="8" name="Shape 6"/>
          <p:cNvSpPr/>
          <p:nvPr/>
        </p:nvSpPr>
        <p:spPr>
          <a:xfrm>
            <a:off x="4343400" y="1554480"/>
            <a:ext cx="3520440" cy="1325880"/>
          </a:xfrm>
          <a:prstGeom prst="roundRect">
            <a:avLst>
              <a:gd name="adj" fmla="val 6207"/>
            </a:avLst>
          </a:prstGeom>
          <a:solidFill>
            <a:srgbClr val="1D1F2B"/>
          </a:solidFill>
          <a:ln w="12700">
            <a:solidFill>
              <a:srgbClr val="1D1F2B"/>
            </a:solidFill>
            <a:prstDash val="solid"/>
          </a:ln>
        </p:spPr>
        <p:txBody>
          <a:bodyPr/>
          <a:p/>
        </p:txBody>
      </p:sp>
      <p:sp>
        <p:nvSpPr>
          <p:cNvPr id="9" name="Shape 7"/>
          <p:cNvSpPr/>
          <p:nvPr/>
        </p:nvSpPr>
        <p:spPr>
          <a:xfrm>
            <a:off x="4343400" y="1554480"/>
            <a:ext cx="3520440" cy="64008"/>
          </a:xfrm>
          <a:prstGeom prst="rect">
            <a:avLst/>
          </a:prstGeom>
          <a:solidFill>
            <a:srgbClr val="FFC24B"/>
          </a:solidFill>
          <a:ln w="12700">
            <a:solidFill>
              <a:srgbClr val="FFC24B"/>
            </a:solidFill>
            <a:prstDash val="solid"/>
          </a:ln>
        </p:spPr>
        <p:txBody>
          <a:bodyPr/>
          <a:p/>
        </p:txBody>
      </p:sp>
      <p:sp>
        <p:nvSpPr>
          <p:cNvPr id="10" name="Text 8"/>
          <p:cNvSpPr/>
          <p:nvPr/>
        </p:nvSpPr>
        <p:spPr>
          <a:xfrm>
            <a:off x="4572000" y="1691640"/>
            <a:ext cx="3108960" cy="4114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Indicatorii</a:t>
            </a:r>
            <a:endParaRPr lang="en-US" sz="1700" dirty="0"/>
          </a:p>
        </p:txBody>
      </p:sp>
      <p:sp>
        <p:nvSpPr>
          <p:cNvPr id="11" name="Text 9"/>
          <p:cNvSpPr/>
          <p:nvPr/>
        </p:nvSpPr>
        <p:spPr>
          <a:xfrm>
            <a:off x="4572000" y="2103120"/>
            <a:ext cx="3108960" cy="7315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rata mortalității infantile</a:t>
            </a:r>
            <a:endParaRPr lang="en-US" sz="1500" dirty="0"/>
          </a:p>
        </p:txBody>
      </p:sp>
      <p:sp>
        <p:nvSpPr>
          <p:cNvPr id="12" name="Shape 10"/>
          <p:cNvSpPr/>
          <p:nvPr/>
        </p:nvSpPr>
        <p:spPr>
          <a:xfrm>
            <a:off x="8092440" y="1554480"/>
            <a:ext cx="3520440" cy="1325880"/>
          </a:xfrm>
          <a:prstGeom prst="roundRect">
            <a:avLst>
              <a:gd name="adj" fmla="val 6207"/>
            </a:avLst>
          </a:prstGeom>
          <a:solidFill>
            <a:srgbClr val="1D1F2B"/>
          </a:solidFill>
          <a:ln w="12700">
            <a:solidFill>
              <a:srgbClr val="1D1F2B"/>
            </a:solidFill>
            <a:prstDash val="solid"/>
          </a:ln>
        </p:spPr>
        <p:txBody>
          <a:bodyPr/>
          <a:p/>
        </p:txBody>
      </p:sp>
      <p:sp>
        <p:nvSpPr>
          <p:cNvPr id="13" name="Shape 11"/>
          <p:cNvSpPr/>
          <p:nvPr/>
        </p:nvSpPr>
        <p:spPr>
          <a:xfrm>
            <a:off x="8092440" y="1554480"/>
            <a:ext cx="3520440" cy="64008"/>
          </a:xfrm>
          <a:prstGeom prst="rect">
            <a:avLst/>
          </a:prstGeom>
          <a:solidFill>
            <a:srgbClr val="27D3BE"/>
          </a:solidFill>
          <a:ln w="12700">
            <a:solidFill>
              <a:srgbClr val="27D3BE"/>
            </a:solidFill>
            <a:prstDash val="solid"/>
          </a:ln>
        </p:spPr>
        <p:txBody>
          <a:bodyPr/>
          <a:p/>
        </p:txBody>
      </p:sp>
      <p:sp>
        <p:nvSpPr>
          <p:cNvPr id="14" name="Text 12"/>
          <p:cNvSpPr/>
          <p:nvPr/>
        </p:nvSpPr>
        <p:spPr>
          <a:xfrm>
            <a:off x="8321040" y="1691640"/>
            <a:ext cx="3108960" cy="4114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Sursele de date</a:t>
            </a:r>
            <a:endParaRPr lang="en-US" sz="1700" dirty="0"/>
          </a:p>
        </p:txBody>
      </p:sp>
      <p:sp>
        <p:nvSpPr>
          <p:cNvPr id="15" name="Text 13"/>
          <p:cNvSpPr/>
          <p:nvPr/>
        </p:nvSpPr>
        <p:spPr>
          <a:xfrm>
            <a:off x="8321040" y="2103120"/>
            <a:ext cx="3108960" cy="7315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înregistrarea nașterilor și a deceselor</a:t>
            </a:r>
            <a:endParaRPr lang="en-US" sz="1500" dirty="0"/>
          </a:p>
        </p:txBody>
      </p:sp>
      <p:sp>
        <p:nvSpPr>
          <p:cNvPr id="16" name="Shape 14"/>
          <p:cNvSpPr/>
          <p:nvPr/>
        </p:nvSpPr>
        <p:spPr>
          <a:xfrm>
            <a:off x="594360" y="3035808"/>
            <a:ext cx="3520440" cy="1325880"/>
          </a:xfrm>
          <a:prstGeom prst="roundRect">
            <a:avLst>
              <a:gd name="adj" fmla="val 6207"/>
            </a:avLst>
          </a:prstGeom>
          <a:solidFill>
            <a:srgbClr val="1D1F2B"/>
          </a:solidFill>
          <a:ln w="12700">
            <a:solidFill>
              <a:srgbClr val="1D1F2B"/>
            </a:solidFill>
            <a:prstDash val="solid"/>
          </a:ln>
        </p:spPr>
        <p:txBody>
          <a:bodyPr/>
          <a:p/>
        </p:txBody>
      </p:sp>
      <p:sp>
        <p:nvSpPr>
          <p:cNvPr id="17" name="Shape 15"/>
          <p:cNvSpPr/>
          <p:nvPr/>
        </p:nvSpPr>
        <p:spPr>
          <a:xfrm>
            <a:off x="594360" y="3035808"/>
            <a:ext cx="3520440" cy="64008"/>
          </a:xfrm>
          <a:prstGeom prst="rect">
            <a:avLst/>
          </a:prstGeom>
          <a:solidFill>
            <a:srgbClr val="9B7EF7"/>
          </a:solidFill>
          <a:ln w="12700">
            <a:solidFill>
              <a:srgbClr val="9B7EF7"/>
            </a:solidFill>
            <a:prstDash val="solid"/>
          </a:ln>
        </p:spPr>
        <p:txBody>
          <a:bodyPr/>
          <a:p/>
        </p:txBody>
      </p:sp>
      <p:sp>
        <p:nvSpPr>
          <p:cNvPr id="18" name="Text 16"/>
          <p:cNvSpPr/>
          <p:nvPr/>
        </p:nvSpPr>
        <p:spPr>
          <a:xfrm>
            <a:off x="822960" y="3172968"/>
            <a:ext cx="3108960" cy="411480"/>
          </a:xfrm>
          <a:prstGeom prst="rect">
            <a:avLst/>
          </a:prstGeom>
          <a:noFill/>
          <a:ln/>
        </p:spPr>
        <p:txBody>
          <a:bodyPr wrap="square" lIns="0" tIns="0" rIns="0" bIns="0" rtlCol="0" anchor="t"/>
          <a:lstStyle/>
          <a:p>
            <a:pPr indent="0" marL="0">
              <a:buNone/>
            </a:pPr>
            <a:r>
              <a:rPr lang="en-US" sz="1700" b="1" dirty="0">
                <a:solidFill>
                  <a:srgbClr val="9B7EF7"/>
                </a:solidFill>
                <a:latin typeface="Palatino Linotype" pitchFamily="34" charset="0"/>
                <a:ea typeface="Palatino Linotype" pitchFamily="34" charset="-122"/>
                <a:cs typeface="Palatino Linotype" pitchFamily="34" charset="-120"/>
              </a:rPr>
              <a:t>Gestionarea datelor</a:t>
            </a:r>
            <a:endParaRPr lang="en-US" sz="1700" dirty="0"/>
          </a:p>
        </p:txBody>
      </p:sp>
      <p:sp>
        <p:nvSpPr>
          <p:cNvPr id="19" name="Text 17"/>
          <p:cNvSpPr/>
          <p:nvPr/>
        </p:nvSpPr>
        <p:spPr>
          <a:xfrm>
            <a:off x="822960" y="3584448"/>
            <a:ext cx="3108960" cy="7315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strângerea, verificarea, păstrarea, transmiterea</a:t>
            </a:r>
            <a:endParaRPr lang="en-US" sz="1500" dirty="0"/>
          </a:p>
        </p:txBody>
      </p:sp>
      <p:sp>
        <p:nvSpPr>
          <p:cNvPr id="20" name="Shape 18"/>
          <p:cNvSpPr/>
          <p:nvPr/>
        </p:nvSpPr>
        <p:spPr>
          <a:xfrm>
            <a:off x="4343400" y="3035808"/>
            <a:ext cx="3520440" cy="1325880"/>
          </a:xfrm>
          <a:prstGeom prst="roundRect">
            <a:avLst>
              <a:gd name="adj" fmla="val 6207"/>
            </a:avLst>
          </a:prstGeom>
          <a:solidFill>
            <a:srgbClr val="1D1F2B"/>
          </a:solidFill>
          <a:ln w="12700">
            <a:solidFill>
              <a:srgbClr val="1D1F2B"/>
            </a:solidFill>
            <a:prstDash val="solid"/>
          </a:ln>
        </p:spPr>
        <p:txBody>
          <a:bodyPr/>
          <a:p/>
        </p:txBody>
      </p:sp>
      <p:sp>
        <p:nvSpPr>
          <p:cNvPr id="21" name="Shape 19"/>
          <p:cNvSpPr/>
          <p:nvPr/>
        </p:nvSpPr>
        <p:spPr>
          <a:xfrm>
            <a:off x="4343400" y="3035808"/>
            <a:ext cx="3520440" cy="64008"/>
          </a:xfrm>
          <a:prstGeom prst="rect">
            <a:avLst/>
          </a:prstGeom>
          <a:solidFill>
            <a:srgbClr val="FF8A3D"/>
          </a:solidFill>
          <a:ln w="12700">
            <a:solidFill>
              <a:srgbClr val="FF8A3D"/>
            </a:solidFill>
            <a:prstDash val="solid"/>
          </a:ln>
        </p:spPr>
        <p:txBody>
          <a:bodyPr/>
          <a:p/>
        </p:txBody>
      </p:sp>
      <p:sp>
        <p:nvSpPr>
          <p:cNvPr id="22" name="Text 20"/>
          <p:cNvSpPr/>
          <p:nvPr/>
        </p:nvSpPr>
        <p:spPr>
          <a:xfrm>
            <a:off x="4572000" y="3172968"/>
            <a:ext cx="3108960" cy="411480"/>
          </a:xfrm>
          <a:prstGeom prst="rect">
            <a:avLst/>
          </a:prstGeom>
          <a:noFill/>
          <a:ln/>
        </p:spPr>
        <p:txBody>
          <a:bodyPr wrap="square" lIns="0" tIns="0" rIns="0" bIns="0" rtlCol="0" anchor="t"/>
          <a:lstStyle/>
          <a:p>
            <a:pPr indent="0" marL="0">
              <a:buNone/>
            </a:pPr>
            <a:r>
              <a:rPr lang="en-US" sz="1700" b="1" dirty="0">
                <a:solidFill>
                  <a:srgbClr val="FF8A3D"/>
                </a:solidFill>
                <a:latin typeface="Palatino Linotype" pitchFamily="34" charset="0"/>
                <a:ea typeface="Palatino Linotype" pitchFamily="34" charset="-122"/>
                <a:cs typeface="Palatino Linotype" pitchFamily="34" charset="-120"/>
              </a:rPr>
              <a:t>Produsele informaționale</a:t>
            </a:r>
            <a:endParaRPr lang="en-US" sz="1700" dirty="0"/>
          </a:p>
        </p:txBody>
      </p:sp>
      <p:sp>
        <p:nvSpPr>
          <p:cNvPr id="23" name="Text 21"/>
          <p:cNvSpPr/>
          <p:nvPr/>
        </p:nvSpPr>
        <p:spPr>
          <a:xfrm>
            <a:off x="4572000" y="3584448"/>
            <a:ext cx="3108960" cy="7315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tabelele, rapoartele, tablourile de bord</a:t>
            </a:r>
            <a:endParaRPr lang="en-US" sz="1500" dirty="0"/>
          </a:p>
        </p:txBody>
      </p:sp>
      <p:sp>
        <p:nvSpPr>
          <p:cNvPr id="24" name="Shape 22"/>
          <p:cNvSpPr/>
          <p:nvPr/>
        </p:nvSpPr>
        <p:spPr>
          <a:xfrm>
            <a:off x="8092440" y="3035808"/>
            <a:ext cx="3520440" cy="1325880"/>
          </a:xfrm>
          <a:prstGeom prst="roundRect">
            <a:avLst>
              <a:gd name="adj" fmla="val 6207"/>
            </a:avLst>
          </a:prstGeom>
          <a:solidFill>
            <a:srgbClr val="1D1F2B"/>
          </a:solidFill>
          <a:ln w="12700">
            <a:solidFill>
              <a:srgbClr val="1D1F2B"/>
            </a:solidFill>
            <a:prstDash val="solid"/>
          </a:ln>
        </p:spPr>
        <p:txBody>
          <a:bodyPr/>
          <a:p/>
        </p:txBody>
      </p:sp>
      <p:sp>
        <p:nvSpPr>
          <p:cNvPr id="25" name="Shape 23"/>
          <p:cNvSpPr/>
          <p:nvPr/>
        </p:nvSpPr>
        <p:spPr>
          <a:xfrm>
            <a:off x="8092440" y="3035808"/>
            <a:ext cx="3520440" cy="64008"/>
          </a:xfrm>
          <a:prstGeom prst="rect">
            <a:avLst/>
          </a:prstGeom>
          <a:solidFill>
            <a:srgbClr val="FF4757"/>
          </a:solidFill>
          <a:ln w="12700">
            <a:solidFill>
              <a:srgbClr val="FF4757"/>
            </a:solidFill>
            <a:prstDash val="solid"/>
          </a:ln>
        </p:spPr>
        <p:txBody>
          <a:bodyPr/>
          <a:p/>
        </p:txBody>
      </p:sp>
      <p:sp>
        <p:nvSpPr>
          <p:cNvPr id="26" name="Text 24"/>
          <p:cNvSpPr/>
          <p:nvPr/>
        </p:nvSpPr>
        <p:spPr>
          <a:xfrm>
            <a:off x="8321040" y="3172968"/>
            <a:ext cx="3108960" cy="411480"/>
          </a:xfrm>
          <a:prstGeom prst="rect">
            <a:avLst/>
          </a:prstGeom>
          <a:noFill/>
          <a:ln/>
        </p:spPr>
        <p:txBody>
          <a:bodyPr wrap="square" lIns="0" tIns="0" rIns="0" bIns="0" rtlCol="0" anchor="t"/>
          <a:lstStyle/>
          <a:p>
            <a:pPr indent="0" marL="0">
              <a:buNone/>
            </a:pPr>
            <a:r>
              <a:rPr lang="en-US" sz="1700" b="1" dirty="0">
                <a:solidFill>
                  <a:srgbClr val="FF4757"/>
                </a:solidFill>
                <a:latin typeface="Palatino Linotype" pitchFamily="34" charset="0"/>
                <a:ea typeface="Palatino Linotype" pitchFamily="34" charset="-122"/>
                <a:cs typeface="Palatino Linotype" pitchFamily="34" charset="-120"/>
              </a:rPr>
              <a:t>Diseminarea și utilizarea</a:t>
            </a:r>
            <a:endParaRPr lang="en-US" sz="1700" dirty="0"/>
          </a:p>
        </p:txBody>
      </p:sp>
      <p:sp>
        <p:nvSpPr>
          <p:cNvPr id="27" name="Text 25"/>
          <p:cNvSpPr/>
          <p:nvPr/>
        </p:nvSpPr>
        <p:spPr>
          <a:xfrm>
            <a:off x="8321040" y="3584448"/>
            <a:ext cx="3108960" cy="7315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cine le citește și ce decide</a:t>
            </a:r>
            <a:endParaRPr lang="en-US" sz="1500" dirty="0"/>
          </a:p>
        </p:txBody>
      </p:sp>
      <p:sp>
        <p:nvSpPr>
          <p:cNvPr id="28" name="Text 26"/>
          <p:cNvSpPr/>
          <p:nvPr/>
        </p:nvSpPr>
        <p:spPr>
          <a:xfrm>
            <a:off x="594360" y="4617720"/>
            <a:ext cx="10972800" cy="41148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Pachetul actual al OMS, SCORE (2020), pornește de la acest cadru.</a:t>
            </a:r>
            <a:endParaRPr lang="en-US" sz="1600" dirty="0"/>
          </a:p>
        </p:txBody>
      </p:sp>
      <p:sp>
        <p:nvSpPr>
          <p:cNvPr id="29" name="Text 27"/>
          <p:cNvSpPr/>
          <p:nvPr/>
        </p:nvSpPr>
        <p:spPr>
          <a:xfrm>
            <a:off x="594360" y="5166360"/>
            <a:ext cx="10972800" cy="64008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O cifră pe care nu o folosește nimeni este doar o cheltuială.</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NICIO SURSĂ NU VEDE TOT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Șase surse, șase feluri de a vedea</a:t>
            </a:r>
            <a:endParaRPr lang="en-US" sz="3000" dirty="0"/>
          </a:p>
        </p:txBody>
      </p:sp>
      <p:sp>
        <p:nvSpPr>
          <p:cNvPr id="4" name="Shape 2"/>
          <p:cNvSpPr/>
          <p:nvPr/>
        </p:nvSpPr>
        <p:spPr>
          <a:xfrm>
            <a:off x="594360" y="1554480"/>
            <a:ext cx="3520440" cy="1874520"/>
          </a:xfrm>
          <a:prstGeom prst="roundRect">
            <a:avLst>
              <a:gd name="adj" fmla="val 4390"/>
            </a:avLst>
          </a:prstGeom>
          <a:solidFill>
            <a:srgbClr val="ECEAE4"/>
          </a:solidFill>
          <a:ln w="12700">
            <a:solidFill>
              <a:srgbClr val="ECEAE4"/>
            </a:solidFill>
            <a:prstDash val="solid"/>
          </a:ln>
        </p:spPr>
        <p:txBody>
          <a:bodyPr/>
          <a:p/>
        </p:txBody>
      </p:sp>
      <p:sp>
        <p:nvSpPr>
          <p:cNvPr id="5" name="Shape 3"/>
          <p:cNvSpPr/>
          <p:nvPr/>
        </p:nvSpPr>
        <p:spPr>
          <a:xfrm>
            <a:off x="594360" y="1554480"/>
            <a:ext cx="82296" cy="1874520"/>
          </a:xfrm>
          <a:prstGeom prst="rect">
            <a:avLst/>
          </a:prstGeom>
          <a:solidFill>
            <a:srgbClr val="0E7C6B"/>
          </a:solidFill>
          <a:ln w="12700">
            <a:solidFill>
              <a:srgbClr val="0E7C6B"/>
            </a:solidFill>
            <a:prstDash val="solid"/>
          </a:ln>
        </p:spPr>
        <p:txBody>
          <a:bodyPr/>
          <a:p/>
        </p:txBody>
      </p:sp>
      <p:sp>
        <p:nvSpPr>
          <p:cNvPr id="6" name="Text 4"/>
          <p:cNvSpPr/>
          <p:nvPr/>
        </p:nvSpPr>
        <p:spPr>
          <a:xfrm>
            <a:off x="868680" y="1691640"/>
            <a:ext cx="3108960" cy="4572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Statisticile vitale</a:t>
            </a:r>
            <a:endParaRPr lang="en-US" sz="1700" dirty="0"/>
          </a:p>
        </p:txBody>
      </p:sp>
      <p:sp>
        <p:nvSpPr>
          <p:cNvPr id="7" name="Text 5"/>
          <p:cNvSpPr/>
          <p:nvPr/>
        </p:nvSpPr>
        <p:spPr>
          <a:xfrm>
            <a:off x="868680" y="2194560"/>
            <a:ext cx="310896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nașteri, decese și cauzele lor</a:t>
            </a:r>
            <a:endParaRPr lang="en-US" sz="1500" dirty="0"/>
          </a:p>
        </p:txBody>
      </p:sp>
      <p:sp>
        <p:nvSpPr>
          <p:cNvPr id="8" name="Shape 6"/>
          <p:cNvSpPr/>
          <p:nvPr/>
        </p:nvSpPr>
        <p:spPr>
          <a:xfrm>
            <a:off x="4343400" y="1554480"/>
            <a:ext cx="3520440" cy="1874520"/>
          </a:xfrm>
          <a:prstGeom prst="roundRect">
            <a:avLst>
              <a:gd name="adj" fmla="val 4390"/>
            </a:avLst>
          </a:prstGeom>
          <a:solidFill>
            <a:srgbClr val="F9F8F5"/>
          </a:solidFill>
          <a:ln w="12700">
            <a:solidFill>
              <a:srgbClr val="F9F8F5"/>
            </a:solidFill>
            <a:prstDash val="solid"/>
          </a:ln>
        </p:spPr>
        <p:txBody>
          <a:bodyPr/>
          <a:p/>
        </p:txBody>
      </p:sp>
      <p:sp>
        <p:nvSpPr>
          <p:cNvPr id="9" name="Shape 7"/>
          <p:cNvSpPr/>
          <p:nvPr/>
        </p:nvSpPr>
        <p:spPr>
          <a:xfrm>
            <a:off x="4343400" y="1554480"/>
            <a:ext cx="82296" cy="1874520"/>
          </a:xfrm>
          <a:prstGeom prst="rect">
            <a:avLst/>
          </a:prstGeom>
          <a:solidFill>
            <a:srgbClr val="0E7C6B"/>
          </a:solidFill>
          <a:ln w="12700">
            <a:solidFill>
              <a:srgbClr val="0E7C6B"/>
            </a:solidFill>
            <a:prstDash val="solid"/>
          </a:ln>
        </p:spPr>
        <p:txBody>
          <a:bodyPr/>
          <a:p/>
        </p:txBody>
      </p:sp>
      <p:sp>
        <p:nvSpPr>
          <p:cNvPr id="10" name="Text 8"/>
          <p:cNvSpPr/>
          <p:nvPr/>
        </p:nvSpPr>
        <p:spPr>
          <a:xfrm>
            <a:off x="4617720" y="1691640"/>
            <a:ext cx="3108960" cy="4572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Supravegherea epidemiologică</a:t>
            </a:r>
            <a:endParaRPr lang="en-US" sz="1700" dirty="0"/>
          </a:p>
        </p:txBody>
      </p:sp>
      <p:sp>
        <p:nvSpPr>
          <p:cNvPr id="11" name="Text 9"/>
          <p:cNvSpPr/>
          <p:nvPr/>
        </p:nvSpPr>
        <p:spPr>
          <a:xfrm>
            <a:off x="4617720" y="2194560"/>
            <a:ext cx="310896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bolile, mai ales transmisibile; portalul european EpiPulse</a:t>
            </a:r>
            <a:endParaRPr lang="en-US" sz="1500" dirty="0"/>
          </a:p>
        </p:txBody>
      </p:sp>
      <p:sp>
        <p:nvSpPr>
          <p:cNvPr id="12" name="Shape 10"/>
          <p:cNvSpPr/>
          <p:nvPr/>
        </p:nvSpPr>
        <p:spPr>
          <a:xfrm>
            <a:off x="8092440" y="1554480"/>
            <a:ext cx="3520440" cy="1874520"/>
          </a:xfrm>
          <a:prstGeom prst="roundRect">
            <a:avLst>
              <a:gd name="adj" fmla="val 4390"/>
            </a:avLst>
          </a:prstGeom>
          <a:solidFill>
            <a:srgbClr val="ECEAE4"/>
          </a:solidFill>
          <a:ln w="12700">
            <a:solidFill>
              <a:srgbClr val="ECEAE4"/>
            </a:solidFill>
            <a:prstDash val="solid"/>
          </a:ln>
        </p:spPr>
        <p:txBody>
          <a:bodyPr/>
          <a:p/>
        </p:txBody>
      </p:sp>
      <p:sp>
        <p:nvSpPr>
          <p:cNvPr id="13" name="Shape 11"/>
          <p:cNvSpPr/>
          <p:nvPr/>
        </p:nvSpPr>
        <p:spPr>
          <a:xfrm>
            <a:off x="8092440" y="1554480"/>
            <a:ext cx="82296" cy="1874520"/>
          </a:xfrm>
          <a:prstGeom prst="rect">
            <a:avLst/>
          </a:prstGeom>
          <a:solidFill>
            <a:srgbClr val="0E7C6B"/>
          </a:solidFill>
          <a:ln w="12700">
            <a:solidFill>
              <a:srgbClr val="0E7C6B"/>
            </a:solidFill>
            <a:prstDash val="solid"/>
          </a:ln>
        </p:spPr>
        <p:txBody>
          <a:bodyPr/>
          <a:p/>
        </p:txBody>
      </p:sp>
      <p:sp>
        <p:nvSpPr>
          <p:cNvPr id="14" name="Text 12"/>
          <p:cNvSpPr/>
          <p:nvPr/>
        </p:nvSpPr>
        <p:spPr>
          <a:xfrm>
            <a:off x="8366760" y="1691640"/>
            <a:ext cx="3108960" cy="4572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Registrele de boli</a:t>
            </a:r>
            <a:endParaRPr lang="en-US" sz="1700" dirty="0"/>
          </a:p>
        </p:txBody>
      </p:sp>
      <p:sp>
        <p:nvSpPr>
          <p:cNvPr id="15" name="Text 13"/>
          <p:cNvSpPr/>
          <p:nvPr/>
        </p:nvSpPr>
        <p:spPr>
          <a:xfrm>
            <a:off x="8366760" y="2194560"/>
            <a:ext cx="310896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toate cazurile unei boli, de pildă cancerul</a:t>
            </a:r>
            <a:endParaRPr lang="en-US" sz="1500" dirty="0"/>
          </a:p>
        </p:txBody>
      </p:sp>
      <p:sp>
        <p:nvSpPr>
          <p:cNvPr id="16" name="Shape 14"/>
          <p:cNvSpPr/>
          <p:nvPr/>
        </p:nvSpPr>
        <p:spPr>
          <a:xfrm>
            <a:off x="594360" y="3611880"/>
            <a:ext cx="3520440" cy="1874520"/>
          </a:xfrm>
          <a:prstGeom prst="roundRect">
            <a:avLst>
              <a:gd name="adj" fmla="val 4390"/>
            </a:avLst>
          </a:prstGeom>
          <a:solidFill>
            <a:srgbClr val="F9F8F5"/>
          </a:solidFill>
          <a:ln w="12700">
            <a:solidFill>
              <a:srgbClr val="F9F8F5"/>
            </a:solidFill>
            <a:prstDash val="solid"/>
          </a:ln>
        </p:spPr>
        <p:txBody>
          <a:bodyPr/>
          <a:p/>
        </p:txBody>
      </p:sp>
      <p:sp>
        <p:nvSpPr>
          <p:cNvPr id="17" name="Shape 15"/>
          <p:cNvSpPr/>
          <p:nvPr/>
        </p:nvSpPr>
        <p:spPr>
          <a:xfrm>
            <a:off x="594360" y="3611880"/>
            <a:ext cx="82296" cy="1874520"/>
          </a:xfrm>
          <a:prstGeom prst="rect">
            <a:avLst/>
          </a:prstGeom>
          <a:solidFill>
            <a:srgbClr val="0E7C6B"/>
          </a:solidFill>
          <a:ln w="12700">
            <a:solidFill>
              <a:srgbClr val="0E7C6B"/>
            </a:solidFill>
            <a:prstDash val="solid"/>
          </a:ln>
        </p:spPr>
        <p:txBody>
          <a:bodyPr/>
          <a:p/>
        </p:txBody>
      </p:sp>
      <p:sp>
        <p:nvSpPr>
          <p:cNvPr id="18" name="Text 16"/>
          <p:cNvSpPr/>
          <p:nvPr/>
        </p:nvSpPr>
        <p:spPr>
          <a:xfrm>
            <a:off x="868680" y="3749040"/>
            <a:ext cx="3108960" cy="4572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Datele din servicii</a:t>
            </a:r>
            <a:endParaRPr lang="en-US" sz="1700" dirty="0"/>
          </a:p>
        </p:txBody>
      </p:sp>
      <p:sp>
        <p:nvSpPr>
          <p:cNvPr id="19" name="Text 17"/>
          <p:cNvSpPr/>
          <p:nvPr/>
        </p:nvSpPr>
        <p:spPr>
          <a:xfrm>
            <a:off x="868680" y="4251960"/>
            <a:ext cx="310896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raportate pentru plată; nu văd pe cine nu ajunge la medic</a:t>
            </a:r>
            <a:endParaRPr lang="en-US" sz="1500" dirty="0"/>
          </a:p>
        </p:txBody>
      </p:sp>
      <p:sp>
        <p:nvSpPr>
          <p:cNvPr id="20" name="Shape 18"/>
          <p:cNvSpPr/>
          <p:nvPr/>
        </p:nvSpPr>
        <p:spPr>
          <a:xfrm>
            <a:off x="4343400" y="3611880"/>
            <a:ext cx="3520440" cy="1874520"/>
          </a:xfrm>
          <a:prstGeom prst="roundRect">
            <a:avLst>
              <a:gd name="adj" fmla="val 4390"/>
            </a:avLst>
          </a:prstGeom>
          <a:solidFill>
            <a:srgbClr val="ECEAE4"/>
          </a:solidFill>
          <a:ln w="12700">
            <a:solidFill>
              <a:srgbClr val="ECEAE4"/>
            </a:solidFill>
            <a:prstDash val="solid"/>
          </a:ln>
        </p:spPr>
        <p:txBody>
          <a:bodyPr/>
          <a:p/>
        </p:txBody>
      </p:sp>
      <p:sp>
        <p:nvSpPr>
          <p:cNvPr id="21" name="Shape 19"/>
          <p:cNvSpPr/>
          <p:nvPr/>
        </p:nvSpPr>
        <p:spPr>
          <a:xfrm>
            <a:off x="4343400" y="3611880"/>
            <a:ext cx="82296" cy="1874520"/>
          </a:xfrm>
          <a:prstGeom prst="rect">
            <a:avLst/>
          </a:prstGeom>
          <a:solidFill>
            <a:srgbClr val="0E7C6B"/>
          </a:solidFill>
          <a:ln w="12700">
            <a:solidFill>
              <a:srgbClr val="0E7C6B"/>
            </a:solidFill>
            <a:prstDash val="solid"/>
          </a:ln>
        </p:spPr>
        <p:txBody>
          <a:bodyPr/>
          <a:p/>
        </p:txBody>
      </p:sp>
      <p:sp>
        <p:nvSpPr>
          <p:cNvPr id="22" name="Text 20"/>
          <p:cNvSpPr/>
          <p:nvPr/>
        </p:nvSpPr>
        <p:spPr>
          <a:xfrm>
            <a:off x="4617720" y="3749040"/>
            <a:ext cx="3108960" cy="4572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Sondajele de sănătate</a:t>
            </a:r>
            <a:endParaRPr lang="en-US" sz="1700" dirty="0"/>
          </a:p>
        </p:txBody>
      </p:sp>
      <p:sp>
        <p:nvSpPr>
          <p:cNvPr id="23" name="Text 21"/>
          <p:cNvSpPr/>
          <p:nvPr/>
        </p:nvSpPr>
        <p:spPr>
          <a:xfrm>
            <a:off x="4617720" y="4251960"/>
            <a:ext cx="310896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întreabă direct un eșantion; bun pentru comportamente</a:t>
            </a:r>
            <a:endParaRPr lang="en-US" sz="1500" dirty="0"/>
          </a:p>
        </p:txBody>
      </p:sp>
      <p:sp>
        <p:nvSpPr>
          <p:cNvPr id="24" name="Shape 22"/>
          <p:cNvSpPr/>
          <p:nvPr/>
        </p:nvSpPr>
        <p:spPr>
          <a:xfrm>
            <a:off x="8092440" y="3611880"/>
            <a:ext cx="3520440" cy="1874520"/>
          </a:xfrm>
          <a:prstGeom prst="roundRect">
            <a:avLst>
              <a:gd name="adj" fmla="val 4390"/>
            </a:avLst>
          </a:prstGeom>
          <a:solidFill>
            <a:srgbClr val="F9F8F5"/>
          </a:solidFill>
          <a:ln w="12700">
            <a:solidFill>
              <a:srgbClr val="F9F8F5"/>
            </a:solidFill>
            <a:prstDash val="solid"/>
          </a:ln>
        </p:spPr>
        <p:txBody>
          <a:bodyPr/>
          <a:p/>
        </p:txBody>
      </p:sp>
      <p:sp>
        <p:nvSpPr>
          <p:cNvPr id="25" name="Shape 23"/>
          <p:cNvSpPr/>
          <p:nvPr/>
        </p:nvSpPr>
        <p:spPr>
          <a:xfrm>
            <a:off x="8092440" y="3611880"/>
            <a:ext cx="82296" cy="1874520"/>
          </a:xfrm>
          <a:prstGeom prst="rect">
            <a:avLst/>
          </a:prstGeom>
          <a:solidFill>
            <a:srgbClr val="0E7C6B"/>
          </a:solidFill>
          <a:ln w="12700">
            <a:solidFill>
              <a:srgbClr val="0E7C6B"/>
            </a:solidFill>
            <a:prstDash val="solid"/>
          </a:ln>
        </p:spPr>
        <p:txBody>
          <a:bodyPr/>
          <a:p/>
        </p:txBody>
      </p:sp>
      <p:sp>
        <p:nvSpPr>
          <p:cNvPr id="26" name="Text 24"/>
          <p:cNvSpPr/>
          <p:nvPr/>
        </p:nvSpPr>
        <p:spPr>
          <a:xfrm>
            <a:off x="8366760" y="3749040"/>
            <a:ext cx="3108960" cy="4572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Datele de mediu și sociale</a:t>
            </a:r>
            <a:endParaRPr lang="en-US" sz="1700" dirty="0"/>
          </a:p>
        </p:txBody>
      </p:sp>
      <p:sp>
        <p:nvSpPr>
          <p:cNvPr id="27" name="Text 25"/>
          <p:cNvSpPr/>
          <p:nvPr/>
        </p:nvSpPr>
        <p:spPr>
          <a:xfrm>
            <a:off x="8366760" y="4251960"/>
            <a:ext cx="310896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aerul, apa, locuința, venitul, educația</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MENTIMETER</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DOUĂ MINUTE CU COLEGUL DE BANCĂ</a:t>
            </a:r>
            <a:endParaRPr lang="en-US" sz="1300" dirty="0"/>
          </a:p>
        </p:txBody>
      </p:sp>
      <p:sp>
        <p:nvSpPr>
          <p:cNvPr id="5" name="Text 3"/>
          <p:cNvSpPr/>
          <p:nvPr/>
        </p:nvSpPr>
        <p:spPr>
          <a:xfrm>
            <a:off x="594360" y="1097280"/>
            <a:ext cx="10972800" cy="1737360"/>
          </a:xfrm>
          <a:prstGeom prst="rect">
            <a:avLst/>
          </a:prstGeom>
          <a:noFill/>
          <a:ln/>
        </p:spPr>
        <p:txBody>
          <a:bodyPr wrap="square" lIns="0" tIns="0" rIns="0" bIns="0" rtlCol="0" anchor="ctr"/>
          <a:lstStyle/>
          <a:p>
            <a:pPr indent="0" marL="0">
              <a:buNone/>
            </a:pPr>
            <a:r>
              <a:rPr lang="en-US" sz="4200" b="1" dirty="0">
                <a:solidFill>
                  <a:srgbClr val="FFFFFF"/>
                </a:solidFill>
                <a:latin typeface="Palatino Linotype" pitchFamily="34" charset="0"/>
                <a:ea typeface="Palatino Linotype" pitchFamily="34" charset="-122"/>
                <a:cs typeface="Palatino Linotype" pitchFamily="34" charset="-120"/>
              </a:rPr>
              <a:t>Câți studenți din orașul vostru fumează zilnic?</a:t>
            </a:r>
            <a:endParaRPr lang="en-US" sz="4200" dirty="0"/>
          </a:p>
        </p:txBody>
      </p:sp>
      <p:sp>
        <p:nvSpPr>
          <p:cNvPr id="6" name="Text 4"/>
          <p:cNvSpPr/>
          <p:nvPr/>
        </p:nvSpPr>
        <p:spPr>
          <a:xfrm>
            <a:off x="594360" y="3108960"/>
            <a:ext cx="10515600" cy="1280160"/>
          </a:xfrm>
          <a:prstGeom prst="rect">
            <a:avLst/>
          </a:prstGeom>
          <a:noFill/>
          <a:ln/>
        </p:spPr>
        <p:txBody>
          <a:bodyPr wrap="square" lIns="0" tIns="0" rIns="0" bIns="0" rtlCol="0" anchor="t"/>
          <a:lstStyle/>
          <a:p>
            <a:pPr indent="0" marL="0">
              <a:buNone/>
            </a:pPr>
            <a:r>
              <a:rPr lang="en-US" sz="2200" dirty="0">
                <a:solidFill>
                  <a:srgbClr val="E6E8EF"/>
                </a:solidFill>
                <a:latin typeface="Palatino Linotype" pitchFamily="34" charset="0"/>
                <a:ea typeface="Palatino Linotype" pitchFamily="34" charset="-122"/>
                <a:cs typeface="Palatino Linotype" pitchFamily="34" charset="-120"/>
              </a:rPr>
              <a:t>Care dintre cele șase surse vă dă răspunsul și de ce nu ar merge celelalte? Scrieți pe telefon numele sursei și un singur motiv.</a:t>
            </a:r>
            <a:endParaRPr lang="en-US" sz="2200" dirty="0"/>
          </a:p>
        </p:txBody>
      </p:sp>
      <p:sp>
        <p:nvSpPr>
          <p:cNvPr id="7" name="Text 5"/>
          <p:cNvSpPr/>
          <p:nvPr/>
        </p:nvSpPr>
        <p:spPr>
          <a:xfrm>
            <a:off x="594360" y="5120640"/>
            <a:ext cx="7680960" cy="365760"/>
          </a:xfrm>
          <a:prstGeom prst="rect">
            <a:avLst/>
          </a:prstGeom>
          <a:noFill/>
          <a:ln/>
        </p:spPr>
        <p:txBody>
          <a:bodyPr wrap="square" lIns="0" tIns="0" rIns="0" bIns="0" rtlCol="0" anchor="t"/>
          <a:lstStyle/>
          <a:p>
            <a:pPr indent="0" marL="0">
              <a:buNone/>
            </a:pPr>
            <a:r>
              <a:rPr lang="en-US" sz="1600" b="1" i="1" dirty="0">
                <a:solidFill>
                  <a:srgbClr val="27D3BE"/>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CEL MAI BUN: SONDAJUL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Întrebarea alege sursa, nu invers</a:t>
            </a:r>
            <a:endParaRPr lang="en-US" sz="3200" dirty="0"/>
          </a:p>
        </p:txBody>
      </p:sp>
      <p:sp>
        <p:nvSpPr>
          <p:cNvPr id="4" name="Text 2"/>
          <p:cNvSpPr/>
          <p:nvPr/>
        </p:nvSpPr>
        <p:spPr>
          <a:xfrm>
            <a:off x="594360" y="1554480"/>
            <a:ext cx="10972800" cy="4572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Fumatul în sine nu se înregistrează nicăieri. Nu este:</a:t>
            </a:r>
            <a:endParaRPr lang="en-US" sz="1900" dirty="0"/>
          </a:p>
        </p:txBody>
      </p:sp>
      <p:sp>
        <p:nvSpPr>
          <p:cNvPr id="5" name="Shape 3"/>
          <p:cNvSpPr/>
          <p:nvPr/>
        </p:nvSpPr>
        <p:spPr>
          <a:xfrm>
            <a:off x="594360" y="2194560"/>
            <a:ext cx="3520440" cy="1188720"/>
          </a:xfrm>
          <a:prstGeom prst="roundRect">
            <a:avLst>
              <a:gd name="adj" fmla="val 6923"/>
            </a:avLst>
          </a:prstGeom>
          <a:solidFill>
            <a:srgbClr val="ECEAE4"/>
          </a:solidFill>
          <a:ln w="12700">
            <a:solidFill>
              <a:srgbClr val="ECEAE4"/>
            </a:solidFill>
            <a:prstDash val="solid"/>
          </a:ln>
        </p:spPr>
        <p:txBody>
          <a:bodyPr/>
          <a:p/>
        </p:txBody>
      </p:sp>
      <p:sp>
        <p:nvSpPr>
          <p:cNvPr id="6" name="Text 4"/>
          <p:cNvSpPr/>
          <p:nvPr/>
        </p:nvSpPr>
        <p:spPr>
          <a:xfrm>
            <a:off x="777240" y="2194560"/>
            <a:ext cx="3154680" cy="1188720"/>
          </a:xfrm>
          <a:prstGeom prst="rect">
            <a:avLst/>
          </a:prstGeom>
          <a:noFill/>
          <a:ln/>
        </p:spPr>
        <p:txBody>
          <a:bodyPr wrap="square" lIns="0" tIns="0" rIns="0" bIns="0" rtlCol="0" anchor="ctr"/>
          <a:lstStyle/>
          <a:p>
            <a:pPr algn="ctr" indent="0" marL="0">
              <a:buNone/>
            </a:pPr>
            <a:r>
              <a:rPr lang="en-US" sz="2200" b="1" dirty="0">
                <a:solidFill>
                  <a:srgbClr val="B02532"/>
                </a:solidFill>
                <a:latin typeface="Palatino Linotype" pitchFamily="34" charset="0"/>
                <a:ea typeface="Palatino Linotype" pitchFamily="34" charset="-122"/>
                <a:cs typeface="Palatino Linotype" pitchFamily="34" charset="-120"/>
              </a:rPr>
              <a:t>un deces</a:t>
            </a:r>
            <a:endParaRPr lang="en-US" sz="2200" dirty="0"/>
          </a:p>
        </p:txBody>
      </p:sp>
      <p:sp>
        <p:nvSpPr>
          <p:cNvPr id="7" name="Shape 5"/>
          <p:cNvSpPr/>
          <p:nvPr/>
        </p:nvSpPr>
        <p:spPr>
          <a:xfrm>
            <a:off x="4343400" y="2194560"/>
            <a:ext cx="3520440" cy="1188720"/>
          </a:xfrm>
          <a:prstGeom prst="roundRect">
            <a:avLst>
              <a:gd name="adj" fmla="val 6923"/>
            </a:avLst>
          </a:prstGeom>
          <a:solidFill>
            <a:srgbClr val="ECEAE4"/>
          </a:solidFill>
          <a:ln w="12700">
            <a:solidFill>
              <a:srgbClr val="ECEAE4"/>
            </a:solidFill>
            <a:prstDash val="solid"/>
          </a:ln>
        </p:spPr>
        <p:txBody>
          <a:bodyPr/>
          <a:p/>
        </p:txBody>
      </p:sp>
      <p:sp>
        <p:nvSpPr>
          <p:cNvPr id="8" name="Text 6"/>
          <p:cNvSpPr/>
          <p:nvPr/>
        </p:nvSpPr>
        <p:spPr>
          <a:xfrm>
            <a:off x="4526280" y="2194560"/>
            <a:ext cx="3154680" cy="1188720"/>
          </a:xfrm>
          <a:prstGeom prst="rect">
            <a:avLst/>
          </a:prstGeom>
          <a:noFill/>
          <a:ln/>
        </p:spPr>
        <p:txBody>
          <a:bodyPr wrap="square" lIns="0" tIns="0" rIns="0" bIns="0" rtlCol="0" anchor="ctr"/>
          <a:lstStyle/>
          <a:p>
            <a:pPr algn="ctr" indent="0" marL="0">
              <a:buNone/>
            </a:pPr>
            <a:r>
              <a:rPr lang="en-US" sz="2200" b="1" dirty="0">
                <a:solidFill>
                  <a:srgbClr val="B02532"/>
                </a:solidFill>
                <a:latin typeface="Palatino Linotype" pitchFamily="34" charset="0"/>
                <a:ea typeface="Palatino Linotype" pitchFamily="34" charset="-122"/>
                <a:cs typeface="Palatino Linotype" pitchFamily="34" charset="-120"/>
              </a:rPr>
              <a:t>o boală de declarat</a:t>
            </a:r>
            <a:endParaRPr lang="en-US" sz="2200" dirty="0"/>
          </a:p>
        </p:txBody>
      </p:sp>
      <p:sp>
        <p:nvSpPr>
          <p:cNvPr id="9" name="Shape 7"/>
          <p:cNvSpPr/>
          <p:nvPr/>
        </p:nvSpPr>
        <p:spPr>
          <a:xfrm>
            <a:off x="8092440" y="2194560"/>
            <a:ext cx="3520440" cy="1188720"/>
          </a:xfrm>
          <a:prstGeom prst="roundRect">
            <a:avLst>
              <a:gd name="adj" fmla="val 6923"/>
            </a:avLst>
          </a:prstGeom>
          <a:solidFill>
            <a:srgbClr val="ECEAE4"/>
          </a:solidFill>
          <a:ln w="12700">
            <a:solidFill>
              <a:srgbClr val="ECEAE4"/>
            </a:solidFill>
            <a:prstDash val="solid"/>
          </a:ln>
        </p:spPr>
        <p:txBody>
          <a:bodyPr/>
          <a:p/>
        </p:txBody>
      </p:sp>
      <p:sp>
        <p:nvSpPr>
          <p:cNvPr id="10" name="Text 8"/>
          <p:cNvSpPr/>
          <p:nvPr/>
        </p:nvSpPr>
        <p:spPr>
          <a:xfrm>
            <a:off x="8275320" y="2194560"/>
            <a:ext cx="3154680" cy="1188720"/>
          </a:xfrm>
          <a:prstGeom prst="rect">
            <a:avLst/>
          </a:prstGeom>
          <a:noFill/>
          <a:ln/>
        </p:spPr>
        <p:txBody>
          <a:bodyPr wrap="square" lIns="0" tIns="0" rIns="0" bIns="0" rtlCol="0" anchor="ctr"/>
          <a:lstStyle/>
          <a:p>
            <a:pPr algn="ctr" indent="0" marL="0">
              <a:buNone/>
            </a:pPr>
            <a:r>
              <a:rPr lang="en-US" sz="2200" b="1" dirty="0">
                <a:solidFill>
                  <a:srgbClr val="B02532"/>
                </a:solidFill>
                <a:latin typeface="Palatino Linotype" pitchFamily="34" charset="0"/>
                <a:ea typeface="Palatino Linotype" pitchFamily="34" charset="-122"/>
                <a:cs typeface="Palatino Linotype" pitchFamily="34" charset="-120"/>
              </a:rPr>
              <a:t>un serviciu decontat</a:t>
            </a:r>
            <a:endParaRPr lang="en-US" sz="2200" dirty="0"/>
          </a:p>
        </p:txBody>
      </p:sp>
      <p:sp>
        <p:nvSpPr>
          <p:cNvPr id="11" name="Text 9"/>
          <p:cNvSpPr/>
          <p:nvPr/>
        </p:nvSpPr>
        <p:spPr>
          <a:xfrm>
            <a:off x="594360" y="3703320"/>
            <a:ext cx="10972800" cy="82296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În datele din servicii, fumatul apare abia când a produs o boală, adică prea târziu pentru prevenție.</a:t>
            </a:r>
            <a:endParaRPr lang="en-US" sz="1900" dirty="0"/>
          </a:p>
        </p:txBody>
      </p:sp>
      <p:sp>
        <p:nvSpPr>
          <p:cNvPr id="12" name="Shape 10"/>
          <p:cNvSpPr/>
          <p:nvPr/>
        </p:nvSpPr>
        <p:spPr>
          <a:xfrm>
            <a:off x="594360" y="4709160"/>
            <a:ext cx="10972800" cy="1005840"/>
          </a:xfrm>
          <a:prstGeom prst="roundRect">
            <a:avLst>
              <a:gd name="adj" fmla="val 8182"/>
            </a:avLst>
          </a:prstGeom>
          <a:solidFill>
            <a:srgbClr val="F9F8F5"/>
          </a:solidFill>
          <a:ln w="12700">
            <a:solidFill>
              <a:srgbClr val="F9F8F5"/>
            </a:solidFill>
            <a:prstDash val="solid"/>
          </a:ln>
        </p:spPr>
        <p:txBody>
          <a:bodyPr/>
          <a:p/>
        </p:txBody>
      </p:sp>
      <p:sp>
        <p:nvSpPr>
          <p:cNvPr id="13" name="Shape 11"/>
          <p:cNvSpPr/>
          <p:nvPr/>
        </p:nvSpPr>
        <p:spPr>
          <a:xfrm>
            <a:off x="594360" y="4709160"/>
            <a:ext cx="91440" cy="1005840"/>
          </a:xfrm>
          <a:prstGeom prst="rect">
            <a:avLst/>
          </a:prstGeom>
          <a:solidFill>
            <a:srgbClr val="0E7C6B"/>
          </a:solidFill>
          <a:ln w="12700">
            <a:solidFill>
              <a:srgbClr val="0E7C6B"/>
            </a:solidFill>
            <a:prstDash val="solid"/>
          </a:ln>
        </p:spPr>
        <p:txBody>
          <a:bodyPr/>
          <a:p/>
        </p:txBody>
      </p:sp>
      <p:sp>
        <p:nvSpPr>
          <p:cNvPr id="14" name="Text 12"/>
          <p:cNvSpPr/>
          <p:nvPr/>
        </p:nvSpPr>
        <p:spPr>
          <a:xfrm>
            <a:off x="914400" y="4709160"/>
            <a:ext cx="10424160" cy="1005840"/>
          </a:xfrm>
          <a:prstGeom prst="rect">
            <a:avLst/>
          </a:prstGeom>
          <a:noFill/>
          <a:ln/>
        </p:spPr>
        <p:txBody>
          <a:bodyPr wrap="square" lIns="0" tIns="0" rIns="0" bIns="0" rtlCol="0" anchor="ctr"/>
          <a:lstStyle/>
          <a:p>
            <a:pPr indent="0" marL="0">
              <a:buNone/>
            </a:pPr>
            <a:r>
              <a:rPr lang="en-US" sz="1900" dirty="0">
                <a:solidFill>
                  <a:srgbClr val="0E7C6B"/>
                </a:solidFill>
                <a:latin typeface="Palatino Linotype" pitchFamily="34" charset="0"/>
                <a:ea typeface="Palatino Linotype" pitchFamily="34" charset="-122"/>
                <a:cs typeface="Palatino Linotype" pitchFamily="34" charset="-120"/>
              </a:rPr>
              <a:t>Sondajul întreabă direct oamenii, deci vede și comportamentele care nu ajung în niciun cabinet.</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CINE FACE CE ÎN ROMÂNIA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Instituțiile pe care le veți întâlni des</a:t>
            </a:r>
            <a:endParaRPr lang="en-US" sz="3000" dirty="0"/>
          </a:p>
        </p:txBody>
      </p:sp>
      <p:sp>
        <p:nvSpPr>
          <p:cNvPr id="4" name="Shape 2"/>
          <p:cNvSpPr/>
          <p:nvPr/>
        </p:nvSpPr>
        <p:spPr>
          <a:xfrm>
            <a:off x="594360" y="155448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5" name="Shape 3"/>
          <p:cNvSpPr/>
          <p:nvPr/>
        </p:nvSpPr>
        <p:spPr>
          <a:xfrm>
            <a:off x="594360" y="1554480"/>
            <a:ext cx="82296" cy="731520"/>
          </a:xfrm>
          <a:prstGeom prst="rect">
            <a:avLst/>
          </a:prstGeom>
          <a:solidFill>
            <a:srgbClr val="FF4757"/>
          </a:solidFill>
          <a:ln w="12700">
            <a:solidFill>
              <a:srgbClr val="FF4757"/>
            </a:solidFill>
            <a:prstDash val="solid"/>
          </a:ln>
        </p:spPr>
        <p:txBody>
          <a:bodyPr/>
          <a:p/>
        </p:txBody>
      </p:sp>
      <p:sp>
        <p:nvSpPr>
          <p:cNvPr id="6" name="Text 4"/>
          <p:cNvSpPr/>
          <p:nvPr/>
        </p:nvSpPr>
        <p:spPr>
          <a:xfrm>
            <a:off x="868680" y="1554480"/>
            <a:ext cx="4023360" cy="731520"/>
          </a:xfrm>
          <a:prstGeom prst="rect">
            <a:avLst/>
          </a:prstGeom>
          <a:noFill/>
          <a:ln/>
        </p:spPr>
        <p:txBody>
          <a:bodyPr wrap="square" lIns="0" tIns="0" rIns="0" bIns="0" rtlCol="0" anchor="ctr"/>
          <a:lstStyle/>
          <a:p>
            <a:pPr indent="0" marL="0">
              <a:buNone/>
            </a:pPr>
            <a:r>
              <a:rPr lang="en-US" sz="1600" b="1" dirty="0">
                <a:solidFill>
                  <a:srgbClr val="FF4757"/>
                </a:solidFill>
                <a:latin typeface="Palatino Linotype" pitchFamily="34" charset="0"/>
                <a:ea typeface="Palatino Linotype" pitchFamily="34" charset="-122"/>
                <a:cs typeface="Palatino Linotype" pitchFamily="34" charset="-120"/>
              </a:rPr>
              <a:t>Ministerul Sănătății</a:t>
            </a:r>
            <a:endParaRPr lang="en-US" sz="1600" dirty="0"/>
          </a:p>
        </p:txBody>
      </p:sp>
      <p:sp>
        <p:nvSpPr>
          <p:cNvPr id="7" name="Text 5"/>
          <p:cNvSpPr/>
          <p:nvPr/>
        </p:nvSpPr>
        <p:spPr>
          <a:xfrm>
            <a:off x="4983480" y="1554480"/>
            <a:ext cx="6400800" cy="7315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autoritatea centrală în domeniul sănătății publice</a:t>
            </a:r>
            <a:endParaRPr lang="en-US" sz="1500" dirty="0"/>
          </a:p>
        </p:txBody>
      </p:sp>
      <p:sp>
        <p:nvSpPr>
          <p:cNvPr id="8" name="Shape 6"/>
          <p:cNvSpPr/>
          <p:nvPr/>
        </p:nvSpPr>
        <p:spPr>
          <a:xfrm>
            <a:off x="594360" y="2404872"/>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9" name="Shape 7"/>
          <p:cNvSpPr/>
          <p:nvPr/>
        </p:nvSpPr>
        <p:spPr>
          <a:xfrm>
            <a:off x="594360" y="2404872"/>
            <a:ext cx="82296" cy="731520"/>
          </a:xfrm>
          <a:prstGeom prst="rect">
            <a:avLst/>
          </a:prstGeom>
          <a:solidFill>
            <a:srgbClr val="FFC24B"/>
          </a:solidFill>
          <a:ln w="12700">
            <a:solidFill>
              <a:srgbClr val="FFC24B"/>
            </a:solidFill>
            <a:prstDash val="solid"/>
          </a:ln>
        </p:spPr>
        <p:txBody>
          <a:bodyPr/>
          <a:p/>
        </p:txBody>
      </p:sp>
      <p:sp>
        <p:nvSpPr>
          <p:cNvPr id="10" name="Text 8"/>
          <p:cNvSpPr/>
          <p:nvPr/>
        </p:nvSpPr>
        <p:spPr>
          <a:xfrm>
            <a:off x="868680" y="2404872"/>
            <a:ext cx="4023360" cy="731520"/>
          </a:xfrm>
          <a:prstGeom prst="rect">
            <a:avLst/>
          </a:prstGeom>
          <a:noFill/>
          <a:ln/>
        </p:spPr>
        <p:txBody>
          <a:bodyPr wrap="square" lIns="0" tIns="0" rIns="0" bIns="0" rtlCol="0" anchor="ctr"/>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Direcțiile de sănătate publică</a:t>
            </a:r>
            <a:endParaRPr lang="en-US" sz="1600" dirty="0"/>
          </a:p>
        </p:txBody>
      </p:sp>
      <p:sp>
        <p:nvSpPr>
          <p:cNvPr id="11" name="Text 9"/>
          <p:cNvSpPr/>
          <p:nvPr/>
        </p:nvSpPr>
        <p:spPr>
          <a:xfrm>
            <a:off x="4983480" y="2404872"/>
            <a:ext cx="6400800" cy="7315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serviciile ministerului în fiecare județ și în București</a:t>
            </a:r>
            <a:endParaRPr lang="en-US" sz="1500" dirty="0"/>
          </a:p>
        </p:txBody>
      </p:sp>
      <p:sp>
        <p:nvSpPr>
          <p:cNvPr id="12" name="Shape 10"/>
          <p:cNvSpPr/>
          <p:nvPr/>
        </p:nvSpPr>
        <p:spPr>
          <a:xfrm>
            <a:off x="594360" y="3255264"/>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3" name="Shape 11"/>
          <p:cNvSpPr/>
          <p:nvPr/>
        </p:nvSpPr>
        <p:spPr>
          <a:xfrm>
            <a:off x="594360" y="3255264"/>
            <a:ext cx="82296" cy="731520"/>
          </a:xfrm>
          <a:prstGeom prst="rect">
            <a:avLst/>
          </a:prstGeom>
          <a:solidFill>
            <a:srgbClr val="27D3BE"/>
          </a:solidFill>
          <a:ln w="12700">
            <a:solidFill>
              <a:srgbClr val="27D3BE"/>
            </a:solidFill>
            <a:prstDash val="solid"/>
          </a:ln>
        </p:spPr>
        <p:txBody>
          <a:bodyPr/>
          <a:p/>
        </p:txBody>
      </p:sp>
      <p:sp>
        <p:nvSpPr>
          <p:cNvPr id="14" name="Text 12"/>
          <p:cNvSpPr/>
          <p:nvPr/>
        </p:nvSpPr>
        <p:spPr>
          <a:xfrm>
            <a:off x="868680" y="3255264"/>
            <a:ext cx="4023360" cy="731520"/>
          </a:xfrm>
          <a:prstGeom prst="rect">
            <a:avLst/>
          </a:prstGeom>
          <a:noFill/>
          <a:ln/>
        </p:spPr>
        <p:txBody>
          <a:bodyPr wrap="square" lIns="0" tIns="0" rIns="0" bIns="0" rtlCol="0" anchor="ctr"/>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Institutul Național de Sănătate Publică</a:t>
            </a:r>
            <a:endParaRPr lang="en-US" sz="1600" dirty="0"/>
          </a:p>
        </p:txBody>
      </p:sp>
      <p:sp>
        <p:nvSpPr>
          <p:cNvPr id="15" name="Text 13"/>
          <p:cNvSpPr/>
          <p:nvPr/>
        </p:nvSpPr>
        <p:spPr>
          <a:xfrm>
            <a:off x="4983480" y="3255264"/>
            <a:ext cx="6400800" cy="7315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îndrumarea tehnică și metodologică a rețelei</a:t>
            </a:r>
            <a:endParaRPr lang="en-US" sz="1500" dirty="0"/>
          </a:p>
        </p:txBody>
      </p:sp>
      <p:sp>
        <p:nvSpPr>
          <p:cNvPr id="16" name="Shape 14"/>
          <p:cNvSpPr/>
          <p:nvPr/>
        </p:nvSpPr>
        <p:spPr>
          <a:xfrm>
            <a:off x="594360" y="4105656"/>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7" name="Shape 15"/>
          <p:cNvSpPr/>
          <p:nvPr/>
        </p:nvSpPr>
        <p:spPr>
          <a:xfrm>
            <a:off x="594360" y="4105656"/>
            <a:ext cx="82296" cy="731520"/>
          </a:xfrm>
          <a:prstGeom prst="rect">
            <a:avLst/>
          </a:prstGeom>
          <a:solidFill>
            <a:srgbClr val="9B7EF7"/>
          </a:solidFill>
          <a:ln w="12700">
            <a:solidFill>
              <a:srgbClr val="9B7EF7"/>
            </a:solidFill>
            <a:prstDash val="solid"/>
          </a:ln>
        </p:spPr>
        <p:txBody>
          <a:bodyPr/>
          <a:p/>
        </p:txBody>
      </p:sp>
      <p:sp>
        <p:nvSpPr>
          <p:cNvPr id="18" name="Text 16"/>
          <p:cNvSpPr/>
          <p:nvPr/>
        </p:nvSpPr>
        <p:spPr>
          <a:xfrm>
            <a:off x="868680" y="4105656"/>
            <a:ext cx="4023360" cy="731520"/>
          </a:xfrm>
          <a:prstGeom prst="rect">
            <a:avLst/>
          </a:prstGeom>
          <a:noFill/>
          <a:ln/>
        </p:spPr>
        <p:txBody>
          <a:bodyPr wrap="square" lIns="0" tIns="0" rIns="0" bIns="0" rtlCol="0" anchor="ctr"/>
          <a:lstStyle/>
          <a:p>
            <a:pPr indent="0" marL="0">
              <a:buNone/>
            </a:pPr>
            <a:r>
              <a:rPr lang="en-US" sz="1600" b="1" dirty="0">
                <a:solidFill>
                  <a:srgbClr val="9B7EF7"/>
                </a:solidFill>
                <a:latin typeface="Palatino Linotype" pitchFamily="34" charset="0"/>
                <a:ea typeface="Palatino Linotype" pitchFamily="34" charset="-122"/>
                <a:cs typeface="Palatino Linotype" pitchFamily="34" charset="-120"/>
              </a:rPr>
              <a:t>Institutul Național de Statistică</a:t>
            </a:r>
            <a:endParaRPr lang="en-US" sz="1600" dirty="0"/>
          </a:p>
        </p:txBody>
      </p:sp>
      <p:sp>
        <p:nvSpPr>
          <p:cNvPr id="19" name="Text 17"/>
          <p:cNvSpPr/>
          <p:nvPr/>
        </p:nvSpPr>
        <p:spPr>
          <a:xfrm>
            <a:off x="4983480" y="4105656"/>
            <a:ext cx="6400800" cy="7315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statisticile vitale, între care rata mortalității infantile</a:t>
            </a:r>
            <a:endParaRPr lang="en-US" sz="1500" dirty="0"/>
          </a:p>
        </p:txBody>
      </p:sp>
      <p:sp>
        <p:nvSpPr>
          <p:cNvPr id="20" name="Shape 18"/>
          <p:cNvSpPr/>
          <p:nvPr/>
        </p:nvSpPr>
        <p:spPr>
          <a:xfrm>
            <a:off x="594360" y="4956048"/>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21" name="Shape 19"/>
          <p:cNvSpPr/>
          <p:nvPr/>
        </p:nvSpPr>
        <p:spPr>
          <a:xfrm>
            <a:off x="594360" y="4956048"/>
            <a:ext cx="82296" cy="731520"/>
          </a:xfrm>
          <a:prstGeom prst="rect">
            <a:avLst/>
          </a:prstGeom>
          <a:solidFill>
            <a:srgbClr val="FF8A3D"/>
          </a:solidFill>
          <a:ln w="12700">
            <a:solidFill>
              <a:srgbClr val="FF8A3D"/>
            </a:solidFill>
            <a:prstDash val="solid"/>
          </a:ln>
        </p:spPr>
        <p:txBody>
          <a:bodyPr/>
          <a:p/>
        </p:txBody>
      </p:sp>
      <p:sp>
        <p:nvSpPr>
          <p:cNvPr id="22" name="Text 20"/>
          <p:cNvSpPr/>
          <p:nvPr/>
        </p:nvSpPr>
        <p:spPr>
          <a:xfrm>
            <a:off x="868680" y="4956048"/>
            <a:ext cx="4023360" cy="731520"/>
          </a:xfrm>
          <a:prstGeom prst="rect">
            <a:avLst/>
          </a:prstGeom>
          <a:noFill/>
          <a:ln/>
        </p:spPr>
        <p:txBody>
          <a:bodyPr wrap="square" lIns="0" tIns="0" rIns="0" bIns="0" rtlCol="0" anchor="ctr"/>
          <a:lstStyle/>
          <a:p>
            <a:pPr indent="0" marL="0">
              <a:buNone/>
            </a:pPr>
            <a:r>
              <a:rPr lang="en-US" sz="1600" b="1" dirty="0">
                <a:solidFill>
                  <a:srgbClr val="FF8A3D"/>
                </a:solidFill>
                <a:latin typeface="Palatino Linotype" pitchFamily="34" charset="0"/>
                <a:ea typeface="Palatino Linotype" pitchFamily="34" charset="-122"/>
                <a:cs typeface="Palatino Linotype" pitchFamily="34" charset="-120"/>
              </a:rPr>
              <a:t>Casa Națională de Asigurări de Sănătate</a:t>
            </a:r>
            <a:endParaRPr lang="en-US" sz="1600" dirty="0"/>
          </a:p>
        </p:txBody>
      </p:sp>
      <p:sp>
        <p:nvSpPr>
          <p:cNvPr id="23" name="Text 21"/>
          <p:cNvSpPr/>
          <p:nvPr/>
        </p:nvSpPr>
        <p:spPr>
          <a:xfrm>
            <a:off x="4983480" y="4956048"/>
            <a:ext cx="6400800" cy="7315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aplicațiile de raportare către SIUI; pagina despre dosarul electronic</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VALORI IPOTETICE · EXEMPLU CONSTRUIT PENTRU CURS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Un județ care a „vindecat” jumătate dintre sugari</a:t>
            </a:r>
            <a:endParaRPr lang="en-US" sz="2800" dirty="0"/>
          </a:p>
        </p:txBody>
      </p:sp>
      <p:sp>
        <p:nvSpPr>
          <p:cNvPr id="4" name="Text 2"/>
          <p:cNvSpPr/>
          <p:nvPr/>
        </p:nvSpPr>
        <p:spPr>
          <a:xfrm>
            <a:off x="594360" y="1508760"/>
            <a:ext cx="5852160" cy="365760"/>
          </a:xfrm>
          <a:prstGeom prst="rect">
            <a:avLst/>
          </a:prstGeom>
          <a:noFill/>
          <a:ln/>
        </p:spPr>
        <p:txBody>
          <a:bodyPr wrap="square" lIns="0" tIns="0" rIns="0" bIns="0" rtlCol="0" anchor="t"/>
          <a:lstStyle/>
          <a:p>
            <a:pPr indent="0" marL="0">
              <a:buNone/>
            </a:pPr>
            <a:r>
              <a:rPr lang="en-US" sz="1600" dirty="0">
                <a:solidFill>
                  <a:srgbClr val="585A64"/>
                </a:solidFill>
                <a:latin typeface="Palatino Linotype" pitchFamily="34" charset="0"/>
                <a:ea typeface="Palatino Linotype" pitchFamily="34" charset="-122"/>
                <a:cs typeface="Palatino Linotype" pitchFamily="34" charset="-120"/>
              </a:rPr>
              <a:t>Circa 5 000 de nașteri pe an. Decese sub un an:</a:t>
            </a:r>
            <a:endParaRPr lang="en-US" sz="1600" dirty="0"/>
          </a:p>
        </p:txBody>
      </p:sp>
      <p:sp>
        <p:nvSpPr>
          <p:cNvPr id="5" name="Shape 3"/>
          <p:cNvSpPr/>
          <p:nvPr/>
        </p:nvSpPr>
        <p:spPr>
          <a:xfrm>
            <a:off x="914400" y="2331720"/>
            <a:ext cx="2011680" cy="2743200"/>
          </a:xfrm>
          <a:prstGeom prst="rect">
            <a:avLst/>
          </a:prstGeom>
          <a:solidFill>
            <a:srgbClr val="0E7C6B"/>
          </a:solidFill>
          <a:ln w="12700">
            <a:solidFill>
              <a:srgbClr val="0E7C6B"/>
            </a:solidFill>
            <a:prstDash val="solid"/>
          </a:ln>
        </p:spPr>
        <p:txBody>
          <a:bodyPr/>
          <a:p/>
        </p:txBody>
      </p:sp>
      <p:sp>
        <p:nvSpPr>
          <p:cNvPr id="6" name="Text 4"/>
          <p:cNvSpPr/>
          <p:nvPr/>
        </p:nvSpPr>
        <p:spPr>
          <a:xfrm>
            <a:off x="548640" y="1783080"/>
            <a:ext cx="2743200" cy="502920"/>
          </a:xfrm>
          <a:prstGeom prst="rect">
            <a:avLst/>
          </a:prstGeom>
          <a:noFill/>
          <a:ln/>
        </p:spPr>
        <p:txBody>
          <a:bodyPr wrap="square" lIns="0" tIns="0" rIns="0" bIns="0" rtlCol="0" anchor="t"/>
          <a:lstStyle/>
          <a:p>
            <a:pPr algn="ctr" indent="0" marL="0">
              <a:buNone/>
            </a:pPr>
            <a:r>
              <a:rPr lang="en-US" sz="2200" b="1" dirty="0">
                <a:solidFill>
                  <a:srgbClr val="0E7C6B"/>
                </a:solidFill>
                <a:latin typeface="Palatino Linotype" pitchFamily="34" charset="0"/>
                <a:ea typeface="Palatino Linotype" pitchFamily="34" charset="-122"/>
                <a:cs typeface="Palatino Linotype" pitchFamily="34" charset="-120"/>
              </a:rPr>
              <a:t>40 · 8 la mie</a:t>
            </a:r>
            <a:endParaRPr lang="en-US" sz="2200" dirty="0"/>
          </a:p>
        </p:txBody>
      </p:sp>
      <p:sp>
        <p:nvSpPr>
          <p:cNvPr id="7" name="Text 5"/>
          <p:cNvSpPr/>
          <p:nvPr/>
        </p:nvSpPr>
        <p:spPr>
          <a:xfrm>
            <a:off x="548640" y="5166360"/>
            <a:ext cx="2743200" cy="365760"/>
          </a:xfrm>
          <a:prstGeom prst="rect">
            <a:avLst/>
          </a:prstGeom>
          <a:noFill/>
          <a:ln/>
        </p:spPr>
        <p:txBody>
          <a:bodyPr wrap="square" lIns="0" tIns="0" rIns="0" bIns="0" rtlCol="0" anchor="t"/>
          <a:lstStyle/>
          <a:p>
            <a:pPr algn="ctr" indent="0" marL="0">
              <a:buNone/>
            </a:pPr>
            <a:r>
              <a:rPr lang="en-US" sz="1500" dirty="0">
                <a:solidFill>
                  <a:srgbClr val="11121A"/>
                </a:solidFill>
                <a:latin typeface="Palatino Linotype" pitchFamily="34" charset="0"/>
                <a:ea typeface="Palatino Linotype" pitchFamily="34" charset="-122"/>
                <a:cs typeface="Palatino Linotype" pitchFamily="34" charset="-120"/>
              </a:rPr>
              <a:t>media ultimilor cinci ani</a:t>
            </a:r>
            <a:endParaRPr lang="en-US" sz="1500" dirty="0"/>
          </a:p>
        </p:txBody>
      </p:sp>
      <p:sp>
        <p:nvSpPr>
          <p:cNvPr id="8" name="Shape 6"/>
          <p:cNvSpPr/>
          <p:nvPr/>
        </p:nvSpPr>
        <p:spPr>
          <a:xfrm>
            <a:off x="3566160" y="3703320"/>
            <a:ext cx="2011680" cy="1371600"/>
          </a:xfrm>
          <a:prstGeom prst="rect">
            <a:avLst/>
          </a:prstGeom>
          <a:solidFill>
            <a:srgbClr val="B02532"/>
          </a:solidFill>
          <a:ln w="12700">
            <a:solidFill>
              <a:srgbClr val="B02532"/>
            </a:solidFill>
            <a:prstDash val="solid"/>
          </a:ln>
        </p:spPr>
        <p:txBody>
          <a:bodyPr/>
          <a:p/>
        </p:txBody>
      </p:sp>
      <p:sp>
        <p:nvSpPr>
          <p:cNvPr id="9" name="Text 7"/>
          <p:cNvSpPr/>
          <p:nvPr/>
        </p:nvSpPr>
        <p:spPr>
          <a:xfrm>
            <a:off x="3200400" y="3154680"/>
            <a:ext cx="2743200" cy="502920"/>
          </a:xfrm>
          <a:prstGeom prst="rect">
            <a:avLst/>
          </a:prstGeom>
          <a:noFill/>
          <a:ln/>
        </p:spPr>
        <p:txBody>
          <a:bodyPr wrap="square" lIns="0" tIns="0" rIns="0" bIns="0" rtlCol="0" anchor="t"/>
          <a:lstStyle/>
          <a:p>
            <a:pPr algn="ctr" indent="0" marL="0">
              <a:buNone/>
            </a:pPr>
            <a:r>
              <a:rPr lang="en-US" sz="2200" b="1" dirty="0">
                <a:solidFill>
                  <a:srgbClr val="B02532"/>
                </a:solidFill>
                <a:latin typeface="Palatino Linotype" pitchFamily="34" charset="0"/>
                <a:ea typeface="Palatino Linotype" pitchFamily="34" charset="-122"/>
                <a:cs typeface="Palatino Linotype" pitchFamily="34" charset="-120"/>
              </a:rPr>
              <a:t>20 · 4 la mie</a:t>
            </a:r>
            <a:endParaRPr lang="en-US" sz="2200" dirty="0"/>
          </a:p>
        </p:txBody>
      </p:sp>
      <p:sp>
        <p:nvSpPr>
          <p:cNvPr id="10" name="Text 8"/>
          <p:cNvSpPr/>
          <p:nvPr/>
        </p:nvSpPr>
        <p:spPr>
          <a:xfrm>
            <a:off x="3200400" y="5166360"/>
            <a:ext cx="2743200" cy="365760"/>
          </a:xfrm>
          <a:prstGeom prst="rect">
            <a:avLst/>
          </a:prstGeom>
          <a:noFill/>
          <a:ln/>
        </p:spPr>
        <p:txBody>
          <a:bodyPr wrap="square" lIns="0" tIns="0" rIns="0" bIns="0" rtlCol="0" anchor="t"/>
          <a:lstStyle/>
          <a:p>
            <a:pPr algn="ctr" indent="0" marL="0">
              <a:buNone/>
            </a:pPr>
            <a:r>
              <a:rPr lang="en-US" sz="1500" dirty="0">
                <a:solidFill>
                  <a:srgbClr val="11121A"/>
                </a:solidFill>
                <a:latin typeface="Palatino Linotype" pitchFamily="34" charset="0"/>
                <a:ea typeface="Palatino Linotype" pitchFamily="34" charset="-122"/>
                <a:cs typeface="Palatino Linotype" pitchFamily="34" charset="-120"/>
              </a:rPr>
              <a:t>anul acesta</a:t>
            </a:r>
            <a:endParaRPr lang="en-US" sz="1500" dirty="0"/>
          </a:p>
        </p:txBody>
      </p:sp>
      <p:sp>
        <p:nvSpPr>
          <p:cNvPr id="11" name="Shape 9"/>
          <p:cNvSpPr/>
          <p:nvPr/>
        </p:nvSpPr>
        <p:spPr>
          <a:xfrm>
            <a:off x="640080" y="5074920"/>
            <a:ext cx="5394960" cy="27432"/>
          </a:xfrm>
          <a:prstGeom prst="rect">
            <a:avLst/>
          </a:prstGeom>
          <a:solidFill>
            <a:srgbClr val="C9C6BE"/>
          </a:solidFill>
          <a:ln w="12700">
            <a:solidFill>
              <a:srgbClr val="C9C6BE"/>
            </a:solidFill>
            <a:prstDash val="solid"/>
          </a:ln>
        </p:spPr>
        <p:txBody>
          <a:bodyPr/>
          <a:p/>
        </p:txBody>
      </p:sp>
      <p:sp>
        <p:nvSpPr>
          <p:cNvPr id="12" name="Shape 10"/>
          <p:cNvSpPr/>
          <p:nvPr/>
        </p:nvSpPr>
        <p:spPr>
          <a:xfrm>
            <a:off x="6675120" y="1600200"/>
            <a:ext cx="4892040" cy="4114800"/>
          </a:xfrm>
          <a:prstGeom prst="roundRect">
            <a:avLst>
              <a:gd name="adj" fmla="val 2000"/>
            </a:avLst>
          </a:prstGeom>
          <a:solidFill>
            <a:srgbClr val="ECEAE4"/>
          </a:solidFill>
          <a:ln w="12700">
            <a:solidFill>
              <a:srgbClr val="ECEAE4"/>
            </a:solidFill>
            <a:prstDash val="solid"/>
          </a:ln>
        </p:spPr>
        <p:txBody>
          <a:bodyPr/>
          <a:p/>
        </p:txBody>
      </p:sp>
      <p:sp>
        <p:nvSpPr>
          <p:cNvPr id="13" name="Text 11"/>
          <p:cNvSpPr/>
          <p:nvPr/>
        </p:nvSpPr>
        <p:spPr>
          <a:xfrm>
            <a:off x="6949440" y="1783080"/>
            <a:ext cx="4389120" cy="36576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În același an</a:t>
            </a:r>
            <a:endParaRPr lang="en-US" sz="1800" dirty="0"/>
          </a:p>
        </p:txBody>
      </p:sp>
      <p:sp>
        <p:nvSpPr>
          <p:cNvPr id="14" name="Text 12"/>
          <p:cNvSpPr/>
          <p:nvPr/>
        </p:nvSpPr>
        <p:spPr>
          <a:xfrm>
            <a:off x="6949440" y="2286000"/>
            <a:ext cx="4389120" cy="32918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Spitalul județean a raportat tot atâtea internări de sugari în stare gravă ca înainte.</a:t>
            </a:r>
            <a:endParaRPr lang="en-US" sz="1800" dirty="0"/>
          </a:p>
          <a:p>
            <a:pPr indent="0" marL="0">
              <a:buNone/>
            </a:pPr>
            <a:r>
              <a:rPr lang="en-US" sz="1000" dirty="0">
                <a:solidFill>
                  <a:srgbClr val="11121A"/>
                </a:solidFill>
                <a:latin typeface="Palatino Linotype" pitchFamily="34" charset="0"/>
                <a:ea typeface="Palatino Linotype" pitchFamily="34" charset="-122"/>
                <a:cs typeface="Palatino Linotype" pitchFamily="34" charset="-120"/>
              </a:rPr>
              <a:t> </a:t>
            </a:r>
            <a:endParaRPr lang="en-US" sz="1800" dirty="0"/>
          </a:p>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O comună mare a trimis de trei ori la rând formularele cu întârziere.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VOTAȚI PE TELEFON</a:t>
            </a:r>
            <a:endParaRPr lang="en-US" sz="1300" dirty="0"/>
          </a:p>
        </p:txBody>
      </p:sp>
      <p:sp>
        <p:nvSpPr>
          <p:cNvPr id="5" name="Text 3"/>
          <p:cNvSpPr/>
          <p:nvPr/>
        </p:nvSpPr>
        <p:spPr>
          <a:xfrm>
            <a:off x="594360" y="822960"/>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credeți despre scăderea din exemplu?</a:t>
            </a:r>
            <a:endParaRPr lang="en-US" sz="3000" dirty="0"/>
          </a:p>
        </p:txBody>
      </p:sp>
      <p:sp>
        <p:nvSpPr>
          <p:cNvPr id="6" name="Shape 4"/>
          <p:cNvSpPr/>
          <p:nvPr/>
        </p:nvSpPr>
        <p:spPr>
          <a:xfrm>
            <a:off x="594360" y="1965960"/>
            <a:ext cx="9601200" cy="804672"/>
          </a:xfrm>
          <a:prstGeom prst="roundRect">
            <a:avLst>
              <a:gd name="adj" fmla="val 10227"/>
            </a:avLst>
          </a:prstGeom>
          <a:solidFill>
            <a:srgbClr val="1D1F2B"/>
          </a:solidFill>
          <a:ln w="12700">
            <a:solidFill>
              <a:srgbClr val="1D1F2B"/>
            </a:solidFill>
            <a:prstDash val="solid"/>
          </a:ln>
        </p:spPr>
        <p:txBody>
          <a:bodyPr/>
          <a:p/>
        </p:txBody>
      </p:sp>
      <p:sp>
        <p:nvSpPr>
          <p:cNvPr id="7" name="Shape 5"/>
          <p:cNvSpPr/>
          <p:nvPr/>
        </p:nvSpPr>
        <p:spPr>
          <a:xfrm>
            <a:off x="868680" y="2157984"/>
            <a:ext cx="420624" cy="420624"/>
          </a:xfrm>
          <a:prstGeom prst="ellipse">
            <a:avLst/>
          </a:prstGeom>
          <a:solidFill>
            <a:srgbClr val="FFC24B"/>
          </a:solidFill>
          <a:ln/>
        </p:spPr>
        <p:txBody>
          <a:bodyPr/>
          <a:p/>
        </p:txBody>
      </p:sp>
      <p:sp>
        <p:nvSpPr>
          <p:cNvPr id="8" name="Text 6"/>
          <p:cNvSpPr/>
          <p:nvPr/>
        </p:nvSpPr>
        <p:spPr>
          <a:xfrm>
            <a:off x="868680" y="21579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965960"/>
            <a:ext cx="8412480" cy="80467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 succes real al serviciilor din județ</a:t>
            </a:r>
            <a:endParaRPr lang="en-US" sz="2000" dirty="0"/>
          </a:p>
        </p:txBody>
      </p:sp>
      <p:sp>
        <p:nvSpPr>
          <p:cNvPr id="10" name="Shape 8"/>
          <p:cNvSpPr/>
          <p:nvPr/>
        </p:nvSpPr>
        <p:spPr>
          <a:xfrm>
            <a:off x="594360" y="2926080"/>
            <a:ext cx="9601200" cy="804672"/>
          </a:xfrm>
          <a:prstGeom prst="roundRect">
            <a:avLst>
              <a:gd name="adj" fmla="val 10227"/>
            </a:avLst>
          </a:prstGeom>
          <a:solidFill>
            <a:srgbClr val="1D1F2B"/>
          </a:solidFill>
          <a:ln w="12700">
            <a:solidFill>
              <a:srgbClr val="1D1F2B"/>
            </a:solidFill>
            <a:prstDash val="solid"/>
          </a:ln>
        </p:spPr>
        <p:txBody>
          <a:bodyPr/>
          <a:p/>
        </p:txBody>
      </p:sp>
      <p:sp>
        <p:nvSpPr>
          <p:cNvPr id="11" name="Shape 9"/>
          <p:cNvSpPr/>
          <p:nvPr/>
        </p:nvSpPr>
        <p:spPr>
          <a:xfrm>
            <a:off x="868680" y="3118104"/>
            <a:ext cx="420624" cy="420624"/>
          </a:xfrm>
          <a:prstGeom prst="ellipse">
            <a:avLst/>
          </a:prstGeom>
          <a:solidFill>
            <a:srgbClr val="FFC24B"/>
          </a:solidFill>
          <a:ln/>
        </p:spPr>
        <p:txBody>
          <a:bodyPr/>
          <a:p/>
        </p:txBody>
      </p:sp>
      <p:sp>
        <p:nvSpPr>
          <p:cNvPr id="12" name="Text 10"/>
          <p:cNvSpPr/>
          <p:nvPr/>
        </p:nvSpPr>
        <p:spPr>
          <a:xfrm>
            <a:off x="868680" y="3118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926080"/>
            <a:ext cx="8412480" cy="80467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O întâmplare statistică, fără importanță</a:t>
            </a:r>
            <a:endParaRPr lang="en-US" sz="2000" dirty="0"/>
          </a:p>
        </p:txBody>
      </p:sp>
      <p:sp>
        <p:nvSpPr>
          <p:cNvPr id="14" name="Shape 12"/>
          <p:cNvSpPr/>
          <p:nvPr/>
        </p:nvSpPr>
        <p:spPr>
          <a:xfrm>
            <a:off x="594360" y="3886200"/>
            <a:ext cx="9601200" cy="804672"/>
          </a:xfrm>
          <a:prstGeom prst="roundRect">
            <a:avLst>
              <a:gd name="adj" fmla="val 10227"/>
            </a:avLst>
          </a:prstGeom>
          <a:solidFill>
            <a:srgbClr val="1D1F2B"/>
          </a:solidFill>
          <a:ln w="12700">
            <a:solidFill>
              <a:srgbClr val="1D1F2B"/>
            </a:solidFill>
            <a:prstDash val="solid"/>
          </a:ln>
        </p:spPr>
        <p:txBody>
          <a:bodyPr/>
          <a:p/>
        </p:txBody>
      </p:sp>
      <p:sp>
        <p:nvSpPr>
          <p:cNvPr id="15" name="Shape 13"/>
          <p:cNvSpPr/>
          <p:nvPr/>
        </p:nvSpPr>
        <p:spPr>
          <a:xfrm>
            <a:off x="868680" y="4078224"/>
            <a:ext cx="420624" cy="420624"/>
          </a:xfrm>
          <a:prstGeom prst="ellipse">
            <a:avLst/>
          </a:prstGeom>
          <a:solidFill>
            <a:srgbClr val="FFC24B"/>
          </a:solidFill>
          <a:ln/>
        </p:spPr>
        <p:txBody>
          <a:bodyPr/>
          <a:p/>
        </p:txBody>
      </p:sp>
      <p:sp>
        <p:nvSpPr>
          <p:cNvPr id="16" name="Text 14"/>
          <p:cNvSpPr/>
          <p:nvPr/>
        </p:nvSpPr>
        <p:spPr>
          <a:xfrm>
            <a:off x="868680" y="40782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886200"/>
            <a:ext cx="8412480" cy="80467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 semnal că raportarea trebuie verificată înainte de orice concluzie</a:t>
            </a:r>
            <a:endParaRPr lang="en-US" sz="2000" dirty="0"/>
          </a:p>
        </p:txBody>
      </p:sp>
      <p:sp>
        <p:nvSpPr>
          <p:cNvPr id="18" name="Text 16"/>
          <p:cNvSpPr/>
          <p:nvPr/>
        </p:nvSpPr>
        <p:spPr>
          <a:xfrm>
            <a:off x="594360" y="5029200"/>
            <a:ext cx="10972800" cy="4572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Apoi, două minute cu colegul de bancă: ce ați verifica întâi?</a:t>
            </a:r>
            <a:endParaRPr lang="en-US" sz="1800" dirty="0"/>
          </a:p>
        </p:txBody>
      </p:sp>
      <p:sp>
        <p:nvSpPr>
          <p:cNvPr id="19" name="Text 17"/>
          <p:cNvSpPr/>
          <p:nvPr/>
        </p:nvSpPr>
        <p:spPr>
          <a:xfrm>
            <a:off x="594360" y="5669280"/>
            <a:ext cx="7680960" cy="365760"/>
          </a:xfrm>
          <a:prstGeom prst="rect">
            <a:avLst/>
          </a:prstGeom>
          <a:noFill/>
          <a:ln/>
        </p:spPr>
        <p:txBody>
          <a:bodyPr wrap="square" lIns="0" tIns="0" rIns="0" bIns="0" rtlCol="0" anchor="t"/>
          <a:lstStyle/>
          <a:p>
            <a:pPr indent="0" marL="0">
              <a:buNone/>
            </a:pPr>
            <a:r>
              <a:rPr lang="en-US" sz="1600" b="1" i="1" dirty="0">
                <a:solidFill>
                  <a:srgbClr val="27D3BE"/>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A TREIA VARIANTĂ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 semnal de verificat, nu un succes</a:t>
            </a:r>
            <a:endParaRPr lang="en-US" sz="3200" dirty="0"/>
          </a:p>
        </p:txBody>
      </p:sp>
      <p:sp>
        <p:nvSpPr>
          <p:cNvPr id="4" name="Shape 2"/>
          <p:cNvSpPr/>
          <p:nvPr/>
        </p:nvSpPr>
        <p:spPr>
          <a:xfrm>
            <a:off x="594360" y="1645920"/>
            <a:ext cx="3520440" cy="1828800"/>
          </a:xfrm>
          <a:prstGeom prst="roundRect">
            <a:avLst>
              <a:gd name="adj" fmla="val 4500"/>
            </a:avLst>
          </a:prstGeom>
          <a:solidFill>
            <a:srgbClr val="ECEAE4"/>
          </a:solidFill>
          <a:ln w="12700">
            <a:solidFill>
              <a:srgbClr val="ECEAE4"/>
            </a:solidFill>
            <a:prstDash val="solid"/>
          </a:ln>
        </p:spPr>
        <p:txBody>
          <a:bodyPr/>
          <a:p/>
        </p:txBody>
      </p:sp>
      <p:sp>
        <p:nvSpPr>
          <p:cNvPr id="5" name="Shape 3"/>
          <p:cNvSpPr/>
          <p:nvPr/>
        </p:nvSpPr>
        <p:spPr>
          <a:xfrm>
            <a:off x="822960" y="1810512"/>
            <a:ext cx="420624" cy="420624"/>
          </a:xfrm>
          <a:prstGeom prst="ellipse">
            <a:avLst/>
          </a:prstGeom>
          <a:solidFill>
            <a:srgbClr val="B02532"/>
          </a:solidFill>
          <a:ln/>
        </p:spPr>
        <p:txBody>
          <a:bodyPr/>
          <a:p/>
        </p:txBody>
      </p:sp>
      <p:sp>
        <p:nvSpPr>
          <p:cNvPr id="6" name="Text 4"/>
          <p:cNvSpPr/>
          <p:nvPr/>
        </p:nvSpPr>
        <p:spPr>
          <a:xfrm>
            <a:off x="822960" y="18105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822960" y="2331720"/>
            <a:ext cx="3063240" cy="10515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O scădere prea mare pentru un singur an</a:t>
            </a:r>
            <a:endParaRPr lang="en-US" sz="1800" dirty="0"/>
          </a:p>
        </p:txBody>
      </p:sp>
      <p:sp>
        <p:nvSpPr>
          <p:cNvPr id="8" name="Shape 6"/>
          <p:cNvSpPr/>
          <p:nvPr/>
        </p:nvSpPr>
        <p:spPr>
          <a:xfrm>
            <a:off x="4343400" y="1645920"/>
            <a:ext cx="3520440" cy="1828800"/>
          </a:xfrm>
          <a:prstGeom prst="roundRect">
            <a:avLst>
              <a:gd name="adj" fmla="val 4500"/>
            </a:avLst>
          </a:prstGeom>
          <a:solidFill>
            <a:srgbClr val="ECEAE4"/>
          </a:solidFill>
          <a:ln w="12700">
            <a:solidFill>
              <a:srgbClr val="ECEAE4"/>
            </a:solidFill>
            <a:prstDash val="solid"/>
          </a:ln>
        </p:spPr>
        <p:txBody>
          <a:bodyPr/>
          <a:p/>
        </p:txBody>
      </p:sp>
      <p:sp>
        <p:nvSpPr>
          <p:cNvPr id="9" name="Shape 7"/>
          <p:cNvSpPr/>
          <p:nvPr/>
        </p:nvSpPr>
        <p:spPr>
          <a:xfrm>
            <a:off x="4572000" y="1810512"/>
            <a:ext cx="420624" cy="420624"/>
          </a:xfrm>
          <a:prstGeom prst="ellipse">
            <a:avLst/>
          </a:prstGeom>
          <a:solidFill>
            <a:srgbClr val="B02532"/>
          </a:solidFill>
          <a:ln/>
        </p:spPr>
        <p:txBody>
          <a:bodyPr/>
          <a:p/>
        </p:txBody>
      </p:sp>
      <p:sp>
        <p:nvSpPr>
          <p:cNvPr id="10" name="Text 8"/>
          <p:cNvSpPr/>
          <p:nvPr/>
        </p:nvSpPr>
        <p:spPr>
          <a:xfrm>
            <a:off x="4572000" y="18105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4572000" y="2331720"/>
            <a:ext cx="3063240" cy="10515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Spitalul, o sursă independentă, nu vede nicio schimbare</a:t>
            </a:r>
            <a:endParaRPr lang="en-US" sz="1800" dirty="0"/>
          </a:p>
        </p:txBody>
      </p:sp>
      <p:sp>
        <p:nvSpPr>
          <p:cNvPr id="12" name="Shape 10"/>
          <p:cNvSpPr/>
          <p:nvPr/>
        </p:nvSpPr>
        <p:spPr>
          <a:xfrm>
            <a:off x="8092440" y="1645920"/>
            <a:ext cx="3520440" cy="1828800"/>
          </a:xfrm>
          <a:prstGeom prst="roundRect">
            <a:avLst>
              <a:gd name="adj" fmla="val 4500"/>
            </a:avLst>
          </a:prstGeom>
          <a:solidFill>
            <a:srgbClr val="ECEAE4"/>
          </a:solidFill>
          <a:ln w="12700">
            <a:solidFill>
              <a:srgbClr val="ECEAE4"/>
            </a:solidFill>
            <a:prstDash val="solid"/>
          </a:ln>
        </p:spPr>
        <p:txBody>
          <a:bodyPr/>
          <a:p/>
        </p:txBody>
      </p:sp>
      <p:sp>
        <p:nvSpPr>
          <p:cNvPr id="13" name="Shape 11"/>
          <p:cNvSpPr/>
          <p:nvPr/>
        </p:nvSpPr>
        <p:spPr>
          <a:xfrm>
            <a:off x="8321040" y="1810512"/>
            <a:ext cx="420624" cy="420624"/>
          </a:xfrm>
          <a:prstGeom prst="ellipse">
            <a:avLst/>
          </a:prstGeom>
          <a:solidFill>
            <a:srgbClr val="B02532"/>
          </a:solidFill>
          <a:ln/>
        </p:spPr>
        <p:txBody>
          <a:bodyPr/>
          <a:p/>
        </p:txBody>
      </p:sp>
      <p:sp>
        <p:nvSpPr>
          <p:cNvPr id="14" name="Text 12"/>
          <p:cNvSpPr/>
          <p:nvPr/>
        </p:nvSpPr>
        <p:spPr>
          <a:xfrm>
            <a:off x="8321040" y="18105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8321040" y="2331720"/>
            <a:ext cx="3063240" cy="10515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O localitate raportează cu întârziere</a:t>
            </a:r>
            <a:endParaRPr lang="en-US" sz="1800" dirty="0"/>
          </a:p>
        </p:txBody>
      </p:sp>
      <p:sp>
        <p:nvSpPr>
          <p:cNvPr id="16" name="Text 14"/>
          <p:cNvSpPr/>
          <p:nvPr/>
        </p:nvSpPr>
        <p:spPr>
          <a:xfrm>
            <a:off x="594360" y="3749040"/>
            <a:ext cx="10972800" cy="54864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Cel mai probabil este o problemă de raportare.</a:t>
            </a:r>
            <a:endParaRPr lang="en-US" sz="2100" dirty="0"/>
          </a:p>
        </p:txBody>
      </p:sp>
      <p:sp>
        <p:nvSpPr>
          <p:cNvPr id="17" name="Shape 15"/>
          <p:cNvSpPr/>
          <p:nvPr/>
        </p:nvSpPr>
        <p:spPr>
          <a:xfrm>
            <a:off x="594360" y="4526280"/>
            <a:ext cx="10972800" cy="1188720"/>
          </a:xfrm>
          <a:prstGeom prst="roundRect">
            <a:avLst>
              <a:gd name="adj" fmla="val 6923"/>
            </a:avLst>
          </a:prstGeom>
          <a:solidFill>
            <a:srgbClr val="F9F8F5"/>
          </a:solidFill>
          <a:ln w="12700">
            <a:solidFill>
              <a:srgbClr val="F9F8F5"/>
            </a:solidFill>
            <a:prstDash val="solid"/>
          </a:ln>
        </p:spPr>
        <p:txBody>
          <a:bodyPr/>
          <a:p/>
        </p:txBody>
      </p:sp>
      <p:sp>
        <p:nvSpPr>
          <p:cNvPr id="18" name="Shape 16"/>
          <p:cNvSpPr/>
          <p:nvPr/>
        </p:nvSpPr>
        <p:spPr>
          <a:xfrm>
            <a:off x="594360" y="4526280"/>
            <a:ext cx="91440" cy="1188720"/>
          </a:xfrm>
          <a:prstGeom prst="rect">
            <a:avLst/>
          </a:prstGeom>
          <a:solidFill>
            <a:srgbClr val="0E7C6B"/>
          </a:solidFill>
          <a:ln w="12700">
            <a:solidFill>
              <a:srgbClr val="0E7C6B"/>
            </a:solidFill>
            <a:prstDash val="solid"/>
          </a:ln>
        </p:spPr>
        <p:txBody>
          <a:bodyPr/>
          <a:p/>
        </p:txBody>
      </p:sp>
      <p:sp>
        <p:nvSpPr>
          <p:cNvPr id="19" name="Text 17"/>
          <p:cNvSpPr/>
          <p:nvPr/>
        </p:nvSpPr>
        <p:spPr>
          <a:xfrm>
            <a:off x="914400" y="4526280"/>
            <a:ext cx="10424160" cy="118872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Niciun semnal nu dovedește singur o eroare. Împreună, vă spun să nu anunțați succesul înainte de a verifica.</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Calitatea datelor</a:t>
            </a:r>
            <a:endParaRPr lang="en-US" sz="3400" dirty="0"/>
          </a:p>
        </p:txBody>
      </p:sp>
      <p:sp>
        <p:nvSpPr>
          <p:cNvPr id="4" name="Shape 2"/>
          <p:cNvSpPr/>
          <p:nvPr/>
        </p:nvSpPr>
        <p:spPr>
          <a:xfrm>
            <a:off x="594360" y="1554480"/>
            <a:ext cx="10972800" cy="1234440"/>
          </a:xfrm>
          <a:prstGeom prst="roundRect">
            <a:avLst>
              <a:gd name="adj" fmla="val 6667"/>
            </a:avLst>
          </a:prstGeom>
          <a:solidFill>
            <a:srgbClr val="ECEAE4"/>
          </a:solidFill>
          <a:ln w="12700">
            <a:solidFill>
              <a:srgbClr val="ECEAE4"/>
            </a:solidFill>
            <a:prstDash val="solid"/>
          </a:ln>
        </p:spPr>
        <p:txBody>
          <a:bodyPr/>
          <a:p/>
        </p:txBody>
      </p:sp>
      <p:sp>
        <p:nvSpPr>
          <p:cNvPr id="5" name="Text 3"/>
          <p:cNvSpPr/>
          <p:nvPr/>
        </p:nvSpPr>
        <p:spPr>
          <a:xfrm>
            <a:off x="868680" y="1664208"/>
            <a:ext cx="10424160" cy="310896"/>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ÎN LIMBAJ DE ZI CU ZI</a:t>
            </a:r>
            <a:endParaRPr lang="en-US" sz="1300" dirty="0"/>
          </a:p>
        </p:txBody>
      </p:sp>
      <p:sp>
        <p:nvSpPr>
          <p:cNvPr id="6" name="Text 4"/>
          <p:cNvSpPr/>
          <p:nvPr/>
        </p:nvSpPr>
        <p:spPr>
          <a:xfrm>
            <a:off x="868680" y="2011680"/>
            <a:ext cx="10424160" cy="685800"/>
          </a:xfrm>
          <a:prstGeom prst="rect">
            <a:avLst/>
          </a:prstGeom>
          <a:noFill/>
          <a:ln/>
        </p:spPr>
        <p:txBody>
          <a:bodyPr wrap="square" lIns="0" tIns="0" rIns="0" bIns="0" rtlCol="0" anchor="t"/>
          <a:lstStyle/>
          <a:p>
            <a:pPr indent="0" marL="0">
              <a:buNone/>
            </a:pPr>
            <a:r>
              <a:rPr lang="en-US" sz="2500" b="1" dirty="0">
                <a:solidFill>
                  <a:srgbClr val="11121A"/>
                </a:solidFill>
                <a:latin typeface="Palatino Linotype" pitchFamily="34" charset="0"/>
                <a:ea typeface="Palatino Linotype" pitchFamily="34" charset="-122"/>
                <a:cs typeface="Palatino Linotype" pitchFamily="34" charset="-120"/>
              </a:rPr>
              <a:t>cât de mult spune o cifră adevărul despre ce pretinde că măsoară</a:t>
            </a:r>
            <a:endParaRPr lang="en-US" sz="2500" dirty="0"/>
          </a:p>
        </p:txBody>
      </p:sp>
      <p:sp>
        <p:nvSpPr>
          <p:cNvPr id="7" name="Text 5"/>
          <p:cNvSpPr/>
          <p:nvPr/>
        </p:nvSpPr>
        <p:spPr>
          <a:xfrm>
            <a:off x="594360" y="3017520"/>
            <a:ext cx="10972800" cy="4114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Definiția de lucru a cursului verifică patru lucruri:</a:t>
            </a:r>
            <a:endParaRPr lang="en-US" sz="1800" dirty="0"/>
          </a:p>
        </p:txBody>
      </p:sp>
      <p:sp>
        <p:nvSpPr>
          <p:cNvPr id="8" name="Shape 6"/>
          <p:cNvSpPr/>
          <p:nvPr/>
        </p:nvSpPr>
        <p:spPr>
          <a:xfrm>
            <a:off x="594360" y="3566160"/>
            <a:ext cx="2606040" cy="1920240"/>
          </a:xfrm>
          <a:prstGeom prst="roundRect">
            <a:avLst>
              <a:gd name="adj" fmla="val 4286"/>
            </a:avLst>
          </a:prstGeom>
          <a:solidFill>
            <a:srgbClr val="ECEAE4"/>
          </a:solidFill>
          <a:ln w="12700">
            <a:solidFill>
              <a:srgbClr val="ECEAE4"/>
            </a:solidFill>
            <a:prstDash val="solid"/>
          </a:ln>
        </p:spPr>
        <p:txBody>
          <a:bodyPr/>
          <a:p/>
        </p:txBody>
      </p:sp>
      <p:sp>
        <p:nvSpPr>
          <p:cNvPr id="9" name="Shape 7"/>
          <p:cNvSpPr/>
          <p:nvPr/>
        </p:nvSpPr>
        <p:spPr>
          <a:xfrm>
            <a:off x="594360" y="3566160"/>
            <a:ext cx="2606040" cy="73152"/>
          </a:xfrm>
          <a:prstGeom prst="rect">
            <a:avLst/>
          </a:prstGeom>
          <a:solidFill>
            <a:srgbClr val="0E7C6B"/>
          </a:solidFill>
          <a:ln w="12700">
            <a:solidFill>
              <a:srgbClr val="0E7C6B"/>
            </a:solidFill>
            <a:prstDash val="solid"/>
          </a:ln>
        </p:spPr>
        <p:txBody>
          <a:bodyPr/>
          <a:p/>
        </p:txBody>
      </p:sp>
      <p:sp>
        <p:nvSpPr>
          <p:cNvPr id="10" name="Text 8"/>
          <p:cNvSpPr/>
          <p:nvPr/>
        </p:nvSpPr>
        <p:spPr>
          <a:xfrm>
            <a:off x="777240" y="3749040"/>
            <a:ext cx="2240280" cy="548640"/>
          </a:xfrm>
          <a:prstGeom prst="rect">
            <a:avLst/>
          </a:prstGeom>
          <a:noFill/>
          <a:ln/>
        </p:spPr>
        <p:txBody>
          <a:bodyPr wrap="square" lIns="0" tIns="0" rIns="0" bIns="0" rtlCol="0" anchor="t"/>
          <a:lstStyle/>
          <a:p>
            <a:pPr indent="0" marL="0">
              <a:buNone/>
            </a:pPr>
            <a:r>
              <a:rPr lang="en-US" sz="2300" b="1" dirty="0">
                <a:solidFill>
                  <a:srgbClr val="0E7C6B"/>
                </a:solidFill>
                <a:latin typeface="Palatino Linotype" pitchFamily="34" charset="0"/>
                <a:ea typeface="Palatino Linotype" pitchFamily="34" charset="-122"/>
                <a:cs typeface="Palatino Linotype" pitchFamily="34" charset="-120"/>
              </a:rPr>
              <a:t>completă</a:t>
            </a:r>
            <a:endParaRPr lang="en-US" sz="2300" dirty="0"/>
          </a:p>
        </p:txBody>
      </p:sp>
      <p:sp>
        <p:nvSpPr>
          <p:cNvPr id="11" name="Text 9"/>
          <p:cNvSpPr/>
          <p:nvPr/>
        </p:nvSpPr>
        <p:spPr>
          <a:xfrm>
            <a:off x="777240" y="4343400"/>
            <a:ext cx="2240280" cy="10058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nu lipsesc raportări</a:t>
            </a:r>
            <a:endParaRPr lang="en-US" sz="1700" dirty="0"/>
          </a:p>
        </p:txBody>
      </p:sp>
      <p:sp>
        <p:nvSpPr>
          <p:cNvPr id="12" name="Shape 10"/>
          <p:cNvSpPr/>
          <p:nvPr/>
        </p:nvSpPr>
        <p:spPr>
          <a:xfrm>
            <a:off x="3383280" y="3566160"/>
            <a:ext cx="2606040" cy="1920240"/>
          </a:xfrm>
          <a:prstGeom prst="roundRect">
            <a:avLst>
              <a:gd name="adj" fmla="val 4286"/>
            </a:avLst>
          </a:prstGeom>
          <a:solidFill>
            <a:srgbClr val="F9F8F5"/>
          </a:solidFill>
          <a:ln w="12700">
            <a:solidFill>
              <a:srgbClr val="F9F8F5"/>
            </a:solidFill>
            <a:prstDash val="solid"/>
          </a:ln>
        </p:spPr>
        <p:txBody>
          <a:bodyPr/>
          <a:p/>
        </p:txBody>
      </p:sp>
      <p:sp>
        <p:nvSpPr>
          <p:cNvPr id="13" name="Shape 11"/>
          <p:cNvSpPr/>
          <p:nvPr/>
        </p:nvSpPr>
        <p:spPr>
          <a:xfrm>
            <a:off x="3383280" y="3566160"/>
            <a:ext cx="2606040" cy="73152"/>
          </a:xfrm>
          <a:prstGeom prst="rect">
            <a:avLst/>
          </a:prstGeom>
          <a:solidFill>
            <a:srgbClr val="0E7C6B"/>
          </a:solidFill>
          <a:ln w="12700">
            <a:solidFill>
              <a:srgbClr val="0E7C6B"/>
            </a:solidFill>
            <a:prstDash val="solid"/>
          </a:ln>
        </p:spPr>
        <p:txBody>
          <a:bodyPr/>
          <a:p/>
        </p:txBody>
      </p:sp>
      <p:sp>
        <p:nvSpPr>
          <p:cNvPr id="14" name="Text 12"/>
          <p:cNvSpPr/>
          <p:nvPr/>
        </p:nvSpPr>
        <p:spPr>
          <a:xfrm>
            <a:off x="3566160" y="3749040"/>
            <a:ext cx="2240280" cy="548640"/>
          </a:xfrm>
          <a:prstGeom prst="rect">
            <a:avLst/>
          </a:prstGeom>
          <a:noFill/>
          <a:ln/>
        </p:spPr>
        <p:txBody>
          <a:bodyPr wrap="square" lIns="0" tIns="0" rIns="0" bIns="0" rtlCol="0" anchor="t"/>
          <a:lstStyle/>
          <a:p>
            <a:pPr indent="0" marL="0">
              <a:buNone/>
            </a:pPr>
            <a:r>
              <a:rPr lang="en-US" sz="2300" b="1" dirty="0">
                <a:solidFill>
                  <a:srgbClr val="0E7C6B"/>
                </a:solidFill>
                <a:latin typeface="Palatino Linotype" pitchFamily="34" charset="0"/>
                <a:ea typeface="Palatino Linotype" pitchFamily="34" charset="-122"/>
                <a:cs typeface="Palatino Linotype" pitchFamily="34" charset="-120"/>
              </a:rPr>
              <a:t>exactă</a:t>
            </a:r>
            <a:endParaRPr lang="en-US" sz="2300" dirty="0"/>
          </a:p>
        </p:txBody>
      </p:sp>
      <p:sp>
        <p:nvSpPr>
          <p:cNvPr id="15" name="Text 13"/>
          <p:cNvSpPr/>
          <p:nvPr/>
        </p:nvSpPr>
        <p:spPr>
          <a:xfrm>
            <a:off x="3566160" y="4343400"/>
            <a:ext cx="2240280" cy="10058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nu conține greșeli</a:t>
            </a:r>
            <a:endParaRPr lang="en-US" sz="1700" dirty="0"/>
          </a:p>
        </p:txBody>
      </p:sp>
      <p:sp>
        <p:nvSpPr>
          <p:cNvPr id="16" name="Shape 14"/>
          <p:cNvSpPr/>
          <p:nvPr/>
        </p:nvSpPr>
        <p:spPr>
          <a:xfrm>
            <a:off x="6172200" y="3566160"/>
            <a:ext cx="2606040" cy="1920240"/>
          </a:xfrm>
          <a:prstGeom prst="roundRect">
            <a:avLst>
              <a:gd name="adj" fmla="val 4286"/>
            </a:avLst>
          </a:prstGeom>
          <a:solidFill>
            <a:srgbClr val="ECEAE4"/>
          </a:solidFill>
          <a:ln w="12700">
            <a:solidFill>
              <a:srgbClr val="ECEAE4"/>
            </a:solidFill>
            <a:prstDash val="solid"/>
          </a:ln>
        </p:spPr>
        <p:txBody>
          <a:bodyPr/>
          <a:p/>
        </p:txBody>
      </p:sp>
      <p:sp>
        <p:nvSpPr>
          <p:cNvPr id="17" name="Shape 15"/>
          <p:cNvSpPr/>
          <p:nvPr/>
        </p:nvSpPr>
        <p:spPr>
          <a:xfrm>
            <a:off x="6172200" y="3566160"/>
            <a:ext cx="2606040" cy="73152"/>
          </a:xfrm>
          <a:prstGeom prst="rect">
            <a:avLst/>
          </a:prstGeom>
          <a:solidFill>
            <a:srgbClr val="0E7C6B"/>
          </a:solidFill>
          <a:ln w="12700">
            <a:solidFill>
              <a:srgbClr val="0E7C6B"/>
            </a:solidFill>
            <a:prstDash val="solid"/>
          </a:ln>
        </p:spPr>
        <p:txBody>
          <a:bodyPr/>
          <a:p/>
        </p:txBody>
      </p:sp>
      <p:sp>
        <p:nvSpPr>
          <p:cNvPr id="18" name="Text 16"/>
          <p:cNvSpPr/>
          <p:nvPr/>
        </p:nvSpPr>
        <p:spPr>
          <a:xfrm>
            <a:off x="6355080" y="3749040"/>
            <a:ext cx="2240280" cy="548640"/>
          </a:xfrm>
          <a:prstGeom prst="rect">
            <a:avLst/>
          </a:prstGeom>
          <a:noFill/>
          <a:ln/>
        </p:spPr>
        <p:txBody>
          <a:bodyPr wrap="square" lIns="0" tIns="0" rIns="0" bIns="0" rtlCol="0" anchor="t"/>
          <a:lstStyle/>
          <a:p>
            <a:pPr indent="0" marL="0">
              <a:buNone/>
            </a:pPr>
            <a:r>
              <a:rPr lang="en-US" sz="2300" b="1" dirty="0">
                <a:solidFill>
                  <a:srgbClr val="0E7C6B"/>
                </a:solidFill>
                <a:latin typeface="Palatino Linotype" pitchFamily="34" charset="0"/>
                <a:ea typeface="Palatino Linotype" pitchFamily="34" charset="-122"/>
                <a:cs typeface="Palatino Linotype" pitchFamily="34" charset="-120"/>
              </a:rPr>
              <a:t>consecventă</a:t>
            </a:r>
            <a:endParaRPr lang="en-US" sz="2300" dirty="0"/>
          </a:p>
        </p:txBody>
      </p:sp>
      <p:sp>
        <p:nvSpPr>
          <p:cNvPr id="19" name="Text 17"/>
          <p:cNvSpPr/>
          <p:nvPr/>
        </p:nvSpPr>
        <p:spPr>
          <a:xfrm>
            <a:off x="6355080" y="4343400"/>
            <a:ext cx="2240280" cy="10058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se potrivește cu alte surse</a:t>
            </a:r>
            <a:endParaRPr lang="en-US" sz="1700" dirty="0"/>
          </a:p>
        </p:txBody>
      </p:sp>
      <p:sp>
        <p:nvSpPr>
          <p:cNvPr id="20" name="Shape 18"/>
          <p:cNvSpPr/>
          <p:nvPr/>
        </p:nvSpPr>
        <p:spPr>
          <a:xfrm>
            <a:off x="8961120" y="3566160"/>
            <a:ext cx="2606040" cy="1920240"/>
          </a:xfrm>
          <a:prstGeom prst="roundRect">
            <a:avLst>
              <a:gd name="adj" fmla="val 4286"/>
            </a:avLst>
          </a:prstGeom>
          <a:solidFill>
            <a:srgbClr val="F9F8F5"/>
          </a:solidFill>
          <a:ln w="12700">
            <a:solidFill>
              <a:srgbClr val="F9F8F5"/>
            </a:solidFill>
            <a:prstDash val="solid"/>
          </a:ln>
        </p:spPr>
        <p:txBody>
          <a:bodyPr/>
          <a:p/>
        </p:txBody>
      </p:sp>
      <p:sp>
        <p:nvSpPr>
          <p:cNvPr id="21" name="Shape 19"/>
          <p:cNvSpPr/>
          <p:nvPr/>
        </p:nvSpPr>
        <p:spPr>
          <a:xfrm>
            <a:off x="8961120" y="3566160"/>
            <a:ext cx="2606040" cy="73152"/>
          </a:xfrm>
          <a:prstGeom prst="rect">
            <a:avLst/>
          </a:prstGeom>
          <a:solidFill>
            <a:srgbClr val="0E7C6B"/>
          </a:solidFill>
          <a:ln w="12700">
            <a:solidFill>
              <a:srgbClr val="0E7C6B"/>
            </a:solidFill>
            <a:prstDash val="solid"/>
          </a:ln>
        </p:spPr>
        <p:txBody>
          <a:bodyPr/>
          <a:p/>
        </p:txBody>
      </p:sp>
      <p:sp>
        <p:nvSpPr>
          <p:cNvPr id="22" name="Text 20"/>
          <p:cNvSpPr/>
          <p:nvPr/>
        </p:nvSpPr>
        <p:spPr>
          <a:xfrm>
            <a:off x="9144000" y="3749040"/>
            <a:ext cx="2240280" cy="548640"/>
          </a:xfrm>
          <a:prstGeom prst="rect">
            <a:avLst/>
          </a:prstGeom>
          <a:noFill/>
          <a:ln/>
        </p:spPr>
        <p:txBody>
          <a:bodyPr wrap="square" lIns="0" tIns="0" rIns="0" bIns="0" rtlCol="0" anchor="t"/>
          <a:lstStyle/>
          <a:p>
            <a:pPr indent="0" marL="0">
              <a:buNone/>
            </a:pPr>
            <a:r>
              <a:rPr lang="en-US" sz="2300" b="1" dirty="0">
                <a:solidFill>
                  <a:srgbClr val="0E7C6B"/>
                </a:solidFill>
                <a:latin typeface="Palatino Linotype" pitchFamily="34" charset="0"/>
                <a:ea typeface="Palatino Linotype" pitchFamily="34" charset="-122"/>
                <a:cs typeface="Palatino Linotype" pitchFamily="34" charset="-120"/>
              </a:rPr>
              <a:t>la timp</a:t>
            </a:r>
            <a:endParaRPr lang="en-US" sz="2300" dirty="0"/>
          </a:p>
        </p:txBody>
      </p:sp>
      <p:sp>
        <p:nvSpPr>
          <p:cNvPr id="23" name="Text 21"/>
          <p:cNvSpPr/>
          <p:nvPr/>
        </p:nvSpPr>
        <p:spPr>
          <a:xfrm>
            <a:off x="9144000" y="4343400"/>
            <a:ext cx="2240280" cy="10058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sosește când mai poate fi folosită</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DOUĂ LISTE APROPIATE, NU IDENTICE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Cum verifică Organizația Mondială a Sănătății</a:t>
            </a:r>
            <a:endParaRPr lang="en-US" sz="3000" dirty="0"/>
          </a:p>
        </p:txBody>
      </p:sp>
      <p:sp>
        <p:nvSpPr>
          <p:cNvPr id="4" name="Shape 2"/>
          <p:cNvSpPr/>
          <p:nvPr/>
        </p:nvSpPr>
        <p:spPr>
          <a:xfrm>
            <a:off x="594360" y="1600200"/>
            <a:ext cx="4572000" cy="3931920"/>
          </a:xfrm>
          <a:prstGeom prst="roundRect">
            <a:avLst>
              <a:gd name="adj" fmla="val 2093"/>
            </a:avLst>
          </a:prstGeom>
          <a:solidFill>
            <a:srgbClr val="1D1F2B"/>
          </a:solidFill>
          <a:ln w="12700">
            <a:solidFill>
              <a:srgbClr val="1D1F2B"/>
            </a:solidFill>
            <a:prstDash val="solid"/>
          </a:ln>
        </p:spPr>
        <p:txBody>
          <a:bodyPr/>
          <a:p/>
        </p:txBody>
      </p:sp>
      <p:sp>
        <p:nvSpPr>
          <p:cNvPr id="5" name="Text 3"/>
          <p:cNvSpPr/>
          <p:nvPr/>
        </p:nvSpPr>
        <p:spPr>
          <a:xfrm>
            <a:off x="868680" y="1783080"/>
            <a:ext cx="4023360" cy="41148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Lista cursului</a:t>
            </a:r>
            <a:endParaRPr lang="en-US" sz="1900" dirty="0"/>
          </a:p>
        </p:txBody>
      </p:sp>
      <p:sp>
        <p:nvSpPr>
          <p:cNvPr id="6" name="Text 4"/>
          <p:cNvSpPr/>
          <p:nvPr/>
        </p:nvSpPr>
        <p:spPr>
          <a:xfrm>
            <a:off x="868680" y="2194560"/>
            <a:ext cx="402336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definiție de lucru</a:t>
            </a:r>
            <a:endParaRPr lang="en-US" sz="1500" dirty="0"/>
          </a:p>
        </p:txBody>
      </p:sp>
      <p:sp>
        <p:nvSpPr>
          <p:cNvPr id="7" name="Text 5"/>
          <p:cNvSpPr/>
          <p:nvPr/>
        </p:nvSpPr>
        <p:spPr>
          <a:xfrm>
            <a:off x="868680" y="2743200"/>
            <a:ext cx="4023360" cy="50292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  completă</a:t>
            </a:r>
            <a:endParaRPr lang="en-US" sz="2000" dirty="0"/>
          </a:p>
        </p:txBody>
      </p:sp>
      <p:sp>
        <p:nvSpPr>
          <p:cNvPr id="8" name="Text 6"/>
          <p:cNvSpPr/>
          <p:nvPr/>
        </p:nvSpPr>
        <p:spPr>
          <a:xfrm>
            <a:off x="868680" y="3337560"/>
            <a:ext cx="4023360" cy="50292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  exactă</a:t>
            </a:r>
            <a:endParaRPr lang="en-US" sz="2000" dirty="0"/>
          </a:p>
        </p:txBody>
      </p:sp>
      <p:sp>
        <p:nvSpPr>
          <p:cNvPr id="9" name="Text 7"/>
          <p:cNvSpPr/>
          <p:nvPr/>
        </p:nvSpPr>
        <p:spPr>
          <a:xfrm>
            <a:off x="868680" y="3931920"/>
            <a:ext cx="4023360" cy="50292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  consecventă</a:t>
            </a:r>
            <a:endParaRPr lang="en-US" sz="2000" dirty="0"/>
          </a:p>
        </p:txBody>
      </p:sp>
      <p:sp>
        <p:nvSpPr>
          <p:cNvPr id="10" name="Text 8"/>
          <p:cNvSpPr/>
          <p:nvPr/>
        </p:nvSpPr>
        <p:spPr>
          <a:xfrm>
            <a:off x="868680" y="4526280"/>
            <a:ext cx="4023360" cy="50292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  la timp</a:t>
            </a:r>
            <a:endParaRPr lang="en-US" sz="2000" dirty="0"/>
          </a:p>
        </p:txBody>
      </p:sp>
      <p:sp>
        <p:nvSpPr>
          <p:cNvPr id="11" name="Shape 9"/>
          <p:cNvSpPr/>
          <p:nvPr/>
        </p:nvSpPr>
        <p:spPr>
          <a:xfrm>
            <a:off x="5349240" y="1600200"/>
            <a:ext cx="6217920" cy="3931920"/>
          </a:xfrm>
          <a:prstGeom prst="roundRect">
            <a:avLst>
              <a:gd name="adj" fmla="val 2093"/>
            </a:avLst>
          </a:prstGeom>
          <a:solidFill>
            <a:srgbClr val="272A38"/>
          </a:solidFill>
          <a:ln w="12700">
            <a:solidFill>
              <a:srgbClr val="272A38"/>
            </a:solidFill>
            <a:prstDash val="solid"/>
          </a:ln>
        </p:spPr>
        <p:txBody>
          <a:bodyPr/>
          <a:p/>
        </p:txBody>
      </p:sp>
      <p:sp>
        <p:nvSpPr>
          <p:cNvPr id="12" name="Text 10"/>
          <p:cNvSpPr/>
          <p:nvPr/>
        </p:nvSpPr>
        <p:spPr>
          <a:xfrm>
            <a:off x="5623560" y="1783080"/>
            <a:ext cx="5669280" cy="41148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Ghidul OMS, 2017</a:t>
            </a:r>
            <a:endParaRPr lang="en-US" sz="1900" dirty="0"/>
          </a:p>
        </p:txBody>
      </p:sp>
      <p:sp>
        <p:nvSpPr>
          <p:cNvPr id="13" name="Text 11"/>
          <p:cNvSpPr/>
          <p:nvPr/>
        </p:nvSpPr>
        <p:spPr>
          <a:xfrm>
            <a:off x="5623560" y="2194560"/>
            <a:ext cx="566928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datele raportate de unitățile sanitare</a:t>
            </a:r>
            <a:endParaRPr lang="en-US" sz="1500" dirty="0"/>
          </a:p>
        </p:txBody>
      </p:sp>
      <p:sp>
        <p:nvSpPr>
          <p:cNvPr id="14" name="Shape 12"/>
          <p:cNvSpPr/>
          <p:nvPr/>
        </p:nvSpPr>
        <p:spPr>
          <a:xfrm>
            <a:off x="5623560" y="2779776"/>
            <a:ext cx="384048" cy="384048"/>
          </a:xfrm>
          <a:prstGeom prst="ellipse">
            <a:avLst/>
          </a:prstGeom>
          <a:solidFill>
            <a:srgbClr val="FFC24B"/>
          </a:solidFill>
          <a:ln/>
        </p:spPr>
        <p:txBody>
          <a:bodyPr/>
          <a:p/>
        </p:txBody>
      </p:sp>
      <p:sp>
        <p:nvSpPr>
          <p:cNvPr id="15" name="Text 13"/>
          <p:cNvSpPr/>
          <p:nvPr/>
        </p:nvSpPr>
        <p:spPr>
          <a:xfrm>
            <a:off x="5623560" y="2779776"/>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6" name="Text 14"/>
          <p:cNvSpPr/>
          <p:nvPr/>
        </p:nvSpPr>
        <p:spPr>
          <a:xfrm>
            <a:off x="6217920" y="2743200"/>
            <a:ext cx="5212080" cy="5029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raportări complete și prompte</a:t>
            </a:r>
            <a:endParaRPr lang="en-US" sz="1800" dirty="0"/>
          </a:p>
        </p:txBody>
      </p:sp>
      <p:sp>
        <p:nvSpPr>
          <p:cNvPr id="17" name="Shape 15"/>
          <p:cNvSpPr/>
          <p:nvPr/>
        </p:nvSpPr>
        <p:spPr>
          <a:xfrm>
            <a:off x="5623560" y="3438144"/>
            <a:ext cx="384048" cy="384048"/>
          </a:xfrm>
          <a:prstGeom prst="ellipse">
            <a:avLst/>
          </a:prstGeom>
          <a:solidFill>
            <a:srgbClr val="FFC24B"/>
          </a:solidFill>
          <a:ln/>
        </p:spPr>
        <p:txBody>
          <a:bodyPr/>
          <a:p/>
        </p:txBody>
      </p:sp>
      <p:sp>
        <p:nvSpPr>
          <p:cNvPr id="18" name="Text 16"/>
          <p:cNvSpPr/>
          <p:nvPr/>
        </p:nvSpPr>
        <p:spPr>
          <a:xfrm>
            <a:off x="5623560" y="3438144"/>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9" name="Text 17"/>
          <p:cNvSpPr/>
          <p:nvPr/>
        </p:nvSpPr>
        <p:spPr>
          <a:xfrm>
            <a:off x="6217920" y="3401568"/>
            <a:ext cx="5212080" cy="5029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consecvența internă a datelor</a:t>
            </a:r>
            <a:endParaRPr lang="en-US" sz="1800" dirty="0"/>
          </a:p>
        </p:txBody>
      </p:sp>
      <p:sp>
        <p:nvSpPr>
          <p:cNvPr id="20" name="Shape 18"/>
          <p:cNvSpPr/>
          <p:nvPr/>
        </p:nvSpPr>
        <p:spPr>
          <a:xfrm>
            <a:off x="5623560" y="4096512"/>
            <a:ext cx="384048" cy="384048"/>
          </a:xfrm>
          <a:prstGeom prst="ellipse">
            <a:avLst/>
          </a:prstGeom>
          <a:solidFill>
            <a:srgbClr val="FFC24B"/>
          </a:solidFill>
          <a:ln/>
        </p:spPr>
        <p:txBody>
          <a:bodyPr/>
          <a:p/>
        </p:txBody>
      </p:sp>
      <p:sp>
        <p:nvSpPr>
          <p:cNvPr id="21" name="Text 19"/>
          <p:cNvSpPr/>
          <p:nvPr/>
        </p:nvSpPr>
        <p:spPr>
          <a:xfrm>
            <a:off x="5623560" y="4096512"/>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2" name="Text 20"/>
          <p:cNvSpPr/>
          <p:nvPr/>
        </p:nvSpPr>
        <p:spPr>
          <a:xfrm>
            <a:off x="6217920" y="4059936"/>
            <a:ext cx="5212080" cy="5029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acordul cu alte surse, de pildă cu sondajele</a:t>
            </a:r>
            <a:endParaRPr lang="en-US" sz="1800" dirty="0"/>
          </a:p>
        </p:txBody>
      </p:sp>
      <p:sp>
        <p:nvSpPr>
          <p:cNvPr id="23" name="Shape 21"/>
          <p:cNvSpPr/>
          <p:nvPr/>
        </p:nvSpPr>
        <p:spPr>
          <a:xfrm>
            <a:off x="5623560" y="4754880"/>
            <a:ext cx="384048" cy="384048"/>
          </a:xfrm>
          <a:prstGeom prst="ellipse">
            <a:avLst/>
          </a:prstGeom>
          <a:solidFill>
            <a:srgbClr val="FFC24B"/>
          </a:solidFill>
          <a:ln/>
        </p:spPr>
        <p:txBody>
          <a:bodyPr/>
          <a:p/>
        </p:txBody>
      </p:sp>
      <p:sp>
        <p:nvSpPr>
          <p:cNvPr id="24" name="Text 22"/>
          <p:cNvSpPr/>
          <p:nvPr/>
        </p:nvSpPr>
        <p:spPr>
          <a:xfrm>
            <a:off x="5623560" y="4754880"/>
            <a:ext cx="384048" cy="38404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5" name="Text 23"/>
          <p:cNvSpPr/>
          <p:nvPr/>
        </p:nvSpPr>
        <p:spPr>
          <a:xfrm>
            <a:off x="6217920" y="4718304"/>
            <a:ext cx="5212080" cy="5029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numitorii corecți: cifrele de populație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TREI MINUTE CU COLEGUL DE BANCĂ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Puneți exemplului din județ cele patru întrebări</a:t>
            </a:r>
            <a:endParaRPr lang="en-US" sz="3000" dirty="0"/>
          </a:p>
        </p:txBody>
      </p:sp>
      <p:sp>
        <p:nvSpPr>
          <p:cNvPr id="6" name="Shape 4"/>
          <p:cNvSpPr/>
          <p:nvPr/>
        </p:nvSpPr>
        <p:spPr>
          <a:xfrm>
            <a:off x="594360" y="1737360"/>
            <a:ext cx="7498080" cy="640080"/>
          </a:xfrm>
          <a:prstGeom prst="roundRect">
            <a:avLst>
              <a:gd name="adj" fmla="val 12857"/>
            </a:avLst>
          </a:prstGeom>
          <a:solidFill>
            <a:srgbClr val="1D1F2B"/>
          </a:solidFill>
          <a:ln w="12700">
            <a:solidFill>
              <a:srgbClr val="1D1F2B"/>
            </a:solidFill>
            <a:prstDash val="solid"/>
          </a:ln>
        </p:spPr>
        <p:txBody>
          <a:bodyPr/>
          <a:p/>
        </p:txBody>
      </p:sp>
      <p:sp>
        <p:nvSpPr>
          <p:cNvPr id="7" name="Shape 5"/>
          <p:cNvSpPr/>
          <p:nvPr/>
        </p:nvSpPr>
        <p:spPr>
          <a:xfrm>
            <a:off x="868680" y="1847088"/>
            <a:ext cx="420624" cy="420624"/>
          </a:xfrm>
          <a:prstGeom prst="ellipse">
            <a:avLst/>
          </a:prstGeom>
          <a:solidFill>
            <a:srgbClr val="FFC24B"/>
          </a:solidFill>
          <a:ln/>
        </p:spPr>
        <p:txBody>
          <a:bodyPr/>
          <a:p/>
        </p:txBody>
      </p:sp>
      <p:sp>
        <p:nvSpPr>
          <p:cNvPr id="8" name="Text 6"/>
          <p:cNvSpPr/>
          <p:nvPr/>
        </p:nvSpPr>
        <p:spPr>
          <a:xfrm>
            <a:off x="868680" y="18470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737360"/>
            <a:ext cx="6309360" cy="64008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Este completă?</a:t>
            </a:r>
            <a:endParaRPr lang="en-US" sz="2100" dirty="0"/>
          </a:p>
        </p:txBody>
      </p:sp>
      <p:sp>
        <p:nvSpPr>
          <p:cNvPr id="10" name="Shape 8"/>
          <p:cNvSpPr/>
          <p:nvPr/>
        </p:nvSpPr>
        <p:spPr>
          <a:xfrm>
            <a:off x="594360" y="2514600"/>
            <a:ext cx="7498080" cy="640080"/>
          </a:xfrm>
          <a:prstGeom prst="roundRect">
            <a:avLst>
              <a:gd name="adj" fmla="val 12857"/>
            </a:avLst>
          </a:prstGeom>
          <a:solidFill>
            <a:srgbClr val="1D1F2B"/>
          </a:solidFill>
          <a:ln w="12700">
            <a:solidFill>
              <a:srgbClr val="1D1F2B"/>
            </a:solidFill>
            <a:prstDash val="solid"/>
          </a:ln>
        </p:spPr>
        <p:txBody>
          <a:bodyPr/>
          <a:p/>
        </p:txBody>
      </p:sp>
      <p:sp>
        <p:nvSpPr>
          <p:cNvPr id="11" name="Shape 9"/>
          <p:cNvSpPr/>
          <p:nvPr/>
        </p:nvSpPr>
        <p:spPr>
          <a:xfrm>
            <a:off x="868680" y="2624328"/>
            <a:ext cx="420624" cy="420624"/>
          </a:xfrm>
          <a:prstGeom prst="ellipse">
            <a:avLst/>
          </a:prstGeom>
          <a:solidFill>
            <a:srgbClr val="FFC24B"/>
          </a:solidFill>
          <a:ln/>
        </p:spPr>
        <p:txBody>
          <a:bodyPr/>
          <a:p/>
        </p:txBody>
      </p:sp>
      <p:sp>
        <p:nvSpPr>
          <p:cNvPr id="12" name="Text 10"/>
          <p:cNvSpPr/>
          <p:nvPr/>
        </p:nvSpPr>
        <p:spPr>
          <a:xfrm>
            <a:off x="868680" y="26243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514600"/>
            <a:ext cx="6309360" cy="64008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Este exactă?</a:t>
            </a:r>
            <a:endParaRPr lang="en-US" sz="2100" dirty="0"/>
          </a:p>
        </p:txBody>
      </p:sp>
      <p:sp>
        <p:nvSpPr>
          <p:cNvPr id="14" name="Shape 12"/>
          <p:cNvSpPr/>
          <p:nvPr/>
        </p:nvSpPr>
        <p:spPr>
          <a:xfrm>
            <a:off x="594360" y="3291840"/>
            <a:ext cx="7498080" cy="640080"/>
          </a:xfrm>
          <a:prstGeom prst="roundRect">
            <a:avLst>
              <a:gd name="adj" fmla="val 12857"/>
            </a:avLst>
          </a:prstGeom>
          <a:solidFill>
            <a:srgbClr val="1D1F2B"/>
          </a:solidFill>
          <a:ln w="12700">
            <a:solidFill>
              <a:srgbClr val="1D1F2B"/>
            </a:solidFill>
            <a:prstDash val="solid"/>
          </a:ln>
        </p:spPr>
        <p:txBody>
          <a:bodyPr/>
          <a:p/>
        </p:txBody>
      </p:sp>
      <p:sp>
        <p:nvSpPr>
          <p:cNvPr id="15" name="Shape 13"/>
          <p:cNvSpPr/>
          <p:nvPr/>
        </p:nvSpPr>
        <p:spPr>
          <a:xfrm>
            <a:off x="868680" y="3401568"/>
            <a:ext cx="420624" cy="420624"/>
          </a:xfrm>
          <a:prstGeom prst="ellipse">
            <a:avLst/>
          </a:prstGeom>
          <a:solidFill>
            <a:srgbClr val="FFC24B"/>
          </a:solidFill>
          <a:ln/>
        </p:spPr>
        <p:txBody>
          <a:bodyPr/>
          <a:p/>
        </p:txBody>
      </p:sp>
      <p:sp>
        <p:nvSpPr>
          <p:cNvPr id="16" name="Text 14"/>
          <p:cNvSpPr/>
          <p:nvPr/>
        </p:nvSpPr>
        <p:spPr>
          <a:xfrm>
            <a:off x="868680" y="34015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291840"/>
            <a:ext cx="6309360" cy="64008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Este consecventă?</a:t>
            </a:r>
            <a:endParaRPr lang="en-US" sz="2100" dirty="0"/>
          </a:p>
        </p:txBody>
      </p:sp>
      <p:sp>
        <p:nvSpPr>
          <p:cNvPr id="18" name="Shape 16"/>
          <p:cNvSpPr/>
          <p:nvPr/>
        </p:nvSpPr>
        <p:spPr>
          <a:xfrm>
            <a:off x="594360" y="4069080"/>
            <a:ext cx="7498080" cy="640080"/>
          </a:xfrm>
          <a:prstGeom prst="roundRect">
            <a:avLst>
              <a:gd name="adj" fmla="val 12857"/>
            </a:avLst>
          </a:prstGeom>
          <a:solidFill>
            <a:srgbClr val="1D1F2B"/>
          </a:solidFill>
          <a:ln w="12700">
            <a:solidFill>
              <a:srgbClr val="1D1F2B"/>
            </a:solidFill>
            <a:prstDash val="solid"/>
          </a:ln>
        </p:spPr>
        <p:txBody>
          <a:bodyPr/>
          <a:p/>
        </p:txBody>
      </p:sp>
      <p:sp>
        <p:nvSpPr>
          <p:cNvPr id="19" name="Shape 17"/>
          <p:cNvSpPr/>
          <p:nvPr/>
        </p:nvSpPr>
        <p:spPr>
          <a:xfrm>
            <a:off x="868680" y="4178808"/>
            <a:ext cx="420624" cy="420624"/>
          </a:xfrm>
          <a:prstGeom prst="ellipse">
            <a:avLst/>
          </a:prstGeom>
          <a:solidFill>
            <a:srgbClr val="FFC24B"/>
          </a:solidFill>
          <a:ln/>
        </p:spPr>
        <p:txBody>
          <a:bodyPr/>
          <a:p/>
        </p:txBody>
      </p:sp>
      <p:sp>
        <p:nvSpPr>
          <p:cNvPr id="20" name="Text 18"/>
          <p:cNvSpPr/>
          <p:nvPr/>
        </p:nvSpPr>
        <p:spPr>
          <a:xfrm>
            <a:off x="868680" y="41788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069080"/>
            <a:ext cx="6309360" cy="64008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A sosit la timp?</a:t>
            </a:r>
            <a:endParaRPr lang="en-US" sz="2100" dirty="0"/>
          </a:p>
        </p:txBody>
      </p:sp>
      <p:sp>
        <p:nvSpPr>
          <p:cNvPr id="22" name="Text 20"/>
          <p:cNvSpPr/>
          <p:nvPr/>
        </p:nvSpPr>
        <p:spPr>
          <a:xfrm>
            <a:off x="594360" y="4937760"/>
            <a:ext cx="10972800" cy="73152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La care răspunsul este „nu” sau „nu știm”? Votați apoi întrebarea care vă îngrijorează cel mai mult.</a:t>
            </a:r>
            <a:endParaRPr lang="en-US" sz="1800" dirty="0"/>
          </a:p>
        </p:txBody>
      </p:sp>
      <p:sp>
        <p:nvSpPr>
          <p:cNvPr id="23" name="Text 21"/>
          <p:cNvSpPr/>
          <p:nvPr/>
        </p:nvSpPr>
        <p:spPr>
          <a:xfrm>
            <a:off x="594360" y="5760720"/>
            <a:ext cx="7680960" cy="365760"/>
          </a:xfrm>
          <a:prstGeom prst="rect">
            <a:avLst/>
          </a:prstGeom>
          <a:noFill/>
          <a:ln/>
        </p:spPr>
        <p:txBody>
          <a:bodyPr wrap="square" lIns="0" tIns="0" rIns="0" bIns="0" rtlCol="0" anchor="t"/>
          <a:lstStyle/>
          <a:p>
            <a:pPr indent="0" marL="0">
              <a:buNone/>
            </a:pPr>
            <a:r>
              <a:rPr lang="en-US" sz="1600" b="1" i="1" dirty="0">
                <a:solidFill>
                  <a:srgbClr val="27D3BE"/>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CELE PATRU ÎNTREBĂRI, PE EXEMPLU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ar găsi cine verifică cifra</a:t>
            </a:r>
            <a:endParaRPr lang="en-US" sz="3000" dirty="0"/>
          </a:p>
        </p:txBody>
      </p:sp>
      <p:sp>
        <p:nvSpPr>
          <p:cNvPr id="4" name="Shape 2"/>
          <p:cNvSpPr/>
          <p:nvPr/>
        </p:nvSpPr>
        <p:spPr>
          <a:xfrm>
            <a:off x="594360" y="1554480"/>
            <a:ext cx="10972800" cy="914400"/>
          </a:xfrm>
          <a:prstGeom prst="roundRect">
            <a:avLst>
              <a:gd name="adj" fmla="val 9000"/>
            </a:avLst>
          </a:prstGeom>
          <a:solidFill>
            <a:srgbClr val="ECEAE4"/>
          </a:solidFill>
          <a:ln w="12700">
            <a:solidFill>
              <a:srgbClr val="ECEAE4"/>
            </a:solidFill>
            <a:prstDash val="solid"/>
          </a:ln>
        </p:spPr>
        <p:txBody>
          <a:bodyPr/>
          <a:p/>
        </p:txBody>
      </p:sp>
      <p:sp>
        <p:nvSpPr>
          <p:cNvPr id="5" name="Text 3"/>
          <p:cNvSpPr/>
          <p:nvPr/>
        </p:nvSpPr>
        <p:spPr>
          <a:xfrm>
            <a:off x="868680" y="1554480"/>
            <a:ext cx="2377440" cy="914400"/>
          </a:xfrm>
          <a:prstGeom prst="rect">
            <a:avLst/>
          </a:prstGeom>
          <a:noFill/>
          <a:ln/>
        </p:spPr>
        <p:txBody>
          <a:bodyPr wrap="square" lIns="0" tIns="0" rIns="0" bIns="0" rtlCol="0" anchor="ctr"/>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Completă?</a:t>
            </a:r>
            <a:endParaRPr lang="en-US" sz="2000" dirty="0"/>
          </a:p>
        </p:txBody>
      </p:sp>
      <p:sp>
        <p:nvSpPr>
          <p:cNvPr id="6" name="Text 4"/>
          <p:cNvSpPr/>
          <p:nvPr/>
        </p:nvSpPr>
        <p:spPr>
          <a:xfrm>
            <a:off x="3291840" y="1554480"/>
            <a:ext cx="8092440" cy="91440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Au raportat toate comunele? Formularele întârziate sugerează că nu.</a:t>
            </a:r>
            <a:endParaRPr lang="en-US" sz="1700" dirty="0"/>
          </a:p>
        </p:txBody>
      </p:sp>
      <p:sp>
        <p:nvSpPr>
          <p:cNvPr id="7" name="Shape 5"/>
          <p:cNvSpPr/>
          <p:nvPr/>
        </p:nvSpPr>
        <p:spPr>
          <a:xfrm>
            <a:off x="594360" y="2606040"/>
            <a:ext cx="10972800" cy="914400"/>
          </a:xfrm>
          <a:prstGeom prst="roundRect">
            <a:avLst>
              <a:gd name="adj" fmla="val 9000"/>
            </a:avLst>
          </a:prstGeom>
          <a:solidFill>
            <a:srgbClr val="F9F8F5"/>
          </a:solidFill>
          <a:ln w="12700">
            <a:solidFill>
              <a:srgbClr val="F9F8F5"/>
            </a:solidFill>
            <a:prstDash val="solid"/>
          </a:ln>
        </p:spPr>
        <p:txBody>
          <a:bodyPr/>
          <a:p/>
        </p:txBody>
      </p:sp>
      <p:sp>
        <p:nvSpPr>
          <p:cNvPr id="8" name="Text 6"/>
          <p:cNvSpPr/>
          <p:nvPr/>
        </p:nvSpPr>
        <p:spPr>
          <a:xfrm>
            <a:off x="868680" y="2606040"/>
            <a:ext cx="2377440" cy="914400"/>
          </a:xfrm>
          <a:prstGeom prst="rect">
            <a:avLst/>
          </a:prstGeom>
          <a:noFill/>
          <a:ln/>
        </p:spPr>
        <p:txBody>
          <a:bodyPr wrap="square" lIns="0" tIns="0" rIns="0" bIns="0" rtlCol="0" anchor="ctr"/>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Exactă?</a:t>
            </a:r>
            <a:endParaRPr lang="en-US" sz="2000" dirty="0"/>
          </a:p>
        </p:txBody>
      </p:sp>
      <p:sp>
        <p:nvSpPr>
          <p:cNvPr id="9" name="Text 7"/>
          <p:cNvSpPr/>
          <p:nvPr/>
        </p:nvSpPr>
        <p:spPr>
          <a:xfrm>
            <a:off x="3291840" y="2606040"/>
            <a:ext cx="8092440" cy="91440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O rată negativă se respinge. O valoare lipsă nu devine zero.</a:t>
            </a:r>
            <a:endParaRPr lang="en-US" sz="1700" dirty="0"/>
          </a:p>
        </p:txBody>
      </p:sp>
      <p:sp>
        <p:nvSpPr>
          <p:cNvPr id="10" name="Shape 8"/>
          <p:cNvSpPr/>
          <p:nvPr/>
        </p:nvSpPr>
        <p:spPr>
          <a:xfrm>
            <a:off x="594360" y="3657600"/>
            <a:ext cx="10972800" cy="914400"/>
          </a:xfrm>
          <a:prstGeom prst="roundRect">
            <a:avLst>
              <a:gd name="adj" fmla="val 9000"/>
            </a:avLst>
          </a:prstGeom>
          <a:solidFill>
            <a:srgbClr val="ECEAE4"/>
          </a:solidFill>
          <a:ln w="12700">
            <a:solidFill>
              <a:srgbClr val="ECEAE4"/>
            </a:solidFill>
            <a:prstDash val="solid"/>
          </a:ln>
        </p:spPr>
        <p:txBody>
          <a:bodyPr/>
          <a:p/>
        </p:txBody>
      </p:sp>
      <p:sp>
        <p:nvSpPr>
          <p:cNvPr id="11" name="Text 9"/>
          <p:cNvSpPr/>
          <p:nvPr/>
        </p:nvSpPr>
        <p:spPr>
          <a:xfrm>
            <a:off x="868680" y="3657600"/>
            <a:ext cx="2377440" cy="914400"/>
          </a:xfrm>
          <a:prstGeom prst="rect">
            <a:avLst/>
          </a:prstGeom>
          <a:noFill/>
          <a:ln/>
        </p:spPr>
        <p:txBody>
          <a:bodyPr wrap="square" lIns="0" tIns="0" rIns="0" bIns="0" rtlCol="0" anchor="ctr"/>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Consecventă?</a:t>
            </a:r>
            <a:endParaRPr lang="en-US" sz="2000" dirty="0"/>
          </a:p>
        </p:txBody>
      </p:sp>
      <p:sp>
        <p:nvSpPr>
          <p:cNvPr id="12" name="Text 10"/>
          <p:cNvSpPr/>
          <p:nvPr/>
        </p:nvSpPr>
        <p:spPr>
          <a:xfrm>
            <a:off x="3291840" y="3657600"/>
            <a:ext cx="8092440" cy="91440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salt brusc („valoare extremă”) se verifică, apoi se compară cu internările din spital.</a:t>
            </a:r>
            <a:endParaRPr lang="en-US" sz="1700" dirty="0"/>
          </a:p>
        </p:txBody>
      </p:sp>
      <p:sp>
        <p:nvSpPr>
          <p:cNvPr id="13" name="Shape 11"/>
          <p:cNvSpPr/>
          <p:nvPr/>
        </p:nvSpPr>
        <p:spPr>
          <a:xfrm>
            <a:off x="594360" y="4709160"/>
            <a:ext cx="10972800" cy="914400"/>
          </a:xfrm>
          <a:prstGeom prst="roundRect">
            <a:avLst>
              <a:gd name="adj" fmla="val 9000"/>
            </a:avLst>
          </a:prstGeom>
          <a:solidFill>
            <a:srgbClr val="F9F8F5"/>
          </a:solidFill>
          <a:ln w="12700">
            <a:solidFill>
              <a:srgbClr val="F9F8F5"/>
            </a:solidFill>
            <a:prstDash val="solid"/>
          </a:ln>
        </p:spPr>
        <p:txBody>
          <a:bodyPr/>
          <a:p/>
        </p:txBody>
      </p:sp>
      <p:sp>
        <p:nvSpPr>
          <p:cNvPr id="14" name="Text 12"/>
          <p:cNvSpPr/>
          <p:nvPr/>
        </p:nvSpPr>
        <p:spPr>
          <a:xfrm>
            <a:off x="868680" y="4709160"/>
            <a:ext cx="2377440" cy="914400"/>
          </a:xfrm>
          <a:prstGeom prst="rect">
            <a:avLst/>
          </a:prstGeom>
          <a:noFill/>
          <a:ln/>
        </p:spPr>
        <p:txBody>
          <a:bodyPr wrap="square" lIns="0" tIns="0" rIns="0" bIns="0" rtlCol="0" anchor="ctr"/>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La timp?</a:t>
            </a:r>
            <a:endParaRPr lang="en-US" sz="2000" dirty="0"/>
          </a:p>
        </p:txBody>
      </p:sp>
      <p:sp>
        <p:nvSpPr>
          <p:cNvPr id="15" name="Text 13"/>
          <p:cNvSpPr/>
          <p:nvPr/>
        </p:nvSpPr>
        <p:spPr>
          <a:xfrm>
            <a:off x="3291840" y="4709160"/>
            <a:ext cx="8092440" cy="91440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O cifră sosită după un an nu mai ajută decizia din această iarnă.</a:t>
            </a:r>
            <a:endParaRPr lang="en-US" sz="1700" dirty="0"/>
          </a:p>
        </p:txBody>
      </p:sp>
      <p:sp>
        <p:nvSpPr>
          <p:cNvPr id="16" name="Text 14"/>
          <p:cNvSpPr/>
          <p:nvPr/>
        </p:nvSpPr>
        <p:spPr>
          <a:xfrm>
            <a:off x="594360" y="5806440"/>
            <a:ext cx="10972800" cy="41148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Triangularea: verificați cifra cu alte surse, independente.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O LATURĂ MAI PUȚIN VIZIBILĂ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Regulile de numărare se pot schimba</a:t>
            </a:r>
            <a:endParaRPr lang="en-US" sz="3000" dirty="0"/>
          </a:p>
        </p:txBody>
      </p:sp>
      <p:sp>
        <p:nvSpPr>
          <p:cNvPr id="4" name="Shape 2"/>
          <p:cNvSpPr/>
          <p:nvPr/>
        </p:nvSpPr>
        <p:spPr>
          <a:xfrm>
            <a:off x="594360" y="2331720"/>
            <a:ext cx="10972800" cy="45720"/>
          </a:xfrm>
          <a:prstGeom prst="rect">
            <a:avLst/>
          </a:prstGeom>
          <a:solidFill>
            <a:srgbClr val="272A38"/>
          </a:solidFill>
          <a:ln w="12700">
            <a:solidFill>
              <a:srgbClr val="272A38"/>
            </a:solidFill>
            <a:prstDash val="solid"/>
          </a:ln>
        </p:spPr>
        <p:txBody>
          <a:bodyPr/>
          <a:p/>
        </p:txBody>
      </p:sp>
      <p:sp>
        <p:nvSpPr>
          <p:cNvPr id="5" name="Shape 3"/>
          <p:cNvSpPr/>
          <p:nvPr/>
        </p:nvSpPr>
        <p:spPr>
          <a:xfrm>
            <a:off x="6035040" y="1691640"/>
            <a:ext cx="54864" cy="1325880"/>
          </a:xfrm>
          <a:prstGeom prst="rect">
            <a:avLst/>
          </a:prstGeom>
          <a:solidFill>
            <a:srgbClr val="FF4757"/>
          </a:solidFill>
          <a:ln w="12700">
            <a:solidFill>
              <a:srgbClr val="FF4757"/>
            </a:solidFill>
            <a:prstDash val="solid"/>
          </a:ln>
        </p:spPr>
        <p:txBody>
          <a:bodyPr/>
          <a:p/>
        </p:txBody>
      </p:sp>
      <p:sp>
        <p:nvSpPr>
          <p:cNvPr id="6" name="Text 4"/>
          <p:cNvSpPr/>
          <p:nvPr/>
        </p:nvSpPr>
        <p:spPr>
          <a:xfrm>
            <a:off x="594360" y="1645920"/>
            <a:ext cx="5212080" cy="54864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2012 și 2013</a:t>
            </a:r>
            <a:endParaRPr lang="en-US" sz="2600" dirty="0"/>
          </a:p>
        </p:txBody>
      </p:sp>
      <p:sp>
        <p:nvSpPr>
          <p:cNvPr id="7" name="Text 5"/>
          <p:cNvSpPr/>
          <p:nvPr/>
        </p:nvSpPr>
        <p:spPr>
          <a:xfrm>
            <a:off x="594360" y="2514600"/>
            <a:ext cx="5212080" cy="8229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decesele și nașterile, repartizate după domiciliu</a:t>
            </a:r>
            <a:endParaRPr lang="en-US" sz="1800" dirty="0"/>
          </a:p>
        </p:txBody>
      </p:sp>
      <p:sp>
        <p:nvSpPr>
          <p:cNvPr id="8" name="Text 6"/>
          <p:cNvSpPr/>
          <p:nvPr/>
        </p:nvSpPr>
        <p:spPr>
          <a:xfrm>
            <a:off x="6355080" y="1645920"/>
            <a:ext cx="5212080" cy="548640"/>
          </a:xfrm>
          <a:prstGeom prst="rect">
            <a:avLst/>
          </a:prstGeom>
          <a:noFill/>
          <a:ln/>
        </p:spPr>
        <p:txBody>
          <a:bodyPr wrap="square" lIns="0" tIns="0" rIns="0" bIns="0" rtlCol="0" anchor="t"/>
          <a:lstStyle/>
          <a:p>
            <a:pPr indent="0" marL="0">
              <a:buNone/>
            </a:pPr>
            <a:r>
              <a:rPr lang="en-US" sz="2600" b="1" dirty="0">
                <a:solidFill>
                  <a:srgbClr val="FFC24B"/>
                </a:solidFill>
                <a:latin typeface="Palatino Linotype" pitchFamily="34" charset="0"/>
                <a:ea typeface="Palatino Linotype" pitchFamily="34" charset="-122"/>
                <a:cs typeface="Palatino Linotype" pitchFamily="34" charset="-120"/>
              </a:rPr>
              <a:t>începând cu 2014</a:t>
            </a:r>
            <a:endParaRPr lang="en-US" sz="2600" dirty="0"/>
          </a:p>
        </p:txBody>
      </p:sp>
      <p:sp>
        <p:nvSpPr>
          <p:cNvPr id="9" name="Text 7"/>
          <p:cNvSpPr/>
          <p:nvPr/>
        </p:nvSpPr>
        <p:spPr>
          <a:xfrm>
            <a:off x="6355080" y="2514600"/>
            <a:ext cx="5212080" cy="8229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după reședința obișnuită</a:t>
            </a:r>
            <a:endParaRPr lang="en-US" sz="1800" dirty="0"/>
          </a:p>
        </p:txBody>
      </p:sp>
      <p:sp>
        <p:nvSpPr>
          <p:cNvPr id="10" name="Text 8"/>
          <p:cNvSpPr/>
          <p:nvPr/>
        </p:nvSpPr>
        <p:spPr>
          <a:xfrm>
            <a:off x="594360" y="3611880"/>
            <a:ext cx="10972800" cy="731520"/>
          </a:xfrm>
          <a:prstGeom prst="rect">
            <a:avLst/>
          </a:prstGeom>
          <a:noFill/>
          <a:ln/>
        </p:spPr>
        <p:txBody>
          <a:bodyPr wrap="square" lIns="0" tIns="0" rIns="0" bIns="0" rtlCol="0" anchor="t"/>
          <a:lstStyle/>
          <a:p>
            <a:pPr indent="0" marL="0">
              <a:buNone/>
            </a:pPr>
            <a:r>
              <a:rPr lang="en-US" sz="2000" dirty="0">
                <a:solidFill>
                  <a:srgbClr val="E6E8EF"/>
                </a:solidFill>
                <a:latin typeface="Palatino Linotype" pitchFamily="34" charset="0"/>
                <a:ea typeface="Palatino Linotype" pitchFamily="34" charset="-122"/>
                <a:cs typeface="Palatino Linotype" pitchFamily="34" charset="-120"/>
              </a:rPr>
              <a:t>Comparați 2013 cu 2014 cu grijă: nu se numără exact aceiași oameni.</a:t>
            </a:r>
            <a:endParaRPr lang="en-US" sz="2000" dirty="0"/>
          </a:p>
        </p:txBody>
      </p:sp>
      <p:sp>
        <p:nvSpPr>
          <p:cNvPr id="11" name="Shape 9"/>
          <p:cNvSpPr/>
          <p:nvPr/>
        </p:nvSpPr>
        <p:spPr>
          <a:xfrm>
            <a:off x="594360" y="4526280"/>
            <a:ext cx="10972800" cy="1188720"/>
          </a:xfrm>
          <a:prstGeom prst="roundRect">
            <a:avLst>
              <a:gd name="adj" fmla="val 6923"/>
            </a:avLst>
          </a:prstGeom>
          <a:solidFill>
            <a:srgbClr val="1D1F2B"/>
          </a:solidFill>
          <a:ln w="12700">
            <a:solidFill>
              <a:srgbClr val="1D1F2B"/>
            </a:solidFill>
            <a:prstDash val="solid"/>
          </a:ln>
        </p:spPr>
        <p:txBody>
          <a:bodyPr/>
          <a:p/>
        </p:txBody>
      </p:sp>
      <p:sp>
        <p:nvSpPr>
          <p:cNvPr id="12" name="Text 10"/>
          <p:cNvSpPr/>
          <p:nvPr/>
        </p:nvSpPr>
        <p:spPr>
          <a:xfrm>
            <a:off x="868680" y="4526280"/>
            <a:ext cx="10424160" cy="1188720"/>
          </a:xfrm>
          <a:prstGeom prst="rect">
            <a:avLst/>
          </a:prstGeom>
          <a:noFill/>
          <a:ln/>
        </p:spPr>
        <p:txBody>
          <a:bodyPr wrap="square" lIns="0" tIns="0" rIns="0" bIns="0" rtlCol="0" anchor="ctr"/>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Ruptura de serie </a:t>
            </a:r>
            <a:pPr indent="0" marL="0">
              <a:buNone/>
            </a:pPr>
            <a:r>
              <a:rPr lang="en-US" sz="2000" dirty="0">
                <a:solidFill>
                  <a:srgbClr val="FFFFFF"/>
                </a:solidFill>
                <a:latin typeface="Palatino Linotype" pitchFamily="34" charset="0"/>
                <a:ea typeface="Palatino Linotype" pitchFamily="34" charset="-122"/>
                <a:cs typeface="Palatino Linotype" pitchFamily="34" charset="-120"/>
              </a:rPr>
              <a:t>înseamnă că „de aici încolo se numără altfel”. Se scrie lângă cifră, nu se ascunde.</a:t>
            </a:r>
            <a:endParaRPr lang="en-US" sz="2000" dirty="0"/>
          </a:p>
        </p:txBody>
      </p:sp>
      <p:sp>
        <p:nvSpPr>
          <p:cNvPr id="13" name="Text 11"/>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7E849A"/>
                </a:solidFill>
                <a:latin typeface="Palatino Linotype" pitchFamily="34" charset="0"/>
                <a:ea typeface="Palatino Linotype" pitchFamily="34" charset="-122"/>
                <a:cs typeface="Palatino Linotype" pitchFamily="34" charset="-120"/>
              </a:rPr>
              <a:t>Sursa: Institutul Național de Statistică, TEMPO Online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DIN DATE, INDICATORI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Speranța de viață la naștere, 2024</a:t>
            </a:r>
            <a:endParaRPr lang="en-US" sz="3000" dirty="0"/>
          </a:p>
        </p:txBody>
      </p:sp>
      <p:sp>
        <p:nvSpPr>
          <p:cNvPr id="4" name="Text 2"/>
          <p:cNvSpPr/>
          <p:nvPr/>
        </p:nvSpPr>
        <p:spPr>
          <a:xfrm>
            <a:off x="594360" y="1463040"/>
            <a:ext cx="6400800" cy="36576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Ani, România față de media Uniunii Europene</a:t>
            </a:r>
            <a:endParaRPr lang="en-US" sz="1500" dirty="0"/>
          </a:p>
        </p:txBody>
      </p:sp>
      <p:sp>
        <p:nvSpPr>
          <p:cNvPr id="5" name="Text 3"/>
          <p:cNvSpPr/>
          <p:nvPr/>
        </p:nvSpPr>
        <p:spPr>
          <a:xfrm>
            <a:off x="594360" y="2011680"/>
            <a:ext cx="1280160" cy="1188720"/>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Bărbați</a:t>
            </a:r>
            <a:endParaRPr lang="en-US" sz="1800" dirty="0"/>
          </a:p>
        </p:txBody>
      </p:sp>
      <p:sp>
        <p:nvSpPr>
          <p:cNvPr id="6" name="Shape 4"/>
          <p:cNvSpPr/>
          <p:nvPr/>
        </p:nvSpPr>
        <p:spPr>
          <a:xfrm>
            <a:off x="1920240" y="2011680"/>
            <a:ext cx="3994099" cy="502920"/>
          </a:xfrm>
          <a:prstGeom prst="rect">
            <a:avLst/>
          </a:prstGeom>
          <a:solidFill>
            <a:srgbClr val="B02532"/>
          </a:solidFill>
          <a:ln w="12700">
            <a:solidFill>
              <a:srgbClr val="B02532"/>
            </a:solidFill>
            <a:prstDash val="solid"/>
          </a:ln>
        </p:spPr>
        <p:txBody>
          <a:bodyPr/>
          <a:p/>
        </p:txBody>
      </p:sp>
      <p:sp>
        <p:nvSpPr>
          <p:cNvPr id="7" name="Text 5"/>
          <p:cNvSpPr/>
          <p:nvPr/>
        </p:nvSpPr>
        <p:spPr>
          <a:xfrm>
            <a:off x="2057400" y="2011680"/>
            <a:ext cx="1463040" cy="502920"/>
          </a:xfrm>
          <a:prstGeom prst="rect">
            <a:avLst/>
          </a:prstGeom>
          <a:noFill/>
          <a:ln/>
        </p:spPr>
        <p:txBody>
          <a:bodyPr wrap="square" lIns="0" tIns="0" rIns="0" bIns="0" rtlCol="0" anchor="ct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România</a:t>
            </a:r>
            <a:endParaRPr lang="en-US" sz="1400" dirty="0"/>
          </a:p>
        </p:txBody>
      </p:sp>
      <p:sp>
        <p:nvSpPr>
          <p:cNvPr id="8" name="Text 6"/>
          <p:cNvSpPr/>
          <p:nvPr/>
        </p:nvSpPr>
        <p:spPr>
          <a:xfrm>
            <a:off x="6024067" y="2011680"/>
            <a:ext cx="822960" cy="50292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72,8</a:t>
            </a:r>
            <a:endParaRPr lang="en-US" sz="1700" dirty="0"/>
          </a:p>
        </p:txBody>
      </p:sp>
      <p:sp>
        <p:nvSpPr>
          <p:cNvPr id="9" name="Shape 7"/>
          <p:cNvSpPr/>
          <p:nvPr/>
        </p:nvSpPr>
        <p:spPr>
          <a:xfrm>
            <a:off x="1920240" y="2633472"/>
            <a:ext cx="4328770" cy="502920"/>
          </a:xfrm>
          <a:prstGeom prst="rect">
            <a:avLst/>
          </a:prstGeom>
          <a:solidFill>
            <a:srgbClr val="585A64"/>
          </a:solidFill>
          <a:ln w="12700">
            <a:solidFill>
              <a:srgbClr val="585A64"/>
            </a:solidFill>
            <a:prstDash val="solid"/>
          </a:ln>
        </p:spPr>
        <p:txBody>
          <a:bodyPr/>
          <a:p/>
        </p:txBody>
      </p:sp>
      <p:sp>
        <p:nvSpPr>
          <p:cNvPr id="10" name="Text 8"/>
          <p:cNvSpPr/>
          <p:nvPr/>
        </p:nvSpPr>
        <p:spPr>
          <a:xfrm>
            <a:off x="2057400" y="2633472"/>
            <a:ext cx="1463040" cy="502920"/>
          </a:xfrm>
          <a:prstGeom prst="rect">
            <a:avLst/>
          </a:prstGeom>
          <a:noFill/>
          <a:ln/>
        </p:spPr>
        <p:txBody>
          <a:bodyPr wrap="square" lIns="0" tIns="0" rIns="0" bIns="0" rtlCol="0" anchor="ct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UE</a:t>
            </a:r>
            <a:endParaRPr lang="en-US" sz="1400" dirty="0"/>
          </a:p>
        </p:txBody>
      </p:sp>
      <p:sp>
        <p:nvSpPr>
          <p:cNvPr id="11" name="Text 9"/>
          <p:cNvSpPr/>
          <p:nvPr/>
        </p:nvSpPr>
        <p:spPr>
          <a:xfrm>
            <a:off x="6358738" y="2633472"/>
            <a:ext cx="822960" cy="502920"/>
          </a:xfrm>
          <a:prstGeom prst="rect">
            <a:avLst/>
          </a:prstGeom>
          <a:noFill/>
          <a:ln/>
        </p:spPr>
        <p:txBody>
          <a:bodyPr wrap="square" lIns="0" tIns="0" rIns="0" bIns="0" rtlCol="0" anchor="ctr"/>
          <a:lstStyle/>
          <a:p>
            <a:pPr indent="0" marL="0">
              <a:buNone/>
            </a:pPr>
            <a:r>
              <a:rPr lang="en-US" sz="1700" b="1" dirty="0">
                <a:solidFill>
                  <a:srgbClr val="585A64"/>
                </a:solidFill>
                <a:latin typeface="Palatino Linotype" pitchFamily="34" charset="0"/>
                <a:ea typeface="Palatino Linotype" pitchFamily="34" charset="-122"/>
                <a:cs typeface="Palatino Linotype" pitchFamily="34" charset="-120"/>
              </a:rPr>
              <a:t>78,9</a:t>
            </a:r>
            <a:endParaRPr lang="en-US" sz="1700" dirty="0"/>
          </a:p>
        </p:txBody>
      </p:sp>
      <p:sp>
        <p:nvSpPr>
          <p:cNvPr id="12" name="Text 10"/>
          <p:cNvSpPr/>
          <p:nvPr/>
        </p:nvSpPr>
        <p:spPr>
          <a:xfrm>
            <a:off x="594360" y="3794760"/>
            <a:ext cx="1280160" cy="1188720"/>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Femei</a:t>
            </a:r>
            <a:endParaRPr lang="en-US" sz="1800" dirty="0"/>
          </a:p>
        </p:txBody>
      </p:sp>
      <p:sp>
        <p:nvSpPr>
          <p:cNvPr id="13" name="Shape 11"/>
          <p:cNvSpPr/>
          <p:nvPr/>
        </p:nvSpPr>
        <p:spPr>
          <a:xfrm>
            <a:off x="1920240" y="3794760"/>
            <a:ext cx="4405579" cy="502920"/>
          </a:xfrm>
          <a:prstGeom prst="rect">
            <a:avLst/>
          </a:prstGeom>
          <a:solidFill>
            <a:srgbClr val="B02532"/>
          </a:solidFill>
          <a:ln w="12700">
            <a:solidFill>
              <a:srgbClr val="B02532"/>
            </a:solidFill>
            <a:prstDash val="solid"/>
          </a:ln>
        </p:spPr>
        <p:txBody>
          <a:bodyPr/>
          <a:p/>
        </p:txBody>
      </p:sp>
      <p:sp>
        <p:nvSpPr>
          <p:cNvPr id="14" name="Text 12"/>
          <p:cNvSpPr/>
          <p:nvPr/>
        </p:nvSpPr>
        <p:spPr>
          <a:xfrm>
            <a:off x="2057400" y="3794760"/>
            <a:ext cx="1463040" cy="502920"/>
          </a:xfrm>
          <a:prstGeom prst="rect">
            <a:avLst/>
          </a:prstGeom>
          <a:noFill/>
          <a:ln/>
        </p:spPr>
        <p:txBody>
          <a:bodyPr wrap="square" lIns="0" tIns="0" rIns="0" bIns="0" rtlCol="0" anchor="ct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România</a:t>
            </a:r>
            <a:endParaRPr lang="en-US" sz="1400" dirty="0"/>
          </a:p>
        </p:txBody>
      </p:sp>
      <p:sp>
        <p:nvSpPr>
          <p:cNvPr id="15" name="Text 13"/>
          <p:cNvSpPr/>
          <p:nvPr/>
        </p:nvSpPr>
        <p:spPr>
          <a:xfrm>
            <a:off x="6435547" y="3794760"/>
            <a:ext cx="822960" cy="50292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80,3</a:t>
            </a:r>
            <a:endParaRPr lang="en-US" sz="1700" dirty="0"/>
          </a:p>
        </p:txBody>
      </p:sp>
      <p:sp>
        <p:nvSpPr>
          <p:cNvPr id="16" name="Shape 14"/>
          <p:cNvSpPr/>
          <p:nvPr/>
        </p:nvSpPr>
        <p:spPr>
          <a:xfrm>
            <a:off x="1920240" y="4416552"/>
            <a:ext cx="4614062" cy="502920"/>
          </a:xfrm>
          <a:prstGeom prst="rect">
            <a:avLst/>
          </a:prstGeom>
          <a:solidFill>
            <a:srgbClr val="585A64"/>
          </a:solidFill>
          <a:ln w="12700">
            <a:solidFill>
              <a:srgbClr val="585A64"/>
            </a:solidFill>
            <a:prstDash val="solid"/>
          </a:ln>
        </p:spPr>
        <p:txBody>
          <a:bodyPr/>
          <a:p/>
        </p:txBody>
      </p:sp>
      <p:sp>
        <p:nvSpPr>
          <p:cNvPr id="17" name="Text 15"/>
          <p:cNvSpPr/>
          <p:nvPr/>
        </p:nvSpPr>
        <p:spPr>
          <a:xfrm>
            <a:off x="2057400" y="4416552"/>
            <a:ext cx="1463040" cy="502920"/>
          </a:xfrm>
          <a:prstGeom prst="rect">
            <a:avLst/>
          </a:prstGeom>
          <a:noFill/>
          <a:ln/>
        </p:spPr>
        <p:txBody>
          <a:bodyPr wrap="square" lIns="0" tIns="0" rIns="0" bIns="0" rtlCol="0" anchor="ct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UE</a:t>
            </a:r>
            <a:endParaRPr lang="en-US" sz="1400" dirty="0"/>
          </a:p>
        </p:txBody>
      </p:sp>
      <p:sp>
        <p:nvSpPr>
          <p:cNvPr id="18" name="Text 16"/>
          <p:cNvSpPr/>
          <p:nvPr/>
        </p:nvSpPr>
        <p:spPr>
          <a:xfrm>
            <a:off x="6644030" y="4416552"/>
            <a:ext cx="822960" cy="502920"/>
          </a:xfrm>
          <a:prstGeom prst="rect">
            <a:avLst/>
          </a:prstGeom>
          <a:noFill/>
          <a:ln/>
        </p:spPr>
        <p:txBody>
          <a:bodyPr wrap="square" lIns="0" tIns="0" rIns="0" bIns="0" rtlCol="0" anchor="ctr"/>
          <a:lstStyle/>
          <a:p>
            <a:pPr indent="0" marL="0">
              <a:buNone/>
            </a:pPr>
            <a:r>
              <a:rPr lang="en-US" sz="1700" b="1" dirty="0">
                <a:solidFill>
                  <a:srgbClr val="585A64"/>
                </a:solidFill>
                <a:latin typeface="Palatino Linotype" pitchFamily="34" charset="0"/>
                <a:ea typeface="Palatino Linotype" pitchFamily="34" charset="-122"/>
                <a:cs typeface="Palatino Linotype" pitchFamily="34" charset="-120"/>
              </a:rPr>
              <a:t>84,1</a:t>
            </a:r>
            <a:endParaRPr lang="en-US" sz="1700" dirty="0"/>
          </a:p>
        </p:txBody>
      </p:sp>
      <p:sp>
        <p:nvSpPr>
          <p:cNvPr id="19" name="Shape 17"/>
          <p:cNvSpPr/>
          <p:nvPr/>
        </p:nvSpPr>
        <p:spPr>
          <a:xfrm>
            <a:off x="7589520" y="1600200"/>
            <a:ext cx="3977640" cy="4114800"/>
          </a:xfrm>
          <a:prstGeom prst="roundRect">
            <a:avLst>
              <a:gd name="adj" fmla="val 2069"/>
            </a:avLst>
          </a:prstGeom>
          <a:solidFill>
            <a:srgbClr val="ECEAE4"/>
          </a:solidFill>
          <a:ln w="12700">
            <a:solidFill>
              <a:srgbClr val="ECEAE4"/>
            </a:solidFill>
            <a:prstDash val="solid"/>
          </a:ln>
        </p:spPr>
        <p:txBody>
          <a:bodyPr/>
          <a:p/>
        </p:txBody>
      </p:sp>
      <p:sp>
        <p:nvSpPr>
          <p:cNvPr id="20" name="Text 18"/>
          <p:cNvSpPr/>
          <p:nvPr/>
        </p:nvSpPr>
        <p:spPr>
          <a:xfrm>
            <a:off x="7818120" y="1783080"/>
            <a:ext cx="3520440" cy="17373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Câți ani ar trăi, în medie, un copil născut azi, cu riscurile de deces de acum.</a:t>
            </a:r>
            <a:endParaRPr lang="en-US" sz="1700" dirty="0"/>
          </a:p>
        </p:txBody>
      </p:sp>
      <p:sp>
        <p:nvSpPr>
          <p:cNvPr id="21" name="Text 19"/>
          <p:cNvSpPr/>
          <p:nvPr/>
        </p:nvSpPr>
        <p:spPr>
          <a:xfrm>
            <a:off x="7818120" y="3749040"/>
            <a:ext cx="3520440" cy="109728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Limita: numără anii, nu și cum sunt trăiți.</a:t>
            </a:r>
            <a:endParaRPr lang="en-US" sz="1800" dirty="0"/>
          </a:p>
        </p:txBody>
      </p:sp>
      <p:sp>
        <p:nvSpPr>
          <p:cNvPr id="22" name="Text 20"/>
          <p:cNvSpPr/>
          <p:nvPr/>
        </p:nvSpPr>
        <p:spPr>
          <a:xfrm>
            <a:off x="594360" y="5669280"/>
            <a:ext cx="6400800" cy="36576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Axa pornește de la zero.</a:t>
            </a:r>
            <a:endParaRPr lang="en-US" sz="1300" dirty="0"/>
          </a:p>
        </p:txBody>
      </p:sp>
      <p:sp>
        <p:nvSpPr>
          <p:cNvPr id="23" name="Text 21"/>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speranța de viață pe vârste și sexe, 2024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DOI INDICATORI CARE ȚIN SEAMA DE BOALĂ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Ani trăiți sănătos, ani pierduți</a:t>
            </a:r>
            <a:endParaRPr lang="en-US" sz="3200" dirty="0"/>
          </a:p>
        </p:txBody>
      </p:sp>
      <p:sp>
        <p:nvSpPr>
          <p:cNvPr id="4" name="Shape 2"/>
          <p:cNvSpPr/>
          <p:nvPr/>
        </p:nvSpPr>
        <p:spPr>
          <a:xfrm>
            <a:off x="594360" y="1645920"/>
            <a:ext cx="5394960" cy="4023360"/>
          </a:xfrm>
          <a:prstGeom prst="roundRect">
            <a:avLst>
              <a:gd name="adj" fmla="val 2045"/>
            </a:avLst>
          </a:prstGeom>
          <a:solidFill>
            <a:srgbClr val="1D1F2B"/>
          </a:solidFill>
          <a:ln w="12700">
            <a:solidFill>
              <a:srgbClr val="1D1F2B"/>
            </a:solidFill>
            <a:prstDash val="solid"/>
          </a:ln>
        </p:spPr>
        <p:txBody>
          <a:bodyPr/>
          <a:p/>
        </p:txBody>
      </p:sp>
      <p:sp>
        <p:nvSpPr>
          <p:cNvPr id="5" name="Shape 3"/>
          <p:cNvSpPr/>
          <p:nvPr/>
        </p:nvSpPr>
        <p:spPr>
          <a:xfrm>
            <a:off x="594360" y="1645920"/>
            <a:ext cx="5394960" cy="73152"/>
          </a:xfrm>
          <a:prstGeom prst="rect">
            <a:avLst/>
          </a:prstGeom>
          <a:solidFill>
            <a:srgbClr val="27D3BE"/>
          </a:solidFill>
          <a:ln w="12700">
            <a:solidFill>
              <a:srgbClr val="27D3BE"/>
            </a:solidFill>
            <a:prstDash val="solid"/>
          </a:ln>
        </p:spPr>
        <p:txBody>
          <a:bodyPr/>
          <a:p/>
        </p:txBody>
      </p:sp>
      <p:sp>
        <p:nvSpPr>
          <p:cNvPr id="6" name="Text 4"/>
          <p:cNvSpPr/>
          <p:nvPr/>
        </p:nvSpPr>
        <p:spPr>
          <a:xfrm>
            <a:off x="914400" y="1828800"/>
            <a:ext cx="4754880" cy="914400"/>
          </a:xfrm>
          <a:prstGeom prst="rect">
            <a:avLst/>
          </a:prstGeom>
          <a:noFill/>
          <a:ln/>
        </p:spPr>
        <p:txBody>
          <a:bodyPr wrap="square" lIns="0" tIns="0" rIns="0" bIns="0" rtlCol="0" anchor="t"/>
          <a:lstStyle/>
          <a:p>
            <a:pPr indent="0" marL="0">
              <a:buNone/>
            </a:pPr>
            <a:r>
              <a:rPr lang="en-US" sz="4800" b="1" dirty="0">
                <a:solidFill>
                  <a:srgbClr val="27D3BE"/>
                </a:solidFill>
                <a:latin typeface="Palatino Linotype" pitchFamily="34" charset="0"/>
                <a:ea typeface="Palatino Linotype" pitchFamily="34" charset="-122"/>
                <a:cs typeface="Palatino Linotype" pitchFamily="34" charset="-120"/>
              </a:rPr>
              <a:t>HALE</a:t>
            </a:r>
            <a:endParaRPr lang="en-US" sz="4800" dirty="0"/>
          </a:p>
        </p:txBody>
      </p:sp>
      <p:sp>
        <p:nvSpPr>
          <p:cNvPr id="7" name="Text 5"/>
          <p:cNvSpPr/>
          <p:nvPr/>
        </p:nvSpPr>
        <p:spPr>
          <a:xfrm>
            <a:off x="914400" y="2788920"/>
            <a:ext cx="4754880" cy="73152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Speranța de viață sănătoasă</a:t>
            </a:r>
            <a:endParaRPr lang="en-US" sz="1900" dirty="0"/>
          </a:p>
        </p:txBody>
      </p:sp>
      <p:sp>
        <p:nvSpPr>
          <p:cNvPr id="8" name="Text 6"/>
          <p:cNvSpPr/>
          <p:nvPr/>
        </p:nvSpPr>
        <p:spPr>
          <a:xfrm>
            <a:off x="914400" y="3566160"/>
            <a:ext cx="4754880" cy="201168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anii pe care o persoană se poate aștepta să-i trăiască „în sănătate deplină”.</a:t>
            </a:r>
            <a:endParaRPr lang="en-US" sz="1700" dirty="0"/>
          </a:p>
        </p:txBody>
      </p:sp>
      <p:sp>
        <p:nvSpPr>
          <p:cNvPr id="9" name="Shape 7"/>
          <p:cNvSpPr/>
          <p:nvPr/>
        </p:nvSpPr>
        <p:spPr>
          <a:xfrm>
            <a:off x="6172200" y="1645920"/>
            <a:ext cx="5394960" cy="4023360"/>
          </a:xfrm>
          <a:prstGeom prst="roundRect">
            <a:avLst>
              <a:gd name="adj" fmla="val 2045"/>
            </a:avLst>
          </a:prstGeom>
          <a:solidFill>
            <a:srgbClr val="1D1F2B"/>
          </a:solidFill>
          <a:ln w="12700">
            <a:solidFill>
              <a:srgbClr val="1D1F2B"/>
            </a:solidFill>
            <a:prstDash val="solid"/>
          </a:ln>
        </p:spPr>
        <p:txBody>
          <a:bodyPr/>
          <a:p/>
        </p:txBody>
      </p:sp>
      <p:sp>
        <p:nvSpPr>
          <p:cNvPr id="10" name="Shape 8"/>
          <p:cNvSpPr/>
          <p:nvPr/>
        </p:nvSpPr>
        <p:spPr>
          <a:xfrm>
            <a:off x="6172200" y="1645920"/>
            <a:ext cx="5394960" cy="73152"/>
          </a:xfrm>
          <a:prstGeom prst="rect">
            <a:avLst/>
          </a:prstGeom>
          <a:solidFill>
            <a:srgbClr val="FF4757"/>
          </a:solidFill>
          <a:ln w="12700">
            <a:solidFill>
              <a:srgbClr val="FF4757"/>
            </a:solidFill>
            <a:prstDash val="solid"/>
          </a:ln>
        </p:spPr>
        <p:txBody>
          <a:bodyPr/>
          <a:p/>
        </p:txBody>
      </p:sp>
      <p:sp>
        <p:nvSpPr>
          <p:cNvPr id="11" name="Text 9"/>
          <p:cNvSpPr/>
          <p:nvPr/>
        </p:nvSpPr>
        <p:spPr>
          <a:xfrm>
            <a:off x="6492240" y="1828800"/>
            <a:ext cx="4754880" cy="914400"/>
          </a:xfrm>
          <a:prstGeom prst="rect">
            <a:avLst/>
          </a:prstGeom>
          <a:noFill/>
          <a:ln/>
        </p:spPr>
        <p:txBody>
          <a:bodyPr wrap="square" lIns="0" tIns="0" rIns="0" bIns="0" rtlCol="0" anchor="t"/>
          <a:lstStyle/>
          <a:p>
            <a:pPr indent="0" marL="0">
              <a:buNone/>
            </a:pPr>
            <a:r>
              <a:rPr lang="en-US" sz="4800" b="1" dirty="0">
                <a:solidFill>
                  <a:srgbClr val="FF4757"/>
                </a:solidFill>
                <a:latin typeface="Palatino Linotype" pitchFamily="34" charset="0"/>
                <a:ea typeface="Palatino Linotype" pitchFamily="34" charset="-122"/>
                <a:cs typeface="Palatino Linotype" pitchFamily="34" charset="-120"/>
              </a:rPr>
              <a:t>DALY</a:t>
            </a:r>
            <a:endParaRPr lang="en-US" sz="4800" dirty="0"/>
          </a:p>
        </p:txBody>
      </p:sp>
      <p:sp>
        <p:nvSpPr>
          <p:cNvPr id="12" name="Text 10"/>
          <p:cNvSpPr/>
          <p:nvPr/>
        </p:nvSpPr>
        <p:spPr>
          <a:xfrm>
            <a:off x="6492240" y="2788920"/>
            <a:ext cx="4754880" cy="73152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Anii de viață ajustați pentru dizabilitate</a:t>
            </a:r>
            <a:endParaRPr lang="en-US" sz="1900" dirty="0"/>
          </a:p>
        </p:txBody>
      </p:sp>
      <p:sp>
        <p:nvSpPr>
          <p:cNvPr id="13" name="Text 11"/>
          <p:cNvSpPr/>
          <p:nvPr/>
        </p:nvSpPr>
        <p:spPr>
          <a:xfrm>
            <a:off x="6492240" y="3566160"/>
            <a:ext cx="4754880" cy="201168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povara bolilor: anii pierduți prin decese premature, adunați cu anii trăiți cu dizabilitate. Un DALY este un an „pierdut”.</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VALORI IPOTETICE · EXEMPLU CONSTRUIT PENTRU CURS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Două boli, aceeași povară?</a:t>
            </a:r>
            <a:endParaRPr lang="en-US" sz="3200" dirty="0"/>
          </a:p>
        </p:txBody>
      </p:sp>
      <p:sp>
        <p:nvSpPr>
          <p:cNvPr id="4" name="Text 2"/>
          <p:cNvSpPr/>
          <p:nvPr/>
        </p:nvSpPr>
        <p:spPr>
          <a:xfrm>
            <a:off x="594360" y="1920240"/>
            <a:ext cx="1188720" cy="822960"/>
          </a:xfrm>
          <a:prstGeom prst="rect">
            <a:avLst/>
          </a:prstGeom>
          <a:noFill/>
          <a:ln/>
        </p:spPr>
        <p:txBody>
          <a:bodyPr wrap="square" lIns="0" tIns="0" rIns="0" bIns="0" rtlCol="0" anchor="ctr"/>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Boala A</a:t>
            </a:r>
            <a:endParaRPr lang="en-US" sz="1900" dirty="0"/>
          </a:p>
        </p:txBody>
      </p:sp>
      <p:sp>
        <p:nvSpPr>
          <p:cNvPr id="5" name="Shape 3"/>
          <p:cNvSpPr/>
          <p:nvPr/>
        </p:nvSpPr>
        <p:spPr>
          <a:xfrm>
            <a:off x="1828800" y="1920240"/>
            <a:ext cx="4608576" cy="822960"/>
          </a:xfrm>
          <a:prstGeom prst="rect">
            <a:avLst/>
          </a:prstGeom>
          <a:solidFill>
            <a:srgbClr val="B02532"/>
          </a:solidFill>
          <a:ln w="12700">
            <a:solidFill>
              <a:srgbClr val="B02532"/>
            </a:solidFill>
            <a:prstDash val="solid"/>
          </a:ln>
        </p:spPr>
        <p:txBody>
          <a:bodyPr/>
          <a:p/>
        </p:txBody>
      </p:sp>
      <p:sp>
        <p:nvSpPr>
          <p:cNvPr id="6" name="Text 4"/>
          <p:cNvSpPr/>
          <p:nvPr/>
        </p:nvSpPr>
        <p:spPr>
          <a:xfrm>
            <a:off x="1965960" y="1920240"/>
            <a:ext cx="4389120" cy="82296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1 200 prin deces</a:t>
            </a:r>
            <a:endParaRPr lang="en-US" sz="1600" dirty="0"/>
          </a:p>
        </p:txBody>
      </p:sp>
      <p:sp>
        <p:nvSpPr>
          <p:cNvPr id="7" name="Text 5"/>
          <p:cNvSpPr/>
          <p:nvPr/>
        </p:nvSpPr>
        <p:spPr>
          <a:xfrm>
            <a:off x="6547104" y="1920240"/>
            <a:ext cx="1463040" cy="82296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1 200 DALY</a:t>
            </a:r>
            <a:endParaRPr lang="en-US" sz="1600" dirty="0"/>
          </a:p>
        </p:txBody>
      </p:sp>
      <p:sp>
        <p:nvSpPr>
          <p:cNvPr id="8" name="Text 6"/>
          <p:cNvSpPr/>
          <p:nvPr/>
        </p:nvSpPr>
        <p:spPr>
          <a:xfrm>
            <a:off x="594360" y="3246120"/>
            <a:ext cx="1188720" cy="822960"/>
          </a:xfrm>
          <a:prstGeom prst="rect">
            <a:avLst/>
          </a:prstGeom>
          <a:noFill/>
          <a:ln/>
        </p:spPr>
        <p:txBody>
          <a:bodyPr wrap="square" lIns="0" tIns="0" rIns="0" bIns="0" rtlCol="0" anchor="ctr"/>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Boala B</a:t>
            </a:r>
            <a:endParaRPr lang="en-US" sz="1900" dirty="0"/>
          </a:p>
        </p:txBody>
      </p:sp>
      <p:sp>
        <p:nvSpPr>
          <p:cNvPr id="9" name="Shape 7"/>
          <p:cNvSpPr/>
          <p:nvPr/>
        </p:nvSpPr>
        <p:spPr>
          <a:xfrm>
            <a:off x="1828800" y="3246120"/>
            <a:ext cx="384048" cy="822960"/>
          </a:xfrm>
          <a:prstGeom prst="rect">
            <a:avLst/>
          </a:prstGeom>
          <a:solidFill>
            <a:srgbClr val="B02532"/>
          </a:solidFill>
          <a:ln w="12700">
            <a:solidFill>
              <a:srgbClr val="B02532"/>
            </a:solidFill>
            <a:prstDash val="solid"/>
          </a:ln>
        </p:spPr>
        <p:txBody>
          <a:bodyPr/>
          <a:p/>
        </p:txBody>
      </p:sp>
      <p:sp>
        <p:nvSpPr>
          <p:cNvPr id="10" name="Shape 8"/>
          <p:cNvSpPr/>
          <p:nvPr/>
        </p:nvSpPr>
        <p:spPr>
          <a:xfrm>
            <a:off x="2212848" y="3246120"/>
            <a:ext cx="4224528" cy="822960"/>
          </a:xfrm>
          <a:prstGeom prst="rect">
            <a:avLst/>
          </a:prstGeom>
          <a:solidFill>
            <a:srgbClr val="0E7C6B"/>
          </a:solidFill>
          <a:ln w="12700">
            <a:solidFill>
              <a:srgbClr val="0E7C6B"/>
            </a:solidFill>
            <a:prstDash val="solid"/>
          </a:ln>
        </p:spPr>
        <p:txBody>
          <a:bodyPr/>
          <a:p/>
        </p:txBody>
      </p:sp>
      <p:sp>
        <p:nvSpPr>
          <p:cNvPr id="11" name="Text 9"/>
          <p:cNvSpPr/>
          <p:nvPr/>
        </p:nvSpPr>
        <p:spPr>
          <a:xfrm>
            <a:off x="1965960" y="3246120"/>
            <a:ext cx="4389120" cy="82296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100 + 1 100</a:t>
            </a:r>
            <a:endParaRPr lang="en-US" sz="1600" dirty="0"/>
          </a:p>
        </p:txBody>
      </p:sp>
      <p:sp>
        <p:nvSpPr>
          <p:cNvPr id="12" name="Text 10"/>
          <p:cNvSpPr/>
          <p:nvPr/>
        </p:nvSpPr>
        <p:spPr>
          <a:xfrm>
            <a:off x="6547104" y="3246120"/>
            <a:ext cx="1463040" cy="82296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1 200 DALY</a:t>
            </a:r>
            <a:endParaRPr lang="en-US" sz="1600" dirty="0"/>
          </a:p>
        </p:txBody>
      </p:sp>
      <p:sp>
        <p:nvSpPr>
          <p:cNvPr id="13" name="Shape 11"/>
          <p:cNvSpPr/>
          <p:nvPr/>
        </p:nvSpPr>
        <p:spPr>
          <a:xfrm>
            <a:off x="594360" y="4709160"/>
            <a:ext cx="365760" cy="274320"/>
          </a:xfrm>
          <a:prstGeom prst="rect">
            <a:avLst/>
          </a:prstGeom>
          <a:solidFill>
            <a:srgbClr val="B02532"/>
          </a:solidFill>
          <a:ln w="12700">
            <a:solidFill>
              <a:srgbClr val="B02532"/>
            </a:solidFill>
            <a:prstDash val="solid"/>
          </a:ln>
        </p:spPr>
        <p:txBody>
          <a:bodyPr/>
          <a:p/>
        </p:txBody>
      </p:sp>
      <p:sp>
        <p:nvSpPr>
          <p:cNvPr id="14" name="Text 12"/>
          <p:cNvSpPr/>
          <p:nvPr/>
        </p:nvSpPr>
        <p:spPr>
          <a:xfrm>
            <a:off x="1051560" y="4663440"/>
            <a:ext cx="2743200" cy="36576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ani pierduți prin deces</a:t>
            </a:r>
            <a:endParaRPr lang="en-US" sz="1500" dirty="0"/>
          </a:p>
        </p:txBody>
      </p:sp>
      <p:sp>
        <p:nvSpPr>
          <p:cNvPr id="15" name="Shape 13"/>
          <p:cNvSpPr/>
          <p:nvPr/>
        </p:nvSpPr>
        <p:spPr>
          <a:xfrm>
            <a:off x="3886200" y="4709160"/>
            <a:ext cx="365760" cy="274320"/>
          </a:xfrm>
          <a:prstGeom prst="rect">
            <a:avLst/>
          </a:prstGeom>
          <a:solidFill>
            <a:srgbClr val="0E7C6B"/>
          </a:solidFill>
          <a:ln w="12700">
            <a:solidFill>
              <a:srgbClr val="0E7C6B"/>
            </a:solidFill>
            <a:prstDash val="solid"/>
          </a:ln>
        </p:spPr>
        <p:txBody>
          <a:bodyPr/>
          <a:p/>
        </p:txBody>
      </p:sp>
      <p:sp>
        <p:nvSpPr>
          <p:cNvPr id="16" name="Text 14"/>
          <p:cNvSpPr/>
          <p:nvPr/>
        </p:nvSpPr>
        <p:spPr>
          <a:xfrm>
            <a:off x="4343400" y="4663440"/>
            <a:ext cx="2743200" cy="36576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ani trăiți cu dizabilitate</a:t>
            </a:r>
            <a:endParaRPr lang="en-US" sz="1500" dirty="0"/>
          </a:p>
        </p:txBody>
      </p:sp>
      <p:sp>
        <p:nvSpPr>
          <p:cNvPr id="17" name="Shape 15"/>
          <p:cNvSpPr/>
          <p:nvPr/>
        </p:nvSpPr>
        <p:spPr>
          <a:xfrm>
            <a:off x="8275320" y="1691640"/>
            <a:ext cx="3291840" cy="3383280"/>
          </a:xfrm>
          <a:prstGeom prst="roundRect">
            <a:avLst>
              <a:gd name="adj" fmla="val 2500"/>
            </a:avLst>
          </a:prstGeom>
          <a:solidFill>
            <a:srgbClr val="ECEAE4"/>
          </a:solidFill>
          <a:ln w="12700">
            <a:solidFill>
              <a:srgbClr val="ECEAE4"/>
            </a:solidFill>
            <a:prstDash val="solid"/>
          </a:ln>
        </p:spPr>
        <p:txBody>
          <a:bodyPr/>
          <a:p/>
        </p:txBody>
      </p:sp>
      <p:sp>
        <p:nvSpPr>
          <p:cNvPr id="18" name="Text 16"/>
          <p:cNvSpPr/>
          <p:nvPr/>
        </p:nvSpPr>
        <p:spPr>
          <a:xfrm>
            <a:off x="8503920" y="1828800"/>
            <a:ext cx="2834640" cy="31089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După decese, boala A pare de douăsprezece ori mai importantă. După DALY, cântăresc la fel.</a:t>
            </a:r>
            <a:endParaRPr lang="en-US" sz="1700" dirty="0"/>
          </a:p>
        </p:txBody>
      </p:sp>
      <p:sp>
        <p:nvSpPr>
          <p:cNvPr id="19" name="Text 17"/>
          <p:cNvSpPr/>
          <p:nvPr/>
        </p:nvSpPr>
        <p:spPr>
          <a:xfrm>
            <a:off x="594360" y="5349240"/>
            <a:ext cx="10972800" cy="54864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Prioritățile de sănătate publică nu se stabilesc numai după numărul de morți.</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VOTAȚI PE TELEFON</a:t>
            </a:r>
            <a:endParaRPr lang="en-US" sz="1300" dirty="0"/>
          </a:p>
        </p:txBody>
      </p:sp>
      <p:sp>
        <p:nvSpPr>
          <p:cNvPr id="5" name="Text 3"/>
          <p:cNvSpPr/>
          <p:nvPr/>
        </p:nvSpPr>
        <p:spPr>
          <a:xfrm>
            <a:off x="594360" y="777240"/>
            <a:ext cx="10972800" cy="1234440"/>
          </a:xfrm>
          <a:prstGeom prst="rect">
            <a:avLst/>
          </a:prstGeom>
          <a:noFill/>
          <a:ln/>
        </p:spPr>
        <p:txBody>
          <a:bodyPr wrap="square" lIns="0" tIns="0" rIns="0" bIns="0" rtlCol="0" anchor="t"/>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Un primar vrea să știe câți ani trăiesc locuitorii fără boli care să le limiteze viața. Ce indicator îi recomandați?</a:t>
            </a:r>
            <a:endParaRPr lang="en-US" sz="2500" dirty="0"/>
          </a:p>
        </p:txBody>
      </p:sp>
      <p:sp>
        <p:nvSpPr>
          <p:cNvPr id="6" name="Shape 4"/>
          <p:cNvSpPr/>
          <p:nvPr/>
        </p:nvSpPr>
        <p:spPr>
          <a:xfrm>
            <a:off x="594360" y="2148840"/>
            <a:ext cx="7498080" cy="621792"/>
          </a:xfrm>
          <a:prstGeom prst="roundRect">
            <a:avLst>
              <a:gd name="adj" fmla="val 13235"/>
            </a:avLst>
          </a:prstGeom>
          <a:solidFill>
            <a:srgbClr val="1D1F2B"/>
          </a:solidFill>
          <a:ln w="12700">
            <a:solidFill>
              <a:srgbClr val="1D1F2B"/>
            </a:solidFill>
            <a:prstDash val="solid"/>
          </a:ln>
        </p:spPr>
        <p:txBody>
          <a:bodyPr/>
          <a:p/>
        </p:txBody>
      </p:sp>
      <p:sp>
        <p:nvSpPr>
          <p:cNvPr id="7" name="Shape 5"/>
          <p:cNvSpPr/>
          <p:nvPr/>
        </p:nvSpPr>
        <p:spPr>
          <a:xfrm>
            <a:off x="868680" y="2249424"/>
            <a:ext cx="420624" cy="420624"/>
          </a:xfrm>
          <a:prstGeom prst="ellipse">
            <a:avLst/>
          </a:prstGeom>
          <a:solidFill>
            <a:srgbClr val="FFC24B"/>
          </a:solidFill>
          <a:ln/>
        </p:spPr>
        <p:txBody>
          <a:bodyPr/>
          <a:p/>
        </p:txBody>
      </p:sp>
      <p:sp>
        <p:nvSpPr>
          <p:cNvPr id="8" name="Text 6"/>
          <p:cNvSpPr/>
          <p:nvPr/>
        </p:nvSpPr>
        <p:spPr>
          <a:xfrm>
            <a:off x="868680" y="22494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2148840"/>
            <a:ext cx="6309360" cy="62179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Rata mortalității infantile</a:t>
            </a:r>
            <a:endParaRPr lang="en-US" sz="2000" dirty="0"/>
          </a:p>
        </p:txBody>
      </p:sp>
      <p:sp>
        <p:nvSpPr>
          <p:cNvPr id="10" name="Shape 8"/>
          <p:cNvSpPr/>
          <p:nvPr/>
        </p:nvSpPr>
        <p:spPr>
          <a:xfrm>
            <a:off x="594360" y="2898648"/>
            <a:ext cx="7498080" cy="621792"/>
          </a:xfrm>
          <a:prstGeom prst="roundRect">
            <a:avLst>
              <a:gd name="adj" fmla="val 13235"/>
            </a:avLst>
          </a:prstGeom>
          <a:solidFill>
            <a:srgbClr val="1D1F2B"/>
          </a:solidFill>
          <a:ln w="12700">
            <a:solidFill>
              <a:srgbClr val="1D1F2B"/>
            </a:solidFill>
            <a:prstDash val="solid"/>
          </a:ln>
        </p:spPr>
        <p:txBody>
          <a:bodyPr/>
          <a:p/>
        </p:txBody>
      </p:sp>
      <p:sp>
        <p:nvSpPr>
          <p:cNvPr id="11" name="Shape 9"/>
          <p:cNvSpPr/>
          <p:nvPr/>
        </p:nvSpPr>
        <p:spPr>
          <a:xfrm>
            <a:off x="868680" y="2999232"/>
            <a:ext cx="420624" cy="420624"/>
          </a:xfrm>
          <a:prstGeom prst="ellipse">
            <a:avLst/>
          </a:prstGeom>
          <a:solidFill>
            <a:srgbClr val="FFC24B"/>
          </a:solidFill>
          <a:ln/>
        </p:spPr>
        <p:txBody>
          <a:bodyPr/>
          <a:p/>
        </p:txBody>
      </p:sp>
      <p:sp>
        <p:nvSpPr>
          <p:cNvPr id="12" name="Text 10"/>
          <p:cNvSpPr/>
          <p:nvPr/>
        </p:nvSpPr>
        <p:spPr>
          <a:xfrm>
            <a:off x="868680" y="29992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898648"/>
            <a:ext cx="6309360" cy="62179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Speranța de viață la naștere</a:t>
            </a:r>
            <a:endParaRPr lang="en-US" sz="2000" dirty="0"/>
          </a:p>
        </p:txBody>
      </p:sp>
      <p:sp>
        <p:nvSpPr>
          <p:cNvPr id="14" name="Shape 12"/>
          <p:cNvSpPr/>
          <p:nvPr/>
        </p:nvSpPr>
        <p:spPr>
          <a:xfrm>
            <a:off x="594360" y="3648456"/>
            <a:ext cx="7498080" cy="621792"/>
          </a:xfrm>
          <a:prstGeom prst="roundRect">
            <a:avLst>
              <a:gd name="adj" fmla="val 13235"/>
            </a:avLst>
          </a:prstGeom>
          <a:solidFill>
            <a:srgbClr val="1D1F2B"/>
          </a:solidFill>
          <a:ln w="12700">
            <a:solidFill>
              <a:srgbClr val="1D1F2B"/>
            </a:solidFill>
            <a:prstDash val="solid"/>
          </a:ln>
        </p:spPr>
        <p:txBody>
          <a:bodyPr/>
          <a:p/>
        </p:txBody>
      </p:sp>
      <p:sp>
        <p:nvSpPr>
          <p:cNvPr id="15" name="Shape 13"/>
          <p:cNvSpPr/>
          <p:nvPr/>
        </p:nvSpPr>
        <p:spPr>
          <a:xfrm>
            <a:off x="868680" y="3749040"/>
            <a:ext cx="420624" cy="420624"/>
          </a:xfrm>
          <a:prstGeom prst="ellipse">
            <a:avLst/>
          </a:prstGeom>
          <a:solidFill>
            <a:srgbClr val="FFC24B"/>
          </a:solidFill>
          <a:ln/>
        </p:spPr>
        <p:txBody>
          <a:bodyPr/>
          <a:p/>
        </p:txBody>
      </p:sp>
      <p:sp>
        <p:nvSpPr>
          <p:cNvPr id="16" name="Text 14"/>
          <p:cNvSpPr/>
          <p:nvPr/>
        </p:nvSpPr>
        <p:spPr>
          <a:xfrm>
            <a:off x="868680" y="3749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648456"/>
            <a:ext cx="6309360" cy="62179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Speranța de viață sănătoasă</a:t>
            </a:r>
            <a:endParaRPr lang="en-US" sz="2000" dirty="0"/>
          </a:p>
        </p:txBody>
      </p:sp>
      <p:sp>
        <p:nvSpPr>
          <p:cNvPr id="18" name="Shape 16"/>
          <p:cNvSpPr/>
          <p:nvPr/>
        </p:nvSpPr>
        <p:spPr>
          <a:xfrm>
            <a:off x="594360" y="4398264"/>
            <a:ext cx="7498080" cy="621792"/>
          </a:xfrm>
          <a:prstGeom prst="roundRect">
            <a:avLst>
              <a:gd name="adj" fmla="val 13235"/>
            </a:avLst>
          </a:prstGeom>
          <a:solidFill>
            <a:srgbClr val="1D1F2B"/>
          </a:solidFill>
          <a:ln w="12700">
            <a:solidFill>
              <a:srgbClr val="1D1F2B"/>
            </a:solidFill>
            <a:prstDash val="solid"/>
          </a:ln>
        </p:spPr>
        <p:txBody>
          <a:bodyPr/>
          <a:p/>
        </p:txBody>
      </p:sp>
      <p:sp>
        <p:nvSpPr>
          <p:cNvPr id="19" name="Shape 17"/>
          <p:cNvSpPr/>
          <p:nvPr/>
        </p:nvSpPr>
        <p:spPr>
          <a:xfrm>
            <a:off x="868680" y="4498848"/>
            <a:ext cx="420624" cy="420624"/>
          </a:xfrm>
          <a:prstGeom prst="ellipse">
            <a:avLst/>
          </a:prstGeom>
          <a:solidFill>
            <a:srgbClr val="FFC24B"/>
          </a:solidFill>
          <a:ln/>
        </p:spPr>
        <p:txBody>
          <a:bodyPr/>
          <a:p/>
        </p:txBody>
      </p:sp>
      <p:sp>
        <p:nvSpPr>
          <p:cNvPr id="20" name="Text 18"/>
          <p:cNvSpPr/>
          <p:nvPr/>
        </p:nvSpPr>
        <p:spPr>
          <a:xfrm>
            <a:off x="868680" y="4498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398264"/>
            <a:ext cx="6309360" cy="62179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Anii de viață ajustați pentru dizabilitate</a:t>
            </a:r>
            <a:endParaRPr lang="en-US" sz="2000" dirty="0"/>
          </a:p>
        </p:txBody>
      </p:sp>
      <p:sp>
        <p:nvSpPr>
          <p:cNvPr id="22" name="Text 20"/>
          <p:cNvSpPr/>
          <p:nvPr/>
        </p:nvSpPr>
        <p:spPr>
          <a:xfrm>
            <a:off x="594360" y="5257800"/>
            <a:ext cx="10972800" cy="4114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Apoi, două minute cu colegul de bancă: de ce nu ar merge celelalte trei?</a:t>
            </a:r>
            <a:endParaRPr lang="en-US" sz="1700" dirty="0"/>
          </a:p>
        </p:txBody>
      </p:sp>
      <p:sp>
        <p:nvSpPr>
          <p:cNvPr id="23" name="Text 21"/>
          <p:cNvSpPr/>
          <p:nvPr/>
        </p:nvSpPr>
        <p:spPr>
          <a:xfrm>
            <a:off x="594360" y="5806440"/>
            <a:ext cx="7680960" cy="365760"/>
          </a:xfrm>
          <a:prstGeom prst="rect">
            <a:avLst/>
          </a:prstGeom>
          <a:noFill/>
          <a:ln/>
        </p:spPr>
        <p:txBody>
          <a:bodyPr wrap="square" lIns="0" tIns="0" rIns="0" bIns="0" rtlCol="0" anchor="t"/>
          <a:lstStyle/>
          <a:p>
            <a:pPr indent="0" marL="0">
              <a:buNone/>
            </a:pPr>
            <a:r>
              <a:rPr lang="en-US" sz="1600" b="1" i="1" dirty="0">
                <a:solidFill>
                  <a:srgbClr val="27D3BE"/>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SPERANȚA DE VIAȚĂ SĂNĂTOASĂ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rămâne, nu ce s-a pierdut</a:t>
            </a:r>
            <a:endParaRPr lang="en-US" sz="3200" dirty="0"/>
          </a:p>
        </p:txBody>
      </p:sp>
      <p:sp>
        <p:nvSpPr>
          <p:cNvPr id="4" name="Shape 2"/>
          <p:cNvSpPr/>
          <p:nvPr/>
        </p:nvSpPr>
        <p:spPr>
          <a:xfrm>
            <a:off x="594360" y="1645920"/>
            <a:ext cx="3520440" cy="2560320"/>
          </a:xfrm>
          <a:prstGeom prst="roundRect">
            <a:avLst>
              <a:gd name="adj" fmla="val 3214"/>
            </a:avLst>
          </a:prstGeom>
          <a:solidFill>
            <a:srgbClr val="0E7C6B"/>
          </a:solidFill>
          <a:ln w="12700">
            <a:solidFill>
              <a:srgbClr val="0E7C6B"/>
            </a:solidFill>
            <a:prstDash val="solid"/>
          </a:ln>
        </p:spPr>
        <p:txBody>
          <a:bodyPr/>
          <a:p/>
        </p:txBody>
      </p:sp>
      <p:sp>
        <p:nvSpPr>
          <p:cNvPr id="5" name="Text 3"/>
          <p:cNvSpPr/>
          <p:nvPr/>
        </p:nvSpPr>
        <p:spPr>
          <a:xfrm>
            <a:off x="868680" y="1828800"/>
            <a:ext cx="2971800" cy="91440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Speranța de viață sănătoasă</a:t>
            </a:r>
            <a:endParaRPr lang="en-US" sz="2000" dirty="0"/>
          </a:p>
        </p:txBody>
      </p:sp>
      <p:sp>
        <p:nvSpPr>
          <p:cNvPr id="6" name="Text 4"/>
          <p:cNvSpPr/>
          <p:nvPr/>
        </p:nvSpPr>
        <p:spPr>
          <a:xfrm>
            <a:off x="868680" y="2788920"/>
            <a:ext cx="2971800" cy="12801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numără anii trăiți în sănătate deplină</a:t>
            </a:r>
            <a:endParaRPr lang="en-US" sz="1800" dirty="0"/>
          </a:p>
        </p:txBody>
      </p:sp>
      <p:sp>
        <p:nvSpPr>
          <p:cNvPr id="7" name="Shape 5"/>
          <p:cNvSpPr/>
          <p:nvPr/>
        </p:nvSpPr>
        <p:spPr>
          <a:xfrm>
            <a:off x="4343400" y="1645920"/>
            <a:ext cx="3520440" cy="2560320"/>
          </a:xfrm>
          <a:prstGeom prst="roundRect">
            <a:avLst>
              <a:gd name="adj" fmla="val 3214"/>
            </a:avLst>
          </a:prstGeom>
          <a:solidFill>
            <a:srgbClr val="ECEAE4"/>
          </a:solidFill>
          <a:ln w="12700">
            <a:solidFill>
              <a:srgbClr val="ECEAE4"/>
            </a:solidFill>
            <a:prstDash val="solid"/>
          </a:ln>
        </p:spPr>
        <p:txBody>
          <a:bodyPr/>
          <a:p/>
        </p:txBody>
      </p:sp>
      <p:sp>
        <p:nvSpPr>
          <p:cNvPr id="8" name="Text 6"/>
          <p:cNvSpPr/>
          <p:nvPr/>
        </p:nvSpPr>
        <p:spPr>
          <a:xfrm>
            <a:off x="4617720" y="1828800"/>
            <a:ext cx="2971800" cy="914400"/>
          </a:xfrm>
          <a:prstGeom prst="rect">
            <a:avLst/>
          </a:prstGeom>
          <a:noFill/>
          <a:ln/>
        </p:spPr>
        <p:txBody>
          <a:bodyPr wrap="square" lIns="0" tIns="0" rIns="0" bIns="0" rtlCol="0" anchor="t"/>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Speranța de viață</a:t>
            </a:r>
            <a:endParaRPr lang="en-US" sz="2000" dirty="0"/>
          </a:p>
        </p:txBody>
      </p:sp>
      <p:sp>
        <p:nvSpPr>
          <p:cNvPr id="9" name="Text 7"/>
          <p:cNvSpPr/>
          <p:nvPr/>
        </p:nvSpPr>
        <p:spPr>
          <a:xfrm>
            <a:off x="4617720" y="2788920"/>
            <a:ext cx="2971800" cy="12801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numără toți anii, buni și răi</a:t>
            </a:r>
            <a:endParaRPr lang="en-US" sz="1800" dirty="0"/>
          </a:p>
        </p:txBody>
      </p:sp>
      <p:sp>
        <p:nvSpPr>
          <p:cNvPr id="10" name="Shape 8"/>
          <p:cNvSpPr/>
          <p:nvPr/>
        </p:nvSpPr>
        <p:spPr>
          <a:xfrm>
            <a:off x="8092440" y="1645920"/>
            <a:ext cx="3520440" cy="2560320"/>
          </a:xfrm>
          <a:prstGeom prst="roundRect">
            <a:avLst>
              <a:gd name="adj" fmla="val 3214"/>
            </a:avLst>
          </a:prstGeom>
          <a:solidFill>
            <a:srgbClr val="ECEAE4"/>
          </a:solidFill>
          <a:ln w="12700">
            <a:solidFill>
              <a:srgbClr val="ECEAE4"/>
            </a:solidFill>
            <a:prstDash val="solid"/>
          </a:ln>
        </p:spPr>
        <p:txBody>
          <a:bodyPr/>
          <a:p/>
        </p:txBody>
      </p:sp>
      <p:sp>
        <p:nvSpPr>
          <p:cNvPr id="11" name="Text 9"/>
          <p:cNvSpPr/>
          <p:nvPr/>
        </p:nvSpPr>
        <p:spPr>
          <a:xfrm>
            <a:off x="8366760" y="1828800"/>
            <a:ext cx="2971800" cy="914400"/>
          </a:xfrm>
          <a:prstGeom prst="rect">
            <a:avLst/>
          </a:prstGeom>
          <a:noFill/>
          <a:ln/>
        </p:spPr>
        <p:txBody>
          <a:bodyPr wrap="square" lIns="0" tIns="0" rIns="0" bIns="0" rtlCol="0" anchor="t"/>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Anii ajustați pentru dizabilitate</a:t>
            </a:r>
            <a:endParaRPr lang="en-US" sz="2000" dirty="0"/>
          </a:p>
        </p:txBody>
      </p:sp>
      <p:sp>
        <p:nvSpPr>
          <p:cNvPr id="12" name="Text 10"/>
          <p:cNvSpPr/>
          <p:nvPr/>
        </p:nvSpPr>
        <p:spPr>
          <a:xfrm>
            <a:off x="8366760" y="2788920"/>
            <a:ext cx="2971800" cy="12801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măsoară ce s-a pierdut, nu ce rămâne</a:t>
            </a:r>
            <a:endParaRPr lang="en-US" sz="1800" dirty="0"/>
          </a:p>
        </p:txBody>
      </p:sp>
      <p:sp>
        <p:nvSpPr>
          <p:cNvPr id="13" name="Shape 11"/>
          <p:cNvSpPr/>
          <p:nvPr/>
        </p:nvSpPr>
        <p:spPr>
          <a:xfrm>
            <a:off x="594360" y="4526280"/>
            <a:ext cx="10972800" cy="1143000"/>
          </a:xfrm>
          <a:prstGeom prst="roundRect">
            <a:avLst>
              <a:gd name="adj" fmla="val 7200"/>
            </a:avLst>
          </a:prstGeom>
          <a:solidFill>
            <a:srgbClr val="F9F8F5"/>
          </a:solidFill>
          <a:ln w="12700">
            <a:solidFill>
              <a:srgbClr val="F9F8F5"/>
            </a:solidFill>
            <a:prstDash val="solid"/>
          </a:ln>
        </p:spPr>
        <p:txBody>
          <a:bodyPr/>
          <a:p/>
        </p:txBody>
      </p:sp>
      <p:sp>
        <p:nvSpPr>
          <p:cNvPr id="14" name="Shape 12"/>
          <p:cNvSpPr/>
          <p:nvPr/>
        </p:nvSpPr>
        <p:spPr>
          <a:xfrm>
            <a:off x="594360" y="4526280"/>
            <a:ext cx="91440" cy="1143000"/>
          </a:xfrm>
          <a:prstGeom prst="rect">
            <a:avLst/>
          </a:prstGeom>
          <a:solidFill>
            <a:srgbClr val="0E7C6B"/>
          </a:solidFill>
          <a:ln w="12700">
            <a:solidFill>
              <a:srgbClr val="0E7C6B"/>
            </a:solidFill>
            <a:prstDash val="solid"/>
          </a:ln>
        </p:spPr>
        <p:txBody>
          <a:bodyPr/>
          <a:p/>
        </p:txBody>
      </p:sp>
      <p:sp>
        <p:nvSpPr>
          <p:cNvPr id="15" name="Text 13"/>
          <p:cNvSpPr/>
          <p:nvPr/>
        </p:nvSpPr>
        <p:spPr>
          <a:xfrm>
            <a:off x="914400" y="4526280"/>
            <a:ext cx="10424160" cy="114300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Primarul întreabă de anii buni, nu de anii pierduți. Indicatorul se alege după întrebare.</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SITUAȚIE CONSTRUITĂ PENTRU CURS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Inhalatorul rămas acasă</a:t>
            </a:r>
            <a:endParaRPr lang="en-US" sz="3200" dirty="0"/>
          </a:p>
        </p:txBody>
      </p:sp>
      <p:sp>
        <p:nvSpPr>
          <p:cNvPr id="4" name="Text 2"/>
          <p:cNvSpPr/>
          <p:nvPr/>
        </p:nvSpPr>
        <p:spPr>
          <a:xfrm>
            <a:off x="594360" y="1554480"/>
            <a:ext cx="5120640" cy="219456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Ioana, studentă în anul al doilea, are o bursă în Spania. Are astm și folosește zilnic un inhalator prescris în România.</a:t>
            </a:r>
            <a:endParaRPr lang="en-US" sz="1800" dirty="0"/>
          </a:p>
        </p:txBody>
      </p:sp>
      <p:sp>
        <p:nvSpPr>
          <p:cNvPr id="5" name="Text 3"/>
          <p:cNvSpPr/>
          <p:nvPr/>
        </p:nvSpPr>
        <p:spPr>
          <a:xfrm>
            <a:off x="594360" y="3840480"/>
            <a:ext cx="5120640" cy="9144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După trei săptămâni, își dă seama că a luat prea puține.</a:t>
            </a:r>
            <a:endParaRPr lang="en-US" sz="1800" dirty="0"/>
          </a:p>
        </p:txBody>
      </p:sp>
      <p:sp>
        <p:nvSpPr>
          <p:cNvPr id="6" name="Shape 4"/>
          <p:cNvSpPr/>
          <p:nvPr/>
        </p:nvSpPr>
        <p:spPr>
          <a:xfrm>
            <a:off x="6172200" y="1463040"/>
            <a:ext cx="5394960" cy="4480560"/>
          </a:xfrm>
          <a:prstGeom prst="roundRect">
            <a:avLst>
              <a:gd name="adj" fmla="val 1837"/>
            </a:avLst>
          </a:prstGeom>
          <a:solidFill>
            <a:srgbClr val="1D1F2B"/>
          </a:solidFill>
          <a:ln w="12700">
            <a:solidFill>
              <a:srgbClr val="1D1F2B"/>
            </a:solidFill>
            <a:prstDash val="solid"/>
          </a:ln>
        </p:spPr>
        <p:txBody>
          <a:bodyPr/>
          <a:p/>
        </p:txBody>
      </p:sp>
      <p:sp>
        <p:nvSpPr>
          <p:cNvPr id="7" name="Text 5"/>
          <p:cNvSpPr/>
          <p:nvPr/>
        </p:nvSpPr>
        <p:spPr>
          <a:xfrm>
            <a:off x="6400800" y="1572768"/>
            <a:ext cx="4937760" cy="329184"/>
          </a:xfrm>
          <a:prstGeom prst="rect">
            <a:avLst/>
          </a:prstGeom>
          <a:noFill/>
          <a:ln/>
        </p:spPr>
        <p:txBody>
          <a:bodyPr wrap="square" lIns="0" tIns="0" rIns="0" bIns="0" rtlCol="0" anchor="t"/>
          <a:lstStyle/>
          <a:p>
            <a:pPr indent="0" marL="0">
              <a:buNone/>
            </a:pPr>
            <a:r>
              <a:rPr lang="en-US" sz="1300" b="1" dirty="0">
                <a:solidFill>
                  <a:srgbClr val="959BB0"/>
                </a:solidFill>
                <a:latin typeface="Palatino Linotype" pitchFamily="34" charset="0"/>
                <a:ea typeface="Palatino Linotype" pitchFamily="34" charset="-122"/>
                <a:cs typeface="Palatino Linotype" pitchFamily="34" charset="-120"/>
              </a:rPr>
              <a:t>Ioana · o farmacie din Valencia</a:t>
            </a:r>
            <a:endParaRPr lang="en-US" sz="1300" dirty="0"/>
          </a:p>
        </p:txBody>
      </p:sp>
      <p:sp>
        <p:nvSpPr>
          <p:cNvPr id="8" name="Shape 6"/>
          <p:cNvSpPr/>
          <p:nvPr/>
        </p:nvSpPr>
        <p:spPr>
          <a:xfrm>
            <a:off x="6400800" y="2057400"/>
            <a:ext cx="3429000" cy="1325880"/>
          </a:xfrm>
          <a:prstGeom prst="roundRect">
            <a:avLst>
              <a:gd name="adj" fmla="val 10345"/>
            </a:avLst>
          </a:prstGeom>
          <a:solidFill>
            <a:srgbClr val="272A38"/>
          </a:solidFill>
          <a:ln w="12700">
            <a:solidFill>
              <a:srgbClr val="272A38"/>
            </a:solidFill>
            <a:prstDash val="solid"/>
          </a:ln>
        </p:spPr>
        <p:txBody>
          <a:bodyPr/>
          <a:p/>
        </p:txBody>
      </p:sp>
      <p:sp>
        <p:nvSpPr>
          <p:cNvPr id="9" name="Text 7"/>
          <p:cNvSpPr/>
          <p:nvPr/>
        </p:nvSpPr>
        <p:spPr>
          <a:xfrm>
            <a:off x="6583680" y="2057400"/>
            <a:ext cx="3063240" cy="13258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Am rămas fără inhalator. Am intrat într-o farmacie din Valencia.</a:t>
            </a:r>
            <a:endParaRPr lang="en-US" sz="1500" dirty="0"/>
          </a:p>
        </p:txBody>
      </p:sp>
      <p:sp>
        <p:nvSpPr>
          <p:cNvPr id="10" name="Shape 8"/>
          <p:cNvSpPr/>
          <p:nvPr/>
        </p:nvSpPr>
        <p:spPr>
          <a:xfrm>
            <a:off x="7955280" y="3584448"/>
            <a:ext cx="3429000" cy="685800"/>
          </a:xfrm>
          <a:prstGeom prst="roundRect">
            <a:avLst>
              <a:gd name="adj" fmla="val 20000"/>
            </a:avLst>
          </a:prstGeom>
          <a:solidFill>
            <a:srgbClr val="2E7D6F"/>
          </a:solidFill>
          <a:ln w="12700">
            <a:solidFill>
              <a:srgbClr val="2E7D6F"/>
            </a:solidFill>
            <a:prstDash val="solid"/>
          </a:ln>
        </p:spPr>
        <p:txBody>
          <a:bodyPr/>
          <a:p/>
        </p:txBody>
      </p:sp>
      <p:sp>
        <p:nvSpPr>
          <p:cNvPr id="11" name="Text 9"/>
          <p:cNvSpPr/>
          <p:nvPr/>
        </p:nvSpPr>
        <p:spPr>
          <a:xfrm>
            <a:off x="8138160" y="3584448"/>
            <a:ext cx="3063240" cy="6858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Au rețeta ta acolo?</a:t>
            </a:r>
            <a:endParaRPr lang="en-US" sz="1500" dirty="0"/>
          </a:p>
        </p:txBody>
      </p:sp>
      <p:sp>
        <p:nvSpPr>
          <p:cNvPr id="12" name="Shape 10"/>
          <p:cNvSpPr/>
          <p:nvPr/>
        </p:nvSpPr>
        <p:spPr>
          <a:xfrm>
            <a:off x="6400800" y="4471416"/>
            <a:ext cx="3429000" cy="1325880"/>
          </a:xfrm>
          <a:prstGeom prst="roundRect">
            <a:avLst>
              <a:gd name="adj" fmla="val 10345"/>
            </a:avLst>
          </a:prstGeom>
          <a:solidFill>
            <a:srgbClr val="272A38"/>
          </a:solidFill>
          <a:ln w="12700">
            <a:solidFill>
              <a:srgbClr val="272A38"/>
            </a:solidFill>
            <a:prstDash val="solid"/>
          </a:ln>
        </p:spPr>
        <p:txBody>
          <a:bodyPr/>
          <a:p/>
        </p:txBody>
      </p:sp>
      <p:sp>
        <p:nvSpPr>
          <p:cNvPr id="13" name="Text 11"/>
          <p:cNvSpPr/>
          <p:nvPr/>
        </p:nvSpPr>
        <p:spPr>
          <a:xfrm>
            <a:off x="6583680" y="4471416"/>
            <a:ext cx="3063240" cy="13258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Farmacista nu vorbește română și nu are acces la fișa mea din Iași.</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MYHEALTH@EU · COMISIA EUROPEANĂ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Rețeta care trece granița</a:t>
            </a:r>
            <a:endParaRPr lang="en-US" sz="3200" dirty="0"/>
          </a:p>
        </p:txBody>
      </p:sp>
      <p:sp>
        <p:nvSpPr>
          <p:cNvPr id="4" name="Shape 2"/>
          <p:cNvSpPr/>
          <p:nvPr/>
        </p:nvSpPr>
        <p:spPr>
          <a:xfrm>
            <a:off x="594360" y="1600200"/>
            <a:ext cx="5394960" cy="2377440"/>
          </a:xfrm>
          <a:prstGeom prst="roundRect">
            <a:avLst>
              <a:gd name="adj" fmla="val 3462"/>
            </a:avLst>
          </a:prstGeom>
          <a:solidFill>
            <a:srgbClr val="ECEAE4"/>
          </a:solidFill>
          <a:ln w="12700">
            <a:solidFill>
              <a:srgbClr val="ECEAE4"/>
            </a:solidFill>
            <a:prstDash val="solid"/>
          </a:ln>
        </p:spPr>
        <p:txBody>
          <a:bodyPr/>
          <a:p/>
        </p:txBody>
      </p:sp>
      <p:sp>
        <p:nvSpPr>
          <p:cNvPr id="5" name="Shape 3"/>
          <p:cNvSpPr/>
          <p:nvPr/>
        </p:nvSpPr>
        <p:spPr>
          <a:xfrm>
            <a:off x="594360" y="1600200"/>
            <a:ext cx="53949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68680" y="1783080"/>
            <a:ext cx="4846320" cy="4572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Rețeta și eliberarea electronică</a:t>
            </a:r>
            <a:endParaRPr lang="en-US" sz="1900" dirty="0"/>
          </a:p>
        </p:txBody>
      </p:sp>
      <p:sp>
        <p:nvSpPr>
          <p:cNvPr id="7" name="Text 5"/>
          <p:cNvSpPr/>
          <p:nvPr/>
        </p:nvSpPr>
        <p:spPr>
          <a:xfrm>
            <a:off x="868680" y="2286000"/>
            <a:ext cx="4846320" cy="15544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medicamentele se ridică dintr-o farmacie din altă țară a Uniunii, prin transferul online al rețetei din țara de asigurare</a:t>
            </a:r>
            <a:endParaRPr lang="en-US" sz="1800" dirty="0"/>
          </a:p>
        </p:txBody>
      </p:sp>
      <p:sp>
        <p:nvSpPr>
          <p:cNvPr id="8" name="Shape 6"/>
          <p:cNvSpPr/>
          <p:nvPr/>
        </p:nvSpPr>
        <p:spPr>
          <a:xfrm>
            <a:off x="6172200" y="1600200"/>
            <a:ext cx="5394960" cy="2377440"/>
          </a:xfrm>
          <a:prstGeom prst="roundRect">
            <a:avLst>
              <a:gd name="adj" fmla="val 3462"/>
            </a:avLst>
          </a:prstGeom>
          <a:solidFill>
            <a:srgbClr val="ECEAE4"/>
          </a:solidFill>
          <a:ln w="12700">
            <a:solidFill>
              <a:srgbClr val="ECEAE4"/>
            </a:solidFill>
            <a:prstDash val="solid"/>
          </a:ln>
        </p:spPr>
        <p:txBody>
          <a:bodyPr/>
          <a:p/>
        </p:txBody>
      </p:sp>
      <p:sp>
        <p:nvSpPr>
          <p:cNvPr id="9" name="Shape 7"/>
          <p:cNvSpPr/>
          <p:nvPr/>
        </p:nvSpPr>
        <p:spPr>
          <a:xfrm>
            <a:off x="6172200" y="1600200"/>
            <a:ext cx="5394960" cy="73152"/>
          </a:xfrm>
          <a:prstGeom prst="rect">
            <a:avLst/>
          </a:prstGeom>
          <a:solidFill>
            <a:srgbClr val="0E7C6B"/>
          </a:solidFill>
          <a:ln w="12700">
            <a:solidFill>
              <a:srgbClr val="0E7C6B"/>
            </a:solidFill>
            <a:prstDash val="solid"/>
          </a:ln>
        </p:spPr>
        <p:txBody>
          <a:bodyPr/>
          <a:p/>
        </p:txBody>
      </p:sp>
      <p:sp>
        <p:nvSpPr>
          <p:cNvPr id="10" name="Text 8"/>
          <p:cNvSpPr/>
          <p:nvPr/>
        </p:nvSpPr>
        <p:spPr>
          <a:xfrm>
            <a:off x="6446520" y="1783080"/>
            <a:ext cx="4846320" cy="4572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Rezumatul pacientului</a:t>
            </a:r>
            <a:endParaRPr lang="en-US" sz="1900" dirty="0"/>
          </a:p>
        </p:txBody>
      </p:sp>
      <p:sp>
        <p:nvSpPr>
          <p:cNvPr id="11" name="Text 9"/>
          <p:cNvSpPr/>
          <p:nvPr/>
        </p:nvSpPr>
        <p:spPr>
          <a:xfrm>
            <a:off x="6446520" y="2286000"/>
            <a:ext cx="4846320" cy="15544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informațiile esențiale: alergiile, tratamentele curente, bolile anterioare</a:t>
            </a:r>
            <a:endParaRPr lang="en-US" sz="1800" dirty="0"/>
          </a:p>
        </p:txBody>
      </p:sp>
      <p:sp>
        <p:nvSpPr>
          <p:cNvPr id="12" name="Shape 10"/>
          <p:cNvSpPr/>
          <p:nvPr/>
        </p:nvSpPr>
        <p:spPr>
          <a:xfrm>
            <a:off x="594360" y="4297680"/>
            <a:ext cx="10972800" cy="1280160"/>
          </a:xfrm>
          <a:prstGeom prst="roundRect">
            <a:avLst>
              <a:gd name="adj" fmla="val 6429"/>
            </a:avLst>
          </a:prstGeom>
          <a:solidFill>
            <a:srgbClr val="FBF8F1"/>
          </a:solidFill>
          <a:ln w="12700">
            <a:solidFill>
              <a:srgbClr val="FBF8F1"/>
            </a:solidFill>
            <a:prstDash val="solid"/>
          </a:ln>
        </p:spPr>
        <p:txBody>
          <a:bodyPr/>
          <a:p/>
        </p:txBody>
      </p:sp>
      <p:sp>
        <p:nvSpPr>
          <p:cNvPr id="13" name="Shape 11"/>
          <p:cNvSpPr/>
          <p:nvPr/>
        </p:nvSpPr>
        <p:spPr>
          <a:xfrm>
            <a:off x="594360" y="4297680"/>
            <a:ext cx="91440" cy="1280160"/>
          </a:xfrm>
          <a:prstGeom prst="rect">
            <a:avLst/>
          </a:prstGeom>
          <a:solidFill>
            <a:srgbClr val="B02532"/>
          </a:solidFill>
          <a:ln w="12700">
            <a:solidFill>
              <a:srgbClr val="B02532"/>
            </a:solidFill>
            <a:prstDash val="solid"/>
          </a:ln>
        </p:spPr>
        <p:txBody>
          <a:bodyPr/>
          <a:p/>
        </p:txBody>
      </p:sp>
      <p:sp>
        <p:nvSpPr>
          <p:cNvPr id="14" name="Text 12"/>
          <p:cNvSpPr/>
          <p:nvPr/>
        </p:nvSpPr>
        <p:spPr>
          <a:xfrm>
            <a:off x="914400" y="4297680"/>
            <a:ext cx="10424160" cy="128016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Multe țări încă pun în practică aceste servicii: nu funcționează peste tot.</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NOR DE CUVINTE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SINGUR CUVÂNT</a:t>
            </a:r>
            <a:endParaRPr lang="en-US" sz="1300" dirty="0"/>
          </a:p>
        </p:txBody>
      </p:sp>
      <p:sp>
        <p:nvSpPr>
          <p:cNvPr id="5" name="Shape 3"/>
          <p:cNvSpPr/>
          <p:nvPr/>
        </p:nvSpPr>
        <p:spPr>
          <a:xfrm>
            <a:off x="594360" y="914400"/>
            <a:ext cx="5394960" cy="1783080"/>
          </a:xfrm>
          <a:prstGeom prst="roundRect">
            <a:avLst>
              <a:gd name="adj" fmla="val 4615"/>
            </a:avLst>
          </a:prstGeom>
          <a:solidFill>
            <a:srgbClr val="1D1F2B"/>
          </a:solidFill>
          <a:ln w="12700">
            <a:solidFill>
              <a:srgbClr val="1D1F2B"/>
            </a:solidFill>
            <a:prstDash val="solid"/>
          </a:ln>
        </p:spPr>
        <p:txBody>
          <a:bodyPr/>
          <a:p/>
        </p:txBody>
      </p:sp>
      <p:sp>
        <p:nvSpPr>
          <p:cNvPr id="6" name="Shape 4"/>
          <p:cNvSpPr/>
          <p:nvPr/>
        </p:nvSpPr>
        <p:spPr>
          <a:xfrm>
            <a:off x="594360" y="914400"/>
            <a:ext cx="82296" cy="1783080"/>
          </a:xfrm>
          <a:prstGeom prst="rect">
            <a:avLst/>
          </a:prstGeom>
          <a:solidFill>
            <a:srgbClr val="27D3BE"/>
          </a:solidFill>
          <a:ln w="12700">
            <a:solidFill>
              <a:srgbClr val="27D3BE"/>
            </a:solidFill>
            <a:prstDash val="solid"/>
          </a:ln>
        </p:spPr>
        <p:txBody>
          <a:bodyPr/>
          <a:p/>
        </p:txBody>
      </p:sp>
      <p:sp>
        <p:nvSpPr>
          <p:cNvPr id="7" name="Text 5"/>
          <p:cNvSpPr/>
          <p:nvPr/>
        </p:nvSpPr>
        <p:spPr>
          <a:xfrm>
            <a:off x="914400" y="1024128"/>
            <a:ext cx="4846320" cy="36576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Azi</a:t>
            </a:r>
            <a:endParaRPr lang="en-US" sz="1600" dirty="0"/>
          </a:p>
        </p:txBody>
      </p:sp>
      <p:sp>
        <p:nvSpPr>
          <p:cNvPr id="8" name="Text 6"/>
          <p:cNvSpPr/>
          <p:nvPr/>
        </p:nvSpPr>
        <p:spPr>
          <a:xfrm>
            <a:off x="914400" y="1417320"/>
            <a:ext cx="4846320" cy="12344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Farmacista din Valencia citește rețeta Ioanei, ca s-o îngrijească chiar pe ea.</a:t>
            </a:r>
            <a:endParaRPr lang="en-US" sz="1600" dirty="0"/>
          </a:p>
        </p:txBody>
      </p:sp>
      <p:sp>
        <p:nvSpPr>
          <p:cNvPr id="9" name="Shape 7"/>
          <p:cNvSpPr/>
          <p:nvPr/>
        </p:nvSpPr>
        <p:spPr>
          <a:xfrm>
            <a:off x="6172200" y="914400"/>
            <a:ext cx="5394960" cy="1783080"/>
          </a:xfrm>
          <a:prstGeom prst="roundRect">
            <a:avLst>
              <a:gd name="adj" fmla="val 4615"/>
            </a:avLst>
          </a:prstGeom>
          <a:solidFill>
            <a:srgbClr val="1D1F2B"/>
          </a:solidFill>
          <a:ln w="12700">
            <a:solidFill>
              <a:srgbClr val="1D1F2B"/>
            </a:solidFill>
            <a:prstDash val="solid"/>
          </a:ln>
        </p:spPr>
        <p:txBody>
          <a:bodyPr/>
          <a:p/>
        </p:txBody>
      </p:sp>
      <p:sp>
        <p:nvSpPr>
          <p:cNvPr id="10" name="Shape 8"/>
          <p:cNvSpPr/>
          <p:nvPr/>
        </p:nvSpPr>
        <p:spPr>
          <a:xfrm>
            <a:off x="6172200" y="914400"/>
            <a:ext cx="82296" cy="1783080"/>
          </a:xfrm>
          <a:prstGeom prst="rect">
            <a:avLst/>
          </a:prstGeom>
          <a:solidFill>
            <a:srgbClr val="FF4757"/>
          </a:solidFill>
          <a:ln w="12700">
            <a:solidFill>
              <a:srgbClr val="FF4757"/>
            </a:solidFill>
            <a:prstDash val="solid"/>
          </a:ln>
        </p:spPr>
        <p:txBody>
          <a:bodyPr/>
          <a:p/>
        </p:txBody>
      </p:sp>
      <p:sp>
        <p:nvSpPr>
          <p:cNvPr id="11" name="Text 9"/>
          <p:cNvSpPr/>
          <p:nvPr/>
        </p:nvSpPr>
        <p:spPr>
          <a:xfrm>
            <a:off x="6492240" y="1024128"/>
            <a:ext cx="4846320" cy="365760"/>
          </a:xfrm>
          <a:prstGeom prst="rect">
            <a:avLst/>
          </a:prstGeom>
          <a:noFill/>
          <a:ln/>
        </p:spPr>
        <p:txBody>
          <a:bodyPr wrap="square" lIns="0" tIns="0" rIns="0" bIns="0" rtlCol="0" anchor="t"/>
          <a:lstStyle/>
          <a:p>
            <a:pPr indent="0" marL="0">
              <a:buNone/>
            </a:pPr>
            <a:r>
              <a:rPr lang="en-US" sz="1600" b="1" dirty="0">
                <a:solidFill>
                  <a:srgbClr val="FF4757"/>
                </a:solidFill>
                <a:latin typeface="Palatino Linotype" pitchFamily="34" charset="0"/>
                <a:ea typeface="Palatino Linotype" pitchFamily="34" charset="-122"/>
                <a:cs typeface="Palatino Linotype" pitchFamily="34" charset="-120"/>
              </a:rPr>
              <a:t>Peste câțiva ani</a:t>
            </a:r>
            <a:endParaRPr lang="en-US" sz="1600" dirty="0"/>
          </a:p>
        </p:txBody>
      </p:sp>
      <p:sp>
        <p:nvSpPr>
          <p:cNvPr id="12" name="Text 10"/>
          <p:cNvSpPr/>
          <p:nvPr/>
        </p:nvSpPr>
        <p:spPr>
          <a:xfrm>
            <a:off x="6492240" y="1417320"/>
            <a:ext cx="4846320" cy="12344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Cercetători citesc, fără nume, rețetele a milioane de pacienți: își iau tinerii cu astm tratamentul cu regularitate?</a:t>
            </a:r>
            <a:endParaRPr lang="en-US" sz="1600" dirty="0"/>
          </a:p>
        </p:txBody>
      </p:sp>
      <p:sp>
        <p:nvSpPr>
          <p:cNvPr id="13" name="Text 11"/>
          <p:cNvSpPr/>
          <p:nvPr/>
        </p:nvSpPr>
        <p:spPr>
          <a:xfrm>
            <a:off x="594360" y="2971800"/>
            <a:ext cx="10972800" cy="1737360"/>
          </a:xfrm>
          <a:prstGeom prst="rect">
            <a:avLst/>
          </a:prstGeom>
          <a:noFill/>
          <a:ln/>
        </p:spPr>
        <p:txBody>
          <a:bodyPr wrap="square" lIns="0" tIns="0" rIns="0" bIns="0" rtlCol="0" anchor="ctr"/>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simțiți când aflați că datele din rețetele voastre pot fi folosite, fără nume, într-un studiu?</a:t>
            </a:r>
            <a:endParaRPr lang="en-US" sz="3200" dirty="0"/>
          </a:p>
        </p:txBody>
      </p:sp>
      <p:sp>
        <p:nvSpPr>
          <p:cNvPr id="14" name="Text 12"/>
          <p:cNvSpPr/>
          <p:nvPr/>
        </p:nvSpPr>
        <p:spPr>
          <a:xfrm>
            <a:off x="594360" y="4892040"/>
            <a:ext cx="10972800" cy="45720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Un singur cuvânt. Răspunsurile apar ca nor de cuvinte.</a:t>
            </a:r>
            <a:endParaRPr lang="en-US" sz="1800" dirty="0"/>
          </a:p>
        </p:txBody>
      </p:sp>
      <p:sp>
        <p:nvSpPr>
          <p:cNvPr id="15" name="Text 13"/>
          <p:cNvSpPr/>
          <p:nvPr/>
        </p:nvSpPr>
        <p:spPr>
          <a:xfrm>
            <a:off x="594360" y="5577840"/>
            <a:ext cx="7680960" cy="365760"/>
          </a:xfrm>
          <a:prstGeom prst="rect">
            <a:avLst/>
          </a:prstGeom>
          <a:noFill/>
          <a:ln/>
        </p:spPr>
        <p:txBody>
          <a:bodyPr wrap="square" lIns="0" tIns="0" rIns="0" bIns="0" rtlCol="0" anchor="t"/>
          <a:lstStyle/>
          <a:p>
            <a:pPr indent="0" marL="0">
              <a:buNone/>
            </a:pPr>
            <a:r>
              <a:rPr lang="en-US" sz="1600" b="1" i="1" dirty="0">
                <a:solidFill>
                  <a:srgbClr val="27D3BE"/>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Utilizarea secundară a datelor</a:t>
            </a:r>
            <a:endParaRPr lang="en-US" sz="3200" dirty="0"/>
          </a:p>
        </p:txBody>
      </p:sp>
      <p:sp>
        <p:nvSpPr>
          <p:cNvPr id="4" name="Shape 2"/>
          <p:cNvSpPr/>
          <p:nvPr/>
        </p:nvSpPr>
        <p:spPr>
          <a:xfrm>
            <a:off x="594360" y="1554480"/>
            <a:ext cx="10972800" cy="1143000"/>
          </a:xfrm>
          <a:prstGeom prst="roundRect">
            <a:avLst>
              <a:gd name="adj" fmla="val 7200"/>
            </a:avLst>
          </a:prstGeom>
          <a:solidFill>
            <a:srgbClr val="ECEAE4"/>
          </a:solidFill>
          <a:ln w="12700">
            <a:solidFill>
              <a:srgbClr val="ECEAE4"/>
            </a:solidFill>
            <a:prstDash val="solid"/>
          </a:ln>
        </p:spPr>
        <p:txBody>
          <a:bodyPr/>
          <a:p/>
        </p:txBody>
      </p:sp>
      <p:sp>
        <p:nvSpPr>
          <p:cNvPr id="5" name="Text 3"/>
          <p:cNvSpPr/>
          <p:nvPr/>
        </p:nvSpPr>
        <p:spPr>
          <a:xfrm>
            <a:off x="868680" y="1645920"/>
            <a:ext cx="10424160" cy="310896"/>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ÎN LIMBAJ DE ZI CU ZI</a:t>
            </a:r>
            <a:endParaRPr lang="en-US" sz="1300" dirty="0"/>
          </a:p>
        </p:txBody>
      </p:sp>
      <p:sp>
        <p:nvSpPr>
          <p:cNvPr id="6" name="Text 4"/>
          <p:cNvSpPr/>
          <p:nvPr/>
        </p:nvSpPr>
        <p:spPr>
          <a:xfrm>
            <a:off x="868680" y="1965960"/>
            <a:ext cx="10424160" cy="640080"/>
          </a:xfrm>
          <a:prstGeom prst="rect">
            <a:avLst/>
          </a:prstGeom>
          <a:noFill/>
          <a:ln/>
        </p:spPr>
        <p:txBody>
          <a:bodyPr wrap="square" lIns="0" tIns="0" rIns="0" bIns="0" rtlCol="0" anchor="t"/>
          <a:lstStyle/>
          <a:p>
            <a:pPr indent="0" marL="0">
              <a:buNone/>
            </a:pPr>
            <a:r>
              <a:rPr lang="en-US" sz="2500" b="1" dirty="0">
                <a:solidFill>
                  <a:srgbClr val="11121A"/>
                </a:solidFill>
                <a:latin typeface="Palatino Linotype" pitchFamily="34" charset="0"/>
                <a:ea typeface="Palatino Linotype" pitchFamily="34" charset="-122"/>
                <a:cs typeface="Palatino Linotype" pitchFamily="34" charset="-120"/>
              </a:rPr>
              <a:t>datele strânse ca să fiți îngrijiți, folosite în alt scop</a:t>
            </a:r>
            <a:endParaRPr lang="en-US" sz="2500" dirty="0"/>
          </a:p>
        </p:txBody>
      </p:sp>
      <p:sp>
        <p:nvSpPr>
          <p:cNvPr id="7" name="Shape 5"/>
          <p:cNvSpPr/>
          <p:nvPr/>
        </p:nvSpPr>
        <p:spPr>
          <a:xfrm>
            <a:off x="594360" y="2926080"/>
            <a:ext cx="5394960" cy="2697480"/>
          </a:xfrm>
          <a:prstGeom prst="roundRect">
            <a:avLst>
              <a:gd name="adj" fmla="val 3051"/>
            </a:avLst>
          </a:prstGeom>
          <a:solidFill>
            <a:srgbClr val="F9F8F5"/>
          </a:solidFill>
          <a:ln w="12700">
            <a:solidFill>
              <a:srgbClr val="F9F8F5"/>
            </a:solidFill>
            <a:prstDash val="solid"/>
          </a:ln>
        </p:spPr>
        <p:txBody>
          <a:bodyPr/>
          <a:p/>
        </p:txBody>
      </p:sp>
      <p:sp>
        <p:nvSpPr>
          <p:cNvPr id="8" name="Shape 6"/>
          <p:cNvSpPr/>
          <p:nvPr/>
        </p:nvSpPr>
        <p:spPr>
          <a:xfrm>
            <a:off x="594360" y="2926080"/>
            <a:ext cx="91440" cy="2697480"/>
          </a:xfrm>
          <a:prstGeom prst="rect">
            <a:avLst/>
          </a:prstGeom>
          <a:solidFill>
            <a:srgbClr val="0E7C6B"/>
          </a:solidFill>
          <a:ln w="12700">
            <a:solidFill>
              <a:srgbClr val="0E7C6B"/>
            </a:solidFill>
            <a:prstDash val="solid"/>
          </a:ln>
        </p:spPr>
        <p:txBody>
          <a:bodyPr/>
          <a:p/>
        </p:txBody>
      </p:sp>
      <p:sp>
        <p:nvSpPr>
          <p:cNvPr id="9" name="Text 7"/>
          <p:cNvSpPr/>
          <p:nvPr/>
        </p:nvSpPr>
        <p:spPr>
          <a:xfrm>
            <a:off x="914400" y="3063240"/>
            <a:ext cx="4846320" cy="41148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Utilizarea primară</a:t>
            </a:r>
            <a:endParaRPr lang="en-US" sz="1900" dirty="0"/>
          </a:p>
        </p:txBody>
      </p:sp>
      <p:sp>
        <p:nvSpPr>
          <p:cNvPr id="10" name="Text 8"/>
          <p:cNvSpPr/>
          <p:nvPr/>
        </p:nvSpPr>
        <p:spPr>
          <a:xfrm>
            <a:off x="914400" y="3520440"/>
            <a:ext cx="4846320" cy="20116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prelucrarea datelor electronice privind sănătatea pentru furnizarea de asistență medicală, inclusiv prescrierea și eliberarea medicamentelor</a:t>
            </a:r>
            <a:endParaRPr lang="en-US" sz="1700" dirty="0"/>
          </a:p>
        </p:txBody>
      </p:sp>
      <p:sp>
        <p:nvSpPr>
          <p:cNvPr id="11" name="Shape 9"/>
          <p:cNvSpPr/>
          <p:nvPr/>
        </p:nvSpPr>
        <p:spPr>
          <a:xfrm>
            <a:off x="6172200" y="2926080"/>
            <a:ext cx="5394960" cy="2697480"/>
          </a:xfrm>
          <a:prstGeom prst="roundRect">
            <a:avLst>
              <a:gd name="adj" fmla="val 3051"/>
            </a:avLst>
          </a:prstGeom>
          <a:solidFill>
            <a:srgbClr val="F9F8F5"/>
          </a:solidFill>
          <a:ln w="12700">
            <a:solidFill>
              <a:srgbClr val="F9F8F5"/>
            </a:solidFill>
            <a:prstDash val="solid"/>
          </a:ln>
        </p:spPr>
        <p:txBody>
          <a:bodyPr/>
          <a:p/>
        </p:txBody>
      </p:sp>
      <p:sp>
        <p:nvSpPr>
          <p:cNvPr id="12" name="Shape 10"/>
          <p:cNvSpPr/>
          <p:nvPr/>
        </p:nvSpPr>
        <p:spPr>
          <a:xfrm>
            <a:off x="6172200" y="2926080"/>
            <a:ext cx="91440" cy="2697480"/>
          </a:xfrm>
          <a:prstGeom prst="rect">
            <a:avLst/>
          </a:prstGeom>
          <a:solidFill>
            <a:srgbClr val="B02532"/>
          </a:solidFill>
          <a:ln w="12700">
            <a:solidFill>
              <a:srgbClr val="B02532"/>
            </a:solidFill>
            <a:prstDash val="solid"/>
          </a:ln>
        </p:spPr>
        <p:txBody>
          <a:bodyPr/>
          <a:p/>
        </p:txBody>
      </p:sp>
      <p:sp>
        <p:nvSpPr>
          <p:cNvPr id="13" name="Text 11"/>
          <p:cNvSpPr/>
          <p:nvPr/>
        </p:nvSpPr>
        <p:spPr>
          <a:xfrm>
            <a:off x="6492240" y="3063240"/>
            <a:ext cx="4846320" cy="41148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Utilizarea secundară</a:t>
            </a:r>
            <a:endParaRPr lang="en-US" sz="1900" dirty="0"/>
          </a:p>
        </p:txBody>
      </p:sp>
      <p:sp>
        <p:nvSpPr>
          <p:cNvPr id="14" name="Text 12"/>
          <p:cNvSpPr/>
          <p:nvPr/>
        </p:nvSpPr>
        <p:spPr>
          <a:xfrm>
            <a:off x="6492240" y="3520440"/>
            <a:ext cx="4846320" cy="20116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prelucrarea lor în scopurile stabilite de regulament, altele decât cele pentru care au fost colectate inițial: cercetare, statistici oficiale, politici</a:t>
            </a:r>
            <a:endParaRPr lang="en-US" sz="1700" dirty="0"/>
          </a:p>
        </p:txBody>
      </p:sp>
      <p:sp>
        <p:nvSpPr>
          <p:cNvPr id="15" name="Text 13"/>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Regulamentul (UE) 2025/327, definițiile</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DOUĂ ÎNTREBĂRI SCURTE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Primară sau secundară?</a:t>
            </a:r>
            <a:endParaRPr lang="en-US" sz="3400" dirty="0"/>
          </a:p>
        </p:txBody>
      </p:sp>
      <p:sp>
        <p:nvSpPr>
          <p:cNvPr id="6" name="Shape 4"/>
          <p:cNvSpPr/>
          <p:nvPr/>
        </p:nvSpPr>
        <p:spPr>
          <a:xfrm>
            <a:off x="594360" y="1783080"/>
            <a:ext cx="10972800" cy="1371600"/>
          </a:xfrm>
          <a:prstGeom prst="roundRect">
            <a:avLst>
              <a:gd name="adj" fmla="val 6000"/>
            </a:avLst>
          </a:prstGeom>
          <a:solidFill>
            <a:srgbClr val="1D1F2B"/>
          </a:solidFill>
          <a:ln w="12700">
            <a:solidFill>
              <a:srgbClr val="1D1F2B"/>
            </a:solidFill>
            <a:prstDash val="solid"/>
          </a:ln>
        </p:spPr>
        <p:txBody>
          <a:bodyPr/>
          <a:p/>
        </p:txBody>
      </p:sp>
      <p:sp>
        <p:nvSpPr>
          <p:cNvPr id="7" name="Shape 5"/>
          <p:cNvSpPr/>
          <p:nvPr/>
        </p:nvSpPr>
        <p:spPr>
          <a:xfrm>
            <a:off x="868680" y="2240280"/>
            <a:ext cx="420624" cy="420624"/>
          </a:xfrm>
          <a:prstGeom prst="ellipse">
            <a:avLst/>
          </a:prstGeom>
          <a:solidFill>
            <a:srgbClr val="FFC24B"/>
          </a:solidFill>
          <a:ln/>
        </p:spPr>
        <p:txBody>
          <a:bodyPr/>
          <a:p/>
        </p:txBody>
      </p:sp>
      <p:sp>
        <p:nvSpPr>
          <p:cNvPr id="8" name="Text 6"/>
          <p:cNvSpPr/>
          <p:nvPr/>
        </p:nvSpPr>
        <p:spPr>
          <a:xfrm>
            <a:off x="868680" y="22402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54480" y="1783080"/>
            <a:ext cx="6949440" cy="137160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Farmacista din Valencia citește rețeta Ioanei ca să-i elibereze inhalatorul.</a:t>
            </a:r>
            <a:endParaRPr lang="en-US" sz="2000" dirty="0"/>
          </a:p>
        </p:txBody>
      </p:sp>
      <p:sp>
        <p:nvSpPr>
          <p:cNvPr id="10" name="Shape 8"/>
          <p:cNvSpPr/>
          <p:nvPr/>
        </p:nvSpPr>
        <p:spPr>
          <a:xfrm>
            <a:off x="8778240" y="2075688"/>
            <a:ext cx="1280160" cy="329184"/>
          </a:xfrm>
          <a:prstGeom prst="roundRect">
            <a:avLst>
              <a:gd name="adj" fmla="val 50000"/>
            </a:avLst>
          </a:prstGeom>
          <a:solidFill>
            <a:srgbClr val="272A38"/>
          </a:solidFill>
          <a:ln w="12700">
            <a:solidFill>
              <a:srgbClr val="272A38"/>
            </a:solidFill>
            <a:prstDash val="solid"/>
          </a:ln>
        </p:spPr>
        <p:txBody>
          <a:bodyPr/>
          <a:p/>
        </p:txBody>
      </p:sp>
      <p:sp>
        <p:nvSpPr>
          <p:cNvPr id="11" name="Text 9"/>
          <p:cNvSpPr/>
          <p:nvPr/>
        </p:nvSpPr>
        <p:spPr>
          <a:xfrm>
            <a:off x="8778240" y="2075688"/>
            <a:ext cx="1280160" cy="329184"/>
          </a:xfrm>
          <a:prstGeom prst="rect">
            <a:avLst/>
          </a:prstGeom>
          <a:noFill/>
          <a:ln/>
        </p:spPr>
        <p:txBody>
          <a:bodyPr wrap="square" lIns="0" tIns="0" rIns="0" bIns="0" rtlCol="0" anchor="ctr"/>
          <a:lstStyle/>
          <a:p>
            <a:pPr algn="ctr" indent="0" marL="0">
              <a:buNone/>
            </a:pPr>
            <a:r>
              <a:rPr lang="en-US" sz="1400" b="1" dirty="0">
                <a:solidFill>
                  <a:srgbClr val="27D3BE"/>
                </a:solidFill>
                <a:latin typeface="Palatino Linotype" pitchFamily="34" charset="0"/>
                <a:ea typeface="Palatino Linotype" pitchFamily="34" charset="-122"/>
                <a:cs typeface="Palatino Linotype" pitchFamily="34" charset="-120"/>
              </a:rPr>
              <a:t>primară</a:t>
            </a:r>
            <a:endParaRPr lang="en-US" sz="1400" dirty="0"/>
          </a:p>
        </p:txBody>
      </p:sp>
      <p:sp>
        <p:nvSpPr>
          <p:cNvPr id="12" name="Shape 10"/>
          <p:cNvSpPr/>
          <p:nvPr/>
        </p:nvSpPr>
        <p:spPr>
          <a:xfrm>
            <a:off x="10149840" y="2075688"/>
            <a:ext cx="1280160" cy="329184"/>
          </a:xfrm>
          <a:prstGeom prst="roundRect">
            <a:avLst>
              <a:gd name="adj" fmla="val 50000"/>
            </a:avLst>
          </a:prstGeom>
          <a:solidFill>
            <a:srgbClr val="272A38"/>
          </a:solidFill>
          <a:ln w="12700">
            <a:solidFill>
              <a:srgbClr val="272A38"/>
            </a:solidFill>
            <a:prstDash val="solid"/>
          </a:ln>
        </p:spPr>
        <p:txBody>
          <a:bodyPr/>
          <a:p/>
        </p:txBody>
      </p:sp>
      <p:sp>
        <p:nvSpPr>
          <p:cNvPr id="13" name="Text 11"/>
          <p:cNvSpPr/>
          <p:nvPr/>
        </p:nvSpPr>
        <p:spPr>
          <a:xfrm>
            <a:off x="10149840" y="2075688"/>
            <a:ext cx="1280160" cy="329184"/>
          </a:xfrm>
          <a:prstGeom prst="rect">
            <a:avLst/>
          </a:prstGeom>
          <a:noFill/>
          <a:ln/>
        </p:spPr>
        <p:txBody>
          <a:bodyPr wrap="square" lIns="0" tIns="0" rIns="0" bIns="0" rtlCol="0" anchor="ctr"/>
          <a:lstStyle/>
          <a:p>
            <a:pPr algn="ctr" indent="0" marL="0">
              <a:buNone/>
            </a:pPr>
            <a:r>
              <a:rPr lang="en-US" sz="1400" b="1" dirty="0">
                <a:solidFill>
                  <a:srgbClr val="FF4757"/>
                </a:solidFill>
                <a:latin typeface="Palatino Linotype" pitchFamily="34" charset="0"/>
                <a:ea typeface="Palatino Linotype" pitchFamily="34" charset="-122"/>
                <a:cs typeface="Palatino Linotype" pitchFamily="34" charset="-120"/>
              </a:rPr>
              <a:t>secundară</a:t>
            </a:r>
            <a:endParaRPr lang="en-US" sz="1400" dirty="0"/>
          </a:p>
        </p:txBody>
      </p:sp>
      <p:sp>
        <p:nvSpPr>
          <p:cNvPr id="14" name="Shape 12"/>
          <p:cNvSpPr/>
          <p:nvPr/>
        </p:nvSpPr>
        <p:spPr>
          <a:xfrm>
            <a:off x="594360" y="3383280"/>
            <a:ext cx="10972800" cy="1371600"/>
          </a:xfrm>
          <a:prstGeom prst="roundRect">
            <a:avLst>
              <a:gd name="adj" fmla="val 6000"/>
            </a:avLst>
          </a:prstGeom>
          <a:solidFill>
            <a:srgbClr val="1D1F2B"/>
          </a:solidFill>
          <a:ln w="12700">
            <a:solidFill>
              <a:srgbClr val="1D1F2B"/>
            </a:solidFill>
            <a:prstDash val="solid"/>
          </a:ln>
        </p:spPr>
        <p:txBody>
          <a:bodyPr/>
          <a:p/>
        </p:txBody>
      </p:sp>
      <p:sp>
        <p:nvSpPr>
          <p:cNvPr id="15" name="Shape 13"/>
          <p:cNvSpPr/>
          <p:nvPr/>
        </p:nvSpPr>
        <p:spPr>
          <a:xfrm>
            <a:off x="868680" y="3840480"/>
            <a:ext cx="420624" cy="420624"/>
          </a:xfrm>
          <a:prstGeom prst="ellipse">
            <a:avLst/>
          </a:prstGeom>
          <a:solidFill>
            <a:srgbClr val="FFC24B"/>
          </a:solidFill>
          <a:ln/>
        </p:spPr>
        <p:txBody>
          <a:bodyPr/>
          <a:p/>
        </p:txBody>
      </p:sp>
      <p:sp>
        <p:nvSpPr>
          <p:cNvPr id="16" name="Text 14"/>
          <p:cNvSpPr/>
          <p:nvPr/>
        </p:nvSpPr>
        <p:spPr>
          <a:xfrm>
            <a:off x="868680" y="3840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7" name="Text 15"/>
          <p:cNvSpPr/>
          <p:nvPr/>
        </p:nvSpPr>
        <p:spPr>
          <a:xfrm>
            <a:off x="1554480" y="3383280"/>
            <a:ext cx="6949440" cy="137160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 grup de cercetători folosește aceeași rețetă, fără nume, într-un studiu despre tinerii cu astm.</a:t>
            </a:r>
            <a:endParaRPr lang="en-US" sz="2000" dirty="0"/>
          </a:p>
        </p:txBody>
      </p:sp>
      <p:sp>
        <p:nvSpPr>
          <p:cNvPr id="18" name="Shape 16"/>
          <p:cNvSpPr/>
          <p:nvPr/>
        </p:nvSpPr>
        <p:spPr>
          <a:xfrm>
            <a:off x="8778240" y="3675888"/>
            <a:ext cx="1280160" cy="329184"/>
          </a:xfrm>
          <a:prstGeom prst="roundRect">
            <a:avLst>
              <a:gd name="adj" fmla="val 50000"/>
            </a:avLst>
          </a:prstGeom>
          <a:solidFill>
            <a:srgbClr val="272A38"/>
          </a:solidFill>
          <a:ln w="12700">
            <a:solidFill>
              <a:srgbClr val="272A38"/>
            </a:solidFill>
            <a:prstDash val="solid"/>
          </a:ln>
        </p:spPr>
        <p:txBody>
          <a:bodyPr/>
          <a:p/>
        </p:txBody>
      </p:sp>
      <p:sp>
        <p:nvSpPr>
          <p:cNvPr id="19" name="Text 17"/>
          <p:cNvSpPr/>
          <p:nvPr/>
        </p:nvSpPr>
        <p:spPr>
          <a:xfrm>
            <a:off x="8778240" y="3675888"/>
            <a:ext cx="1280160" cy="329184"/>
          </a:xfrm>
          <a:prstGeom prst="rect">
            <a:avLst/>
          </a:prstGeom>
          <a:noFill/>
          <a:ln/>
        </p:spPr>
        <p:txBody>
          <a:bodyPr wrap="square" lIns="0" tIns="0" rIns="0" bIns="0" rtlCol="0" anchor="ctr"/>
          <a:lstStyle/>
          <a:p>
            <a:pPr algn="ctr" indent="0" marL="0">
              <a:buNone/>
            </a:pPr>
            <a:r>
              <a:rPr lang="en-US" sz="1400" b="1" dirty="0">
                <a:solidFill>
                  <a:srgbClr val="27D3BE"/>
                </a:solidFill>
                <a:latin typeface="Palatino Linotype" pitchFamily="34" charset="0"/>
                <a:ea typeface="Palatino Linotype" pitchFamily="34" charset="-122"/>
                <a:cs typeface="Palatino Linotype" pitchFamily="34" charset="-120"/>
              </a:rPr>
              <a:t>primară</a:t>
            </a:r>
            <a:endParaRPr lang="en-US" sz="1400" dirty="0"/>
          </a:p>
        </p:txBody>
      </p:sp>
      <p:sp>
        <p:nvSpPr>
          <p:cNvPr id="20" name="Shape 18"/>
          <p:cNvSpPr/>
          <p:nvPr/>
        </p:nvSpPr>
        <p:spPr>
          <a:xfrm>
            <a:off x="10149840" y="3675888"/>
            <a:ext cx="1280160" cy="329184"/>
          </a:xfrm>
          <a:prstGeom prst="roundRect">
            <a:avLst>
              <a:gd name="adj" fmla="val 50000"/>
            </a:avLst>
          </a:prstGeom>
          <a:solidFill>
            <a:srgbClr val="272A38"/>
          </a:solidFill>
          <a:ln w="12700">
            <a:solidFill>
              <a:srgbClr val="272A38"/>
            </a:solidFill>
            <a:prstDash val="solid"/>
          </a:ln>
        </p:spPr>
        <p:txBody>
          <a:bodyPr/>
          <a:p/>
        </p:txBody>
      </p:sp>
      <p:sp>
        <p:nvSpPr>
          <p:cNvPr id="21" name="Text 19"/>
          <p:cNvSpPr/>
          <p:nvPr/>
        </p:nvSpPr>
        <p:spPr>
          <a:xfrm>
            <a:off x="10149840" y="3675888"/>
            <a:ext cx="1280160" cy="329184"/>
          </a:xfrm>
          <a:prstGeom prst="rect">
            <a:avLst/>
          </a:prstGeom>
          <a:noFill/>
          <a:ln/>
        </p:spPr>
        <p:txBody>
          <a:bodyPr wrap="square" lIns="0" tIns="0" rIns="0" bIns="0" rtlCol="0" anchor="ctr"/>
          <a:lstStyle/>
          <a:p>
            <a:pPr algn="ctr" indent="0" marL="0">
              <a:buNone/>
            </a:pPr>
            <a:r>
              <a:rPr lang="en-US" sz="1400" b="1" dirty="0">
                <a:solidFill>
                  <a:srgbClr val="FF4757"/>
                </a:solidFill>
                <a:latin typeface="Palatino Linotype" pitchFamily="34" charset="0"/>
                <a:ea typeface="Palatino Linotype" pitchFamily="34" charset="-122"/>
                <a:cs typeface="Palatino Linotype" pitchFamily="34" charset="-120"/>
              </a:rPr>
              <a:t>secundară</a:t>
            </a:r>
            <a:endParaRPr lang="en-US" sz="1400" dirty="0"/>
          </a:p>
        </p:txBody>
      </p:sp>
      <p:sp>
        <p:nvSpPr>
          <p:cNvPr id="22" name="Text 20"/>
          <p:cNvSpPr/>
          <p:nvPr/>
        </p:nvSpPr>
        <p:spPr>
          <a:xfrm>
            <a:off x="594360" y="5257800"/>
            <a:ext cx="7680960" cy="365760"/>
          </a:xfrm>
          <a:prstGeom prst="rect">
            <a:avLst/>
          </a:prstGeom>
          <a:noFill/>
          <a:ln/>
        </p:spPr>
        <p:txBody>
          <a:bodyPr wrap="square" lIns="0" tIns="0" rIns="0" bIns="0" rtlCol="0" anchor="t"/>
          <a:lstStyle/>
          <a:p>
            <a:pPr indent="0" marL="0">
              <a:buNone/>
            </a:pPr>
            <a:r>
              <a:rPr lang="en-US" sz="1600" b="1" i="1" dirty="0">
                <a:solidFill>
                  <a:srgbClr val="27D3BE"/>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Întâi primară, apoi secundară</a:t>
            </a:r>
            <a:endParaRPr lang="en-US" sz="3200" dirty="0"/>
          </a:p>
        </p:txBody>
      </p:sp>
      <p:sp>
        <p:nvSpPr>
          <p:cNvPr id="4" name="Shape 2"/>
          <p:cNvSpPr/>
          <p:nvPr/>
        </p:nvSpPr>
        <p:spPr>
          <a:xfrm>
            <a:off x="594360" y="1645920"/>
            <a:ext cx="5394960" cy="2743200"/>
          </a:xfrm>
          <a:prstGeom prst="roundRect">
            <a:avLst>
              <a:gd name="adj" fmla="val 3000"/>
            </a:avLst>
          </a:prstGeom>
          <a:solidFill>
            <a:srgbClr val="ECEAE4"/>
          </a:solidFill>
          <a:ln w="12700">
            <a:solidFill>
              <a:srgbClr val="ECEAE4"/>
            </a:solidFill>
            <a:prstDash val="solid"/>
          </a:ln>
        </p:spPr>
        <p:txBody>
          <a:bodyPr/>
          <a:p/>
        </p:txBody>
      </p:sp>
      <p:sp>
        <p:nvSpPr>
          <p:cNvPr id="5" name="Text 3"/>
          <p:cNvSpPr/>
          <p:nvPr/>
        </p:nvSpPr>
        <p:spPr>
          <a:xfrm>
            <a:off x="914400" y="1828800"/>
            <a:ext cx="4754880" cy="4572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Farmacista</a:t>
            </a:r>
            <a:endParaRPr lang="en-US" sz="1900" dirty="0"/>
          </a:p>
        </p:txBody>
      </p:sp>
      <p:sp>
        <p:nvSpPr>
          <p:cNvPr id="6" name="Text 4"/>
          <p:cNvSpPr/>
          <p:nvPr/>
        </p:nvSpPr>
        <p:spPr>
          <a:xfrm>
            <a:off x="914400" y="2377440"/>
            <a:ext cx="4754880" cy="822960"/>
          </a:xfrm>
          <a:prstGeom prst="rect">
            <a:avLst/>
          </a:prstGeom>
          <a:noFill/>
          <a:ln/>
        </p:spPr>
        <p:txBody>
          <a:bodyPr wrap="square" lIns="0" tIns="0" rIns="0" bIns="0" rtlCol="0" anchor="t"/>
          <a:lstStyle/>
          <a:p>
            <a:pPr indent="0" marL="0">
              <a:buNone/>
            </a:pPr>
            <a:r>
              <a:rPr lang="en-US" sz="3000" b="1" dirty="0">
                <a:solidFill>
                  <a:srgbClr val="0E7C6B"/>
                </a:solidFill>
                <a:latin typeface="Palatino Linotype" pitchFamily="34" charset="0"/>
                <a:ea typeface="Palatino Linotype" pitchFamily="34" charset="-122"/>
                <a:cs typeface="Palatino Linotype" pitchFamily="34" charset="-120"/>
              </a:rPr>
              <a:t>utilizare primară</a:t>
            </a:r>
            <a:endParaRPr lang="en-US" sz="3000" dirty="0"/>
          </a:p>
        </p:txBody>
      </p:sp>
      <p:sp>
        <p:nvSpPr>
          <p:cNvPr id="7" name="Text 5"/>
          <p:cNvSpPr/>
          <p:nvPr/>
        </p:nvSpPr>
        <p:spPr>
          <a:xfrm>
            <a:off x="914400" y="3291840"/>
            <a:ext cx="4754880" cy="914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datele o îngrijesc chiar pe Ioana</a:t>
            </a:r>
            <a:endParaRPr lang="en-US" sz="1800" dirty="0"/>
          </a:p>
        </p:txBody>
      </p:sp>
      <p:sp>
        <p:nvSpPr>
          <p:cNvPr id="8" name="Shape 6"/>
          <p:cNvSpPr/>
          <p:nvPr/>
        </p:nvSpPr>
        <p:spPr>
          <a:xfrm>
            <a:off x="6172200" y="1645920"/>
            <a:ext cx="5394960" cy="2743200"/>
          </a:xfrm>
          <a:prstGeom prst="roundRect">
            <a:avLst>
              <a:gd name="adj" fmla="val 3000"/>
            </a:avLst>
          </a:prstGeom>
          <a:solidFill>
            <a:srgbClr val="ECEAE4"/>
          </a:solidFill>
          <a:ln w="12700">
            <a:solidFill>
              <a:srgbClr val="ECEAE4"/>
            </a:solidFill>
            <a:prstDash val="solid"/>
          </a:ln>
        </p:spPr>
        <p:txBody>
          <a:bodyPr/>
          <a:p/>
        </p:txBody>
      </p:sp>
      <p:sp>
        <p:nvSpPr>
          <p:cNvPr id="9" name="Text 7"/>
          <p:cNvSpPr/>
          <p:nvPr/>
        </p:nvSpPr>
        <p:spPr>
          <a:xfrm>
            <a:off x="6492240" y="1828800"/>
            <a:ext cx="4754880" cy="4572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Cercetătorii</a:t>
            </a:r>
            <a:endParaRPr lang="en-US" sz="1900" dirty="0"/>
          </a:p>
        </p:txBody>
      </p:sp>
      <p:sp>
        <p:nvSpPr>
          <p:cNvPr id="10" name="Text 8"/>
          <p:cNvSpPr/>
          <p:nvPr/>
        </p:nvSpPr>
        <p:spPr>
          <a:xfrm>
            <a:off x="6492240" y="2377440"/>
            <a:ext cx="4754880" cy="822960"/>
          </a:xfrm>
          <a:prstGeom prst="rect">
            <a:avLst/>
          </a:prstGeom>
          <a:noFill/>
          <a:ln/>
        </p:spPr>
        <p:txBody>
          <a:bodyPr wrap="square" lIns="0" tIns="0" rIns="0" bIns="0" rtlCol="0" anchor="t"/>
          <a:lstStyle/>
          <a:p>
            <a:pPr indent="0" marL="0">
              <a:buNone/>
            </a:pPr>
            <a:r>
              <a:rPr lang="en-US" sz="3000" b="1" dirty="0">
                <a:solidFill>
                  <a:srgbClr val="B02532"/>
                </a:solidFill>
                <a:latin typeface="Palatino Linotype" pitchFamily="34" charset="0"/>
                <a:ea typeface="Palatino Linotype" pitchFamily="34" charset="-122"/>
                <a:cs typeface="Palatino Linotype" pitchFamily="34" charset="-120"/>
              </a:rPr>
              <a:t>utilizare secundară</a:t>
            </a:r>
            <a:endParaRPr lang="en-US" sz="3000" dirty="0"/>
          </a:p>
        </p:txBody>
      </p:sp>
      <p:sp>
        <p:nvSpPr>
          <p:cNvPr id="11" name="Text 9"/>
          <p:cNvSpPr/>
          <p:nvPr/>
        </p:nvSpPr>
        <p:spPr>
          <a:xfrm>
            <a:off x="6492240" y="3291840"/>
            <a:ext cx="4754880" cy="914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aceleași date, fără nume, pentru alt scop</a:t>
            </a:r>
            <a:endParaRPr lang="en-US" sz="1800" dirty="0"/>
          </a:p>
        </p:txBody>
      </p:sp>
      <p:sp>
        <p:nvSpPr>
          <p:cNvPr id="12" name="Text 10"/>
          <p:cNvSpPr/>
          <p:nvPr/>
        </p:nvSpPr>
        <p:spPr>
          <a:xfrm>
            <a:off x="594360" y="4754880"/>
            <a:ext cx="10972800" cy="548640"/>
          </a:xfrm>
          <a:prstGeom prst="rect">
            <a:avLst/>
          </a:prstGeom>
          <a:noFill/>
          <a:ln/>
        </p:spPr>
        <p:txBody>
          <a:bodyPr wrap="square" lIns="0" tIns="0" rIns="0" bIns="0" rtlCol="0" anchor="t"/>
          <a:lstStyle/>
          <a:p>
            <a:pPr indent="0" marL="0">
              <a:buNone/>
            </a:pPr>
            <a:r>
              <a:rPr lang="en-US" sz="1900" i="1" dirty="0">
                <a:solidFill>
                  <a:srgbClr val="585A64"/>
                </a:solidFill>
                <a:latin typeface="Palatino Linotype" pitchFamily="34" charset="0"/>
                <a:ea typeface="Palatino Linotype" pitchFamily="34" charset="-122"/>
                <a:cs typeface="Palatino Linotype" pitchFamily="34" charset="-120"/>
              </a:rPr>
              <a:t>Așa le împart chiar definițiile Regulamentului (UE) 2025/327.</a:t>
            </a:r>
            <a:endParaRPr lang="en-US" sz="1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REGULAMENTUL (UE) 2016/679 · GDPR</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Principiile și o categorie specială</a:t>
            </a:r>
            <a:endParaRPr lang="en-US" sz="3000" dirty="0"/>
          </a:p>
        </p:txBody>
      </p:sp>
      <p:sp>
        <p:nvSpPr>
          <p:cNvPr id="4" name="Text 2"/>
          <p:cNvSpPr/>
          <p:nvPr/>
        </p:nvSpPr>
        <p:spPr>
          <a:xfrm>
            <a:off x="594360" y="1463040"/>
            <a:ext cx="5669280" cy="365760"/>
          </a:xfrm>
          <a:prstGeom prst="rect">
            <a:avLst/>
          </a:prstGeom>
          <a:noFill/>
          <a:ln/>
        </p:spPr>
        <p:txBody>
          <a:bodyPr wrap="square" lIns="0" tIns="0" rIns="0" bIns="0" rtlCol="0" anchor="t"/>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Articolul 5: principiile oricărei prelucrări</a:t>
            </a:r>
            <a:endParaRPr lang="en-US" sz="1500" dirty="0"/>
          </a:p>
        </p:txBody>
      </p:sp>
      <p:sp>
        <p:nvSpPr>
          <p:cNvPr id="5" name="Shape 3"/>
          <p:cNvSpPr/>
          <p:nvPr/>
        </p:nvSpPr>
        <p:spPr>
          <a:xfrm>
            <a:off x="594360" y="1920240"/>
            <a:ext cx="5669280" cy="512064"/>
          </a:xfrm>
          <a:prstGeom prst="roundRect">
            <a:avLst>
              <a:gd name="adj" fmla="val 16071"/>
            </a:avLst>
          </a:prstGeom>
          <a:solidFill>
            <a:srgbClr val="1D1F2B"/>
          </a:solidFill>
          <a:ln w="12700">
            <a:solidFill>
              <a:srgbClr val="1D1F2B"/>
            </a:solidFill>
            <a:prstDash val="solid"/>
          </a:ln>
        </p:spPr>
        <p:txBody>
          <a:bodyPr/>
          <a:p/>
        </p:txBody>
      </p:sp>
      <p:sp>
        <p:nvSpPr>
          <p:cNvPr id="6" name="Text 4"/>
          <p:cNvSpPr/>
          <p:nvPr/>
        </p:nvSpPr>
        <p:spPr>
          <a:xfrm>
            <a:off x="822960" y="1920240"/>
            <a:ext cx="5303520" cy="51206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„legalitate, echitate și transparență”</a:t>
            </a:r>
            <a:endParaRPr lang="en-US" sz="1600" dirty="0"/>
          </a:p>
        </p:txBody>
      </p:sp>
      <p:sp>
        <p:nvSpPr>
          <p:cNvPr id="7" name="Shape 5"/>
          <p:cNvSpPr/>
          <p:nvPr/>
        </p:nvSpPr>
        <p:spPr>
          <a:xfrm>
            <a:off x="594360" y="2523744"/>
            <a:ext cx="5669280" cy="512064"/>
          </a:xfrm>
          <a:prstGeom prst="roundRect">
            <a:avLst>
              <a:gd name="adj" fmla="val 16071"/>
            </a:avLst>
          </a:prstGeom>
          <a:solidFill>
            <a:srgbClr val="1D1F2B"/>
          </a:solidFill>
          <a:ln w="12700">
            <a:solidFill>
              <a:srgbClr val="1D1F2B"/>
            </a:solidFill>
            <a:prstDash val="solid"/>
          </a:ln>
        </p:spPr>
        <p:txBody>
          <a:bodyPr/>
          <a:p/>
        </p:txBody>
      </p:sp>
      <p:sp>
        <p:nvSpPr>
          <p:cNvPr id="8" name="Text 6"/>
          <p:cNvSpPr/>
          <p:nvPr/>
        </p:nvSpPr>
        <p:spPr>
          <a:xfrm>
            <a:off x="822960" y="2523744"/>
            <a:ext cx="5303520" cy="51206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„limitări legate de scop”</a:t>
            </a:r>
            <a:endParaRPr lang="en-US" sz="1600" dirty="0"/>
          </a:p>
        </p:txBody>
      </p:sp>
      <p:sp>
        <p:nvSpPr>
          <p:cNvPr id="9" name="Shape 7"/>
          <p:cNvSpPr/>
          <p:nvPr/>
        </p:nvSpPr>
        <p:spPr>
          <a:xfrm>
            <a:off x="594360" y="3127248"/>
            <a:ext cx="5669280" cy="512064"/>
          </a:xfrm>
          <a:prstGeom prst="roundRect">
            <a:avLst>
              <a:gd name="adj" fmla="val 16071"/>
            </a:avLst>
          </a:prstGeom>
          <a:solidFill>
            <a:srgbClr val="1D1F2B"/>
          </a:solidFill>
          <a:ln w="12700">
            <a:solidFill>
              <a:srgbClr val="1D1F2B"/>
            </a:solidFill>
            <a:prstDash val="solid"/>
          </a:ln>
        </p:spPr>
        <p:txBody>
          <a:bodyPr/>
          <a:p/>
        </p:txBody>
      </p:sp>
      <p:sp>
        <p:nvSpPr>
          <p:cNvPr id="10" name="Text 8"/>
          <p:cNvSpPr/>
          <p:nvPr/>
        </p:nvSpPr>
        <p:spPr>
          <a:xfrm>
            <a:off x="822960" y="3127248"/>
            <a:ext cx="5303520" cy="51206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„reducerea la minimum a datelor”</a:t>
            </a:r>
            <a:endParaRPr lang="en-US" sz="1600" dirty="0"/>
          </a:p>
        </p:txBody>
      </p:sp>
      <p:sp>
        <p:nvSpPr>
          <p:cNvPr id="11" name="Shape 9"/>
          <p:cNvSpPr/>
          <p:nvPr/>
        </p:nvSpPr>
        <p:spPr>
          <a:xfrm>
            <a:off x="594360" y="3730752"/>
            <a:ext cx="5669280" cy="512064"/>
          </a:xfrm>
          <a:prstGeom prst="roundRect">
            <a:avLst>
              <a:gd name="adj" fmla="val 16071"/>
            </a:avLst>
          </a:prstGeom>
          <a:solidFill>
            <a:srgbClr val="1D1F2B"/>
          </a:solidFill>
          <a:ln w="12700">
            <a:solidFill>
              <a:srgbClr val="1D1F2B"/>
            </a:solidFill>
            <a:prstDash val="solid"/>
          </a:ln>
        </p:spPr>
        <p:txBody>
          <a:bodyPr/>
          <a:p/>
        </p:txBody>
      </p:sp>
      <p:sp>
        <p:nvSpPr>
          <p:cNvPr id="12" name="Text 10"/>
          <p:cNvSpPr/>
          <p:nvPr/>
        </p:nvSpPr>
        <p:spPr>
          <a:xfrm>
            <a:off x="822960" y="3730752"/>
            <a:ext cx="5303520" cy="51206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„exactitate”</a:t>
            </a:r>
            <a:endParaRPr lang="en-US" sz="1600" dirty="0"/>
          </a:p>
        </p:txBody>
      </p:sp>
      <p:sp>
        <p:nvSpPr>
          <p:cNvPr id="13" name="Shape 11"/>
          <p:cNvSpPr/>
          <p:nvPr/>
        </p:nvSpPr>
        <p:spPr>
          <a:xfrm>
            <a:off x="594360" y="4334256"/>
            <a:ext cx="5669280" cy="512064"/>
          </a:xfrm>
          <a:prstGeom prst="roundRect">
            <a:avLst>
              <a:gd name="adj" fmla="val 16071"/>
            </a:avLst>
          </a:prstGeom>
          <a:solidFill>
            <a:srgbClr val="1D1F2B"/>
          </a:solidFill>
          <a:ln w="12700">
            <a:solidFill>
              <a:srgbClr val="1D1F2B"/>
            </a:solidFill>
            <a:prstDash val="solid"/>
          </a:ln>
        </p:spPr>
        <p:txBody>
          <a:bodyPr/>
          <a:p/>
        </p:txBody>
      </p:sp>
      <p:sp>
        <p:nvSpPr>
          <p:cNvPr id="14" name="Text 12"/>
          <p:cNvSpPr/>
          <p:nvPr/>
        </p:nvSpPr>
        <p:spPr>
          <a:xfrm>
            <a:off x="822960" y="4334256"/>
            <a:ext cx="5303520" cy="51206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„limitări legate de stocare”</a:t>
            </a:r>
            <a:endParaRPr lang="en-US" sz="1600" dirty="0"/>
          </a:p>
        </p:txBody>
      </p:sp>
      <p:sp>
        <p:nvSpPr>
          <p:cNvPr id="15" name="Shape 13"/>
          <p:cNvSpPr/>
          <p:nvPr/>
        </p:nvSpPr>
        <p:spPr>
          <a:xfrm>
            <a:off x="594360" y="4937760"/>
            <a:ext cx="5669280" cy="512064"/>
          </a:xfrm>
          <a:prstGeom prst="roundRect">
            <a:avLst>
              <a:gd name="adj" fmla="val 16071"/>
            </a:avLst>
          </a:prstGeom>
          <a:solidFill>
            <a:srgbClr val="1D1F2B"/>
          </a:solidFill>
          <a:ln w="12700">
            <a:solidFill>
              <a:srgbClr val="1D1F2B"/>
            </a:solidFill>
            <a:prstDash val="solid"/>
          </a:ln>
        </p:spPr>
        <p:txBody>
          <a:bodyPr/>
          <a:p/>
        </p:txBody>
      </p:sp>
      <p:sp>
        <p:nvSpPr>
          <p:cNvPr id="16" name="Text 14"/>
          <p:cNvSpPr/>
          <p:nvPr/>
        </p:nvSpPr>
        <p:spPr>
          <a:xfrm>
            <a:off x="822960" y="4937760"/>
            <a:ext cx="5303520" cy="51206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„integritate și confidențialitate”</a:t>
            </a:r>
            <a:endParaRPr lang="en-US" sz="1600" dirty="0"/>
          </a:p>
        </p:txBody>
      </p:sp>
      <p:sp>
        <p:nvSpPr>
          <p:cNvPr id="17" name="Shape 15"/>
          <p:cNvSpPr/>
          <p:nvPr/>
        </p:nvSpPr>
        <p:spPr>
          <a:xfrm>
            <a:off x="6537960" y="1463040"/>
            <a:ext cx="5029200" cy="4526280"/>
          </a:xfrm>
          <a:prstGeom prst="roundRect">
            <a:avLst>
              <a:gd name="adj" fmla="val 1818"/>
            </a:avLst>
          </a:prstGeom>
          <a:solidFill>
            <a:srgbClr val="272A38"/>
          </a:solidFill>
          <a:ln w="12700">
            <a:solidFill>
              <a:srgbClr val="272A38"/>
            </a:solidFill>
            <a:prstDash val="solid"/>
          </a:ln>
        </p:spPr>
        <p:txBody>
          <a:bodyPr/>
          <a:p/>
        </p:txBody>
      </p:sp>
      <p:sp>
        <p:nvSpPr>
          <p:cNvPr id="18" name="Text 16"/>
          <p:cNvSpPr/>
          <p:nvPr/>
        </p:nvSpPr>
        <p:spPr>
          <a:xfrm>
            <a:off x="6812280" y="1645920"/>
            <a:ext cx="4480560" cy="411480"/>
          </a:xfrm>
          <a:prstGeom prst="rect">
            <a:avLst/>
          </a:prstGeom>
          <a:noFill/>
          <a:ln/>
        </p:spPr>
        <p:txBody>
          <a:bodyPr wrap="square" lIns="0" tIns="0" rIns="0" bIns="0" rtlCol="0" anchor="t"/>
          <a:lstStyle/>
          <a:p>
            <a:pPr indent="0" marL="0">
              <a:buNone/>
            </a:pPr>
            <a:r>
              <a:rPr lang="en-US" sz="1900" b="1" dirty="0">
                <a:solidFill>
                  <a:srgbClr val="FF4757"/>
                </a:solidFill>
                <a:latin typeface="Palatino Linotype" pitchFamily="34" charset="0"/>
                <a:ea typeface="Palatino Linotype" pitchFamily="34" charset="-122"/>
                <a:cs typeface="Palatino Linotype" pitchFamily="34" charset="-120"/>
              </a:rPr>
              <a:t>Datele privind sănătatea</a:t>
            </a:r>
            <a:endParaRPr lang="en-US" sz="1900" dirty="0"/>
          </a:p>
        </p:txBody>
      </p:sp>
      <p:sp>
        <p:nvSpPr>
          <p:cNvPr id="19" name="Text 17"/>
          <p:cNvSpPr/>
          <p:nvPr/>
        </p:nvSpPr>
        <p:spPr>
          <a:xfrm>
            <a:off x="6812280" y="2148840"/>
            <a:ext cx="4480560" cy="22860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Interzisă ca regulă generală; permisă numai în situațiile enumerate expres, de pildă cu consimțământ explicit sau pentru interes public în sănătatea publică.</a:t>
            </a:r>
            <a:endParaRPr lang="en-US" sz="1600" dirty="0"/>
          </a:p>
        </p:txBody>
      </p:sp>
      <p:sp>
        <p:nvSpPr>
          <p:cNvPr id="20" name="Text 18"/>
          <p:cNvSpPr/>
          <p:nvPr/>
        </p:nvSpPr>
        <p:spPr>
          <a:xfrm>
            <a:off x="6812280" y="4572000"/>
            <a:ext cx="4480560" cy="118872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Risc ridicat? Întâi o evaluare a impactului asupra protecției datelor.</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REGULAMENTUL (UE) 2025/327 · SPAȚIUL EUROPEAN AL DATELOR PRIVIND SĂNĂTATEA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De când se aplică</a:t>
            </a:r>
            <a:endParaRPr lang="en-US" sz="3200" dirty="0"/>
          </a:p>
        </p:txBody>
      </p:sp>
      <p:sp>
        <p:nvSpPr>
          <p:cNvPr id="4" name="Shape 2"/>
          <p:cNvSpPr/>
          <p:nvPr/>
        </p:nvSpPr>
        <p:spPr>
          <a:xfrm>
            <a:off x="594360" y="2331720"/>
            <a:ext cx="10972800" cy="54864"/>
          </a:xfrm>
          <a:prstGeom prst="rect">
            <a:avLst/>
          </a:prstGeom>
          <a:solidFill>
            <a:srgbClr val="C9C6BE"/>
          </a:solidFill>
          <a:ln w="12700">
            <a:solidFill>
              <a:srgbClr val="C9C6BE"/>
            </a:solidFill>
            <a:prstDash val="solid"/>
          </a:ln>
        </p:spPr>
        <p:txBody>
          <a:bodyPr/>
          <a:p/>
        </p:txBody>
      </p:sp>
      <p:sp>
        <p:nvSpPr>
          <p:cNvPr id="5" name="Shape 3"/>
          <p:cNvSpPr/>
          <p:nvPr/>
        </p:nvSpPr>
        <p:spPr>
          <a:xfrm>
            <a:off x="594360" y="2148840"/>
            <a:ext cx="411480" cy="411480"/>
          </a:xfrm>
          <a:prstGeom prst="ellipse">
            <a:avLst/>
          </a:prstGeom>
          <a:solidFill>
            <a:srgbClr val="0E7C6B"/>
          </a:solidFill>
          <a:ln/>
        </p:spPr>
        <p:txBody>
          <a:bodyPr/>
          <a:p/>
        </p:txBody>
      </p:sp>
      <p:sp>
        <p:nvSpPr>
          <p:cNvPr id="6" name="Text 4"/>
          <p:cNvSpPr/>
          <p:nvPr/>
        </p:nvSpPr>
        <p:spPr>
          <a:xfrm>
            <a:off x="594360" y="2148840"/>
            <a:ext cx="411480" cy="411480"/>
          </a:xfrm>
          <a:prstGeom prst="rect">
            <a:avLst/>
          </a:prstGeom>
          <a:noFill/>
          <a:ln/>
        </p:spPr>
        <p:txBody>
          <a:bodyPr wrap="square" lIns="0" tIns="0" rIns="0" bIns="0" rtlCol="0" anchor="ctr"/>
          <a:lstStyle/>
          <a:p>
            <a:pPr algn="ctr" indent="0" marL="0">
              <a:buNone/>
            </a:pPr>
            <a:endParaRPr lang="en-US" sz="1400" dirty="0"/>
          </a:p>
        </p:txBody>
      </p:sp>
      <p:sp>
        <p:nvSpPr>
          <p:cNvPr id="7" name="Text 5"/>
          <p:cNvSpPr/>
          <p:nvPr/>
        </p:nvSpPr>
        <p:spPr>
          <a:xfrm>
            <a:off x="594360" y="1508760"/>
            <a:ext cx="5394960" cy="548640"/>
          </a:xfrm>
          <a:prstGeom prst="rect">
            <a:avLst/>
          </a:prstGeom>
          <a:noFill/>
          <a:ln/>
        </p:spPr>
        <p:txBody>
          <a:bodyPr wrap="square" lIns="0" tIns="0" rIns="0" bIns="0" rtlCol="0" anchor="t"/>
          <a:lstStyle/>
          <a:p>
            <a:pPr indent="0" marL="0">
              <a:buNone/>
            </a:pPr>
            <a:r>
              <a:rPr lang="en-US" sz="2800" b="1" dirty="0">
                <a:solidFill>
                  <a:srgbClr val="0E7C6B"/>
                </a:solidFill>
                <a:latin typeface="Palatino Linotype" pitchFamily="34" charset="0"/>
                <a:ea typeface="Palatino Linotype" pitchFamily="34" charset="-122"/>
                <a:cs typeface="Palatino Linotype" pitchFamily="34" charset="-120"/>
              </a:rPr>
              <a:t>26 martie 2027</a:t>
            </a:r>
            <a:endParaRPr lang="en-US" sz="2800" dirty="0"/>
          </a:p>
        </p:txBody>
      </p:sp>
      <p:sp>
        <p:nvSpPr>
          <p:cNvPr id="8" name="Text 6"/>
          <p:cNvSpPr/>
          <p:nvPr/>
        </p:nvSpPr>
        <p:spPr>
          <a:xfrm>
            <a:off x="594360" y="2697480"/>
            <a:ext cx="5212080" cy="118872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Regulamentul se aplică, în general.</a:t>
            </a:r>
            <a:endParaRPr lang="en-US" sz="1900" dirty="0"/>
          </a:p>
        </p:txBody>
      </p:sp>
      <p:sp>
        <p:nvSpPr>
          <p:cNvPr id="9" name="Shape 7"/>
          <p:cNvSpPr/>
          <p:nvPr/>
        </p:nvSpPr>
        <p:spPr>
          <a:xfrm>
            <a:off x="6172200" y="2148840"/>
            <a:ext cx="411480" cy="411480"/>
          </a:xfrm>
          <a:prstGeom prst="ellipse">
            <a:avLst/>
          </a:prstGeom>
          <a:solidFill>
            <a:srgbClr val="B02532"/>
          </a:solidFill>
          <a:ln/>
        </p:spPr>
        <p:txBody>
          <a:bodyPr/>
          <a:p/>
        </p:txBody>
      </p:sp>
      <p:sp>
        <p:nvSpPr>
          <p:cNvPr id="10" name="Text 8"/>
          <p:cNvSpPr/>
          <p:nvPr/>
        </p:nvSpPr>
        <p:spPr>
          <a:xfrm>
            <a:off x="6172200" y="2148840"/>
            <a:ext cx="411480" cy="411480"/>
          </a:xfrm>
          <a:prstGeom prst="rect">
            <a:avLst/>
          </a:prstGeom>
          <a:noFill/>
          <a:ln/>
        </p:spPr>
        <p:txBody>
          <a:bodyPr wrap="square" lIns="0" tIns="0" rIns="0" bIns="0" rtlCol="0" anchor="ctr"/>
          <a:lstStyle/>
          <a:p>
            <a:pPr algn="ctr" indent="0" marL="0">
              <a:buNone/>
            </a:pPr>
            <a:endParaRPr lang="en-US" sz="1400" dirty="0"/>
          </a:p>
        </p:txBody>
      </p:sp>
      <p:sp>
        <p:nvSpPr>
          <p:cNvPr id="11" name="Text 9"/>
          <p:cNvSpPr/>
          <p:nvPr/>
        </p:nvSpPr>
        <p:spPr>
          <a:xfrm>
            <a:off x="6172200" y="1508760"/>
            <a:ext cx="5394960" cy="548640"/>
          </a:xfrm>
          <a:prstGeom prst="rect">
            <a:avLst/>
          </a:prstGeom>
          <a:noFill/>
          <a:ln/>
        </p:spPr>
        <p:txBody>
          <a:bodyPr wrap="square" lIns="0" tIns="0" rIns="0" bIns="0" rtlCol="0" anchor="t"/>
          <a:lstStyle/>
          <a:p>
            <a:pPr indent="0" marL="0">
              <a:buNone/>
            </a:pPr>
            <a:r>
              <a:rPr lang="en-US" sz="2800" b="1" dirty="0">
                <a:solidFill>
                  <a:srgbClr val="B02532"/>
                </a:solidFill>
                <a:latin typeface="Palatino Linotype" pitchFamily="34" charset="0"/>
                <a:ea typeface="Palatino Linotype" pitchFamily="34" charset="-122"/>
                <a:cs typeface="Palatino Linotype" pitchFamily="34" charset="-120"/>
              </a:rPr>
              <a:t>26 martie 2029</a:t>
            </a:r>
            <a:endParaRPr lang="en-US" sz="2800" dirty="0"/>
          </a:p>
        </p:txBody>
      </p:sp>
      <p:sp>
        <p:nvSpPr>
          <p:cNvPr id="12" name="Text 10"/>
          <p:cNvSpPr/>
          <p:nvPr/>
        </p:nvSpPr>
        <p:spPr>
          <a:xfrm>
            <a:off x="6172200" y="2697480"/>
            <a:ext cx="5212080" cy="118872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Capitolul despre utilizarea secundară: organismele de acces și dreptul de a refuza, cu câteva excepții.</a:t>
            </a:r>
            <a:endParaRPr lang="en-US" sz="1900" dirty="0"/>
          </a:p>
        </p:txBody>
      </p:sp>
      <p:sp>
        <p:nvSpPr>
          <p:cNvPr id="13" name="Shape 11"/>
          <p:cNvSpPr/>
          <p:nvPr/>
        </p:nvSpPr>
        <p:spPr>
          <a:xfrm>
            <a:off x="6172200" y="4023360"/>
            <a:ext cx="5394960" cy="1691640"/>
          </a:xfrm>
          <a:prstGeom prst="roundRect">
            <a:avLst>
              <a:gd name="adj" fmla="val 4865"/>
            </a:avLst>
          </a:prstGeom>
          <a:solidFill>
            <a:srgbClr val="ECEAE4"/>
          </a:solidFill>
          <a:ln w="12700">
            <a:solidFill>
              <a:srgbClr val="ECEAE4"/>
            </a:solidFill>
            <a:prstDash val="solid"/>
          </a:ln>
        </p:spPr>
        <p:txBody>
          <a:bodyPr/>
          <a:p/>
        </p:txBody>
      </p:sp>
      <p:sp>
        <p:nvSpPr>
          <p:cNvPr id="14" name="Text 12"/>
          <p:cNvSpPr/>
          <p:nvPr/>
        </p:nvSpPr>
        <p:spPr>
          <a:xfrm>
            <a:off x="6400800" y="4023360"/>
            <a:ext cx="4937760" cy="1691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Tot din 2029, primele categorii prioritare de date: fișele pacienților, prescripțiile electronice, informațiile privind eliberarea medicamentelor.</a:t>
            </a:r>
            <a:endParaRPr lang="en-US" sz="1700" dirty="0"/>
          </a:p>
        </p:txBody>
      </p:sp>
      <p:sp>
        <p:nvSpPr>
          <p:cNvPr id="15" name="Text 13"/>
          <p:cNvSpPr/>
          <p:nvPr/>
        </p:nvSpPr>
        <p:spPr>
          <a:xfrm>
            <a:off x="594360" y="4206240"/>
            <a:ext cx="5303520" cy="109728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Drepturile de care vorbim sunt, deci, la viitor.</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DOUĂ PREVEDERI CARE VĂ PRIVESC</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Cine decide și ce puteți refuza</a:t>
            </a:r>
            <a:endParaRPr lang="en-US" sz="3200" dirty="0"/>
          </a:p>
        </p:txBody>
      </p:sp>
      <p:sp>
        <p:nvSpPr>
          <p:cNvPr id="4" name="Shape 2"/>
          <p:cNvSpPr/>
          <p:nvPr/>
        </p:nvSpPr>
        <p:spPr>
          <a:xfrm>
            <a:off x="594360" y="1600200"/>
            <a:ext cx="5394960" cy="3108960"/>
          </a:xfrm>
          <a:prstGeom prst="roundRect">
            <a:avLst>
              <a:gd name="adj" fmla="val 2647"/>
            </a:avLst>
          </a:prstGeom>
          <a:solidFill>
            <a:srgbClr val="1D1F2B"/>
          </a:solidFill>
          <a:ln w="12700">
            <a:solidFill>
              <a:srgbClr val="1D1F2B"/>
            </a:solidFill>
            <a:prstDash val="solid"/>
          </a:ln>
        </p:spPr>
        <p:txBody>
          <a:bodyPr/>
          <a:p/>
        </p:txBody>
      </p:sp>
      <p:sp>
        <p:nvSpPr>
          <p:cNvPr id="5" name="Shape 3"/>
          <p:cNvSpPr/>
          <p:nvPr/>
        </p:nvSpPr>
        <p:spPr>
          <a:xfrm>
            <a:off x="594360" y="1600200"/>
            <a:ext cx="5394960" cy="73152"/>
          </a:xfrm>
          <a:prstGeom prst="rect">
            <a:avLst/>
          </a:prstGeom>
          <a:solidFill>
            <a:srgbClr val="27D3BE"/>
          </a:solidFill>
          <a:ln w="12700">
            <a:solidFill>
              <a:srgbClr val="27D3BE"/>
            </a:solidFill>
            <a:prstDash val="solid"/>
          </a:ln>
        </p:spPr>
        <p:txBody>
          <a:bodyPr/>
          <a:p/>
        </p:txBody>
      </p:sp>
      <p:sp>
        <p:nvSpPr>
          <p:cNvPr id="6" name="Text 4"/>
          <p:cNvSpPr/>
          <p:nvPr/>
        </p:nvSpPr>
        <p:spPr>
          <a:xfrm>
            <a:off x="868680" y="1783080"/>
            <a:ext cx="4846320" cy="86868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Organismul de acces la datele privind sănătatea</a:t>
            </a:r>
            <a:endParaRPr lang="en-US" sz="2000" dirty="0"/>
          </a:p>
        </p:txBody>
      </p:sp>
      <p:sp>
        <p:nvSpPr>
          <p:cNvPr id="7" name="Text 5"/>
          <p:cNvSpPr/>
          <p:nvPr/>
        </p:nvSpPr>
        <p:spPr>
          <a:xfrm>
            <a:off x="868680" y="2697480"/>
            <a:ext cx="4846320" cy="19202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Fiecare stat membru va avea cel puțin unul. El va decide asupra cererilor de utilizare secundară.</a:t>
            </a:r>
            <a:endParaRPr lang="en-US" sz="1800" dirty="0"/>
          </a:p>
        </p:txBody>
      </p:sp>
      <p:sp>
        <p:nvSpPr>
          <p:cNvPr id="8" name="Shape 6"/>
          <p:cNvSpPr/>
          <p:nvPr/>
        </p:nvSpPr>
        <p:spPr>
          <a:xfrm>
            <a:off x="6172200" y="1600200"/>
            <a:ext cx="5394960" cy="3108960"/>
          </a:xfrm>
          <a:prstGeom prst="roundRect">
            <a:avLst>
              <a:gd name="adj" fmla="val 2647"/>
            </a:avLst>
          </a:prstGeom>
          <a:solidFill>
            <a:srgbClr val="1D1F2B"/>
          </a:solidFill>
          <a:ln w="12700">
            <a:solidFill>
              <a:srgbClr val="1D1F2B"/>
            </a:solidFill>
            <a:prstDash val="solid"/>
          </a:ln>
        </p:spPr>
        <p:txBody>
          <a:bodyPr/>
          <a:p/>
        </p:txBody>
      </p:sp>
      <p:sp>
        <p:nvSpPr>
          <p:cNvPr id="9" name="Shape 7"/>
          <p:cNvSpPr/>
          <p:nvPr/>
        </p:nvSpPr>
        <p:spPr>
          <a:xfrm>
            <a:off x="6172200" y="1600200"/>
            <a:ext cx="5394960" cy="73152"/>
          </a:xfrm>
          <a:prstGeom prst="rect">
            <a:avLst/>
          </a:prstGeom>
          <a:solidFill>
            <a:srgbClr val="FF4757"/>
          </a:solidFill>
          <a:ln w="12700">
            <a:solidFill>
              <a:srgbClr val="FF4757"/>
            </a:solidFill>
            <a:prstDash val="solid"/>
          </a:ln>
        </p:spPr>
        <p:txBody>
          <a:bodyPr/>
          <a:p/>
        </p:txBody>
      </p:sp>
      <p:sp>
        <p:nvSpPr>
          <p:cNvPr id="10" name="Text 8"/>
          <p:cNvSpPr/>
          <p:nvPr/>
        </p:nvSpPr>
        <p:spPr>
          <a:xfrm>
            <a:off x="6446520" y="1783080"/>
            <a:ext cx="4846320" cy="868680"/>
          </a:xfrm>
          <a:prstGeom prst="rect">
            <a:avLst/>
          </a:prstGeom>
          <a:noFill/>
          <a:ln/>
        </p:spPr>
        <p:txBody>
          <a:bodyPr wrap="square" lIns="0" tIns="0" rIns="0" bIns="0" rtlCol="0" anchor="t"/>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Dreptul de a refuza</a:t>
            </a:r>
            <a:endParaRPr lang="en-US" sz="2000" dirty="0"/>
          </a:p>
        </p:txBody>
      </p:sp>
      <p:sp>
        <p:nvSpPr>
          <p:cNvPr id="11" name="Text 9"/>
          <p:cNvSpPr/>
          <p:nvPr/>
        </p:nvSpPr>
        <p:spPr>
          <a:xfrm>
            <a:off x="6446520" y="2697480"/>
            <a:ext cx="4846320" cy="19202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Veți putea refuza oricând, fără justificare, utilizarea secundară a datelor voastre, și vă puteți răzgândi.</a:t>
            </a:r>
            <a:endParaRPr lang="en-US" sz="1800" dirty="0"/>
          </a:p>
        </p:txBody>
      </p:sp>
      <p:sp>
        <p:nvSpPr>
          <p:cNvPr id="12" name="Shape 10"/>
          <p:cNvSpPr/>
          <p:nvPr/>
        </p:nvSpPr>
        <p:spPr>
          <a:xfrm>
            <a:off x="594360" y="4937760"/>
            <a:ext cx="10972800" cy="914400"/>
          </a:xfrm>
          <a:prstGeom prst="roundRect">
            <a:avLst>
              <a:gd name="adj" fmla="val 9000"/>
            </a:avLst>
          </a:prstGeom>
          <a:solidFill>
            <a:srgbClr val="272A38"/>
          </a:solidFill>
          <a:ln w="12700">
            <a:solidFill>
              <a:srgbClr val="272A38"/>
            </a:solidFill>
            <a:prstDash val="solid"/>
          </a:ln>
        </p:spPr>
        <p:txBody>
          <a:bodyPr/>
          <a:p/>
        </p:txBody>
      </p:sp>
      <p:sp>
        <p:nvSpPr>
          <p:cNvPr id="13" name="Text 11"/>
          <p:cNvSpPr/>
          <p:nvPr/>
        </p:nvSpPr>
        <p:spPr>
          <a:xfrm>
            <a:off x="868680" y="4937760"/>
            <a:ext cx="10424160" cy="914400"/>
          </a:xfrm>
          <a:prstGeom prst="rect">
            <a:avLst/>
          </a:prstGeom>
          <a:noFill/>
          <a:ln/>
        </p:spPr>
        <p:txBody>
          <a:bodyPr wrap="square" lIns="0" tIns="0" rIns="0" bIns="0" rtlCol="0" anchor="ctr"/>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Excepția: statele pot prevedea o derogare pentru organismele publice cu sarcini de sănătate publică.</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DOSARUL VOSTRU, ÎN ROMÂNIA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s-a decontat și ce s-a întâmplat medical</a:t>
            </a:r>
            <a:endParaRPr lang="en-US" sz="3000" dirty="0"/>
          </a:p>
        </p:txBody>
      </p:sp>
      <p:sp>
        <p:nvSpPr>
          <p:cNvPr id="4" name="Shape 2"/>
          <p:cNvSpPr/>
          <p:nvPr/>
        </p:nvSpPr>
        <p:spPr>
          <a:xfrm>
            <a:off x="594360" y="1600200"/>
            <a:ext cx="5394960" cy="2011680"/>
          </a:xfrm>
          <a:prstGeom prst="roundRect">
            <a:avLst>
              <a:gd name="adj" fmla="val 4091"/>
            </a:avLst>
          </a:prstGeom>
          <a:solidFill>
            <a:srgbClr val="ECEAE4"/>
          </a:solidFill>
          <a:ln w="12700">
            <a:solidFill>
              <a:srgbClr val="ECEAE4"/>
            </a:solidFill>
            <a:prstDash val="solid"/>
          </a:ln>
        </p:spPr>
        <p:txBody>
          <a:bodyPr/>
          <a:p/>
        </p:txBody>
      </p:sp>
      <p:sp>
        <p:nvSpPr>
          <p:cNvPr id="5" name="Shape 3"/>
          <p:cNvSpPr/>
          <p:nvPr/>
        </p:nvSpPr>
        <p:spPr>
          <a:xfrm>
            <a:off x="594360" y="1600200"/>
            <a:ext cx="91440" cy="2011680"/>
          </a:xfrm>
          <a:prstGeom prst="rect">
            <a:avLst/>
          </a:prstGeom>
          <a:solidFill>
            <a:srgbClr val="4A2D8C"/>
          </a:solidFill>
          <a:ln w="12700">
            <a:solidFill>
              <a:srgbClr val="4A2D8C"/>
            </a:solidFill>
            <a:prstDash val="solid"/>
          </a:ln>
        </p:spPr>
        <p:txBody>
          <a:bodyPr/>
          <a:p/>
        </p:txBody>
      </p:sp>
      <p:sp>
        <p:nvSpPr>
          <p:cNvPr id="6" name="Text 4"/>
          <p:cNvSpPr/>
          <p:nvPr/>
        </p:nvSpPr>
        <p:spPr>
          <a:xfrm>
            <a:off x="914400" y="1737360"/>
            <a:ext cx="4846320" cy="45720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SIUI</a:t>
            </a:r>
            <a:endParaRPr lang="en-US" sz="1900" dirty="0"/>
          </a:p>
        </p:txBody>
      </p:sp>
      <p:sp>
        <p:nvSpPr>
          <p:cNvPr id="7" name="Text 5"/>
          <p:cNvSpPr/>
          <p:nvPr/>
        </p:nvSpPr>
        <p:spPr>
          <a:xfrm>
            <a:off x="914400" y="2240280"/>
            <a:ext cx="4846320" cy="12801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Sistemul informatic unic integrat: furnizorii raportează serviciile pentru plată. Un sistem administrativ.</a:t>
            </a:r>
            <a:endParaRPr lang="en-US" sz="1600" dirty="0"/>
          </a:p>
        </p:txBody>
      </p:sp>
      <p:sp>
        <p:nvSpPr>
          <p:cNvPr id="8" name="Shape 6"/>
          <p:cNvSpPr/>
          <p:nvPr/>
        </p:nvSpPr>
        <p:spPr>
          <a:xfrm>
            <a:off x="6172200" y="1600200"/>
            <a:ext cx="5394960" cy="2011680"/>
          </a:xfrm>
          <a:prstGeom prst="roundRect">
            <a:avLst>
              <a:gd name="adj" fmla="val 4091"/>
            </a:avLst>
          </a:prstGeom>
          <a:solidFill>
            <a:srgbClr val="ECEAE4"/>
          </a:solidFill>
          <a:ln w="12700">
            <a:solidFill>
              <a:srgbClr val="ECEAE4"/>
            </a:solidFill>
            <a:prstDash val="solid"/>
          </a:ln>
        </p:spPr>
        <p:txBody>
          <a:bodyPr/>
          <a:p/>
        </p:txBody>
      </p:sp>
      <p:sp>
        <p:nvSpPr>
          <p:cNvPr id="9" name="Shape 7"/>
          <p:cNvSpPr/>
          <p:nvPr/>
        </p:nvSpPr>
        <p:spPr>
          <a:xfrm>
            <a:off x="6172200" y="1600200"/>
            <a:ext cx="91440" cy="2011680"/>
          </a:xfrm>
          <a:prstGeom prst="rect">
            <a:avLst/>
          </a:prstGeom>
          <a:solidFill>
            <a:srgbClr val="0E7C6B"/>
          </a:solidFill>
          <a:ln w="12700">
            <a:solidFill>
              <a:srgbClr val="0E7C6B"/>
            </a:solidFill>
            <a:prstDash val="solid"/>
          </a:ln>
        </p:spPr>
        <p:txBody>
          <a:bodyPr/>
          <a:p/>
        </p:txBody>
      </p:sp>
      <p:sp>
        <p:nvSpPr>
          <p:cNvPr id="10" name="Text 8"/>
          <p:cNvSpPr/>
          <p:nvPr/>
        </p:nvSpPr>
        <p:spPr>
          <a:xfrm>
            <a:off x="6492240" y="1737360"/>
            <a:ext cx="4846320" cy="4572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Dosarul electronic de sănătate</a:t>
            </a:r>
            <a:endParaRPr lang="en-US" sz="1900" dirty="0"/>
          </a:p>
        </p:txBody>
      </p:sp>
      <p:sp>
        <p:nvSpPr>
          <p:cNvPr id="11" name="Text 9"/>
          <p:cNvSpPr/>
          <p:nvPr/>
        </p:nvSpPr>
        <p:spPr>
          <a:xfrm>
            <a:off x="6492240" y="2240280"/>
            <a:ext cx="4846320" cy="12801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Dosarul medical electronic al pacientului.</a:t>
            </a:r>
            <a:endParaRPr lang="en-US" sz="1600" dirty="0"/>
          </a:p>
        </p:txBody>
      </p:sp>
      <p:sp>
        <p:nvSpPr>
          <p:cNvPr id="12" name="Text 10"/>
          <p:cNvSpPr/>
          <p:nvPr/>
        </p:nvSpPr>
        <p:spPr>
          <a:xfrm>
            <a:off x="594360" y="3794760"/>
            <a:ext cx="10972800" cy="8686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Pentru sănătatea publică, ambele sunt surse valoroase, dar numai agregate sau pseudonimizate și cu reguli de acces.</a:t>
            </a:r>
            <a:endParaRPr lang="en-US" sz="1800" dirty="0"/>
          </a:p>
        </p:txBody>
      </p:sp>
      <p:sp>
        <p:nvSpPr>
          <p:cNvPr id="13" name="Shape 11"/>
          <p:cNvSpPr/>
          <p:nvPr/>
        </p:nvSpPr>
        <p:spPr>
          <a:xfrm>
            <a:off x="594360" y="4800600"/>
            <a:ext cx="10972800" cy="1097280"/>
          </a:xfrm>
          <a:prstGeom prst="roundRect">
            <a:avLst>
              <a:gd name="adj" fmla="val 7500"/>
            </a:avLst>
          </a:prstGeom>
          <a:solidFill>
            <a:srgbClr val="FBF8F1"/>
          </a:solidFill>
          <a:ln w="12700">
            <a:solidFill>
              <a:srgbClr val="FBF8F1"/>
            </a:solidFill>
            <a:prstDash val="solid"/>
          </a:ln>
        </p:spPr>
        <p:txBody>
          <a:bodyPr/>
          <a:p/>
        </p:txBody>
      </p:sp>
      <p:sp>
        <p:nvSpPr>
          <p:cNvPr id="14" name="Shape 12"/>
          <p:cNvSpPr/>
          <p:nvPr/>
        </p:nvSpPr>
        <p:spPr>
          <a:xfrm>
            <a:off x="594360" y="4800600"/>
            <a:ext cx="91440" cy="1097280"/>
          </a:xfrm>
          <a:prstGeom prst="rect">
            <a:avLst/>
          </a:prstGeom>
          <a:solidFill>
            <a:srgbClr val="B02532"/>
          </a:solidFill>
          <a:ln w="12700">
            <a:solidFill>
              <a:srgbClr val="B02532"/>
            </a:solidFill>
            <a:prstDash val="solid"/>
          </a:ln>
        </p:spPr>
        <p:txBody>
          <a:bodyPr/>
          <a:p/>
        </p:txBody>
      </p:sp>
      <p:sp>
        <p:nvSpPr>
          <p:cNvPr id="15" name="Text 13"/>
          <p:cNvSpPr/>
          <p:nvPr/>
        </p:nvSpPr>
        <p:spPr>
          <a:xfrm>
            <a:off x="914400" y="4800600"/>
            <a:ext cx="10424160" cy="109728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Pseudonimizate nu înseamnă anonime.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Cu cheia păstrată separat, persoana poate fi regăsită, deci datele rămân personale.</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DOUĂ TABERE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DEZBATERE</a:t>
            </a:r>
            <a:endParaRPr lang="en-US" sz="1300" dirty="0"/>
          </a:p>
        </p:txBody>
      </p:sp>
      <p:sp>
        <p:nvSpPr>
          <p:cNvPr id="5" name="Shape 3"/>
          <p:cNvSpPr/>
          <p:nvPr/>
        </p:nvSpPr>
        <p:spPr>
          <a:xfrm>
            <a:off x="594360" y="868680"/>
            <a:ext cx="10972800" cy="1600200"/>
          </a:xfrm>
          <a:prstGeom prst="roundRect">
            <a:avLst>
              <a:gd name="adj" fmla="val 5143"/>
            </a:avLst>
          </a:prstGeom>
          <a:solidFill>
            <a:srgbClr val="FBF8F1"/>
          </a:solidFill>
          <a:ln w="12700">
            <a:solidFill>
              <a:srgbClr val="FBF8F1"/>
            </a:solidFill>
            <a:prstDash val="solid"/>
          </a:ln>
        </p:spPr>
        <p:txBody>
          <a:bodyPr/>
          <a:p/>
        </p:txBody>
      </p:sp>
      <p:sp>
        <p:nvSpPr>
          <p:cNvPr id="6" name="Text 4"/>
          <p:cNvSpPr/>
          <p:nvPr/>
        </p:nvSpPr>
        <p:spPr>
          <a:xfrm>
            <a:off x="914400" y="868680"/>
            <a:ext cx="10332720" cy="1600200"/>
          </a:xfrm>
          <a:prstGeom prst="rect">
            <a:avLst/>
          </a:prstGeom>
          <a:noFill/>
          <a:ln/>
        </p:spPr>
        <p:txBody>
          <a:bodyPr wrap="square" lIns="0" tIns="0" rIns="0" bIns="0" rtlCol="0" anchor="ctr"/>
          <a:lstStyle/>
          <a:p>
            <a:pPr indent="0" marL="0">
              <a:buNone/>
            </a:pPr>
            <a:r>
              <a:rPr lang="en-US" sz="2100" b="1" i="1" dirty="0">
                <a:solidFill>
                  <a:srgbClr val="11121A"/>
                </a:solidFill>
                <a:latin typeface="Palatino Linotype" pitchFamily="34" charset="0"/>
                <a:ea typeface="Palatino Linotype" pitchFamily="34" charset="-122"/>
                <a:cs typeface="Palatino Linotype" pitchFamily="34" charset="-120"/>
              </a:rPr>
              <a:t>„Datele din dosarul meu medical pot fi folosite, fără numele meu, de cercetători autorizați, pentru studii despre boala mea, iar eu voi avea dreptul să refuz.”</a:t>
            </a:r>
            <a:endParaRPr lang="en-US" sz="2100" dirty="0"/>
          </a:p>
        </p:txBody>
      </p:sp>
      <p:sp>
        <p:nvSpPr>
          <p:cNvPr id="7" name="Shape 5"/>
          <p:cNvSpPr/>
          <p:nvPr/>
        </p:nvSpPr>
        <p:spPr>
          <a:xfrm>
            <a:off x="594360" y="2697480"/>
            <a:ext cx="5394960" cy="1600200"/>
          </a:xfrm>
          <a:prstGeom prst="roundRect">
            <a:avLst>
              <a:gd name="adj" fmla="val 5143"/>
            </a:avLst>
          </a:prstGeom>
          <a:solidFill>
            <a:srgbClr val="1D1F2B"/>
          </a:solidFill>
          <a:ln w="12700">
            <a:solidFill>
              <a:srgbClr val="1D1F2B"/>
            </a:solidFill>
            <a:prstDash val="solid"/>
          </a:ln>
        </p:spPr>
        <p:txBody>
          <a:bodyPr/>
          <a:p/>
        </p:txBody>
      </p:sp>
      <p:sp>
        <p:nvSpPr>
          <p:cNvPr id="8" name="Shape 6"/>
          <p:cNvSpPr/>
          <p:nvPr/>
        </p:nvSpPr>
        <p:spPr>
          <a:xfrm>
            <a:off x="594360" y="2697480"/>
            <a:ext cx="82296" cy="1600200"/>
          </a:xfrm>
          <a:prstGeom prst="rect">
            <a:avLst/>
          </a:prstGeom>
          <a:solidFill>
            <a:srgbClr val="FF4757"/>
          </a:solidFill>
          <a:ln w="12700">
            <a:solidFill>
              <a:srgbClr val="FF4757"/>
            </a:solidFill>
            <a:prstDash val="solid"/>
          </a:ln>
        </p:spPr>
        <p:txBody>
          <a:bodyPr/>
          <a:p/>
        </p:txBody>
      </p:sp>
      <p:sp>
        <p:nvSpPr>
          <p:cNvPr id="9" name="Text 7"/>
          <p:cNvSpPr/>
          <p:nvPr/>
        </p:nvSpPr>
        <p:spPr>
          <a:xfrm>
            <a:off x="914400" y="2816352"/>
            <a:ext cx="4846320" cy="320040"/>
          </a:xfrm>
          <a:prstGeom prst="rect">
            <a:avLst/>
          </a:prstGeom>
          <a:noFill/>
          <a:ln/>
        </p:spPr>
        <p:txBody>
          <a:bodyPr wrap="square" lIns="0" tIns="0" rIns="0" bIns="0" rtlCol="0" anchor="t"/>
          <a:lstStyle/>
          <a:p>
            <a:pPr indent="0" marL="0">
              <a:buNone/>
            </a:pPr>
            <a:r>
              <a:rPr lang="en-US" sz="1400" b="1" spc="200" kern="0" dirty="0">
                <a:solidFill>
                  <a:srgbClr val="FF4757"/>
                </a:solidFill>
                <a:latin typeface="Palatino Linotype" pitchFamily="34" charset="0"/>
                <a:ea typeface="Palatino Linotype" pitchFamily="34" charset="-122"/>
                <a:cs typeface="Palatino Linotype" pitchFamily="34" charset="-120"/>
              </a:rPr>
              <a:t>STÂNGA</a:t>
            </a:r>
            <a:endParaRPr lang="en-US" sz="1400" dirty="0"/>
          </a:p>
        </p:txBody>
      </p:sp>
      <p:sp>
        <p:nvSpPr>
          <p:cNvPr id="10" name="Text 8"/>
          <p:cNvSpPr/>
          <p:nvPr/>
        </p:nvSpPr>
        <p:spPr>
          <a:xfrm>
            <a:off x="914400" y="3200400"/>
            <a:ext cx="4846320" cy="10058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Este o regulă bună, iar refuzul ar trebui să fie rar.</a:t>
            </a:r>
            <a:endParaRPr lang="en-US" sz="1900" dirty="0"/>
          </a:p>
        </p:txBody>
      </p:sp>
      <p:sp>
        <p:nvSpPr>
          <p:cNvPr id="11" name="Shape 9"/>
          <p:cNvSpPr/>
          <p:nvPr/>
        </p:nvSpPr>
        <p:spPr>
          <a:xfrm>
            <a:off x="6172200" y="2697480"/>
            <a:ext cx="5394960" cy="1600200"/>
          </a:xfrm>
          <a:prstGeom prst="roundRect">
            <a:avLst>
              <a:gd name="adj" fmla="val 5143"/>
            </a:avLst>
          </a:prstGeom>
          <a:solidFill>
            <a:srgbClr val="1D1F2B"/>
          </a:solidFill>
          <a:ln w="12700">
            <a:solidFill>
              <a:srgbClr val="1D1F2B"/>
            </a:solidFill>
            <a:prstDash val="solid"/>
          </a:ln>
        </p:spPr>
        <p:txBody>
          <a:bodyPr/>
          <a:p/>
        </p:txBody>
      </p:sp>
      <p:sp>
        <p:nvSpPr>
          <p:cNvPr id="12" name="Shape 10"/>
          <p:cNvSpPr/>
          <p:nvPr/>
        </p:nvSpPr>
        <p:spPr>
          <a:xfrm>
            <a:off x="6172200" y="2697480"/>
            <a:ext cx="82296" cy="1600200"/>
          </a:xfrm>
          <a:prstGeom prst="rect">
            <a:avLst/>
          </a:prstGeom>
          <a:solidFill>
            <a:srgbClr val="27D3BE"/>
          </a:solidFill>
          <a:ln w="12700">
            <a:solidFill>
              <a:srgbClr val="27D3BE"/>
            </a:solidFill>
            <a:prstDash val="solid"/>
          </a:ln>
        </p:spPr>
        <p:txBody>
          <a:bodyPr/>
          <a:p/>
        </p:txBody>
      </p:sp>
      <p:sp>
        <p:nvSpPr>
          <p:cNvPr id="13" name="Text 11"/>
          <p:cNvSpPr/>
          <p:nvPr/>
        </p:nvSpPr>
        <p:spPr>
          <a:xfrm>
            <a:off x="6492240" y="2816352"/>
            <a:ext cx="4846320" cy="320040"/>
          </a:xfrm>
          <a:prstGeom prst="rect">
            <a:avLst/>
          </a:prstGeom>
          <a:noFill/>
          <a:ln/>
        </p:spPr>
        <p:txBody>
          <a:bodyPr wrap="square" lIns="0" tIns="0" rIns="0" bIns="0" rtlCol="0" anchor="t"/>
          <a:lstStyle/>
          <a:p>
            <a:pPr indent="0" marL="0">
              <a:buNone/>
            </a:pPr>
            <a:r>
              <a:rPr lang="en-US" sz="1400" b="1" spc="200" kern="0" dirty="0">
                <a:solidFill>
                  <a:srgbClr val="27D3BE"/>
                </a:solidFill>
                <a:latin typeface="Palatino Linotype" pitchFamily="34" charset="0"/>
                <a:ea typeface="Palatino Linotype" pitchFamily="34" charset="-122"/>
                <a:cs typeface="Palatino Linotype" pitchFamily="34" charset="-120"/>
              </a:rPr>
              <a:t>DREAPTA</a:t>
            </a:r>
            <a:endParaRPr lang="en-US" sz="1400" dirty="0"/>
          </a:p>
        </p:txBody>
      </p:sp>
      <p:sp>
        <p:nvSpPr>
          <p:cNvPr id="14" name="Text 12"/>
          <p:cNvSpPr/>
          <p:nvPr/>
        </p:nvSpPr>
        <p:spPr>
          <a:xfrm>
            <a:off x="6492240" y="3200400"/>
            <a:ext cx="4846320" cy="10058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Ar trebui să mi se ceară acordul de fiecare dată.</a:t>
            </a:r>
            <a:endParaRPr lang="en-US" sz="1900" dirty="0"/>
          </a:p>
        </p:txBody>
      </p:sp>
      <p:sp>
        <p:nvSpPr>
          <p:cNvPr id="15" name="Text 13"/>
          <p:cNvSpPr/>
          <p:nvPr/>
        </p:nvSpPr>
        <p:spPr>
          <a:xfrm>
            <a:off x="594360" y="4526280"/>
            <a:ext cx="10972800" cy="82296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Două minute de pregătire, un minut pe tabără. Apoi votați individual: de acord, parțial de acord, împotrivă.</a:t>
            </a:r>
            <a:endParaRPr lang="en-US" sz="1800" dirty="0"/>
          </a:p>
        </p:txBody>
      </p:sp>
      <p:sp>
        <p:nvSpPr>
          <p:cNvPr id="16" name="Text 14"/>
          <p:cNvSpPr/>
          <p:nvPr/>
        </p:nvSpPr>
        <p:spPr>
          <a:xfrm>
            <a:off x="594360" y="5532120"/>
            <a:ext cx="7680960" cy="365760"/>
          </a:xfrm>
          <a:prstGeom prst="rect">
            <a:avLst/>
          </a:prstGeom>
          <a:noFill/>
          <a:ln/>
        </p:spPr>
        <p:txBody>
          <a:bodyPr wrap="square" lIns="0" tIns="0" rIns="0" bIns="0" rtlCol="0" anchor="t"/>
          <a:lstStyle/>
          <a:p>
            <a:pPr indent="0" marL="0">
              <a:buNone/>
            </a:pPr>
            <a:r>
              <a:rPr lang="en-US" sz="1600" b="1" i="1" dirty="0">
                <a:solidFill>
                  <a:srgbClr val="27D3BE"/>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DEZBATERE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Legiuitorul a ales o cale de mijloc</a:t>
            </a:r>
            <a:endParaRPr lang="en-US" sz="3200" dirty="0"/>
          </a:p>
        </p:txBody>
      </p:sp>
      <p:sp>
        <p:nvSpPr>
          <p:cNvPr id="4" name="Text 2"/>
          <p:cNvSpPr/>
          <p:nvPr/>
        </p:nvSpPr>
        <p:spPr>
          <a:xfrm>
            <a:off x="594360" y="1463040"/>
            <a:ext cx="10972800" cy="411480"/>
          </a:xfrm>
          <a:prstGeom prst="rect">
            <a:avLst/>
          </a:prstGeom>
          <a:noFill/>
          <a:ln/>
        </p:spPr>
        <p:txBody>
          <a:bodyPr wrap="square" lIns="0" tIns="0" rIns="0" bIns="0" rtlCol="0" anchor="t"/>
          <a:lstStyle/>
          <a:p>
            <a:pPr indent="0" marL="0">
              <a:buNone/>
            </a:pPr>
            <a:r>
              <a:rPr lang="en-US" sz="1800" i="1" dirty="0">
                <a:solidFill>
                  <a:srgbClr val="585A64"/>
                </a:solidFill>
                <a:latin typeface="Palatino Linotype" pitchFamily="34" charset="0"/>
                <a:ea typeface="Palatino Linotype" pitchFamily="34" charset="-122"/>
                <a:cs typeface="Palatino Linotype" pitchFamily="34" charset="-120"/>
              </a:rPr>
              <a:t>Din 2029:</a:t>
            </a:r>
            <a:endParaRPr lang="en-US" sz="1800" dirty="0"/>
          </a:p>
        </p:txBody>
      </p:sp>
      <p:sp>
        <p:nvSpPr>
          <p:cNvPr id="5" name="Shape 3"/>
          <p:cNvSpPr/>
          <p:nvPr/>
        </p:nvSpPr>
        <p:spPr>
          <a:xfrm>
            <a:off x="594360" y="196596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6" name="Shape 4"/>
          <p:cNvSpPr/>
          <p:nvPr/>
        </p:nvSpPr>
        <p:spPr>
          <a:xfrm>
            <a:off x="594360" y="1965960"/>
            <a:ext cx="82296" cy="621792"/>
          </a:xfrm>
          <a:prstGeom prst="rect">
            <a:avLst/>
          </a:prstGeom>
          <a:solidFill>
            <a:srgbClr val="4A2D8C"/>
          </a:solidFill>
          <a:ln w="12700">
            <a:solidFill>
              <a:srgbClr val="4A2D8C"/>
            </a:solidFill>
            <a:prstDash val="solid"/>
          </a:ln>
        </p:spPr>
        <p:txBody>
          <a:bodyPr/>
          <a:p/>
        </p:txBody>
      </p:sp>
      <p:sp>
        <p:nvSpPr>
          <p:cNvPr id="7" name="Text 5"/>
          <p:cNvSpPr/>
          <p:nvPr/>
        </p:nvSpPr>
        <p:spPr>
          <a:xfrm>
            <a:off x="868680" y="1965960"/>
            <a:ext cx="10515600" cy="621792"/>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utilizarea secundară, numai prin organismele de acces, pentru scopuri stabilite</a:t>
            </a:r>
            <a:endParaRPr lang="en-US" sz="1800" dirty="0"/>
          </a:p>
        </p:txBody>
      </p:sp>
      <p:sp>
        <p:nvSpPr>
          <p:cNvPr id="8" name="Shape 6"/>
          <p:cNvSpPr/>
          <p:nvPr/>
        </p:nvSpPr>
        <p:spPr>
          <a:xfrm>
            <a:off x="594360" y="2697480"/>
            <a:ext cx="10972800" cy="621792"/>
          </a:xfrm>
          <a:prstGeom prst="roundRect">
            <a:avLst>
              <a:gd name="adj" fmla="val 13235"/>
            </a:avLst>
          </a:prstGeom>
          <a:solidFill>
            <a:srgbClr val="F9F8F5"/>
          </a:solidFill>
          <a:ln w="12700">
            <a:solidFill>
              <a:srgbClr val="F9F8F5"/>
            </a:solidFill>
            <a:prstDash val="solid"/>
          </a:ln>
        </p:spPr>
        <p:txBody>
          <a:bodyPr/>
          <a:p/>
        </p:txBody>
      </p:sp>
      <p:sp>
        <p:nvSpPr>
          <p:cNvPr id="9" name="Shape 7"/>
          <p:cNvSpPr/>
          <p:nvPr/>
        </p:nvSpPr>
        <p:spPr>
          <a:xfrm>
            <a:off x="594360" y="2697480"/>
            <a:ext cx="82296" cy="621792"/>
          </a:xfrm>
          <a:prstGeom prst="rect">
            <a:avLst/>
          </a:prstGeom>
          <a:solidFill>
            <a:srgbClr val="4A2D8C"/>
          </a:solidFill>
          <a:ln w="12700">
            <a:solidFill>
              <a:srgbClr val="4A2D8C"/>
            </a:solidFill>
            <a:prstDash val="solid"/>
          </a:ln>
        </p:spPr>
        <p:txBody>
          <a:bodyPr/>
          <a:p/>
        </p:txBody>
      </p:sp>
      <p:sp>
        <p:nvSpPr>
          <p:cNvPr id="10" name="Text 8"/>
          <p:cNvSpPr/>
          <p:nvPr/>
        </p:nvSpPr>
        <p:spPr>
          <a:xfrm>
            <a:off x="868680" y="2697480"/>
            <a:ext cx="10515600" cy="621792"/>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persoana va putea refuza oricând</a:t>
            </a:r>
            <a:endParaRPr lang="en-US" sz="1800" dirty="0"/>
          </a:p>
        </p:txBody>
      </p:sp>
      <p:sp>
        <p:nvSpPr>
          <p:cNvPr id="11" name="Shape 9"/>
          <p:cNvSpPr/>
          <p:nvPr/>
        </p:nvSpPr>
        <p:spPr>
          <a:xfrm>
            <a:off x="594360" y="342900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12" name="Shape 10"/>
          <p:cNvSpPr/>
          <p:nvPr/>
        </p:nvSpPr>
        <p:spPr>
          <a:xfrm>
            <a:off x="594360" y="3429000"/>
            <a:ext cx="82296" cy="621792"/>
          </a:xfrm>
          <a:prstGeom prst="rect">
            <a:avLst/>
          </a:prstGeom>
          <a:solidFill>
            <a:srgbClr val="4A2D8C"/>
          </a:solidFill>
          <a:ln w="12700">
            <a:solidFill>
              <a:srgbClr val="4A2D8C"/>
            </a:solidFill>
            <a:prstDash val="solid"/>
          </a:ln>
        </p:spPr>
        <p:txBody>
          <a:bodyPr/>
          <a:p/>
        </p:txBody>
      </p:sp>
      <p:sp>
        <p:nvSpPr>
          <p:cNvPr id="13" name="Text 11"/>
          <p:cNvSpPr/>
          <p:nvPr/>
        </p:nvSpPr>
        <p:spPr>
          <a:xfrm>
            <a:off x="868680" y="3429000"/>
            <a:ext cx="10515600" cy="621792"/>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statele pot prevedea o derogare pentru organismele publice de sănătate publică</a:t>
            </a:r>
            <a:endParaRPr lang="en-US" sz="1800" dirty="0"/>
          </a:p>
        </p:txBody>
      </p:sp>
      <p:sp>
        <p:nvSpPr>
          <p:cNvPr id="14" name="Shape 12"/>
          <p:cNvSpPr/>
          <p:nvPr/>
        </p:nvSpPr>
        <p:spPr>
          <a:xfrm>
            <a:off x="594360" y="4297680"/>
            <a:ext cx="5394960" cy="1463040"/>
          </a:xfrm>
          <a:prstGeom prst="roundRect">
            <a:avLst>
              <a:gd name="adj" fmla="val 5625"/>
            </a:avLst>
          </a:prstGeom>
          <a:solidFill>
            <a:srgbClr val="F9F8F5"/>
          </a:solidFill>
          <a:ln w="12700">
            <a:solidFill>
              <a:srgbClr val="F9F8F5"/>
            </a:solidFill>
            <a:prstDash val="solid"/>
          </a:ln>
        </p:spPr>
        <p:txBody>
          <a:bodyPr/>
          <a:p/>
        </p:txBody>
      </p:sp>
      <p:sp>
        <p:nvSpPr>
          <p:cNvPr id="15" name="Text 13"/>
          <p:cNvSpPr/>
          <p:nvPr/>
        </p:nvSpPr>
        <p:spPr>
          <a:xfrm>
            <a:off x="868680" y="4407408"/>
            <a:ext cx="4846320" cy="36576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Argumentul unei tabere</a:t>
            </a:r>
            <a:endParaRPr lang="en-US" sz="1500" dirty="0"/>
          </a:p>
        </p:txBody>
      </p:sp>
      <p:sp>
        <p:nvSpPr>
          <p:cNvPr id="16" name="Text 14"/>
          <p:cNvSpPr/>
          <p:nvPr/>
        </p:nvSpPr>
        <p:spPr>
          <a:xfrm>
            <a:off x="868680" y="4773168"/>
            <a:ext cx="4846320" cy="9144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studiu despre o boală rară poate avea nevoie de datele tuturor bolnavilor.</a:t>
            </a:r>
            <a:endParaRPr lang="en-US" sz="1700" dirty="0"/>
          </a:p>
        </p:txBody>
      </p:sp>
      <p:sp>
        <p:nvSpPr>
          <p:cNvPr id="17" name="Shape 15"/>
          <p:cNvSpPr/>
          <p:nvPr/>
        </p:nvSpPr>
        <p:spPr>
          <a:xfrm>
            <a:off x="6172200" y="4297680"/>
            <a:ext cx="5394960" cy="1463040"/>
          </a:xfrm>
          <a:prstGeom prst="roundRect">
            <a:avLst>
              <a:gd name="adj" fmla="val 5625"/>
            </a:avLst>
          </a:prstGeom>
          <a:solidFill>
            <a:srgbClr val="F9F8F5"/>
          </a:solidFill>
          <a:ln w="12700">
            <a:solidFill>
              <a:srgbClr val="F9F8F5"/>
            </a:solidFill>
            <a:prstDash val="solid"/>
          </a:ln>
        </p:spPr>
        <p:txBody>
          <a:bodyPr/>
          <a:p/>
        </p:txBody>
      </p:sp>
      <p:sp>
        <p:nvSpPr>
          <p:cNvPr id="18" name="Text 16"/>
          <p:cNvSpPr/>
          <p:nvPr/>
        </p:nvSpPr>
        <p:spPr>
          <a:xfrm>
            <a:off x="6446520" y="4407408"/>
            <a:ext cx="4846320" cy="365760"/>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Argumentul celeilalte</a:t>
            </a:r>
            <a:endParaRPr lang="en-US" sz="1500" dirty="0"/>
          </a:p>
        </p:txBody>
      </p:sp>
      <p:sp>
        <p:nvSpPr>
          <p:cNvPr id="19" name="Text 17"/>
          <p:cNvSpPr/>
          <p:nvPr/>
        </p:nvSpPr>
        <p:spPr>
          <a:xfrm>
            <a:off x="6446520" y="4773168"/>
            <a:ext cx="4846320" cy="9144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Încrederea pacienților se pierde repede dacă datele lor circulă fără știrea lor.</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3" name="Shape 1"/>
          <p:cNvSpPr/>
          <p:nvPr/>
        </p:nvSpPr>
        <p:spPr>
          <a:xfrm rot="-72000">
            <a:off x="777240" y="960120"/>
            <a:ext cx="6583680" cy="4343400"/>
          </a:xfrm>
          <a:prstGeom prst="rect">
            <a:avLst/>
          </a:prstGeom>
          <a:solidFill>
            <a:srgbClr val="FBF8F1"/>
          </a:solidFill>
          <a:ln w="12700">
            <a:solidFill>
              <a:srgbClr val="C9C6BE"/>
            </a:solidFill>
            <a:prstDash val="solid"/>
          </a:ln>
        </p:spPr>
        <p:txBody>
          <a:bodyPr/>
          <a:p/>
        </p:txBody>
      </p:sp>
      <p:sp>
        <p:nvSpPr>
          <p:cNvPr id="4" name="Text 2"/>
          <p:cNvSpPr/>
          <p:nvPr/>
        </p:nvSpPr>
        <p:spPr>
          <a:xfrm>
            <a:off x="1097280" y="1188720"/>
            <a:ext cx="5943600" cy="32004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DIGI24 · 3 IULIE 2022</a:t>
            </a:r>
            <a:endParaRPr lang="en-US" sz="1300" dirty="0"/>
          </a:p>
        </p:txBody>
      </p:sp>
      <p:sp>
        <p:nvSpPr>
          <p:cNvPr id="5" name="Shape 3"/>
          <p:cNvSpPr/>
          <p:nvPr/>
        </p:nvSpPr>
        <p:spPr>
          <a:xfrm>
            <a:off x="1097280" y="1572768"/>
            <a:ext cx="5943600" cy="18288"/>
          </a:xfrm>
          <a:prstGeom prst="rect">
            <a:avLst/>
          </a:prstGeom>
          <a:solidFill>
            <a:srgbClr val="11121A"/>
          </a:solidFill>
          <a:ln w="12700">
            <a:solidFill>
              <a:srgbClr val="11121A"/>
            </a:solidFill>
            <a:prstDash val="solid"/>
          </a:ln>
        </p:spPr>
        <p:txBody>
          <a:bodyPr/>
          <a:p/>
        </p:txBody>
      </p:sp>
      <p:sp>
        <p:nvSpPr>
          <p:cNvPr id="6" name="Text 4"/>
          <p:cNvSpPr/>
          <p:nvPr/>
        </p:nvSpPr>
        <p:spPr>
          <a:xfrm>
            <a:off x="1097280" y="1737360"/>
            <a:ext cx="5943600" cy="201168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Ministerul de Externe confirmă moartea turistei românce atacată de un rechin în Egipt</a:t>
            </a:r>
            <a:endParaRPr lang="en-US" sz="2800" dirty="0"/>
          </a:p>
        </p:txBody>
      </p:sp>
      <p:sp>
        <p:nvSpPr>
          <p:cNvPr id="7" name="Text 5"/>
          <p:cNvSpPr/>
          <p:nvPr/>
        </p:nvSpPr>
        <p:spPr>
          <a:xfrm>
            <a:off x="777240" y="5486400"/>
            <a:ext cx="65836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Digi24, 3 iulie 2022; titlul reprodus exact</a:t>
            </a:r>
            <a:endParaRPr lang="en-US" sz="850" dirty="0"/>
          </a:p>
        </p:txBody>
      </p:sp>
      <p:sp>
        <p:nvSpPr>
          <p:cNvPr id="8" name="Text 6"/>
          <p:cNvSpPr/>
          <p:nvPr/>
        </p:nvSpPr>
        <p:spPr>
          <a:xfrm>
            <a:off x="7863840" y="1188720"/>
            <a:ext cx="3749040" cy="822960"/>
          </a:xfrm>
          <a:prstGeom prst="rect">
            <a:avLst/>
          </a:prstGeom>
          <a:noFill/>
          <a:ln/>
        </p:spPr>
        <p:txBody>
          <a:bodyPr wrap="square" lIns="0" tIns="0" rIns="0" bIns="0" rtlCol="0" anchor="t"/>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Știrea este reală și tristă.</a:t>
            </a:r>
            <a:endParaRPr lang="en-US" sz="2400" dirty="0"/>
          </a:p>
        </p:txBody>
      </p:sp>
      <p:sp>
        <p:nvSpPr>
          <p:cNvPr id="9" name="Text 7"/>
          <p:cNvSpPr/>
          <p:nvPr/>
        </p:nvSpPr>
        <p:spPr>
          <a:xfrm>
            <a:off x="7863840" y="2103120"/>
            <a:ext cx="3749040" cy="310896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Întrebarea: cât de mare e riscul sugerat de astfel de titluri, față de riscurile despre care nu scrie nimeni?</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DOUĂ ESTIMĂRI</a:t>
            </a:r>
            <a:endParaRPr lang="en-US" sz="1300" dirty="0"/>
          </a:p>
        </p:txBody>
      </p:sp>
      <p:sp>
        <p:nvSpPr>
          <p:cNvPr id="5" name="Shape 3"/>
          <p:cNvSpPr/>
          <p:nvPr/>
        </p:nvSpPr>
        <p:spPr>
          <a:xfrm>
            <a:off x="594360" y="868680"/>
            <a:ext cx="10972800" cy="2103120"/>
          </a:xfrm>
          <a:prstGeom prst="roundRect">
            <a:avLst>
              <a:gd name="adj" fmla="val 3913"/>
            </a:avLst>
          </a:prstGeom>
          <a:solidFill>
            <a:srgbClr val="1D1F2B"/>
          </a:solidFill>
          <a:ln w="12700">
            <a:solidFill>
              <a:srgbClr val="1D1F2B"/>
            </a:solidFill>
            <a:prstDash val="solid"/>
          </a:ln>
        </p:spPr>
        <p:txBody>
          <a:bodyPr/>
          <a:p/>
        </p:txBody>
      </p:sp>
      <p:sp>
        <p:nvSpPr>
          <p:cNvPr id="6" name="Shape 4"/>
          <p:cNvSpPr/>
          <p:nvPr/>
        </p:nvSpPr>
        <p:spPr>
          <a:xfrm>
            <a:off x="868680" y="1097280"/>
            <a:ext cx="420624" cy="420624"/>
          </a:xfrm>
          <a:prstGeom prst="ellipse">
            <a:avLst/>
          </a:prstGeom>
          <a:solidFill>
            <a:srgbClr val="FF4757"/>
          </a:solidFill>
          <a:ln/>
        </p:spPr>
        <p:txBody>
          <a:bodyPr/>
          <a:p/>
        </p:txBody>
      </p:sp>
      <p:sp>
        <p:nvSpPr>
          <p:cNvPr id="7" name="Text 5"/>
          <p:cNvSpPr/>
          <p:nvPr/>
        </p:nvSpPr>
        <p:spPr>
          <a:xfrm>
            <a:off x="868680" y="10972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554480" y="1005840"/>
            <a:ext cx="9784080" cy="68580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Câți oameni au murit anul trecut, în lume, după mușcături neprovocate de rechin?</a:t>
            </a:r>
            <a:endParaRPr lang="en-US" sz="2100" dirty="0"/>
          </a:p>
        </p:txBody>
      </p:sp>
      <p:sp>
        <p:nvSpPr>
          <p:cNvPr id="9" name="Shape 7"/>
          <p:cNvSpPr/>
          <p:nvPr/>
        </p:nvSpPr>
        <p:spPr>
          <a:xfrm>
            <a:off x="1554480" y="2011680"/>
            <a:ext cx="2331720" cy="329184"/>
          </a:xfrm>
          <a:prstGeom prst="roundRect">
            <a:avLst>
              <a:gd name="adj" fmla="val 50000"/>
            </a:avLst>
          </a:prstGeom>
          <a:solidFill>
            <a:srgbClr val="272A38"/>
          </a:solidFill>
          <a:ln w="12700">
            <a:solidFill>
              <a:srgbClr val="272A38"/>
            </a:solidFill>
            <a:prstDash val="solid"/>
          </a:ln>
        </p:spPr>
        <p:txBody>
          <a:bodyPr/>
          <a:p/>
        </p:txBody>
      </p:sp>
      <p:sp>
        <p:nvSpPr>
          <p:cNvPr id="10" name="Text 8"/>
          <p:cNvSpPr/>
          <p:nvPr/>
        </p:nvSpPr>
        <p:spPr>
          <a:xfrm>
            <a:off x="1554480" y="2011680"/>
            <a:ext cx="2331720" cy="329184"/>
          </a:xfrm>
          <a:prstGeom prst="rect">
            <a:avLst/>
          </a:prstGeom>
          <a:noFill/>
          <a:ln/>
        </p:spPr>
        <p:txBody>
          <a:bodyPr wrap="square" lIns="0" tIns="0" rIns="0" bIns="0" rtlCol="0" anchor="ctr"/>
          <a:lstStyle/>
          <a:p>
            <a:pPr algn="ctr" indent="0" marL="0">
              <a:buNone/>
            </a:pPr>
            <a:r>
              <a:rPr lang="en-US" sz="1300" b="1" dirty="0">
                <a:solidFill>
                  <a:srgbClr val="FF4757"/>
                </a:solidFill>
                <a:latin typeface="Palatino Linotype" pitchFamily="34" charset="0"/>
                <a:ea typeface="Palatino Linotype" pitchFamily="34" charset="-122"/>
                <a:cs typeface="Palatino Linotype" pitchFamily="34" charset="-120"/>
              </a:rPr>
              <a:t>sub douăzeci</a:t>
            </a:r>
            <a:endParaRPr lang="en-US" sz="1300" dirty="0"/>
          </a:p>
        </p:txBody>
      </p:sp>
      <p:sp>
        <p:nvSpPr>
          <p:cNvPr id="11" name="Shape 9"/>
          <p:cNvSpPr/>
          <p:nvPr/>
        </p:nvSpPr>
        <p:spPr>
          <a:xfrm>
            <a:off x="4023360" y="2011680"/>
            <a:ext cx="2331720" cy="329184"/>
          </a:xfrm>
          <a:prstGeom prst="roundRect">
            <a:avLst>
              <a:gd name="adj" fmla="val 50000"/>
            </a:avLst>
          </a:prstGeom>
          <a:solidFill>
            <a:srgbClr val="272A38"/>
          </a:solidFill>
          <a:ln w="12700">
            <a:solidFill>
              <a:srgbClr val="272A38"/>
            </a:solidFill>
            <a:prstDash val="solid"/>
          </a:ln>
        </p:spPr>
        <p:txBody>
          <a:bodyPr/>
          <a:p/>
        </p:txBody>
      </p:sp>
      <p:sp>
        <p:nvSpPr>
          <p:cNvPr id="12" name="Text 10"/>
          <p:cNvSpPr/>
          <p:nvPr/>
        </p:nvSpPr>
        <p:spPr>
          <a:xfrm>
            <a:off x="4023360" y="2011680"/>
            <a:ext cx="2331720" cy="329184"/>
          </a:xfrm>
          <a:prstGeom prst="rect">
            <a:avLst/>
          </a:prstGeom>
          <a:noFill/>
          <a:ln/>
        </p:spPr>
        <p:txBody>
          <a:bodyPr wrap="square" lIns="0" tIns="0" rIns="0" bIns="0" rtlCol="0" anchor="ctr"/>
          <a:lstStyle/>
          <a:p>
            <a:pPr algn="ctr" indent="0" marL="0">
              <a:buNone/>
            </a:pPr>
            <a:r>
              <a:rPr lang="en-US" sz="1300" b="1" dirty="0">
                <a:solidFill>
                  <a:srgbClr val="FF4757"/>
                </a:solidFill>
                <a:latin typeface="Palatino Linotype" pitchFamily="34" charset="0"/>
                <a:ea typeface="Palatino Linotype" pitchFamily="34" charset="-122"/>
                <a:cs typeface="Palatino Linotype" pitchFamily="34" charset="-120"/>
              </a:rPr>
              <a:t>între douăzeci și două sute</a:t>
            </a:r>
            <a:endParaRPr lang="en-US" sz="1300" dirty="0"/>
          </a:p>
        </p:txBody>
      </p:sp>
      <p:sp>
        <p:nvSpPr>
          <p:cNvPr id="13" name="Shape 11"/>
          <p:cNvSpPr/>
          <p:nvPr/>
        </p:nvSpPr>
        <p:spPr>
          <a:xfrm>
            <a:off x="6492240" y="2011680"/>
            <a:ext cx="2331720" cy="329184"/>
          </a:xfrm>
          <a:prstGeom prst="roundRect">
            <a:avLst>
              <a:gd name="adj" fmla="val 50000"/>
            </a:avLst>
          </a:prstGeom>
          <a:solidFill>
            <a:srgbClr val="272A38"/>
          </a:solidFill>
          <a:ln w="12700">
            <a:solidFill>
              <a:srgbClr val="272A38"/>
            </a:solidFill>
            <a:prstDash val="solid"/>
          </a:ln>
        </p:spPr>
        <p:txBody>
          <a:bodyPr/>
          <a:p/>
        </p:txBody>
      </p:sp>
      <p:sp>
        <p:nvSpPr>
          <p:cNvPr id="14" name="Text 12"/>
          <p:cNvSpPr/>
          <p:nvPr/>
        </p:nvSpPr>
        <p:spPr>
          <a:xfrm>
            <a:off x="6492240" y="2011680"/>
            <a:ext cx="2331720" cy="329184"/>
          </a:xfrm>
          <a:prstGeom prst="rect">
            <a:avLst/>
          </a:prstGeom>
          <a:noFill/>
          <a:ln/>
        </p:spPr>
        <p:txBody>
          <a:bodyPr wrap="square" lIns="0" tIns="0" rIns="0" bIns="0" rtlCol="0" anchor="ctr"/>
          <a:lstStyle/>
          <a:p>
            <a:pPr algn="ctr" indent="0" marL="0">
              <a:buNone/>
            </a:pPr>
            <a:r>
              <a:rPr lang="en-US" sz="1300" b="1" dirty="0">
                <a:solidFill>
                  <a:srgbClr val="FF4757"/>
                </a:solidFill>
                <a:latin typeface="Palatino Linotype" pitchFamily="34" charset="0"/>
                <a:ea typeface="Palatino Linotype" pitchFamily="34" charset="-122"/>
                <a:cs typeface="Palatino Linotype" pitchFamily="34" charset="-120"/>
              </a:rPr>
              <a:t>între două sute și două mii</a:t>
            </a:r>
            <a:endParaRPr lang="en-US" sz="1300" dirty="0"/>
          </a:p>
        </p:txBody>
      </p:sp>
      <p:sp>
        <p:nvSpPr>
          <p:cNvPr id="15" name="Shape 13"/>
          <p:cNvSpPr/>
          <p:nvPr/>
        </p:nvSpPr>
        <p:spPr>
          <a:xfrm>
            <a:off x="8961120" y="2011680"/>
            <a:ext cx="2331720" cy="329184"/>
          </a:xfrm>
          <a:prstGeom prst="roundRect">
            <a:avLst>
              <a:gd name="adj" fmla="val 50000"/>
            </a:avLst>
          </a:prstGeom>
          <a:solidFill>
            <a:srgbClr val="272A38"/>
          </a:solidFill>
          <a:ln w="12700">
            <a:solidFill>
              <a:srgbClr val="272A38"/>
            </a:solidFill>
            <a:prstDash val="solid"/>
          </a:ln>
        </p:spPr>
        <p:txBody>
          <a:bodyPr/>
          <a:p/>
        </p:txBody>
      </p:sp>
      <p:sp>
        <p:nvSpPr>
          <p:cNvPr id="16" name="Text 14"/>
          <p:cNvSpPr/>
          <p:nvPr/>
        </p:nvSpPr>
        <p:spPr>
          <a:xfrm>
            <a:off x="8961120" y="2011680"/>
            <a:ext cx="2331720" cy="329184"/>
          </a:xfrm>
          <a:prstGeom prst="rect">
            <a:avLst/>
          </a:prstGeom>
          <a:noFill/>
          <a:ln/>
        </p:spPr>
        <p:txBody>
          <a:bodyPr wrap="square" lIns="0" tIns="0" rIns="0" bIns="0" rtlCol="0" anchor="ctr"/>
          <a:lstStyle/>
          <a:p>
            <a:pPr algn="ctr" indent="0" marL="0">
              <a:buNone/>
            </a:pPr>
            <a:r>
              <a:rPr lang="en-US" sz="1300" b="1" dirty="0">
                <a:solidFill>
                  <a:srgbClr val="FF4757"/>
                </a:solidFill>
                <a:latin typeface="Palatino Linotype" pitchFamily="34" charset="0"/>
                <a:ea typeface="Palatino Linotype" pitchFamily="34" charset="-122"/>
                <a:cs typeface="Palatino Linotype" pitchFamily="34" charset="-120"/>
              </a:rPr>
              <a:t>peste două mii</a:t>
            </a:r>
            <a:endParaRPr lang="en-US" sz="1300" dirty="0"/>
          </a:p>
        </p:txBody>
      </p:sp>
      <p:sp>
        <p:nvSpPr>
          <p:cNvPr id="17" name="Shape 15"/>
          <p:cNvSpPr/>
          <p:nvPr/>
        </p:nvSpPr>
        <p:spPr>
          <a:xfrm>
            <a:off x="594360" y="3154680"/>
            <a:ext cx="10972800" cy="2103120"/>
          </a:xfrm>
          <a:prstGeom prst="roundRect">
            <a:avLst>
              <a:gd name="adj" fmla="val 3913"/>
            </a:avLst>
          </a:prstGeom>
          <a:solidFill>
            <a:srgbClr val="1D1F2B"/>
          </a:solidFill>
          <a:ln w="12700">
            <a:solidFill>
              <a:srgbClr val="1D1F2B"/>
            </a:solidFill>
            <a:prstDash val="solid"/>
          </a:ln>
        </p:spPr>
        <p:txBody>
          <a:bodyPr/>
          <a:p/>
        </p:txBody>
      </p:sp>
      <p:sp>
        <p:nvSpPr>
          <p:cNvPr id="18" name="Shape 16"/>
          <p:cNvSpPr/>
          <p:nvPr/>
        </p:nvSpPr>
        <p:spPr>
          <a:xfrm>
            <a:off x="868680" y="3383280"/>
            <a:ext cx="420624" cy="420624"/>
          </a:xfrm>
          <a:prstGeom prst="ellipse">
            <a:avLst/>
          </a:prstGeom>
          <a:solidFill>
            <a:srgbClr val="27D3BE"/>
          </a:solidFill>
          <a:ln/>
        </p:spPr>
        <p:txBody>
          <a:bodyPr/>
          <a:p/>
        </p:txBody>
      </p:sp>
      <p:sp>
        <p:nvSpPr>
          <p:cNvPr id="19" name="Text 17"/>
          <p:cNvSpPr/>
          <p:nvPr/>
        </p:nvSpPr>
        <p:spPr>
          <a:xfrm>
            <a:off x="868680" y="33832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20" name="Text 18"/>
          <p:cNvSpPr/>
          <p:nvPr/>
        </p:nvSpPr>
        <p:spPr>
          <a:xfrm>
            <a:off x="1554480" y="3291840"/>
            <a:ext cx="9784080" cy="68580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Câți oameni mor în fiecare an prin înec, în lume?</a:t>
            </a:r>
            <a:endParaRPr lang="en-US" sz="2100" dirty="0"/>
          </a:p>
        </p:txBody>
      </p:sp>
      <p:sp>
        <p:nvSpPr>
          <p:cNvPr id="21" name="Shape 19"/>
          <p:cNvSpPr/>
          <p:nvPr/>
        </p:nvSpPr>
        <p:spPr>
          <a:xfrm>
            <a:off x="1554480" y="4297680"/>
            <a:ext cx="2331720" cy="329184"/>
          </a:xfrm>
          <a:prstGeom prst="roundRect">
            <a:avLst>
              <a:gd name="adj" fmla="val 50000"/>
            </a:avLst>
          </a:prstGeom>
          <a:solidFill>
            <a:srgbClr val="272A38"/>
          </a:solidFill>
          <a:ln w="12700">
            <a:solidFill>
              <a:srgbClr val="272A38"/>
            </a:solidFill>
            <a:prstDash val="solid"/>
          </a:ln>
        </p:spPr>
        <p:txBody>
          <a:bodyPr/>
          <a:p/>
        </p:txBody>
      </p:sp>
      <p:sp>
        <p:nvSpPr>
          <p:cNvPr id="22" name="Text 20"/>
          <p:cNvSpPr/>
          <p:nvPr/>
        </p:nvSpPr>
        <p:spPr>
          <a:xfrm>
            <a:off x="1554480" y="4297680"/>
            <a:ext cx="2331720" cy="329184"/>
          </a:xfrm>
          <a:prstGeom prst="rect">
            <a:avLst/>
          </a:prstGeom>
          <a:noFill/>
          <a:ln/>
        </p:spPr>
        <p:txBody>
          <a:bodyPr wrap="square" lIns="0" tIns="0" rIns="0" bIns="0" rtlCol="0" anchor="ctr"/>
          <a:lstStyle/>
          <a:p>
            <a:pPr algn="ctr" indent="0" marL="0">
              <a:buNone/>
            </a:pPr>
            <a:r>
              <a:rPr lang="en-US" sz="1300" b="1" dirty="0">
                <a:solidFill>
                  <a:srgbClr val="27D3BE"/>
                </a:solidFill>
                <a:latin typeface="Palatino Linotype" pitchFamily="34" charset="0"/>
                <a:ea typeface="Palatino Linotype" pitchFamily="34" charset="-122"/>
                <a:cs typeface="Palatino Linotype" pitchFamily="34" charset="-120"/>
              </a:rPr>
              <a:t>în jur de trei mii</a:t>
            </a:r>
            <a:endParaRPr lang="en-US" sz="1300" dirty="0"/>
          </a:p>
        </p:txBody>
      </p:sp>
      <p:sp>
        <p:nvSpPr>
          <p:cNvPr id="23" name="Shape 21"/>
          <p:cNvSpPr/>
          <p:nvPr/>
        </p:nvSpPr>
        <p:spPr>
          <a:xfrm>
            <a:off x="4023360" y="4297680"/>
            <a:ext cx="2331720" cy="329184"/>
          </a:xfrm>
          <a:prstGeom prst="roundRect">
            <a:avLst>
              <a:gd name="adj" fmla="val 50000"/>
            </a:avLst>
          </a:prstGeom>
          <a:solidFill>
            <a:srgbClr val="272A38"/>
          </a:solidFill>
          <a:ln w="12700">
            <a:solidFill>
              <a:srgbClr val="272A38"/>
            </a:solidFill>
            <a:prstDash val="solid"/>
          </a:ln>
        </p:spPr>
        <p:txBody>
          <a:bodyPr/>
          <a:p/>
        </p:txBody>
      </p:sp>
      <p:sp>
        <p:nvSpPr>
          <p:cNvPr id="24" name="Text 22"/>
          <p:cNvSpPr/>
          <p:nvPr/>
        </p:nvSpPr>
        <p:spPr>
          <a:xfrm>
            <a:off x="4023360" y="4297680"/>
            <a:ext cx="2331720" cy="329184"/>
          </a:xfrm>
          <a:prstGeom prst="rect">
            <a:avLst/>
          </a:prstGeom>
          <a:noFill/>
          <a:ln/>
        </p:spPr>
        <p:txBody>
          <a:bodyPr wrap="square" lIns="0" tIns="0" rIns="0" bIns="0" rtlCol="0" anchor="ctr"/>
          <a:lstStyle/>
          <a:p>
            <a:pPr algn="ctr" indent="0" marL="0">
              <a:buNone/>
            </a:pPr>
            <a:r>
              <a:rPr lang="en-US" sz="1300" b="1" dirty="0">
                <a:solidFill>
                  <a:srgbClr val="27D3BE"/>
                </a:solidFill>
                <a:latin typeface="Palatino Linotype" pitchFamily="34" charset="0"/>
                <a:ea typeface="Palatino Linotype" pitchFamily="34" charset="-122"/>
                <a:cs typeface="Palatino Linotype" pitchFamily="34" charset="-120"/>
              </a:rPr>
              <a:t>în jur de treizeci de mii</a:t>
            </a:r>
            <a:endParaRPr lang="en-US" sz="1300" dirty="0"/>
          </a:p>
        </p:txBody>
      </p:sp>
      <p:sp>
        <p:nvSpPr>
          <p:cNvPr id="25" name="Shape 23"/>
          <p:cNvSpPr/>
          <p:nvPr/>
        </p:nvSpPr>
        <p:spPr>
          <a:xfrm>
            <a:off x="6492240" y="4297680"/>
            <a:ext cx="2331720" cy="329184"/>
          </a:xfrm>
          <a:prstGeom prst="roundRect">
            <a:avLst>
              <a:gd name="adj" fmla="val 50000"/>
            </a:avLst>
          </a:prstGeom>
          <a:solidFill>
            <a:srgbClr val="272A38"/>
          </a:solidFill>
          <a:ln w="12700">
            <a:solidFill>
              <a:srgbClr val="272A38"/>
            </a:solidFill>
            <a:prstDash val="solid"/>
          </a:ln>
        </p:spPr>
        <p:txBody>
          <a:bodyPr/>
          <a:p/>
        </p:txBody>
      </p:sp>
      <p:sp>
        <p:nvSpPr>
          <p:cNvPr id="26" name="Text 24"/>
          <p:cNvSpPr/>
          <p:nvPr/>
        </p:nvSpPr>
        <p:spPr>
          <a:xfrm>
            <a:off x="6492240" y="4297680"/>
            <a:ext cx="2331720" cy="329184"/>
          </a:xfrm>
          <a:prstGeom prst="rect">
            <a:avLst/>
          </a:prstGeom>
          <a:noFill/>
          <a:ln/>
        </p:spPr>
        <p:txBody>
          <a:bodyPr wrap="square" lIns="0" tIns="0" rIns="0" bIns="0" rtlCol="0" anchor="ctr"/>
          <a:lstStyle/>
          <a:p>
            <a:pPr algn="ctr" indent="0" marL="0">
              <a:buNone/>
            </a:pPr>
            <a:r>
              <a:rPr lang="en-US" sz="1300" b="1" dirty="0">
                <a:solidFill>
                  <a:srgbClr val="27D3BE"/>
                </a:solidFill>
                <a:latin typeface="Palatino Linotype" pitchFamily="34" charset="0"/>
                <a:ea typeface="Palatino Linotype" pitchFamily="34" charset="-122"/>
                <a:cs typeface="Palatino Linotype" pitchFamily="34" charset="-120"/>
              </a:rPr>
              <a:t>în jur de trei sute de mii</a:t>
            </a:r>
            <a:endParaRPr lang="en-US" sz="1300" dirty="0"/>
          </a:p>
        </p:txBody>
      </p:sp>
      <p:sp>
        <p:nvSpPr>
          <p:cNvPr id="27" name="Shape 25"/>
          <p:cNvSpPr/>
          <p:nvPr/>
        </p:nvSpPr>
        <p:spPr>
          <a:xfrm>
            <a:off x="8961120" y="4297680"/>
            <a:ext cx="2331720" cy="329184"/>
          </a:xfrm>
          <a:prstGeom prst="roundRect">
            <a:avLst>
              <a:gd name="adj" fmla="val 50000"/>
            </a:avLst>
          </a:prstGeom>
          <a:solidFill>
            <a:srgbClr val="272A38"/>
          </a:solidFill>
          <a:ln w="12700">
            <a:solidFill>
              <a:srgbClr val="272A38"/>
            </a:solidFill>
            <a:prstDash val="solid"/>
          </a:ln>
        </p:spPr>
        <p:txBody>
          <a:bodyPr/>
          <a:p/>
        </p:txBody>
      </p:sp>
      <p:sp>
        <p:nvSpPr>
          <p:cNvPr id="28" name="Text 26"/>
          <p:cNvSpPr/>
          <p:nvPr/>
        </p:nvSpPr>
        <p:spPr>
          <a:xfrm>
            <a:off x="8961120" y="4297680"/>
            <a:ext cx="2331720" cy="329184"/>
          </a:xfrm>
          <a:prstGeom prst="rect">
            <a:avLst/>
          </a:prstGeom>
          <a:noFill/>
          <a:ln/>
        </p:spPr>
        <p:txBody>
          <a:bodyPr wrap="square" lIns="0" tIns="0" rIns="0" bIns="0" rtlCol="0" anchor="ctr"/>
          <a:lstStyle/>
          <a:p>
            <a:pPr algn="ctr" indent="0" marL="0">
              <a:buNone/>
            </a:pPr>
            <a:r>
              <a:rPr lang="en-US" sz="1300" b="1" dirty="0">
                <a:solidFill>
                  <a:srgbClr val="27D3BE"/>
                </a:solidFill>
                <a:latin typeface="Palatino Linotype" pitchFamily="34" charset="0"/>
                <a:ea typeface="Palatino Linotype" pitchFamily="34" charset="-122"/>
                <a:cs typeface="Palatino Linotype" pitchFamily="34" charset="-120"/>
              </a:rPr>
              <a:t>peste trei milioane</a:t>
            </a:r>
            <a:endParaRPr lang="en-US" sz="1300" dirty="0"/>
          </a:p>
        </p:txBody>
      </p:sp>
      <p:sp>
        <p:nvSpPr>
          <p:cNvPr id="29" name="Text 27"/>
          <p:cNvSpPr/>
          <p:nvPr/>
        </p:nvSpPr>
        <p:spPr>
          <a:xfrm>
            <a:off x="594360" y="5486400"/>
            <a:ext cx="6400800" cy="36576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Comparați apoi răspunsurile cu colegul de bancă.</a:t>
            </a:r>
            <a:endParaRPr lang="en-US" sz="1700" dirty="0"/>
          </a:p>
        </p:txBody>
      </p:sp>
      <p:sp>
        <p:nvSpPr>
          <p:cNvPr id="30" name="Text 28"/>
          <p:cNvSpPr/>
          <p:nvPr/>
        </p:nvSpPr>
        <p:spPr>
          <a:xfrm>
            <a:off x="594360" y="5943600"/>
            <a:ext cx="7680960" cy="365760"/>
          </a:xfrm>
          <a:prstGeom prst="rect">
            <a:avLst/>
          </a:prstGeom>
          <a:noFill/>
          <a:ln/>
        </p:spPr>
        <p:txBody>
          <a:bodyPr wrap="square" lIns="0" tIns="0" rIns="0" bIns="0" rtlCol="0" anchor="t"/>
          <a:lstStyle/>
          <a:p>
            <a:pPr indent="0" marL="0">
              <a:buNone/>
            </a:pPr>
            <a:r>
              <a:rPr lang="en-US" sz="1600" b="1" i="1" dirty="0">
                <a:solidFill>
                  <a:srgbClr val="27D3BE"/>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NUMĂR DE DECESE, NU RISC</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Despre cine se scrie și despre cine se tace</a:t>
            </a:r>
            <a:endParaRPr lang="en-US" sz="3000" dirty="0"/>
          </a:p>
        </p:txBody>
      </p:sp>
      <p:sp>
        <p:nvSpPr>
          <p:cNvPr id="4" name="Shape 2"/>
          <p:cNvSpPr/>
          <p:nvPr/>
        </p:nvSpPr>
        <p:spPr>
          <a:xfrm>
            <a:off x="594360" y="1600200"/>
            <a:ext cx="4206240" cy="2468880"/>
          </a:xfrm>
          <a:prstGeom prst="roundRect">
            <a:avLst>
              <a:gd name="adj" fmla="val 3333"/>
            </a:avLst>
          </a:prstGeom>
          <a:solidFill>
            <a:srgbClr val="ECEAE4"/>
          </a:solidFill>
          <a:ln w="12700">
            <a:solidFill>
              <a:srgbClr val="ECEAE4"/>
            </a:solidFill>
            <a:prstDash val="solid"/>
          </a:ln>
        </p:spPr>
        <p:txBody>
          <a:bodyPr/>
          <a:p/>
        </p:txBody>
      </p:sp>
      <p:sp>
        <p:nvSpPr>
          <p:cNvPr id="5" name="Text 3"/>
          <p:cNvSpPr/>
          <p:nvPr/>
        </p:nvSpPr>
        <p:spPr>
          <a:xfrm>
            <a:off x="868680" y="1691640"/>
            <a:ext cx="3657600" cy="1005840"/>
          </a:xfrm>
          <a:prstGeom prst="rect">
            <a:avLst/>
          </a:prstGeom>
          <a:noFill/>
          <a:ln/>
        </p:spPr>
        <p:txBody>
          <a:bodyPr wrap="square" lIns="0" tIns="0" rIns="0" bIns="0" rtlCol="0" anchor="ctr"/>
          <a:lstStyle/>
          <a:p>
            <a:pPr indent="0" marL="0">
              <a:buNone/>
            </a:pPr>
            <a:r>
              <a:rPr lang="en-US" sz="5400" b="1" dirty="0">
                <a:solidFill>
                  <a:srgbClr val="B02532"/>
                </a:solidFill>
                <a:latin typeface="Palatino Linotype" pitchFamily="34" charset="0"/>
                <a:ea typeface="Palatino Linotype" pitchFamily="34" charset="-122"/>
                <a:cs typeface="Palatino Linotype" pitchFamily="34" charset="-120"/>
              </a:rPr>
              <a:t>12</a:t>
            </a:r>
            <a:endParaRPr lang="en-US" sz="5400" dirty="0"/>
          </a:p>
        </p:txBody>
      </p:sp>
      <p:sp>
        <p:nvSpPr>
          <p:cNvPr id="6" name="Text 4"/>
          <p:cNvSpPr/>
          <p:nvPr/>
        </p:nvSpPr>
        <p:spPr>
          <a:xfrm>
            <a:off x="868680" y="2743200"/>
            <a:ext cx="3657600" cy="12344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decese în incidente cu rechini, în 2025 (9 din 65 de mușcături neprovocate)</a:t>
            </a:r>
            <a:endParaRPr lang="en-US" sz="1600" dirty="0"/>
          </a:p>
        </p:txBody>
      </p:sp>
      <p:sp>
        <p:nvSpPr>
          <p:cNvPr id="7" name="Shape 5"/>
          <p:cNvSpPr/>
          <p:nvPr/>
        </p:nvSpPr>
        <p:spPr>
          <a:xfrm>
            <a:off x="7360920" y="1600200"/>
            <a:ext cx="4206240" cy="2468880"/>
          </a:xfrm>
          <a:prstGeom prst="roundRect">
            <a:avLst>
              <a:gd name="adj" fmla="val 3333"/>
            </a:avLst>
          </a:prstGeom>
          <a:solidFill>
            <a:srgbClr val="ECEAE4"/>
          </a:solidFill>
          <a:ln w="12700">
            <a:solidFill>
              <a:srgbClr val="ECEAE4"/>
            </a:solidFill>
            <a:prstDash val="solid"/>
          </a:ln>
        </p:spPr>
        <p:txBody>
          <a:bodyPr/>
          <a:p/>
        </p:txBody>
      </p:sp>
      <p:sp>
        <p:nvSpPr>
          <p:cNvPr id="8" name="Text 6"/>
          <p:cNvSpPr/>
          <p:nvPr/>
        </p:nvSpPr>
        <p:spPr>
          <a:xfrm>
            <a:off x="7635240" y="1691640"/>
            <a:ext cx="3657600" cy="1005840"/>
          </a:xfrm>
          <a:prstGeom prst="rect">
            <a:avLst/>
          </a:prstGeom>
          <a:noFill/>
          <a:ln/>
        </p:spPr>
        <p:txBody>
          <a:bodyPr wrap="square" lIns="0" tIns="0" rIns="0" bIns="0" rtlCol="0" anchor="ctr"/>
          <a:lstStyle/>
          <a:p>
            <a:pPr indent="0" marL="0">
              <a:buNone/>
            </a:pPr>
            <a:r>
              <a:rPr lang="en-US" sz="5400" b="1" dirty="0">
                <a:solidFill>
                  <a:srgbClr val="0E7C6B"/>
                </a:solidFill>
                <a:latin typeface="Palatino Linotype" pitchFamily="34" charset="0"/>
                <a:ea typeface="Palatino Linotype" pitchFamily="34" charset="-122"/>
                <a:cs typeface="Palatino Linotype" pitchFamily="34" charset="-120"/>
              </a:rPr>
              <a:t>300 000</a:t>
            </a:r>
            <a:endParaRPr lang="en-US" sz="5400" dirty="0"/>
          </a:p>
        </p:txBody>
      </p:sp>
      <p:sp>
        <p:nvSpPr>
          <p:cNvPr id="9" name="Text 7"/>
          <p:cNvSpPr/>
          <p:nvPr/>
        </p:nvSpPr>
        <p:spPr>
          <a:xfrm>
            <a:off x="7635240" y="2743200"/>
            <a:ext cx="3657600" cy="12344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decese prin înec pe an, în lume, după OMS</a:t>
            </a:r>
            <a:endParaRPr lang="en-US" sz="1600" dirty="0"/>
          </a:p>
        </p:txBody>
      </p:sp>
      <p:sp>
        <p:nvSpPr>
          <p:cNvPr id="10" name="Text 8"/>
          <p:cNvSpPr/>
          <p:nvPr/>
        </p:nvSpPr>
        <p:spPr>
          <a:xfrm>
            <a:off x="4937760" y="2011680"/>
            <a:ext cx="2286000" cy="1280160"/>
          </a:xfrm>
          <a:prstGeom prst="rect">
            <a:avLst/>
          </a:prstGeom>
          <a:noFill/>
          <a:ln/>
        </p:spPr>
        <p:txBody>
          <a:bodyPr wrap="square" lIns="0" tIns="0" rIns="0" bIns="0" rtlCol="0" anchor="ct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de peste 30 000 de ori mai multe</a:t>
            </a:r>
            <a:endParaRPr lang="en-US" sz="2000" dirty="0"/>
          </a:p>
        </p:txBody>
      </p:sp>
      <p:sp>
        <p:nvSpPr>
          <p:cNvPr id="11" name="Shape 9"/>
          <p:cNvSpPr/>
          <p:nvPr/>
        </p:nvSpPr>
        <p:spPr>
          <a:xfrm>
            <a:off x="5257800" y="3337560"/>
            <a:ext cx="1645920" cy="411480"/>
          </a:xfrm>
          <a:prstGeom prst="rightArrow">
            <a:avLst/>
          </a:prstGeom>
          <a:solidFill>
            <a:srgbClr val="C9C6BE"/>
          </a:solidFill>
          <a:ln w="12700">
            <a:solidFill>
              <a:srgbClr val="C9C6BE"/>
            </a:solidFill>
            <a:prstDash val="solid"/>
          </a:ln>
        </p:spPr>
        <p:txBody>
          <a:bodyPr/>
          <a:p/>
        </p:txBody>
      </p:sp>
      <p:sp>
        <p:nvSpPr>
          <p:cNvPr id="12" name="Shape 10"/>
          <p:cNvSpPr/>
          <p:nvPr/>
        </p:nvSpPr>
        <p:spPr>
          <a:xfrm>
            <a:off x="594360" y="4297680"/>
            <a:ext cx="10972800" cy="1371600"/>
          </a:xfrm>
          <a:prstGeom prst="roundRect">
            <a:avLst>
              <a:gd name="adj" fmla="val 6000"/>
            </a:avLst>
          </a:prstGeom>
          <a:solidFill>
            <a:srgbClr val="FBF8F1"/>
          </a:solidFill>
          <a:ln w="12700">
            <a:solidFill>
              <a:srgbClr val="FBF8F1"/>
            </a:solidFill>
            <a:prstDash val="solid"/>
          </a:ln>
        </p:spPr>
        <p:txBody>
          <a:bodyPr/>
          <a:p/>
        </p:txBody>
      </p:sp>
      <p:sp>
        <p:nvSpPr>
          <p:cNvPr id="13" name="Shape 11"/>
          <p:cNvSpPr/>
          <p:nvPr/>
        </p:nvSpPr>
        <p:spPr>
          <a:xfrm>
            <a:off x="594360" y="4297680"/>
            <a:ext cx="91440" cy="1371600"/>
          </a:xfrm>
          <a:prstGeom prst="rect">
            <a:avLst/>
          </a:prstGeom>
          <a:solidFill>
            <a:srgbClr val="B02532"/>
          </a:solidFill>
          <a:ln w="12700">
            <a:solidFill>
              <a:srgbClr val="B02532"/>
            </a:solidFill>
            <a:prstDash val="solid"/>
          </a:ln>
        </p:spPr>
        <p:txBody>
          <a:bodyPr/>
          <a:p/>
        </p:txBody>
      </p:sp>
      <p:sp>
        <p:nvSpPr>
          <p:cNvPr id="14" name="Text 12"/>
          <p:cNvSpPr/>
          <p:nvPr/>
        </p:nvSpPr>
        <p:spPr>
          <a:xfrm>
            <a:off x="914400" y="4297680"/>
            <a:ext cx="10424160" cy="137160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Nu spune încă cât de riscant e un înot: pentru risc trebuie numitorul, numărul celor care au intrat în apă.</a:t>
            </a:r>
            <a:endParaRPr lang="en-US" sz="1900" dirty="0"/>
          </a:p>
        </p:txBody>
      </p:sp>
      <p:sp>
        <p:nvSpPr>
          <p:cNvPr id="15" name="Text 13"/>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Surse: Arhiva internațională a atacurilor de rechin, 2025; OMS, fișa despre înec</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 CE NE SPERIE MAI TARE RECHINUL?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Trei scurtături mintale</a:t>
            </a:r>
            <a:endParaRPr lang="en-US" sz="3200" dirty="0"/>
          </a:p>
        </p:txBody>
      </p:sp>
      <p:sp>
        <p:nvSpPr>
          <p:cNvPr id="4" name="Shape 2"/>
          <p:cNvSpPr/>
          <p:nvPr/>
        </p:nvSpPr>
        <p:spPr>
          <a:xfrm>
            <a:off x="594360" y="1600200"/>
            <a:ext cx="3520440" cy="1234440"/>
          </a:xfrm>
          <a:prstGeom prst="roundRect">
            <a:avLst>
              <a:gd name="adj" fmla="val 6667"/>
            </a:avLst>
          </a:prstGeom>
          <a:solidFill>
            <a:srgbClr val="1D1F2B"/>
          </a:solidFill>
          <a:ln w="12700">
            <a:solidFill>
              <a:srgbClr val="1D1F2B"/>
            </a:solidFill>
            <a:prstDash val="solid"/>
          </a:ln>
        </p:spPr>
        <p:txBody>
          <a:bodyPr/>
          <a:p/>
        </p:txBody>
      </p:sp>
      <p:sp>
        <p:nvSpPr>
          <p:cNvPr id="5" name="Shape 3"/>
          <p:cNvSpPr/>
          <p:nvPr/>
        </p:nvSpPr>
        <p:spPr>
          <a:xfrm>
            <a:off x="822960" y="1993392"/>
            <a:ext cx="420624" cy="420624"/>
          </a:xfrm>
          <a:prstGeom prst="ellipse">
            <a:avLst/>
          </a:prstGeom>
          <a:solidFill>
            <a:srgbClr val="FFC24B"/>
          </a:solidFill>
          <a:ln/>
        </p:spPr>
        <p:txBody>
          <a:bodyPr/>
          <a:p/>
        </p:txBody>
      </p:sp>
      <p:sp>
        <p:nvSpPr>
          <p:cNvPr id="6" name="Text 4"/>
          <p:cNvSpPr/>
          <p:nvPr/>
        </p:nvSpPr>
        <p:spPr>
          <a:xfrm>
            <a:off x="822960" y="1993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17320" y="1600200"/>
            <a:ext cx="2560320" cy="123444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Cât de grav pare răul</a:t>
            </a:r>
            <a:endParaRPr lang="en-US" sz="1900" dirty="0"/>
          </a:p>
        </p:txBody>
      </p:sp>
      <p:sp>
        <p:nvSpPr>
          <p:cNvPr id="8" name="Shape 6"/>
          <p:cNvSpPr/>
          <p:nvPr/>
        </p:nvSpPr>
        <p:spPr>
          <a:xfrm>
            <a:off x="4343400" y="1600200"/>
            <a:ext cx="3520440" cy="1234440"/>
          </a:xfrm>
          <a:prstGeom prst="roundRect">
            <a:avLst>
              <a:gd name="adj" fmla="val 6667"/>
            </a:avLst>
          </a:prstGeom>
          <a:solidFill>
            <a:srgbClr val="1D1F2B"/>
          </a:solidFill>
          <a:ln w="12700">
            <a:solidFill>
              <a:srgbClr val="1D1F2B"/>
            </a:solidFill>
            <a:prstDash val="solid"/>
          </a:ln>
        </p:spPr>
        <p:txBody>
          <a:bodyPr/>
          <a:p/>
        </p:txBody>
      </p:sp>
      <p:sp>
        <p:nvSpPr>
          <p:cNvPr id="9" name="Shape 7"/>
          <p:cNvSpPr/>
          <p:nvPr/>
        </p:nvSpPr>
        <p:spPr>
          <a:xfrm>
            <a:off x="4572000" y="1993392"/>
            <a:ext cx="420624" cy="420624"/>
          </a:xfrm>
          <a:prstGeom prst="ellipse">
            <a:avLst/>
          </a:prstGeom>
          <a:solidFill>
            <a:srgbClr val="FFC24B"/>
          </a:solidFill>
          <a:ln/>
        </p:spPr>
        <p:txBody>
          <a:bodyPr/>
          <a:p/>
        </p:txBody>
      </p:sp>
      <p:sp>
        <p:nvSpPr>
          <p:cNvPr id="10" name="Text 8"/>
          <p:cNvSpPr/>
          <p:nvPr/>
        </p:nvSpPr>
        <p:spPr>
          <a:xfrm>
            <a:off x="4572000" y="1993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5166360" y="1600200"/>
            <a:ext cx="2560320" cy="123444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Cât de familiar este</a:t>
            </a:r>
            <a:endParaRPr lang="en-US" sz="1900" dirty="0"/>
          </a:p>
        </p:txBody>
      </p:sp>
      <p:sp>
        <p:nvSpPr>
          <p:cNvPr id="12" name="Shape 10"/>
          <p:cNvSpPr/>
          <p:nvPr/>
        </p:nvSpPr>
        <p:spPr>
          <a:xfrm>
            <a:off x="8092440" y="1600200"/>
            <a:ext cx="3520440" cy="1234440"/>
          </a:xfrm>
          <a:prstGeom prst="roundRect">
            <a:avLst>
              <a:gd name="adj" fmla="val 6667"/>
            </a:avLst>
          </a:prstGeom>
          <a:solidFill>
            <a:srgbClr val="1D1F2B"/>
          </a:solidFill>
          <a:ln w="12700">
            <a:solidFill>
              <a:srgbClr val="1D1F2B"/>
            </a:solidFill>
            <a:prstDash val="solid"/>
          </a:ln>
        </p:spPr>
        <p:txBody>
          <a:bodyPr/>
          <a:p/>
        </p:txBody>
      </p:sp>
      <p:sp>
        <p:nvSpPr>
          <p:cNvPr id="13" name="Shape 11"/>
          <p:cNvSpPr/>
          <p:nvPr/>
        </p:nvSpPr>
        <p:spPr>
          <a:xfrm>
            <a:off x="8321040" y="1993392"/>
            <a:ext cx="420624" cy="420624"/>
          </a:xfrm>
          <a:prstGeom prst="ellipse">
            <a:avLst/>
          </a:prstGeom>
          <a:solidFill>
            <a:srgbClr val="FFC24B"/>
          </a:solidFill>
          <a:ln/>
        </p:spPr>
        <p:txBody>
          <a:bodyPr/>
          <a:p/>
        </p:txBody>
      </p:sp>
      <p:sp>
        <p:nvSpPr>
          <p:cNvPr id="14" name="Text 12"/>
          <p:cNvSpPr/>
          <p:nvPr/>
        </p:nvSpPr>
        <p:spPr>
          <a:xfrm>
            <a:off x="8321040" y="1993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8915400" y="1600200"/>
            <a:ext cx="2560320" cy="123444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Cât control credem că avem</a:t>
            </a:r>
            <a:endParaRPr lang="en-US" sz="1900" dirty="0"/>
          </a:p>
        </p:txBody>
      </p:sp>
      <p:sp>
        <p:nvSpPr>
          <p:cNvPr id="16" name="Text 14"/>
          <p:cNvSpPr/>
          <p:nvPr/>
        </p:nvSpPr>
        <p:spPr>
          <a:xfrm>
            <a:off x="594360" y="3063240"/>
            <a:ext cx="10972800" cy="141732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Fără probabilități de încredere, judecăm pericolele după aceste scurtături. Rechinul e rar, spectaculos și pare de necontrolat; lacul de lângă casă pare sub control.</a:t>
            </a:r>
            <a:endParaRPr lang="en-US" sz="1800" dirty="0"/>
          </a:p>
        </p:txBody>
      </p:sp>
      <p:sp>
        <p:nvSpPr>
          <p:cNvPr id="17" name="Shape 15"/>
          <p:cNvSpPr/>
          <p:nvPr/>
        </p:nvSpPr>
        <p:spPr>
          <a:xfrm>
            <a:off x="594360" y="4617720"/>
            <a:ext cx="10972800" cy="1234440"/>
          </a:xfrm>
          <a:prstGeom prst="roundRect">
            <a:avLst>
              <a:gd name="adj" fmla="val 6667"/>
            </a:avLst>
          </a:prstGeom>
          <a:solidFill>
            <a:srgbClr val="272A38"/>
          </a:solidFill>
          <a:ln w="12700">
            <a:solidFill>
              <a:srgbClr val="272A38"/>
            </a:solidFill>
            <a:prstDash val="solid"/>
          </a:ln>
        </p:spPr>
        <p:txBody>
          <a:bodyPr/>
          <a:p/>
        </p:txBody>
      </p:sp>
      <p:sp>
        <p:nvSpPr>
          <p:cNvPr id="18" name="Text 16"/>
          <p:cNvSpPr/>
          <p:nvPr/>
        </p:nvSpPr>
        <p:spPr>
          <a:xfrm>
            <a:off x="868680" y="4617720"/>
            <a:ext cx="10424160" cy="123444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Un mesaj bun </a:t>
            </a:r>
            <a:pPr indent="0" marL="0">
              <a:buNone/>
            </a:pPr>
            <a:r>
              <a:rPr lang="en-US" sz="1800" dirty="0">
                <a:solidFill>
                  <a:srgbClr val="FFFFFF"/>
                </a:solidFill>
                <a:latin typeface="Palatino Linotype" pitchFamily="34" charset="0"/>
                <a:ea typeface="Palatino Linotype" pitchFamily="34" charset="-122"/>
                <a:cs typeface="Palatino Linotype" pitchFamily="34" charset="-120"/>
              </a:rPr>
              <a:t>pune cifra lângă numitorul ei (din câte persoane, în ce perioadă, față de ce alt risc) și spune ce poate face cititorul.</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VALORI IPOTETICE · TABLOU DE BORD JUDEȚEAN</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Acoperirea vaccinală în două orașe</a:t>
            </a:r>
            <a:endParaRPr lang="en-US" sz="3000" dirty="0"/>
          </a:p>
        </p:txBody>
      </p:sp>
      <p:sp>
        <p:nvSpPr>
          <p:cNvPr id="6" name="Shape 4"/>
          <p:cNvSpPr/>
          <p:nvPr/>
        </p:nvSpPr>
        <p:spPr>
          <a:xfrm>
            <a:off x="1234440" y="1965960"/>
            <a:ext cx="22860" cy="3291840"/>
          </a:xfrm>
          <a:prstGeom prst="rect">
            <a:avLst/>
          </a:prstGeom>
          <a:solidFill>
            <a:srgbClr val="11121A"/>
          </a:solidFill>
          <a:ln w="12700">
            <a:solidFill>
              <a:srgbClr val="11121A"/>
            </a:solidFill>
            <a:prstDash val="solid"/>
          </a:ln>
        </p:spPr>
        <p:txBody>
          <a:bodyPr/>
          <a:p/>
        </p:txBody>
      </p:sp>
      <p:sp>
        <p:nvSpPr>
          <p:cNvPr id="7" name="Shape 5"/>
          <p:cNvSpPr/>
          <p:nvPr/>
        </p:nvSpPr>
        <p:spPr>
          <a:xfrm>
            <a:off x="1234440" y="5257800"/>
            <a:ext cx="4206240" cy="22860"/>
          </a:xfrm>
          <a:prstGeom prst="rect">
            <a:avLst/>
          </a:prstGeom>
          <a:solidFill>
            <a:srgbClr val="11121A"/>
          </a:solidFill>
          <a:ln w="12700">
            <a:solidFill>
              <a:srgbClr val="11121A"/>
            </a:solidFill>
            <a:prstDash val="solid"/>
          </a:ln>
        </p:spPr>
        <p:txBody>
          <a:bodyPr/>
          <a:p/>
        </p:txBody>
      </p:sp>
      <p:sp>
        <p:nvSpPr>
          <p:cNvPr id="8" name="Text 6"/>
          <p:cNvSpPr/>
          <p:nvPr/>
        </p:nvSpPr>
        <p:spPr>
          <a:xfrm>
            <a:off x="457200" y="5093208"/>
            <a:ext cx="685800" cy="329184"/>
          </a:xfrm>
          <a:prstGeom prst="rect">
            <a:avLst/>
          </a:prstGeom>
          <a:noFill/>
          <a:ln/>
        </p:spPr>
        <p:txBody>
          <a:bodyPr wrap="square" lIns="0" tIns="0" rIns="0" bIns="0" rtlCol="0" anchor="ctr"/>
          <a:lstStyle/>
          <a:p>
            <a:pPr algn="r" indent="0" marL="0">
              <a:buNone/>
            </a:pPr>
            <a:r>
              <a:rPr lang="en-US" sz="1400" dirty="0">
                <a:solidFill>
                  <a:srgbClr val="11121A"/>
                </a:solidFill>
                <a:latin typeface="Palatino Linotype" pitchFamily="34" charset="0"/>
                <a:ea typeface="Palatino Linotype" pitchFamily="34" charset="-122"/>
                <a:cs typeface="Palatino Linotype" pitchFamily="34" charset="-120"/>
              </a:rPr>
              <a:t>97 %</a:t>
            </a:r>
            <a:endParaRPr lang="en-US" sz="1400" dirty="0"/>
          </a:p>
        </p:txBody>
      </p:sp>
      <p:sp>
        <p:nvSpPr>
          <p:cNvPr id="9" name="Text 7"/>
          <p:cNvSpPr/>
          <p:nvPr/>
        </p:nvSpPr>
        <p:spPr>
          <a:xfrm>
            <a:off x="457200" y="3493008"/>
            <a:ext cx="685800" cy="329184"/>
          </a:xfrm>
          <a:prstGeom prst="rect">
            <a:avLst/>
          </a:prstGeom>
          <a:noFill/>
          <a:ln/>
        </p:spPr>
        <p:txBody>
          <a:bodyPr wrap="square" lIns="0" tIns="0" rIns="0" bIns="0" rtlCol="0" anchor="ctr"/>
          <a:lstStyle/>
          <a:p>
            <a:pPr algn="r" indent="0" marL="0">
              <a:buNone/>
            </a:pPr>
            <a:r>
              <a:rPr lang="en-US" sz="1400" dirty="0">
                <a:solidFill>
                  <a:srgbClr val="11121A"/>
                </a:solidFill>
                <a:latin typeface="Palatino Linotype" pitchFamily="34" charset="0"/>
                <a:ea typeface="Palatino Linotype" pitchFamily="34" charset="-122"/>
                <a:cs typeface="Palatino Linotype" pitchFamily="34" charset="-120"/>
              </a:rPr>
              <a:t>98 %</a:t>
            </a:r>
            <a:endParaRPr lang="en-US" sz="1400" dirty="0"/>
          </a:p>
        </p:txBody>
      </p:sp>
      <p:sp>
        <p:nvSpPr>
          <p:cNvPr id="10" name="Shape 8"/>
          <p:cNvSpPr/>
          <p:nvPr/>
        </p:nvSpPr>
        <p:spPr>
          <a:xfrm>
            <a:off x="1234440" y="3657600"/>
            <a:ext cx="4206240" cy="0"/>
          </a:xfrm>
          <a:prstGeom prst="line">
            <a:avLst/>
          </a:prstGeom>
          <a:noFill/>
          <a:ln w="9525">
            <a:solidFill>
              <a:srgbClr val="C9C6BE"/>
            </a:solidFill>
            <a:prstDash val="dash"/>
          </a:ln>
        </p:spPr>
        <p:txBody>
          <a:bodyPr/>
          <a:p/>
        </p:txBody>
      </p:sp>
      <p:sp>
        <p:nvSpPr>
          <p:cNvPr id="11" name="Text 9"/>
          <p:cNvSpPr/>
          <p:nvPr/>
        </p:nvSpPr>
        <p:spPr>
          <a:xfrm>
            <a:off x="457200" y="1892808"/>
            <a:ext cx="685800" cy="329184"/>
          </a:xfrm>
          <a:prstGeom prst="rect">
            <a:avLst/>
          </a:prstGeom>
          <a:noFill/>
          <a:ln/>
        </p:spPr>
        <p:txBody>
          <a:bodyPr wrap="square" lIns="0" tIns="0" rIns="0" bIns="0" rtlCol="0" anchor="ctr"/>
          <a:lstStyle/>
          <a:p>
            <a:pPr algn="r" indent="0" marL="0">
              <a:buNone/>
            </a:pPr>
            <a:r>
              <a:rPr lang="en-US" sz="1400" dirty="0">
                <a:solidFill>
                  <a:srgbClr val="11121A"/>
                </a:solidFill>
                <a:latin typeface="Palatino Linotype" pitchFamily="34" charset="0"/>
                <a:ea typeface="Palatino Linotype" pitchFamily="34" charset="-122"/>
                <a:cs typeface="Palatino Linotype" pitchFamily="34" charset="-120"/>
              </a:rPr>
              <a:t>99 %</a:t>
            </a:r>
            <a:endParaRPr lang="en-US" sz="1400" dirty="0"/>
          </a:p>
        </p:txBody>
      </p:sp>
      <p:sp>
        <p:nvSpPr>
          <p:cNvPr id="12" name="Shape 10"/>
          <p:cNvSpPr/>
          <p:nvPr/>
        </p:nvSpPr>
        <p:spPr>
          <a:xfrm>
            <a:off x="1234440" y="2057400"/>
            <a:ext cx="4206240" cy="0"/>
          </a:xfrm>
          <a:prstGeom prst="line">
            <a:avLst/>
          </a:prstGeom>
          <a:noFill/>
          <a:ln w="9525">
            <a:solidFill>
              <a:srgbClr val="C9C6BE"/>
            </a:solidFill>
            <a:prstDash val="dash"/>
          </a:ln>
        </p:spPr>
        <p:txBody>
          <a:bodyPr/>
          <a:p/>
        </p:txBody>
      </p:sp>
      <p:sp>
        <p:nvSpPr>
          <p:cNvPr id="13" name="Shape 11"/>
          <p:cNvSpPr/>
          <p:nvPr/>
        </p:nvSpPr>
        <p:spPr>
          <a:xfrm>
            <a:off x="1645920" y="3657600"/>
            <a:ext cx="1371600" cy="1600200"/>
          </a:xfrm>
          <a:prstGeom prst="rect">
            <a:avLst/>
          </a:prstGeom>
          <a:solidFill>
            <a:srgbClr val="0E7C6B"/>
          </a:solidFill>
          <a:ln w="12700">
            <a:solidFill>
              <a:srgbClr val="0E7C6B"/>
            </a:solidFill>
            <a:prstDash val="solid"/>
          </a:ln>
        </p:spPr>
        <p:txBody>
          <a:bodyPr/>
          <a:p/>
        </p:txBody>
      </p:sp>
      <p:sp>
        <p:nvSpPr>
          <p:cNvPr id="14" name="Text 12"/>
          <p:cNvSpPr/>
          <p:nvPr/>
        </p:nvSpPr>
        <p:spPr>
          <a:xfrm>
            <a:off x="1417320" y="5330952"/>
            <a:ext cx="182880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Orașul A</a:t>
            </a:r>
            <a:endParaRPr lang="en-US" sz="1500" dirty="0"/>
          </a:p>
        </p:txBody>
      </p:sp>
      <p:sp>
        <p:nvSpPr>
          <p:cNvPr id="15" name="Shape 13"/>
          <p:cNvSpPr/>
          <p:nvPr/>
        </p:nvSpPr>
        <p:spPr>
          <a:xfrm>
            <a:off x="3474720" y="2057400"/>
            <a:ext cx="1371600" cy="3200400"/>
          </a:xfrm>
          <a:prstGeom prst="rect">
            <a:avLst/>
          </a:prstGeom>
          <a:solidFill>
            <a:srgbClr val="B02532"/>
          </a:solidFill>
          <a:ln w="12700">
            <a:solidFill>
              <a:srgbClr val="B02532"/>
            </a:solidFill>
            <a:prstDash val="solid"/>
          </a:ln>
        </p:spPr>
        <p:txBody>
          <a:bodyPr/>
          <a:p/>
        </p:txBody>
      </p:sp>
      <p:sp>
        <p:nvSpPr>
          <p:cNvPr id="16" name="Text 14"/>
          <p:cNvSpPr/>
          <p:nvPr/>
        </p:nvSpPr>
        <p:spPr>
          <a:xfrm>
            <a:off x="3246120" y="5330952"/>
            <a:ext cx="1828800" cy="329184"/>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Orașul B</a:t>
            </a:r>
            <a:endParaRPr lang="en-US" sz="1500" dirty="0"/>
          </a:p>
        </p:txBody>
      </p:sp>
      <p:sp>
        <p:nvSpPr>
          <p:cNvPr id="17" name="Text 15"/>
          <p:cNvSpPr/>
          <p:nvPr/>
        </p:nvSpPr>
        <p:spPr>
          <a:xfrm>
            <a:off x="594360" y="5760720"/>
            <a:ext cx="5486400" cy="365760"/>
          </a:xfrm>
          <a:prstGeom prst="rect">
            <a:avLst/>
          </a:prstGeom>
          <a:noFill/>
          <a:ln/>
        </p:spPr>
        <p:txBody>
          <a:bodyPr wrap="square" lIns="0" tIns="0" rIns="0" bIns="0" rtlCol="0" anchor="t"/>
          <a:lstStyle/>
          <a:p>
            <a:pPr indent="0" marL="0">
              <a:buNone/>
            </a:pPr>
            <a:r>
              <a:rPr lang="en-US" sz="1400" b="1" i="1" dirty="0">
                <a:solidFill>
                  <a:srgbClr val="B02532"/>
                </a:solidFill>
                <a:latin typeface="Palatino Linotype" pitchFamily="34" charset="0"/>
                <a:ea typeface="Palatino Linotype" pitchFamily="34" charset="-122"/>
                <a:cs typeface="Palatino Linotype" pitchFamily="34" charset="-120"/>
              </a:rPr>
              <a:t>Atenție: axa verticală începe de la 97 %, nu de la zero.</a:t>
            </a:r>
            <a:endParaRPr lang="en-US" sz="1400" dirty="0"/>
          </a:p>
        </p:txBody>
      </p:sp>
      <p:sp>
        <p:nvSpPr>
          <p:cNvPr id="18" name="Text 16"/>
          <p:cNvSpPr/>
          <p:nvPr/>
        </p:nvSpPr>
        <p:spPr>
          <a:xfrm>
            <a:off x="6309360" y="1463040"/>
            <a:ext cx="5257800" cy="868680"/>
          </a:xfrm>
          <a:prstGeom prst="rect">
            <a:avLst/>
          </a:prstGeom>
          <a:noFill/>
          <a:ln/>
        </p:spPr>
        <p:txBody>
          <a:bodyPr wrap="square" lIns="0" tIns="0" rIns="0" bIns="0" rtlCol="0" anchor="t"/>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În care oraș este acoperirea mai bună și cu cât?</a:t>
            </a:r>
            <a:endParaRPr lang="en-US" sz="2000" dirty="0"/>
          </a:p>
        </p:txBody>
      </p:sp>
      <p:sp>
        <p:nvSpPr>
          <p:cNvPr id="19" name="Shape 17"/>
          <p:cNvSpPr/>
          <p:nvPr/>
        </p:nvSpPr>
        <p:spPr>
          <a:xfrm>
            <a:off x="6309360" y="2423160"/>
            <a:ext cx="5257800" cy="676656"/>
          </a:xfrm>
          <a:prstGeom prst="roundRect">
            <a:avLst>
              <a:gd name="adj" fmla="val 12162"/>
            </a:avLst>
          </a:prstGeom>
          <a:solidFill>
            <a:srgbClr val="ECEAE4"/>
          </a:solidFill>
          <a:ln w="12700">
            <a:solidFill>
              <a:srgbClr val="ECEAE4"/>
            </a:solidFill>
            <a:prstDash val="solid"/>
          </a:ln>
        </p:spPr>
        <p:txBody>
          <a:bodyPr/>
          <a:p/>
        </p:txBody>
      </p:sp>
      <p:sp>
        <p:nvSpPr>
          <p:cNvPr id="20" name="Shape 18"/>
          <p:cNvSpPr/>
          <p:nvPr/>
        </p:nvSpPr>
        <p:spPr>
          <a:xfrm>
            <a:off x="6583680" y="2551176"/>
            <a:ext cx="420624" cy="420624"/>
          </a:xfrm>
          <a:prstGeom prst="ellipse">
            <a:avLst/>
          </a:prstGeom>
          <a:solidFill>
            <a:srgbClr val="B02532"/>
          </a:solidFill>
          <a:ln/>
        </p:spPr>
        <p:txBody>
          <a:bodyPr/>
          <a:p/>
        </p:txBody>
      </p:sp>
      <p:sp>
        <p:nvSpPr>
          <p:cNvPr id="21" name="Text 19"/>
          <p:cNvSpPr/>
          <p:nvPr/>
        </p:nvSpPr>
        <p:spPr>
          <a:xfrm>
            <a:off x="6583680" y="25511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a:t>
            </a:r>
            <a:endParaRPr lang="en-US" sz="1400" dirty="0"/>
          </a:p>
        </p:txBody>
      </p:sp>
      <p:sp>
        <p:nvSpPr>
          <p:cNvPr id="22" name="Text 20"/>
          <p:cNvSpPr/>
          <p:nvPr/>
        </p:nvSpPr>
        <p:spPr>
          <a:xfrm>
            <a:off x="7223760" y="2423160"/>
            <a:ext cx="406908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 orașul B, de două ori mai bună</a:t>
            </a:r>
            <a:endParaRPr lang="en-US" sz="1600" dirty="0"/>
          </a:p>
        </p:txBody>
      </p:sp>
      <p:sp>
        <p:nvSpPr>
          <p:cNvPr id="23" name="Shape 21"/>
          <p:cNvSpPr/>
          <p:nvPr/>
        </p:nvSpPr>
        <p:spPr>
          <a:xfrm>
            <a:off x="6309360" y="3227832"/>
            <a:ext cx="5257800" cy="676656"/>
          </a:xfrm>
          <a:prstGeom prst="roundRect">
            <a:avLst>
              <a:gd name="adj" fmla="val 12162"/>
            </a:avLst>
          </a:prstGeom>
          <a:solidFill>
            <a:srgbClr val="ECEAE4"/>
          </a:solidFill>
          <a:ln w="12700">
            <a:solidFill>
              <a:srgbClr val="ECEAE4"/>
            </a:solidFill>
            <a:prstDash val="solid"/>
          </a:ln>
        </p:spPr>
        <p:txBody>
          <a:bodyPr/>
          <a:p/>
        </p:txBody>
      </p:sp>
      <p:sp>
        <p:nvSpPr>
          <p:cNvPr id="24" name="Shape 22"/>
          <p:cNvSpPr/>
          <p:nvPr/>
        </p:nvSpPr>
        <p:spPr>
          <a:xfrm>
            <a:off x="6583680" y="3355848"/>
            <a:ext cx="420624" cy="420624"/>
          </a:xfrm>
          <a:prstGeom prst="ellipse">
            <a:avLst/>
          </a:prstGeom>
          <a:solidFill>
            <a:srgbClr val="B02532"/>
          </a:solidFill>
          <a:ln/>
        </p:spPr>
        <p:txBody>
          <a:bodyPr/>
          <a:p/>
        </p:txBody>
      </p:sp>
      <p:sp>
        <p:nvSpPr>
          <p:cNvPr id="25" name="Text 23"/>
          <p:cNvSpPr/>
          <p:nvPr/>
        </p:nvSpPr>
        <p:spPr>
          <a:xfrm>
            <a:off x="6583680" y="33558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B</a:t>
            </a:r>
            <a:endParaRPr lang="en-US" sz="1400" dirty="0"/>
          </a:p>
        </p:txBody>
      </p:sp>
      <p:sp>
        <p:nvSpPr>
          <p:cNvPr id="26" name="Text 24"/>
          <p:cNvSpPr/>
          <p:nvPr/>
        </p:nvSpPr>
        <p:spPr>
          <a:xfrm>
            <a:off x="7223760" y="3227832"/>
            <a:ext cx="406908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 orașul B, cu un punct procentual</a:t>
            </a:r>
            <a:endParaRPr lang="en-US" sz="1600" dirty="0"/>
          </a:p>
        </p:txBody>
      </p:sp>
      <p:sp>
        <p:nvSpPr>
          <p:cNvPr id="27" name="Shape 25"/>
          <p:cNvSpPr/>
          <p:nvPr/>
        </p:nvSpPr>
        <p:spPr>
          <a:xfrm>
            <a:off x="6309360" y="4032504"/>
            <a:ext cx="5257800" cy="676656"/>
          </a:xfrm>
          <a:prstGeom prst="roundRect">
            <a:avLst>
              <a:gd name="adj" fmla="val 12162"/>
            </a:avLst>
          </a:prstGeom>
          <a:solidFill>
            <a:srgbClr val="ECEAE4"/>
          </a:solidFill>
          <a:ln w="12700">
            <a:solidFill>
              <a:srgbClr val="ECEAE4"/>
            </a:solidFill>
            <a:prstDash val="solid"/>
          </a:ln>
        </p:spPr>
        <p:txBody>
          <a:bodyPr/>
          <a:p/>
        </p:txBody>
      </p:sp>
      <p:sp>
        <p:nvSpPr>
          <p:cNvPr id="28" name="Shape 26"/>
          <p:cNvSpPr/>
          <p:nvPr/>
        </p:nvSpPr>
        <p:spPr>
          <a:xfrm>
            <a:off x="6583680" y="4160520"/>
            <a:ext cx="420624" cy="420624"/>
          </a:xfrm>
          <a:prstGeom prst="ellipse">
            <a:avLst/>
          </a:prstGeom>
          <a:solidFill>
            <a:srgbClr val="B02532"/>
          </a:solidFill>
          <a:ln/>
        </p:spPr>
        <p:txBody>
          <a:bodyPr/>
          <a:p/>
        </p:txBody>
      </p:sp>
      <p:sp>
        <p:nvSpPr>
          <p:cNvPr id="29" name="Text 27"/>
          <p:cNvSpPr/>
          <p:nvPr/>
        </p:nvSpPr>
        <p:spPr>
          <a:xfrm>
            <a:off x="6583680" y="4160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C</a:t>
            </a:r>
            <a:endParaRPr lang="en-US" sz="1400" dirty="0"/>
          </a:p>
        </p:txBody>
      </p:sp>
      <p:sp>
        <p:nvSpPr>
          <p:cNvPr id="30" name="Text 28"/>
          <p:cNvSpPr/>
          <p:nvPr/>
        </p:nvSpPr>
        <p:spPr>
          <a:xfrm>
            <a:off x="7223760" y="4032504"/>
            <a:ext cx="406908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 orașul A, cu un punct procentual</a:t>
            </a:r>
            <a:endParaRPr lang="en-US" sz="1600" dirty="0"/>
          </a:p>
        </p:txBody>
      </p:sp>
      <p:sp>
        <p:nvSpPr>
          <p:cNvPr id="31" name="Text 29"/>
          <p:cNvSpPr/>
          <p:nvPr/>
        </p:nvSpPr>
        <p:spPr>
          <a:xfrm>
            <a:off x="6309360" y="4937760"/>
            <a:ext cx="5257800" cy="41148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Apoi, un minut cu colegul: ce scrie pe axă?</a:t>
            </a:r>
            <a:endParaRPr lang="en-US" sz="1600" dirty="0"/>
          </a:p>
        </p:txBody>
      </p:sp>
      <p:sp>
        <p:nvSpPr>
          <p:cNvPr id="32" name="Text 30"/>
          <p:cNvSpPr/>
          <p:nvPr/>
        </p:nvSpPr>
        <p:spPr>
          <a:xfrm>
            <a:off x="6309360" y="5440680"/>
            <a:ext cx="5257800" cy="365760"/>
          </a:xfrm>
          <a:prstGeom prst="rect">
            <a:avLst/>
          </a:prstGeom>
          <a:noFill/>
          <a:ln/>
        </p:spPr>
        <p:txBody>
          <a:bodyPr wrap="square" lIns="0" tIns="0" rIns="0" bIns="0" rtlCol="0" anchor="t"/>
          <a:lstStyle/>
          <a:p>
            <a:pPr indent="0" marL="0">
              <a:buNone/>
            </a:pPr>
            <a:r>
              <a:rPr lang="en-US" sz="1600" b="1" i="1" dirty="0">
                <a:solidFill>
                  <a:srgbClr val="0E7C6B"/>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CU UN PUNCT PROCENTUAL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Aceleași cifre, două axe</a:t>
            </a:r>
            <a:endParaRPr lang="en-US" sz="3000" dirty="0"/>
          </a:p>
        </p:txBody>
      </p:sp>
      <p:sp>
        <p:nvSpPr>
          <p:cNvPr id="4" name="Shape 2"/>
          <p:cNvSpPr/>
          <p:nvPr/>
        </p:nvSpPr>
        <p:spPr>
          <a:xfrm>
            <a:off x="1280160" y="1874520"/>
            <a:ext cx="18288" cy="2286000"/>
          </a:xfrm>
          <a:prstGeom prst="rect">
            <a:avLst/>
          </a:prstGeom>
          <a:solidFill>
            <a:srgbClr val="11121A"/>
          </a:solidFill>
          <a:ln w="12700">
            <a:solidFill>
              <a:srgbClr val="11121A"/>
            </a:solidFill>
            <a:prstDash val="solid"/>
          </a:ln>
        </p:spPr>
        <p:txBody>
          <a:bodyPr/>
          <a:p/>
        </p:txBody>
      </p:sp>
      <p:sp>
        <p:nvSpPr>
          <p:cNvPr id="5" name="Shape 3"/>
          <p:cNvSpPr/>
          <p:nvPr/>
        </p:nvSpPr>
        <p:spPr>
          <a:xfrm>
            <a:off x="1280160" y="4160520"/>
            <a:ext cx="2468880" cy="18288"/>
          </a:xfrm>
          <a:prstGeom prst="rect">
            <a:avLst/>
          </a:prstGeom>
          <a:solidFill>
            <a:srgbClr val="11121A"/>
          </a:solidFill>
          <a:ln w="12700">
            <a:solidFill>
              <a:srgbClr val="11121A"/>
            </a:solidFill>
            <a:prstDash val="solid"/>
          </a:ln>
        </p:spPr>
        <p:txBody>
          <a:bodyPr/>
          <a:p/>
        </p:txBody>
      </p:sp>
      <p:sp>
        <p:nvSpPr>
          <p:cNvPr id="6" name="Text 4"/>
          <p:cNvSpPr/>
          <p:nvPr/>
        </p:nvSpPr>
        <p:spPr>
          <a:xfrm>
            <a:off x="594360" y="4005072"/>
            <a:ext cx="621792" cy="310896"/>
          </a:xfrm>
          <a:prstGeom prst="rect">
            <a:avLst/>
          </a:prstGeom>
          <a:noFill/>
          <a:ln/>
        </p:spPr>
        <p:txBody>
          <a:bodyPr wrap="square" lIns="0" tIns="0" rIns="0" bIns="0" rtlCol="0" anchor="ctr"/>
          <a:lstStyle/>
          <a:p>
            <a:pPr algn="r" indent="0" marL="0">
              <a:buNone/>
            </a:pPr>
            <a:r>
              <a:rPr lang="en-US" sz="1200" dirty="0">
                <a:solidFill>
                  <a:srgbClr val="11121A"/>
                </a:solidFill>
                <a:latin typeface="Palatino Linotype" pitchFamily="34" charset="0"/>
                <a:ea typeface="Palatino Linotype" pitchFamily="34" charset="-122"/>
                <a:cs typeface="Palatino Linotype" pitchFamily="34" charset="-120"/>
              </a:rPr>
              <a:t>97 %</a:t>
            </a:r>
            <a:endParaRPr lang="en-US" sz="1200" dirty="0"/>
          </a:p>
        </p:txBody>
      </p:sp>
      <p:sp>
        <p:nvSpPr>
          <p:cNvPr id="7" name="Shape 5"/>
          <p:cNvSpPr/>
          <p:nvPr/>
        </p:nvSpPr>
        <p:spPr>
          <a:xfrm>
            <a:off x="1600200" y="3063240"/>
            <a:ext cx="822960" cy="1097280"/>
          </a:xfrm>
          <a:prstGeom prst="rect">
            <a:avLst/>
          </a:prstGeom>
          <a:solidFill>
            <a:srgbClr val="0E7C6B"/>
          </a:solidFill>
          <a:ln w="12700">
            <a:solidFill>
              <a:srgbClr val="0E7C6B"/>
            </a:solidFill>
            <a:prstDash val="solid"/>
          </a:ln>
        </p:spPr>
        <p:txBody>
          <a:bodyPr/>
          <a:p/>
        </p:txBody>
      </p:sp>
      <p:sp>
        <p:nvSpPr>
          <p:cNvPr id="8" name="Text 6"/>
          <p:cNvSpPr/>
          <p:nvPr/>
        </p:nvSpPr>
        <p:spPr>
          <a:xfrm>
            <a:off x="1417320" y="2715768"/>
            <a:ext cx="1188720" cy="310896"/>
          </a:xfrm>
          <a:prstGeom prst="rect">
            <a:avLst/>
          </a:prstGeom>
          <a:noFill/>
          <a:ln/>
        </p:spPr>
        <p:txBody>
          <a:bodyPr wrap="square" lIns="0" tIns="0" rIns="0" bIns="0" rtlCol="0" anchor="t"/>
          <a:lstStyle/>
          <a:p>
            <a:pPr algn="ctr" indent="0" marL="0">
              <a:buNone/>
            </a:pPr>
            <a:r>
              <a:rPr lang="en-US" sz="1300" b="1" dirty="0">
                <a:solidFill>
                  <a:srgbClr val="0E7C6B"/>
                </a:solidFill>
                <a:latin typeface="Palatino Linotype" pitchFamily="34" charset="0"/>
                <a:ea typeface="Palatino Linotype" pitchFamily="34" charset="-122"/>
                <a:cs typeface="Palatino Linotype" pitchFamily="34" charset="-120"/>
              </a:rPr>
              <a:t>98 %</a:t>
            </a:r>
            <a:endParaRPr lang="en-US" sz="1300" dirty="0"/>
          </a:p>
        </p:txBody>
      </p:sp>
      <p:sp>
        <p:nvSpPr>
          <p:cNvPr id="9" name="Text 7"/>
          <p:cNvSpPr/>
          <p:nvPr/>
        </p:nvSpPr>
        <p:spPr>
          <a:xfrm>
            <a:off x="1600200" y="4206240"/>
            <a:ext cx="822960" cy="274320"/>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a:t>
            </a:r>
            <a:endParaRPr lang="en-US" sz="1300" dirty="0"/>
          </a:p>
        </p:txBody>
      </p:sp>
      <p:sp>
        <p:nvSpPr>
          <p:cNvPr id="10" name="Shape 8"/>
          <p:cNvSpPr/>
          <p:nvPr/>
        </p:nvSpPr>
        <p:spPr>
          <a:xfrm>
            <a:off x="2651760" y="1965960"/>
            <a:ext cx="822960" cy="2194560"/>
          </a:xfrm>
          <a:prstGeom prst="rect">
            <a:avLst/>
          </a:prstGeom>
          <a:solidFill>
            <a:srgbClr val="B02532"/>
          </a:solidFill>
          <a:ln w="12700">
            <a:solidFill>
              <a:srgbClr val="B02532"/>
            </a:solidFill>
            <a:prstDash val="solid"/>
          </a:ln>
        </p:spPr>
        <p:txBody>
          <a:bodyPr/>
          <a:p/>
        </p:txBody>
      </p:sp>
      <p:sp>
        <p:nvSpPr>
          <p:cNvPr id="11" name="Text 9"/>
          <p:cNvSpPr/>
          <p:nvPr/>
        </p:nvSpPr>
        <p:spPr>
          <a:xfrm>
            <a:off x="2468880" y="1618488"/>
            <a:ext cx="1188720" cy="310896"/>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99 %</a:t>
            </a:r>
            <a:endParaRPr lang="en-US" sz="1300" dirty="0"/>
          </a:p>
        </p:txBody>
      </p:sp>
      <p:sp>
        <p:nvSpPr>
          <p:cNvPr id="12" name="Text 10"/>
          <p:cNvSpPr/>
          <p:nvPr/>
        </p:nvSpPr>
        <p:spPr>
          <a:xfrm>
            <a:off x="2651760" y="4206240"/>
            <a:ext cx="822960" cy="274320"/>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B</a:t>
            </a:r>
            <a:endParaRPr lang="en-US" sz="1300" dirty="0"/>
          </a:p>
        </p:txBody>
      </p:sp>
      <p:sp>
        <p:nvSpPr>
          <p:cNvPr id="13" name="Text 11"/>
          <p:cNvSpPr/>
          <p:nvPr/>
        </p:nvSpPr>
        <p:spPr>
          <a:xfrm>
            <a:off x="731520" y="4526280"/>
            <a:ext cx="3200400" cy="365760"/>
          </a:xfrm>
          <a:prstGeom prst="rect">
            <a:avLst/>
          </a:prstGeom>
          <a:noFill/>
          <a:ln/>
        </p:spPr>
        <p:txBody>
          <a:bodyPr wrap="square" lIns="0" tIns="0" rIns="0" bIns="0" rtlCol="0" anchor="t"/>
          <a:lstStyle/>
          <a:p>
            <a:pPr algn="ctr" indent="0" marL="0">
              <a:buNone/>
            </a:pPr>
            <a:r>
              <a:rPr lang="en-US" sz="1400" i="1" dirty="0">
                <a:solidFill>
                  <a:srgbClr val="585A64"/>
                </a:solidFill>
                <a:latin typeface="Palatino Linotype" pitchFamily="34" charset="0"/>
                <a:ea typeface="Palatino Linotype" pitchFamily="34" charset="-122"/>
                <a:cs typeface="Palatino Linotype" pitchFamily="34" charset="-120"/>
              </a:rPr>
              <a:t>axa de la 97: B pare dublu</a:t>
            </a:r>
            <a:endParaRPr lang="en-US" sz="1400" dirty="0"/>
          </a:p>
        </p:txBody>
      </p:sp>
      <p:sp>
        <p:nvSpPr>
          <p:cNvPr id="14" name="Shape 12"/>
          <p:cNvSpPr/>
          <p:nvPr/>
        </p:nvSpPr>
        <p:spPr>
          <a:xfrm>
            <a:off x="4572000" y="1874520"/>
            <a:ext cx="18288" cy="2286000"/>
          </a:xfrm>
          <a:prstGeom prst="rect">
            <a:avLst/>
          </a:prstGeom>
          <a:solidFill>
            <a:srgbClr val="11121A"/>
          </a:solidFill>
          <a:ln w="12700">
            <a:solidFill>
              <a:srgbClr val="11121A"/>
            </a:solidFill>
            <a:prstDash val="solid"/>
          </a:ln>
        </p:spPr>
        <p:txBody>
          <a:bodyPr/>
          <a:p/>
        </p:txBody>
      </p:sp>
      <p:sp>
        <p:nvSpPr>
          <p:cNvPr id="15" name="Shape 13"/>
          <p:cNvSpPr/>
          <p:nvPr/>
        </p:nvSpPr>
        <p:spPr>
          <a:xfrm>
            <a:off x="4572000" y="4160520"/>
            <a:ext cx="2468880" cy="18288"/>
          </a:xfrm>
          <a:prstGeom prst="rect">
            <a:avLst/>
          </a:prstGeom>
          <a:solidFill>
            <a:srgbClr val="11121A"/>
          </a:solidFill>
          <a:ln w="12700">
            <a:solidFill>
              <a:srgbClr val="11121A"/>
            </a:solidFill>
            <a:prstDash val="solid"/>
          </a:ln>
        </p:spPr>
        <p:txBody>
          <a:bodyPr/>
          <a:p/>
        </p:txBody>
      </p:sp>
      <p:sp>
        <p:nvSpPr>
          <p:cNvPr id="16" name="Text 14"/>
          <p:cNvSpPr/>
          <p:nvPr/>
        </p:nvSpPr>
        <p:spPr>
          <a:xfrm>
            <a:off x="3886200" y="4005072"/>
            <a:ext cx="621792" cy="310896"/>
          </a:xfrm>
          <a:prstGeom prst="rect">
            <a:avLst/>
          </a:prstGeom>
          <a:noFill/>
          <a:ln/>
        </p:spPr>
        <p:txBody>
          <a:bodyPr wrap="square" lIns="0" tIns="0" rIns="0" bIns="0" rtlCol="0" anchor="ctr"/>
          <a:lstStyle/>
          <a:p>
            <a:pPr algn="r" indent="0" marL="0">
              <a:buNone/>
            </a:pPr>
            <a:r>
              <a:rPr lang="en-US" sz="1200" dirty="0">
                <a:solidFill>
                  <a:srgbClr val="11121A"/>
                </a:solidFill>
                <a:latin typeface="Palatino Linotype" pitchFamily="34" charset="0"/>
                <a:ea typeface="Palatino Linotype" pitchFamily="34" charset="-122"/>
                <a:cs typeface="Palatino Linotype" pitchFamily="34" charset="-120"/>
              </a:rPr>
              <a:t>zero</a:t>
            </a:r>
            <a:endParaRPr lang="en-US" sz="1200" dirty="0"/>
          </a:p>
        </p:txBody>
      </p:sp>
      <p:sp>
        <p:nvSpPr>
          <p:cNvPr id="17" name="Shape 15"/>
          <p:cNvSpPr/>
          <p:nvPr/>
        </p:nvSpPr>
        <p:spPr>
          <a:xfrm>
            <a:off x="4892040" y="1988127"/>
            <a:ext cx="822960" cy="2172393"/>
          </a:xfrm>
          <a:prstGeom prst="rect">
            <a:avLst/>
          </a:prstGeom>
          <a:solidFill>
            <a:srgbClr val="0E7C6B"/>
          </a:solidFill>
          <a:ln w="12700">
            <a:solidFill>
              <a:srgbClr val="0E7C6B"/>
            </a:solidFill>
            <a:prstDash val="solid"/>
          </a:ln>
        </p:spPr>
        <p:txBody>
          <a:bodyPr/>
          <a:p/>
        </p:txBody>
      </p:sp>
      <p:sp>
        <p:nvSpPr>
          <p:cNvPr id="18" name="Text 16"/>
          <p:cNvSpPr/>
          <p:nvPr/>
        </p:nvSpPr>
        <p:spPr>
          <a:xfrm>
            <a:off x="4709160" y="1640655"/>
            <a:ext cx="1188720" cy="310896"/>
          </a:xfrm>
          <a:prstGeom prst="rect">
            <a:avLst/>
          </a:prstGeom>
          <a:noFill/>
          <a:ln/>
        </p:spPr>
        <p:txBody>
          <a:bodyPr wrap="square" lIns="0" tIns="0" rIns="0" bIns="0" rtlCol="0" anchor="t"/>
          <a:lstStyle/>
          <a:p>
            <a:pPr algn="ctr" indent="0" marL="0">
              <a:buNone/>
            </a:pPr>
            <a:r>
              <a:rPr lang="en-US" sz="1300" b="1" dirty="0">
                <a:solidFill>
                  <a:srgbClr val="0E7C6B"/>
                </a:solidFill>
                <a:latin typeface="Palatino Linotype" pitchFamily="34" charset="0"/>
                <a:ea typeface="Palatino Linotype" pitchFamily="34" charset="-122"/>
                <a:cs typeface="Palatino Linotype" pitchFamily="34" charset="-120"/>
              </a:rPr>
              <a:t>98 %</a:t>
            </a:r>
            <a:endParaRPr lang="en-US" sz="1300" dirty="0"/>
          </a:p>
        </p:txBody>
      </p:sp>
      <p:sp>
        <p:nvSpPr>
          <p:cNvPr id="19" name="Text 17"/>
          <p:cNvSpPr/>
          <p:nvPr/>
        </p:nvSpPr>
        <p:spPr>
          <a:xfrm>
            <a:off x="4892040" y="4206240"/>
            <a:ext cx="822960" cy="274320"/>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a:t>
            </a:r>
            <a:endParaRPr lang="en-US" sz="1300" dirty="0"/>
          </a:p>
        </p:txBody>
      </p:sp>
      <p:sp>
        <p:nvSpPr>
          <p:cNvPr id="20" name="Shape 18"/>
          <p:cNvSpPr/>
          <p:nvPr/>
        </p:nvSpPr>
        <p:spPr>
          <a:xfrm>
            <a:off x="5943600" y="1965960"/>
            <a:ext cx="822960" cy="2194560"/>
          </a:xfrm>
          <a:prstGeom prst="rect">
            <a:avLst/>
          </a:prstGeom>
          <a:solidFill>
            <a:srgbClr val="B02532"/>
          </a:solidFill>
          <a:ln w="12700">
            <a:solidFill>
              <a:srgbClr val="B02532"/>
            </a:solidFill>
            <a:prstDash val="solid"/>
          </a:ln>
        </p:spPr>
        <p:txBody>
          <a:bodyPr/>
          <a:p/>
        </p:txBody>
      </p:sp>
      <p:sp>
        <p:nvSpPr>
          <p:cNvPr id="21" name="Text 19"/>
          <p:cNvSpPr/>
          <p:nvPr/>
        </p:nvSpPr>
        <p:spPr>
          <a:xfrm>
            <a:off x="5760720" y="1618488"/>
            <a:ext cx="1188720" cy="310896"/>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99 %</a:t>
            </a:r>
            <a:endParaRPr lang="en-US" sz="1300" dirty="0"/>
          </a:p>
        </p:txBody>
      </p:sp>
      <p:sp>
        <p:nvSpPr>
          <p:cNvPr id="22" name="Text 20"/>
          <p:cNvSpPr/>
          <p:nvPr/>
        </p:nvSpPr>
        <p:spPr>
          <a:xfrm>
            <a:off x="5943600" y="4206240"/>
            <a:ext cx="822960" cy="274320"/>
          </a:xfrm>
          <a:prstGeom prst="rect">
            <a:avLst/>
          </a:prstGeom>
          <a:noFill/>
          <a:ln/>
        </p:spPr>
        <p:txBody>
          <a:bodyPr wrap="square" lIns="0" tIns="0" rIns="0" bIns="0" rtlCol="0" anchor="t"/>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B</a:t>
            </a:r>
            <a:endParaRPr lang="en-US" sz="1300" dirty="0"/>
          </a:p>
        </p:txBody>
      </p:sp>
      <p:sp>
        <p:nvSpPr>
          <p:cNvPr id="23" name="Text 21"/>
          <p:cNvSpPr/>
          <p:nvPr/>
        </p:nvSpPr>
        <p:spPr>
          <a:xfrm>
            <a:off x="4023360" y="4526280"/>
            <a:ext cx="3200400" cy="365760"/>
          </a:xfrm>
          <a:prstGeom prst="rect">
            <a:avLst/>
          </a:prstGeom>
          <a:noFill/>
          <a:ln/>
        </p:spPr>
        <p:txBody>
          <a:bodyPr wrap="square" lIns="0" tIns="0" rIns="0" bIns="0" rtlCol="0" anchor="t"/>
          <a:lstStyle/>
          <a:p>
            <a:pPr algn="ctr" indent="0" marL="0">
              <a:buNone/>
            </a:pPr>
            <a:r>
              <a:rPr lang="en-US" sz="1400" i="1" dirty="0">
                <a:solidFill>
                  <a:srgbClr val="585A64"/>
                </a:solidFill>
                <a:latin typeface="Palatino Linotype" pitchFamily="34" charset="0"/>
                <a:ea typeface="Palatino Linotype" pitchFamily="34" charset="-122"/>
                <a:cs typeface="Palatino Linotype" pitchFamily="34" charset="-120"/>
              </a:rPr>
              <a:t>axa de la zero: aproape la fel</a:t>
            </a:r>
            <a:endParaRPr lang="en-US" sz="1400" dirty="0"/>
          </a:p>
        </p:txBody>
      </p:sp>
      <p:sp>
        <p:nvSpPr>
          <p:cNvPr id="24" name="Shape 22"/>
          <p:cNvSpPr/>
          <p:nvPr/>
        </p:nvSpPr>
        <p:spPr>
          <a:xfrm>
            <a:off x="7772400" y="1554480"/>
            <a:ext cx="3794760" cy="4206240"/>
          </a:xfrm>
          <a:prstGeom prst="roundRect">
            <a:avLst>
              <a:gd name="adj" fmla="val 2169"/>
            </a:avLst>
          </a:prstGeom>
          <a:solidFill>
            <a:srgbClr val="ECEAE4"/>
          </a:solidFill>
          <a:ln w="12700">
            <a:solidFill>
              <a:srgbClr val="ECEAE4"/>
            </a:solidFill>
            <a:prstDash val="solid"/>
          </a:ln>
        </p:spPr>
        <p:txBody>
          <a:bodyPr/>
          <a:p/>
        </p:txBody>
      </p:sp>
      <p:sp>
        <p:nvSpPr>
          <p:cNvPr id="25" name="Text 23"/>
          <p:cNvSpPr/>
          <p:nvPr/>
        </p:nvSpPr>
        <p:spPr>
          <a:xfrm>
            <a:off x="8001000" y="1691640"/>
            <a:ext cx="3383280" cy="41148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Regulile unui grafic cinstit</a:t>
            </a:r>
            <a:endParaRPr lang="en-US" sz="1700" dirty="0"/>
          </a:p>
        </p:txBody>
      </p:sp>
      <p:sp>
        <p:nvSpPr>
          <p:cNvPr id="26" name="Text 24"/>
          <p:cNvSpPr/>
          <p:nvPr/>
        </p:nvSpPr>
        <p:spPr>
          <a:xfrm>
            <a:off x="8001000" y="2194560"/>
            <a:ext cx="3383280" cy="3474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1121A"/>
                </a:solidFill>
                <a:latin typeface="Palatino Linotype" pitchFamily="34" charset="0"/>
                <a:ea typeface="Palatino Linotype" pitchFamily="34" charset="-122"/>
                <a:cs typeface="Palatino Linotype" pitchFamily="34" charset="-120"/>
              </a:rPr>
              <a:t>axa pornește de la zero sau se spune clar că nu;</a:t>
            </a:r>
            <a:endParaRPr lang="en-US" sz="1500" dirty="0"/>
          </a:p>
          <a:p>
            <a:pPr marL="342900" indent="-342900">
              <a:spcAft>
                <a:spcPts val="600"/>
              </a:spcAft>
              <a:buSzPct val="100000"/>
              <a:buChar char="•"/>
            </a:pPr>
            <a:r>
              <a:rPr lang="en-US" sz="1500" dirty="0">
                <a:solidFill>
                  <a:srgbClr val="11121A"/>
                </a:solidFill>
                <a:latin typeface="Palatino Linotype" pitchFamily="34" charset="0"/>
                <a:ea typeface="Palatino Linotype" pitchFamily="34" charset="-122"/>
                <a:cs typeface="Palatino Linotype" pitchFamily="34" charset="-120"/>
              </a:rPr>
              <a:t>aceeași scară, aceeași bază (la 100 000 de locuitori);</a:t>
            </a:r>
            <a:endParaRPr lang="en-US" sz="1500" dirty="0"/>
          </a:p>
          <a:p>
            <a:pPr marL="342900" indent="-342900">
              <a:spcAft>
                <a:spcPts val="600"/>
              </a:spcAft>
              <a:buSzPct val="100000"/>
              <a:buChar char="•"/>
            </a:pPr>
            <a:r>
              <a:rPr lang="en-US" sz="1500" dirty="0">
                <a:solidFill>
                  <a:srgbClr val="11121A"/>
                </a:solidFill>
                <a:latin typeface="Palatino Linotype" pitchFamily="34" charset="0"/>
                <a:ea typeface="Palatino Linotype" pitchFamily="34" charset="-122"/>
                <a:cs typeface="Palatino Linotype" pitchFamily="34" charset="-120"/>
              </a:rPr>
              <a:t>sub grafic: sursa, perioada, populația.</a:t>
            </a:r>
            <a:endParaRPr lang="en-US" sz="1500" dirty="0"/>
          </a:p>
        </p:txBody>
      </p:sp>
      <p:sp>
        <p:nvSpPr>
          <p:cNvPr id="27" name="Text 25"/>
          <p:cNvSpPr/>
          <p:nvPr/>
        </p:nvSpPr>
        <p:spPr>
          <a:xfrm>
            <a:off x="594360" y="5074920"/>
            <a:ext cx="6949440" cy="82296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Fără aceste trei lucruri, graficul e o opinie desenată.</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NU PUTEM AFIRMA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nu am putut confirma în surse</a:t>
            </a:r>
            <a:endParaRPr lang="en-US" sz="3200" dirty="0"/>
          </a:p>
        </p:txBody>
      </p:sp>
      <p:sp>
        <p:nvSpPr>
          <p:cNvPr id="4" name="Shape 2"/>
          <p:cNvSpPr/>
          <p:nvPr/>
        </p:nvSpPr>
        <p:spPr>
          <a:xfrm>
            <a:off x="594360" y="1600200"/>
            <a:ext cx="10972800" cy="868680"/>
          </a:xfrm>
          <a:prstGeom prst="roundRect">
            <a:avLst>
              <a:gd name="adj" fmla="val 9474"/>
            </a:avLst>
          </a:prstGeom>
          <a:solidFill>
            <a:srgbClr val="ECEAE4"/>
          </a:solidFill>
          <a:ln w="12700">
            <a:solidFill>
              <a:srgbClr val="ECEAE4"/>
            </a:solidFill>
            <a:prstDash val="solid"/>
          </a:ln>
        </p:spPr>
        <p:txBody>
          <a:bodyPr/>
          <a:p/>
        </p:txBody>
      </p:sp>
      <p:sp>
        <p:nvSpPr>
          <p:cNvPr id="5" name="Shape 3"/>
          <p:cNvSpPr/>
          <p:nvPr/>
        </p:nvSpPr>
        <p:spPr>
          <a:xfrm>
            <a:off x="594360" y="1600200"/>
            <a:ext cx="82296" cy="868680"/>
          </a:xfrm>
          <a:prstGeom prst="rect">
            <a:avLst/>
          </a:prstGeom>
          <a:solidFill>
            <a:srgbClr val="B02532"/>
          </a:solidFill>
          <a:ln w="12700">
            <a:solidFill>
              <a:srgbClr val="B02532"/>
            </a:solidFill>
            <a:prstDash val="solid"/>
          </a:ln>
        </p:spPr>
        <p:txBody>
          <a:bodyPr/>
          <a:p/>
        </p:txBody>
      </p:sp>
      <p:sp>
        <p:nvSpPr>
          <p:cNvPr id="6" name="Text 4"/>
          <p:cNvSpPr/>
          <p:nvPr/>
        </p:nvSpPr>
        <p:spPr>
          <a:xfrm>
            <a:off x="868680" y="1600200"/>
            <a:ext cx="10515600" cy="8686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Dacă România oferă deja serviciile MyHealth@EU.</a:t>
            </a:r>
            <a:endParaRPr lang="en-US" sz="1700" dirty="0"/>
          </a:p>
        </p:txBody>
      </p:sp>
      <p:sp>
        <p:nvSpPr>
          <p:cNvPr id="7" name="Shape 5"/>
          <p:cNvSpPr/>
          <p:nvPr/>
        </p:nvSpPr>
        <p:spPr>
          <a:xfrm>
            <a:off x="594360" y="2624328"/>
            <a:ext cx="10972800" cy="868680"/>
          </a:xfrm>
          <a:prstGeom prst="roundRect">
            <a:avLst>
              <a:gd name="adj" fmla="val 9474"/>
            </a:avLst>
          </a:prstGeom>
          <a:solidFill>
            <a:srgbClr val="F9F8F5"/>
          </a:solidFill>
          <a:ln w="12700">
            <a:solidFill>
              <a:srgbClr val="F9F8F5"/>
            </a:solidFill>
            <a:prstDash val="solid"/>
          </a:ln>
        </p:spPr>
        <p:txBody>
          <a:bodyPr/>
          <a:p/>
        </p:txBody>
      </p:sp>
      <p:sp>
        <p:nvSpPr>
          <p:cNvPr id="8" name="Shape 6"/>
          <p:cNvSpPr/>
          <p:nvPr/>
        </p:nvSpPr>
        <p:spPr>
          <a:xfrm>
            <a:off x="594360" y="2624328"/>
            <a:ext cx="82296" cy="868680"/>
          </a:xfrm>
          <a:prstGeom prst="rect">
            <a:avLst/>
          </a:prstGeom>
          <a:solidFill>
            <a:srgbClr val="B02532"/>
          </a:solidFill>
          <a:ln w="12700">
            <a:solidFill>
              <a:srgbClr val="B02532"/>
            </a:solidFill>
            <a:prstDash val="solid"/>
          </a:ln>
        </p:spPr>
        <p:txBody>
          <a:bodyPr/>
          <a:p/>
        </p:txBody>
      </p:sp>
      <p:sp>
        <p:nvSpPr>
          <p:cNvPr id="9" name="Text 7"/>
          <p:cNvSpPr/>
          <p:nvPr/>
        </p:nvSpPr>
        <p:spPr>
          <a:xfrm>
            <a:off x="868680" y="2624328"/>
            <a:ext cx="10515600" cy="8686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Dacă România a desemnat organismul de acces: nu am găsit actul.</a:t>
            </a:r>
            <a:endParaRPr lang="en-US" sz="1700" dirty="0"/>
          </a:p>
        </p:txBody>
      </p:sp>
      <p:sp>
        <p:nvSpPr>
          <p:cNvPr id="10" name="Shape 8"/>
          <p:cNvSpPr/>
          <p:nvPr/>
        </p:nvSpPr>
        <p:spPr>
          <a:xfrm>
            <a:off x="594360" y="3648456"/>
            <a:ext cx="10972800" cy="868680"/>
          </a:xfrm>
          <a:prstGeom prst="roundRect">
            <a:avLst>
              <a:gd name="adj" fmla="val 9474"/>
            </a:avLst>
          </a:prstGeom>
          <a:solidFill>
            <a:srgbClr val="ECEAE4"/>
          </a:solidFill>
          <a:ln w="12700">
            <a:solidFill>
              <a:srgbClr val="ECEAE4"/>
            </a:solidFill>
            <a:prstDash val="solid"/>
          </a:ln>
        </p:spPr>
        <p:txBody>
          <a:bodyPr/>
          <a:p/>
        </p:txBody>
      </p:sp>
      <p:sp>
        <p:nvSpPr>
          <p:cNvPr id="11" name="Shape 9"/>
          <p:cNvSpPr/>
          <p:nvPr/>
        </p:nvSpPr>
        <p:spPr>
          <a:xfrm>
            <a:off x="594360" y="3648456"/>
            <a:ext cx="82296" cy="868680"/>
          </a:xfrm>
          <a:prstGeom prst="rect">
            <a:avLst/>
          </a:prstGeom>
          <a:solidFill>
            <a:srgbClr val="B02532"/>
          </a:solidFill>
          <a:ln w="12700">
            <a:solidFill>
              <a:srgbClr val="B02532"/>
            </a:solidFill>
            <a:prstDash val="solid"/>
          </a:ln>
        </p:spPr>
        <p:txBody>
          <a:bodyPr/>
          <a:p/>
        </p:txBody>
      </p:sp>
      <p:sp>
        <p:nvSpPr>
          <p:cNvPr id="12" name="Text 10"/>
          <p:cNvSpPr/>
          <p:nvPr/>
        </p:nvSpPr>
        <p:spPr>
          <a:xfrm>
            <a:off x="868680" y="3648456"/>
            <a:ext cx="10515600" cy="8686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Data din prezentarea veche pentru regulamentul european, publicat în martie 2025: folosim datele de aplicare din textul lui.</a:t>
            </a:r>
            <a:endParaRPr lang="en-US" sz="1700" dirty="0"/>
          </a:p>
        </p:txBody>
      </p:sp>
      <p:sp>
        <p:nvSpPr>
          <p:cNvPr id="13" name="Shape 11"/>
          <p:cNvSpPr/>
          <p:nvPr/>
        </p:nvSpPr>
        <p:spPr>
          <a:xfrm>
            <a:off x="594360" y="4672584"/>
            <a:ext cx="10972800" cy="868680"/>
          </a:xfrm>
          <a:prstGeom prst="roundRect">
            <a:avLst>
              <a:gd name="adj" fmla="val 9474"/>
            </a:avLst>
          </a:prstGeom>
          <a:solidFill>
            <a:srgbClr val="F9F8F5"/>
          </a:solidFill>
          <a:ln w="12700">
            <a:solidFill>
              <a:srgbClr val="F9F8F5"/>
            </a:solidFill>
            <a:prstDash val="solid"/>
          </a:ln>
        </p:spPr>
        <p:txBody>
          <a:bodyPr/>
          <a:p/>
        </p:txBody>
      </p:sp>
      <p:sp>
        <p:nvSpPr>
          <p:cNvPr id="14" name="Shape 12"/>
          <p:cNvSpPr/>
          <p:nvPr/>
        </p:nvSpPr>
        <p:spPr>
          <a:xfrm>
            <a:off x="594360" y="4672584"/>
            <a:ext cx="82296" cy="868680"/>
          </a:xfrm>
          <a:prstGeom prst="rect">
            <a:avLst/>
          </a:prstGeom>
          <a:solidFill>
            <a:srgbClr val="B02532"/>
          </a:solidFill>
          <a:ln w="12700">
            <a:solidFill>
              <a:srgbClr val="B02532"/>
            </a:solidFill>
            <a:prstDash val="solid"/>
          </a:ln>
        </p:spPr>
        <p:txBody>
          <a:bodyPr/>
          <a:p/>
        </p:txBody>
      </p:sp>
      <p:sp>
        <p:nvSpPr>
          <p:cNvPr id="15" name="Text 13"/>
          <p:cNvSpPr/>
          <p:nvPr/>
        </p:nvSpPr>
        <p:spPr>
          <a:xfrm>
            <a:off x="868680" y="4672584"/>
            <a:ext cx="10515600" cy="8686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Ce conține efectiv dosarul electronic și câți pacienți îl au completat.</a:t>
            </a:r>
            <a:endParaRPr lang="en-US" sz="17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ALEGEȚI O ÎNTREBARE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FACEȚI DIFERIT DE MÂINE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Patru întrebări pentru orice cifră</a:t>
            </a:r>
            <a:endParaRPr lang="en-US" sz="3200" dirty="0"/>
          </a:p>
        </p:txBody>
      </p:sp>
      <p:sp>
        <p:nvSpPr>
          <p:cNvPr id="6" name="Text 4"/>
          <p:cNvSpPr/>
          <p:nvPr/>
        </p:nvSpPr>
        <p:spPr>
          <a:xfrm>
            <a:off x="594360" y="1417320"/>
            <a:ext cx="10972800" cy="54864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O cifră de sănătate publică nu cade din cer: vine dintr-un lanț de oameni, acte și instituții.</a:t>
            </a:r>
            <a:endParaRPr lang="en-US" sz="1800" dirty="0"/>
          </a:p>
        </p:txBody>
      </p:sp>
      <p:sp>
        <p:nvSpPr>
          <p:cNvPr id="7" name="Shape 5"/>
          <p:cNvSpPr/>
          <p:nvPr/>
        </p:nvSpPr>
        <p:spPr>
          <a:xfrm>
            <a:off x="594360" y="2103120"/>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8" name="Shape 6"/>
          <p:cNvSpPr/>
          <p:nvPr/>
        </p:nvSpPr>
        <p:spPr>
          <a:xfrm>
            <a:off x="868680" y="2212848"/>
            <a:ext cx="420624" cy="420624"/>
          </a:xfrm>
          <a:prstGeom prst="ellipse">
            <a:avLst/>
          </a:prstGeom>
          <a:solidFill>
            <a:srgbClr val="FFC24B"/>
          </a:solidFill>
          <a:ln/>
        </p:spPr>
        <p:txBody>
          <a:bodyPr/>
          <a:p/>
        </p:txBody>
      </p:sp>
      <p:sp>
        <p:nvSpPr>
          <p:cNvPr id="9" name="Text 7"/>
          <p:cNvSpPr/>
          <p:nvPr/>
        </p:nvSpPr>
        <p:spPr>
          <a:xfrm>
            <a:off x="868680" y="2212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508760" y="2103120"/>
            <a:ext cx="978408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Cine a numărat?</a:t>
            </a:r>
            <a:endParaRPr lang="en-US" sz="1900" dirty="0"/>
          </a:p>
        </p:txBody>
      </p:sp>
      <p:sp>
        <p:nvSpPr>
          <p:cNvPr id="11" name="Shape 9"/>
          <p:cNvSpPr/>
          <p:nvPr/>
        </p:nvSpPr>
        <p:spPr>
          <a:xfrm>
            <a:off x="594360" y="2871216"/>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2" name="Shape 10"/>
          <p:cNvSpPr/>
          <p:nvPr/>
        </p:nvSpPr>
        <p:spPr>
          <a:xfrm>
            <a:off x="868680" y="2980944"/>
            <a:ext cx="420624" cy="420624"/>
          </a:xfrm>
          <a:prstGeom prst="ellipse">
            <a:avLst/>
          </a:prstGeom>
          <a:solidFill>
            <a:srgbClr val="FFC24B"/>
          </a:solidFill>
          <a:ln/>
        </p:spPr>
        <p:txBody>
          <a:bodyPr/>
          <a:p/>
        </p:txBody>
      </p:sp>
      <p:sp>
        <p:nvSpPr>
          <p:cNvPr id="13" name="Text 11"/>
          <p:cNvSpPr/>
          <p:nvPr/>
        </p:nvSpPr>
        <p:spPr>
          <a:xfrm>
            <a:off x="868680" y="29809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508760" y="2871216"/>
            <a:ext cx="978408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Din câți oameni, adică ce numitor are?</a:t>
            </a:r>
            <a:endParaRPr lang="en-US" sz="1900" dirty="0"/>
          </a:p>
        </p:txBody>
      </p:sp>
      <p:sp>
        <p:nvSpPr>
          <p:cNvPr id="15" name="Shape 13"/>
          <p:cNvSpPr/>
          <p:nvPr/>
        </p:nvSpPr>
        <p:spPr>
          <a:xfrm>
            <a:off x="594360" y="3639312"/>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6" name="Shape 14"/>
          <p:cNvSpPr/>
          <p:nvPr/>
        </p:nvSpPr>
        <p:spPr>
          <a:xfrm>
            <a:off x="868680" y="3749040"/>
            <a:ext cx="420624" cy="420624"/>
          </a:xfrm>
          <a:prstGeom prst="ellipse">
            <a:avLst/>
          </a:prstGeom>
          <a:solidFill>
            <a:srgbClr val="FFC24B"/>
          </a:solidFill>
          <a:ln/>
        </p:spPr>
        <p:txBody>
          <a:bodyPr/>
          <a:p/>
        </p:txBody>
      </p:sp>
      <p:sp>
        <p:nvSpPr>
          <p:cNvPr id="17" name="Text 15"/>
          <p:cNvSpPr/>
          <p:nvPr/>
        </p:nvSpPr>
        <p:spPr>
          <a:xfrm>
            <a:off x="868680" y="3749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1508760" y="3639312"/>
            <a:ext cx="978408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Din ce an este și s-a schimbat între timp felul în care se numără?</a:t>
            </a:r>
            <a:endParaRPr lang="en-US" sz="1900" dirty="0"/>
          </a:p>
        </p:txBody>
      </p:sp>
      <p:sp>
        <p:nvSpPr>
          <p:cNvPr id="19" name="Shape 17"/>
          <p:cNvSpPr/>
          <p:nvPr/>
        </p:nvSpPr>
        <p:spPr>
          <a:xfrm>
            <a:off x="594360" y="4407408"/>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20" name="Shape 18"/>
          <p:cNvSpPr/>
          <p:nvPr/>
        </p:nvSpPr>
        <p:spPr>
          <a:xfrm>
            <a:off x="868680" y="4517136"/>
            <a:ext cx="420624" cy="420624"/>
          </a:xfrm>
          <a:prstGeom prst="ellipse">
            <a:avLst/>
          </a:prstGeom>
          <a:solidFill>
            <a:srgbClr val="FFC24B"/>
          </a:solidFill>
          <a:ln/>
        </p:spPr>
        <p:txBody>
          <a:bodyPr/>
          <a:p/>
        </p:txBody>
      </p:sp>
      <p:sp>
        <p:nvSpPr>
          <p:cNvPr id="21" name="Text 19"/>
          <p:cNvSpPr/>
          <p:nvPr/>
        </p:nvSpPr>
        <p:spPr>
          <a:xfrm>
            <a:off x="868680" y="45171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508760" y="4407408"/>
            <a:ext cx="978408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Se potrivește cu o a doua sursă, independentă de prima?</a:t>
            </a:r>
            <a:endParaRPr lang="en-US" sz="1900" dirty="0"/>
          </a:p>
        </p:txBody>
      </p:sp>
      <p:sp>
        <p:nvSpPr>
          <p:cNvPr id="23" name="Text 21"/>
          <p:cNvSpPr/>
          <p:nvPr/>
        </p:nvSpPr>
        <p:spPr>
          <a:xfrm>
            <a:off x="594360" y="5303520"/>
            <a:ext cx="10972800" cy="640080"/>
          </a:xfrm>
          <a:prstGeom prst="rect">
            <a:avLst/>
          </a:prstGeom>
          <a:noFill/>
          <a:ln/>
        </p:spPr>
        <p:txBody>
          <a:bodyPr wrap="square" lIns="0" tIns="0" rIns="0" bIns="0" rtlCol="0" anchor="t"/>
          <a:lstStyle/>
          <a:p>
            <a:pPr indent="0" marL="0">
              <a:buNone/>
            </a:pPr>
            <a:r>
              <a:rPr lang="en-US" sz="1700" i="1" dirty="0">
                <a:solidFill>
                  <a:srgbClr val="27D3BE"/>
                </a:solidFill>
                <a:latin typeface="Palatino Linotype" pitchFamily="34" charset="0"/>
                <a:ea typeface="Palatino Linotype" pitchFamily="34" charset="-122"/>
                <a:cs typeface="Palatino Linotype" pitchFamily="34" charset="-120"/>
              </a:rPr>
              <a:t>Ședința a patra: avem cifrele, dar cum le citim corect? Despre biostatistică.</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42062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42062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v-am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200" dirty="0"/>
          </a:p>
        </p:txBody>
      </p:sp>
      <p:sp>
        <p:nvSpPr>
          <p:cNvPr id="14" name="Text 12"/>
          <p:cNvSpPr/>
          <p:nvPr/>
        </p:nvSpPr>
        <p:spPr>
          <a:xfrm>
            <a:off x="594360" y="5303520"/>
            <a:ext cx="10972800" cy="82296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Răspundeți pe telefon, la codul afișat. Mentimeter, anonim. Răspunsurile stau la baza modificărilor anunțate la începutul ședinței următoare.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3 - Datele și sistemul informațional aferent sănătății publice</dc:title>
  <dc:subject>PptxGenJS Presentation</dc:subject>
  <dc:creator>Conf. Univ. Dr. Adrian Pana</dc:creator>
  <cp:lastModifiedBy>Conf. Univ. Dr. Adrian Pana</cp:lastModifiedBy>
  <cp:revision>1</cp:revision>
  <dcterms:created xsi:type="dcterms:W3CDTF">2026-10-17T08:19:07Z</dcterms:created>
  <dcterms:modified xsi:type="dcterms:W3CDTF">2026-10-17T08:19:07Z</dcterms:modified>
  <cp:keywords>sursa_amprenta=f4f7ed97a7ecfa72; proiectie</cp:keywords>
</cp:coreProperties>
</file>