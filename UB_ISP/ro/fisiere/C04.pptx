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Biostatistica sună a formule. Azi nu calculăm teste. Pornim de la o întrebare pe care v-o puneți de fiecare dată când citiți o știre: poate minți o cifră adevărată?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Biostatistica este meseria care pune lângă fiecare cifră ce îi trebuie ca să nu mintă. Vom vedea cele trei motive pe rând, pe un singur comunicat.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Azi aveți trei termeni noi, fiecare spus și în cuvinte obișnuite. Intervalul de încredere și valoarea p le veți întâlni doar în cuvinte, la nivel de interpretare; definițiile exacte sunt în note, la „Pentru curioși”.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Cazul este construit pentru acest curs. Sunteți analistul. Tabloul de bord calculează singur variația procentuală față de trimestrul precedent, iar o celulă e colorată în roșu.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Proporția deceselor a crescut de la 0,75% la 1,46%. Din o mie de pacienți externați, circa 7 au murit în primul trimestru și circa 15 în al doilea.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Acestea sunt decesele secției în ultimele opt trimestre, în ordine. Ultimele două valori sunt cele din comunicat.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Votați singuri, fără să vă consultați. Nu există încă un răspuns pe ecran; îl construim împreună după al doilea 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Același vot, după ce ați vorbit cu colegul. Comparăm cele două distribuții, una lângă alta. Ca să judecăm votul, avem nevoie de câteva lucruri despre datele din celula roșie.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Fiecare pacient din tabloul de bord e descris prin câteva informații: secția, dacă a murit, cât de grav era, câte zile a stat. Statistica le numește variabile. Iar felul în care e măsurată o variabilă decide ce calcule au sens cu 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 decese sunt multe la zece pacienți și puține la zece mii. De aceea sănătatea publică lucrează cu fracții. Fără perioadă, o rată nu se poate interpreta: două cazuri la o sută de oameni într-o săptămână nu înseamnă același lucru ca în douăzeci de 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Riscurile relative compară două riscuri și nu spun nimic despre șansa absolută a unui eveniment. De aceea, un articol despre comunicarea dovezilor către pacienți recomandă să dați riscurile atât ca frecvențe, cât și ca procente.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dublare de la un caz la o mie la două și o dublare de la o sută la două sute arată la fel ca risc relativ. Sunt situații complet diferite. Diferența absolută se exprimă în puncte procentuale.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Când numerele sunt mici, ele urcă și coboară de la un trimestru la altul doar din întâmplare. Același fenomen explică de ce o comunitate observă uneori prea multe cazuri de cancer într-un cartier.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doua variantă dă numărul deceselor, numărul pacienților și intervalul ultimilor doi ani, care arată că valoarea nu iese din obișnuit. Calculul pentru varianta a patra este în note, în caseta „Pentru curioși”.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Ciorna voastră ajunge la managerul Spitalului A înainte de publicare. În câteva minute aveți trei mesaje, și fiecare ascunde o capcană diferită.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Uitați-vă la ultimele două valori ale Spitalului A: sunt cei doi pacienți care așteaptă un loc în centrul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Votați singuri. Gândiți-vă la cine citește tabelul: un pacient care vrea să știe cât va sta în 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Același vot, după discuție. Comparăm cele două distribuții. Pentru a-l judeca, avem nevoie de al doilea termen 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Pentru a rezuma unde se află centrul unor valori, statistica descriptivă are trei măsuri. Mediana împarte valorile ordonate în două jumătăți egale.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Multe măsurători biologice, ca înălțimea, se apropie de distribuția în formă de clopot. Durata spitalizării nu: are puține valori foarte mari. Acolo, mediana descrie mai bine cazul obișnuit.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Regula se aplică oricărui tabel: la valori aproximativ simetrice și numeroase, media cu abaterea standard; la valori asimetrice sau puține, mediana cu intervalul intercuartilic.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Comunicatul poate adăuga, separat, numărul pacienților care așteaptă un loc social: o problemă reală, care merită spusă pe nume.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Rata standardizată este rata pe care ar avea-o o populație dacă ar avea structura pe vârstă a unei populații de referință. Rata brută rămâne utilă, pentru că arată câți oameni vor avea efectiv nevoie de servicii.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Faceți o predicție înainte de a vedea cifrele reale. Gândiți-vă la ce ați aflat despre vârstă.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Populația Uniunii, mai în vârstă, primește prin standardizare o rată mai mică, iar populația României, ceva mai tânără, una mai mare. Comparația brută ar fi spus aproape de două ori; cea corectă spune de două ori și jumătate.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Spitalele analizează decesele și complicațiile evitabile în conferințe de morbiditate și mortalitate. Aceeași metodă se poate aplica unei erori de date. Regula conferinței este cultura fără vină.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Urmăriți cronologia fără să căutați un vinovat: la fiecare oră, cine a văzut ce și ce a decis.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cuvânt sau o expresie. Respectăm regula conferinței: căutăm condiții și decizii, nu persoane.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Șase ramuri: oamenii, procedurile, instrumentele, mediul, organizarea și comunicarea. Fiecare cauză din nor își găsește o ramură.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Acestea sunt cauzele care apar de obicei. Observați că niciuna nu este „analistul a greșit”: toate sunt condiții în care oricine ar fi putut greși.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Lanțul coboară, de obicei, de la o eroare individuală la o lipsă de sistem. Votăm fiecare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ce titlul spunea că s-a dublat? Pentru că ciorna conținea numai variația procentuală. Și tot așa, până la capătul lanțului: direcția nu are o procedură scrisă pentru publicarea datelor.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Măsura de sistem nu este mai multă atenție. Este o fișă de verificare, obligatorie înainte de orice comunicat cu cifre, și un indicator care arată dacă fișa funcționează.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Niciunul dintre aceste efecte nu apare în tabloul de bord al direcției. Dacă cei mai mulți dintre voi au ales varianta cu cifrele complete, intuiția a fost bună.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Cazul Spitalului A este construit. Acesta este real și arată cât de departe poate ajunge un risc relativ dat fără riscul absolut.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Riscul absolut din spatele acelei dublări era mic. Lecția este cea din actul întâi: riscul relativ singur nu spune nimic despre șansa absolută.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eșantion diferit ar fi dat un rezultat puțin diferit. Statistica arată această incertitudine printr-un interval de încredere. Definiția exactă stă în note, la „Pentru curioși”.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Același rezultat, treizeci la sută, dar al doilea sondaj, mai ieftin, are o marjă mult mai largă.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creștere de jumătate de procent a consultațiilor pentru gripă într-o țară întreagă poate fi semnificativă și să nu schimbe nimic în spitale.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 engleză se numește bias. Erorile sistematice se previn prin felul în care se strâng datele, nu prin calcule mai multe.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Valorile sunt ipotetice. Fiecare punct este un județ. Un consilier județean vă cere o reacție.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singur vot de data aceasta. Gândiți-vă la ce ați aflat în actul al doilea despre vârstă.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Standardizarea pe vârstă, pe care ați văzut-o în actul al doilea, este una dintre armele împotriva confuziei.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Graficul consilierului compară județe. Din el nu putem spune nimic despre persoanele care merg la farmacie.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Varianta a doua este cea mai bună primă reacție. Cererea de medicamente poate fi spusă consilierului alături de ea, ca ipoteză, nu ca răspuns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Comunicatul de vineri a strâns toate cele trei capcane într-o singură pagină. Le puteți recunoaște de acum în orice știre.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exercițiul pe care l-ar face un analist bun înainte de orice comunicat. Data viitoare trecem de la citirea cifrelor la folosirea lor pentru a urmări bolile.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 întrebări, anonim, pe Mentimeter. Fără răspunsurile voastre nu pot ști ce să schimb.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772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ȘEDINȚA A PATRA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Biostatistica în sănătatea publică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Poate minți o cifră adevărată?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67512" y="393192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60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Introducere în sănătate publică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și politici de sănătate publică, anul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280160"/>
            <a:ext cx="3291840" cy="42062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508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PREGĂTIȚI TELEFONUL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0" y="21031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Azi votați de trei ori, căutați cauzele unei erori și lucrați pe titlul adus de acasă.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Mentimeter, anonim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DIN TITLU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Da, o cifră adevărată poate minți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91440" cy="10972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ziar poate scrie „mortalitatea s-a dublat” fără să greșească nicio adunare și fără să vă spună adevărul.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PROVIZORIU: DIN TREI MOTIVE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350520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291840"/>
            <a:ext cx="35052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Lipsește ceva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numitorul sau riscul de la care s-a pornit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28160" y="3291840"/>
            <a:ext cx="350520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8160" y="3291840"/>
            <a:ext cx="35052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6760" y="35204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Rezumatul nepotrivit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56760" y="406908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medie acolo unde trebuia altceva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61960" y="3291840"/>
            <a:ext cx="350520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1960" y="3291840"/>
            <a:ext cx="350520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560" y="35204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Grupuri necomparabile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90560" y="406908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populații cu vârste diferite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Restul ședinței urmărește un singur comunicat de presă, de la ciornă până la urmări.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DESFĂȘOARĂ ȘEDINȚA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părți, jumătate din timp lucrați voi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58368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914400" cy="530352"/>
          </a:xfrm>
          <a:prstGeom prst="roundRect">
            <a:avLst>
              <a:gd name="adj" fmla="val 15517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21992"/>
            <a:ext cx="658368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21992"/>
            <a:ext cx="914400" cy="530352"/>
          </a:xfrm>
          <a:prstGeom prst="roundRect">
            <a:avLst>
              <a:gd name="adj" fmla="val 15517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222199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întâi: „Mortalitatea s-a dublat”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43784"/>
            <a:ext cx="658368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843784"/>
            <a:ext cx="914400" cy="530352"/>
          </a:xfrm>
          <a:prstGeom prst="roundRect">
            <a:avLst>
              <a:gd name="adj" fmla="val 15517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437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284378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doilea: managerul răspunde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465576"/>
            <a:ext cx="658368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65576"/>
            <a:ext cx="914400" cy="530352"/>
          </a:xfrm>
          <a:prstGeom prst="roundRect">
            <a:avLst>
              <a:gd name="adj" fmla="val 15517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6557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25′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346557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treilea: ce s-a întâmplat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087368"/>
            <a:ext cx="6583680" cy="530352"/>
          </a:xfrm>
          <a:prstGeom prst="roundRect">
            <a:avLst>
              <a:gd name="adj" fmla="val 155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87368"/>
            <a:ext cx="914400" cy="530352"/>
          </a:xfrm>
          <a:prstGeom prst="roundRect">
            <a:avLst>
              <a:gd name="adj" fmla="val 15517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8736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15′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408736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 și biletul de ieșire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52360" y="1600200"/>
            <a:ext cx="4114800" cy="3017520"/>
          </a:xfrm>
          <a:prstGeom prst="roundRect">
            <a:avLst>
              <a:gd name="adj" fmla="val 272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termeni noi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26680" y="21945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absolut și riscul relativ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pe vârstă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94360" y="48463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846320"/>
            <a:ext cx="91440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de încredere și valoarea p apar azi numai în cuvinte, fără formule.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512064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Comunicatul de vineri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curs: instituțiile, persoanele și cifrele sunt plauzibile, nu reale.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Sunteți analist la Direcția de Sănătate Publică a Județului B. Joi după-amiază, directorul vă cere comunicatul trimestrial despre Spitalul Municipal A și Spitalul Orășenesc C.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4251960" cy="2743200"/>
          </a:xfrm>
          <a:prstGeom prst="roundRect">
            <a:avLst>
              <a:gd name="adj" fmla="val 3000"/>
            </a:avLst>
          </a:prstGeom>
          <a:solidFill>
            <a:srgbClr val="3A1A20"/>
          </a:solidFill>
          <a:ln w="12700">
            <a:solidFill>
              <a:srgbClr val="3A1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DE BORD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Decese, medicină internă, Spitalul 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103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+100%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594360" y="443484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4434840"/>
            <a:ext cx="91440" cy="1280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34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Directorul, peste umărul vostru: „Asta e știrea. Scrieți că mortalitatea la A s-a dublat. Presa o să ne întrebe oricum.”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CELULA ROȘIE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stă în spatele celor o sută la sută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Trimestrul al doilea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400 de pacienți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0,75%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Trimestrul al treilea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410 pacienți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1,46%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83880" y="16002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830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Împărțite una la alta: de 1,95 ori. Aceasta este „dublarea”.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49834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983480"/>
            <a:ext cx="91440" cy="9144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cuvinte obișnuite: din o mie de pacienți externați, circa 7 au murit în primul trimestru și circa 15 în al doilea.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ISTORIA SECȚIEI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opt trimestre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5394960"/>
            <a:ext cx="822960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93008"/>
            <a:ext cx="777240" cy="1901952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35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2066544"/>
            <a:ext cx="777240" cy="3328416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60934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3017520"/>
            <a:ext cx="777240" cy="2377440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5603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31920" y="4443984"/>
            <a:ext cx="777240" cy="950976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9867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542032"/>
            <a:ext cx="777240" cy="2852928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848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0" y="3493008"/>
            <a:ext cx="777240" cy="1901952"/>
          </a:xfrm>
          <a:prstGeom prst="rect">
            <a:avLst/>
          </a:prstGeom>
          <a:solidFill>
            <a:srgbClr val="8E909A"/>
          </a:solidFill>
          <a:ln w="12700">
            <a:solidFill>
              <a:srgbClr val="8E90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0358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90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0" y="3968496"/>
            <a:ext cx="777240" cy="142646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51129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55280" y="2542032"/>
            <a:ext cx="777240" cy="285292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0848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5468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din comunicat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1600200"/>
            <a:ext cx="2423160" cy="3840480"/>
          </a:xfrm>
          <a:prstGeom prst="roundRect">
            <a:avLst>
              <a:gd name="adj" fmla="val 339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1783080"/>
            <a:ext cx="2057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deceselor pe trimestru, în ordine. Ultimele două valori sunt cele din comunicat.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 · VOTAȚI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scrieți în comunicat despre decesele de la Spitalul 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019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„Mortalitatea la Spitalul A s-a dublat.”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și pacienții din ambele trimestre: „la numere atât de mici, valoarea rămâne în intervalul ultimilor doi ani”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393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7472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scrieți nimic, ca să nu alarmați populația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3434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079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07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4340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„Creștere semnificativă statistic a mortalității”, fără cifre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rămân ascunse. Apoi, două minute cu colegul de bancă: convingeți-l pe cel care a votat altfel.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DISCUȚIA CU COLEGUL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scrieți despre decesele de la Spitalul A? (după discuție)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2496312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9067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3209544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0390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922776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51713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4636008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7373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46520" y="23774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2496312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090672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3209544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803904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3922776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517136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4636008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din nou, pe aceeași întrebare. Cele două distribuții apar una lângă alta.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FEL DE DATE AVEM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Felul datelor decide ce calcule au sens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5052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Nominale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4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categorii fără ordine: secția, „decedat” sau „externat viu”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600200"/>
            <a:ext cx="35052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6760" y="18288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Ordinale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56760" y="2377440"/>
            <a:ext cx="304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categorii în ordine, cu trepte inegale: gravitatea ușoară, medie, gravă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61960" y="160020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1960" y="1600200"/>
            <a:ext cx="35052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18288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Cantitative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90560" y="2377440"/>
            <a:ext cx="304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numere cu care se socotește: zilele de spitalizare, vârsta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77640"/>
            <a:ext cx="91440" cy="8229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simplu: dacă diferența dintre două valori are sens, variabila este cantitativă.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937760"/>
            <a:ext cx="91440" cy="914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Nominale și ordinale: procente pe categorii. Cantitative: și media sau mediana.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FELURI DE FRACȚII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decese: multe sau puține?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91440" cy="126187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Frecvența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câți: numărul de observații într-o categorie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00200"/>
            <a:ext cx="91440" cy="126187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parte din grup: toți cei din numărător sunt și în numitor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17520"/>
            <a:ext cx="91440" cy="126187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noi într-o populație, într-o perioadă precizată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017520"/>
            <a:ext cx="91440" cy="1261872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154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mărime împărțită la alta, chiar dacă nu face parte din ea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7200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572000"/>
            <a:ext cx="91440" cy="11430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procent vine cu numărul din care s-a calculat: „o cincime din cazuri”, dar din câte?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absolut și riscul relativ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absolut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șansa ca un eveniment să se producă într-un grup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„circa șapte din o mie de pacienți”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relativ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riscurile a două grupuri sau perioade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„de două ori mai mare”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dați niciodată numai riscul relativ; dați riscurile și ca frecvențe („șapte din o mie”), și ca procente.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RISC RELATIV: DE DOUĂ ORI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dublări care arată la fel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unu la doi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 mie de pacienți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83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 sută la două sute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 mie de pacienți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83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Spitalul A, creșterea este de mai puțin de un punct procentual.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întreabă: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„pentru cineva ca mine, cât de probabil este?”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Cercetătorul întreabă: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„cât se schimbă riscul de la un grup la altul?”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5303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comunicat pentru public are nevoie de amândouă.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ARATĂ CELULA ROȘIE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Numerele mici se mișcă singure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două și șapte decese pe trimestru, fără nicio schimbare pe secție: șase e în intervalul obișnuit.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508760"/>
            <a:ext cx="39776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5087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aruncări de monedă: uneori trei steme, alteori șapte.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204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grup de cazuri se investighează: poate avea o cauză reală sau poate fi simpla variație a numerelor mici.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47548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Propunerea cursului, nu o normă oficială: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perioade mai lungi, de pildă patru până la opt săptămâni, și nicio „creștere” anunțată pe câteva cazuri.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PRIMA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B: cifrele cu numitorii și istoria 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96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„S-a dublat”: adevărat aritmetic, dar înșelător: numai riscul relativ, fără numitor.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DDF1EC"/>
          </a:solidFill>
          <a:ln w="12700">
            <a:solidFill>
              <a:srgbClr val="DD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9864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bună: decesele, pacienții, trimestrul anterior și intervalul ultimilor doi ani. Orice cititor poate verifica.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71246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712464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Tăcerea lasă loc zvonului. Direcția dă contextul, nu ascunde cifrele.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9145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0566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791456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două ori greșit: trei și șase decese nu se pot deosebi de întâmplare, iar „semnificativ” nu înseamnă „important”.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512064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Vineri dimineață: managerul răspunde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rămâne construit.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987552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240280"/>
            <a:ext cx="91440" cy="10515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Spitalului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noștri sunt mai în vârstă decât cei de la C. Și avem câțiva pacienți fără aparținători care așteaptă de luni de zile un loc într-un centru social.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91640" y="3429000"/>
            <a:ext cx="987552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429000"/>
            <a:ext cx="91440" cy="10515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5204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jurnalist local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384048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este durata medie de spitalizare a celor două spitale?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987552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4617720"/>
            <a:ext cx="91440" cy="10515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09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29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Vreau și o propoziție care compară mortalitatea prin boli de inimă cu cea din județul vecin.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CINCISPREZECE EXTERNĂRI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Zilele de spitalizare, în ordine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377440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80944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09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84448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87952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91456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94960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98464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01968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05472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08976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089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0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15984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1598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19488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19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222992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229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826496" y="16916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2649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C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2377440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980944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80944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584448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87952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8795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791456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394960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998464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98464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601968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196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205472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0547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7808976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08976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412480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015984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15984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619488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1948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222992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2299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826496" y="3154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826496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594360" y="416052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8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86868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12,7 față de 6,6 zile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86868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de două ori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172200" y="416052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644652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față de 6 zile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644652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zi diferență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 · VOTAȚI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indicator puneți în tabelul public pentru durata spitalizării?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38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24328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97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2432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Mediana, cu intervalul în care se află jumătatea din mijloc a valorilor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465576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210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65576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Modul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4622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06824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mai lungă internare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rămân ascunse. Apoi, două minute cu colegul de bancă.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DISCUȚIA CU COLEGUL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indicator puneți în tabelul public? (după discuție)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2496312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9067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3209544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0390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922776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51713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4636008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7373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46520" y="23774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2496312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090672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3209544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803904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3922776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517136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4636008"/>
            <a:ext cx="4206240" cy="14630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din nou, pe aceeași întrebare. Cele două distribuții apar una lângă alta.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Mediana: valoarea din mijloc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2588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5740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2044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1500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4652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7804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90956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64108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37260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10412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0412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0835640" y="164592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3564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9436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jumătate sub ea · jumătate peste ea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4360" y="29718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971800"/>
            <a:ext cx="35052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2004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22960" y="37490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suma valorilor împărțită la numărul lor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328160" y="29718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28160" y="2971800"/>
            <a:ext cx="35052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56760" y="32004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556760" y="37490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din mijlocul valorilor puse în ordine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061960" y="29718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1960" y="2971800"/>
            <a:ext cx="35052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90560" y="32004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Modul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8290560" y="374904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cea mai frecventă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9436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numărul valorilor e par, mediana este media celor două valori din mijloc.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CONTEAZĂ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extreme trag media spre 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pacienți cu șederi sociale au dublat aproape media Spitalului A. Mediana nu se mișcă: depinde de ordinea valorilor, nu de mărimea lor.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880360"/>
            <a:ext cx="53721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Simetric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media, mediana și modul coincid; distribuția normală, în clopot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5060" y="28803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5060" y="2880360"/>
            <a:ext cx="53721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3660" y="310896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Coadă spre dreapta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23660" y="3657600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durata spitalizării, veniturile: puține valori foarte mari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7091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 publică vârsta mediană: </a:t>
            </a:r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2025, 44,1 ani în România și 44,9 ani în Uniunea Europeană.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vârsta mediană a populației, 2025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CÂT DE ÎMPRĂȘTIATE SUNT VALORILE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Jumătatea din mijloc: între 5 și 9 zile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9637776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651760"/>
            <a:ext cx="621792" cy="56692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86416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3896" y="3310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mediana: 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611880"/>
            <a:ext cx="35052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Amplitudinea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cea mai mică la cea mai mare valoare; aici, de la 3 la 62, dominată de un pacient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28160" y="361188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8160" y="3611880"/>
            <a:ext cx="350520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6760" y="38404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Abaterea standard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56760" y="438912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departe de medie sunt, în general, valorile; merge cu media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61960" y="361188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1960" y="3611880"/>
            <a:ext cx="35052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0560" y="38404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intercuartilic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90560" y="438912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lățimea jumătății din mijloc; aici 4 zile; merge cu mediana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A DOUA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B: mediana, cu jumătatea din mijloc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465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e răspunsul jurnalistului: doi pacienți o dublează aproape. Rămâne utilă pentru buget.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DDF1EC"/>
          </a:solidFill>
          <a:ln w="12700">
            <a:solidFill>
              <a:srgbClr val="DD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6090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Mediana cu intervalul intercuartilic arată pacientul obișnuit și cât de diferiți sunt pacienții.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75304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38328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Modul spune doar care durată a fost cea mai frecventă.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2976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89704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97680"/>
            <a:ext cx="9875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mai lungă internare e un caz, nu un indicator.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3492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5349240"/>
            <a:ext cx="91440" cy="6858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așteaptă un loc social se spun separat, nu se ascund într-o medie.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pe vârstă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circulatorii omoară mai ales vârstnici. Un județ îmbătrânit are mai multe decese la 100 000 de locuitori, chiar dacă la fiecare vârstă riscul e același.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889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cuvinte obișnuite: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ar arăta comparația dacă cele două populații ar avea aceeași vârstă? Eurostat folosește populația standard europeană.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537210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389120"/>
            <a:ext cx="53721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planificarea serviciilor: câți oameni vor avea nevoie de ele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4389120"/>
            <a:ext cx="537210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5060" y="4389120"/>
            <a:ext cx="53721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3660" y="461772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3660" y="5166360"/>
            <a:ext cx="4914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comparații între județe, țări sau în timp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PREZICE, APOI VERIFICĂ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are o populație ceva mai tânără decât media Uniunii Europene. Trecem de la ratele brute la cele standardizate pe vârstă. Diferența de mortalitate prin boli ale aparatului circulator: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614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06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630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Scade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498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3434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Rămâne aceeași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9436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CIFRELE REALE · 2023 · LA 100 000 DE LOCUITORI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crește: de la 1,95 la 2,51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42648"/>
            <a:ext cx="1143000" cy="265231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58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690,62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440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4034009"/>
            <a:ext cx="1143000" cy="1360951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649961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354,37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65960" y="5440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2372272"/>
            <a:ext cx="1143000" cy="302268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9882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787,06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5440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4193082"/>
            <a:ext cx="1143000" cy="120187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80903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312,95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5440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5760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394960"/>
            <a:ext cx="630936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60020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783080"/>
            <a:ext cx="3566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Brut: </a:t>
            </a:r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1,95 ori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Standardizat: </a:t>
            </a:r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2,51 ori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brută subestimează decalajul. Pentru două județe, regula e aceeași.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cauzele de deces, rate brute și standardizate pe vârstă, 2023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A AJUNS COMUNICATUL GREȘIT ÎN PRESĂ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conferință de morbiditate și mortalitate pe o eroare de date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2697480" cy="1005840"/>
          </a:xfrm>
          <a:prstGeom prst="homePlate">
            <a:avLst/>
          </a:prstGeom>
          <a:solidFill>
            <a:srgbClr val="07564B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Cronologia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97480" cy="1005840"/>
          </a:xfrm>
          <a:prstGeom prst="chevron">
            <a:avLst/>
          </a:prstGeom>
          <a:solidFill>
            <a:srgbClr val="0E7C6B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116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2011680"/>
            <a:ext cx="2697480" cy="1005840"/>
          </a:xfrm>
          <a:prstGeom prst="chevron">
            <a:avLst/>
          </a:prstGeom>
          <a:solidFill>
            <a:srgbClr val="4A2D8C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de 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23960" y="2011680"/>
            <a:ext cx="2697480" cy="1005840"/>
          </a:xfrm>
          <a:prstGeom prst="chevron">
            <a:avLst/>
          </a:prstGeom>
          <a:solidFill>
            <a:srgbClr val="B0253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20116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 de sistem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varianta de azi, comunicatul a plecat vineri dimineață cu titlul „Mortalitatea la Spitalul A s-a dublat”.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480560"/>
            <a:ext cx="91440" cy="1280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805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conferinței: cultura fără vină.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Descriem decizii și condiții, nu persoane vinovate.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CRONOLOGIA COMUNICATULUI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joi la luni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60704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127248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Joi 14:00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directorul cere comunicatul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15768" y="3127248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2167128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15:30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21408" y="4023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extragerea: numai variația procentuală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88536" y="3127248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2" name="Text 10"/>
          <p:cNvSpPr/>
          <p:nvPr/>
        </p:nvSpPr>
        <p:spPr>
          <a:xfrm>
            <a:off x="3739896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17:00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4176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ciorna: „+100%”, fără numitori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61304" y="3127248"/>
            <a:ext cx="274320" cy="27432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5" name="Text 13"/>
          <p:cNvSpPr/>
          <p:nvPr/>
        </p:nvSpPr>
        <p:spPr>
          <a:xfrm>
            <a:off x="5312664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17:40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66944" y="4023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aprobarea, în drum spre o ședință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34072" y="3127248"/>
            <a:ext cx="274320" cy="27432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85432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Vineri 9:00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9712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comunicatul, pe pagina direcției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06840" y="3127248"/>
            <a:ext cx="274320" cy="27432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12:00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023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TV: „Moartea se dublează la Spitalul A”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579608" y="3127248"/>
            <a:ext cx="274320" cy="27432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0968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85248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cereri de transfer în județul vecin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52578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257800"/>
            <a:ext cx="91440" cy="6858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Erata de luni a fost citită de puțini.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 DE CUVINTE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 · PASUL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 plecat comunicatul greșit?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cuvânt sau o expresie. O condiție sau o decizie, nu un nume.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1752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voastre se așază apoi pe diagrama cu șase ramuri.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DIAGRAMA ÎN FORMĂ DE OS DE PEȘTE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630168"/>
            <a:ext cx="8961120" cy="54864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9718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0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Comunicatul greșit a plecat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1097280" cy="2057400"/>
          </a:xfrm>
          <a:prstGeom prst="line">
            <a:avLst/>
          </a:prstGeom>
          <a:noFill/>
          <a:ln w="31750">
            <a:solidFill>
              <a:srgbClr val="0E7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77640" y="1600200"/>
            <a:ext cx="1097280" cy="2057400"/>
          </a:xfrm>
          <a:prstGeom prst="line">
            <a:avLst/>
          </a:prstGeom>
          <a:noFill/>
          <a:ln w="3175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Procedurile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1097280" cy="2057400"/>
          </a:xfrm>
          <a:prstGeom prst="line">
            <a:avLst/>
          </a:prstGeom>
          <a:noFill/>
          <a:ln w="31750">
            <a:solidFill>
              <a:srgbClr val="8A6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Instrumentele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1097280" y="3657600"/>
            <a:ext cx="1097280" cy="2057400"/>
          </a:xfrm>
          <a:prstGeom prst="line">
            <a:avLst/>
          </a:prstGeom>
          <a:noFill/>
          <a:ln w="31750">
            <a:solidFill>
              <a:srgbClr val="9C4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V="1">
            <a:off x="3977640" y="3657600"/>
            <a:ext cx="1097280" cy="2057400"/>
          </a:xfrm>
          <a:prstGeom prst="line">
            <a:avLst/>
          </a:prstGeom>
          <a:noFill/>
          <a:ln w="31750">
            <a:solidFill>
              <a:srgbClr val="075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56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858000" y="3657600"/>
            <a:ext cx="1097280" cy="2057400"/>
          </a:xfrm>
          <a:prstGeom prst="line">
            <a:avLst/>
          </a:prstGeom>
          <a:noFill/>
          <a:ln w="31750">
            <a:solidFill>
              <a:srgbClr val="B025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Comunicarea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CAUZELE CARE APAR DE OBICEI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3630168"/>
            <a:ext cx="8961120" cy="54864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29718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29718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Comunicatul greșit a plecat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1097280" cy="2057400"/>
          </a:xfrm>
          <a:prstGeom prst="line">
            <a:avLst/>
          </a:prstGeom>
          <a:noFill/>
          <a:ln w="3175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analist singur, sub presiunea timpului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1600200"/>
            <a:ext cx="1097280" cy="2057400"/>
          </a:xfrm>
          <a:prstGeom prst="line">
            <a:avLst/>
          </a:prstGeom>
          <a:noFill/>
          <a:ln w="3175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Procedurile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1691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nicio regulă scrisă pentru numere mici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1097280" cy="2057400"/>
          </a:xfrm>
          <a:prstGeom prst="line">
            <a:avLst/>
          </a:prstGeom>
          <a:noFill/>
          <a:ln w="31750">
            <a:solidFill>
              <a:srgbClr val="8A6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Instrumentele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1691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de bord calculează numai variația procentuală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1097280" y="3657600"/>
            <a:ext cx="1097280" cy="2057400"/>
          </a:xfrm>
          <a:prstGeom prst="line">
            <a:avLst/>
          </a:prstGeom>
          <a:noFill/>
          <a:ln w="31750">
            <a:solidFill>
              <a:srgbClr val="9C4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9476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presiunea presei și ziua de vineri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3977640" y="3657600"/>
            <a:ext cx="1097280" cy="2057400"/>
          </a:xfrm>
          <a:prstGeom prst="line">
            <a:avLst/>
          </a:prstGeom>
          <a:noFill/>
          <a:ln w="31750">
            <a:solidFill>
              <a:srgbClr val="0756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56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379476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aprobarea fără a doua citire a cifrelor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6858000" y="3657600"/>
            <a:ext cx="1097280" cy="2057400"/>
          </a:xfrm>
          <a:prstGeom prst="line">
            <a:avLst/>
          </a:prstGeom>
          <a:noFill/>
          <a:ln w="31750">
            <a:solidFill>
              <a:srgbClr val="B025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71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79476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TV a scurtat un mesaj deja incomplet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PAS CU PAS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 · CINCI DE 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Pornim de la cauza aleasă de sală și întrebăm de cinci ori „de ce?”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43200" y="1783080"/>
            <a:ext cx="882396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69464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963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743200" y="2496312"/>
            <a:ext cx="882396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82696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20954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743200" y="3209544"/>
            <a:ext cx="882396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995928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9227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2743200" y="3922776"/>
            <a:ext cx="882396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63600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2743200" y="4636008"/>
            <a:ext cx="882396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LANȚUL DE OBICEI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titlu la lipsa unei proceduri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spunea „s-a dublat”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1065276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240280"/>
            <a:ext cx="10104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Ciorna avea numai variația procentuală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34440" y="2971800"/>
            <a:ext cx="103327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97180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de bord calculează numai variația procentuală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54480" y="3703320"/>
            <a:ext cx="1001268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703320"/>
            <a:ext cx="9464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fost proiectat pentru serii naționale, cu numere mari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874520" y="4434840"/>
            <a:ext cx="969264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44348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există o a doua citire a cifrelor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94560" y="5166360"/>
            <a:ext cx="9372600" cy="621792"/>
          </a:xfrm>
          <a:prstGeom prst="roundRect">
            <a:avLst>
              <a:gd name="adj" fmla="val 13235"/>
            </a:avLst>
          </a:prstGeom>
          <a:solidFill>
            <a:srgbClr val="3A1A20"/>
          </a:solidFill>
          <a:ln w="12700">
            <a:solidFill>
              <a:srgbClr val="3A1A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5166360"/>
            <a:ext cx="8823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Direcția nu are o procedură scrisă de publicare a datelor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 DE SISTEM, NU „MAI MULTĂ ATENȚIE”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verificare de o pagină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absolut și numitorul lângă orice procent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97680" y="1600200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0020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relativ numai împreună cu cel absolut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532888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32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cu o perioadă lungă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97680" y="2532888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532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numerelor mici: se agregă, fără variații procentuale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465576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6557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standardizate între teritorii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97680" y="3465576"/>
            <a:ext cx="352044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46557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citire de către un coleg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92440" y="1600200"/>
            <a:ext cx="3474720" cy="2688336"/>
          </a:xfrm>
          <a:prstGeom prst="roundRect">
            <a:avLst>
              <a:gd name="adj" fmla="val 3061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7373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știm că funcționează?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comunicatelor care trec fișa la auditul lunar și numărul eratelor pe trimestru.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572000"/>
            <a:ext cx="91440" cy="914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de bord se modifică: afișează numitorii lângă procente.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512064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rămâne construit; urmarea este plauzibilă, nu reală.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286000"/>
            <a:ext cx="3520440" cy="8229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cifrele complete, citite de mult mai puțini oameni decât titlul de vineri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286000"/>
            <a:ext cx="3520440" cy="822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unii cer internarea în județul vecin; câțiva amână internarea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2860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286000"/>
            <a:ext cx="3520440" cy="8229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Tabloul de bord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vede nimic: numără decesele din spital, nu deciziile pacienților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7091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cu votul vostru din actul întâi.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ÎNTÂMPLAT DE FAPT, ÎNTR-UN CAZ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1995: „un risc de două ori mai mare”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aviz oficial anunță un risc de tromboembolie venoasă de două ori mai mare la pilulele contraceptive mai noi. Multe femei renunță la pilulă.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272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circa 12 400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4087368"/>
            <a:ext cx="484632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nașteri în plus în anul următor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30175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272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circa 13 600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46520" y="4087368"/>
            <a:ext cx="4846320" cy="96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avorturi în plus în anul următor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4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analiză din 1999, citată de o sinteză recentă; sursa primară nu a fost consultată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ABSOLUT, LA 7 000 DE FEMEI PE 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Dublarea, în frecvențe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7 000 pe an: pilulele din a doua generație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7 000 pe an: pilulele din a treia generație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366760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7 000 pe an: sarcina însăși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251960"/>
            <a:ext cx="91440" cy="14630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„De la unu la două cazuri la șapte mii de femei pe an, mai puțin decât riscul din sarcină” ar fi spus același fapt, fără panică.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SIGUR ESTE UN REZULTAT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Eșantionul și marja lui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sondaj întreabă câteva sute de oameni și trage o concluzie despre tot județul. E bună numai dacă eșantionul seamănă cu populația, adică e tras la sorți.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de încredere, în cuvinte: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marjă de valori plauzibile. Din o sută de sondaje repetate, circa 95 ar da un interval care cuprinde valoarea adevărată.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069080"/>
            <a:ext cx="53721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069080"/>
            <a:ext cx="53721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 îngust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91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estimare precisă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4069080"/>
            <a:ext cx="53721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5060" y="4069080"/>
            <a:ext cx="53721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3660" y="429768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 larg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3660" y="4846320"/>
            <a:ext cx="491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estimare nesigură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Calculul: în note, la „Pentru curioși”; nu intră la examen.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DOUĂ SONDAJE ÎN JUDEȚUL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estimare, două marje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1 000 de adulți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94330" y="2194560"/>
            <a:ext cx="2150669" cy="12801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2504" y="2121408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7" name="Text 5"/>
          <p:cNvSpPr/>
          <p:nvPr/>
        </p:nvSpPr>
        <p:spPr>
          <a:xfrm>
            <a:off x="2591410" y="23957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27,2%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2078" y="23957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32,8%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250 de adulți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80590" y="3657600"/>
            <a:ext cx="4378147" cy="12801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32504" y="3584448"/>
            <a:ext cx="274320" cy="274320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12" name="Text 10"/>
          <p:cNvSpPr/>
          <p:nvPr/>
        </p:nvSpPr>
        <p:spPr>
          <a:xfrm>
            <a:off x="1477670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24,3%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5818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35,7%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2464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0" y="1600200"/>
            <a:ext cx="3886200" cy="329184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73736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Amândouă: 30% fumători. Al doilea nu poate spune dacă fumează un sfert sau peste o treime dintre adulți.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16636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166360"/>
            <a:ext cx="91440" cy="6858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663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eșantion mai mare dă o marjă mai îngustă.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P, ÎN CUVINTE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neobișnuit ar fi rezultatul?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p: cât de neobișnuit ar fi rezultatul dacă nu s-ar fi schimbat nimic. Nu este probabilitatea ca ipoteza să fie adevărată. Sub un prag, de obicei 0,05, rezultatul e numit „semnificativ statistic”.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3246120"/>
            <a:ext cx="537210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246120"/>
            <a:ext cx="53721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7472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Semnificativ ≠ important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4914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studiile mari, efecte foarte mici pot fi „semnificative”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5060" y="3246120"/>
            <a:ext cx="537210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5060" y="3246120"/>
            <a:ext cx="53721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3660" y="347472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Nesemnificativ ≠ fără efect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23660" y="4023360"/>
            <a:ext cx="4914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poate că studiul era prea mic ca să-l vadă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16636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5166360"/>
            <a:ext cx="91440" cy="6858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aceea se raportează efectul și intervalul, nu numai valoarea p.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REPARĂ NICIUN EȘANTION MAI MARE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Eroarea sistematică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eroare sistematică deplasează rezultatul mereu în aceeași direcție: un județ care testează mai mult găsește mai multe cazuri, deși riscul real poate fi același.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9718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Intervalul de încredere măsoară numai imprecizia datorată întâmplării. Eroarea sistematică nu intră în el: un interval îngust nu garantează un rezultat corect.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572000"/>
            <a:ext cx="91440" cy="914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previne prin felul în care se strâng datele, nu prin calcule mai multe.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A TREIA DECIZIE, PE O VARIANTĂ NOUĂ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Harta farmaciilor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212080"/>
            <a:ext cx="484632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22860" cy="338328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983480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4379976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4681728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3877056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4178808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3374136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3675888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2871216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3273552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2569464"/>
            <a:ext cx="219456" cy="219456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03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farmacii la 10 000 de locuitori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brută 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83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consilier județean aduce graficul: în cele zece județe ale regiunii, cu cât sunt mai multe farmacii, cu atât mortalitatea brută e mai mare.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Corelația: 0,6</a:t>
            </a:r>
            <a:endParaRPr lang="en-US" sz="3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DECIZIE · VOTAȚI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răspundeți consilierului?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379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Farmaciile cresc mortalitatea; numărul lor trebuie limitat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52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603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 un al treilea factor (vârsta, urbanizarea) explică ambele: întâi rate standardizate pe vârstă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667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747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 o coincidență: ignorăm graficul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811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891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Farmaciile se deschid unde sunt mai mulți bolnavi, deci graficul arată cererea și nu mai trebuie verificat nimic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349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vot. Apoi, două voci din sală, câte un minut.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5897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CORELAȚIA NU ESTE O CAUZĂ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Înghețata, înecurile și vara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Corelația ia valori între minus unu și plus unu; semnul arată direcția. Înghețata și înecurile cresc împreună fără ca una să o provoace pe cealaltă: amândouă depind de vară.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310896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089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Factorul de confuzie: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grupurile diferă și prin alte cauze ale rezultatului, de pildă prin vârstă.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526280"/>
            <a:ext cx="2148840" cy="914400"/>
          </a:xfrm>
          <a:prstGeom prst="homePlate">
            <a:avLst/>
          </a:prstGeom>
          <a:solidFill>
            <a:srgbClr val="07564B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262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Restricția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4526280"/>
            <a:ext cx="2148840" cy="914400"/>
          </a:xfrm>
          <a:prstGeom prst="chevron">
            <a:avLst/>
          </a:prstGeom>
          <a:solidFill>
            <a:srgbClr val="0E7C6B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526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Potrivirea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4526280"/>
            <a:ext cx="2148840" cy="914400"/>
          </a:xfrm>
          <a:prstGeom prst="chevron">
            <a:avLst/>
          </a:prstGeom>
          <a:solidFill>
            <a:srgbClr val="4A2D8C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4526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Stratificarea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4526280"/>
            <a:ext cx="2148840" cy="914400"/>
          </a:xfrm>
          <a:prstGeom prst="chevron">
            <a:avLst/>
          </a:prstGeom>
          <a:solidFill>
            <a:srgbClr val="B0253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4526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Standardizarea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72600" y="4526280"/>
            <a:ext cx="2148840" cy="914400"/>
          </a:xfrm>
          <a:prstGeom prst="chevron">
            <a:avLst/>
          </a:prstGeom>
          <a:solidFill>
            <a:srgbClr val="9C4A0A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4526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Regresia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SLĂBICIUNE A GRAFICULUI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Județe, nu oameni: eroarea ecologică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721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graficul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14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județele cu mai multe farmacii au mortalitate mai mare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5060" y="160020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5060" y="1600200"/>
            <a:ext cx="53721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3660" y="18288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arată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23660" y="2377440"/>
            <a:ext cx="4914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 oamenii care merg la farmacie mor mai des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886200"/>
            <a:ext cx="91440" cy="14630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Eroarea ecologică: concluzii despre persoane trase din date despre grupuri. Asocierea dintre grupuri nu o reflectă neapărat pe cea dintre persoane.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A TREIA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B: întâi un al treilea factor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96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Transformă o corelație într-o cauză.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DDF1EC"/>
          </a:solidFill>
          <a:ln w="12700">
            <a:solidFill>
              <a:srgbClr val="DD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9864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mai bună primă reacție: județele urbane și îmbătrânite au și mai multe farmacii, și mai multe decese. Întâi rate standardizate.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71246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712464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Coincidența nu e o explicație, ci o ipoteză de verificat.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79145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0566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791456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Cauzalitatea inversă e o ipoteză, dar varianta renunță la verificare. Se spune alături de B, nu în locul ei.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feluri în care minte o cifră, pe un singur comunicat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5052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relativ singur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dați și riscul absolut, în frecvențe și procente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8160" y="169164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691640"/>
            <a:ext cx="35052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6760" y="19202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Rezumatul nepotrivit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56760" y="246888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extreme trag media; mediana arată cazul obișnuit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61960" y="169164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1960" y="1691640"/>
            <a:ext cx="35052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192024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nedreaptă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90560" y="246888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standardizate: de la 1,95 la 2,51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toate trei: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semnificația statistică nu înseamnă importanță, iar corelația nu înseamnă cauză.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adus de acasă: trei întrebări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46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ce risc s-a pornit: unde este numitorul?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441448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877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441448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ce se compară și sunt comparabile, de pildă ca vârstă?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28269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282696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o legătură sau o cauză?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4251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titlul nu răspunde la niciuna, rescrieți-l în două rânduri, cu riscul absolut. Două perechi citesc varianta veche și pe cea nouă.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Ședința a cincea: incidența și prevalența, supravegherea, criteriile de cauzalitate și screeningul.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Mentimeter, anonim. Răspunsurile stau la baza modificărilor anunțate la începutul ședinței următoare.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Ședința 4 - Biostatistica în sănătatea publică</dc:title>
  <dc:subject>PptxGenJS Presentation</dc:subject>
  <dc:creator>Conf. Univ. Dr. Adrian Pana</dc:creator>
  <cp:lastModifiedBy>Conf. Univ. Dr. Adrian Pana</cp:lastModifiedBy>
  <cp:revision>1</cp:revision>
  <dcterms:created xsi:type="dcterms:W3CDTF">2026-10-25T10:42:41Z</dcterms:created>
  <dcterms:modified xsi:type="dcterms:W3CDTF">2026-10-25T10:42:41Z</dcterms:modified>
  <cp:keywords>sursa_amprenta=9f9ada6175c058d8; proiectie</cp:keywords>
</cp:coreProperties>
</file>