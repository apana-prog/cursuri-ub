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9-1.jpg" ContentType="image/jpg"/>
  <Override PartName="/ppt/media/image-31-1.jpg" ContentType="image/jpg"/>
  <Override PartName="/ppt/media/image-32-1.jpg" ContentType="image/jpg"/>
  <Override PartName="/ppt/media/image-40-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Titlul de azi este o întrebare: ce este sănătatea publică? Primim un răspuns scurt chiar de la început, iar restul ședinței îl desface pe un caz. Deschideți de pe acum Mentimeter pe telefon.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ședință de curs și primul seminar nu au ajuns la biletul de ieșire. Timpul s-a terminat înainte de ultimele activități. Am citit, în schimb, voturile voastre din sală și am schimbat două lucruri.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Azi sunt mai puține activități, iar ultimele cinci minute sunt rezervate biletului de ieșire. Biletul are trei întrebări și este anonim. Fără el nu putem ști ce merge și ce 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Iată răspunsul, în forma cea mai scurtă. Trei cuvinte din această definiție contează mai mult decât celelalte. Restul cursului de azi le desface pe rând.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prima ședință, majoritatea celor care au votat au ales „adevărat”. Înainte să vedem ce spun datele: și-ar schimba cineva votul azi?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Cei mai mulți ani câștigați într-un secol au venit din lucruri care se petrec înainte ca omul să ajungă la spital. Asta nu înseamnă că spitalele nu contează.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vot privea studiul lui John Snow din vara anului 1854. Mulți dintre voi ați ales varianta cea mai mare. Înainte de cifre: de ce poate înșela simplul număr al morților?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comparație cinstită pune fiecare număr de bolnavi lângă numărul de oameni din care provine. Diferența dintre cele două cifre revine în ședința a patra, la biostatistică.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Situația este construită pentru acest curs și nu descrie persoane reale. Amândoi lucrează pentru sănătate. Doar unul dintre ei are în față un pacient pe care îl poate numi.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singur vot, anonim. Gândiți-vă la toți fumătorii din județ, nu numai la bărbatul din cabinet.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Discutați cu colegul de bancă și scrieți un singur cuvânt. Câteva dintre cuvinte le citim împreună.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clinician, pacientul este persoana din fața lui; pentru sănătatea publică, pacientul este comunitatea. Cele două feluri de a lucra nu se exclud. Cursul de azi este despre al doilea.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Definițiile s-au schimbat puțin în ultimul secol, iar asta spune ceva despre stabilitatea ideii. Winslow a opus concepția lui exercitării puterii de poliție, principala formă a sănătății publice de până atunci.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Legea română urmează aceeași linie. Aceeași lege definește sănătatea publică drept starea de sănătate a populației în raport cu determinanții ei: socioeconomici, biologici, de mediu, de stil de viață și de acces la servicii.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Tabelul pune cei doi pacienți din caz unul lângă altul. Un rând a rămas necompletat: cum își vede sănătatea publică rezultatul?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Când o măsură de sănătate publică reușește, nu se vede nimic. Cum numărăm ce nu s-a întâmplat? Cu această întrebare începe ședința a treia.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Afirmația este construită pentru acest curs, dar o veți auzi des. Adevărat sau fals?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Confuzia are consecințe practice: dacă sănătatea publică înseamnă spitalele, orice ban în plus merge spre paturi. Protecția sănătății publice nu este numai treaba spitalelor.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Vă promiteam în prima ședință un răspuns mai precis: cine anume acționează și pe ce lege se sprijină.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Nimic din această listă nu este nou pentru voi. Nou este doar faptul că pentru fiecare rol există un text de lege și o funcție cu nume.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Același raport din 1988 a scris misiunea sănătății publice într-o frază: să asigure condițiile în care oamenii pot fi sănătoși.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termen nou al zilei. Gândiți-vă la el ca la o fișă a postului: nu spune cine face lucrurile, ci ce trebuie să fie făcut.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Ghidul Organizației Mondiale a Sănătății din 2026 păstrează aceleași douăsprezece funcții și le împarte în două grupe. O funcție se poate întinde mult dincolo de medicină: urmărirea rezistenței microbilor la antibiotice cuprinde și sectorul veterinar, agricultura și mediul.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Răspunderea pentru asistența de sănătate publică o au, alături de minister, și Casa Națională de Asigurări de Sănătate, ministerele cu rețea sanitară proprie și autoritățile locale. Direcția din orașul inundat este cea care află de cazuri și organizează răspunsul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Legea enumeră și funcțiile principale ale asistenței de sănătate publică: printre ele, supravegherea epidemiologică, prevenirea și controlul bolilor, protejarea populației împotriva riscurilor din mediu și informarea pentru promovarea sănătății. Supravegherea revine în aproape fiecare curs al semestrului.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minute cu colegul de bancă. Răspunsurile apar pe ecran, grupate.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Mesajul către populație ține de promovarea sănătății, dar și de gestionarea urgenței. Funcțiile nu sunt sertare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Prevenția nu înseamnă doar „înainte de boală”. Organizația Mondială a Sănătății distinge trei momente. Prevenția primară poate cuprinde și acțiuni asupra condițiilor de mediu, economice și sociale care cresc riscul.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rapide, fiecare cu aceleași trei variante: primară, secundară, terțiară.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Programul de renunțare la fumat îl ajută pe bărbatul din cabinet să evite complicațiile.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Realizările sănătății publice se pot citi greșit. Iată două exemple: unul fără echivoc și unul care cere prudență.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anii 1960, bărbații finlandezi aveau cea mai mare mortalitate prin boli de inimă din lume. Colesterolul a scăzut mai ales prin schimbarea alimentației, nu prin medicamente. Ce ați vrea să știți înainte să credeți cifrele?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Scăderea nu se poate împărți simplu între proiect și alte cauze, de exemplu tratamentele mai bune.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termen nou. Nu doar „vă spunem ce să faceți”. Carta de la Ottawa are aproape patruzeci de ani; o citim pentru istorie și pentru că vocabularul ei se folosește și azi.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Carta a numit cinci arii de acțiune și trei feluri de a lucra: a susține public condițiile care favorizează sănătatea, a le da oamenilor mijloacele și a împăca interesele diferite din societate. Observați ordinea: deprinderile personale sunt doar una din cinci arii.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Cercetătorii au comparat cumpărăturile reale cu cele de așteptat dacă tendința dinaintea taxei ar fi continuat. Studiul măsoară cumpărături, nu kilograme și nici boli.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Cuvântul care contează este „evitabile”. Consiliul Uniunii Europene a adoptat concluzii despre sănătatea în toate politicile în 2006. Deciziile de sănătate nu le ia numai ministerul sănătății.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Organizația Mondială a Sănătății a scris aceste reguli pentru o întrebare grea a pandemiei: când este justificată vaccinarea obligatorie împotriva COVID-19?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termen nou. Decidenții au datoria să spună de ce au ales o obligație și trebuie să cântărească efectul asupra încrederii oamenilor.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Situația este construită pentru acest curs. Tabăra din stânga susține excluderea temporară a copiilor nevaccinați; tabăra din dreapta, informarea și vaccinarea gratuită. Variantele votului: măsura din stânga, măsura din dreapta sau „depinde de cât de repede se răspândește focarul”.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Totul depinde de întrebările din cele șase condiții.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orașul inundat, mesajul către populație era una dintre cele cinci acțiuni. El are un nume: comunicarea riscului.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Decul vechi al cursului conține câteva cifre și programe care nu au putut fi confirmate în sursele consultate pentru aceste note. De aceea nu apar în 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Alegeți una dintre cele trei întrebări și aplicați-o unei știri pe care ați citit-o săptămâna aceasta. Dacă știrea vine de la o direcție de sănătate publică, ați aflat și cine o semnează și pe ce lege se sprijină.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anonim, pe Mentimeter, prin codul QR. Răspunsurile stau la baza modificărilor anunțate la începutul ședinței următoare.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4757"/>
          </a:solidFill>
          <a:ln w="12700">
            <a:solidFill>
              <a:srgbClr val="FF4757"/>
            </a:solidFill>
            <a:prstDash val="solid"/>
          </a:ln>
        </p:spPr>
        <p:txBody>
          <a:bodyPr/>
          <a:p/>
        </p:txBody>
      </p:sp>
      <p:sp>
        <p:nvSpPr>
          <p:cNvPr id="3" name="Shape 1"/>
          <p:cNvSpPr/>
          <p:nvPr/>
        </p:nvSpPr>
        <p:spPr>
          <a:xfrm>
            <a:off x="640080" y="777240"/>
            <a:ext cx="2743200" cy="329184"/>
          </a:xfrm>
          <a:prstGeom prst="roundRect">
            <a:avLst>
              <a:gd name="adj" fmla="val 50000"/>
            </a:avLst>
          </a:prstGeom>
          <a:solidFill>
            <a:srgbClr val="FF4757"/>
          </a:solidFill>
          <a:ln w="12700">
            <a:solidFill>
              <a:srgbClr val="FF4757"/>
            </a:solidFill>
            <a:prstDash val="solid"/>
          </a:ln>
        </p:spPr>
        <p:txBody>
          <a:bodyPr/>
          <a:p/>
        </p:txBody>
      </p:sp>
      <p:sp>
        <p:nvSpPr>
          <p:cNvPr id="4" name="Text 2"/>
          <p:cNvSpPr/>
          <p:nvPr/>
        </p:nvSpPr>
        <p:spPr>
          <a:xfrm>
            <a:off x="640080" y="777240"/>
            <a:ext cx="274320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DOUA</a:t>
            </a:r>
            <a:endParaRPr lang="en-US" sz="1300" dirty="0"/>
          </a:p>
        </p:txBody>
      </p:sp>
      <p:sp>
        <p:nvSpPr>
          <p:cNvPr id="5" name="Text 3"/>
          <p:cNvSpPr/>
          <p:nvPr/>
        </p:nvSpPr>
        <p:spPr>
          <a:xfrm>
            <a:off x="640080" y="1371600"/>
            <a:ext cx="6949440" cy="1554480"/>
          </a:xfrm>
          <a:prstGeom prst="rect">
            <a:avLst/>
          </a:prstGeom>
          <a:noFill/>
          <a:ln/>
        </p:spPr>
        <p:txBody>
          <a:bodyPr wrap="square" lIns="0" tIns="0" rIns="0" bIns="0" rtlCol="0" anchor="t"/>
          <a:lstStyle/>
          <a:p>
            <a:pPr indent="0" marL="0">
              <a:buNone/>
            </a:pPr>
            <a:r>
              <a:rPr lang="en-US" sz="4800" b="1" dirty="0">
                <a:solidFill>
                  <a:srgbClr val="FFFFFF"/>
                </a:solidFill>
                <a:latin typeface="Palatino Linotype" pitchFamily="34" charset="0"/>
                <a:ea typeface="Palatino Linotype" pitchFamily="34" charset="-122"/>
                <a:cs typeface="Palatino Linotype" pitchFamily="34" charset="-120"/>
              </a:rPr>
              <a:t>Ce este sănătatea publică?</a:t>
            </a:r>
            <a:endParaRPr lang="en-US" sz="4800" dirty="0"/>
          </a:p>
        </p:txBody>
      </p:sp>
      <p:sp>
        <p:nvSpPr>
          <p:cNvPr id="6" name="Text 4"/>
          <p:cNvSpPr/>
          <p:nvPr/>
        </p:nvSpPr>
        <p:spPr>
          <a:xfrm>
            <a:off x="640080" y="2971800"/>
            <a:ext cx="6766560" cy="100584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Un medic, un inspector și un oraș fără apă de băut</a:t>
            </a:r>
            <a:endParaRPr lang="en-US" sz="2400" dirty="0"/>
          </a:p>
        </p:txBody>
      </p:sp>
      <p:sp>
        <p:nvSpPr>
          <p:cNvPr id="7" name="Shape 5"/>
          <p:cNvSpPr/>
          <p:nvPr/>
        </p:nvSpPr>
        <p:spPr>
          <a:xfrm>
            <a:off x="667512" y="4251960"/>
            <a:ext cx="1280160" cy="27432"/>
          </a:xfrm>
          <a:prstGeom prst="rect">
            <a:avLst/>
          </a:prstGeom>
          <a:solidFill>
            <a:srgbClr val="FF4757"/>
          </a:solidFill>
          <a:ln/>
        </p:spPr>
        <p:txBody>
          <a:bodyPr/>
          <a:p/>
        </p:txBody>
      </p:sp>
      <p:sp>
        <p:nvSpPr>
          <p:cNvPr id="8" name="Text 6"/>
          <p:cNvSpPr/>
          <p:nvPr/>
        </p:nvSpPr>
        <p:spPr>
          <a:xfrm>
            <a:off x="640080" y="4480560"/>
            <a:ext cx="6400800" cy="100584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Introducere în sănătate publică</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Servicii și politici de sănătate publică, anul I</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Conf. univ. dr. Adrian Pană</a:t>
            </a:r>
            <a:endParaRPr lang="en-US" sz="1400" dirty="0"/>
          </a:p>
        </p:txBody>
      </p:sp>
      <p:sp>
        <p:nvSpPr>
          <p:cNvPr id="9" name="Shape 7"/>
          <p:cNvSpPr/>
          <p:nvPr/>
        </p:nvSpPr>
        <p:spPr>
          <a:xfrm>
            <a:off x="8138160" y="1280160"/>
            <a:ext cx="3474720" cy="4206240"/>
          </a:xfrm>
          <a:prstGeom prst="roundRect">
            <a:avLst>
              <a:gd name="adj" fmla="val 2368"/>
            </a:avLst>
          </a:prstGeom>
          <a:solidFill>
            <a:srgbClr val="1D1F2B"/>
          </a:solidFill>
          <a:ln w="12700">
            <a:solidFill>
              <a:srgbClr val="1D1F2B"/>
            </a:solidFill>
            <a:prstDash val="solid"/>
          </a:ln>
        </p:spPr>
        <p:txBody>
          <a:bodyPr/>
          <a:p/>
        </p:txBody>
      </p:sp>
      <p:sp>
        <p:nvSpPr>
          <p:cNvPr id="10" name="Text 8"/>
          <p:cNvSpPr/>
          <p:nvPr/>
        </p:nvSpPr>
        <p:spPr>
          <a:xfrm>
            <a:off x="8138160" y="1463040"/>
            <a:ext cx="3474720" cy="329184"/>
          </a:xfrm>
          <a:prstGeom prst="rect">
            <a:avLst/>
          </a:prstGeom>
          <a:noFill/>
          <a:ln/>
        </p:spPr>
        <p:txBody>
          <a:bodyPr wrap="square" lIns="0" tIns="0" rIns="0" bIns="0" rtlCol="0" anchor="t"/>
          <a:lstStyle/>
          <a:p>
            <a:pPr algn="ct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VOTAȚI PE TELEFON</a:t>
            </a:r>
            <a:endParaRPr lang="en-US" sz="1300" dirty="0"/>
          </a:p>
        </p:txBody>
      </p:sp>
      <p:sp>
        <p:nvSpPr>
          <p:cNvPr id="11" name="Shape 9"/>
          <p:cNvSpPr/>
          <p:nvPr/>
        </p:nvSpPr>
        <p:spPr>
          <a:xfrm>
            <a:off x="8686800" y="1920240"/>
            <a:ext cx="2377440" cy="2377440"/>
          </a:xfrm>
          <a:prstGeom prst="roundRect">
            <a:avLst>
              <a:gd name="adj" fmla="val 3462"/>
            </a:avLst>
          </a:prstGeom>
          <a:solidFill>
            <a:srgbClr val="FFFFFF"/>
          </a:solidFill>
          <a:ln w="12700">
            <a:solidFill>
              <a:srgbClr val="FFFFFF"/>
            </a:solidFill>
            <a:prstDash val="solid"/>
          </a:ln>
        </p:spPr>
        <p:txBody>
          <a:bodyPr/>
          <a:p/>
        </p:txBody>
      </p:sp>
      <p:sp>
        <p:nvSpPr>
          <p:cNvPr id="13" name="Text 11"/>
          <p:cNvSpPr/>
          <p:nvPr/>
        </p:nvSpPr>
        <p:spPr>
          <a:xfrm>
            <a:off x="8275320" y="4526280"/>
            <a:ext cx="3200400" cy="731520"/>
          </a:xfrm>
          <a:prstGeom prst="rect">
            <a:avLst/>
          </a:prstGeom>
          <a:noFill/>
          <a:ln/>
        </p:spPr>
        <p:txBody>
          <a:bodyPr wrap="square" lIns="0" tIns="0" rIns="0" bIns="0" rtlCol="0" anchor="ctr"/>
          <a:lstStyle/>
          <a:p>
            <a:pPr algn="ctr" indent="0" marL="0">
              <a:buNone/>
            </a:pPr>
            <a:r>
              <a:rPr lang="en-US" sz="1400" dirty="0">
                <a:solidFill>
                  <a:srgbClr val="D5D8E2"/>
                </a:solidFill>
                <a:latin typeface="Palatino Linotype" pitchFamily="34" charset="0"/>
                <a:ea typeface="Palatino Linotype" pitchFamily="34" charset="-122"/>
                <a:cs typeface="Palatino Linotype" pitchFamily="34" charset="-120"/>
              </a:rPr>
              <a:t>menti.com/al9puscrv22j</a:t>
            </a:r>
            <a:endParaRPr lang="en-US" sz="1400" dirty="0"/>
          </a:p>
        </p:txBody>
      </p:sp>
      <p:pic>
        <p:nvPicPr>
          <p:cNvPr id="14" name="Picture 13" descr="Mentimeter_UB_ISP_C02.png"/>
          <p:cNvPicPr>
            <a:picLocks noChangeAspect="1"/>
          </p:cNvPicPr>
          <p:nvPr/>
        </p:nvPicPr>
        <p:blipFill>
          <a:blip r:embed="rId3"/>
          <a:stretch>
            <a:fillRect/>
          </a:stretch>
        </p:blipFill>
        <p:spPr>
          <a:xfrm>
            <a:off x="9000490" y="1920240"/>
            <a:ext cx="1750060" cy="1750060"/>
          </a:xfrm>
          <a:prstGeom prst="rect">
            <a:avLst/>
          </a:prstGeom>
        </p:spPr>
      </p:pic>
      <p:sp>
        <p:nvSpPr>
          <p:cNvPr id="15" name="TextBox 14"/>
          <p:cNvSpPr txBox="1"/>
          <p:nvPr/>
        </p:nvSpPr>
        <p:spPr>
          <a:xfrm>
            <a:off x="9000490" y="3708400"/>
            <a:ext cx="17500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PRIMA SĂPTĂMÂNĂ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am schimbat după răspunsurile voastre</a:t>
            </a:r>
            <a:endParaRPr lang="en-US" sz="3100" dirty="0"/>
          </a:p>
        </p:txBody>
      </p:sp>
      <p:sp>
        <p:nvSpPr>
          <p:cNvPr id="4" name="Text 2"/>
          <p:cNvSpPr/>
          <p:nvPr/>
        </p:nvSpPr>
        <p:spPr>
          <a:xfrm>
            <a:off x="594360" y="1600200"/>
            <a:ext cx="10972800" cy="685800"/>
          </a:xfrm>
          <a:prstGeom prst="rect">
            <a:avLst/>
          </a:prstGeom>
          <a:noFill/>
          <a:ln/>
        </p:spPr>
        <p:txBody>
          <a:bodyPr wrap="square" lIns="0" tIns="0" rIns="0" bIns="0" rtlCol="0" anchor="t"/>
          <a:lstStyle/>
          <a:p>
            <a:pPr indent="0" marL="0">
              <a:buNone/>
            </a:pPr>
            <a:r>
              <a:rPr lang="en-US" sz="1700" i="1" dirty="0">
                <a:solidFill>
                  <a:srgbClr val="585A64"/>
                </a:solidFill>
                <a:latin typeface="Palatino Linotype" pitchFamily="34" charset="0"/>
                <a:ea typeface="Palatino Linotype" pitchFamily="34" charset="-122"/>
                <a:cs typeface="Palatino Linotype" pitchFamily="34" charset="-120"/>
              </a:rPr>
              <a:t>Primul curs și primul seminar nu au ajuns la biletul de ieșire; modificările pornesc de la voturile voastre din sală.</a:t>
            </a:r>
            <a:endParaRPr lang="en-US" sz="1700" dirty="0"/>
          </a:p>
        </p:txBody>
      </p:sp>
      <p:sp>
        <p:nvSpPr>
          <p:cNvPr id="5" name="Shape 3"/>
          <p:cNvSpPr/>
          <p:nvPr/>
        </p:nvSpPr>
        <p:spPr>
          <a:xfrm>
            <a:off x="594360" y="2423160"/>
            <a:ext cx="10972800" cy="1481328"/>
          </a:xfrm>
          <a:prstGeom prst="roundRect">
            <a:avLst>
              <a:gd name="adj" fmla="val 5556"/>
            </a:avLst>
          </a:prstGeom>
          <a:solidFill>
            <a:srgbClr val="ECEAE4"/>
          </a:solidFill>
          <a:ln w="12700">
            <a:solidFill>
              <a:srgbClr val="ECEAE4"/>
            </a:solidFill>
            <a:prstDash val="solid"/>
          </a:ln>
        </p:spPr>
        <p:txBody>
          <a:bodyPr/>
          <a:p/>
        </p:txBody>
      </p:sp>
      <p:sp>
        <p:nvSpPr>
          <p:cNvPr id="6" name="Shape 4"/>
          <p:cNvSpPr/>
          <p:nvPr/>
        </p:nvSpPr>
        <p:spPr>
          <a:xfrm>
            <a:off x="594360" y="2423160"/>
            <a:ext cx="109728" cy="1481328"/>
          </a:xfrm>
          <a:prstGeom prst="rect">
            <a:avLst/>
          </a:prstGeom>
          <a:solidFill>
            <a:srgbClr val="B02532"/>
          </a:solidFill>
          <a:ln w="12700">
            <a:solidFill>
              <a:srgbClr val="B02532"/>
            </a:solidFill>
            <a:prstDash val="solid"/>
          </a:ln>
        </p:spPr>
        <p:txBody>
          <a:bodyPr/>
          <a:p/>
        </p:txBody>
      </p:sp>
      <p:sp>
        <p:nvSpPr>
          <p:cNvPr id="7" name="Text 5"/>
          <p:cNvSpPr/>
          <p:nvPr/>
        </p:nvSpPr>
        <p:spPr>
          <a:xfrm>
            <a:off x="960120" y="2423160"/>
            <a:ext cx="10332720" cy="1481328"/>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Cursul se încheie mai devreme, cu biletul de ieșire cu zece minute înainte de sfârșitul orelor (la fel la seminar), și are mai puține activități.</a:t>
            </a:r>
            <a:endParaRPr lang="en-US" sz="2000" dirty="0"/>
          </a:p>
        </p:txBody>
      </p:sp>
      <p:sp>
        <p:nvSpPr>
          <p:cNvPr id="8" name="Shape 6"/>
          <p:cNvSpPr/>
          <p:nvPr/>
        </p:nvSpPr>
        <p:spPr>
          <a:xfrm>
            <a:off x="594360" y="4114800"/>
            <a:ext cx="10972800" cy="1481328"/>
          </a:xfrm>
          <a:prstGeom prst="roundRect">
            <a:avLst>
              <a:gd name="adj" fmla="val 5556"/>
            </a:avLst>
          </a:prstGeom>
          <a:solidFill>
            <a:srgbClr val="F9F8F5"/>
          </a:solidFill>
          <a:ln w="12700">
            <a:solidFill>
              <a:srgbClr val="F9F8F5"/>
            </a:solidFill>
            <a:prstDash val="solid"/>
          </a:ln>
        </p:spPr>
        <p:txBody>
          <a:bodyPr/>
          <a:p/>
        </p:txBody>
      </p:sp>
      <p:sp>
        <p:nvSpPr>
          <p:cNvPr id="9" name="Shape 7"/>
          <p:cNvSpPr/>
          <p:nvPr/>
        </p:nvSpPr>
        <p:spPr>
          <a:xfrm>
            <a:off x="594360" y="4114800"/>
            <a:ext cx="109728" cy="1481328"/>
          </a:xfrm>
          <a:prstGeom prst="rect">
            <a:avLst/>
          </a:prstGeom>
          <a:solidFill>
            <a:srgbClr val="0E7C6B"/>
          </a:solidFill>
          <a:ln w="12700">
            <a:solidFill>
              <a:srgbClr val="0E7C6B"/>
            </a:solidFill>
            <a:prstDash val="solid"/>
          </a:ln>
        </p:spPr>
        <p:txBody>
          <a:bodyPr/>
          <a:p/>
        </p:txBody>
      </p:sp>
      <p:sp>
        <p:nvSpPr>
          <p:cNvPr id="10" name="Text 8"/>
          <p:cNvSpPr/>
          <p:nvPr/>
        </p:nvSpPr>
        <p:spPr>
          <a:xfrm>
            <a:off x="960120" y="4114800"/>
            <a:ext cx="10332720" cy="1481328"/>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Cursul 2 începe cu două răspunsuri din voturi: „trăim mai mult datorită spitalelor” (majoritatea ați răspuns „adevărat”) și raportul deceselor din studiul lui Snow (mulți dintre voi ați ales „peste cincizeci de ori”).</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SE SCHIMBĂ DE AZI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O oră și cincizeci de minute, șase părți</a:t>
            </a:r>
            <a:endParaRPr lang="en-US" sz="3000" dirty="0"/>
          </a:p>
        </p:txBody>
      </p:sp>
      <p:sp>
        <p:nvSpPr>
          <p:cNvPr id="4" name="Shape 2"/>
          <p:cNvSpPr/>
          <p:nvPr/>
        </p:nvSpPr>
        <p:spPr>
          <a:xfrm>
            <a:off x="594360" y="164592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5" name="Shape 3"/>
          <p:cNvSpPr/>
          <p:nvPr/>
        </p:nvSpPr>
        <p:spPr>
          <a:xfrm>
            <a:off x="594360" y="1645920"/>
            <a:ext cx="914400" cy="694944"/>
          </a:xfrm>
          <a:prstGeom prst="roundRect">
            <a:avLst>
              <a:gd name="adj" fmla="val 11842"/>
            </a:avLst>
          </a:prstGeom>
          <a:solidFill>
            <a:srgbClr val="FF4757"/>
          </a:solidFill>
          <a:ln w="12700">
            <a:solidFill>
              <a:srgbClr val="FF4757"/>
            </a:solidFill>
            <a:prstDash val="solid"/>
          </a:ln>
        </p:spPr>
        <p:txBody>
          <a:bodyPr/>
          <a:p/>
        </p:txBody>
      </p:sp>
      <p:sp>
        <p:nvSpPr>
          <p:cNvPr id="6" name="Text 4"/>
          <p:cNvSpPr/>
          <p:nvPr/>
        </p:nvSpPr>
        <p:spPr>
          <a:xfrm>
            <a:off x="594360" y="1645920"/>
            <a:ext cx="914400" cy="694944"/>
          </a:xfrm>
          <a:prstGeom prst="rect">
            <a:avLst/>
          </a:prstGeom>
          <a:noFill/>
          <a:ln/>
        </p:spPr>
        <p:txBody>
          <a:bodyPr wrap="square" lIns="0" tIns="0" rIns="0" bIns="0" rtlCol="0" anchor="ctr"/>
          <a:lstStyle/>
          <a:p>
            <a:pPr algn="ctr" indent="0" marL="0">
              <a:buNone/>
            </a:pPr>
            <a:r>
              <a:rPr lang="en-US" sz="1800" b="1" dirty="0">
                <a:solidFill>
                  <a:srgbClr val="2E060B"/>
                </a:solidFill>
                <a:latin typeface="Palatino Linotype" pitchFamily="34" charset="0"/>
                <a:ea typeface="Palatino Linotype" pitchFamily="34" charset="-122"/>
                <a:cs typeface="Palatino Linotype" pitchFamily="34" charset="-120"/>
              </a:rPr>
              <a:t>5′</a:t>
            </a:r>
            <a:endParaRPr lang="en-US" sz="1800" dirty="0"/>
          </a:p>
        </p:txBody>
      </p:sp>
      <p:sp>
        <p:nvSpPr>
          <p:cNvPr id="7" name="Text 5"/>
          <p:cNvSpPr/>
          <p:nvPr/>
        </p:nvSpPr>
        <p:spPr>
          <a:xfrm>
            <a:off x="1691640" y="164592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Ce mi-ați spus</a:t>
            </a:r>
            <a:endParaRPr lang="en-US" sz="1700" dirty="0"/>
          </a:p>
        </p:txBody>
      </p:sp>
      <p:sp>
        <p:nvSpPr>
          <p:cNvPr id="8" name="Shape 6"/>
          <p:cNvSpPr/>
          <p:nvPr/>
        </p:nvSpPr>
        <p:spPr>
          <a:xfrm>
            <a:off x="6172200" y="164592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9" name="Shape 7"/>
          <p:cNvSpPr/>
          <p:nvPr/>
        </p:nvSpPr>
        <p:spPr>
          <a:xfrm>
            <a:off x="6172200" y="1645920"/>
            <a:ext cx="914400" cy="694944"/>
          </a:xfrm>
          <a:prstGeom prst="roundRect">
            <a:avLst>
              <a:gd name="adj" fmla="val 11842"/>
            </a:avLst>
          </a:prstGeom>
          <a:solidFill>
            <a:srgbClr val="FFC24B"/>
          </a:solidFill>
          <a:ln w="12700">
            <a:solidFill>
              <a:srgbClr val="FFC24B"/>
            </a:solidFill>
            <a:prstDash val="solid"/>
          </a:ln>
        </p:spPr>
        <p:txBody>
          <a:bodyPr/>
          <a:p/>
        </p:txBody>
      </p:sp>
      <p:sp>
        <p:nvSpPr>
          <p:cNvPr id="10" name="Text 8"/>
          <p:cNvSpPr/>
          <p:nvPr/>
        </p:nvSpPr>
        <p:spPr>
          <a:xfrm>
            <a:off x="6172200" y="1645920"/>
            <a:ext cx="914400" cy="694944"/>
          </a:xfrm>
          <a:prstGeom prst="rect">
            <a:avLst/>
          </a:prstGeom>
          <a:noFill/>
          <a:ln/>
        </p:spPr>
        <p:txBody>
          <a:bodyPr wrap="square" lIns="0" tIns="0" rIns="0" bIns="0" rtlCol="0" anchor="ctr"/>
          <a:lstStyle/>
          <a:p>
            <a:pPr algn="ctr" indent="0" marL="0">
              <a:buNone/>
            </a:pPr>
            <a:r>
              <a:rPr lang="en-US" sz="1800" b="1" dirty="0">
                <a:solidFill>
                  <a:srgbClr val="3D2A00"/>
                </a:solidFill>
                <a:latin typeface="Palatino Linotype" pitchFamily="34" charset="0"/>
                <a:ea typeface="Palatino Linotype" pitchFamily="34" charset="-122"/>
                <a:cs typeface="Palatino Linotype" pitchFamily="34" charset="-120"/>
              </a:rPr>
              <a:t>7′</a:t>
            </a:r>
            <a:endParaRPr lang="en-US" sz="1800" dirty="0"/>
          </a:p>
        </p:txBody>
      </p:sp>
      <p:sp>
        <p:nvSpPr>
          <p:cNvPr id="11" name="Text 9"/>
          <p:cNvSpPr/>
          <p:nvPr/>
        </p:nvSpPr>
        <p:spPr>
          <a:xfrm>
            <a:off x="7269480" y="164592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Două răspunsuri pe care vi le datorăm</a:t>
            </a:r>
            <a:endParaRPr lang="en-US" sz="1700" dirty="0"/>
          </a:p>
        </p:txBody>
      </p:sp>
      <p:sp>
        <p:nvSpPr>
          <p:cNvPr id="12" name="Shape 10"/>
          <p:cNvSpPr/>
          <p:nvPr/>
        </p:nvSpPr>
        <p:spPr>
          <a:xfrm>
            <a:off x="594360" y="246888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13" name="Shape 11"/>
          <p:cNvSpPr/>
          <p:nvPr/>
        </p:nvSpPr>
        <p:spPr>
          <a:xfrm>
            <a:off x="594360" y="2468880"/>
            <a:ext cx="914400" cy="694944"/>
          </a:xfrm>
          <a:prstGeom prst="roundRect">
            <a:avLst>
              <a:gd name="adj" fmla="val 11842"/>
            </a:avLst>
          </a:prstGeom>
          <a:solidFill>
            <a:srgbClr val="27D3BE"/>
          </a:solidFill>
          <a:ln w="12700">
            <a:solidFill>
              <a:srgbClr val="27D3BE"/>
            </a:solidFill>
            <a:prstDash val="solid"/>
          </a:ln>
        </p:spPr>
        <p:txBody>
          <a:bodyPr/>
          <a:p/>
        </p:txBody>
      </p:sp>
      <p:sp>
        <p:nvSpPr>
          <p:cNvPr id="14" name="Text 12"/>
          <p:cNvSpPr/>
          <p:nvPr/>
        </p:nvSpPr>
        <p:spPr>
          <a:xfrm>
            <a:off x="594360" y="2468880"/>
            <a:ext cx="914400" cy="694944"/>
          </a:xfrm>
          <a:prstGeom prst="rect">
            <a:avLst/>
          </a:prstGeom>
          <a:noFill/>
          <a:ln/>
        </p:spPr>
        <p:txBody>
          <a:bodyPr wrap="square" lIns="0" tIns="0" rIns="0" bIns="0" rtlCol="0" anchor="ctr"/>
          <a:lstStyle/>
          <a:p>
            <a:pPr algn="ctr" indent="0" marL="0">
              <a:buNone/>
            </a:pPr>
            <a:r>
              <a:rPr lang="en-US" sz="1800" b="1" dirty="0">
                <a:solidFill>
                  <a:srgbClr val="073B34"/>
                </a:solidFill>
                <a:latin typeface="Palatino Linotype" pitchFamily="34" charset="0"/>
                <a:ea typeface="Palatino Linotype" pitchFamily="34" charset="-122"/>
                <a:cs typeface="Palatino Linotype" pitchFamily="34" charset="-120"/>
              </a:rPr>
              <a:t>24′</a:t>
            </a:r>
            <a:endParaRPr lang="en-US" sz="1800" dirty="0"/>
          </a:p>
        </p:txBody>
      </p:sp>
      <p:sp>
        <p:nvSpPr>
          <p:cNvPr id="15" name="Text 13"/>
          <p:cNvSpPr/>
          <p:nvPr/>
        </p:nvSpPr>
        <p:spPr>
          <a:xfrm>
            <a:off x="1691640" y="246888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Doi pacienți: omul și orașul</a:t>
            </a:r>
            <a:endParaRPr lang="en-US" sz="1700" dirty="0"/>
          </a:p>
        </p:txBody>
      </p:sp>
      <p:sp>
        <p:nvSpPr>
          <p:cNvPr id="16" name="Shape 14"/>
          <p:cNvSpPr/>
          <p:nvPr/>
        </p:nvSpPr>
        <p:spPr>
          <a:xfrm>
            <a:off x="6172200" y="246888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17" name="Shape 15"/>
          <p:cNvSpPr/>
          <p:nvPr/>
        </p:nvSpPr>
        <p:spPr>
          <a:xfrm>
            <a:off x="6172200" y="2468880"/>
            <a:ext cx="914400" cy="694944"/>
          </a:xfrm>
          <a:prstGeom prst="roundRect">
            <a:avLst>
              <a:gd name="adj" fmla="val 11842"/>
            </a:avLst>
          </a:prstGeom>
          <a:solidFill>
            <a:srgbClr val="9B7EF7"/>
          </a:solidFill>
          <a:ln w="12700">
            <a:solidFill>
              <a:srgbClr val="9B7EF7"/>
            </a:solidFill>
            <a:prstDash val="solid"/>
          </a:ln>
        </p:spPr>
        <p:txBody>
          <a:bodyPr/>
          <a:p/>
        </p:txBody>
      </p:sp>
      <p:sp>
        <p:nvSpPr>
          <p:cNvPr id="18" name="Text 16"/>
          <p:cNvSpPr/>
          <p:nvPr/>
        </p:nvSpPr>
        <p:spPr>
          <a:xfrm>
            <a:off x="6172200" y="2468880"/>
            <a:ext cx="914400" cy="694944"/>
          </a:xfrm>
          <a:prstGeom prst="rect">
            <a:avLst/>
          </a:prstGeom>
          <a:noFill/>
          <a:ln/>
        </p:spPr>
        <p:txBody>
          <a:bodyPr wrap="square" lIns="0" tIns="0" rIns="0" bIns="0" rtlCol="0" anchor="ctr"/>
          <a:lstStyle/>
          <a:p>
            <a:pPr algn="ctr" indent="0" marL="0">
              <a:buNone/>
            </a:pPr>
            <a:r>
              <a:rPr lang="en-US" sz="1800" b="1" dirty="0">
                <a:solidFill>
                  <a:srgbClr val="1F1040"/>
                </a:solidFill>
                <a:latin typeface="Palatino Linotype" pitchFamily="34" charset="0"/>
                <a:ea typeface="Palatino Linotype" pitchFamily="34" charset="-122"/>
                <a:cs typeface="Palatino Linotype" pitchFamily="34" charset="-120"/>
              </a:rPr>
              <a:t>34′</a:t>
            </a:r>
            <a:endParaRPr lang="en-US" sz="1800" dirty="0"/>
          </a:p>
        </p:txBody>
      </p:sp>
      <p:sp>
        <p:nvSpPr>
          <p:cNvPr id="19" name="Text 17"/>
          <p:cNvSpPr/>
          <p:nvPr/>
        </p:nvSpPr>
        <p:spPr>
          <a:xfrm>
            <a:off x="7269480" y="246888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Cine face ce</a:t>
            </a:r>
            <a:endParaRPr lang="en-US" sz="1700" dirty="0"/>
          </a:p>
        </p:txBody>
      </p:sp>
      <p:sp>
        <p:nvSpPr>
          <p:cNvPr id="20" name="Shape 18"/>
          <p:cNvSpPr/>
          <p:nvPr/>
        </p:nvSpPr>
        <p:spPr>
          <a:xfrm>
            <a:off x="594360" y="329184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21" name="Shape 19"/>
          <p:cNvSpPr/>
          <p:nvPr/>
        </p:nvSpPr>
        <p:spPr>
          <a:xfrm>
            <a:off x="594360" y="3291840"/>
            <a:ext cx="914400" cy="694944"/>
          </a:xfrm>
          <a:prstGeom prst="roundRect">
            <a:avLst>
              <a:gd name="adj" fmla="val 11842"/>
            </a:avLst>
          </a:prstGeom>
          <a:solidFill>
            <a:srgbClr val="FF8A3D"/>
          </a:solidFill>
          <a:ln w="12700">
            <a:solidFill>
              <a:srgbClr val="FF8A3D"/>
            </a:solidFill>
            <a:prstDash val="solid"/>
          </a:ln>
        </p:spPr>
        <p:txBody>
          <a:bodyPr/>
          <a:p/>
        </p:txBody>
      </p:sp>
      <p:sp>
        <p:nvSpPr>
          <p:cNvPr id="22" name="Text 20"/>
          <p:cNvSpPr/>
          <p:nvPr/>
        </p:nvSpPr>
        <p:spPr>
          <a:xfrm>
            <a:off x="594360" y="3291840"/>
            <a:ext cx="914400" cy="694944"/>
          </a:xfrm>
          <a:prstGeom prst="rect">
            <a:avLst/>
          </a:prstGeom>
          <a:noFill/>
          <a:ln/>
        </p:spPr>
        <p:txBody>
          <a:bodyPr wrap="square" lIns="0" tIns="0" rIns="0" bIns="0" rtlCol="0" anchor="ctr"/>
          <a:lstStyle/>
          <a:p>
            <a:pPr algn="ctr" indent="0" marL="0">
              <a:buNone/>
            </a:pPr>
            <a:r>
              <a:rPr lang="en-US" sz="1800" b="1" dirty="0">
                <a:solidFill>
                  <a:srgbClr val="11121A"/>
                </a:solidFill>
                <a:latin typeface="Palatino Linotype" pitchFamily="34" charset="0"/>
                <a:ea typeface="Palatino Linotype" pitchFamily="34" charset="-122"/>
                <a:cs typeface="Palatino Linotype" pitchFamily="34" charset="-120"/>
              </a:rPr>
              <a:t>29′</a:t>
            </a:r>
            <a:endParaRPr lang="en-US" sz="1800" dirty="0"/>
          </a:p>
        </p:txBody>
      </p:sp>
      <p:sp>
        <p:nvSpPr>
          <p:cNvPr id="23" name="Text 21"/>
          <p:cNvSpPr/>
          <p:nvPr/>
        </p:nvSpPr>
        <p:spPr>
          <a:xfrm>
            <a:off x="1691640" y="329184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Promovarea sănătății și dreptatea</a:t>
            </a:r>
            <a:endParaRPr lang="en-US" sz="1700" dirty="0"/>
          </a:p>
        </p:txBody>
      </p:sp>
      <p:sp>
        <p:nvSpPr>
          <p:cNvPr id="24" name="Shape 22"/>
          <p:cNvSpPr/>
          <p:nvPr/>
        </p:nvSpPr>
        <p:spPr>
          <a:xfrm>
            <a:off x="6172200" y="329184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25" name="Shape 23"/>
          <p:cNvSpPr/>
          <p:nvPr/>
        </p:nvSpPr>
        <p:spPr>
          <a:xfrm>
            <a:off x="6172200" y="3291840"/>
            <a:ext cx="914400" cy="694944"/>
          </a:xfrm>
          <a:prstGeom prst="roundRect">
            <a:avLst>
              <a:gd name="adj" fmla="val 11842"/>
            </a:avLst>
          </a:prstGeom>
          <a:solidFill>
            <a:srgbClr val="585A64"/>
          </a:solidFill>
          <a:ln w="12700">
            <a:solidFill>
              <a:srgbClr val="585A64"/>
            </a:solidFill>
            <a:prstDash val="solid"/>
          </a:ln>
        </p:spPr>
        <p:txBody>
          <a:bodyPr/>
          <a:p/>
        </p:txBody>
      </p:sp>
      <p:sp>
        <p:nvSpPr>
          <p:cNvPr id="26" name="Text 24"/>
          <p:cNvSpPr/>
          <p:nvPr/>
        </p:nvSpPr>
        <p:spPr>
          <a:xfrm>
            <a:off x="6172200" y="3291840"/>
            <a:ext cx="91440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11′</a:t>
            </a:r>
            <a:endParaRPr lang="en-US" sz="1800" dirty="0"/>
          </a:p>
        </p:txBody>
      </p:sp>
      <p:sp>
        <p:nvSpPr>
          <p:cNvPr id="27" name="Text 25"/>
          <p:cNvSpPr/>
          <p:nvPr/>
        </p:nvSpPr>
        <p:spPr>
          <a:xfrm>
            <a:off x="7269480" y="329184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Ce rămâne, apoi biletul de ieșire</a:t>
            </a:r>
            <a:endParaRPr lang="en-US" sz="1700" dirty="0"/>
          </a:p>
        </p:txBody>
      </p:sp>
      <p:sp>
        <p:nvSpPr>
          <p:cNvPr id="28" name="Shape 26"/>
          <p:cNvSpPr/>
          <p:nvPr/>
        </p:nvSpPr>
        <p:spPr>
          <a:xfrm>
            <a:off x="594360" y="4251960"/>
            <a:ext cx="10972800" cy="1463040"/>
          </a:xfrm>
          <a:prstGeom prst="roundRect">
            <a:avLst>
              <a:gd name="adj" fmla="val 5625"/>
            </a:avLst>
          </a:prstGeom>
          <a:solidFill>
            <a:srgbClr val="F9F8F5"/>
          </a:solidFill>
          <a:ln w="12700">
            <a:solidFill>
              <a:srgbClr val="F9F8F5"/>
            </a:solidFill>
            <a:prstDash val="solid"/>
          </a:ln>
        </p:spPr>
        <p:txBody>
          <a:bodyPr/>
          <a:p/>
        </p:txBody>
      </p:sp>
      <p:sp>
        <p:nvSpPr>
          <p:cNvPr id="29" name="Text 27"/>
          <p:cNvSpPr/>
          <p:nvPr/>
        </p:nvSpPr>
        <p:spPr>
          <a:xfrm>
            <a:off x="868680" y="4251960"/>
            <a:ext cx="10424160" cy="14630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Trei termeni noi: </a:t>
            </a:r>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funcțiile esențiale · promovarea sănătății · proporționalitatea.</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Mai puține activități decât data trecută. Ultimele cinci minute sunt ale biletului de ieșire: trei întrebări, anonim. Nimic din ce faceți în sală nu se notează.</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RĂSPUNS SCURT LA TITLU</a:t>
            </a:r>
            <a:endParaRPr lang="en-US" sz="1300" dirty="0"/>
          </a:p>
        </p:txBody>
      </p:sp>
      <p:sp>
        <p:nvSpPr>
          <p:cNvPr id="3" name="Text 1"/>
          <p:cNvSpPr/>
          <p:nvPr/>
        </p:nvSpPr>
        <p:spPr>
          <a:xfrm>
            <a:off x="594360" y="822960"/>
            <a:ext cx="10972800" cy="1737360"/>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Sănătatea publică este efortul organizat al societății de a proteja și de a promova sănătatea întregii populații.</a:t>
            </a:r>
            <a:endParaRPr lang="en-US" sz="3000" dirty="0"/>
          </a:p>
        </p:txBody>
      </p:sp>
      <p:sp>
        <p:nvSpPr>
          <p:cNvPr id="4" name="Text 2"/>
          <p:cNvSpPr/>
          <p:nvPr/>
        </p:nvSpPr>
        <p:spPr>
          <a:xfrm>
            <a:off x="594360" y="2606040"/>
            <a:ext cx="1097280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Legea nr. 95/2006 și Organizația Mondială a Sănătății spun aproape același lucru.</a:t>
            </a:r>
            <a:endParaRPr lang="en-US" sz="1500" dirty="0"/>
          </a:p>
        </p:txBody>
      </p:sp>
      <p:sp>
        <p:nvSpPr>
          <p:cNvPr id="5" name="Shape 3"/>
          <p:cNvSpPr/>
          <p:nvPr/>
        </p:nvSpPr>
        <p:spPr>
          <a:xfrm>
            <a:off x="594360" y="3291840"/>
            <a:ext cx="3520440" cy="2377440"/>
          </a:xfrm>
          <a:prstGeom prst="roundRect">
            <a:avLst>
              <a:gd name="adj" fmla="val 3462"/>
            </a:avLst>
          </a:prstGeom>
          <a:solidFill>
            <a:srgbClr val="1D1F2B"/>
          </a:solidFill>
          <a:ln w="12700">
            <a:solidFill>
              <a:srgbClr val="1D1F2B"/>
            </a:solidFill>
            <a:prstDash val="solid"/>
          </a:ln>
        </p:spPr>
        <p:txBody>
          <a:bodyPr/>
          <a:p/>
        </p:txBody>
      </p:sp>
      <p:sp>
        <p:nvSpPr>
          <p:cNvPr id="6" name="Shape 4"/>
          <p:cNvSpPr/>
          <p:nvPr/>
        </p:nvSpPr>
        <p:spPr>
          <a:xfrm>
            <a:off x="594360" y="3291840"/>
            <a:ext cx="3520440" cy="73152"/>
          </a:xfrm>
          <a:prstGeom prst="rect">
            <a:avLst/>
          </a:prstGeom>
          <a:solidFill>
            <a:srgbClr val="FF4757"/>
          </a:solidFill>
          <a:ln w="12700">
            <a:solidFill>
              <a:srgbClr val="FF4757"/>
            </a:solidFill>
            <a:prstDash val="solid"/>
          </a:ln>
        </p:spPr>
        <p:txBody>
          <a:bodyPr/>
          <a:p/>
        </p:txBody>
      </p:sp>
      <p:sp>
        <p:nvSpPr>
          <p:cNvPr id="7" name="Text 5"/>
          <p:cNvSpPr/>
          <p:nvPr/>
        </p:nvSpPr>
        <p:spPr>
          <a:xfrm>
            <a:off x="868680" y="3520440"/>
            <a:ext cx="3017520" cy="502920"/>
          </a:xfrm>
          <a:prstGeom prst="rect">
            <a:avLst/>
          </a:prstGeom>
          <a:noFill/>
          <a:ln/>
        </p:spPr>
        <p:txBody>
          <a:bodyPr wrap="square" lIns="0" tIns="0" rIns="0" bIns="0" rtlCol="0" anchor="t"/>
          <a:lstStyle/>
          <a:p>
            <a:pPr indent="0" marL="0">
              <a:buNone/>
            </a:pPr>
            <a:r>
              <a:rPr lang="en-US" sz="2400" b="1" dirty="0">
                <a:solidFill>
                  <a:srgbClr val="FF4757"/>
                </a:solidFill>
                <a:latin typeface="Palatino Linotype" pitchFamily="34" charset="0"/>
                <a:ea typeface="Palatino Linotype" pitchFamily="34" charset="-122"/>
                <a:cs typeface="Palatino Linotype" pitchFamily="34" charset="-120"/>
              </a:rPr>
              <a:t>Organizat</a:t>
            </a:r>
            <a:endParaRPr lang="en-US" sz="2400" dirty="0"/>
          </a:p>
        </p:txBody>
      </p:sp>
      <p:sp>
        <p:nvSpPr>
          <p:cNvPr id="8" name="Text 6"/>
          <p:cNvSpPr/>
          <p:nvPr/>
        </p:nvSpPr>
        <p:spPr>
          <a:xfrm>
            <a:off x="868680" y="4114800"/>
            <a:ext cx="3017520" cy="13716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Instituții, reguli și bani publici, nu fapta bună a unui singur om.</a:t>
            </a:r>
            <a:endParaRPr lang="en-US" sz="1700" dirty="0"/>
          </a:p>
        </p:txBody>
      </p:sp>
      <p:sp>
        <p:nvSpPr>
          <p:cNvPr id="9" name="Shape 7"/>
          <p:cNvSpPr/>
          <p:nvPr/>
        </p:nvSpPr>
        <p:spPr>
          <a:xfrm>
            <a:off x="4343400" y="3291840"/>
            <a:ext cx="3520440" cy="2377440"/>
          </a:xfrm>
          <a:prstGeom prst="roundRect">
            <a:avLst>
              <a:gd name="adj" fmla="val 3462"/>
            </a:avLst>
          </a:prstGeom>
          <a:solidFill>
            <a:srgbClr val="1D1F2B"/>
          </a:solidFill>
          <a:ln w="12700">
            <a:solidFill>
              <a:srgbClr val="1D1F2B"/>
            </a:solidFill>
            <a:prstDash val="solid"/>
          </a:ln>
        </p:spPr>
        <p:txBody>
          <a:bodyPr/>
          <a:p/>
        </p:txBody>
      </p:sp>
      <p:sp>
        <p:nvSpPr>
          <p:cNvPr id="10" name="Shape 8"/>
          <p:cNvSpPr/>
          <p:nvPr/>
        </p:nvSpPr>
        <p:spPr>
          <a:xfrm>
            <a:off x="4343400" y="3291840"/>
            <a:ext cx="3520440" cy="73152"/>
          </a:xfrm>
          <a:prstGeom prst="rect">
            <a:avLst/>
          </a:prstGeom>
          <a:solidFill>
            <a:srgbClr val="FFC24B"/>
          </a:solidFill>
          <a:ln w="12700">
            <a:solidFill>
              <a:srgbClr val="FFC24B"/>
            </a:solidFill>
            <a:prstDash val="solid"/>
          </a:ln>
        </p:spPr>
        <p:txBody>
          <a:bodyPr/>
          <a:p/>
        </p:txBody>
      </p:sp>
      <p:sp>
        <p:nvSpPr>
          <p:cNvPr id="11" name="Text 9"/>
          <p:cNvSpPr/>
          <p:nvPr/>
        </p:nvSpPr>
        <p:spPr>
          <a:xfrm>
            <a:off x="4617720" y="3520440"/>
            <a:ext cx="3017520" cy="502920"/>
          </a:xfrm>
          <a:prstGeom prst="rect">
            <a:avLst/>
          </a:prstGeom>
          <a:noFill/>
          <a:ln/>
        </p:spPr>
        <p:txBody>
          <a:bodyPr wrap="square" lIns="0" tIns="0" rIns="0" bIns="0" rtlCol="0" anchor="t"/>
          <a:lstStyle/>
          <a:p>
            <a:pPr indent="0" marL="0">
              <a:buNone/>
            </a:pPr>
            <a:r>
              <a:rPr lang="en-US" sz="2400" b="1" dirty="0">
                <a:solidFill>
                  <a:srgbClr val="FFC24B"/>
                </a:solidFill>
                <a:latin typeface="Palatino Linotype" pitchFamily="34" charset="0"/>
                <a:ea typeface="Palatino Linotype" pitchFamily="34" charset="-122"/>
                <a:cs typeface="Palatino Linotype" pitchFamily="34" charset="-120"/>
              </a:rPr>
              <a:t>Societate</a:t>
            </a:r>
            <a:endParaRPr lang="en-US" sz="2400" dirty="0"/>
          </a:p>
        </p:txBody>
      </p:sp>
      <p:sp>
        <p:nvSpPr>
          <p:cNvPr id="12" name="Text 10"/>
          <p:cNvSpPr/>
          <p:nvPr/>
        </p:nvSpPr>
        <p:spPr>
          <a:xfrm>
            <a:off x="4617720" y="4114800"/>
            <a:ext cx="3017520" cy="13716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Lucrează împreună mai mulți actori, nu numai medicii.</a:t>
            </a:r>
            <a:endParaRPr lang="en-US" sz="1700" dirty="0"/>
          </a:p>
        </p:txBody>
      </p:sp>
      <p:sp>
        <p:nvSpPr>
          <p:cNvPr id="13" name="Shape 11"/>
          <p:cNvSpPr/>
          <p:nvPr/>
        </p:nvSpPr>
        <p:spPr>
          <a:xfrm>
            <a:off x="8092440" y="3291840"/>
            <a:ext cx="3520440" cy="2377440"/>
          </a:xfrm>
          <a:prstGeom prst="roundRect">
            <a:avLst>
              <a:gd name="adj" fmla="val 3462"/>
            </a:avLst>
          </a:prstGeom>
          <a:solidFill>
            <a:srgbClr val="1D1F2B"/>
          </a:solidFill>
          <a:ln w="12700">
            <a:solidFill>
              <a:srgbClr val="1D1F2B"/>
            </a:solidFill>
            <a:prstDash val="solid"/>
          </a:ln>
        </p:spPr>
        <p:txBody>
          <a:bodyPr/>
          <a:p/>
        </p:txBody>
      </p:sp>
      <p:sp>
        <p:nvSpPr>
          <p:cNvPr id="14" name="Shape 12"/>
          <p:cNvSpPr/>
          <p:nvPr/>
        </p:nvSpPr>
        <p:spPr>
          <a:xfrm>
            <a:off x="8092440" y="3291840"/>
            <a:ext cx="3520440" cy="73152"/>
          </a:xfrm>
          <a:prstGeom prst="rect">
            <a:avLst/>
          </a:prstGeom>
          <a:solidFill>
            <a:srgbClr val="27D3BE"/>
          </a:solidFill>
          <a:ln w="12700">
            <a:solidFill>
              <a:srgbClr val="27D3BE"/>
            </a:solidFill>
            <a:prstDash val="solid"/>
          </a:ln>
        </p:spPr>
        <p:txBody>
          <a:bodyPr/>
          <a:p/>
        </p:txBody>
      </p:sp>
      <p:sp>
        <p:nvSpPr>
          <p:cNvPr id="15" name="Text 13"/>
          <p:cNvSpPr/>
          <p:nvPr/>
        </p:nvSpPr>
        <p:spPr>
          <a:xfrm>
            <a:off x="8366760" y="3520440"/>
            <a:ext cx="3017520" cy="50292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Populație</a:t>
            </a:r>
            <a:endParaRPr lang="en-US" sz="2400" dirty="0"/>
          </a:p>
        </p:txBody>
      </p:sp>
      <p:sp>
        <p:nvSpPr>
          <p:cNvPr id="16" name="Text 14"/>
          <p:cNvSpPr/>
          <p:nvPr/>
        </p:nvSpPr>
        <p:spPr>
          <a:xfrm>
            <a:off x="8366760" y="4114800"/>
            <a:ext cx="3017520" cy="13716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Ținta este toată lumea, inclusiv oamenii care azi sunt sănătoși.</a:t>
            </a:r>
            <a:endParaRPr lang="en-US" sz="1700" dirty="0"/>
          </a:p>
        </p:txBody>
      </p:sp>
      <p:sp>
        <p:nvSpPr>
          <p:cNvPr id="17" name="Text 15"/>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7E849A"/>
                </a:solidFill>
                <a:latin typeface="Palatino Linotype" pitchFamily="34" charset="0"/>
                <a:ea typeface="Palatino Linotype" pitchFamily="34" charset="-122"/>
                <a:cs typeface="Palatino Linotype" pitchFamily="34" charset="-120"/>
              </a:rPr>
              <a:t>Sursa: Legea nr. 95/2006, titlul I; OMS, glosarul de promovare a sănătății, 2021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VOTUL VOSTRU DIN PRIMA ȘEDINȚĂ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Trăim mai mult datorită spitalelor?</a:t>
            </a:r>
            <a:endParaRPr lang="en-US" sz="3400" dirty="0"/>
          </a:p>
        </p:txBody>
      </p:sp>
      <p:sp>
        <p:nvSpPr>
          <p:cNvPr id="6" name="Text 4"/>
          <p:cNvSpPr/>
          <p:nvPr/>
        </p:nvSpPr>
        <p:spPr>
          <a:xfrm>
            <a:off x="594360" y="1920240"/>
            <a:ext cx="6583680" cy="1828800"/>
          </a:xfrm>
          <a:prstGeom prst="rect">
            <a:avLst/>
          </a:prstGeom>
          <a:noFill/>
          <a:ln/>
        </p:spPr>
        <p:txBody>
          <a:bodyPr wrap="square" lIns="0" tIns="0" rIns="0" bIns="0" rtlCol="0" anchor="ctr"/>
          <a:lstStyle/>
          <a:p>
            <a:pPr indent="0" marL="0">
              <a:buNone/>
            </a:pPr>
            <a:r>
              <a:rPr lang="en-US" sz="8000" b="1" dirty="0">
                <a:solidFill>
                  <a:srgbClr val="FFC24B"/>
                </a:solidFill>
                <a:latin typeface="Palatino Linotype" pitchFamily="34" charset="0"/>
                <a:ea typeface="Palatino Linotype" pitchFamily="34" charset="-122"/>
                <a:cs typeface="Palatino Linotype" pitchFamily="34" charset="-120"/>
              </a:rPr>
              <a:t>Majoritatea</a:t>
            </a:r>
            <a:endParaRPr lang="en-US" sz="8000" dirty="0"/>
          </a:p>
        </p:txBody>
      </p:sp>
      <p:sp>
        <p:nvSpPr>
          <p:cNvPr id="7" name="Text 5"/>
          <p:cNvSpPr/>
          <p:nvPr/>
        </p:nvSpPr>
        <p:spPr>
          <a:xfrm>
            <a:off x="685800" y="3749040"/>
            <a:ext cx="6583680" cy="731520"/>
          </a:xfrm>
          <a:prstGeom prst="rect">
            <a:avLst/>
          </a:prstGeom>
          <a:noFill/>
          <a:ln/>
        </p:spPr>
        <p:txBody>
          <a:bodyPr wrap="square" lIns="0" tIns="0" rIns="0" bIns="0" rtlCol="0" anchor="t"/>
          <a:lstStyle/>
          <a:p>
            <a:pPr indent="0" marL="0">
              <a:buNone/>
            </a:pPr>
            <a:r>
              <a:rPr lang="en-US" sz="2400" dirty="0">
                <a:solidFill>
                  <a:srgbClr val="FFFFFF"/>
                </a:solidFill>
                <a:latin typeface="Palatino Linotype" pitchFamily="34" charset="0"/>
                <a:ea typeface="Palatino Linotype" pitchFamily="34" charset="-122"/>
                <a:cs typeface="Palatino Linotype" pitchFamily="34" charset="-120"/>
              </a:rPr>
              <a:t>celor care au votat au ales „adevărat”.</a:t>
            </a:r>
            <a:endParaRPr lang="en-US" sz="2400" dirty="0"/>
          </a:p>
        </p:txBody>
      </p:sp>
      <p:sp>
        <p:nvSpPr>
          <p:cNvPr id="8" name="Shape 6"/>
          <p:cNvSpPr/>
          <p:nvPr/>
        </p:nvSpPr>
        <p:spPr>
          <a:xfrm>
            <a:off x="7589520" y="2103120"/>
            <a:ext cx="3977640" cy="2377440"/>
          </a:xfrm>
          <a:prstGeom prst="roundRect">
            <a:avLst>
              <a:gd name="adj" fmla="val 3462"/>
            </a:avLst>
          </a:prstGeom>
          <a:solidFill>
            <a:srgbClr val="1D1F2B"/>
          </a:solidFill>
          <a:ln w="12700">
            <a:solidFill>
              <a:srgbClr val="1D1F2B"/>
            </a:solidFill>
            <a:prstDash val="solid"/>
          </a:ln>
        </p:spPr>
        <p:txBody>
          <a:bodyPr/>
          <a:p/>
        </p:txBody>
      </p:sp>
      <p:sp>
        <p:nvSpPr>
          <p:cNvPr id="9" name="Text 7"/>
          <p:cNvSpPr/>
          <p:nvPr/>
        </p:nvSpPr>
        <p:spPr>
          <a:xfrm>
            <a:off x="7863840" y="2103120"/>
            <a:ext cx="3474720" cy="2377440"/>
          </a:xfrm>
          <a:prstGeom prst="rect">
            <a:avLst/>
          </a:prstGeom>
          <a:noFill/>
          <a:ln/>
        </p:spPr>
        <p:txBody>
          <a:bodyPr wrap="square" lIns="0" tIns="0" rIns="0" bIns="0" rtlCol="0" anchor="ctr"/>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Ați vota la fel și azi?</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SPUN DATELE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Parțial adevărat</a:t>
            </a:r>
            <a:endParaRPr lang="en-US" sz="3400" dirty="0"/>
          </a:p>
        </p:txBody>
      </p:sp>
      <p:sp>
        <p:nvSpPr>
          <p:cNvPr id="4" name="Text 2"/>
          <p:cNvSpPr/>
          <p:nvPr/>
        </p:nvSpPr>
        <p:spPr>
          <a:xfrm>
            <a:off x="594360" y="1463040"/>
            <a:ext cx="10972800" cy="4572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Statele Unite, 1900–1999: speranța de viață a crescut cu peste 30 de ani.</a:t>
            </a:r>
            <a:endParaRPr lang="en-US" sz="1900" dirty="0"/>
          </a:p>
        </p:txBody>
      </p:sp>
      <p:sp>
        <p:nvSpPr>
          <p:cNvPr id="5" name="Shape 3"/>
          <p:cNvSpPr/>
          <p:nvPr/>
        </p:nvSpPr>
        <p:spPr>
          <a:xfrm>
            <a:off x="594360" y="2103120"/>
            <a:ext cx="8686800" cy="914400"/>
          </a:xfrm>
          <a:prstGeom prst="rect">
            <a:avLst/>
          </a:prstGeom>
          <a:solidFill>
            <a:srgbClr val="0E7C6B"/>
          </a:solidFill>
          <a:ln w="12700">
            <a:solidFill>
              <a:srgbClr val="0E7C6B"/>
            </a:solidFill>
            <a:prstDash val="solid"/>
          </a:ln>
        </p:spPr>
        <p:txBody>
          <a:bodyPr/>
          <a:p/>
        </p:txBody>
      </p:sp>
      <p:sp>
        <p:nvSpPr>
          <p:cNvPr id="6" name="Text 4"/>
          <p:cNvSpPr/>
          <p:nvPr/>
        </p:nvSpPr>
        <p:spPr>
          <a:xfrm>
            <a:off x="822960" y="2103120"/>
            <a:ext cx="8321040" cy="9144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circa 25 de ani: progresele sănătății publice</a:t>
            </a:r>
            <a:endParaRPr lang="en-US" sz="2100" dirty="0"/>
          </a:p>
        </p:txBody>
      </p:sp>
      <p:sp>
        <p:nvSpPr>
          <p:cNvPr id="7" name="Shape 5"/>
          <p:cNvSpPr/>
          <p:nvPr/>
        </p:nvSpPr>
        <p:spPr>
          <a:xfrm>
            <a:off x="9281160" y="2103120"/>
            <a:ext cx="2286000" cy="914400"/>
          </a:xfrm>
          <a:prstGeom prst="rect">
            <a:avLst/>
          </a:prstGeom>
          <a:solidFill>
            <a:srgbClr val="ECEAE4"/>
          </a:solidFill>
          <a:ln w="12700">
            <a:solidFill>
              <a:srgbClr val="C9C6BE"/>
            </a:solidFill>
            <a:prstDash val="solid"/>
          </a:ln>
        </p:spPr>
        <p:txBody>
          <a:bodyPr/>
          <a:p/>
        </p:txBody>
      </p:sp>
      <p:sp>
        <p:nvSpPr>
          <p:cNvPr id="8" name="Text 6"/>
          <p:cNvSpPr/>
          <p:nvPr/>
        </p:nvSpPr>
        <p:spPr>
          <a:xfrm>
            <a:off x="9281160" y="2103120"/>
            <a:ext cx="2286000" cy="914400"/>
          </a:xfrm>
          <a:prstGeom prst="rect">
            <a:avLst/>
          </a:prstGeom>
          <a:noFill/>
          <a:ln/>
        </p:spPr>
        <p:txBody>
          <a:bodyPr wrap="square" lIns="0" tIns="0" rIns="0" bIns="0" rtlCol="0" anchor="ctr"/>
          <a:lstStyle/>
          <a:p>
            <a:pPr algn="ctr" indent="0" marL="0">
              <a:buNone/>
            </a:pPr>
            <a:r>
              <a:rPr lang="en-US" sz="1700" dirty="0">
                <a:solidFill>
                  <a:srgbClr val="11121A"/>
                </a:solidFill>
                <a:latin typeface="Palatino Linotype" pitchFamily="34" charset="0"/>
                <a:ea typeface="Palatino Linotype" pitchFamily="34" charset="-122"/>
                <a:cs typeface="Palatino Linotype" pitchFamily="34" charset="-120"/>
              </a:rPr>
              <a:t>restul</a:t>
            </a:r>
            <a:endParaRPr lang="en-US" sz="1700" dirty="0"/>
          </a:p>
        </p:txBody>
      </p:sp>
      <p:sp>
        <p:nvSpPr>
          <p:cNvPr id="9" name="Text 7"/>
          <p:cNvSpPr/>
          <p:nvPr/>
        </p:nvSpPr>
        <p:spPr>
          <a:xfrm>
            <a:off x="594360" y="3291840"/>
            <a:ext cx="10972800" cy="10972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Estimarea CDC din 1999. Direcția ei este confirmată de OMS în 2026: marile câștiguri de la începutul secolului XX au venit în mare parte din vaccinare, apă, canalizare și igienă.</a:t>
            </a:r>
            <a:endParaRPr lang="en-US" sz="1800" dirty="0"/>
          </a:p>
        </p:txBody>
      </p:sp>
      <p:sp>
        <p:nvSpPr>
          <p:cNvPr id="10" name="Shape 8"/>
          <p:cNvSpPr/>
          <p:nvPr/>
        </p:nvSpPr>
        <p:spPr>
          <a:xfrm>
            <a:off x="594360" y="4526280"/>
            <a:ext cx="10972800" cy="1280160"/>
          </a:xfrm>
          <a:prstGeom prst="roundRect">
            <a:avLst>
              <a:gd name="adj" fmla="val 6429"/>
            </a:avLst>
          </a:prstGeom>
          <a:solidFill>
            <a:srgbClr val="ECEAE4"/>
          </a:solidFill>
          <a:ln w="12700">
            <a:solidFill>
              <a:srgbClr val="ECEAE4"/>
            </a:solidFill>
            <a:prstDash val="solid"/>
          </a:ln>
        </p:spPr>
        <p:txBody>
          <a:bodyPr/>
          <a:p/>
        </p:txBody>
      </p:sp>
      <p:sp>
        <p:nvSpPr>
          <p:cNvPr id="11" name="Text 9"/>
          <p:cNvSpPr/>
          <p:nvPr/>
        </p:nvSpPr>
        <p:spPr>
          <a:xfrm>
            <a:off x="868680" y="4526280"/>
            <a:ext cx="10424160" cy="1280160"/>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Spitalele contează. </a:t>
            </a:r>
            <a:pPr indent="0" marL="0">
              <a:buNone/>
            </a:pPr>
            <a:r>
              <a:rPr lang="en-US" sz="1800" dirty="0">
                <a:solidFill>
                  <a:srgbClr val="11121A"/>
                </a:solidFill>
                <a:latin typeface="Palatino Linotype" pitchFamily="34" charset="0"/>
                <a:ea typeface="Palatino Linotype" pitchFamily="34" charset="-122"/>
                <a:cs typeface="Palatino Linotype" pitchFamily="34" charset="-120"/>
              </a:rPr>
              <a:t>Scăderea mortalității prin infarct și prin accident vascular cerebral este o realizare comună a medicinei clinice și a sănătății publice.</a:t>
            </a:r>
            <a:endParaRPr lang="en-US" sz="1800" dirty="0"/>
          </a:p>
        </p:txBody>
      </p:sp>
      <p:sp>
        <p:nvSpPr>
          <p:cNvPr id="12" name="Text 10"/>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CDC, Ten Great Public Health Achievements, 1999; OMS,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pic>
        <p:nvPicPr>
          <p:cNvPr id="4" name="Image 0" descr="/Users/adrianpana/Downloads/UMF_Cluj_SP/Materiale SP/Atelier_didactic/discipline/UB_ISP/active/img/C01_snow_harta.jpg">    </p:cNvPr>
          <p:cNvPicPr>
            <a:picLocks noChangeAspect="1"/>
          </p:cNvPicPr>
          <p:nvPr/>
        </p:nvPicPr>
        <p:blipFill>
          <a:blip r:embed="rId1"/>
          <a:stretch>
            <a:fillRect/>
          </a:stretch>
        </p:blipFill>
        <p:spPr>
          <a:xfrm>
            <a:off x="6400800" y="898989"/>
            <a:ext cx="5394960" cy="5060023"/>
          </a:xfrm>
          <a:prstGeom prst="rect">
            <a:avLst/>
          </a:prstGeom>
        </p:spPr>
      </p:pic>
      <p:sp>
        <p:nvSpPr>
          <p:cNvPr id="5" name="Text 2"/>
          <p:cNvSpPr/>
          <p:nvPr/>
        </p:nvSpPr>
        <p:spPr>
          <a:xfrm>
            <a:off x="6400800" y="6004731"/>
            <a:ext cx="539496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John Snow, harta holerei din Soho, 1854 · domeniu public · Wikimedia Commons</a:t>
            </a:r>
            <a:endParaRPr lang="en-US" sz="850" dirty="0"/>
          </a:p>
        </p:txBody>
      </p:sp>
      <p:sp>
        <p:nvSpPr>
          <p:cNvPr id="6" name="Text 3"/>
          <p:cNvSpPr/>
          <p:nvPr/>
        </p:nvSpPr>
        <p:spPr>
          <a:xfrm>
            <a:off x="594360" y="347472"/>
            <a:ext cx="566928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AL DOILEA VOT DIN PRIMA ȘEDINȚĂ</a:t>
            </a:r>
            <a:endParaRPr lang="en-US" sz="1300" dirty="0"/>
          </a:p>
        </p:txBody>
      </p:sp>
      <p:sp>
        <p:nvSpPr>
          <p:cNvPr id="7" name="Text 4"/>
          <p:cNvSpPr/>
          <p:nvPr/>
        </p:nvSpPr>
        <p:spPr>
          <a:xfrm>
            <a:off x="594360" y="777240"/>
            <a:ext cx="5577840" cy="11887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De câte ori mai mare a fost riscul la Londra?</a:t>
            </a:r>
            <a:endParaRPr lang="en-US" sz="2800" dirty="0"/>
          </a:p>
        </p:txBody>
      </p:sp>
      <p:sp>
        <p:nvSpPr>
          <p:cNvPr id="8" name="Text 5"/>
          <p:cNvSpPr/>
          <p:nvPr/>
        </p:nvSpPr>
        <p:spPr>
          <a:xfrm>
            <a:off x="594360" y="2011680"/>
            <a:ext cx="5577840" cy="1371600"/>
          </a:xfrm>
          <a:prstGeom prst="rect">
            <a:avLst/>
          </a:prstGeom>
          <a:noFill/>
          <a:ln/>
        </p:spPr>
        <p:txBody>
          <a:bodyPr wrap="square" lIns="0" tIns="0" rIns="0" bIns="0" rtlCol="0" anchor="ctr"/>
          <a:lstStyle/>
          <a:p>
            <a:pPr indent="0" marL="0">
              <a:buNone/>
            </a:pPr>
            <a:r>
              <a:rPr lang="en-US" sz="4000" b="1" dirty="0">
                <a:solidFill>
                  <a:srgbClr val="FFC24B"/>
                </a:solidFill>
                <a:latin typeface="Palatino Linotype" pitchFamily="34" charset="0"/>
                <a:ea typeface="Palatino Linotype" pitchFamily="34" charset="-122"/>
                <a:cs typeface="Palatino Linotype" pitchFamily="34" charset="-120"/>
              </a:rPr>
              <a:t>„peste cincizeci de ori”</a:t>
            </a:r>
            <a:endParaRPr lang="en-US" sz="4000" dirty="0"/>
          </a:p>
        </p:txBody>
      </p:sp>
      <p:sp>
        <p:nvSpPr>
          <p:cNvPr id="9" name="Text 6"/>
          <p:cNvSpPr/>
          <p:nvPr/>
        </p:nvSpPr>
        <p:spPr>
          <a:xfrm>
            <a:off x="640080" y="3383280"/>
            <a:ext cx="5486400" cy="457200"/>
          </a:xfrm>
          <a:prstGeom prst="rect">
            <a:avLst/>
          </a:prstGeom>
          <a:noFill/>
          <a:ln/>
        </p:spPr>
        <p:txBody>
          <a:bodyPr wrap="square" lIns="0" tIns="0" rIns="0" bIns="0" rtlCol="0" anchor="t"/>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a fost varianta aleasă de mulți dintre voi.</a:t>
            </a:r>
            <a:endParaRPr lang="en-US" sz="2200" dirty="0"/>
          </a:p>
        </p:txBody>
      </p:sp>
      <p:sp>
        <p:nvSpPr>
          <p:cNvPr id="10" name="Shape 7"/>
          <p:cNvSpPr/>
          <p:nvPr/>
        </p:nvSpPr>
        <p:spPr>
          <a:xfrm>
            <a:off x="594360" y="4206240"/>
            <a:ext cx="5486400" cy="1463040"/>
          </a:xfrm>
          <a:prstGeom prst="roundRect">
            <a:avLst>
              <a:gd name="adj" fmla="val 5625"/>
            </a:avLst>
          </a:prstGeom>
          <a:solidFill>
            <a:srgbClr val="1D1F2B"/>
          </a:solidFill>
          <a:ln w="12700">
            <a:solidFill>
              <a:srgbClr val="1D1F2B"/>
            </a:solidFill>
            <a:prstDash val="solid"/>
          </a:ln>
        </p:spPr>
        <p:txBody>
          <a:bodyPr/>
          <a:p/>
        </p:txBody>
      </p:sp>
      <p:sp>
        <p:nvSpPr>
          <p:cNvPr id="11" name="Text 8"/>
          <p:cNvSpPr/>
          <p:nvPr/>
        </p:nvSpPr>
        <p:spPr>
          <a:xfrm>
            <a:off x="868680" y="4206240"/>
            <a:ext cx="5029200" cy="1463040"/>
          </a:xfrm>
          <a:prstGeom prst="rect">
            <a:avLst/>
          </a:prstGeom>
          <a:noFill/>
          <a:ln/>
        </p:spPr>
        <p:txBody>
          <a:bodyPr wrap="square" lIns="0" tIns="0" rIns="0" bIns="0" rtlCol="0" anchor="ctr"/>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De ce poate înșela simplul număr al morților?</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CIFRELE LUI SNOW</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Morții și riscul nu sunt același lucru</a:t>
            </a:r>
            <a:endParaRPr lang="en-US" sz="3000" dirty="0"/>
          </a:p>
        </p:txBody>
      </p:sp>
      <p:sp>
        <p:nvSpPr>
          <p:cNvPr id="4" name="Shape 2"/>
          <p:cNvSpPr/>
          <p:nvPr/>
        </p:nvSpPr>
        <p:spPr>
          <a:xfrm>
            <a:off x="1188720" y="2362078"/>
            <a:ext cx="2011680" cy="2758562"/>
          </a:xfrm>
          <a:prstGeom prst="rect">
            <a:avLst/>
          </a:prstGeom>
          <a:solidFill>
            <a:srgbClr val="B02532"/>
          </a:solidFill>
          <a:ln w="12700">
            <a:solidFill>
              <a:srgbClr val="B02532"/>
            </a:solidFill>
            <a:prstDash val="solid"/>
          </a:ln>
        </p:spPr>
        <p:txBody>
          <a:bodyPr/>
          <a:p/>
        </p:txBody>
      </p:sp>
      <p:sp>
        <p:nvSpPr>
          <p:cNvPr id="5" name="Text 3"/>
          <p:cNvSpPr/>
          <p:nvPr/>
        </p:nvSpPr>
        <p:spPr>
          <a:xfrm>
            <a:off x="822960" y="1767718"/>
            <a:ext cx="2743200" cy="548640"/>
          </a:xfrm>
          <a:prstGeom prst="rect">
            <a:avLst/>
          </a:prstGeom>
          <a:noFill/>
          <a:ln/>
        </p:spPr>
        <p:txBody>
          <a:bodyPr wrap="square" lIns="0" tIns="0" rIns="0" bIns="0" rtlCol="0" anchor="t"/>
          <a:lstStyle/>
          <a:p>
            <a:pPr algn="ctr" indent="0" marL="0">
              <a:buNone/>
            </a:pPr>
            <a:r>
              <a:rPr lang="en-US" sz="3000" b="1" dirty="0">
                <a:solidFill>
                  <a:srgbClr val="B02532"/>
                </a:solidFill>
                <a:latin typeface="Palatino Linotype" pitchFamily="34" charset="0"/>
                <a:ea typeface="Palatino Linotype" pitchFamily="34" charset="-122"/>
                <a:cs typeface="Palatino Linotype" pitchFamily="34" charset="-120"/>
              </a:rPr>
              <a:t>419</a:t>
            </a:r>
            <a:endParaRPr lang="en-US" sz="3000" dirty="0"/>
          </a:p>
        </p:txBody>
      </p:sp>
      <p:sp>
        <p:nvSpPr>
          <p:cNvPr id="6" name="Text 4"/>
          <p:cNvSpPr/>
          <p:nvPr/>
        </p:nvSpPr>
        <p:spPr>
          <a:xfrm>
            <a:off x="822960" y="5212080"/>
            <a:ext cx="2743200" cy="548640"/>
          </a:xfrm>
          <a:prstGeom prst="rect">
            <a:avLst/>
          </a:prstGeom>
          <a:noFill/>
          <a:ln/>
        </p:spPr>
        <p:txBody>
          <a:bodyPr wrap="square" lIns="0" tIns="0" rIns="0" bIns="0" rtlCol="0" anchor="t"/>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apa luată din aval</a:t>
            </a:r>
            <a:endParaRPr lang="en-US" sz="1500" dirty="0"/>
          </a:p>
        </p:txBody>
      </p:sp>
      <p:sp>
        <p:nvSpPr>
          <p:cNvPr id="7" name="Shape 5"/>
          <p:cNvSpPr/>
          <p:nvPr/>
        </p:nvSpPr>
        <p:spPr>
          <a:xfrm>
            <a:off x="3931920" y="4593946"/>
            <a:ext cx="2011680" cy="526694"/>
          </a:xfrm>
          <a:prstGeom prst="rect">
            <a:avLst/>
          </a:prstGeom>
          <a:solidFill>
            <a:srgbClr val="0E7C6B"/>
          </a:solidFill>
          <a:ln w="12700">
            <a:solidFill>
              <a:srgbClr val="0E7C6B"/>
            </a:solidFill>
            <a:prstDash val="solid"/>
          </a:ln>
        </p:spPr>
        <p:txBody>
          <a:bodyPr/>
          <a:p/>
        </p:txBody>
      </p:sp>
      <p:sp>
        <p:nvSpPr>
          <p:cNvPr id="8" name="Text 6"/>
          <p:cNvSpPr/>
          <p:nvPr/>
        </p:nvSpPr>
        <p:spPr>
          <a:xfrm>
            <a:off x="3566160" y="3999586"/>
            <a:ext cx="2743200" cy="548640"/>
          </a:xfrm>
          <a:prstGeom prst="rect">
            <a:avLst/>
          </a:prstGeom>
          <a:noFill/>
          <a:ln/>
        </p:spPr>
        <p:txBody>
          <a:bodyPr wrap="square" lIns="0" tIns="0" rIns="0" bIns="0" rtlCol="0" anchor="t"/>
          <a:lstStyle/>
          <a:p>
            <a:pPr algn="ctr" indent="0" marL="0">
              <a:buNone/>
            </a:pPr>
            <a:r>
              <a:rPr lang="en-US" sz="3000" b="1" dirty="0">
                <a:solidFill>
                  <a:srgbClr val="0E7C6B"/>
                </a:solidFill>
                <a:latin typeface="Palatino Linotype" pitchFamily="34" charset="0"/>
                <a:ea typeface="Palatino Linotype" pitchFamily="34" charset="-122"/>
                <a:cs typeface="Palatino Linotype" pitchFamily="34" charset="-120"/>
              </a:rPr>
              <a:t>80</a:t>
            </a:r>
            <a:endParaRPr lang="en-US" sz="3000" dirty="0"/>
          </a:p>
        </p:txBody>
      </p:sp>
      <p:sp>
        <p:nvSpPr>
          <p:cNvPr id="9" name="Text 7"/>
          <p:cNvSpPr/>
          <p:nvPr/>
        </p:nvSpPr>
        <p:spPr>
          <a:xfrm>
            <a:off x="3566160" y="5212080"/>
            <a:ext cx="2743200" cy="548640"/>
          </a:xfrm>
          <a:prstGeom prst="rect">
            <a:avLst/>
          </a:prstGeom>
          <a:noFill/>
          <a:ln/>
        </p:spPr>
        <p:txBody>
          <a:bodyPr wrap="square" lIns="0" tIns="0" rIns="0" bIns="0" rtlCol="0" anchor="t"/>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cealaltă companie</a:t>
            </a:r>
            <a:endParaRPr lang="en-US" sz="1500" dirty="0"/>
          </a:p>
        </p:txBody>
      </p:sp>
      <p:sp>
        <p:nvSpPr>
          <p:cNvPr id="10" name="Shape 8"/>
          <p:cNvSpPr/>
          <p:nvPr/>
        </p:nvSpPr>
        <p:spPr>
          <a:xfrm>
            <a:off x="822960" y="5120640"/>
            <a:ext cx="5486400" cy="27432"/>
          </a:xfrm>
          <a:prstGeom prst="rect">
            <a:avLst/>
          </a:prstGeom>
          <a:solidFill>
            <a:srgbClr val="C9C6BE"/>
          </a:solidFill>
          <a:ln w="12700">
            <a:solidFill>
              <a:srgbClr val="C9C6BE"/>
            </a:solidFill>
            <a:prstDash val="solid"/>
          </a:ln>
        </p:spPr>
        <p:txBody>
          <a:bodyPr/>
          <a:p/>
        </p:txBody>
      </p:sp>
      <p:sp>
        <p:nvSpPr>
          <p:cNvPr id="11" name="Text 9"/>
          <p:cNvSpPr/>
          <p:nvPr/>
        </p:nvSpPr>
        <p:spPr>
          <a:xfrm>
            <a:off x="594360" y="5806440"/>
            <a:ext cx="6035040" cy="45720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Morți de holeră, după compania de apă. De circa cinci ori mai mulți.</a:t>
            </a:r>
            <a:endParaRPr lang="en-US" sz="1500" dirty="0"/>
          </a:p>
        </p:txBody>
      </p:sp>
      <p:sp>
        <p:nvSpPr>
          <p:cNvPr id="12" name="Shape 10"/>
          <p:cNvSpPr/>
          <p:nvPr/>
        </p:nvSpPr>
        <p:spPr>
          <a:xfrm>
            <a:off x="6949440" y="1691640"/>
            <a:ext cx="4617720" cy="4069080"/>
          </a:xfrm>
          <a:prstGeom prst="roundRect">
            <a:avLst>
              <a:gd name="adj" fmla="val 2022"/>
            </a:avLst>
          </a:prstGeom>
          <a:solidFill>
            <a:srgbClr val="ECEAE4"/>
          </a:solidFill>
          <a:ln w="12700">
            <a:solidFill>
              <a:srgbClr val="ECEAE4"/>
            </a:solidFill>
            <a:prstDash val="solid"/>
          </a:ln>
        </p:spPr>
        <p:txBody>
          <a:bodyPr/>
          <a:p/>
        </p:txBody>
      </p:sp>
      <p:sp>
        <p:nvSpPr>
          <p:cNvPr id="13" name="Text 11"/>
          <p:cNvSpPr/>
          <p:nvPr/>
        </p:nvSpPr>
        <p:spPr>
          <a:xfrm>
            <a:off x="6949440" y="1828800"/>
            <a:ext cx="4617720" cy="1371600"/>
          </a:xfrm>
          <a:prstGeom prst="rect">
            <a:avLst/>
          </a:prstGeom>
          <a:noFill/>
          <a:ln/>
        </p:spPr>
        <p:txBody>
          <a:bodyPr wrap="square" lIns="0" tIns="0" rIns="0" bIns="0" rtlCol="0" anchor="ctr"/>
          <a:lstStyle/>
          <a:p>
            <a:pPr algn="ctr" indent="0" marL="0">
              <a:buNone/>
            </a:pPr>
            <a:r>
              <a:rPr lang="en-US" sz="8000" b="1" dirty="0">
                <a:solidFill>
                  <a:srgbClr val="B02532"/>
                </a:solidFill>
                <a:latin typeface="Palatino Linotype" pitchFamily="34" charset="0"/>
                <a:ea typeface="Palatino Linotype" pitchFamily="34" charset="-122"/>
                <a:cs typeface="Palatino Linotype" pitchFamily="34" charset="-120"/>
              </a:rPr>
              <a:t>≈ 8×</a:t>
            </a:r>
            <a:endParaRPr lang="en-US" sz="8000" dirty="0"/>
          </a:p>
        </p:txBody>
      </p:sp>
      <p:sp>
        <p:nvSpPr>
          <p:cNvPr id="14" name="Text 12"/>
          <p:cNvSpPr/>
          <p:nvPr/>
        </p:nvSpPr>
        <p:spPr>
          <a:xfrm>
            <a:off x="7223760" y="3291840"/>
            <a:ext cx="4114800" cy="15544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riscul de deces, după ce morții se raportează la numărul de oameni din fiecare grup. Companiile nu aveau același număr de clienți.</a:t>
            </a:r>
            <a:endParaRPr lang="en-US" sz="1700" dirty="0"/>
          </a:p>
        </p:txBody>
      </p:sp>
      <p:sp>
        <p:nvSpPr>
          <p:cNvPr id="15" name="Text 13"/>
          <p:cNvSpPr/>
          <p:nvPr/>
        </p:nvSpPr>
        <p:spPr>
          <a:xfrm>
            <a:off x="7223760" y="5029200"/>
            <a:ext cx="4114800" cy="457200"/>
          </a:xfrm>
          <a:prstGeom prst="rect">
            <a:avLst/>
          </a:prstGeom>
          <a:noFill/>
          <a:ln/>
        </p:spPr>
        <p:txBody>
          <a:bodyPr wrap="square" lIns="0" tIns="0" rIns="0" bIns="0" rtlCol="0" anchor="t"/>
          <a:lstStyle/>
          <a:p>
            <a:pPr indent="0" marL="0">
              <a:buNone/>
            </a:pPr>
            <a:r>
              <a:rPr lang="en-US" sz="1500" i="1" dirty="0">
                <a:solidFill>
                  <a:srgbClr val="0E7C6B"/>
                </a:solidFill>
                <a:latin typeface="Palatino Linotype" pitchFamily="34" charset="0"/>
                <a:ea typeface="Palatino Linotype" pitchFamily="34" charset="-122"/>
                <a:cs typeface="Palatino Linotype" pitchFamily="34" charset="-120"/>
              </a:rPr>
              <a:t>Diferența revine în ședința a patra.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SITUAȚIE CONSTRUITĂ PENTRU CURS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Doi pacienți în aceeași zi</a:t>
            </a:r>
            <a:endParaRPr lang="en-US" sz="3200" dirty="0"/>
          </a:p>
        </p:txBody>
      </p:sp>
      <p:sp>
        <p:nvSpPr>
          <p:cNvPr id="4" name="Shape 2"/>
          <p:cNvSpPr/>
          <p:nvPr/>
        </p:nvSpPr>
        <p:spPr>
          <a:xfrm>
            <a:off x="594360" y="1600200"/>
            <a:ext cx="5394960" cy="2697480"/>
          </a:xfrm>
          <a:prstGeom prst="roundRect">
            <a:avLst>
              <a:gd name="adj" fmla="val 3051"/>
            </a:avLst>
          </a:prstGeom>
          <a:solidFill>
            <a:srgbClr val="1D1F2B"/>
          </a:solidFill>
          <a:ln w="12700">
            <a:solidFill>
              <a:srgbClr val="1D1F2B"/>
            </a:solidFill>
            <a:prstDash val="solid"/>
          </a:ln>
        </p:spPr>
        <p:txBody>
          <a:bodyPr/>
          <a:p/>
        </p:txBody>
      </p:sp>
      <p:sp>
        <p:nvSpPr>
          <p:cNvPr id="5" name="Shape 3"/>
          <p:cNvSpPr/>
          <p:nvPr/>
        </p:nvSpPr>
        <p:spPr>
          <a:xfrm>
            <a:off x="594360" y="1600200"/>
            <a:ext cx="82296" cy="2697480"/>
          </a:xfrm>
          <a:prstGeom prst="rect">
            <a:avLst/>
          </a:prstGeom>
          <a:solidFill>
            <a:srgbClr val="FF4757"/>
          </a:solidFill>
          <a:ln w="12700">
            <a:solidFill>
              <a:srgbClr val="FF4757"/>
            </a:solidFill>
            <a:prstDash val="solid"/>
          </a:ln>
        </p:spPr>
        <p:txBody>
          <a:bodyPr/>
          <a:p/>
        </p:txBody>
      </p:sp>
      <p:sp>
        <p:nvSpPr>
          <p:cNvPr id="6" name="Text 4"/>
          <p:cNvSpPr/>
          <p:nvPr/>
        </p:nvSpPr>
        <p:spPr>
          <a:xfrm>
            <a:off x="914400" y="1783080"/>
            <a:ext cx="4846320" cy="411480"/>
          </a:xfrm>
          <a:prstGeom prst="rect">
            <a:avLst/>
          </a:prstGeom>
          <a:noFill/>
          <a:ln/>
        </p:spPr>
        <p:txBody>
          <a:bodyPr wrap="square" lIns="0" tIns="0" rIns="0" bIns="0" rtlCol="0" anchor="t"/>
          <a:lstStyle/>
          <a:p>
            <a:pPr indent="0" marL="0">
              <a:buNone/>
            </a:pPr>
            <a:r>
              <a:rPr lang="en-US" sz="1700" b="1" dirty="0">
                <a:solidFill>
                  <a:srgbClr val="FF4757"/>
                </a:solidFill>
                <a:latin typeface="Palatino Linotype" pitchFamily="34" charset="0"/>
                <a:ea typeface="Palatino Linotype" pitchFamily="34" charset="-122"/>
                <a:cs typeface="Palatino Linotype" pitchFamily="34" charset="-120"/>
              </a:rPr>
              <a:t>Spitalul județean, luni dimineață</a:t>
            </a:r>
            <a:endParaRPr lang="en-US" sz="1700" dirty="0"/>
          </a:p>
        </p:txBody>
      </p:sp>
      <p:sp>
        <p:nvSpPr>
          <p:cNvPr id="7" name="Text 5"/>
          <p:cNvSpPr/>
          <p:nvPr/>
        </p:nvSpPr>
        <p:spPr>
          <a:xfrm>
            <a:off x="914400" y="2286000"/>
            <a:ext cx="4846320" cy="19202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 medic pneumolog îi explică unui bărbat de cincizeci și opt de ani rezultatul biopsiei: cancer pulmonar. Bărbatul fumează de la șaisprezece ani. Medicul îi propune tratamentul, controalele și un program de renunțare la fumat.</a:t>
            </a:r>
            <a:endParaRPr lang="en-US" sz="1700" dirty="0"/>
          </a:p>
        </p:txBody>
      </p:sp>
      <p:sp>
        <p:nvSpPr>
          <p:cNvPr id="8" name="Shape 6"/>
          <p:cNvSpPr/>
          <p:nvPr/>
        </p:nvSpPr>
        <p:spPr>
          <a:xfrm>
            <a:off x="6172200" y="1600200"/>
            <a:ext cx="5394960" cy="2697480"/>
          </a:xfrm>
          <a:prstGeom prst="roundRect">
            <a:avLst>
              <a:gd name="adj" fmla="val 3051"/>
            </a:avLst>
          </a:prstGeom>
          <a:solidFill>
            <a:srgbClr val="1D1F2B"/>
          </a:solidFill>
          <a:ln w="12700">
            <a:solidFill>
              <a:srgbClr val="1D1F2B"/>
            </a:solidFill>
            <a:prstDash val="solid"/>
          </a:ln>
        </p:spPr>
        <p:txBody>
          <a:bodyPr/>
          <a:p/>
        </p:txBody>
      </p:sp>
      <p:sp>
        <p:nvSpPr>
          <p:cNvPr id="9" name="Shape 7"/>
          <p:cNvSpPr/>
          <p:nvPr/>
        </p:nvSpPr>
        <p:spPr>
          <a:xfrm>
            <a:off x="6172200" y="1600200"/>
            <a:ext cx="82296" cy="2697480"/>
          </a:xfrm>
          <a:prstGeom prst="rect">
            <a:avLst/>
          </a:prstGeom>
          <a:solidFill>
            <a:srgbClr val="27D3BE"/>
          </a:solidFill>
          <a:ln w="12700">
            <a:solidFill>
              <a:srgbClr val="27D3BE"/>
            </a:solidFill>
            <a:prstDash val="solid"/>
          </a:ln>
        </p:spPr>
        <p:txBody>
          <a:bodyPr/>
          <a:p/>
        </p:txBody>
      </p:sp>
      <p:sp>
        <p:nvSpPr>
          <p:cNvPr id="10" name="Text 8"/>
          <p:cNvSpPr/>
          <p:nvPr/>
        </p:nvSpPr>
        <p:spPr>
          <a:xfrm>
            <a:off x="6492240" y="1783080"/>
            <a:ext cx="4846320" cy="4114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La câțiva kilometri, în aceeași dimineață</a:t>
            </a:r>
            <a:endParaRPr lang="en-US" sz="1700" dirty="0"/>
          </a:p>
        </p:txBody>
      </p:sp>
      <p:sp>
        <p:nvSpPr>
          <p:cNvPr id="11" name="Text 9"/>
          <p:cNvSpPr/>
          <p:nvPr/>
        </p:nvSpPr>
        <p:spPr>
          <a:xfrm>
            <a:off x="6492240" y="2286000"/>
            <a:ext cx="4846320" cy="19202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 inspector împuternicit de Ministerul Sănătății pregătește controalele din barurile și restaurantele județului: se respectă interdicția fumatului în spațiile publice închise? Nu va vedea niciun bolnav toată săptămâna.</a:t>
            </a:r>
            <a:endParaRPr lang="en-US" sz="1700" dirty="0"/>
          </a:p>
        </p:txBody>
      </p:sp>
      <p:sp>
        <p:nvSpPr>
          <p:cNvPr id="12" name="Text 10"/>
          <p:cNvSpPr/>
          <p:nvPr/>
        </p:nvSpPr>
        <p:spPr>
          <a:xfrm>
            <a:off x="594360" y="4572000"/>
            <a:ext cx="10972800" cy="73152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Amândoi lucrează pentru sănătate. Doar unul are în față un pacient pe care îl poate numi.</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VOTAȚI PE TELEFON</a:t>
            </a:r>
            <a:endParaRPr lang="en-US" sz="1300" dirty="0"/>
          </a:p>
        </p:txBody>
      </p:sp>
      <p:sp>
        <p:nvSpPr>
          <p:cNvPr id="5" name="Text 3"/>
          <p:cNvSpPr/>
          <p:nvPr/>
        </p:nvSpPr>
        <p:spPr>
          <a:xfrm>
            <a:off x="594360" y="777240"/>
            <a:ext cx="10972800" cy="118872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Cine va avea, în zece ani, un efect mai mare asupra numărului de cazuri de cancer pulmonar din județ?</a:t>
            </a:r>
            <a:endParaRPr lang="en-US" sz="2600" dirty="0"/>
          </a:p>
        </p:txBody>
      </p:sp>
      <p:sp>
        <p:nvSpPr>
          <p:cNvPr id="6" name="Shape 4"/>
          <p:cNvSpPr/>
          <p:nvPr/>
        </p:nvSpPr>
        <p:spPr>
          <a:xfrm>
            <a:off x="594360" y="2148840"/>
            <a:ext cx="7498080" cy="658368"/>
          </a:xfrm>
          <a:prstGeom prst="roundRect">
            <a:avLst>
              <a:gd name="adj" fmla="val 12500"/>
            </a:avLst>
          </a:prstGeom>
          <a:solidFill>
            <a:srgbClr val="1D1F2B"/>
          </a:solidFill>
          <a:ln w="12700">
            <a:solidFill>
              <a:srgbClr val="1D1F2B"/>
            </a:solidFill>
            <a:prstDash val="solid"/>
          </a:ln>
        </p:spPr>
        <p:txBody>
          <a:bodyPr/>
          <a:p/>
        </p:txBody>
      </p:sp>
      <p:sp>
        <p:nvSpPr>
          <p:cNvPr id="7" name="Shape 5"/>
          <p:cNvSpPr/>
          <p:nvPr/>
        </p:nvSpPr>
        <p:spPr>
          <a:xfrm>
            <a:off x="868680" y="2267712"/>
            <a:ext cx="420624" cy="420624"/>
          </a:xfrm>
          <a:prstGeom prst="ellipse">
            <a:avLst/>
          </a:prstGeom>
          <a:solidFill>
            <a:srgbClr val="FFC24B"/>
          </a:solidFill>
          <a:ln/>
        </p:spPr>
        <p:txBody>
          <a:bodyPr/>
          <a:p/>
        </p:txBody>
      </p:sp>
      <p:sp>
        <p:nvSpPr>
          <p:cNvPr id="8" name="Text 6"/>
          <p:cNvSpPr/>
          <p:nvPr/>
        </p:nvSpPr>
        <p:spPr>
          <a:xfrm>
            <a:off x="868680" y="22677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148840"/>
            <a:ext cx="6309360" cy="65836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Medicul pneumolog</a:t>
            </a:r>
            <a:endParaRPr lang="en-US" sz="2000" dirty="0"/>
          </a:p>
        </p:txBody>
      </p:sp>
      <p:sp>
        <p:nvSpPr>
          <p:cNvPr id="10" name="Shape 8"/>
          <p:cNvSpPr/>
          <p:nvPr/>
        </p:nvSpPr>
        <p:spPr>
          <a:xfrm>
            <a:off x="594360" y="2953512"/>
            <a:ext cx="7498080" cy="658368"/>
          </a:xfrm>
          <a:prstGeom prst="roundRect">
            <a:avLst>
              <a:gd name="adj" fmla="val 12500"/>
            </a:avLst>
          </a:prstGeom>
          <a:solidFill>
            <a:srgbClr val="1D1F2B"/>
          </a:solidFill>
          <a:ln w="12700">
            <a:solidFill>
              <a:srgbClr val="1D1F2B"/>
            </a:solidFill>
            <a:prstDash val="solid"/>
          </a:ln>
        </p:spPr>
        <p:txBody>
          <a:bodyPr/>
          <a:p/>
        </p:txBody>
      </p:sp>
      <p:sp>
        <p:nvSpPr>
          <p:cNvPr id="11" name="Shape 9"/>
          <p:cNvSpPr/>
          <p:nvPr/>
        </p:nvSpPr>
        <p:spPr>
          <a:xfrm>
            <a:off x="868680" y="3072384"/>
            <a:ext cx="420624" cy="420624"/>
          </a:xfrm>
          <a:prstGeom prst="ellipse">
            <a:avLst/>
          </a:prstGeom>
          <a:solidFill>
            <a:srgbClr val="FFC24B"/>
          </a:solidFill>
          <a:ln/>
        </p:spPr>
        <p:txBody>
          <a:bodyPr/>
          <a:p/>
        </p:txBody>
      </p:sp>
      <p:sp>
        <p:nvSpPr>
          <p:cNvPr id="12" name="Text 10"/>
          <p:cNvSpPr/>
          <p:nvPr/>
        </p:nvSpPr>
        <p:spPr>
          <a:xfrm>
            <a:off x="868680" y="30723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953512"/>
            <a:ext cx="6309360" cy="65836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Inspectorul</a:t>
            </a:r>
            <a:endParaRPr lang="en-US" sz="2000" dirty="0"/>
          </a:p>
        </p:txBody>
      </p:sp>
      <p:sp>
        <p:nvSpPr>
          <p:cNvPr id="14" name="Shape 12"/>
          <p:cNvSpPr/>
          <p:nvPr/>
        </p:nvSpPr>
        <p:spPr>
          <a:xfrm>
            <a:off x="594360" y="3758184"/>
            <a:ext cx="7498080" cy="658368"/>
          </a:xfrm>
          <a:prstGeom prst="roundRect">
            <a:avLst>
              <a:gd name="adj" fmla="val 12500"/>
            </a:avLst>
          </a:prstGeom>
          <a:solidFill>
            <a:srgbClr val="1D1F2B"/>
          </a:solidFill>
          <a:ln w="12700">
            <a:solidFill>
              <a:srgbClr val="1D1F2B"/>
            </a:solidFill>
            <a:prstDash val="solid"/>
          </a:ln>
        </p:spPr>
        <p:txBody>
          <a:bodyPr/>
          <a:p/>
        </p:txBody>
      </p:sp>
      <p:sp>
        <p:nvSpPr>
          <p:cNvPr id="15" name="Shape 13"/>
          <p:cNvSpPr/>
          <p:nvPr/>
        </p:nvSpPr>
        <p:spPr>
          <a:xfrm>
            <a:off x="868680" y="3877056"/>
            <a:ext cx="420624" cy="420624"/>
          </a:xfrm>
          <a:prstGeom prst="ellipse">
            <a:avLst/>
          </a:prstGeom>
          <a:solidFill>
            <a:srgbClr val="FFC24B"/>
          </a:solidFill>
          <a:ln/>
        </p:spPr>
        <p:txBody>
          <a:bodyPr/>
          <a:p/>
        </p:txBody>
      </p:sp>
      <p:sp>
        <p:nvSpPr>
          <p:cNvPr id="16" name="Text 14"/>
          <p:cNvSpPr/>
          <p:nvPr/>
        </p:nvSpPr>
        <p:spPr>
          <a:xfrm>
            <a:off x="868680" y="38770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758184"/>
            <a:ext cx="6309360" cy="65836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Amândoi la fel</a:t>
            </a:r>
            <a:endParaRPr lang="en-US" sz="2000" dirty="0"/>
          </a:p>
        </p:txBody>
      </p:sp>
      <p:sp>
        <p:nvSpPr>
          <p:cNvPr id="18" name="Shape 16"/>
          <p:cNvSpPr/>
          <p:nvPr/>
        </p:nvSpPr>
        <p:spPr>
          <a:xfrm>
            <a:off x="594360" y="4562856"/>
            <a:ext cx="7498080" cy="658368"/>
          </a:xfrm>
          <a:prstGeom prst="roundRect">
            <a:avLst>
              <a:gd name="adj" fmla="val 12500"/>
            </a:avLst>
          </a:prstGeom>
          <a:solidFill>
            <a:srgbClr val="1D1F2B"/>
          </a:solidFill>
          <a:ln w="12700">
            <a:solidFill>
              <a:srgbClr val="1D1F2B"/>
            </a:solidFill>
            <a:prstDash val="solid"/>
          </a:ln>
        </p:spPr>
        <p:txBody>
          <a:bodyPr/>
          <a:p/>
        </p:txBody>
      </p:sp>
      <p:sp>
        <p:nvSpPr>
          <p:cNvPr id="19" name="Shape 17"/>
          <p:cNvSpPr/>
          <p:nvPr/>
        </p:nvSpPr>
        <p:spPr>
          <a:xfrm>
            <a:off x="868680" y="4681728"/>
            <a:ext cx="420624" cy="420624"/>
          </a:xfrm>
          <a:prstGeom prst="ellipse">
            <a:avLst/>
          </a:prstGeom>
          <a:solidFill>
            <a:srgbClr val="FFC24B"/>
          </a:solidFill>
          <a:ln/>
        </p:spPr>
        <p:txBody>
          <a:bodyPr/>
          <a:p/>
        </p:txBody>
      </p:sp>
      <p:sp>
        <p:nvSpPr>
          <p:cNvPr id="20" name="Text 18"/>
          <p:cNvSpPr/>
          <p:nvPr/>
        </p:nvSpPr>
        <p:spPr>
          <a:xfrm>
            <a:off x="868680" y="4681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562856"/>
            <a:ext cx="6309360" cy="65836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Nu se poate spune</a:t>
            </a:r>
            <a:endParaRPr lang="en-US" sz="2000" dirty="0"/>
          </a:p>
        </p:txBody>
      </p:sp>
      <p:sp>
        <p:nvSpPr>
          <p:cNvPr id="22" name="Shape 20"/>
          <p:cNvSpPr/>
          <p:nvPr/>
        </p:nvSpPr>
        <p:spPr>
          <a:xfrm>
            <a:off x="8549640" y="214884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24" name="Text 22"/>
          <p:cNvSpPr/>
          <p:nvPr/>
        </p:nvSpPr>
        <p:spPr>
          <a:xfrm>
            <a:off x="594360" y="5577840"/>
            <a:ext cx="768096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menti.com/al9puscrv22j</a:t>
            </a:r>
            <a:endParaRPr lang="en-US" sz="1500" dirty="0"/>
          </a:p>
        </p:txBody>
      </p:sp>
      <p:pic>
        <p:nvPicPr>
          <p:cNvPr id="25" name="Picture 24" descr="Mentimeter_UB_ISP_C02.png"/>
          <p:cNvPicPr>
            <a:picLocks noChangeAspect="1"/>
          </p:cNvPicPr>
          <p:nvPr/>
        </p:nvPicPr>
        <p:blipFill>
          <a:blip r:embed="rId3"/>
          <a:stretch>
            <a:fillRect/>
          </a:stretch>
        </p:blipFill>
        <p:spPr>
          <a:xfrm>
            <a:off x="8863330" y="2148840"/>
            <a:ext cx="2390140" cy="2390140"/>
          </a:xfrm>
          <a:prstGeom prst="rect">
            <a:avLst/>
          </a:prstGeom>
        </p:spPr>
      </p:pic>
      <p:sp>
        <p:nvSpPr>
          <p:cNvPr id="26" name="TextBox 25"/>
          <p:cNvSpPr txBox="1"/>
          <p:nvPr/>
        </p:nvSpPr>
        <p:spPr>
          <a:xfrm>
            <a:off x="8863330" y="4577080"/>
            <a:ext cx="23901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NOR DE CUVINTE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DOUĂ MINUTE CU COLEGUL DE BANCĂ</a:t>
            </a:r>
            <a:endParaRPr lang="en-US" sz="1300" dirty="0"/>
          </a:p>
        </p:txBody>
      </p:sp>
      <p:sp>
        <p:nvSpPr>
          <p:cNvPr id="5" name="Text 3"/>
          <p:cNvSpPr/>
          <p:nvPr/>
        </p:nvSpPr>
        <p:spPr>
          <a:xfrm>
            <a:off x="594360" y="1188720"/>
            <a:ext cx="7589520" cy="2194560"/>
          </a:xfrm>
          <a:prstGeom prst="rect">
            <a:avLst/>
          </a:prstGeom>
          <a:noFill/>
          <a:ln/>
        </p:spPr>
        <p:txBody>
          <a:bodyPr wrap="square" lIns="0" tIns="0" rIns="0" bIns="0" rtlCol="0" anchor="ctr"/>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Cine este „pacientul” inspectorului?</a:t>
            </a:r>
            <a:endParaRPr lang="en-US" sz="4400" dirty="0"/>
          </a:p>
        </p:txBody>
      </p:sp>
      <p:sp>
        <p:nvSpPr>
          <p:cNvPr id="6" name="Text 4"/>
          <p:cNvSpPr/>
          <p:nvPr/>
        </p:nvSpPr>
        <p:spPr>
          <a:xfrm>
            <a:off x="594360" y="3657600"/>
            <a:ext cx="7498080" cy="914400"/>
          </a:xfrm>
          <a:prstGeom prst="rect">
            <a:avLst/>
          </a:prstGeom>
          <a:noFill/>
          <a:ln/>
        </p:spPr>
        <p:txBody>
          <a:bodyPr wrap="square" lIns="0" tIns="0" rIns="0" bIns="0" rtlCol="0" anchor="t"/>
          <a:lstStyle/>
          <a:p>
            <a:pPr indent="0" marL="0">
              <a:buNone/>
            </a:pPr>
            <a:r>
              <a:rPr lang="en-US" sz="2100" dirty="0">
                <a:solidFill>
                  <a:srgbClr val="E6E8EF"/>
                </a:solidFill>
                <a:latin typeface="Palatino Linotype" pitchFamily="34" charset="0"/>
                <a:ea typeface="Palatino Linotype" pitchFamily="34" charset="-122"/>
                <a:cs typeface="Palatino Linotype" pitchFamily="34" charset="-120"/>
              </a:rPr>
              <a:t>Discutați cu colegul de bancă, apoi scrieți pe telefon un singur cuvânt.</a:t>
            </a:r>
            <a:endParaRPr lang="en-US" sz="2100" dirty="0"/>
          </a:p>
        </p:txBody>
      </p:sp>
      <p:sp>
        <p:nvSpPr>
          <p:cNvPr id="7" name="Shape 5"/>
          <p:cNvSpPr/>
          <p:nvPr/>
        </p:nvSpPr>
        <p:spPr>
          <a:xfrm>
            <a:off x="8549640" y="173736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9" name="Text 7"/>
          <p:cNvSpPr/>
          <p:nvPr/>
        </p:nvSpPr>
        <p:spPr>
          <a:xfrm>
            <a:off x="594360" y="5577840"/>
            <a:ext cx="768096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menti.com/al9puscrv22j</a:t>
            </a:r>
            <a:endParaRPr lang="en-US" sz="1500" dirty="0"/>
          </a:p>
        </p:txBody>
      </p:sp>
      <p:pic>
        <p:nvPicPr>
          <p:cNvPr id="10" name="Picture 9" descr="Mentimeter_UB_ISP_C02.png"/>
          <p:cNvPicPr>
            <a:picLocks noChangeAspect="1"/>
          </p:cNvPicPr>
          <p:nvPr/>
        </p:nvPicPr>
        <p:blipFill>
          <a:blip r:embed="rId3"/>
          <a:stretch>
            <a:fillRect/>
          </a:stretch>
        </p:blipFill>
        <p:spPr>
          <a:xfrm>
            <a:off x="8863330" y="1737360"/>
            <a:ext cx="2390140" cy="2390140"/>
          </a:xfrm>
          <a:prstGeom prst="rect">
            <a:avLst/>
          </a:prstGeom>
        </p:spPr>
      </p:pic>
      <p:sp>
        <p:nvSpPr>
          <p:cNvPr id="11" name="TextBox 10"/>
          <p:cNvSpPr txBox="1"/>
          <p:nvPr/>
        </p:nvSpPr>
        <p:spPr>
          <a:xfrm>
            <a:off x="8863330" y="4165600"/>
            <a:ext cx="23901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DOUĂ FELURI DE A LUCRA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Pacientul sănătății publice este comunitatea</a:t>
            </a:r>
            <a:endParaRPr lang="en-US" sz="3000" dirty="0"/>
          </a:p>
        </p:txBody>
      </p:sp>
      <p:sp>
        <p:nvSpPr>
          <p:cNvPr id="4" name="Shape 2"/>
          <p:cNvSpPr/>
          <p:nvPr/>
        </p:nvSpPr>
        <p:spPr>
          <a:xfrm>
            <a:off x="594360" y="1600200"/>
            <a:ext cx="5394960" cy="1600200"/>
          </a:xfrm>
          <a:prstGeom prst="roundRect">
            <a:avLst>
              <a:gd name="adj" fmla="val 5143"/>
            </a:avLst>
          </a:prstGeom>
          <a:solidFill>
            <a:srgbClr val="ECEAE4"/>
          </a:solidFill>
          <a:ln w="12700">
            <a:solidFill>
              <a:srgbClr val="ECEAE4"/>
            </a:solidFill>
            <a:prstDash val="solid"/>
          </a:ln>
        </p:spPr>
        <p:txBody>
          <a:bodyPr/>
          <a:p/>
        </p:txBody>
      </p:sp>
      <p:sp>
        <p:nvSpPr>
          <p:cNvPr id="5" name="Text 3"/>
          <p:cNvSpPr/>
          <p:nvPr/>
        </p:nvSpPr>
        <p:spPr>
          <a:xfrm>
            <a:off x="868680" y="1737360"/>
            <a:ext cx="4846320" cy="41148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Medicul</a:t>
            </a:r>
            <a:endParaRPr lang="en-US" sz="2000" dirty="0"/>
          </a:p>
        </p:txBody>
      </p:sp>
      <p:sp>
        <p:nvSpPr>
          <p:cNvPr id="6" name="Text 4"/>
          <p:cNvSpPr/>
          <p:nvPr/>
        </p:nvSpPr>
        <p:spPr>
          <a:xfrm>
            <a:off x="868680" y="2194560"/>
            <a:ext cx="484632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tratează boala care a apărut deja la un om anume.</a:t>
            </a:r>
            <a:endParaRPr lang="en-US" sz="1800" dirty="0"/>
          </a:p>
        </p:txBody>
      </p:sp>
      <p:sp>
        <p:nvSpPr>
          <p:cNvPr id="7" name="Shape 5"/>
          <p:cNvSpPr/>
          <p:nvPr/>
        </p:nvSpPr>
        <p:spPr>
          <a:xfrm>
            <a:off x="6172200" y="1600200"/>
            <a:ext cx="5394960" cy="1600200"/>
          </a:xfrm>
          <a:prstGeom prst="roundRect">
            <a:avLst>
              <a:gd name="adj" fmla="val 5143"/>
            </a:avLst>
          </a:prstGeom>
          <a:solidFill>
            <a:srgbClr val="ECEAE4"/>
          </a:solidFill>
          <a:ln w="12700">
            <a:solidFill>
              <a:srgbClr val="ECEAE4"/>
            </a:solidFill>
            <a:prstDash val="solid"/>
          </a:ln>
        </p:spPr>
        <p:txBody>
          <a:bodyPr/>
          <a:p/>
        </p:txBody>
      </p:sp>
      <p:sp>
        <p:nvSpPr>
          <p:cNvPr id="8" name="Text 6"/>
          <p:cNvSpPr/>
          <p:nvPr/>
        </p:nvSpPr>
        <p:spPr>
          <a:xfrm>
            <a:off x="6446520" y="1737360"/>
            <a:ext cx="4846320" cy="41148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Inspectorul</a:t>
            </a:r>
            <a:endParaRPr lang="en-US" sz="2000" dirty="0"/>
          </a:p>
        </p:txBody>
      </p:sp>
      <p:sp>
        <p:nvSpPr>
          <p:cNvPr id="9" name="Text 7"/>
          <p:cNvSpPr/>
          <p:nvPr/>
        </p:nvSpPr>
        <p:spPr>
          <a:xfrm>
            <a:off x="6446520" y="2194560"/>
            <a:ext cx="484632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încearcă să scadă numărul celor care se vor îmbolnăvi, fără să știe cine vor fi.</a:t>
            </a:r>
            <a:endParaRPr lang="en-US" sz="1800" dirty="0"/>
          </a:p>
        </p:txBody>
      </p:sp>
      <p:sp>
        <p:nvSpPr>
          <p:cNvPr id="10" name="Text 8"/>
          <p:cNvSpPr/>
          <p:nvPr/>
        </p:nvSpPr>
        <p:spPr>
          <a:xfrm>
            <a:off x="594360" y="3474720"/>
            <a:ext cx="10972800" cy="9144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Votul nu are un singur răspuns corect. Cel mai aproape de definiții: „nu se poate spune fără date, dar sunt două feluri diferite de a lucra”.</a:t>
            </a:r>
            <a:endParaRPr lang="en-US" sz="1900" dirty="0"/>
          </a:p>
        </p:txBody>
      </p:sp>
      <p:sp>
        <p:nvSpPr>
          <p:cNvPr id="11" name="Shape 9"/>
          <p:cNvSpPr/>
          <p:nvPr/>
        </p:nvSpPr>
        <p:spPr>
          <a:xfrm>
            <a:off x="594360" y="4572000"/>
            <a:ext cx="10972800" cy="1188720"/>
          </a:xfrm>
          <a:prstGeom prst="roundRect">
            <a:avLst>
              <a:gd name="adj" fmla="val 6923"/>
            </a:avLst>
          </a:prstGeom>
          <a:solidFill>
            <a:srgbClr val="F9F8F5"/>
          </a:solidFill>
          <a:ln w="12700">
            <a:solidFill>
              <a:srgbClr val="F9F8F5"/>
            </a:solidFill>
            <a:prstDash val="solid"/>
          </a:ln>
        </p:spPr>
        <p:txBody>
          <a:bodyPr/>
          <a:p/>
        </p:txBody>
      </p:sp>
      <p:sp>
        <p:nvSpPr>
          <p:cNvPr id="12" name="Text 10"/>
          <p:cNvSpPr/>
          <p:nvPr/>
        </p:nvSpPr>
        <p:spPr>
          <a:xfrm>
            <a:off x="868680" y="4572000"/>
            <a:ext cx="10424160" cy="1188720"/>
          </a:xfrm>
          <a:prstGeom prst="rect">
            <a:avLst/>
          </a:prstGeom>
          <a:noFill/>
          <a:ln/>
        </p:spPr>
        <p:txBody>
          <a:bodyPr wrap="square" lIns="0" tIns="0" rIns="0" bIns="0" rtlCol="0" anchor="ctr"/>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Bărbatul din cabinet are nevoie de medic. Copiii care intră azi într-un bar fără fum au nevoie de lege.</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DEFINIȚIILE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secol, aceeași idee</a:t>
            </a:r>
            <a:endParaRPr lang="en-US" sz="3200" dirty="0"/>
          </a:p>
        </p:txBody>
      </p:sp>
      <p:sp>
        <p:nvSpPr>
          <p:cNvPr id="4" name="Shape 2"/>
          <p:cNvSpPr/>
          <p:nvPr/>
        </p:nvSpPr>
        <p:spPr>
          <a:xfrm>
            <a:off x="594360" y="2011680"/>
            <a:ext cx="10972800" cy="45720"/>
          </a:xfrm>
          <a:prstGeom prst="rect">
            <a:avLst/>
          </a:prstGeom>
          <a:solidFill>
            <a:srgbClr val="C9C6BE"/>
          </a:solidFill>
          <a:ln w="12700">
            <a:solidFill>
              <a:srgbClr val="C9C6BE"/>
            </a:solidFill>
            <a:prstDash val="solid"/>
          </a:ln>
        </p:spPr>
        <p:txBody>
          <a:bodyPr/>
          <a:p/>
        </p:txBody>
      </p:sp>
      <p:sp>
        <p:nvSpPr>
          <p:cNvPr id="5" name="Shape 3"/>
          <p:cNvSpPr/>
          <p:nvPr/>
        </p:nvSpPr>
        <p:spPr>
          <a:xfrm>
            <a:off x="594360" y="1828800"/>
            <a:ext cx="411480" cy="411480"/>
          </a:xfrm>
          <a:prstGeom prst="ellipse">
            <a:avLst/>
          </a:prstGeom>
          <a:solidFill>
            <a:srgbClr val="4A2D8C"/>
          </a:solidFill>
          <a:ln/>
        </p:spPr>
        <p:txBody>
          <a:bodyPr/>
          <a:p/>
        </p:txBody>
      </p:sp>
      <p:sp>
        <p:nvSpPr>
          <p:cNvPr id="6" name="Text 4"/>
          <p:cNvSpPr/>
          <p:nvPr/>
        </p:nvSpPr>
        <p:spPr>
          <a:xfrm>
            <a:off x="594360" y="1828800"/>
            <a:ext cx="411480" cy="411480"/>
          </a:xfrm>
          <a:prstGeom prst="rect">
            <a:avLst/>
          </a:prstGeom>
          <a:noFill/>
          <a:ln/>
        </p:spPr>
        <p:txBody>
          <a:bodyPr wrap="square" lIns="0" tIns="0" rIns="0" bIns="0" rtlCol="0" anchor="ctr"/>
          <a:lstStyle/>
          <a:p>
            <a:pPr algn="ctr" indent="0" marL="0">
              <a:buNone/>
            </a:pPr>
            <a:endParaRPr lang="en-US" sz="1400" dirty="0"/>
          </a:p>
        </p:txBody>
      </p:sp>
      <p:sp>
        <p:nvSpPr>
          <p:cNvPr id="7" name="Text 5"/>
          <p:cNvSpPr/>
          <p:nvPr/>
        </p:nvSpPr>
        <p:spPr>
          <a:xfrm>
            <a:off x="594360" y="2377440"/>
            <a:ext cx="2606040" cy="548640"/>
          </a:xfrm>
          <a:prstGeom prst="rect">
            <a:avLst/>
          </a:prstGeom>
          <a:noFill/>
          <a:ln/>
        </p:spPr>
        <p:txBody>
          <a:bodyPr wrap="square" lIns="0" tIns="0" rIns="0" bIns="0" rtlCol="0" anchor="t"/>
          <a:lstStyle/>
          <a:p>
            <a:pPr indent="0" marL="0">
              <a:buNone/>
            </a:pPr>
            <a:r>
              <a:rPr lang="en-US" sz="2800" b="1" dirty="0">
                <a:solidFill>
                  <a:srgbClr val="4A2D8C"/>
                </a:solidFill>
                <a:latin typeface="Palatino Linotype" pitchFamily="34" charset="0"/>
                <a:ea typeface="Palatino Linotype" pitchFamily="34" charset="-122"/>
                <a:cs typeface="Palatino Linotype" pitchFamily="34" charset="-120"/>
              </a:rPr>
              <a:t>1920</a:t>
            </a:r>
            <a:endParaRPr lang="en-US" sz="2800" dirty="0"/>
          </a:p>
        </p:txBody>
      </p:sp>
      <p:sp>
        <p:nvSpPr>
          <p:cNvPr id="8" name="Text 6"/>
          <p:cNvSpPr/>
          <p:nvPr/>
        </p:nvSpPr>
        <p:spPr>
          <a:xfrm>
            <a:off x="594360" y="2926080"/>
            <a:ext cx="2606040" cy="64008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Winslow</a:t>
            </a:r>
            <a:endParaRPr lang="en-US" sz="1500" dirty="0"/>
          </a:p>
        </p:txBody>
      </p:sp>
      <p:sp>
        <p:nvSpPr>
          <p:cNvPr id="9" name="Text 7"/>
          <p:cNvSpPr/>
          <p:nvPr/>
        </p:nvSpPr>
        <p:spPr>
          <a:xfrm>
            <a:off x="594360" y="3611880"/>
            <a:ext cx="2606040" cy="1737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Știința și arta de a preveni boala, de a prelungi viața și de a promova sănătatea, prin eforturile organizate ale comunității.</a:t>
            </a:r>
            <a:endParaRPr lang="en-US" sz="1500" dirty="0"/>
          </a:p>
        </p:txBody>
      </p:sp>
      <p:sp>
        <p:nvSpPr>
          <p:cNvPr id="10" name="Shape 8"/>
          <p:cNvSpPr/>
          <p:nvPr/>
        </p:nvSpPr>
        <p:spPr>
          <a:xfrm>
            <a:off x="3383280" y="1828800"/>
            <a:ext cx="411480" cy="411480"/>
          </a:xfrm>
          <a:prstGeom prst="ellipse">
            <a:avLst/>
          </a:prstGeom>
          <a:solidFill>
            <a:srgbClr val="B02532"/>
          </a:solidFill>
          <a:ln/>
        </p:spPr>
        <p:txBody>
          <a:bodyPr/>
          <a:p/>
        </p:txBody>
      </p:sp>
      <p:sp>
        <p:nvSpPr>
          <p:cNvPr id="11" name="Text 9"/>
          <p:cNvSpPr/>
          <p:nvPr/>
        </p:nvSpPr>
        <p:spPr>
          <a:xfrm>
            <a:off x="3383280" y="1828800"/>
            <a:ext cx="411480" cy="411480"/>
          </a:xfrm>
          <a:prstGeom prst="rect">
            <a:avLst/>
          </a:prstGeom>
          <a:noFill/>
          <a:ln/>
        </p:spPr>
        <p:txBody>
          <a:bodyPr wrap="square" lIns="0" tIns="0" rIns="0" bIns="0" rtlCol="0" anchor="ctr"/>
          <a:lstStyle/>
          <a:p>
            <a:pPr algn="ctr" indent="0" marL="0">
              <a:buNone/>
            </a:pPr>
            <a:endParaRPr lang="en-US" sz="1400" dirty="0"/>
          </a:p>
        </p:txBody>
      </p:sp>
      <p:sp>
        <p:nvSpPr>
          <p:cNvPr id="12" name="Text 10"/>
          <p:cNvSpPr/>
          <p:nvPr/>
        </p:nvSpPr>
        <p:spPr>
          <a:xfrm>
            <a:off x="3383280" y="2377440"/>
            <a:ext cx="2606040" cy="548640"/>
          </a:xfrm>
          <a:prstGeom prst="rect">
            <a:avLst/>
          </a:prstGeom>
          <a:noFill/>
          <a:ln/>
        </p:spPr>
        <p:txBody>
          <a:bodyPr wrap="square" lIns="0" tIns="0" rIns="0" bIns="0" rtlCol="0" anchor="t"/>
          <a:lstStyle/>
          <a:p>
            <a:pPr indent="0" marL="0">
              <a:buNone/>
            </a:pPr>
            <a:r>
              <a:rPr lang="en-US" sz="2800" b="1" dirty="0">
                <a:solidFill>
                  <a:srgbClr val="B02532"/>
                </a:solidFill>
                <a:latin typeface="Palatino Linotype" pitchFamily="34" charset="0"/>
                <a:ea typeface="Palatino Linotype" pitchFamily="34" charset="-122"/>
                <a:cs typeface="Palatino Linotype" pitchFamily="34" charset="-120"/>
              </a:rPr>
              <a:t>1998</a:t>
            </a:r>
            <a:endParaRPr lang="en-US" sz="2800" dirty="0"/>
          </a:p>
        </p:txBody>
      </p:sp>
      <p:sp>
        <p:nvSpPr>
          <p:cNvPr id="13" name="Text 11"/>
          <p:cNvSpPr/>
          <p:nvPr/>
        </p:nvSpPr>
        <p:spPr>
          <a:xfrm>
            <a:off x="3383280" y="2926080"/>
            <a:ext cx="2606040" cy="64008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OMS preia formula Acheson (1988)</a:t>
            </a:r>
            <a:endParaRPr lang="en-US" sz="1500" dirty="0"/>
          </a:p>
        </p:txBody>
      </p:sp>
      <p:sp>
        <p:nvSpPr>
          <p:cNvPr id="14" name="Text 12"/>
          <p:cNvSpPr/>
          <p:nvPr/>
        </p:nvSpPr>
        <p:spPr>
          <a:xfrm>
            <a:off x="3383280" y="3611880"/>
            <a:ext cx="2606040" cy="1737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Aceeași idee, prin eforturile organizate ale societății.</a:t>
            </a:r>
            <a:endParaRPr lang="en-US" sz="1500" dirty="0"/>
          </a:p>
        </p:txBody>
      </p:sp>
      <p:sp>
        <p:nvSpPr>
          <p:cNvPr id="15" name="Shape 13"/>
          <p:cNvSpPr/>
          <p:nvPr/>
        </p:nvSpPr>
        <p:spPr>
          <a:xfrm>
            <a:off x="6172200" y="1828800"/>
            <a:ext cx="411480" cy="411480"/>
          </a:xfrm>
          <a:prstGeom prst="ellipse">
            <a:avLst/>
          </a:prstGeom>
          <a:solidFill>
            <a:srgbClr val="0E7C6B"/>
          </a:solidFill>
          <a:ln/>
        </p:spPr>
        <p:txBody>
          <a:bodyPr/>
          <a:p/>
        </p:txBody>
      </p:sp>
      <p:sp>
        <p:nvSpPr>
          <p:cNvPr id="16" name="Text 14"/>
          <p:cNvSpPr/>
          <p:nvPr/>
        </p:nvSpPr>
        <p:spPr>
          <a:xfrm>
            <a:off x="6172200" y="1828800"/>
            <a:ext cx="411480" cy="411480"/>
          </a:xfrm>
          <a:prstGeom prst="rect">
            <a:avLst/>
          </a:prstGeom>
          <a:noFill/>
          <a:ln/>
        </p:spPr>
        <p:txBody>
          <a:bodyPr wrap="square" lIns="0" tIns="0" rIns="0" bIns="0" rtlCol="0" anchor="ctr"/>
          <a:lstStyle/>
          <a:p>
            <a:pPr algn="ctr" indent="0" marL="0">
              <a:buNone/>
            </a:pPr>
            <a:endParaRPr lang="en-US" sz="1400" dirty="0"/>
          </a:p>
        </p:txBody>
      </p:sp>
      <p:sp>
        <p:nvSpPr>
          <p:cNvPr id="17" name="Text 15"/>
          <p:cNvSpPr/>
          <p:nvPr/>
        </p:nvSpPr>
        <p:spPr>
          <a:xfrm>
            <a:off x="6172200" y="2377440"/>
            <a:ext cx="2606040" cy="548640"/>
          </a:xfrm>
          <a:prstGeom prst="rect">
            <a:avLst/>
          </a:prstGeom>
          <a:noFill/>
          <a:ln/>
        </p:spPr>
        <p:txBody>
          <a:bodyPr wrap="square" lIns="0" tIns="0" rIns="0" bIns="0" rtlCol="0" anchor="t"/>
          <a:lstStyle/>
          <a:p>
            <a:pPr indent="0" marL="0">
              <a:buNone/>
            </a:pPr>
            <a:r>
              <a:rPr lang="en-US" sz="2800" b="1" dirty="0">
                <a:solidFill>
                  <a:srgbClr val="0E7C6B"/>
                </a:solidFill>
                <a:latin typeface="Palatino Linotype" pitchFamily="34" charset="0"/>
                <a:ea typeface="Palatino Linotype" pitchFamily="34" charset="-122"/>
                <a:cs typeface="Palatino Linotype" pitchFamily="34" charset="-120"/>
              </a:rPr>
              <a:t>2021</a:t>
            </a:r>
            <a:endParaRPr lang="en-US" sz="2800" dirty="0"/>
          </a:p>
        </p:txBody>
      </p:sp>
      <p:sp>
        <p:nvSpPr>
          <p:cNvPr id="18" name="Text 16"/>
          <p:cNvSpPr/>
          <p:nvPr/>
        </p:nvSpPr>
        <p:spPr>
          <a:xfrm>
            <a:off x="6172200" y="2926080"/>
            <a:ext cx="2606040" cy="64008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Glosarul OMS</a:t>
            </a:r>
            <a:endParaRPr lang="en-US" sz="1500" dirty="0"/>
          </a:p>
        </p:txBody>
      </p:sp>
      <p:sp>
        <p:nvSpPr>
          <p:cNvPr id="19" name="Text 17"/>
          <p:cNvSpPr/>
          <p:nvPr/>
        </p:nvSpPr>
        <p:spPr>
          <a:xfrm>
            <a:off x="6172200" y="3611880"/>
            <a:ext cx="2606040" cy="1737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Promovare, protecție, îmbunătățire și, când e nevoie, refacerea sănătății.</a:t>
            </a:r>
            <a:endParaRPr lang="en-US" sz="1500" dirty="0"/>
          </a:p>
        </p:txBody>
      </p:sp>
      <p:sp>
        <p:nvSpPr>
          <p:cNvPr id="20" name="Shape 18"/>
          <p:cNvSpPr/>
          <p:nvPr/>
        </p:nvSpPr>
        <p:spPr>
          <a:xfrm>
            <a:off x="8961120" y="1828800"/>
            <a:ext cx="411480" cy="411480"/>
          </a:xfrm>
          <a:prstGeom prst="ellipse">
            <a:avLst/>
          </a:prstGeom>
          <a:solidFill>
            <a:srgbClr val="8A6100"/>
          </a:solidFill>
          <a:ln/>
        </p:spPr>
        <p:txBody>
          <a:bodyPr/>
          <a:p/>
        </p:txBody>
      </p:sp>
      <p:sp>
        <p:nvSpPr>
          <p:cNvPr id="21" name="Text 19"/>
          <p:cNvSpPr/>
          <p:nvPr/>
        </p:nvSpPr>
        <p:spPr>
          <a:xfrm>
            <a:off x="8961120" y="1828800"/>
            <a:ext cx="411480" cy="411480"/>
          </a:xfrm>
          <a:prstGeom prst="rect">
            <a:avLst/>
          </a:prstGeom>
          <a:noFill/>
          <a:ln/>
        </p:spPr>
        <p:txBody>
          <a:bodyPr wrap="square" lIns="0" tIns="0" rIns="0" bIns="0" rtlCol="0" anchor="ctr"/>
          <a:lstStyle/>
          <a:p>
            <a:pPr algn="ctr" indent="0" marL="0">
              <a:buNone/>
            </a:pPr>
            <a:endParaRPr lang="en-US" sz="1400" dirty="0"/>
          </a:p>
        </p:txBody>
      </p:sp>
      <p:sp>
        <p:nvSpPr>
          <p:cNvPr id="22" name="Text 20"/>
          <p:cNvSpPr/>
          <p:nvPr/>
        </p:nvSpPr>
        <p:spPr>
          <a:xfrm>
            <a:off x="8961120" y="2377440"/>
            <a:ext cx="2606040" cy="548640"/>
          </a:xfrm>
          <a:prstGeom prst="rect">
            <a:avLst/>
          </a:prstGeom>
          <a:noFill/>
          <a:ln/>
        </p:spPr>
        <p:txBody>
          <a:bodyPr wrap="square" lIns="0" tIns="0" rIns="0" bIns="0" rtlCol="0" anchor="t"/>
          <a:lstStyle/>
          <a:p>
            <a:pPr indent="0" marL="0">
              <a:buNone/>
            </a:pPr>
            <a:r>
              <a:rPr lang="en-US" sz="2800" b="1" dirty="0">
                <a:solidFill>
                  <a:srgbClr val="8A6100"/>
                </a:solidFill>
                <a:latin typeface="Palatino Linotype" pitchFamily="34" charset="0"/>
                <a:ea typeface="Palatino Linotype" pitchFamily="34" charset="-122"/>
                <a:cs typeface="Palatino Linotype" pitchFamily="34" charset="-120"/>
              </a:rPr>
              <a:t>2024</a:t>
            </a:r>
            <a:endParaRPr lang="en-US" sz="2800" dirty="0"/>
          </a:p>
        </p:txBody>
      </p:sp>
      <p:sp>
        <p:nvSpPr>
          <p:cNvPr id="23" name="Text 21"/>
          <p:cNvSpPr/>
          <p:nvPr/>
        </p:nvSpPr>
        <p:spPr>
          <a:xfrm>
            <a:off x="8961120" y="2926080"/>
            <a:ext cx="2606040" cy="64008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OMS, privind înapoi</a:t>
            </a:r>
            <a:endParaRPr lang="en-US" sz="1500" dirty="0"/>
          </a:p>
        </p:txBody>
      </p:sp>
      <p:sp>
        <p:nvSpPr>
          <p:cNvPr id="24" name="Text 22"/>
          <p:cNvSpPr/>
          <p:nvPr/>
        </p:nvSpPr>
        <p:spPr>
          <a:xfrm>
            <a:off x="8961120" y="3611880"/>
            <a:ext cx="2606040" cy="1737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Definiția largă a lăsat practica să evolueze; lipsa limitelor clare a îngreunat aplicarea ei completă.</a:t>
            </a:r>
            <a:endParaRPr lang="en-US" sz="1500" dirty="0"/>
          </a:p>
        </p:txBody>
      </p:sp>
      <p:sp>
        <p:nvSpPr>
          <p:cNvPr id="25" name="Text 23"/>
          <p:cNvSpPr/>
          <p:nvPr/>
        </p:nvSpPr>
        <p:spPr>
          <a:xfrm>
            <a:off x="594360" y="5440680"/>
            <a:ext cx="10972800" cy="685800"/>
          </a:xfrm>
          <a:prstGeom prst="rect">
            <a:avLst/>
          </a:prstGeom>
          <a:noFill/>
          <a:ln/>
        </p:spPr>
        <p:txBody>
          <a:bodyPr wrap="square" lIns="0" tIns="0" rIns="0" bIns="0" rtlCol="0" anchor="t"/>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Winslow marchează momentul în care sănătatea publică încetează să fie doar interdicție și devine și prevenție.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LEGEA ROMÂNĂ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Legea nr. 95/2006 urmează aceeași linie</a:t>
            </a:r>
            <a:endParaRPr lang="en-US" sz="3000" dirty="0"/>
          </a:p>
        </p:txBody>
      </p:sp>
      <p:sp>
        <p:nvSpPr>
          <p:cNvPr id="4" name="Shape 2"/>
          <p:cNvSpPr/>
          <p:nvPr/>
        </p:nvSpPr>
        <p:spPr>
          <a:xfrm>
            <a:off x="594360" y="1600200"/>
            <a:ext cx="6035040" cy="3383280"/>
          </a:xfrm>
          <a:prstGeom prst="roundRect">
            <a:avLst>
              <a:gd name="adj" fmla="val 2432"/>
            </a:avLst>
          </a:prstGeom>
          <a:solidFill>
            <a:srgbClr val="FBF8F1"/>
          </a:solidFill>
          <a:ln w="12700">
            <a:solidFill>
              <a:srgbClr val="FBF8F1"/>
            </a:solidFill>
            <a:prstDash val="solid"/>
          </a:ln>
        </p:spPr>
        <p:txBody>
          <a:bodyPr/>
          <a:p/>
        </p:txBody>
      </p:sp>
      <p:sp>
        <p:nvSpPr>
          <p:cNvPr id="5" name="Shape 3"/>
          <p:cNvSpPr/>
          <p:nvPr/>
        </p:nvSpPr>
        <p:spPr>
          <a:xfrm>
            <a:off x="868680" y="2011680"/>
            <a:ext cx="5486400" cy="18288"/>
          </a:xfrm>
          <a:prstGeom prst="rect">
            <a:avLst/>
          </a:prstGeom>
          <a:solidFill>
            <a:srgbClr val="C9C6BE"/>
          </a:solidFill>
          <a:ln w="12700">
            <a:solidFill>
              <a:srgbClr val="C9C6BE"/>
            </a:solidFill>
            <a:prstDash val="solid"/>
          </a:ln>
        </p:spPr>
        <p:txBody>
          <a:bodyPr/>
          <a:p/>
        </p:txBody>
      </p:sp>
      <p:sp>
        <p:nvSpPr>
          <p:cNvPr id="6" name="Text 4"/>
          <p:cNvSpPr/>
          <p:nvPr/>
        </p:nvSpPr>
        <p:spPr>
          <a:xfrm>
            <a:off x="868680" y="1691640"/>
            <a:ext cx="5486400" cy="292608"/>
          </a:xfrm>
          <a:prstGeom prst="rect">
            <a:avLst/>
          </a:prstGeom>
          <a:noFill/>
          <a:ln/>
        </p:spPr>
        <p:txBody>
          <a:bodyPr wrap="square" lIns="0" tIns="0" rIns="0" bIns="0" rtlCol="0" anchor="t"/>
          <a:lstStyle/>
          <a:p>
            <a:pPr indent="0" marL="0">
              <a:buNone/>
            </a:pPr>
            <a:r>
              <a:rPr lang="en-US" sz="1200" b="1" spc="200" kern="0" dirty="0">
                <a:solidFill>
                  <a:srgbClr val="585A64"/>
                </a:solidFill>
                <a:latin typeface="Palatino Linotype" pitchFamily="34" charset="0"/>
                <a:ea typeface="Palatino Linotype" pitchFamily="34" charset="-122"/>
                <a:cs typeface="Palatino Linotype" pitchFamily="34" charset="-120"/>
              </a:rPr>
              <a:t>LEGEA NR. 95/2006 · TITLUL I · PE SCURT</a:t>
            </a:r>
            <a:endParaRPr lang="en-US" sz="1200" dirty="0"/>
          </a:p>
        </p:txBody>
      </p:sp>
      <p:sp>
        <p:nvSpPr>
          <p:cNvPr id="7" name="Text 5"/>
          <p:cNvSpPr/>
          <p:nvPr/>
        </p:nvSpPr>
        <p:spPr>
          <a:xfrm>
            <a:off x="868680" y="2194560"/>
            <a:ext cx="5486400" cy="2697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Asistența de sănătate publică: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efortul organizat al societății pentru protejarea și promovarea sănătății populației.</a:t>
            </a:r>
            <a:endParaRPr lang="en-US" sz="1700" dirty="0"/>
          </a:p>
          <a:p>
            <a:pPr indent="0" marL="0">
              <a:buNone/>
            </a:pPr>
            <a:r>
              <a:rPr lang="en-US" sz="800" dirty="0">
                <a:solidFill>
                  <a:srgbClr val="11121A"/>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Se face prin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măsuri politice și legislative, programe și strategii pentru determinanții sănătății și instituții care furnizează serviciile.</a:t>
            </a:r>
            <a:endParaRPr lang="en-US" sz="1700" dirty="0"/>
          </a:p>
          <a:p>
            <a:pPr indent="0" marL="0">
              <a:buNone/>
            </a:pPr>
            <a:r>
              <a:rPr lang="en-US" sz="800" dirty="0">
                <a:solidFill>
                  <a:srgbClr val="11121A"/>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Scopul: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promovarea sănătății, prevenirea îmbolnăvirilor, o viață mai bună.</a:t>
            </a:r>
            <a:endParaRPr lang="en-US" sz="1700" dirty="0"/>
          </a:p>
        </p:txBody>
      </p:sp>
      <p:sp>
        <p:nvSpPr>
          <p:cNvPr id="8" name="Text 6"/>
          <p:cNvSpPr/>
          <p:nvPr/>
        </p:nvSpPr>
        <p:spPr>
          <a:xfrm>
            <a:off x="6995160" y="1645920"/>
            <a:ext cx="4572000" cy="45720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Trei idei se repetă în toate definițiile:</a:t>
            </a:r>
            <a:endParaRPr lang="en-US" sz="1800" dirty="0"/>
          </a:p>
        </p:txBody>
      </p:sp>
      <p:sp>
        <p:nvSpPr>
          <p:cNvPr id="9" name="Shape 7"/>
          <p:cNvSpPr/>
          <p:nvPr/>
        </p:nvSpPr>
        <p:spPr>
          <a:xfrm>
            <a:off x="6995160" y="2286000"/>
            <a:ext cx="4572000" cy="960120"/>
          </a:xfrm>
          <a:prstGeom prst="roundRect">
            <a:avLst>
              <a:gd name="adj" fmla="val 8571"/>
            </a:avLst>
          </a:prstGeom>
          <a:solidFill>
            <a:srgbClr val="1D1F2B"/>
          </a:solidFill>
          <a:ln w="12700">
            <a:solidFill>
              <a:srgbClr val="1D1F2B"/>
            </a:solidFill>
            <a:prstDash val="solid"/>
          </a:ln>
        </p:spPr>
        <p:txBody>
          <a:bodyPr/>
          <a:p/>
        </p:txBody>
      </p:sp>
      <p:sp>
        <p:nvSpPr>
          <p:cNvPr id="10" name="Shape 8"/>
          <p:cNvSpPr/>
          <p:nvPr/>
        </p:nvSpPr>
        <p:spPr>
          <a:xfrm>
            <a:off x="7223760" y="2560320"/>
            <a:ext cx="420624" cy="420624"/>
          </a:xfrm>
          <a:prstGeom prst="ellipse">
            <a:avLst/>
          </a:prstGeom>
          <a:solidFill>
            <a:srgbClr val="27D3BE"/>
          </a:solidFill>
          <a:ln/>
        </p:spPr>
        <p:txBody>
          <a:bodyPr/>
          <a:p/>
        </p:txBody>
      </p:sp>
      <p:sp>
        <p:nvSpPr>
          <p:cNvPr id="11" name="Text 9"/>
          <p:cNvSpPr/>
          <p:nvPr/>
        </p:nvSpPr>
        <p:spPr>
          <a:xfrm>
            <a:off x="7223760" y="25603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2" name="Text 10"/>
          <p:cNvSpPr/>
          <p:nvPr/>
        </p:nvSpPr>
        <p:spPr>
          <a:xfrm>
            <a:off x="7863840" y="2286000"/>
            <a:ext cx="3566160" cy="9601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prevenția înaintea tratamentului</a:t>
            </a:r>
            <a:endParaRPr lang="en-US" sz="1800" dirty="0"/>
          </a:p>
        </p:txBody>
      </p:sp>
      <p:sp>
        <p:nvSpPr>
          <p:cNvPr id="13" name="Shape 11"/>
          <p:cNvSpPr/>
          <p:nvPr/>
        </p:nvSpPr>
        <p:spPr>
          <a:xfrm>
            <a:off x="6995160" y="3429000"/>
            <a:ext cx="4572000" cy="960120"/>
          </a:xfrm>
          <a:prstGeom prst="roundRect">
            <a:avLst>
              <a:gd name="adj" fmla="val 8571"/>
            </a:avLst>
          </a:prstGeom>
          <a:solidFill>
            <a:srgbClr val="1D1F2B"/>
          </a:solidFill>
          <a:ln w="12700">
            <a:solidFill>
              <a:srgbClr val="1D1F2B"/>
            </a:solidFill>
            <a:prstDash val="solid"/>
          </a:ln>
        </p:spPr>
        <p:txBody>
          <a:bodyPr/>
          <a:p/>
        </p:txBody>
      </p:sp>
      <p:sp>
        <p:nvSpPr>
          <p:cNvPr id="14" name="Shape 12"/>
          <p:cNvSpPr/>
          <p:nvPr/>
        </p:nvSpPr>
        <p:spPr>
          <a:xfrm>
            <a:off x="7223760" y="3703320"/>
            <a:ext cx="420624" cy="420624"/>
          </a:xfrm>
          <a:prstGeom prst="ellipse">
            <a:avLst/>
          </a:prstGeom>
          <a:solidFill>
            <a:srgbClr val="27D3BE"/>
          </a:solidFill>
          <a:ln/>
        </p:spPr>
        <p:txBody>
          <a:bodyPr/>
          <a:p/>
        </p:txBody>
      </p:sp>
      <p:sp>
        <p:nvSpPr>
          <p:cNvPr id="15" name="Text 13"/>
          <p:cNvSpPr/>
          <p:nvPr/>
        </p:nvSpPr>
        <p:spPr>
          <a:xfrm>
            <a:off x="7223760" y="37033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6" name="Text 14"/>
          <p:cNvSpPr/>
          <p:nvPr/>
        </p:nvSpPr>
        <p:spPr>
          <a:xfrm>
            <a:off x="7863840" y="3429000"/>
            <a:ext cx="3566160" cy="9601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populația înaintea individului</a:t>
            </a:r>
            <a:endParaRPr lang="en-US" sz="1800" dirty="0"/>
          </a:p>
        </p:txBody>
      </p:sp>
      <p:sp>
        <p:nvSpPr>
          <p:cNvPr id="17" name="Shape 15"/>
          <p:cNvSpPr/>
          <p:nvPr/>
        </p:nvSpPr>
        <p:spPr>
          <a:xfrm>
            <a:off x="6995160" y="4572000"/>
            <a:ext cx="4572000" cy="960120"/>
          </a:xfrm>
          <a:prstGeom prst="roundRect">
            <a:avLst>
              <a:gd name="adj" fmla="val 8571"/>
            </a:avLst>
          </a:prstGeom>
          <a:solidFill>
            <a:srgbClr val="1D1F2B"/>
          </a:solidFill>
          <a:ln w="12700">
            <a:solidFill>
              <a:srgbClr val="1D1F2B"/>
            </a:solidFill>
            <a:prstDash val="solid"/>
          </a:ln>
        </p:spPr>
        <p:txBody>
          <a:bodyPr/>
          <a:p/>
        </p:txBody>
      </p:sp>
      <p:sp>
        <p:nvSpPr>
          <p:cNvPr id="18" name="Shape 16"/>
          <p:cNvSpPr/>
          <p:nvPr/>
        </p:nvSpPr>
        <p:spPr>
          <a:xfrm>
            <a:off x="7223760" y="4846320"/>
            <a:ext cx="420624" cy="420624"/>
          </a:xfrm>
          <a:prstGeom prst="ellipse">
            <a:avLst/>
          </a:prstGeom>
          <a:solidFill>
            <a:srgbClr val="27D3BE"/>
          </a:solidFill>
          <a:ln/>
        </p:spPr>
        <p:txBody>
          <a:bodyPr/>
          <a:p/>
        </p:txBody>
      </p:sp>
      <p:sp>
        <p:nvSpPr>
          <p:cNvPr id="19" name="Text 17"/>
          <p:cNvSpPr/>
          <p:nvPr/>
        </p:nvSpPr>
        <p:spPr>
          <a:xfrm>
            <a:off x="7223760" y="48463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0" name="Text 18"/>
          <p:cNvSpPr/>
          <p:nvPr/>
        </p:nvSpPr>
        <p:spPr>
          <a:xfrm>
            <a:off x="7863840" y="4572000"/>
            <a:ext cx="3566160" cy="9601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efortul organizat, nu gestul izolat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COMPLETAȚI ÎMPREUNĂ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Clinica și sănătatea publică, față în față</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600200"/>
          <a:ext cx="10972800" cy="914400"/>
        </p:xfrm>
        <a:graphic>
          <a:graphicData uri="http://schemas.openxmlformats.org/drawingml/2006/table">
            <a:tbl>
              <a:tblPr/>
              <a:tblGrid>
                <a:gridCol w="3108960"/>
                <a:gridCol w="3657600"/>
                <a:gridCol w="4206240"/>
              </a:tblGrid>
              <a:tr h="658368">
                <a:tc>
                  <a:txBody>
                    <a:bodyP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Întrebarea</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0E7C6B"/>
                    </a:solidFill>
                  </a:tcPr>
                </a:tc>
                <a:tc>
                  <a:txBody>
                    <a:bodyP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Medicina clinică</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0E7C6B"/>
                    </a:solidFill>
                  </a:tcPr>
                </a:tc>
                <a:tc>
                  <a:txBody>
                    <a:bodyP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Sănătatea publică</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0E7C6B"/>
                    </a:solidFill>
                  </a:tcPr>
                </a:tc>
              </a:tr>
              <a:tr h="658368">
                <a:tc>
                  <a:txBody>
                    <a:bodyP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Cine este pacientul?</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persoana din cabinet</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comunitatea, inclusiv cei sănătoși</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r h="658368">
                <a:tc>
                  <a:txBody>
                    <a:bodyP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Când intervine?</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de obicei, după apariția bolii</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de preferință, înainte de apariția bolii</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r>
              <a:tr h="658368">
                <a:tc>
                  <a:txBody>
                    <a:bodyP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Cu ce lucrează?</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diagnostic, tratament, recuperare</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date, reguli, programe, informare</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r h="658368">
                <a:tc>
                  <a:txBody>
                    <a:bodyP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Cum vede rezultatul?</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pacientul s-a vindecat sau nu</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ctr" indent="0" marL="0">
                        <a:buNone/>
                      </a:pPr>
                      <a:r>
                        <a:rPr lang="en-US" sz="2400" b="1" dirty="0">
                          <a:solidFill>
                            <a:srgbClr val="11121A"/>
                          </a:solidFill>
                          <a:latin typeface="Palatino Linotype" pitchFamily="34" charset="0"/>
                          <a:ea typeface="Palatino Linotype" pitchFamily="34" charset="-122"/>
                          <a:cs typeface="Palatino Linotype" pitchFamily="34" charset="-120"/>
                        </a:rPr>
                        <a:t>?</a:t>
                      </a:r>
                      <a:endParaRPr lang="en-US" sz="24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FE7A8"/>
                    </a:solidFill>
                  </a:tcPr>
                </a:tc>
              </a:tr>
              <a:tr h="658368">
                <a:tc>
                  <a:txBody>
                    <a:bodyP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Cine plătește și cine decide?</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pacientul, asigurarea, medicul</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autoritățile publice, prin lege și buget</a:t>
                      </a:r>
                      <a:endParaRPr lang="en-US" sz="1600" dirty="0">
                        <a:latin typeface="Palatino Linotype" charset="0"/>
                        <a:ea typeface="Palatino Linotype" charset="0"/>
                        <a:cs typeface="Palatino Linotype" charset="0"/>
                      </a:endParaRPr>
                    </a:p>
                  </a:txBody>
                  <a:tcPr marL="101600" marR="101600" marT="50800" marB="5080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REZULTAT CARE NU SE VEDE</a:t>
            </a:r>
            <a:endParaRPr lang="en-US" sz="1300" dirty="0"/>
          </a:p>
        </p:txBody>
      </p:sp>
      <p:sp>
        <p:nvSpPr>
          <p:cNvPr id="3" name="Text 1"/>
          <p:cNvSpPr/>
          <p:nvPr/>
        </p:nvSpPr>
        <p:spPr>
          <a:xfrm>
            <a:off x="594360" y="822960"/>
            <a:ext cx="10972800" cy="1280160"/>
          </a:xfrm>
          <a:prstGeom prst="rect">
            <a:avLst/>
          </a:prstGeom>
          <a:noFill/>
          <a:ln/>
        </p:spPr>
        <p:txBody>
          <a:bodyPr wrap="square" lIns="0" tIns="0" rIns="0" bIns="0" rtlCol="0" anchor="ctr"/>
          <a:lstStyle/>
          <a:p>
            <a:pPr indent="0" marL="0">
              <a:buNone/>
            </a:pPr>
            <a:r>
              <a:rPr lang="en-US" sz="5200" b="1" dirty="0">
                <a:solidFill>
                  <a:srgbClr val="FFFFFF"/>
                </a:solidFill>
                <a:latin typeface="Palatino Linotype" pitchFamily="34" charset="0"/>
                <a:ea typeface="Palatino Linotype" pitchFamily="34" charset="-122"/>
                <a:cs typeface="Palatino Linotype" pitchFamily="34" charset="-120"/>
              </a:rPr>
              <a:t>Succesul este o absență.</a:t>
            </a:r>
            <a:endParaRPr lang="en-US" sz="5200" dirty="0"/>
          </a:p>
        </p:txBody>
      </p:sp>
      <p:sp>
        <p:nvSpPr>
          <p:cNvPr id="4" name="Text 2"/>
          <p:cNvSpPr/>
          <p:nvPr/>
        </p:nvSpPr>
        <p:spPr>
          <a:xfrm>
            <a:off x="594360" y="2148840"/>
            <a:ext cx="10972800" cy="54864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Sănătatea publică își măsoară rezultatul în îmbolnăviri și decese evitate.</a:t>
            </a:r>
            <a:endParaRPr lang="en-US" sz="2200" dirty="0"/>
          </a:p>
        </p:txBody>
      </p:sp>
      <p:sp>
        <p:nvSpPr>
          <p:cNvPr id="5" name="Shape 3"/>
          <p:cNvSpPr/>
          <p:nvPr/>
        </p:nvSpPr>
        <p:spPr>
          <a:xfrm>
            <a:off x="594360" y="3017520"/>
            <a:ext cx="3520440" cy="1097280"/>
          </a:xfrm>
          <a:prstGeom prst="roundRect">
            <a:avLst>
              <a:gd name="adj" fmla="val 7500"/>
            </a:avLst>
          </a:prstGeom>
          <a:solidFill>
            <a:srgbClr val="1D1F2B"/>
          </a:solidFill>
          <a:ln w="12700">
            <a:solidFill>
              <a:srgbClr val="1D1F2B"/>
            </a:solidFill>
            <a:prstDash val="solid"/>
          </a:ln>
        </p:spPr>
        <p:txBody>
          <a:bodyPr/>
          <a:p/>
        </p:txBody>
      </p:sp>
      <p:sp>
        <p:nvSpPr>
          <p:cNvPr id="6" name="Text 4"/>
          <p:cNvSpPr/>
          <p:nvPr/>
        </p:nvSpPr>
        <p:spPr>
          <a:xfrm>
            <a:off x="777240" y="3017520"/>
            <a:ext cx="3154680" cy="1097280"/>
          </a:xfrm>
          <a:prstGeom prst="rect">
            <a:avLst/>
          </a:prstGeom>
          <a:noFill/>
          <a:ln/>
        </p:spPr>
        <p:txBody>
          <a:bodyPr wrap="square" lIns="0" tIns="0" rIns="0" bIns="0" rtlCol="0" anchor="ctr"/>
          <a:lstStyle/>
          <a:p>
            <a:pPr algn="ctr" indent="0" marL="0">
              <a:buNone/>
            </a:pPr>
            <a:r>
              <a:rPr lang="en-US" sz="1900" dirty="0">
                <a:solidFill>
                  <a:srgbClr val="FFFFFF"/>
                </a:solidFill>
                <a:latin typeface="Palatino Linotype" pitchFamily="34" charset="0"/>
                <a:ea typeface="Palatino Linotype" pitchFamily="34" charset="-122"/>
                <a:cs typeface="Palatino Linotype" pitchFamily="34" charset="-120"/>
              </a:rPr>
              <a:t>copiii nu fac rujeolă</a:t>
            </a:r>
            <a:endParaRPr lang="en-US" sz="1900" dirty="0"/>
          </a:p>
        </p:txBody>
      </p:sp>
      <p:sp>
        <p:nvSpPr>
          <p:cNvPr id="7" name="Shape 5"/>
          <p:cNvSpPr/>
          <p:nvPr/>
        </p:nvSpPr>
        <p:spPr>
          <a:xfrm>
            <a:off x="4343400" y="3017520"/>
            <a:ext cx="3520440" cy="1097280"/>
          </a:xfrm>
          <a:prstGeom prst="roundRect">
            <a:avLst>
              <a:gd name="adj" fmla="val 7500"/>
            </a:avLst>
          </a:prstGeom>
          <a:solidFill>
            <a:srgbClr val="1D1F2B"/>
          </a:solidFill>
          <a:ln w="12700">
            <a:solidFill>
              <a:srgbClr val="1D1F2B"/>
            </a:solidFill>
            <a:prstDash val="solid"/>
          </a:ln>
        </p:spPr>
        <p:txBody>
          <a:bodyPr/>
          <a:p/>
        </p:txBody>
      </p:sp>
      <p:sp>
        <p:nvSpPr>
          <p:cNvPr id="8" name="Text 6"/>
          <p:cNvSpPr/>
          <p:nvPr/>
        </p:nvSpPr>
        <p:spPr>
          <a:xfrm>
            <a:off x="4526280" y="3017520"/>
            <a:ext cx="3154680" cy="1097280"/>
          </a:xfrm>
          <a:prstGeom prst="rect">
            <a:avLst/>
          </a:prstGeom>
          <a:noFill/>
          <a:ln/>
        </p:spPr>
        <p:txBody>
          <a:bodyPr wrap="square" lIns="0" tIns="0" rIns="0" bIns="0" rtlCol="0" anchor="ctr"/>
          <a:lstStyle/>
          <a:p>
            <a:pPr algn="ctr" indent="0" marL="0">
              <a:buNone/>
            </a:pPr>
            <a:r>
              <a:rPr lang="en-US" sz="1900" dirty="0">
                <a:solidFill>
                  <a:srgbClr val="FFFFFF"/>
                </a:solidFill>
                <a:latin typeface="Palatino Linotype" pitchFamily="34" charset="0"/>
                <a:ea typeface="Palatino Linotype" pitchFamily="34" charset="-122"/>
                <a:cs typeface="Palatino Linotype" pitchFamily="34" charset="-120"/>
              </a:rPr>
              <a:t>apa nu îmbolnăvește pe nimeni</a:t>
            </a:r>
            <a:endParaRPr lang="en-US" sz="1900" dirty="0"/>
          </a:p>
        </p:txBody>
      </p:sp>
      <p:sp>
        <p:nvSpPr>
          <p:cNvPr id="9" name="Shape 7"/>
          <p:cNvSpPr/>
          <p:nvPr/>
        </p:nvSpPr>
        <p:spPr>
          <a:xfrm>
            <a:off x="8092440" y="3017520"/>
            <a:ext cx="3520440" cy="1097280"/>
          </a:xfrm>
          <a:prstGeom prst="roundRect">
            <a:avLst>
              <a:gd name="adj" fmla="val 7500"/>
            </a:avLst>
          </a:prstGeom>
          <a:solidFill>
            <a:srgbClr val="1D1F2B"/>
          </a:solidFill>
          <a:ln w="12700">
            <a:solidFill>
              <a:srgbClr val="1D1F2B"/>
            </a:solidFill>
            <a:prstDash val="solid"/>
          </a:ln>
        </p:spPr>
        <p:txBody>
          <a:bodyPr/>
          <a:p/>
        </p:txBody>
      </p:sp>
      <p:sp>
        <p:nvSpPr>
          <p:cNvPr id="10" name="Text 8"/>
          <p:cNvSpPr/>
          <p:nvPr/>
        </p:nvSpPr>
        <p:spPr>
          <a:xfrm>
            <a:off x="8275320" y="3017520"/>
            <a:ext cx="3154680" cy="1097280"/>
          </a:xfrm>
          <a:prstGeom prst="rect">
            <a:avLst/>
          </a:prstGeom>
          <a:noFill/>
          <a:ln/>
        </p:spPr>
        <p:txBody>
          <a:bodyPr wrap="square" lIns="0" tIns="0" rIns="0" bIns="0" rtlCol="0" anchor="ctr"/>
          <a:lstStyle/>
          <a:p>
            <a:pPr algn="ctr" indent="0" marL="0">
              <a:buNone/>
            </a:pPr>
            <a:r>
              <a:rPr lang="en-US" sz="1900" dirty="0">
                <a:solidFill>
                  <a:srgbClr val="FFFFFF"/>
                </a:solidFill>
                <a:latin typeface="Palatino Linotype" pitchFamily="34" charset="0"/>
                <a:ea typeface="Palatino Linotype" pitchFamily="34" charset="-122"/>
                <a:cs typeface="Palatino Linotype" pitchFamily="34" charset="-120"/>
              </a:rPr>
              <a:t>barul este fără fum</a:t>
            </a:r>
            <a:endParaRPr lang="en-US" sz="1900" dirty="0"/>
          </a:p>
        </p:txBody>
      </p:sp>
      <p:sp>
        <p:nvSpPr>
          <p:cNvPr id="11" name="Text 9"/>
          <p:cNvSpPr/>
          <p:nvPr/>
        </p:nvSpPr>
        <p:spPr>
          <a:xfrm>
            <a:off x="594360" y="4480560"/>
            <a:ext cx="10972800" cy="1097280"/>
          </a:xfrm>
          <a:prstGeom prst="rect">
            <a:avLst/>
          </a:prstGeom>
          <a:noFill/>
          <a:ln/>
        </p:spPr>
        <p:txBody>
          <a:bodyPr wrap="square" lIns="0" tIns="0" rIns="0" bIns="0" rtlCol="0" anchor="t"/>
          <a:lstStyle/>
          <a:p>
            <a:pPr indent="0" marL="0">
              <a:buNone/>
            </a:pPr>
            <a:r>
              <a:rPr lang="en-US" sz="2000" dirty="0">
                <a:solidFill>
                  <a:srgbClr val="E6E8EF"/>
                </a:solidFill>
                <a:latin typeface="Palatino Linotype" pitchFamily="34" charset="0"/>
                <a:ea typeface="Palatino Linotype" pitchFamily="34" charset="-122"/>
                <a:cs typeface="Palatino Linotype" pitchFamily="34" charset="-120"/>
              </a:rPr>
              <a:t>De aceea, sănătatea publică trebuie să numere ce s-a evitat, iar asta cere date bune. Despre date este ședința a treia.</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AȚI CREDE ACEASTĂ AFIRMAȚIE?</a:t>
            </a:r>
            <a:endParaRPr lang="en-US" sz="1300" dirty="0"/>
          </a:p>
        </p:txBody>
      </p:sp>
      <p:sp>
        <p:nvSpPr>
          <p:cNvPr id="5" name="Shape 3"/>
          <p:cNvSpPr/>
          <p:nvPr/>
        </p:nvSpPr>
        <p:spPr>
          <a:xfrm>
            <a:off x="594360" y="914400"/>
            <a:ext cx="7498080" cy="2377440"/>
          </a:xfrm>
          <a:prstGeom prst="roundRect">
            <a:avLst>
              <a:gd name="adj" fmla="val 3462"/>
            </a:avLst>
          </a:prstGeom>
          <a:solidFill>
            <a:srgbClr val="FBF8F1"/>
          </a:solidFill>
          <a:ln w="12700">
            <a:solidFill>
              <a:srgbClr val="FBF8F1"/>
            </a:solidFill>
            <a:prstDash val="solid"/>
          </a:ln>
        </p:spPr>
        <p:txBody>
          <a:bodyPr/>
          <a:p/>
        </p:txBody>
      </p:sp>
      <p:sp>
        <p:nvSpPr>
          <p:cNvPr id="6" name="Text 4"/>
          <p:cNvSpPr/>
          <p:nvPr/>
        </p:nvSpPr>
        <p:spPr>
          <a:xfrm>
            <a:off x="914400" y="1051560"/>
            <a:ext cx="6858000" cy="1737360"/>
          </a:xfrm>
          <a:prstGeom prst="rect">
            <a:avLst/>
          </a:prstGeom>
          <a:noFill/>
          <a:ln/>
        </p:spPr>
        <p:txBody>
          <a:bodyPr wrap="square" lIns="0" tIns="0" rIns="0" bIns="0" rtlCol="0" anchor="ctr"/>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„Sănătatea publică înseamnă spitalele de stat și medicii plătiți de stat.”</a:t>
            </a:r>
            <a:endParaRPr lang="en-US" sz="2800" dirty="0"/>
          </a:p>
        </p:txBody>
      </p:sp>
      <p:sp>
        <p:nvSpPr>
          <p:cNvPr id="7" name="Text 5"/>
          <p:cNvSpPr/>
          <p:nvPr/>
        </p:nvSpPr>
        <p:spPr>
          <a:xfrm>
            <a:off x="914400" y="2788920"/>
            <a:ext cx="6858000" cy="36576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Afirmație construită pentru acest curs; o veți auzi des.</a:t>
            </a:r>
            <a:endParaRPr lang="en-US" sz="1300" dirty="0"/>
          </a:p>
        </p:txBody>
      </p:sp>
      <p:sp>
        <p:nvSpPr>
          <p:cNvPr id="8" name="Shape 6"/>
          <p:cNvSpPr/>
          <p:nvPr/>
        </p:nvSpPr>
        <p:spPr>
          <a:xfrm>
            <a:off x="594360" y="3657600"/>
            <a:ext cx="7498080" cy="713232"/>
          </a:xfrm>
          <a:prstGeom prst="roundRect">
            <a:avLst>
              <a:gd name="adj" fmla="val 11538"/>
            </a:avLst>
          </a:prstGeom>
          <a:solidFill>
            <a:srgbClr val="1D1F2B"/>
          </a:solidFill>
          <a:ln w="12700">
            <a:solidFill>
              <a:srgbClr val="1D1F2B"/>
            </a:solidFill>
            <a:prstDash val="solid"/>
          </a:ln>
        </p:spPr>
        <p:txBody>
          <a:bodyPr/>
          <a:p/>
        </p:txBody>
      </p:sp>
      <p:sp>
        <p:nvSpPr>
          <p:cNvPr id="9" name="Shape 7"/>
          <p:cNvSpPr/>
          <p:nvPr/>
        </p:nvSpPr>
        <p:spPr>
          <a:xfrm>
            <a:off x="868680" y="3803904"/>
            <a:ext cx="420624" cy="420624"/>
          </a:xfrm>
          <a:prstGeom prst="ellipse">
            <a:avLst/>
          </a:prstGeom>
          <a:solidFill>
            <a:srgbClr val="FFC24B"/>
          </a:solidFill>
          <a:ln/>
        </p:spPr>
        <p:txBody>
          <a:bodyPr/>
          <a:p/>
        </p:txBody>
      </p:sp>
      <p:sp>
        <p:nvSpPr>
          <p:cNvPr id="10" name="Text 8"/>
          <p:cNvSpPr/>
          <p:nvPr/>
        </p:nvSpPr>
        <p:spPr>
          <a:xfrm>
            <a:off x="868680" y="38039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508760" y="3657600"/>
            <a:ext cx="6309360" cy="713232"/>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Adevărat</a:t>
            </a:r>
            <a:endParaRPr lang="en-US" sz="2200" dirty="0"/>
          </a:p>
        </p:txBody>
      </p:sp>
      <p:sp>
        <p:nvSpPr>
          <p:cNvPr id="12" name="Shape 10"/>
          <p:cNvSpPr/>
          <p:nvPr/>
        </p:nvSpPr>
        <p:spPr>
          <a:xfrm>
            <a:off x="594360" y="4526280"/>
            <a:ext cx="7498080" cy="713232"/>
          </a:xfrm>
          <a:prstGeom prst="roundRect">
            <a:avLst>
              <a:gd name="adj" fmla="val 11538"/>
            </a:avLst>
          </a:prstGeom>
          <a:solidFill>
            <a:srgbClr val="1D1F2B"/>
          </a:solidFill>
          <a:ln w="12700">
            <a:solidFill>
              <a:srgbClr val="1D1F2B"/>
            </a:solidFill>
            <a:prstDash val="solid"/>
          </a:ln>
        </p:spPr>
        <p:txBody>
          <a:bodyPr/>
          <a:p/>
        </p:txBody>
      </p:sp>
      <p:sp>
        <p:nvSpPr>
          <p:cNvPr id="13" name="Shape 11"/>
          <p:cNvSpPr/>
          <p:nvPr/>
        </p:nvSpPr>
        <p:spPr>
          <a:xfrm>
            <a:off x="868680" y="4672584"/>
            <a:ext cx="420624" cy="420624"/>
          </a:xfrm>
          <a:prstGeom prst="ellipse">
            <a:avLst/>
          </a:prstGeom>
          <a:solidFill>
            <a:srgbClr val="FFC24B"/>
          </a:solidFill>
          <a:ln/>
        </p:spPr>
        <p:txBody>
          <a:bodyPr/>
          <a:p/>
        </p:txBody>
      </p:sp>
      <p:sp>
        <p:nvSpPr>
          <p:cNvPr id="14" name="Text 12"/>
          <p:cNvSpPr/>
          <p:nvPr/>
        </p:nvSpPr>
        <p:spPr>
          <a:xfrm>
            <a:off x="868680" y="46725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1508760" y="4526280"/>
            <a:ext cx="6309360" cy="713232"/>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Fals</a:t>
            </a:r>
            <a:endParaRPr lang="en-US" sz="2200" dirty="0"/>
          </a:p>
        </p:txBody>
      </p:sp>
      <p:sp>
        <p:nvSpPr>
          <p:cNvPr id="16" name="Shape 14"/>
          <p:cNvSpPr/>
          <p:nvPr/>
        </p:nvSpPr>
        <p:spPr>
          <a:xfrm>
            <a:off x="8549640" y="91440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18" name="Text 16"/>
          <p:cNvSpPr/>
          <p:nvPr/>
        </p:nvSpPr>
        <p:spPr>
          <a:xfrm>
            <a:off x="594360" y="5577840"/>
            <a:ext cx="768096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menti.com/al9puscrv22j</a:t>
            </a:r>
            <a:endParaRPr lang="en-US" sz="1500" dirty="0"/>
          </a:p>
        </p:txBody>
      </p:sp>
      <p:pic>
        <p:nvPicPr>
          <p:cNvPr id="19" name="Picture 18" descr="Mentimeter_UB_ISP_C02.png"/>
          <p:cNvPicPr>
            <a:picLocks noChangeAspect="1"/>
          </p:cNvPicPr>
          <p:nvPr/>
        </p:nvPicPr>
        <p:blipFill>
          <a:blip r:embed="rId3"/>
          <a:stretch>
            <a:fillRect/>
          </a:stretch>
        </p:blipFill>
        <p:spPr>
          <a:xfrm>
            <a:off x="8863330" y="914400"/>
            <a:ext cx="2390140" cy="2390140"/>
          </a:xfrm>
          <a:prstGeom prst="rect">
            <a:avLst/>
          </a:prstGeom>
        </p:spPr>
      </p:pic>
      <p:sp>
        <p:nvSpPr>
          <p:cNvPr id="20" name="TextBox 19"/>
          <p:cNvSpPr txBox="1"/>
          <p:nvPr/>
        </p:nvSpPr>
        <p:spPr>
          <a:xfrm>
            <a:off x="8863330" y="3342640"/>
            <a:ext cx="23901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AFIRMAȚIA ESTE FALSĂ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Sănătatea publică nu înseamnă spitalele</a:t>
            </a:r>
            <a:endParaRPr lang="en-US" sz="3000" dirty="0"/>
          </a:p>
        </p:txBody>
      </p:sp>
      <p:sp>
        <p:nvSpPr>
          <p:cNvPr id="4" name="Text 2"/>
          <p:cNvSpPr/>
          <p:nvPr/>
        </p:nvSpPr>
        <p:spPr>
          <a:xfrm>
            <a:off x="594360" y="1554480"/>
            <a:ext cx="10972800" cy="18288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În vorbirea de zi cu zi, „sănătatea publică” înseamnă adesea sistemul public de spitale. În sensul cursului: efortul organizat pentru sănătatea întregii populații. Spitalul tratează bolnavi; sănătatea publică lucrează mai ales în afara lui: în apă, în școli, în lege, în date.</a:t>
            </a:r>
            <a:endParaRPr lang="en-US" sz="1900" dirty="0"/>
          </a:p>
        </p:txBody>
      </p:sp>
      <p:sp>
        <p:nvSpPr>
          <p:cNvPr id="5" name="Shape 3"/>
          <p:cNvSpPr/>
          <p:nvPr/>
        </p:nvSpPr>
        <p:spPr>
          <a:xfrm>
            <a:off x="594360" y="3611880"/>
            <a:ext cx="10972800" cy="1371600"/>
          </a:xfrm>
          <a:prstGeom prst="roundRect">
            <a:avLst>
              <a:gd name="adj" fmla="val 6000"/>
            </a:avLst>
          </a:prstGeom>
          <a:solidFill>
            <a:srgbClr val="FBF8F1"/>
          </a:solidFill>
          <a:ln w="12700">
            <a:solidFill>
              <a:srgbClr val="FBF8F1"/>
            </a:solidFill>
            <a:prstDash val="solid"/>
          </a:ln>
        </p:spPr>
        <p:txBody>
          <a:bodyPr/>
          <a:p/>
        </p:txBody>
      </p:sp>
      <p:sp>
        <p:nvSpPr>
          <p:cNvPr id="6" name="Shape 4"/>
          <p:cNvSpPr/>
          <p:nvPr/>
        </p:nvSpPr>
        <p:spPr>
          <a:xfrm>
            <a:off x="594360" y="3611880"/>
            <a:ext cx="91440" cy="1371600"/>
          </a:xfrm>
          <a:prstGeom prst="rect">
            <a:avLst/>
          </a:prstGeom>
          <a:solidFill>
            <a:srgbClr val="0E7C6B"/>
          </a:solidFill>
          <a:ln w="12700">
            <a:solidFill>
              <a:srgbClr val="0E7C6B"/>
            </a:solidFill>
            <a:prstDash val="solid"/>
          </a:ln>
        </p:spPr>
        <p:txBody>
          <a:bodyPr/>
          <a:p/>
        </p:txBody>
      </p:sp>
      <p:sp>
        <p:nvSpPr>
          <p:cNvPr id="7" name="Text 5"/>
          <p:cNvSpPr/>
          <p:nvPr/>
        </p:nvSpPr>
        <p:spPr>
          <a:xfrm>
            <a:off x="914400" y="3611880"/>
            <a:ext cx="10424160" cy="137160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Legea nr. 95/2006: protecția sănătății publice este o obligație a autorităților centrale și locale și a tuturor persoanelor fizice și juridice.</a:t>
            </a:r>
            <a:endParaRPr lang="en-US" sz="1900" dirty="0"/>
          </a:p>
        </p:txBody>
      </p:sp>
      <p:sp>
        <p:nvSpPr>
          <p:cNvPr id="8" name="Text 6"/>
          <p:cNvSpPr/>
          <p:nvPr/>
        </p:nvSpPr>
        <p:spPr>
          <a:xfrm>
            <a:off x="594360" y="5257800"/>
            <a:ext cx="10972800" cy="54864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Dacă sănătatea publică înseamnă „spitalele”, prevenția rămâne fără apărători.</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1_inundatie_la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949440" cy="6858000"/>
          </a:xfrm>
          <a:prstGeom prst="rect">
            <a:avLst/>
          </a:prstGeom>
          <a:solidFill>
            <a:srgbClr val="11121A">
              <a:alpha val="88000"/>
            </a:srgbClr>
          </a:solidFill>
          <a:ln w="12700">
            <a:solidFill>
              <a:srgbClr val="11121A"/>
            </a:solidFill>
            <a:prstDash val="solid"/>
          </a:ln>
        </p:spPr>
        <p:txBody>
          <a:bodyPr/>
          <a:p/>
        </p:txBody>
      </p:sp>
      <p:sp>
        <p:nvSpPr>
          <p:cNvPr id="4" name="Text 1"/>
          <p:cNvSpPr/>
          <p:nvPr/>
        </p:nvSpPr>
        <p:spPr>
          <a:xfrm>
            <a:off x="640080" y="347472"/>
            <a:ext cx="621792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ÎNAPOI ÎN ORAȘUL INUNDAT</a:t>
            </a:r>
            <a:endParaRPr lang="en-US" sz="1300" dirty="0"/>
          </a:p>
        </p:txBody>
      </p:sp>
      <p:sp>
        <p:nvSpPr>
          <p:cNvPr id="5" name="Text 2"/>
          <p:cNvSpPr/>
          <p:nvPr/>
        </p:nvSpPr>
        <p:spPr>
          <a:xfrm>
            <a:off x="640080" y="914400"/>
            <a:ext cx="6035040" cy="201168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Cine acționează și pe ce lege se sprijină?</a:t>
            </a:r>
            <a:endParaRPr lang="en-US" sz="3800" dirty="0"/>
          </a:p>
        </p:txBody>
      </p:sp>
      <p:sp>
        <p:nvSpPr>
          <p:cNvPr id="6" name="Text 3"/>
          <p:cNvSpPr/>
          <p:nvPr/>
        </p:nvSpPr>
        <p:spPr>
          <a:xfrm>
            <a:off x="640080" y="3108960"/>
            <a:ext cx="5943600" cy="1645920"/>
          </a:xfrm>
          <a:prstGeom prst="rect">
            <a:avLst/>
          </a:prstGeom>
          <a:noFill/>
          <a:ln/>
        </p:spPr>
        <p:txBody>
          <a:bodyPr wrap="square" lIns="0" tIns="0" rIns="0" bIns="0" rtlCol="0" anchor="t"/>
          <a:lstStyle/>
          <a:p>
            <a:pPr indent="0" marL="0">
              <a:buNone/>
            </a:pPr>
            <a:r>
              <a:rPr lang="en-US" sz="2000" dirty="0">
                <a:solidFill>
                  <a:srgbClr val="E6E8EF"/>
                </a:solidFill>
                <a:latin typeface="Palatino Linotype" pitchFamily="34" charset="0"/>
                <a:ea typeface="Palatino Linotype" pitchFamily="34" charset="-122"/>
                <a:cs typeface="Palatino Linotype" pitchFamily="34" charset="-120"/>
              </a:rPr>
              <a:t>În prima ședință, un oraș rămăsese fără apă de băut după o inundație, iar trei copii aveau diaree. Spuneți, pe rând: cine face ce?</a:t>
            </a:r>
            <a:endParaRPr lang="en-US" sz="2000" dirty="0"/>
          </a:p>
        </p:txBody>
      </p:sp>
      <p:sp>
        <p:nvSpPr>
          <p:cNvPr id="7" name="Shape 4"/>
          <p:cNvSpPr/>
          <p:nvPr/>
        </p:nvSpPr>
        <p:spPr>
          <a:xfrm>
            <a:off x="640080" y="5120640"/>
            <a:ext cx="3291840" cy="329184"/>
          </a:xfrm>
          <a:prstGeom prst="roundRect">
            <a:avLst>
              <a:gd name="adj" fmla="val 50000"/>
            </a:avLst>
          </a:prstGeom>
          <a:solidFill>
            <a:srgbClr val="FFC24B"/>
          </a:solidFill>
          <a:ln w="12700">
            <a:solidFill>
              <a:srgbClr val="FFC24B"/>
            </a:solidFill>
            <a:prstDash val="solid"/>
          </a:ln>
        </p:spPr>
        <p:txBody>
          <a:bodyPr/>
          <a:p/>
        </p:txBody>
      </p:sp>
      <p:sp>
        <p:nvSpPr>
          <p:cNvPr id="8" name="Text 5"/>
          <p:cNvSpPr/>
          <p:nvPr/>
        </p:nvSpPr>
        <p:spPr>
          <a:xfrm>
            <a:off x="640080" y="5120640"/>
            <a:ext cx="3291840" cy="329184"/>
          </a:xfrm>
          <a:prstGeom prst="rect">
            <a:avLst/>
          </a:prstGeom>
          <a:noFill/>
          <a:ln/>
        </p:spPr>
        <p:txBody>
          <a:bodyPr wrap="square" lIns="0" tIns="0" rIns="0" bIns="0" rtlCol="0" anchor="ctr"/>
          <a:lstStyle/>
          <a:p>
            <a:pPr algn="ctr" indent="0" marL="0">
              <a:buNone/>
            </a:pPr>
            <a:r>
              <a:rPr lang="en-US" sz="1300" b="1" dirty="0">
                <a:solidFill>
                  <a:srgbClr val="3D2A00"/>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9" name="Text 6"/>
          <p:cNvSpPr/>
          <p:nvPr/>
        </p:nvSpPr>
        <p:spPr>
          <a:xfrm>
            <a:off x="7132320" y="6537960"/>
            <a:ext cx="4846320" cy="219456"/>
          </a:xfrm>
          <a:prstGeom prst="rect">
            <a:avLst/>
          </a:prstGeom>
          <a:noFill/>
          <a:ln/>
        </p:spPr>
        <p:txBody>
          <a:bodyPr wrap="square" lIns="0" tIns="0" rIns="0" bIns="0" rtlCol="0" anchor="ctr"/>
          <a:lstStyle/>
          <a:p>
            <a:pPr algn="r" indent="0" marL="0">
              <a:buNone/>
            </a:pPr>
            <a:r>
              <a:rPr lang="en-US" sz="850" i="1" dirty="0">
                <a:solidFill>
                  <a:srgbClr val="F0F1F5"/>
                </a:solidFill>
                <a:latin typeface="Palatino Linotype" pitchFamily="34" charset="0"/>
                <a:ea typeface="Palatino Linotype" pitchFamily="34" charset="-122"/>
                <a:cs typeface="Palatino Linotype" pitchFamily="34" charset="-120"/>
              </a:rPr>
              <a:t>Sursa: foto LE55ONS · CC BY-SA 3.0 · Wikimedia Commons (stradă inundată, Anglia)</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CINE FACE 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Fiecare rol are o lege și o funcție cu nume</a:t>
            </a:r>
            <a:endParaRPr lang="en-US" sz="3000" dirty="0"/>
          </a:p>
        </p:txBody>
      </p:sp>
      <p:sp>
        <p:nvSpPr>
          <p:cNvPr id="4" name="Shape 2"/>
          <p:cNvSpPr/>
          <p:nvPr/>
        </p:nvSpPr>
        <p:spPr>
          <a:xfrm>
            <a:off x="594360" y="1554480"/>
            <a:ext cx="10972800" cy="548640"/>
          </a:xfrm>
          <a:prstGeom prst="roundRect">
            <a:avLst>
              <a:gd name="adj" fmla="val 15000"/>
            </a:avLst>
          </a:prstGeom>
          <a:solidFill>
            <a:srgbClr val="ECEAE4"/>
          </a:solidFill>
          <a:ln w="12700">
            <a:solidFill>
              <a:srgbClr val="ECEAE4"/>
            </a:solidFill>
            <a:prstDash val="solid"/>
          </a:ln>
        </p:spPr>
        <p:txBody>
          <a:bodyPr/>
          <a:p/>
        </p:txBody>
      </p:sp>
      <p:sp>
        <p:nvSpPr>
          <p:cNvPr id="5" name="Text 3"/>
          <p:cNvSpPr/>
          <p:nvPr/>
        </p:nvSpPr>
        <p:spPr>
          <a:xfrm>
            <a:off x="822960" y="1554480"/>
            <a:ext cx="4206240" cy="548640"/>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Medicul de familie</a:t>
            </a:r>
            <a:endParaRPr lang="en-US" sz="1700" dirty="0"/>
          </a:p>
        </p:txBody>
      </p:sp>
      <p:sp>
        <p:nvSpPr>
          <p:cNvPr id="6" name="Text 4"/>
          <p:cNvSpPr/>
          <p:nvPr/>
        </p:nvSpPr>
        <p:spPr>
          <a:xfrm>
            <a:off x="5120640" y="1554480"/>
            <a:ext cx="630936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vede primii copii bolnavi</a:t>
            </a:r>
            <a:endParaRPr lang="en-US" sz="1700" dirty="0"/>
          </a:p>
        </p:txBody>
      </p:sp>
      <p:sp>
        <p:nvSpPr>
          <p:cNvPr id="7" name="Shape 5"/>
          <p:cNvSpPr/>
          <p:nvPr/>
        </p:nvSpPr>
        <p:spPr>
          <a:xfrm>
            <a:off x="594360" y="2194560"/>
            <a:ext cx="10972800" cy="548640"/>
          </a:xfrm>
          <a:prstGeom prst="roundRect">
            <a:avLst>
              <a:gd name="adj" fmla="val 15000"/>
            </a:avLst>
          </a:prstGeom>
          <a:solidFill>
            <a:srgbClr val="F9F8F5"/>
          </a:solidFill>
          <a:ln w="12700">
            <a:solidFill>
              <a:srgbClr val="F9F8F5"/>
            </a:solidFill>
            <a:prstDash val="solid"/>
          </a:ln>
        </p:spPr>
        <p:txBody>
          <a:bodyPr/>
          <a:p/>
        </p:txBody>
      </p:sp>
      <p:sp>
        <p:nvSpPr>
          <p:cNvPr id="8" name="Text 6"/>
          <p:cNvSpPr/>
          <p:nvPr/>
        </p:nvSpPr>
        <p:spPr>
          <a:xfrm>
            <a:off x="822960" y="2194560"/>
            <a:ext cx="4206240" cy="548640"/>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Direcția de sănătate publică</a:t>
            </a:r>
            <a:endParaRPr lang="en-US" sz="1700" dirty="0"/>
          </a:p>
        </p:txBody>
      </p:sp>
      <p:sp>
        <p:nvSpPr>
          <p:cNvPr id="9" name="Text 7"/>
          <p:cNvSpPr/>
          <p:nvPr/>
        </p:nvSpPr>
        <p:spPr>
          <a:xfrm>
            <a:off x="5120640" y="2194560"/>
            <a:ext cx="630936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află de cazuri, verifică apa, le spune oamenilor ce să facă</a:t>
            </a:r>
            <a:endParaRPr lang="en-US" sz="1700" dirty="0"/>
          </a:p>
        </p:txBody>
      </p:sp>
      <p:sp>
        <p:nvSpPr>
          <p:cNvPr id="10" name="Shape 8"/>
          <p:cNvSpPr/>
          <p:nvPr/>
        </p:nvSpPr>
        <p:spPr>
          <a:xfrm>
            <a:off x="594360" y="2834640"/>
            <a:ext cx="10972800" cy="548640"/>
          </a:xfrm>
          <a:prstGeom prst="roundRect">
            <a:avLst>
              <a:gd name="adj" fmla="val 15000"/>
            </a:avLst>
          </a:prstGeom>
          <a:solidFill>
            <a:srgbClr val="ECEAE4"/>
          </a:solidFill>
          <a:ln w="12700">
            <a:solidFill>
              <a:srgbClr val="ECEAE4"/>
            </a:solidFill>
            <a:prstDash val="solid"/>
          </a:ln>
        </p:spPr>
        <p:txBody>
          <a:bodyPr/>
          <a:p/>
        </p:txBody>
      </p:sp>
      <p:sp>
        <p:nvSpPr>
          <p:cNvPr id="11" name="Text 9"/>
          <p:cNvSpPr/>
          <p:nvPr/>
        </p:nvSpPr>
        <p:spPr>
          <a:xfrm>
            <a:off x="822960" y="2834640"/>
            <a:ext cx="4206240" cy="548640"/>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Institutul Național de Sănătate Publică</a:t>
            </a:r>
            <a:endParaRPr lang="en-US" sz="1700" dirty="0"/>
          </a:p>
        </p:txBody>
      </p:sp>
      <p:sp>
        <p:nvSpPr>
          <p:cNvPr id="12" name="Text 10"/>
          <p:cNvSpPr/>
          <p:nvPr/>
        </p:nvSpPr>
        <p:spPr>
          <a:xfrm>
            <a:off x="5120640" y="2834640"/>
            <a:ext cx="630936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metode, analize de referință, date pentru toată țara</a:t>
            </a:r>
            <a:endParaRPr lang="en-US" sz="1700" dirty="0"/>
          </a:p>
        </p:txBody>
      </p:sp>
      <p:sp>
        <p:nvSpPr>
          <p:cNvPr id="13" name="Shape 11"/>
          <p:cNvSpPr/>
          <p:nvPr/>
        </p:nvSpPr>
        <p:spPr>
          <a:xfrm>
            <a:off x="594360" y="3474720"/>
            <a:ext cx="10972800" cy="548640"/>
          </a:xfrm>
          <a:prstGeom prst="roundRect">
            <a:avLst>
              <a:gd name="adj" fmla="val 15000"/>
            </a:avLst>
          </a:prstGeom>
          <a:solidFill>
            <a:srgbClr val="F9F8F5"/>
          </a:solidFill>
          <a:ln w="12700">
            <a:solidFill>
              <a:srgbClr val="F9F8F5"/>
            </a:solidFill>
            <a:prstDash val="solid"/>
          </a:ln>
        </p:spPr>
        <p:txBody>
          <a:bodyPr/>
          <a:p/>
        </p:txBody>
      </p:sp>
      <p:sp>
        <p:nvSpPr>
          <p:cNvPr id="14" name="Text 12"/>
          <p:cNvSpPr/>
          <p:nvPr/>
        </p:nvSpPr>
        <p:spPr>
          <a:xfrm>
            <a:off x="822960" y="3474720"/>
            <a:ext cx="4206240" cy="548640"/>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Ministerul Sănătății</a:t>
            </a:r>
            <a:endParaRPr lang="en-US" sz="1700" dirty="0"/>
          </a:p>
        </p:txBody>
      </p:sp>
      <p:sp>
        <p:nvSpPr>
          <p:cNvPr id="15" name="Text 13"/>
          <p:cNvSpPr/>
          <p:nvPr/>
        </p:nvSpPr>
        <p:spPr>
          <a:xfrm>
            <a:off x="5120640" y="3474720"/>
            <a:ext cx="630936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răspunde, la nivel central, de întreg domeniul</a:t>
            </a:r>
            <a:endParaRPr lang="en-US" sz="1700" dirty="0"/>
          </a:p>
        </p:txBody>
      </p:sp>
      <p:sp>
        <p:nvSpPr>
          <p:cNvPr id="16" name="Shape 14"/>
          <p:cNvSpPr/>
          <p:nvPr/>
        </p:nvSpPr>
        <p:spPr>
          <a:xfrm>
            <a:off x="594360" y="4114800"/>
            <a:ext cx="10972800" cy="548640"/>
          </a:xfrm>
          <a:prstGeom prst="roundRect">
            <a:avLst>
              <a:gd name="adj" fmla="val 15000"/>
            </a:avLst>
          </a:prstGeom>
          <a:solidFill>
            <a:srgbClr val="ECEAE4"/>
          </a:solidFill>
          <a:ln w="12700">
            <a:solidFill>
              <a:srgbClr val="ECEAE4"/>
            </a:solidFill>
            <a:prstDash val="solid"/>
          </a:ln>
        </p:spPr>
        <p:txBody>
          <a:bodyPr/>
          <a:p/>
        </p:txBody>
      </p:sp>
      <p:sp>
        <p:nvSpPr>
          <p:cNvPr id="17" name="Text 15"/>
          <p:cNvSpPr/>
          <p:nvPr/>
        </p:nvSpPr>
        <p:spPr>
          <a:xfrm>
            <a:off x="822960" y="4114800"/>
            <a:ext cx="4206240" cy="548640"/>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Primăria</a:t>
            </a:r>
            <a:endParaRPr lang="en-US" sz="1700" dirty="0"/>
          </a:p>
        </p:txBody>
      </p:sp>
      <p:sp>
        <p:nvSpPr>
          <p:cNvPr id="18" name="Text 16"/>
          <p:cNvSpPr/>
          <p:nvPr/>
        </p:nvSpPr>
        <p:spPr>
          <a:xfrm>
            <a:off x="5120640" y="4114800"/>
            <a:ext cx="630936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aduce cisterne</a:t>
            </a:r>
            <a:endParaRPr lang="en-US" sz="1700" dirty="0"/>
          </a:p>
        </p:txBody>
      </p:sp>
      <p:sp>
        <p:nvSpPr>
          <p:cNvPr id="19" name="Shape 17"/>
          <p:cNvSpPr/>
          <p:nvPr/>
        </p:nvSpPr>
        <p:spPr>
          <a:xfrm>
            <a:off x="594360" y="4754880"/>
            <a:ext cx="10972800" cy="548640"/>
          </a:xfrm>
          <a:prstGeom prst="roundRect">
            <a:avLst>
              <a:gd name="adj" fmla="val 15000"/>
            </a:avLst>
          </a:prstGeom>
          <a:solidFill>
            <a:srgbClr val="F9F8F5"/>
          </a:solidFill>
          <a:ln w="12700">
            <a:solidFill>
              <a:srgbClr val="F9F8F5"/>
            </a:solidFill>
            <a:prstDash val="solid"/>
          </a:ln>
        </p:spPr>
        <p:txBody>
          <a:bodyPr/>
          <a:p/>
        </p:txBody>
      </p:sp>
      <p:sp>
        <p:nvSpPr>
          <p:cNvPr id="20" name="Text 18"/>
          <p:cNvSpPr/>
          <p:nvPr/>
        </p:nvSpPr>
        <p:spPr>
          <a:xfrm>
            <a:off x="822960" y="4754880"/>
            <a:ext cx="4206240" cy="548640"/>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Compania de apă</a:t>
            </a:r>
            <a:endParaRPr lang="en-US" sz="1700" dirty="0"/>
          </a:p>
        </p:txBody>
      </p:sp>
      <p:sp>
        <p:nvSpPr>
          <p:cNvPr id="21" name="Text 19"/>
          <p:cNvSpPr/>
          <p:nvPr/>
        </p:nvSpPr>
        <p:spPr>
          <a:xfrm>
            <a:off x="5120640" y="4754880"/>
            <a:ext cx="630936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tratează apa</a:t>
            </a:r>
            <a:endParaRPr lang="en-US" sz="1700" dirty="0"/>
          </a:p>
        </p:txBody>
      </p:sp>
      <p:sp>
        <p:nvSpPr>
          <p:cNvPr id="22" name="Shape 20"/>
          <p:cNvSpPr/>
          <p:nvPr/>
        </p:nvSpPr>
        <p:spPr>
          <a:xfrm>
            <a:off x="594360" y="5394960"/>
            <a:ext cx="10972800" cy="548640"/>
          </a:xfrm>
          <a:prstGeom prst="roundRect">
            <a:avLst>
              <a:gd name="adj" fmla="val 15000"/>
            </a:avLst>
          </a:prstGeom>
          <a:solidFill>
            <a:srgbClr val="ECEAE4"/>
          </a:solidFill>
          <a:ln w="12700">
            <a:solidFill>
              <a:srgbClr val="ECEAE4"/>
            </a:solidFill>
            <a:prstDash val="solid"/>
          </a:ln>
        </p:spPr>
        <p:txBody>
          <a:bodyPr/>
          <a:p/>
        </p:txBody>
      </p:sp>
      <p:sp>
        <p:nvSpPr>
          <p:cNvPr id="23" name="Text 21"/>
          <p:cNvSpPr/>
          <p:nvPr/>
        </p:nvSpPr>
        <p:spPr>
          <a:xfrm>
            <a:off x="822960" y="5394960"/>
            <a:ext cx="4206240" cy="548640"/>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Fiecare familie</a:t>
            </a:r>
            <a:endParaRPr lang="en-US" sz="1700" dirty="0"/>
          </a:p>
        </p:txBody>
      </p:sp>
      <p:sp>
        <p:nvSpPr>
          <p:cNvPr id="24" name="Text 22"/>
          <p:cNvSpPr/>
          <p:nvPr/>
        </p:nvSpPr>
        <p:spPr>
          <a:xfrm>
            <a:off x="5120640" y="5394960"/>
            <a:ext cx="630936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fierbe apa înainte să o bea</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TREI FUNCȚII DE BAZĂ · INSTITUTUL DE MEDICINĂ, 1988</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Evaluează, construiește politici, asigură</a:t>
            </a:r>
            <a:endParaRPr lang="en-US" sz="3200" dirty="0"/>
          </a:p>
        </p:txBody>
      </p:sp>
      <p:sp>
        <p:nvSpPr>
          <p:cNvPr id="4" name="Shape 2"/>
          <p:cNvSpPr/>
          <p:nvPr/>
        </p:nvSpPr>
        <p:spPr>
          <a:xfrm>
            <a:off x="594360" y="1645920"/>
            <a:ext cx="3520440" cy="3566160"/>
          </a:xfrm>
          <a:prstGeom prst="roundRect">
            <a:avLst>
              <a:gd name="adj" fmla="val 2338"/>
            </a:avLst>
          </a:prstGeom>
          <a:solidFill>
            <a:srgbClr val="1D1F2B"/>
          </a:solidFill>
          <a:ln w="12700">
            <a:solidFill>
              <a:srgbClr val="1D1F2B"/>
            </a:solidFill>
            <a:prstDash val="solid"/>
          </a:ln>
        </p:spPr>
        <p:txBody>
          <a:bodyPr/>
          <a:p/>
        </p:txBody>
      </p:sp>
      <p:sp>
        <p:nvSpPr>
          <p:cNvPr id="5" name="Shape 3"/>
          <p:cNvSpPr/>
          <p:nvPr/>
        </p:nvSpPr>
        <p:spPr>
          <a:xfrm>
            <a:off x="594360" y="1645920"/>
            <a:ext cx="3520440" cy="73152"/>
          </a:xfrm>
          <a:prstGeom prst="rect">
            <a:avLst/>
          </a:prstGeom>
          <a:solidFill>
            <a:srgbClr val="FF4757"/>
          </a:solidFill>
          <a:ln w="12700">
            <a:solidFill>
              <a:srgbClr val="FF4757"/>
            </a:solidFill>
            <a:prstDash val="solid"/>
          </a:ln>
        </p:spPr>
        <p:txBody>
          <a:bodyPr/>
          <a:p/>
        </p:txBody>
      </p:sp>
      <p:sp>
        <p:nvSpPr>
          <p:cNvPr id="6" name="Text 4"/>
          <p:cNvSpPr/>
          <p:nvPr/>
        </p:nvSpPr>
        <p:spPr>
          <a:xfrm>
            <a:off x="868680" y="1828800"/>
            <a:ext cx="3017520" cy="822960"/>
          </a:xfrm>
          <a:prstGeom prst="rect">
            <a:avLst/>
          </a:prstGeom>
          <a:noFill/>
          <a:ln/>
        </p:spPr>
        <p:txBody>
          <a:bodyPr wrap="square" lIns="0" tIns="0" rIns="0" bIns="0" rtlCol="0" anchor="t"/>
          <a:lstStyle/>
          <a:p>
            <a:pPr indent="0" marL="0">
              <a:buNone/>
            </a:pPr>
            <a:r>
              <a:rPr lang="en-US" sz="2200" b="1" dirty="0">
                <a:solidFill>
                  <a:srgbClr val="FF4757"/>
                </a:solidFill>
                <a:latin typeface="Palatino Linotype" pitchFamily="34" charset="0"/>
                <a:ea typeface="Palatino Linotype" pitchFamily="34" charset="-122"/>
                <a:cs typeface="Palatino Linotype" pitchFamily="34" charset="-120"/>
              </a:rPr>
              <a:t>Evaluează</a:t>
            </a:r>
            <a:endParaRPr lang="en-US" sz="2200" dirty="0"/>
          </a:p>
        </p:txBody>
      </p:sp>
      <p:sp>
        <p:nvSpPr>
          <p:cNvPr id="7" name="Text 5"/>
          <p:cNvSpPr/>
          <p:nvPr/>
        </p:nvSpPr>
        <p:spPr>
          <a:xfrm>
            <a:off x="868680" y="2651760"/>
            <a:ext cx="3017520" cy="10058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strânge și citește datele despre sănătatea comunității</a:t>
            </a:r>
            <a:endParaRPr lang="en-US" sz="1600" dirty="0"/>
          </a:p>
        </p:txBody>
      </p:sp>
      <p:sp>
        <p:nvSpPr>
          <p:cNvPr id="8" name="Text 6"/>
          <p:cNvSpPr/>
          <p:nvPr/>
        </p:nvSpPr>
        <p:spPr>
          <a:xfrm>
            <a:off x="868680" y="3886200"/>
            <a:ext cx="3017520" cy="1188720"/>
          </a:xfrm>
          <a:prstGeom prst="rect">
            <a:avLst/>
          </a:prstGeom>
          <a:noFill/>
          <a:ln/>
        </p:spPr>
        <p:txBody>
          <a:bodyPr wrap="square" lIns="0" tIns="0" rIns="0" bIns="0" rtlCol="0" anchor="t"/>
          <a:lstStyle/>
          <a:p>
            <a:pPr indent="0" marL="0">
              <a:buNone/>
            </a:pPr>
            <a:r>
              <a:rPr lang="en-US" sz="1600" i="1" dirty="0">
                <a:solidFill>
                  <a:srgbClr val="C9CCD8"/>
                </a:solidFill>
                <a:latin typeface="Palatino Linotype" pitchFamily="34" charset="0"/>
                <a:ea typeface="Palatino Linotype" pitchFamily="34" charset="-122"/>
                <a:cs typeface="Palatino Linotype" pitchFamily="34" charset="-120"/>
              </a:rPr>
              <a:t>Câți copii au diaree, pe ce străzi, de când?</a:t>
            </a:r>
            <a:endParaRPr lang="en-US" sz="1600" dirty="0"/>
          </a:p>
        </p:txBody>
      </p:sp>
      <p:sp>
        <p:nvSpPr>
          <p:cNvPr id="9" name="Shape 7"/>
          <p:cNvSpPr/>
          <p:nvPr/>
        </p:nvSpPr>
        <p:spPr>
          <a:xfrm>
            <a:off x="4343400" y="1645920"/>
            <a:ext cx="3520440" cy="3566160"/>
          </a:xfrm>
          <a:prstGeom prst="roundRect">
            <a:avLst>
              <a:gd name="adj" fmla="val 2338"/>
            </a:avLst>
          </a:prstGeom>
          <a:solidFill>
            <a:srgbClr val="1D1F2B"/>
          </a:solidFill>
          <a:ln w="12700">
            <a:solidFill>
              <a:srgbClr val="1D1F2B"/>
            </a:solidFill>
            <a:prstDash val="solid"/>
          </a:ln>
        </p:spPr>
        <p:txBody>
          <a:bodyPr/>
          <a:p/>
        </p:txBody>
      </p:sp>
      <p:sp>
        <p:nvSpPr>
          <p:cNvPr id="10" name="Shape 8"/>
          <p:cNvSpPr/>
          <p:nvPr/>
        </p:nvSpPr>
        <p:spPr>
          <a:xfrm>
            <a:off x="4343400" y="1645920"/>
            <a:ext cx="3520440" cy="73152"/>
          </a:xfrm>
          <a:prstGeom prst="rect">
            <a:avLst/>
          </a:prstGeom>
          <a:solidFill>
            <a:srgbClr val="FFC24B"/>
          </a:solidFill>
          <a:ln w="12700">
            <a:solidFill>
              <a:srgbClr val="FFC24B"/>
            </a:solidFill>
            <a:prstDash val="solid"/>
          </a:ln>
        </p:spPr>
        <p:txBody>
          <a:bodyPr/>
          <a:p/>
        </p:txBody>
      </p:sp>
      <p:sp>
        <p:nvSpPr>
          <p:cNvPr id="11" name="Text 9"/>
          <p:cNvSpPr/>
          <p:nvPr/>
        </p:nvSpPr>
        <p:spPr>
          <a:xfrm>
            <a:off x="4617720" y="1828800"/>
            <a:ext cx="3017520" cy="82296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Construiește politici</a:t>
            </a:r>
            <a:endParaRPr lang="en-US" sz="2200" dirty="0"/>
          </a:p>
        </p:txBody>
      </p:sp>
      <p:sp>
        <p:nvSpPr>
          <p:cNvPr id="12" name="Text 10"/>
          <p:cNvSpPr/>
          <p:nvPr/>
        </p:nvSpPr>
        <p:spPr>
          <a:xfrm>
            <a:off x="4617720" y="2651760"/>
            <a:ext cx="3017520" cy="10058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propune reguli și programe pe baza datelor</a:t>
            </a:r>
            <a:endParaRPr lang="en-US" sz="1600" dirty="0"/>
          </a:p>
        </p:txBody>
      </p:sp>
      <p:sp>
        <p:nvSpPr>
          <p:cNvPr id="13" name="Text 11"/>
          <p:cNvSpPr/>
          <p:nvPr/>
        </p:nvSpPr>
        <p:spPr>
          <a:xfrm>
            <a:off x="4617720" y="3886200"/>
            <a:ext cx="3017520" cy="1188720"/>
          </a:xfrm>
          <a:prstGeom prst="rect">
            <a:avLst/>
          </a:prstGeom>
          <a:noFill/>
          <a:ln/>
        </p:spPr>
        <p:txBody>
          <a:bodyPr wrap="square" lIns="0" tIns="0" rIns="0" bIns="0" rtlCol="0" anchor="t"/>
          <a:lstStyle/>
          <a:p>
            <a:pPr indent="0" marL="0">
              <a:buNone/>
            </a:pPr>
            <a:r>
              <a:rPr lang="en-US" sz="1600" i="1" dirty="0">
                <a:solidFill>
                  <a:srgbClr val="C9CCD8"/>
                </a:solidFill>
                <a:latin typeface="Palatino Linotype" pitchFamily="34" charset="0"/>
                <a:ea typeface="Palatino Linotype" pitchFamily="34" charset="-122"/>
                <a:cs typeface="Palatino Linotype" pitchFamily="34" charset="-120"/>
              </a:rPr>
              <a:t>Apa de la robinet nu se bea până la noi analize.</a:t>
            </a:r>
            <a:endParaRPr lang="en-US" sz="1600" dirty="0"/>
          </a:p>
        </p:txBody>
      </p:sp>
      <p:sp>
        <p:nvSpPr>
          <p:cNvPr id="14" name="Shape 12"/>
          <p:cNvSpPr/>
          <p:nvPr/>
        </p:nvSpPr>
        <p:spPr>
          <a:xfrm>
            <a:off x="8092440" y="1645920"/>
            <a:ext cx="3520440" cy="3566160"/>
          </a:xfrm>
          <a:prstGeom prst="roundRect">
            <a:avLst>
              <a:gd name="adj" fmla="val 2338"/>
            </a:avLst>
          </a:prstGeom>
          <a:solidFill>
            <a:srgbClr val="1D1F2B"/>
          </a:solidFill>
          <a:ln w="12700">
            <a:solidFill>
              <a:srgbClr val="1D1F2B"/>
            </a:solidFill>
            <a:prstDash val="solid"/>
          </a:ln>
        </p:spPr>
        <p:txBody>
          <a:bodyPr/>
          <a:p/>
        </p:txBody>
      </p:sp>
      <p:sp>
        <p:nvSpPr>
          <p:cNvPr id="15" name="Shape 13"/>
          <p:cNvSpPr/>
          <p:nvPr/>
        </p:nvSpPr>
        <p:spPr>
          <a:xfrm>
            <a:off x="8092440" y="1645920"/>
            <a:ext cx="3520440" cy="73152"/>
          </a:xfrm>
          <a:prstGeom prst="rect">
            <a:avLst/>
          </a:prstGeom>
          <a:solidFill>
            <a:srgbClr val="27D3BE"/>
          </a:solidFill>
          <a:ln w="12700">
            <a:solidFill>
              <a:srgbClr val="27D3BE"/>
            </a:solidFill>
            <a:prstDash val="solid"/>
          </a:ln>
        </p:spPr>
        <p:txBody>
          <a:bodyPr/>
          <a:p/>
        </p:txBody>
      </p:sp>
      <p:sp>
        <p:nvSpPr>
          <p:cNvPr id="16" name="Text 14"/>
          <p:cNvSpPr/>
          <p:nvPr/>
        </p:nvSpPr>
        <p:spPr>
          <a:xfrm>
            <a:off x="8366760" y="1828800"/>
            <a:ext cx="3017520" cy="82296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Asigură</a:t>
            </a:r>
            <a:endParaRPr lang="en-US" sz="2200" dirty="0"/>
          </a:p>
        </p:txBody>
      </p:sp>
      <p:sp>
        <p:nvSpPr>
          <p:cNvPr id="17" name="Text 15"/>
          <p:cNvSpPr/>
          <p:nvPr/>
        </p:nvSpPr>
        <p:spPr>
          <a:xfrm>
            <a:off x="8366760" y="2651760"/>
            <a:ext cx="3017520" cy="10058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garantează că serviciile ajung la oameni</a:t>
            </a:r>
            <a:endParaRPr lang="en-US" sz="1600" dirty="0"/>
          </a:p>
        </p:txBody>
      </p:sp>
      <p:sp>
        <p:nvSpPr>
          <p:cNvPr id="18" name="Text 16"/>
          <p:cNvSpPr/>
          <p:nvPr/>
        </p:nvSpPr>
        <p:spPr>
          <a:xfrm>
            <a:off x="8366760" y="3886200"/>
            <a:ext cx="3017520" cy="1188720"/>
          </a:xfrm>
          <a:prstGeom prst="rect">
            <a:avLst/>
          </a:prstGeom>
          <a:noFill/>
          <a:ln/>
        </p:spPr>
        <p:txBody>
          <a:bodyPr wrap="square" lIns="0" tIns="0" rIns="0" bIns="0" rtlCol="0" anchor="t"/>
          <a:lstStyle/>
          <a:p>
            <a:pPr indent="0" marL="0">
              <a:buNone/>
            </a:pPr>
            <a:r>
              <a:rPr lang="en-US" sz="1600" i="1" dirty="0">
                <a:solidFill>
                  <a:srgbClr val="C9CCD8"/>
                </a:solidFill>
                <a:latin typeface="Palatino Linotype" pitchFamily="34" charset="0"/>
                <a:ea typeface="Palatino Linotype" pitchFamily="34" charset="-122"/>
                <a:cs typeface="Palatino Linotype" pitchFamily="34" charset="-120"/>
              </a:rPr>
              <a:t>Apa îmbuteliată ajunge la oameni; analizele se repetă.</a:t>
            </a:r>
            <a:endParaRPr lang="en-US" sz="1600" dirty="0"/>
          </a:p>
        </p:txBody>
      </p:sp>
      <p:sp>
        <p:nvSpPr>
          <p:cNvPr id="19" name="Text 17"/>
          <p:cNvSpPr/>
          <p:nvPr/>
        </p:nvSpPr>
        <p:spPr>
          <a:xfrm>
            <a:off x="594360" y="5440680"/>
            <a:ext cx="10972800" cy="64008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Din ele s-au dezvoltat, în 1994, cele zece servicii esențiale, revizuite în 2020, cu echitatea în centru.</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Funcțiile esențiale ale sănătății publice</a:t>
            </a:r>
            <a:endParaRPr lang="en-US" sz="3200" dirty="0"/>
          </a:p>
        </p:txBody>
      </p:sp>
      <p:sp>
        <p:nvSpPr>
          <p:cNvPr id="4" name="Shape 2"/>
          <p:cNvSpPr/>
          <p:nvPr/>
        </p:nvSpPr>
        <p:spPr>
          <a:xfrm>
            <a:off x="594360" y="1645920"/>
            <a:ext cx="6766560" cy="1828800"/>
          </a:xfrm>
          <a:prstGeom prst="roundRect">
            <a:avLst>
              <a:gd name="adj" fmla="val 4500"/>
            </a:avLst>
          </a:prstGeom>
          <a:solidFill>
            <a:srgbClr val="ECEAE4"/>
          </a:solidFill>
          <a:ln w="12700">
            <a:solidFill>
              <a:srgbClr val="ECEAE4"/>
            </a:solidFill>
            <a:prstDash val="solid"/>
          </a:ln>
        </p:spPr>
        <p:txBody>
          <a:bodyPr/>
          <a:p/>
        </p:txBody>
      </p:sp>
      <p:sp>
        <p:nvSpPr>
          <p:cNvPr id="5" name="Text 3"/>
          <p:cNvSpPr/>
          <p:nvPr/>
        </p:nvSpPr>
        <p:spPr>
          <a:xfrm>
            <a:off x="868680" y="1783080"/>
            <a:ext cx="6217920" cy="329184"/>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În limbaj de zi cu zi</a:t>
            </a:r>
            <a:endParaRPr lang="en-US" sz="1300" dirty="0"/>
          </a:p>
        </p:txBody>
      </p:sp>
      <p:sp>
        <p:nvSpPr>
          <p:cNvPr id="6" name="Text 4"/>
          <p:cNvSpPr/>
          <p:nvPr/>
        </p:nvSpPr>
        <p:spPr>
          <a:xfrm>
            <a:off x="868680" y="2148840"/>
            <a:ext cx="6217920" cy="1188720"/>
          </a:xfrm>
          <a:prstGeom prst="rect">
            <a:avLst/>
          </a:prstGeom>
          <a:noFill/>
          <a:ln/>
        </p:spPr>
        <p:txBody>
          <a:bodyPr wrap="square" lIns="0" tIns="0" rIns="0" bIns="0" rtlCol="0" anchor="t"/>
          <a:lstStyle/>
          <a:p>
            <a:pPr indent="0" marL="0">
              <a:buNone/>
            </a:pPr>
            <a:r>
              <a:rPr lang="en-US" sz="2600" b="1" dirty="0">
                <a:solidFill>
                  <a:srgbClr val="11121A"/>
                </a:solidFill>
                <a:latin typeface="Palatino Linotype" pitchFamily="34" charset="0"/>
                <a:ea typeface="Palatino Linotype" pitchFamily="34" charset="-122"/>
                <a:cs typeface="Palatino Linotype" pitchFamily="34" charset="-120"/>
              </a:rPr>
              <a:t>„fișa postului” sănătății publice dintr-o țară</a:t>
            </a:r>
            <a:endParaRPr lang="en-US" sz="2600" dirty="0"/>
          </a:p>
        </p:txBody>
      </p:sp>
      <p:sp>
        <p:nvSpPr>
          <p:cNvPr id="7" name="Text 5"/>
          <p:cNvSpPr/>
          <p:nvPr/>
        </p:nvSpPr>
        <p:spPr>
          <a:xfrm>
            <a:off x="594360" y="3794760"/>
            <a:ext cx="6766560" cy="10972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Lista lucrurilor pe care orice sistem de sănătate publică trebuie să le poată face, oricine le-ar face.</a:t>
            </a:r>
            <a:endParaRPr lang="en-US" sz="1900" dirty="0"/>
          </a:p>
        </p:txBody>
      </p:sp>
      <p:sp>
        <p:nvSpPr>
          <p:cNvPr id="8" name="Shape 6"/>
          <p:cNvSpPr/>
          <p:nvPr/>
        </p:nvSpPr>
        <p:spPr>
          <a:xfrm>
            <a:off x="7726680" y="1645920"/>
            <a:ext cx="3840480" cy="4023360"/>
          </a:xfrm>
          <a:prstGeom prst="roundRect">
            <a:avLst>
              <a:gd name="adj" fmla="val 2143"/>
            </a:avLst>
          </a:prstGeom>
          <a:solidFill>
            <a:srgbClr val="B02532"/>
          </a:solidFill>
          <a:ln w="12700">
            <a:solidFill>
              <a:srgbClr val="B02532"/>
            </a:solidFill>
            <a:prstDash val="solid"/>
          </a:ln>
        </p:spPr>
        <p:txBody>
          <a:bodyPr/>
          <a:p/>
        </p:txBody>
      </p:sp>
      <p:sp>
        <p:nvSpPr>
          <p:cNvPr id="9" name="Text 7"/>
          <p:cNvSpPr/>
          <p:nvPr/>
        </p:nvSpPr>
        <p:spPr>
          <a:xfrm>
            <a:off x="7726680" y="1783080"/>
            <a:ext cx="3840480" cy="1828800"/>
          </a:xfrm>
          <a:prstGeom prst="rect">
            <a:avLst/>
          </a:prstGeom>
          <a:noFill/>
          <a:ln/>
        </p:spPr>
        <p:txBody>
          <a:bodyPr wrap="square" lIns="0" tIns="0" rIns="0" bIns="0" rtlCol="0" anchor="ctr"/>
          <a:lstStyle/>
          <a:p>
            <a:pPr algn="ctr" indent="0" marL="0">
              <a:buNone/>
            </a:pPr>
            <a:r>
              <a:rPr lang="en-US" sz="11000" b="1" dirty="0">
                <a:solidFill>
                  <a:srgbClr val="FFFFFF"/>
                </a:solidFill>
                <a:latin typeface="Palatino Linotype" pitchFamily="34" charset="0"/>
                <a:ea typeface="Palatino Linotype" pitchFamily="34" charset="-122"/>
                <a:cs typeface="Palatino Linotype" pitchFamily="34" charset="-120"/>
              </a:rPr>
              <a:t>12</a:t>
            </a:r>
            <a:endParaRPr lang="en-US" sz="11000" dirty="0"/>
          </a:p>
        </p:txBody>
      </p:sp>
      <p:sp>
        <p:nvSpPr>
          <p:cNvPr id="10" name="Text 8"/>
          <p:cNvSpPr/>
          <p:nvPr/>
        </p:nvSpPr>
        <p:spPr>
          <a:xfrm>
            <a:off x="8001000" y="3657600"/>
            <a:ext cx="3291840" cy="182880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funcții, în lista unificată publicată de OMS în 2024; rolul lor fusese recunoscut de Adunarea Mondială a Sănătății din 2016.</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OMS, 2024 ȘI 2026</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Douăsprezece funcții, două grupe</a:t>
            </a:r>
            <a:endParaRPr lang="en-US" sz="3000" dirty="0"/>
          </a:p>
        </p:txBody>
      </p:sp>
      <p:sp>
        <p:nvSpPr>
          <p:cNvPr id="4" name="Shape 2"/>
          <p:cNvSpPr/>
          <p:nvPr/>
        </p:nvSpPr>
        <p:spPr>
          <a:xfrm>
            <a:off x="594360" y="1554480"/>
            <a:ext cx="3520440" cy="585216"/>
          </a:xfrm>
          <a:prstGeom prst="roundRect">
            <a:avLst>
              <a:gd name="adj" fmla="val 14063"/>
            </a:avLst>
          </a:prstGeom>
          <a:solidFill>
            <a:srgbClr val="8A6100"/>
          </a:solidFill>
          <a:ln w="12700">
            <a:solidFill>
              <a:srgbClr val="8A6100"/>
            </a:solidFill>
            <a:prstDash val="solid"/>
          </a:ln>
        </p:spPr>
        <p:txBody>
          <a:bodyPr/>
          <a:p/>
        </p:txBody>
      </p:sp>
      <p:sp>
        <p:nvSpPr>
          <p:cNvPr id="5" name="Text 3"/>
          <p:cNvSpPr/>
          <p:nvPr/>
        </p:nvSpPr>
        <p:spPr>
          <a:xfrm>
            <a:off x="731520" y="1554480"/>
            <a:ext cx="3246120" cy="585216"/>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supravegherea și monitorizarea</a:t>
            </a:r>
            <a:endParaRPr lang="en-US" sz="1500" dirty="0"/>
          </a:p>
        </p:txBody>
      </p:sp>
      <p:sp>
        <p:nvSpPr>
          <p:cNvPr id="6" name="Shape 4"/>
          <p:cNvSpPr/>
          <p:nvPr/>
        </p:nvSpPr>
        <p:spPr>
          <a:xfrm>
            <a:off x="4343400" y="1554480"/>
            <a:ext cx="3520440" cy="585216"/>
          </a:xfrm>
          <a:prstGeom prst="roundRect">
            <a:avLst>
              <a:gd name="adj" fmla="val 14063"/>
            </a:avLst>
          </a:prstGeom>
          <a:solidFill>
            <a:srgbClr val="0E7C6B"/>
          </a:solidFill>
          <a:ln w="12700">
            <a:solidFill>
              <a:srgbClr val="0E7C6B"/>
            </a:solidFill>
            <a:prstDash val="solid"/>
          </a:ln>
        </p:spPr>
        <p:txBody>
          <a:bodyPr/>
          <a:p/>
        </p:txBody>
      </p:sp>
      <p:sp>
        <p:nvSpPr>
          <p:cNvPr id="7" name="Text 5"/>
          <p:cNvSpPr/>
          <p:nvPr/>
        </p:nvSpPr>
        <p:spPr>
          <a:xfrm>
            <a:off x="4480560" y="1554480"/>
            <a:ext cx="3246120" cy="585216"/>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gestionarea urgențelor</a:t>
            </a:r>
            <a:endParaRPr lang="en-US" sz="1500" dirty="0"/>
          </a:p>
        </p:txBody>
      </p:sp>
      <p:sp>
        <p:nvSpPr>
          <p:cNvPr id="8" name="Shape 6"/>
          <p:cNvSpPr/>
          <p:nvPr/>
        </p:nvSpPr>
        <p:spPr>
          <a:xfrm>
            <a:off x="8092440" y="1554480"/>
            <a:ext cx="3520440" cy="585216"/>
          </a:xfrm>
          <a:prstGeom prst="roundRect">
            <a:avLst>
              <a:gd name="adj" fmla="val 14063"/>
            </a:avLst>
          </a:prstGeom>
          <a:solidFill>
            <a:srgbClr val="ECEAE4"/>
          </a:solidFill>
          <a:ln w="12700">
            <a:solidFill>
              <a:srgbClr val="ECEAE4"/>
            </a:solidFill>
            <a:prstDash val="solid"/>
          </a:ln>
        </p:spPr>
        <p:txBody>
          <a:bodyPr/>
          <a:p/>
        </p:txBody>
      </p:sp>
      <p:sp>
        <p:nvSpPr>
          <p:cNvPr id="9" name="Text 7"/>
          <p:cNvSpPr/>
          <p:nvPr/>
        </p:nvSpPr>
        <p:spPr>
          <a:xfrm>
            <a:off x="8229600" y="1554480"/>
            <a:ext cx="3246120" cy="585216"/>
          </a:xfrm>
          <a:prstGeom prst="rect">
            <a:avLst/>
          </a:prstGeom>
          <a:noFill/>
          <a:ln/>
        </p:spPr>
        <p:txBody>
          <a:bodyPr wrap="square" lIns="0" tIns="0" rIns="0" bIns="0" rtlCol="0" anchor="ctr"/>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conducerea: instituții, reguli, răspunderi</a:t>
            </a:r>
            <a:endParaRPr lang="en-US" sz="1500" dirty="0"/>
          </a:p>
        </p:txBody>
      </p:sp>
      <p:sp>
        <p:nvSpPr>
          <p:cNvPr id="10" name="Shape 8"/>
          <p:cNvSpPr/>
          <p:nvPr/>
        </p:nvSpPr>
        <p:spPr>
          <a:xfrm>
            <a:off x="594360" y="2267712"/>
            <a:ext cx="3520440" cy="585216"/>
          </a:xfrm>
          <a:prstGeom prst="roundRect">
            <a:avLst>
              <a:gd name="adj" fmla="val 14063"/>
            </a:avLst>
          </a:prstGeom>
          <a:solidFill>
            <a:srgbClr val="ECEAE4"/>
          </a:solidFill>
          <a:ln w="12700">
            <a:solidFill>
              <a:srgbClr val="ECEAE4"/>
            </a:solidFill>
            <a:prstDash val="solid"/>
          </a:ln>
        </p:spPr>
        <p:txBody>
          <a:bodyPr/>
          <a:p/>
        </p:txBody>
      </p:sp>
      <p:sp>
        <p:nvSpPr>
          <p:cNvPr id="11" name="Text 9"/>
          <p:cNvSpPr/>
          <p:nvPr/>
        </p:nvSpPr>
        <p:spPr>
          <a:xfrm>
            <a:off x="731520" y="2267712"/>
            <a:ext cx="3246120" cy="585216"/>
          </a:xfrm>
          <a:prstGeom prst="rect">
            <a:avLst/>
          </a:prstGeom>
          <a:noFill/>
          <a:ln/>
        </p:spPr>
        <p:txBody>
          <a:bodyPr wrap="square" lIns="0" tIns="0" rIns="0" bIns="0" rtlCol="0" anchor="ctr"/>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planificarea și finanțarea, cu alte sectoare</a:t>
            </a:r>
            <a:endParaRPr lang="en-US" sz="1500" dirty="0"/>
          </a:p>
        </p:txBody>
      </p:sp>
      <p:sp>
        <p:nvSpPr>
          <p:cNvPr id="12" name="Shape 10"/>
          <p:cNvSpPr/>
          <p:nvPr/>
        </p:nvSpPr>
        <p:spPr>
          <a:xfrm>
            <a:off x="4343400" y="2267712"/>
            <a:ext cx="3520440" cy="585216"/>
          </a:xfrm>
          <a:prstGeom prst="roundRect">
            <a:avLst>
              <a:gd name="adj" fmla="val 14063"/>
            </a:avLst>
          </a:prstGeom>
          <a:solidFill>
            <a:srgbClr val="0E7C6B"/>
          </a:solidFill>
          <a:ln w="12700">
            <a:solidFill>
              <a:srgbClr val="0E7C6B"/>
            </a:solidFill>
            <a:prstDash val="solid"/>
          </a:ln>
        </p:spPr>
        <p:txBody>
          <a:bodyPr/>
          <a:p/>
        </p:txBody>
      </p:sp>
      <p:sp>
        <p:nvSpPr>
          <p:cNvPr id="13" name="Text 11"/>
          <p:cNvSpPr/>
          <p:nvPr/>
        </p:nvSpPr>
        <p:spPr>
          <a:xfrm>
            <a:off x="4480560" y="2267712"/>
            <a:ext cx="3246120" cy="585216"/>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protecția sănătății</a:t>
            </a:r>
            <a:endParaRPr lang="en-US" sz="1500" dirty="0"/>
          </a:p>
        </p:txBody>
      </p:sp>
      <p:sp>
        <p:nvSpPr>
          <p:cNvPr id="14" name="Shape 12"/>
          <p:cNvSpPr/>
          <p:nvPr/>
        </p:nvSpPr>
        <p:spPr>
          <a:xfrm>
            <a:off x="8092440" y="2267712"/>
            <a:ext cx="3520440" cy="585216"/>
          </a:xfrm>
          <a:prstGeom prst="roundRect">
            <a:avLst>
              <a:gd name="adj" fmla="val 14063"/>
            </a:avLst>
          </a:prstGeom>
          <a:solidFill>
            <a:srgbClr val="0E7C6B"/>
          </a:solidFill>
          <a:ln w="12700">
            <a:solidFill>
              <a:srgbClr val="0E7C6B"/>
            </a:solidFill>
            <a:prstDash val="solid"/>
          </a:ln>
        </p:spPr>
        <p:txBody>
          <a:bodyPr/>
          <a:p/>
        </p:txBody>
      </p:sp>
      <p:sp>
        <p:nvSpPr>
          <p:cNvPr id="15" name="Text 13"/>
          <p:cNvSpPr/>
          <p:nvPr/>
        </p:nvSpPr>
        <p:spPr>
          <a:xfrm>
            <a:off x="8229600" y="2267712"/>
            <a:ext cx="3246120" cy="585216"/>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prevenția și depistarea timpurie</a:t>
            </a:r>
            <a:endParaRPr lang="en-US" sz="1500" dirty="0"/>
          </a:p>
        </p:txBody>
      </p:sp>
      <p:sp>
        <p:nvSpPr>
          <p:cNvPr id="16" name="Shape 14"/>
          <p:cNvSpPr/>
          <p:nvPr/>
        </p:nvSpPr>
        <p:spPr>
          <a:xfrm>
            <a:off x="594360" y="2980944"/>
            <a:ext cx="3520440" cy="585216"/>
          </a:xfrm>
          <a:prstGeom prst="roundRect">
            <a:avLst>
              <a:gd name="adj" fmla="val 14063"/>
            </a:avLst>
          </a:prstGeom>
          <a:solidFill>
            <a:srgbClr val="0E7C6B"/>
          </a:solidFill>
          <a:ln w="12700">
            <a:solidFill>
              <a:srgbClr val="0E7C6B"/>
            </a:solidFill>
            <a:prstDash val="solid"/>
          </a:ln>
        </p:spPr>
        <p:txBody>
          <a:bodyPr/>
          <a:p/>
        </p:txBody>
      </p:sp>
      <p:sp>
        <p:nvSpPr>
          <p:cNvPr id="17" name="Text 15"/>
          <p:cNvSpPr/>
          <p:nvPr/>
        </p:nvSpPr>
        <p:spPr>
          <a:xfrm>
            <a:off x="731520" y="2980944"/>
            <a:ext cx="3246120" cy="585216"/>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promovarea sănătății</a:t>
            </a:r>
            <a:endParaRPr lang="en-US" sz="1500" dirty="0"/>
          </a:p>
        </p:txBody>
      </p:sp>
      <p:sp>
        <p:nvSpPr>
          <p:cNvPr id="18" name="Shape 16"/>
          <p:cNvSpPr/>
          <p:nvPr/>
        </p:nvSpPr>
        <p:spPr>
          <a:xfrm>
            <a:off x="4343400" y="2980944"/>
            <a:ext cx="3520440" cy="585216"/>
          </a:xfrm>
          <a:prstGeom prst="roundRect">
            <a:avLst>
              <a:gd name="adj" fmla="val 14063"/>
            </a:avLst>
          </a:prstGeom>
          <a:solidFill>
            <a:srgbClr val="ECEAE4"/>
          </a:solidFill>
          <a:ln w="12700">
            <a:solidFill>
              <a:srgbClr val="ECEAE4"/>
            </a:solidFill>
            <a:prstDash val="solid"/>
          </a:ln>
        </p:spPr>
        <p:txBody>
          <a:bodyPr/>
          <a:p/>
        </p:txBody>
      </p:sp>
      <p:sp>
        <p:nvSpPr>
          <p:cNvPr id="19" name="Text 17"/>
          <p:cNvSpPr/>
          <p:nvPr/>
        </p:nvSpPr>
        <p:spPr>
          <a:xfrm>
            <a:off x="4480560" y="2980944"/>
            <a:ext cx="3246120" cy="585216"/>
          </a:xfrm>
          <a:prstGeom prst="rect">
            <a:avLst/>
          </a:prstGeom>
          <a:noFill/>
          <a:ln/>
        </p:spPr>
        <p:txBody>
          <a:bodyPr wrap="square" lIns="0" tIns="0" rIns="0" bIns="0" rtlCol="0" anchor="ctr"/>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implicarea comunității</a:t>
            </a:r>
            <a:endParaRPr lang="en-US" sz="1500" dirty="0"/>
          </a:p>
        </p:txBody>
      </p:sp>
      <p:sp>
        <p:nvSpPr>
          <p:cNvPr id="20" name="Shape 18"/>
          <p:cNvSpPr/>
          <p:nvPr/>
        </p:nvSpPr>
        <p:spPr>
          <a:xfrm>
            <a:off x="8092440" y="2980944"/>
            <a:ext cx="3520440" cy="585216"/>
          </a:xfrm>
          <a:prstGeom prst="roundRect">
            <a:avLst>
              <a:gd name="adj" fmla="val 14063"/>
            </a:avLst>
          </a:prstGeom>
          <a:solidFill>
            <a:srgbClr val="ECEAE4"/>
          </a:solidFill>
          <a:ln w="12700">
            <a:solidFill>
              <a:srgbClr val="ECEAE4"/>
            </a:solidFill>
            <a:prstDash val="solid"/>
          </a:ln>
        </p:spPr>
        <p:txBody>
          <a:bodyPr/>
          <a:p/>
        </p:txBody>
      </p:sp>
      <p:sp>
        <p:nvSpPr>
          <p:cNvPr id="21" name="Text 19"/>
          <p:cNvSpPr/>
          <p:nvPr/>
        </p:nvSpPr>
        <p:spPr>
          <a:xfrm>
            <a:off x="8229600" y="2980944"/>
            <a:ext cx="3246120" cy="585216"/>
          </a:xfrm>
          <a:prstGeom prst="rect">
            <a:avLst/>
          </a:prstGeom>
          <a:noFill/>
          <a:ln/>
        </p:spPr>
        <p:txBody>
          <a:bodyPr wrap="square" lIns="0" tIns="0" rIns="0" bIns="0" rtlCol="0" anchor="ctr"/>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formarea oamenilor</a:t>
            </a:r>
            <a:endParaRPr lang="en-US" sz="1500" dirty="0"/>
          </a:p>
        </p:txBody>
      </p:sp>
      <p:sp>
        <p:nvSpPr>
          <p:cNvPr id="22" name="Shape 20"/>
          <p:cNvSpPr/>
          <p:nvPr/>
        </p:nvSpPr>
        <p:spPr>
          <a:xfrm>
            <a:off x="594360" y="3694176"/>
            <a:ext cx="3520440" cy="585216"/>
          </a:xfrm>
          <a:prstGeom prst="roundRect">
            <a:avLst>
              <a:gd name="adj" fmla="val 14063"/>
            </a:avLst>
          </a:prstGeom>
          <a:solidFill>
            <a:srgbClr val="ECEAE4"/>
          </a:solidFill>
          <a:ln w="12700">
            <a:solidFill>
              <a:srgbClr val="ECEAE4"/>
            </a:solidFill>
            <a:prstDash val="solid"/>
          </a:ln>
        </p:spPr>
        <p:txBody>
          <a:bodyPr/>
          <a:p/>
        </p:txBody>
      </p:sp>
      <p:sp>
        <p:nvSpPr>
          <p:cNvPr id="23" name="Text 21"/>
          <p:cNvSpPr/>
          <p:nvPr/>
        </p:nvSpPr>
        <p:spPr>
          <a:xfrm>
            <a:off x="731520" y="3694176"/>
            <a:ext cx="3246120" cy="585216"/>
          </a:xfrm>
          <a:prstGeom prst="rect">
            <a:avLst/>
          </a:prstGeom>
          <a:noFill/>
          <a:ln/>
        </p:spPr>
        <p:txBody>
          <a:bodyPr wrap="square" lIns="0" tIns="0" rIns="0" bIns="0" rtlCol="0" anchor="ctr"/>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calitatea și echitatea serviciilor</a:t>
            </a:r>
            <a:endParaRPr lang="en-US" sz="1500" dirty="0"/>
          </a:p>
        </p:txBody>
      </p:sp>
      <p:sp>
        <p:nvSpPr>
          <p:cNvPr id="24" name="Shape 22"/>
          <p:cNvSpPr/>
          <p:nvPr/>
        </p:nvSpPr>
        <p:spPr>
          <a:xfrm>
            <a:off x="4343400" y="3694176"/>
            <a:ext cx="3520440" cy="585216"/>
          </a:xfrm>
          <a:prstGeom prst="roundRect">
            <a:avLst>
              <a:gd name="adj" fmla="val 14063"/>
            </a:avLst>
          </a:prstGeom>
          <a:solidFill>
            <a:srgbClr val="ECEAE4"/>
          </a:solidFill>
          <a:ln w="12700">
            <a:solidFill>
              <a:srgbClr val="ECEAE4"/>
            </a:solidFill>
            <a:prstDash val="solid"/>
          </a:ln>
        </p:spPr>
        <p:txBody>
          <a:bodyPr/>
          <a:p/>
        </p:txBody>
      </p:sp>
      <p:sp>
        <p:nvSpPr>
          <p:cNvPr id="25" name="Text 23"/>
          <p:cNvSpPr/>
          <p:nvPr/>
        </p:nvSpPr>
        <p:spPr>
          <a:xfrm>
            <a:off x="4480560" y="3694176"/>
            <a:ext cx="3246120" cy="585216"/>
          </a:xfrm>
          <a:prstGeom prst="rect">
            <a:avLst/>
          </a:prstGeom>
          <a:noFill/>
          <a:ln/>
        </p:spPr>
        <p:txBody>
          <a:bodyPr wrap="square" lIns="0" tIns="0" rIns="0" bIns="0" rtlCol="0" anchor="ctr"/>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cercetarea și evaluarea</a:t>
            </a:r>
            <a:endParaRPr lang="en-US" sz="1500" dirty="0"/>
          </a:p>
        </p:txBody>
      </p:sp>
      <p:sp>
        <p:nvSpPr>
          <p:cNvPr id="26" name="Shape 24"/>
          <p:cNvSpPr/>
          <p:nvPr/>
        </p:nvSpPr>
        <p:spPr>
          <a:xfrm>
            <a:off x="8092440" y="3694176"/>
            <a:ext cx="3520440" cy="585216"/>
          </a:xfrm>
          <a:prstGeom prst="roundRect">
            <a:avLst>
              <a:gd name="adj" fmla="val 14063"/>
            </a:avLst>
          </a:prstGeom>
          <a:solidFill>
            <a:srgbClr val="ECEAE4"/>
          </a:solidFill>
          <a:ln w="12700">
            <a:solidFill>
              <a:srgbClr val="ECEAE4"/>
            </a:solidFill>
            <a:prstDash val="solid"/>
          </a:ln>
        </p:spPr>
        <p:txBody>
          <a:bodyPr/>
          <a:p/>
        </p:txBody>
      </p:sp>
      <p:sp>
        <p:nvSpPr>
          <p:cNvPr id="27" name="Text 25"/>
          <p:cNvSpPr/>
          <p:nvPr/>
        </p:nvSpPr>
        <p:spPr>
          <a:xfrm>
            <a:off x="8229600" y="3694176"/>
            <a:ext cx="3246120" cy="585216"/>
          </a:xfrm>
          <a:prstGeom prst="rect">
            <a:avLst/>
          </a:prstGeom>
          <a:noFill/>
          <a:ln/>
        </p:spPr>
        <p:txBody>
          <a:bodyPr wrap="square" lIns="0" tIns="0" rIns="0" bIns="0" rtlCol="0" anchor="ctr"/>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accesul la medicamente și tehnologii</a:t>
            </a:r>
            <a:endParaRPr lang="en-US" sz="1500" dirty="0"/>
          </a:p>
        </p:txBody>
      </p:sp>
      <p:sp>
        <p:nvSpPr>
          <p:cNvPr id="28" name="Shape 26"/>
          <p:cNvSpPr/>
          <p:nvPr/>
        </p:nvSpPr>
        <p:spPr>
          <a:xfrm>
            <a:off x="594360" y="4526280"/>
            <a:ext cx="457200" cy="329184"/>
          </a:xfrm>
          <a:prstGeom prst="roundRect">
            <a:avLst>
              <a:gd name="adj" fmla="val 22222"/>
            </a:avLst>
          </a:prstGeom>
          <a:solidFill>
            <a:srgbClr val="0E7C6B"/>
          </a:solidFill>
          <a:ln w="9525">
            <a:solidFill>
              <a:srgbClr val="C9C6BE"/>
            </a:solidFill>
            <a:prstDash val="solid"/>
          </a:ln>
        </p:spPr>
        <p:txBody>
          <a:bodyPr/>
          <a:p/>
        </p:txBody>
      </p:sp>
      <p:sp>
        <p:nvSpPr>
          <p:cNvPr id="29" name="Text 27"/>
          <p:cNvSpPr/>
          <p:nvPr/>
        </p:nvSpPr>
        <p:spPr>
          <a:xfrm>
            <a:off x="1188720" y="4526280"/>
            <a:ext cx="3017520" cy="329184"/>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orientate spre servicii</a:t>
            </a:r>
            <a:endParaRPr lang="en-US" sz="1500" dirty="0"/>
          </a:p>
        </p:txBody>
      </p:sp>
      <p:sp>
        <p:nvSpPr>
          <p:cNvPr id="30" name="Shape 28"/>
          <p:cNvSpPr/>
          <p:nvPr/>
        </p:nvSpPr>
        <p:spPr>
          <a:xfrm>
            <a:off x="4343400" y="4526280"/>
            <a:ext cx="457200" cy="329184"/>
          </a:xfrm>
          <a:prstGeom prst="roundRect">
            <a:avLst>
              <a:gd name="adj" fmla="val 22222"/>
            </a:avLst>
          </a:prstGeom>
          <a:solidFill>
            <a:srgbClr val="ECEAE4"/>
          </a:solidFill>
          <a:ln w="9525">
            <a:solidFill>
              <a:srgbClr val="C9C6BE"/>
            </a:solidFill>
            <a:prstDash val="solid"/>
          </a:ln>
        </p:spPr>
        <p:txBody>
          <a:bodyPr/>
          <a:p/>
        </p:txBody>
      </p:sp>
      <p:sp>
        <p:nvSpPr>
          <p:cNvPr id="31" name="Text 29"/>
          <p:cNvSpPr/>
          <p:nvPr/>
        </p:nvSpPr>
        <p:spPr>
          <a:xfrm>
            <a:off x="4937760" y="4526280"/>
            <a:ext cx="3017520" cy="329184"/>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funcții de sprijin</a:t>
            </a:r>
            <a:endParaRPr lang="en-US" sz="1500" dirty="0"/>
          </a:p>
        </p:txBody>
      </p:sp>
      <p:sp>
        <p:nvSpPr>
          <p:cNvPr id="32" name="Shape 30"/>
          <p:cNvSpPr/>
          <p:nvPr/>
        </p:nvSpPr>
        <p:spPr>
          <a:xfrm>
            <a:off x="8092440" y="4526280"/>
            <a:ext cx="457200" cy="329184"/>
          </a:xfrm>
          <a:prstGeom prst="roundRect">
            <a:avLst>
              <a:gd name="adj" fmla="val 22222"/>
            </a:avLst>
          </a:prstGeom>
          <a:solidFill>
            <a:srgbClr val="8A6100"/>
          </a:solidFill>
          <a:ln w="9525">
            <a:solidFill>
              <a:srgbClr val="C9C6BE"/>
            </a:solidFill>
            <a:prstDash val="solid"/>
          </a:ln>
        </p:spPr>
        <p:txBody>
          <a:bodyPr/>
          <a:p/>
        </p:txBody>
      </p:sp>
      <p:sp>
        <p:nvSpPr>
          <p:cNvPr id="33" name="Text 31"/>
          <p:cNvSpPr/>
          <p:nvPr/>
        </p:nvSpPr>
        <p:spPr>
          <a:xfrm>
            <a:off x="8686800" y="4526280"/>
            <a:ext cx="3017520" cy="329184"/>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supravegherea: la baza ambelor grupe</a:t>
            </a:r>
            <a:endParaRPr lang="en-US" sz="1500" dirty="0"/>
          </a:p>
        </p:txBody>
      </p:sp>
      <p:sp>
        <p:nvSpPr>
          <p:cNvPr id="34" name="Text 32"/>
          <p:cNvSpPr/>
          <p:nvPr/>
        </p:nvSpPr>
        <p:spPr>
          <a:xfrm>
            <a:off x="594360" y="5257800"/>
            <a:ext cx="109728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Lista nu se învață pe de rost. Arată cât de larg este domeniul.</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CINE ÎNDEPLINEȘTE FUNCȚIILE ÎN ROMÂNIA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Ministerul, direcțiile, institutul</a:t>
            </a:r>
            <a:endParaRPr lang="en-US" sz="3000" dirty="0"/>
          </a:p>
        </p:txBody>
      </p:sp>
      <p:sp>
        <p:nvSpPr>
          <p:cNvPr id="4" name="Shape 2"/>
          <p:cNvSpPr/>
          <p:nvPr/>
        </p:nvSpPr>
        <p:spPr>
          <a:xfrm>
            <a:off x="3794760" y="1508760"/>
            <a:ext cx="4572000" cy="914400"/>
          </a:xfrm>
          <a:prstGeom prst="roundRect">
            <a:avLst>
              <a:gd name="adj" fmla="val 9000"/>
            </a:avLst>
          </a:prstGeom>
          <a:solidFill>
            <a:srgbClr val="FF4757"/>
          </a:solidFill>
          <a:ln w="12700">
            <a:solidFill>
              <a:srgbClr val="FF4757"/>
            </a:solidFill>
            <a:prstDash val="solid"/>
          </a:ln>
        </p:spPr>
        <p:txBody>
          <a:bodyPr/>
          <a:p/>
        </p:txBody>
      </p:sp>
      <p:sp>
        <p:nvSpPr>
          <p:cNvPr id="5" name="Text 3"/>
          <p:cNvSpPr/>
          <p:nvPr/>
        </p:nvSpPr>
        <p:spPr>
          <a:xfrm>
            <a:off x="3794760" y="1508760"/>
            <a:ext cx="4572000" cy="914400"/>
          </a:xfrm>
          <a:prstGeom prst="rect">
            <a:avLst/>
          </a:prstGeom>
          <a:noFill/>
          <a:ln/>
        </p:spPr>
        <p:txBody>
          <a:bodyPr wrap="square" lIns="0" tIns="0" rIns="0" bIns="0" rtlCol="0" anchor="ctr"/>
          <a:lstStyle/>
          <a:p>
            <a:pPr algn="ctr" indent="0" marL="0">
              <a:buNone/>
            </a:pPr>
            <a:r>
              <a:rPr lang="en-US" sz="1900" b="1" dirty="0">
                <a:solidFill>
                  <a:srgbClr val="2E060B"/>
                </a:solidFill>
                <a:latin typeface="Palatino Linotype" pitchFamily="34" charset="0"/>
                <a:ea typeface="Palatino Linotype" pitchFamily="34" charset="-122"/>
                <a:cs typeface="Palatino Linotype" pitchFamily="34" charset="-120"/>
              </a:rPr>
              <a:t>Ministerul Sănătății</a:t>
            </a:r>
            <a:endParaRPr lang="en-US" sz="1900" dirty="0"/>
          </a:p>
          <a:p>
            <a:pPr algn="ctr" indent="0" marL="0">
              <a:buNone/>
            </a:pPr>
            <a:r>
              <a:rPr lang="en-US" sz="1400" dirty="0">
                <a:solidFill>
                  <a:srgbClr val="2E060B"/>
                </a:solidFill>
                <a:latin typeface="Palatino Linotype" pitchFamily="34" charset="0"/>
                <a:ea typeface="Palatino Linotype" pitchFamily="34" charset="-122"/>
                <a:cs typeface="Palatino Linotype" pitchFamily="34" charset="-120"/>
              </a:rPr>
              <a:t>autoritatea centrală</a:t>
            </a:r>
            <a:endParaRPr lang="en-US" sz="1900" dirty="0"/>
          </a:p>
        </p:txBody>
      </p:sp>
      <p:sp>
        <p:nvSpPr>
          <p:cNvPr id="6" name="Shape 4"/>
          <p:cNvSpPr/>
          <p:nvPr/>
        </p:nvSpPr>
        <p:spPr>
          <a:xfrm>
            <a:off x="6080760" y="2423160"/>
            <a:ext cx="0" cy="320040"/>
          </a:xfrm>
          <a:prstGeom prst="line">
            <a:avLst/>
          </a:prstGeom>
          <a:noFill/>
          <a:ln w="19050">
            <a:solidFill>
              <a:srgbClr val="959BB0"/>
            </a:solidFill>
            <a:prstDash val="solid"/>
          </a:ln>
        </p:spPr>
        <p:txBody>
          <a:bodyPr/>
          <a:p/>
        </p:txBody>
      </p:sp>
      <p:sp>
        <p:nvSpPr>
          <p:cNvPr id="7" name="Shape 5"/>
          <p:cNvSpPr/>
          <p:nvPr/>
        </p:nvSpPr>
        <p:spPr>
          <a:xfrm>
            <a:off x="3017520" y="2743200"/>
            <a:ext cx="6126480" cy="0"/>
          </a:xfrm>
          <a:prstGeom prst="line">
            <a:avLst/>
          </a:prstGeom>
          <a:noFill/>
          <a:ln w="19050">
            <a:solidFill>
              <a:srgbClr val="959BB0"/>
            </a:solidFill>
            <a:prstDash val="solid"/>
          </a:ln>
        </p:spPr>
        <p:txBody>
          <a:bodyPr/>
          <a:p/>
        </p:txBody>
      </p:sp>
      <p:sp>
        <p:nvSpPr>
          <p:cNvPr id="8" name="Shape 6"/>
          <p:cNvSpPr/>
          <p:nvPr/>
        </p:nvSpPr>
        <p:spPr>
          <a:xfrm>
            <a:off x="3017520" y="2743200"/>
            <a:ext cx="0" cy="274320"/>
          </a:xfrm>
          <a:prstGeom prst="line">
            <a:avLst/>
          </a:prstGeom>
          <a:noFill/>
          <a:ln w="19050">
            <a:solidFill>
              <a:srgbClr val="959BB0"/>
            </a:solidFill>
            <a:prstDash val="solid"/>
          </a:ln>
        </p:spPr>
        <p:txBody>
          <a:bodyPr/>
          <a:p/>
        </p:txBody>
      </p:sp>
      <p:sp>
        <p:nvSpPr>
          <p:cNvPr id="9" name="Shape 7"/>
          <p:cNvSpPr/>
          <p:nvPr/>
        </p:nvSpPr>
        <p:spPr>
          <a:xfrm>
            <a:off x="594360" y="3017520"/>
            <a:ext cx="4846320" cy="1600200"/>
          </a:xfrm>
          <a:prstGeom prst="roundRect">
            <a:avLst>
              <a:gd name="adj" fmla="val 5143"/>
            </a:avLst>
          </a:prstGeom>
          <a:solidFill>
            <a:srgbClr val="1D1F2B"/>
          </a:solidFill>
          <a:ln w="12700">
            <a:solidFill>
              <a:srgbClr val="1D1F2B"/>
            </a:solidFill>
            <a:prstDash val="solid"/>
          </a:ln>
        </p:spPr>
        <p:txBody>
          <a:bodyPr/>
          <a:p/>
        </p:txBody>
      </p:sp>
      <p:sp>
        <p:nvSpPr>
          <p:cNvPr id="10" name="Shape 8"/>
          <p:cNvSpPr/>
          <p:nvPr/>
        </p:nvSpPr>
        <p:spPr>
          <a:xfrm>
            <a:off x="594360" y="3017520"/>
            <a:ext cx="82296" cy="1600200"/>
          </a:xfrm>
          <a:prstGeom prst="rect">
            <a:avLst/>
          </a:prstGeom>
          <a:solidFill>
            <a:srgbClr val="27D3BE"/>
          </a:solidFill>
          <a:ln w="12700">
            <a:solidFill>
              <a:srgbClr val="27D3BE"/>
            </a:solidFill>
            <a:prstDash val="solid"/>
          </a:ln>
        </p:spPr>
        <p:txBody>
          <a:bodyPr/>
          <a:p/>
        </p:txBody>
      </p:sp>
      <p:sp>
        <p:nvSpPr>
          <p:cNvPr id="11" name="Text 9"/>
          <p:cNvSpPr/>
          <p:nvPr/>
        </p:nvSpPr>
        <p:spPr>
          <a:xfrm>
            <a:off x="868680" y="3108960"/>
            <a:ext cx="4389120" cy="4572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Direcțiile de sănătate publică</a:t>
            </a:r>
            <a:endParaRPr lang="en-US" sz="1700" dirty="0"/>
          </a:p>
        </p:txBody>
      </p:sp>
      <p:sp>
        <p:nvSpPr>
          <p:cNvPr id="12" name="Text 10"/>
          <p:cNvSpPr/>
          <p:nvPr/>
        </p:nvSpPr>
        <p:spPr>
          <a:xfrm>
            <a:off x="868680" y="3566160"/>
            <a:ext cx="4389120" cy="10058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în fiecare județ și în București; aplică, în județ, politica ministerului</a:t>
            </a:r>
            <a:endParaRPr lang="en-US" sz="1500" dirty="0"/>
          </a:p>
        </p:txBody>
      </p:sp>
      <p:sp>
        <p:nvSpPr>
          <p:cNvPr id="13" name="Shape 11"/>
          <p:cNvSpPr/>
          <p:nvPr/>
        </p:nvSpPr>
        <p:spPr>
          <a:xfrm>
            <a:off x="8961120" y="2743200"/>
            <a:ext cx="0" cy="274320"/>
          </a:xfrm>
          <a:prstGeom prst="line">
            <a:avLst/>
          </a:prstGeom>
          <a:noFill/>
          <a:ln w="19050">
            <a:solidFill>
              <a:srgbClr val="959BB0"/>
            </a:solidFill>
            <a:prstDash val="solid"/>
          </a:ln>
        </p:spPr>
        <p:txBody>
          <a:bodyPr/>
          <a:p/>
        </p:txBody>
      </p:sp>
      <p:sp>
        <p:nvSpPr>
          <p:cNvPr id="14" name="Shape 12"/>
          <p:cNvSpPr/>
          <p:nvPr/>
        </p:nvSpPr>
        <p:spPr>
          <a:xfrm>
            <a:off x="6537960" y="3017520"/>
            <a:ext cx="4846320" cy="1600200"/>
          </a:xfrm>
          <a:prstGeom prst="roundRect">
            <a:avLst>
              <a:gd name="adj" fmla="val 5143"/>
            </a:avLst>
          </a:prstGeom>
          <a:solidFill>
            <a:srgbClr val="1D1F2B"/>
          </a:solidFill>
          <a:ln w="12700">
            <a:solidFill>
              <a:srgbClr val="1D1F2B"/>
            </a:solidFill>
            <a:prstDash val="solid"/>
          </a:ln>
        </p:spPr>
        <p:txBody>
          <a:bodyPr/>
          <a:p/>
        </p:txBody>
      </p:sp>
      <p:sp>
        <p:nvSpPr>
          <p:cNvPr id="15" name="Shape 13"/>
          <p:cNvSpPr/>
          <p:nvPr/>
        </p:nvSpPr>
        <p:spPr>
          <a:xfrm>
            <a:off x="6537960" y="3017520"/>
            <a:ext cx="82296" cy="1600200"/>
          </a:xfrm>
          <a:prstGeom prst="rect">
            <a:avLst/>
          </a:prstGeom>
          <a:solidFill>
            <a:srgbClr val="FFC24B"/>
          </a:solidFill>
          <a:ln w="12700">
            <a:solidFill>
              <a:srgbClr val="FFC24B"/>
            </a:solidFill>
            <a:prstDash val="solid"/>
          </a:ln>
        </p:spPr>
        <p:txBody>
          <a:bodyPr/>
          <a:p/>
        </p:txBody>
      </p:sp>
      <p:sp>
        <p:nvSpPr>
          <p:cNvPr id="16" name="Text 14"/>
          <p:cNvSpPr/>
          <p:nvPr/>
        </p:nvSpPr>
        <p:spPr>
          <a:xfrm>
            <a:off x="6812280" y="3108960"/>
            <a:ext cx="4389120" cy="45720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Institutul Național de Sănătate Publică</a:t>
            </a:r>
            <a:endParaRPr lang="en-US" sz="1700" dirty="0"/>
          </a:p>
        </p:txBody>
      </p:sp>
      <p:sp>
        <p:nvSpPr>
          <p:cNvPr id="17" name="Text 15"/>
          <p:cNvSpPr/>
          <p:nvPr/>
        </p:nvSpPr>
        <p:spPr>
          <a:xfrm>
            <a:off x="6812280" y="3566160"/>
            <a:ext cx="4389120" cy="10058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în subordinea ministerului; îndrumă tehnic rețeaua, supraveghează starea de sănătate, ține sistemul informațional</a:t>
            </a:r>
            <a:endParaRPr lang="en-US" sz="1500" dirty="0"/>
          </a:p>
        </p:txBody>
      </p:sp>
      <p:sp>
        <p:nvSpPr>
          <p:cNvPr id="18" name="Shape 16"/>
          <p:cNvSpPr/>
          <p:nvPr/>
        </p:nvSpPr>
        <p:spPr>
          <a:xfrm>
            <a:off x="594360" y="4846320"/>
            <a:ext cx="10972800" cy="1143000"/>
          </a:xfrm>
          <a:prstGeom prst="roundRect">
            <a:avLst>
              <a:gd name="adj" fmla="val 7200"/>
            </a:avLst>
          </a:prstGeom>
          <a:solidFill>
            <a:srgbClr val="FBF8F1"/>
          </a:solidFill>
          <a:ln w="12700">
            <a:solidFill>
              <a:srgbClr val="FBF8F1"/>
            </a:solidFill>
            <a:prstDash val="solid"/>
          </a:ln>
        </p:spPr>
        <p:txBody>
          <a:bodyPr/>
          <a:p/>
        </p:txBody>
      </p:sp>
      <p:sp>
        <p:nvSpPr>
          <p:cNvPr id="19" name="Text 17"/>
          <p:cNvSpPr/>
          <p:nvPr/>
        </p:nvSpPr>
        <p:spPr>
          <a:xfrm>
            <a:off x="868680" y="4846320"/>
            <a:ext cx="10424160" cy="1143000"/>
          </a:xfrm>
          <a:prstGeom prst="rect">
            <a:avLst/>
          </a:prstGeom>
          <a:noFill/>
          <a:ln/>
        </p:spPr>
        <p:txBody>
          <a:bodyPr wrap="square" lIns="0" tIns="0" rIns="0" bIns="0" rtlCol="0" anchor="ctr"/>
          <a:lstStyle/>
          <a:p>
            <a:pPr indent="0" marL="0">
              <a:buNone/>
            </a:pPr>
            <a:r>
              <a:rPr lang="en-US" sz="1600" i="1" dirty="0">
                <a:solidFill>
                  <a:srgbClr val="11121A"/>
                </a:solidFill>
                <a:latin typeface="Palatino Linotype" pitchFamily="34" charset="0"/>
                <a:ea typeface="Palatino Linotype" pitchFamily="34" charset="-122"/>
                <a:cs typeface="Palatino Linotype" pitchFamily="34" charset="-120"/>
              </a:rPr>
              <a:t>„Direcțiile de sănătate publică județene și a municipiului București sunt servicii publice deconcentrate ale Ministerului Sănătății, cu personalitate juridică.” (Legea nr. 95/2006)</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UN CUVÂNT CARE REVINE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Supravegherea: scopul este decizia</a:t>
            </a:r>
            <a:endParaRPr lang="en-US" sz="3200" dirty="0"/>
          </a:p>
        </p:txBody>
      </p:sp>
      <p:sp>
        <p:nvSpPr>
          <p:cNvPr id="4" name="Shape 2"/>
          <p:cNvSpPr/>
          <p:nvPr/>
        </p:nvSpPr>
        <p:spPr>
          <a:xfrm>
            <a:off x="594360" y="1737360"/>
            <a:ext cx="2194560" cy="1051560"/>
          </a:xfrm>
          <a:prstGeom prst="homePlate">
            <a:avLst/>
          </a:prstGeom>
          <a:solidFill>
            <a:srgbClr val="07564B"/>
          </a:solidFill>
          <a:ln w="12700">
            <a:solidFill>
              <a:srgbClr val="F6F5F2"/>
            </a:solidFill>
            <a:prstDash val="solid"/>
          </a:ln>
        </p:spPr>
        <p:txBody>
          <a:bodyPr/>
          <a:p/>
        </p:txBody>
      </p:sp>
      <p:sp>
        <p:nvSpPr>
          <p:cNvPr id="5" name="Text 3"/>
          <p:cNvSpPr/>
          <p:nvPr/>
        </p:nvSpPr>
        <p:spPr>
          <a:xfrm>
            <a:off x="731520" y="1737360"/>
            <a:ext cx="1737360"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strângerea datelor</a:t>
            </a:r>
            <a:endParaRPr lang="en-US" sz="1300" dirty="0"/>
          </a:p>
        </p:txBody>
      </p:sp>
      <p:sp>
        <p:nvSpPr>
          <p:cNvPr id="6" name="Shape 4"/>
          <p:cNvSpPr/>
          <p:nvPr/>
        </p:nvSpPr>
        <p:spPr>
          <a:xfrm>
            <a:off x="2834640" y="1737360"/>
            <a:ext cx="2194560" cy="1051560"/>
          </a:xfrm>
          <a:prstGeom prst="chevron">
            <a:avLst/>
          </a:prstGeom>
          <a:solidFill>
            <a:srgbClr val="0E7C6B"/>
          </a:solidFill>
          <a:ln w="12700">
            <a:solidFill>
              <a:srgbClr val="F6F5F2"/>
            </a:solidFill>
            <a:prstDash val="solid"/>
          </a:ln>
        </p:spPr>
        <p:txBody>
          <a:bodyPr/>
          <a:p/>
        </p:txBody>
      </p:sp>
      <p:sp>
        <p:nvSpPr>
          <p:cNvPr id="7" name="Text 5"/>
          <p:cNvSpPr/>
          <p:nvPr/>
        </p:nvSpPr>
        <p:spPr>
          <a:xfrm>
            <a:off x="3291840" y="1737360"/>
            <a:ext cx="1463040"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analiza</a:t>
            </a:r>
            <a:endParaRPr lang="en-US" sz="1300" dirty="0"/>
          </a:p>
        </p:txBody>
      </p:sp>
      <p:sp>
        <p:nvSpPr>
          <p:cNvPr id="8" name="Shape 6"/>
          <p:cNvSpPr/>
          <p:nvPr/>
        </p:nvSpPr>
        <p:spPr>
          <a:xfrm>
            <a:off x="5074920" y="1737360"/>
            <a:ext cx="2194560" cy="1051560"/>
          </a:xfrm>
          <a:prstGeom prst="chevron">
            <a:avLst/>
          </a:prstGeom>
          <a:solidFill>
            <a:srgbClr val="07564B"/>
          </a:solidFill>
          <a:ln w="12700">
            <a:solidFill>
              <a:srgbClr val="F6F5F2"/>
            </a:solidFill>
            <a:prstDash val="solid"/>
          </a:ln>
        </p:spPr>
        <p:txBody>
          <a:bodyPr/>
          <a:p/>
        </p:txBody>
      </p:sp>
      <p:sp>
        <p:nvSpPr>
          <p:cNvPr id="9" name="Text 7"/>
          <p:cNvSpPr/>
          <p:nvPr/>
        </p:nvSpPr>
        <p:spPr>
          <a:xfrm>
            <a:off x="5532120" y="1737360"/>
            <a:ext cx="1463040"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interpretarea</a:t>
            </a:r>
            <a:endParaRPr lang="en-US" sz="1300" dirty="0"/>
          </a:p>
        </p:txBody>
      </p:sp>
      <p:sp>
        <p:nvSpPr>
          <p:cNvPr id="10" name="Shape 8"/>
          <p:cNvSpPr/>
          <p:nvPr/>
        </p:nvSpPr>
        <p:spPr>
          <a:xfrm>
            <a:off x="7315200" y="1737360"/>
            <a:ext cx="2194560" cy="1051560"/>
          </a:xfrm>
          <a:prstGeom prst="chevron">
            <a:avLst/>
          </a:prstGeom>
          <a:solidFill>
            <a:srgbClr val="0E7C6B"/>
          </a:solidFill>
          <a:ln w="12700">
            <a:solidFill>
              <a:srgbClr val="F6F5F2"/>
            </a:solidFill>
            <a:prstDash val="solid"/>
          </a:ln>
        </p:spPr>
        <p:txBody>
          <a:bodyPr/>
          <a:p/>
        </p:txBody>
      </p:sp>
      <p:sp>
        <p:nvSpPr>
          <p:cNvPr id="11" name="Text 9"/>
          <p:cNvSpPr/>
          <p:nvPr/>
        </p:nvSpPr>
        <p:spPr>
          <a:xfrm>
            <a:off x="7772400" y="1737360"/>
            <a:ext cx="1463040"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transmiterea</a:t>
            </a:r>
            <a:endParaRPr lang="en-US" sz="1300" dirty="0"/>
          </a:p>
        </p:txBody>
      </p:sp>
      <p:sp>
        <p:nvSpPr>
          <p:cNvPr id="12" name="Shape 10"/>
          <p:cNvSpPr/>
          <p:nvPr/>
        </p:nvSpPr>
        <p:spPr>
          <a:xfrm>
            <a:off x="9555480" y="1737360"/>
            <a:ext cx="2194560" cy="1051560"/>
          </a:xfrm>
          <a:prstGeom prst="chevron">
            <a:avLst/>
          </a:prstGeom>
          <a:solidFill>
            <a:srgbClr val="B02532"/>
          </a:solidFill>
          <a:ln w="12700">
            <a:solidFill>
              <a:srgbClr val="F6F5F2"/>
            </a:solidFill>
            <a:prstDash val="solid"/>
          </a:ln>
        </p:spPr>
        <p:txBody>
          <a:bodyPr/>
          <a:p/>
        </p:txBody>
      </p:sp>
      <p:sp>
        <p:nvSpPr>
          <p:cNvPr id="13" name="Text 11"/>
          <p:cNvSpPr/>
          <p:nvPr/>
        </p:nvSpPr>
        <p:spPr>
          <a:xfrm>
            <a:off x="10012680" y="1737360"/>
            <a:ext cx="1463040"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prioritățile și măsurile</a:t>
            </a:r>
            <a:endParaRPr lang="en-US" sz="1300" dirty="0"/>
          </a:p>
        </p:txBody>
      </p:sp>
      <p:sp>
        <p:nvSpPr>
          <p:cNvPr id="14" name="Text 12"/>
          <p:cNvSpPr/>
          <p:nvPr/>
        </p:nvSpPr>
        <p:spPr>
          <a:xfrm>
            <a:off x="594360" y="3154680"/>
            <a:ext cx="10972800" cy="13716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Legea o definește ca o activitate de durată: datele despre sănătate și boli se strâng sistematic, se analizează, se interpretează și se transmit. Pe baza lor se stabilesc prioritățile și se iau măsurile de prevenire și control.</a:t>
            </a:r>
            <a:endParaRPr lang="en-US" sz="1900" dirty="0"/>
          </a:p>
        </p:txBody>
      </p:sp>
      <p:sp>
        <p:nvSpPr>
          <p:cNvPr id="15" name="Shape 13"/>
          <p:cNvSpPr/>
          <p:nvPr/>
        </p:nvSpPr>
        <p:spPr>
          <a:xfrm>
            <a:off x="594360" y="4709160"/>
            <a:ext cx="10972800" cy="1005840"/>
          </a:xfrm>
          <a:prstGeom prst="roundRect">
            <a:avLst>
              <a:gd name="adj" fmla="val 8182"/>
            </a:avLst>
          </a:prstGeom>
          <a:solidFill>
            <a:srgbClr val="ECEAE4"/>
          </a:solidFill>
          <a:ln w="12700">
            <a:solidFill>
              <a:srgbClr val="ECEAE4"/>
            </a:solidFill>
            <a:prstDash val="solid"/>
          </a:ln>
        </p:spPr>
        <p:txBody>
          <a:bodyPr/>
          <a:p/>
        </p:txBody>
      </p:sp>
      <p:sp>
        <p:nvSpPr>
          <p:cNvPr id="16" name="Text 14"/>
          <p:cNvSpPr/>
          <p:nvPr/>
        </p:nvSpPr>
        <p:spPr>
          <a:xfrm>
            <a:off x="868680" y="4709160"/>
            <a:ext cx="10424160" cy="1005840"/>
          </a:xfrm>
          <a:prstGeom prst="rect">
            <a:avLst/>
          </a:prstGeom>
          <a:noFill/>
          <a:ln/>
        </p:spPr>
        <p:txBody>
          <a:bodyPr wrap="square" lIns="0" tIns="0" rIns="0" bIns="0" rtlCol="0" anchor="ctr"/>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Nu arhiva, ci decizia. Cum se face supravegherea și cum se judecă: ședințele a treia și a cincea.</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MENTIMETER</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TREI MINUTE CU COLEGUL DE BANCĂ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Cine face ce în orașul inundat?</a:t>
            </a:r>
            <a:endParaRPr lang="en-US" sz="3200" dirty="0"/>
          </a:p>
        </p:txBody>
      </p:sp>
      <p:sp>
        <p:nvSpPr>
          <p:cNvPr id="6" name="Shape 4"/>
          <p:cNvSpPr/>
          <p:nvPr/>
        </p:nvSpPr>
        <p:spPr>
          <a:xfrm>
            <a:off x="594360" y="1600200"/>
            <a:ext cx="7498080" cy="603504"/>
          </a:xfrm>
          <a:prstGeom prst="roundRect">
            <a:avLst>
              <a:gd name="adj" fmla="val 13636"/>
            </a:avLst>
          </a:prstGeom>
          <a:solidFill>
            <a:srgbClr val="1D1F2B"/>
          </a:solidFill>
          <a:ln w="12700">
            <a:solidFill>
              <a:srgbClr val="1D1F2B"/>
            </a:solidFill>
            <a:prstDash val="solid"/>
          </a:ln>
        </p:spPr>
        <p:txBody>
          <a:bodyPr/>
          <a:p/>
        </p:txBody>
      </p:sp>
      <p:sp>
        <p:nvSpPr>
          <p:cNvPr id="7" name="Shape 5"/>
          <p:cNvSpPr/>
          <p:nvPr/>
        </p:nvSpPr>
        <p:spPr>
          <a:xfrm>
            <a:off x="594360" y="1600200"/>
            <a:ext cx="82296" cy="603504"/>
          </a:xfrm>
          <a:prstGeom prst="rect">
            <a:avLst/>
          </a:prstGeom>
          <a:solidFill>
            <a:srgbClr val="27D3BE"/>
          </a:solidFill>
          <a:ln w="12700">
            <a:solidFill>
              <a:srgbClr val="27D3BE"/>
            </a:solidFill>
            <a:prstDash val="solid"/>
          </a:ln>
        </p:spPr>
        <p:txBody>
          <a:bodyPr/>
          <a:p/>
        </p:txBody>
      </p:sp>
      <p:sp>
        <p:nvSpPr>
          <p:cNvPr id="8" name="Text 6"/>
          <p:cNvSpPr/>
          <p:nvPr/>
        </p:nvSpPr>
        <p:spPr>
          <a:xfrm>
            <a:off x="914400" y="1600200"/>
            <a:ext cx="704088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numărarea copiilor bolnavi pe străzi</a:t>
            </a:r>
            <a:endParaRPr lang="en-US" sz="1800" dirty="0"/>
          </a:p>
        </p:txBody>
      </p:sp>
      <p:sp>
        <p:nvSpPr>
          <p:cNvPr id="9" name="Shape 7"/>
          <p:cNvSpPr/>
          <p:nvPr/>
        </p:nvSpPr>
        <p:spPr>
          <a:xfrm>
            <a:off x="594360" y="2313432"/>
            <a:ext cx="7498080" cy="603504"/>
          </a:xfrm>
          <a:prstGeom prst="roundRect">
            <a:avLst>
              <a:gd name="adj" fmla="val 13636"/>
            </a:avLst>
          </a:prstGeom>
          <a:solidFill>
            <a:srgbClr val="1D1F2B"/>
          </a:solidFill>
          <a:ln w="12700">
            <a:solidFill>
              <a:srgbClr val="1D1F2B"/>
            </a:solidFill>
            <a:prstDash val="solid"/>
          </a:ln>
        </p:spPr>
        <p:txBody>
          <a:bodyPr/>
          <a:p/>
        </p:txBody>
      </p:sp>
      <p:sp>
        <p:nvSpPr>
          <p:cNvPr id="10" name="Shape 8"/>
          <p:cNvSpPr/>
          <p:nvPr/>
        </p:nvSpPr>
        <p:spPr>
          <a:xfrm>
            <a:off x="594360" y="2313432"/>
            <a:ext cx="82296" cy="603504"/>
          </a:xfrm>
          <a:prstGeom prst="rect">
            <a:avLst/>
          </a:prstGeom>
          <a:solidFill>
            <a:srgbClr val="27D3BE"/>
          </a:solidFill>
          <a:ln w="12700">
            <a:solidFill>
              <a:srgbClr val="27D3BE"/>
            </a:solidFill>
            <a:prstDash val="solid"/>
          </a:ln>
        </p:spPr>
        <p:txBody>
          <a:bodyPr/>
          <a:p/>
        </p:txBody>
      </p:sp>
      <p:sp>
        <p:nvSpPr>
          <p:cNvPr id="11" name="Text 9"/>
          <p:cNvSpPr/>
          <p:nvPr/>
        </p:nvSpPr>
        <p:spPr>
          <a:xfrm>
            <a:off x="914400" y="2313432"/>
            <a:ext cx="704088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interdicția de a bea apa de la robinet</a:t>
            </a:r>
            <a:endParaRPr lang="en-US" sz="1800" dirty="0"/>
          </a:p>
        </p:txBody>
      </p:sp>
      <p:sp>
        <p:nvSpPr>
          <p:cNvPr id="12" name="Shape 10"/>
          <p:cNvSpPr/>
          <p:nvPr/>
        </p:nvSpPr>
        <p:spPr>
          <a:xfrm>
            <a:off x="594360" y="3026664"/>
            <a:ext cx="7498080" cy="603504"/>
          </a:xfrm>
          <a:prstGeom prst="roundRect">
            <a:avLst>
              <a:gd name="adj" fmla="val 13636"/>
            </a:avLst>
          </a:prstGeom>
          <a:solidFill>
            <a:srgbClr val="1D1F2B"/>
          </a:solidFill>
          <a:ln w="12700">
            <a:solidFill>
              <a:srgbClr val="1D1F2B"/>
            </a:solidFill>
            <a:prstDash val="solid"/>
          </a:ln>
        </p:spPr>
        <p:txBody>
          <a:bodyPr/>
          <a:p/>
        </p:txBody>
      </p:sp>
      <p:sp>
        <p:nvSpPr>
          <p:cNvPr id="13" name="Shape 11"/>
          <p:cNvSpPr/>
          <p:nvPr/>
        </p:nvSpPr>
        <p:spPr>
          <a:xfrm>
            <a:off x="594360" y="3026664"/>
            <a:ext cx="82296" cy="603504"/>
          </a:xfrm>
          <a:prstGeom prst="rect">
            <a:avLst/>
          </a:prstGeom>
          <a:solidFill>
            <a:srgbClr val="27D3BE"/>
          </a:solidFill>
          <a:ln w="12700">
            <a:solidFill>
              <a:srgbClr val="27D3BE"/>
            </a:solidFill>
            <a:prstDash val="solid"/>
          </a:ln>
        </p:spPr>
        <p:txBody>
          <a:bodyPr/>
          <a:p/>
        </p:txBody>
      </p:sp>
      <p:sp>
        <p:nvSpPr>
          <p:cNvPr id="14" name="Text 12"/>
          <p:cNvSpPr/>
          <p:nvPr/>
        </p:nvSpPr>
        <p:spPr>
          <a:xfrm>
            <a:off x="914400" y="3026664"/>
            <a:ext cx="704088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analiza apei în laboratorul de referință</a:t>
            </a:r>
            <a:endParaRPr lang="en-US" sz="1800" dirty="0"/>
          </a:p>
        </p:txBody>
      </p:sp>
      <p:sp>
        <p:nvSpPr>
          <p:cNvPr id="15" name="Shape 13"/>
          <p:cNvSpPr/>
          <p:nvPr/>
        </p:nvSpPr>
        <p:spPr>
          <a:xfrm>
            <a:off x="594360" y="3739896"/>
            <a:ext cx="7498080" cy="603504"/>
          </a:xfrm>
          <a:prstGeom prst="roundRect">
            <a:avLst>
              <a:gd name="adj" fmla="val 13636"/>
            </a:avLst>
          </a:prstGeom>
          <a:solidFill>
            <a:srgbClr val="1D1F2B"/>
          </a:solidFill>
          <a:ln w="12700">
            <a:solidFill>
              <a:srgbClr val="1D1F2B"/>
            </a:solidFill>
            <a:prstDash val="solid"/>
          </a:ln>
        </p:spPr>
        <p:txBody>
          <a:bodyPr/>
          <a:p/>
        </p:txBody>
      </p:sp>
      <p:sp>
        <p:nvSpPr>
          <p:cNvPr id="16" name="Shape 14"/>
          <p:cNvSpPr/>
          <p:nvPr/>
        </p:nvSpPr>
        <p:spPr>
          <a:xfrm>
            <a:off x="594360" y="3739896"/>
            <a:ext cx="82296" cy="603504"/>
          </a:xfrm>
          <a:prstGeom prst="rect">
            <a:avLst/>
          </a:prstGeom>
          <a:solidFill>
            <a:srgbClr val="27D3BE"/>
          </a:solidFill>
          <a:ln w="12700">
            <a:solidFill>
              <a:srgbClr val="27D3BE"/>
            </a:solidFill>
            <a:prstDash val="solid"/>
          </a:ln>
        </p:spPr>
        <p:txBody>
          <a:bodyPr/>
          <a:p/>
        </p:txBody>
      </p:sp>
      <p:sp>
        <p:nvSpPr>
          <p:cNvPr id="17" name="Text 15"/>
          <p:cNvSpPr/>
          <p:nvPr/>
        </p:nvSpPr>
        <p:spPr>
          <a:xfrm>
            <a:off x="914400" y="3739896"/>
            <a:ext cx="704088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mesajul către populație</a:t>
            </a:r>
            <a:endParaRPr lang="en-US" sz="1800" dirty="0"/>
          </a:p>
        </p:txBody>
      </p:sp>
      <p:sp>
        <p:nvSpPr>
          <p:cNvPr id="18" name="Shape 16"/>
          <p:cNvSpPr/>
          <p:nvPr/>
        </p:nvSpPr>
        <p:spPr>
          <a:xfrm>
            <a:off x="594360" y="4453128"/>
            <a:ext cx="7498080" cy="603504"/>
          </a:xfrm>
          <a:prstGeom prst="roundRect">
            <a:avLst>
              <a:gd name="adj" fmla="val 13636"/>
            </a:avLst>
          </a:prstGeom>
          <a:solidFill>
            <a:srgbClr val="1D1F2B"/>
          </a:solidFill>
          <a:ln w="12700">
            <a:solidFill>
              <a:srgbClr val="1D1F2B"/>
            </a:solidFill>
            <a:prstDash val="solid"/>
          </a:ln>
        </p:spPr>
        <p:txBody>
          <a:bodyPr/>
          <a:p/>
        </p:txBody>
      </p:sp>
      <p:sp>
        <p:nvSpPr>
          <p:cNvPr id="19" name="Shape 17"/>
          <p:cNvSpPr/>
          <p:nvPr/>
        </p:nvSpPr>
        <p:spPr>
          <a:xfrm>
            <a:off x="594360" y="4453128"/>
            <a:ext cx="82296" cy="603504"/>
          </a:xfrm>
          <a:prstGeom prst="rect">
            <a:avLst/>
          </a:prstGeom>
          <a:solidFill>
            <a:srgbClr val="27D3BE"/>
          </a:solidFill>
          <a:ln w="12700">
            <a:solidFill>
              <a:srgbClr val="27D3BE"/>
            </a:solidFill>
            <a:prstDash val="solid"/>
          </a:ln>
        </p:spPr>
        <p:txBody>
          <a:bodyPr/>
          <a:p/>
        </p:txBody>
      </p:sp>
      <p:sp>
        <p:nvSpPr>
          <p:cNvPr id="20" name="Text 18"/>
          <p:cNvSpPr/>
          <p:nvPr/>
        </p:nvSpPr>
        <p:spPr>
          <a:xfrm>
            <a:off x="914400" y="4453128"/>
            <a:ext cx="704088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repetarea analizelor după o săptămână</a:t>
            </a:r>
            <a:endParaRPr lang="en-US" sz="1800" dirty="0"/>
          </a:p>
        </p:txBody>
      </p:sp>
      <p:sp>
        <p:nvSpPr>
          <p:cNvPr id="21" name="Shape 19"/>
          <p:cNvSpPr/>
          <p:nvPr/>
        </p:nvSpPr>
        <p:spPr>
          <a:xfrm>
            <a:off x="8549640" y="160020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23" name="Text 21"/>
          <p:cNvSpPr/>
          <p:nvPr/>
        </p:nvSpPr>
        <p:spPr>
          <a:xfrm>
            <a:off x="594360" y="5257800"/>
            <a:ext cx="10972800" cy="54864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Alegeți o acțiune. Scrieți pe telefon cine o face și cărei funcții îi aparține.</a:t>
            </a:r>
            <a:endParaRPr lang="en-US" sz="1900" dirty="0"/>
          </a:p>
        </p:txBody>
      </p:sp>
      <p:sp>
        <p:nvSpPr>
          <p:cNvPr id="24" name="Text 22"/>
          <p:cNvSpPr/>
          <p:nvPr/>
        </p:nvSpPr>
        <p:spPr>
          <a:xfrm>
            <a:off x="594360" y="5852160"/>
            <a:ext cx="768096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menti.com/al9puscrv22j</a:t>
            </a:r>
            <a:endParaRPr lang="en-US" sz="1500" dirty="0"/>
          </a:p>
        </p:txBody>
      </p:sp>
      <p:pic>
        <p:nvPicPr>
          <p:cNvPr id="25" name="Picture 24" descr="Mentimeter_UB_ISP_C02.png"/>
          <p:cNvPicPr>
            <a:picLocks noChangeAspect="1"/>
          </p:cNvPicPr>
          <p:nvPr/>
        </p:nvPicPr>
        <p:blipFill>
          <a:blip r:embed="rId3"/>
          <a:stretch>
            <a:fillRect/>
          </a:stretch>
        </p:blipFill>
        <p:spPr>
          <a:xfrm>
            <a:off x="8863330" y="1600200"/>
            <a:ext cx="2390140" cy="2390140"/>
          </a:xfrm>
          <a:prstGeom prst="rect">
            <a:avLst/>
          </a:prstGeom>
        </p:spPr>
      </p:pic>
      <p:sp>
        <p:nvSpPr>
          <p:cNvPr id="26" name="TextBox 25"/>
          <p:cNvSpPr txBox="1"/>
          <p:nvPr/>
        </p:nvSpPr>
        <p:spPr>
          <a:xfrm>
            <a:off x="8863330" y="4028440"/>
            <a:ext cx="23901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RĂSPUNSURILE VOASTRE, GRUPATE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Funcțiile nu sunt sertare separate</a:t>
            </a:r>
            <a:endParaRPr lang="en-US" sz="3200" dirty="0"/>
          </a:p>
        </p:txBody>
      </p:sp>
      <p:sp>
        <p:nvSpPr>
          <p:cNvPr id="4" name="Shape 2"/>
          <p:cNvSpPr/>
          <p:nvPr/>
        </p:nvSpPr>
        <p:spPr>
          <a:xfrm>
            <a:off x="594360" y="2377440"/>
            <a:ext cx="3840480" cy="1188720"/>
          </a:xfrm>
          <a:prstGeom prst="roundRect">
            <a:avLst>
              <a:gd name="adj" fmla="val 6923"/>
            </a:avLst>
          </a:prstGeom>
          <a:solidFill>
            <a:srgbClr val="4A2D8C"/>
          </a:solidFill>
          <a:ln w="12700">
            <a:solidFill>
              <a:srgbClr val="4A2D8C"/>
            </a:solidFill>
            <a:prstDash val="solid"/>
          </a:ln>
        </p:spPr>
        <p:txBody>
          <a:bodyPr/>
          <a:p/>
        </p:txBody>
      </p:sp>
      <p:sp>
        <p:nvSpPr>
          <p:cNvPr id="5" name="Text 3"/>
          <p:cNvSpPr/>
          <p:nvPr/>
        </p:nvSpPr>
        <p:spPr>
          <a:xfrm>
            <a:off x="594360" y="2377440"/>
            <a:ext cx="3840480" cy="1188720"/>
          </a:xfrm>
          <a:prstGeom prst="rect">
            <a:avLst/>
          </a:prstGeom>
          <a:noFill/>
          <a:ln/>
        </p:spPr>
        <p:txBody>
          <a:bodyPr wrap="square" lIns="0" tIns="0" rIns="0" bIns="0" rtlCol="0" anchor="ctr"/>
          <a:lstStyle/>
          <a:p>
            <a:pPr algn="ctr" indent="0" marL="0">
              <a:buNone/>
            </a:pPr>
            <a:r>
              <a:rPr lang="en-US" sz="2100" b="1" dirty="0">
                <a:solidFill>
                  <a:srgbClr val="FFFFFF"/>
                </a:solidFill>
                <a:latin typeface="Palatino Linotype" pitchFamily="34" charset="0"/>
                <a:ea typeface="Palatino Linotype" pitchFamily="34" charset="-122"/>
                <a:cs typeface="Palatino Linotype" pitchFamily="34" charset="-120"/>
              </a:rPr>
              <a:t>Mesajul către populație</a:t>
            </a:r>
            <a:endParaRPr lang="en-US" sz="2100" dirty="0"/>
          </a:p>
        </p:txBody>
      </p:sp>
      <p:sp>
        <p:nvSpPr>
          <p:cNvPr id="6" name="Shape 4"/>
          <p:cNvSpPr/>
          <p:nvPr/>
        </p:nvSpPr>
        <p:spPr>
          <a:xfrm>
            <a:off x="4434840" y="2971800"/>
            <a:ext cx="1463040" cy="-960120"/>
          </a:xfrm>
          <a:prstGeom prst="line">
            <a:avLst/>
          </a:prstGeom>
          <a:noFill/>
          <a:ln w="25400">
            <a:solidFill>
              <a:srgbClr val="4A2D8C"/>
            </a:solidFill>
            <a:prstDash val="solid"/>
            <a:tailEnd type="triangle"/>
          </a:ln>
        </p:spPr>
        <p:txBody>
          <a:bodyPr/>
          <a:p/>
        </p:txBody>
      </p:sp>
      <p:sp>
        <p:nvSpPr>
          <p:cNvPr id="7" name="Shape 5"/>
          <p:cNvSpPr/>
          <p:nvPr/>
        </p:nvSpPr>
        <p:spPr>
          <a:xfrm>
            <a:off x="5943600" y="1645920"/>
            <a:ext cx="5623560" cy="777240"/>
          </a:xfrm>
          <a:prstGeom prst="roundRect">
            <a:avLst>
              <a:gd name="adj" fmla="val 10588"/>
            </a:avLst>
          </a:prstGeom>
          <a:solidFill>
            <a:srgbClr val="ECEAE4"/>
          </a:solidFill>
          <a:ln w="12700">
            <a:solidFill>
              <a:srgbClr val="ECEAE4"/>
            </a:solidFill>
            <a:prstDash val="solid"/>
          </a:ln>
        </p:spPr>
        <p:txBody>
          <a:bodyPr/>
          <a:p/>
        </p:txBody>
      </p:sp>
      <p:sp>
        <p:nvSpPr>
          <p:cNvPr id="8" name="Text 6"/>
          <p:cNvSpPr/>
          <p:nvPr/>
        </p:nvSpPr>
        <p:spPr>
          <a:xfrm>
            <a:off x="6217920" y="1645920"/>
            <a:ext cx="5120640" cy="77724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Promovarea sănătății</a:t>
            </a:r>
            <a:endParaRPr lang="en-US" sz="2000" dirty="0"/>
          </a:p>
        </p:txBody>
      </p:sp>
      <p:sp>
        <p:nvSpPr>
          <p:cNvPr id="9" name="Shape 7"/>
          <p:cNvSpPr/>
          <p:nvPr/>
        </p:nvSpPr>
        <p:spPr>
          <a:xfrm>
            <a:off x="4434840" y="2971800"/>
            <a:ext cx="1463040" cy="594360"/>
          </a:xfrm>
          <a:prstGeom prst="line">
            <a:avLst/>
          </a:prstGeom>
          <a:noFill/>
          <a:ln w="25400">
            <a:solidFill>
              <a:srgbClr val="4A2D8C"/>
            </a:solidFill>
            <a:prstDash val="solid"/>
            <a:tailEnd type="triangle"/>
          </a:ln>
        </p:spPr>
        <p:txBody>
          <a:bodyPr/>
          <a:p/>
        </p:txBody>
      </p:sp>
      <p:sp>
        <p:nvSpPr>
          <p:cNvPr id="10" name="Shape 8"/>
          <p:cNvSpPr/>
          <p:nvPr/>
        </p:nvSpPr>
        <p:spPr>
          <a:xfrm>
            <a:off x="5943600" y="3200400"/>
            <a:ext cx="5623560" cy="777240"/>
          </a:xfrm>
          <a:prstGeom prst="roundRect">
            <a:avLst>
              <a:gd name="adj" fmla="val 10588"/>
            </a:avLst>
          </a:prstGeom>
          <a:solidFill>
            <a:srgbClr val="ECEAE4"/>
          </a:solidFill>
          <a:ln w="12700">
            <a:solidFill>
              <a:srgbClr val="ECEAE4"/>
            </a:solidFill>
            <a:prstDash val="solid"/>
          </a:ln>
        </p:spPr>
        <p:txBody>
          <a:bodyPr/>
          <a:p/>
        </p:txBody>
      </p:sp>
      <p:sp>
        <p:nvSpPr>
          <p:cNvPr id="11" name="Text 9"/>
          <p:cNvSpPr/>
          <p:nvPr/>
        </p:nvSpPr>
        <p:spPr>
          <a:xfrm>
            <a:off x="6217920" y="3200400"/>
            <a:ext cx="5120640" cy="77724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Gestionarea urgențelor</a:t>
            </a:r>
            <a:endParaRPr lang="en-US" sz="2000" dirty="0"/>
          </a:p>
        </p:txBody>
      </p:sp>
      <p:sp>
        <p:nvSpPr>
          <p:cNvPr id="12" name="Text 10"/>
          <p:cNvSpPr/>
          <p:nvPr/>
        </p:nvSpPr>
        <p:spPr>
          <a:xfrm>
            <a:off x="594360" y="4434840"/>
            <a:ext cx="10972800" cy="118872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Pentru aceeași acțiune apar, de obicei, mai multe răspunsuri corecte, și asta este firesc. Lista funcțiilor este un fel de a verifica dacă nu lipsește nimic.</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TREI MOMENTE ALE PREVENȚIEI · OMS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Înainte, devreme, după</a:t>
            </a:r>
            <a:endParaRPr lang="en-US" sz="3400" dirty="0"/>
          </a:p>
        </p:txBody>
      </p:sp>
      <p:sp>
        <p:nvSpPr>
          <p:cNvPr id="4" name="Shape 2"/>
          <p:cNvSpPr/>
          <p:nvPr/>
        </p:nvSpPr>
        <p:spPr>
          <a:xfrm>
            <a:off x="594360" y="1691640"/>
            <a:ext cx="10972800" cy="640080"/>
          </a:xfrm>
          <a:prstGeom prst="rightArrow">
            <a:avLst/>
          </a:prstGeom>
          <a:solidFill>
            <a:srgbClr val="272A38"/>
          </a:solidFill>
          <a:ln w="12700">
            <a:solidFill>
              <a:srgbClr val="272A38"/>
            </a:solidFill>
            <a:prstDash val="solid"/>
          </a:ln>
        </p:spPr>
        <p:txBody>
          <a:bodyPr/>
          <a:p/>
        </p:txBody>
      </p:sp>
      <p:sp>
        <p:nvSpPr>
          <p:cNvPr id="5" name="Text 3"/>
          <p:cNvSpPr/>
          <p:nvPr/>
        </p:nvSpPr>
        <p:spPr>
          <a:xfrm>
            <a:off x="777240" y="1691640"/>
            <a:ext cx="3291840" cy="640080"/>
          </a:xfrm>
          <a:prstGeom prst="rect">
            <a:avLst/>
          </a:prstGeom>
          <a:noFill/>
          <a:ln/>
        </p:spPr>
        <p:txBody>
          <a:bodyPr wrap="square" lIns="0" tIns="0" rIns="0" bIns="0" rtlCol="0" anchor="ctr"/>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înainte de boală</a:t>
            </a:r>
            <a:endParaRPr lang="en-US" sz="1600" dirty="0"/>
          </a:p>
        </p:txBody>
      </p:sp>
      <p:sp>
        <p:nvSpPr>
          <p:cNvPr id="6" name="Shape 4"/>
          <p:cNvSpPr/>
          <p:nvPr/>
        </p:nvSpPr>
        <p:spPr>
          <a:xfrm>
            <a:off x="594360" y="2606040"/>
            <a:ext cx="3520440" cy="2240280"/>
          </a:xfrm>
          <a:prstGeom prst="roundRect">
            <a:avLst>
              <a:gd name="adj" fmla="val 3673"/>
            </a:avLst>
          </a:prstGeom>
          <a:solidFill>
            <a:srgbClr val="1D1F2B"/>
          </a:solidFill>
          <a:ln w="12700">
            <a:solidFill>
              <a:srgbClr val="1D1F2B"/>
            </a:solidFill>
            <a:prstDash val="solid"/>
          </a:ln>
        </p:spPr>
        <p:txBody>
          <a:bodyPr/>
          <a:p/>
        </p:txBody>
      </p:sp>
      <p:sp>
        <p:nvSpPr>
          <p:cNvPr id="7" name="Text 5"/>
          <p:cNvSpPr/>
          <p:nvPr/>
        </p:nvSpPr>
        <p:spPr>
          <a:xfrm>
            <a:off x="868680" y="2743200"/>
            <a:ext cx="3017520" cy="54864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Primară</a:t>
            </a:r>
            <a:endParaRPr lang="en-US" sz="2600" dirty="0"/>
          </a:p>
        </p:txBody>
      </p:sp>
      <p:sp>
        <p:nvSpPr>
          <p:cNvPr id="8" name="Text 6"/>
          <p:cNvSpPr/>
          <p:nvPr/>
        </p:nvSpPr>
        <p:spPr>
          <a:xfrm>
            <a:off x="868680" y="3291840"/>
            <a:ext cx="3017520" cy="14630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Scade factorii de risc: vaccinarea, apa curată, sfaturile pentru renunțarea la fumat.</a:t>
            </a:r>
            <a:endParaRPr lang="en-US" sz="1700" dirty="0"/>
          </a:p>
        </p:txBody>
      </p:sp>
      <p:sp>
        <p:nvSpPr>
          <p:cNvPr id="9" name="Text 7"/>
          <p:cNvSpPr/>
          <p:nvPr/>
        </p:nvSpPr>
        <p:spPr>
          <a:xfrm>
            <a:off x="4526280" y="1691640"/>
            <a:ext cx="3291840" cy="64008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devreme în boală</a:t>
            </a:r>
            <a:endParaRPr lang="en-US" sz="1600" dirty="0"/>
          </a:p>
        </p:txBody>
      </p:sp>
      <p:sp>
        <p:nvSpPr>
          <p:cNvPr id="10" name="Shape 8"/>
          <p:cNvSpPr/>
          <p:nvPr/>
        </p:nvSpPr>
        <p:spPr>
          <a:xfrm>
            <a:off x="4343400" y="2606040"/>
            <a:ext cx="3520440" cy="2240280"/>
          </a:xfrm>
          <a:prstGeom prst="roundRect">
            <a:avLst>
              <a:gd name="adj" fmla="val 3673"/>
            </a:avLst>
          </a:prstGeom>
          <a:solidFill>
            <a:srgbClr val="1D1F2B"/>
          </a:solidFill>
          <a:ln w="12700">
            <a:solidFill>
              <a:srgbClr val="1D1F2B"/>
            </a:solidFill>
            <a:prstDash val="solid"/>
          </a:ln>
        </p:spPr>
        <p:txBody>
          <a:bodyPr/>
          <a:p/>
        </p:txBody>
      </p:sp>
      <p:sp>
        <p:nvSpPr>
          <p:cNvPr id="11" name="Text 9"/>
          <p:cNvSpPr/>
          <p:nvPr/>
        </p:nvSpPr>
        <p:spPr>
          <a:xfrm>
            <a:off x="4617720" y="2743200"/>
            <a:ext cx="3017520" cy="548640"/>
          </a:xfrm>
          <a:prstGeom prst="rect">
            <a:avLst/>
          </a:prstGeom>
          <a:noFill/>
          <a:ln/>
        </p:spPr>
        <p:txBody>
          <a:bodyPr wrap="square" lIns="0" tIns="0" rIns="0" bIns="0" rtlCol="0" anchor="t"/>
          <a:lstStyle/>
          <a:p>
            <a:pPr indent="0" marL="0">
              <a:buNone/>
            </a:pPr>
            <a:r>
              <a:rPr lang="en-US" sz="2600" b="1" dirty="0">
                <a:solidFill>
                  <a:srgbClr val="FFC24B"/>
                </a:solidFill>
                <a:latin typeface="Palatino Linotype" pitchFamily="34" charset="0"/>
                <a:ea typeface="Palatino Linotype" pitchFamily="34" charset="-122"/>
                <a:cs typeface="Palatino Linotype" pitchFamily="34" charset="-120"/>
              </a:rPr>
              <a:t>Secundară</a:t>
            </a:r>
            <a:endParaRPr lang="en-US" sz="2600" dirty="0"/>
          </a:p>
        </p:txBody>
      </p:sp>
      <p:sp>
        <p:nvSpPr>
          <p:cNvPr id="12" name="Text 10"/>
          <p:cNvSpPr/>
          <p:nvPr/>
        </p:nvSpPr>
        <p:spPr>
          <a:xfrm>
            <a:off x="4617720" y="3291840"/>
            <a:ext cx="3017520" cy="14630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Caută boala care există, dar nu dă încă semne: depistarea timpurie, programele de screening.</a:t>
            </a:r>
            <a:endParaRPr lang="en-US" sz="1700" dirty="0"/>
          </a:p>
        </p:txBody>
      </p:sp>
      <p:sp>
        <p:nvSpPr>
          <p:cNvPr id="13" name="Text 11"/>
          <p:cNvSpPr/>
          <p:nvPr/>
        </p:nvSpPr>
        <p:spPr>
          <a:xfrm>
            <a:off x="8275320" y="1691640"/>
            <a:ext cx="3291840" cy="640080"/>
          </a:xfrm>
          <a:prstGeom prst="rect">
            <a:avLst/>
          </a:prstGeom>
          <a:noFill/>
          <a:ln/>
        </p:spPr>
        <p:txBody>
          <a:bodyPr wrap="square" lIns="0" tIns="0" rIns="0" bIns="0" rtlCol="0" anchor="ctr"/>
          <a:lstStyle/>
          <a:p>
            <a:pPr indent="0" marL="0">
              <a:buNone/>
            </a:pPr>
            <a:r>
              <a:rPr lang="en-US" sz="1600" b="1" dirty="0">
                <a:solidFill>
                  <a:srgbClr val="FF4757"/>
                </a:solidFill>
                <a:latin typeface="Palatino Linotype" pitchFamily="34" charset="0"/>
                <a:ea typeface="Palatino Linotype" pitchFamily="34" charset="-122"/>
                <a:cs typeface="Palatino Linotype" pitchFamily="34" charset="-120"/>
              </a:rPr>
              <a:t>după instalarea bolii</a:t>
            </a:r>
            <a:endParaRPr lang="en-US" sz="1600" dirty="0"/>
          </a:p>
        </p:txBody>
      </p:sp>
      <p:sp>
        <p:nvSpPr>
          <p:cNvPr id="14" name="Shape 12"/>
          <p:cNvSpPr/>
          <p:nvPr/>
        </p:nvSpPr>
        <p:spPr>
          <a:xfrm>
            <a:off x="8092440" y="2606040"/>
            <a:ext cx="3520440" cy="2240280"/>
          </a:xfrm>
          <a:prstGeom prst="roundRect">
            <a:avLst>
              <a:gd name="adj" fmla="val 3673"/>
            </a:avLst>
          </a:prstGeom>
          <a:solidFill>
            <a:srgbClr val="1D1F2B"/>
          </a:solidFill>
          <a:ln w="12700">
            <a:solidFill>
              <a:srgbClr val="1D1F2B"/>
            </a:solidFill>
            <a:prstDash val="solid"/>
          </a:ln>
        </p:spPr>
        <p:txBody>
          <a:bodyPr/>
          <a:p/>
        </p:txBody>
      </p:sp>
      <p:sp>
        <p:nvSpPr>
          <p:cNvPr id="15" name="Text 13"/>
          <p:cNvSpPr/>
          <p:nvPr/>
        </p:nvSpPr>
        <p:spPr>
          <a:xfrm>
            <a:off x="8366760" y="2743200"/>
            <a:ext cx="3017520" cy="548640"/>
          </a:xfrm>
          <a:prstGeom prst="rect">
            <a:avLst/>
          </a:prstGeom>
          <a:noFill/>
          <a:ln/>
        </p:spPr>
        <p:txBody>
          <a:bodyPr wrap="square" lIns="0" tIns="0" rIns="0" bIns="0" rtlCol="0" anchor="t"/>
          <a:lstStyle/>
          <a:p>
            <a:pPr indent="0" marL="0">
              <a:buNone/>
            </a:pPr>
            <a:r>
              <a:rPr lang="en-US" sz="2600" b="1" dirty="0">
                <a:solidFill>
                  <a:srgbClr val="FF4757"/>
                </a:solidFill>
                <a:latin typeface="Palatino Linotype" pitchFamily="34" charset="0"/>
                <a:ea typeface="Palatino Linotype" pitchFamily="34" charset="-122"/>
                <a:cs typeface="Palatino Linotype" pitchFamily="34" charset="-120"/>
              </a:rPr>
              <a:t>Terțiară</a:t>
            </a:r>
            <a:endParaRPr lang="en-US" sz="2600" dirty="0"/>
          </a:p>
        </p:txBody>
      </p:sp>
      <p:sp>
        <p:nvSpPr>
          <p:cNvPr id="16" name="Text 14"/>
          <p:cNvSpPr/>
          <p:nvPr/>
        </p:nvSpPr>
        <p:spPr>
          <a:xfrm>
            <a:off x="8366760" y="3291840"/>
            <a:ext cx="3017520" cy="14630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Evită agravarea și complicațiile: recuperarea, educația pacientului, fizioterapia.</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TEST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TREI ÎNTREBĂRI RAPIDE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În ce moment al prevenției?</a:t>
            </a:r>
            <a:endParaRPr lang="en-US" sz="3200" dirty="0"/>
          </a:p>
        </p:txBody>
      </p:sp>
      <p:sp>
        <p:nvSpPr>
          <p:cNvPr id="6" name="Shape 4"/>
          <p:cNvSpPr/>
          <p:nvPr/>
        </p:nvSpPr>
        <p:spPr>
          <a:xfrm>
            <a:off x="594360" y="164592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7" name="Shape 5"/>
          <p:cNvSpPr/>
          <p:nvPr/>
        </p:nvSpPr>
        <p:spPr>
          <a:xfrm>
            <a:off x="868680" y="1837944"/>
            <a:ext cx="420624" cy="420624"/>
          </a:xfrm>
          <a:prstGeom prst="ellipse">
            <a:avLst/>
          </a:prstGeom>
          <a:solidFill>
            <a:srgbClr val="FFC24B"/>
          </a:solidFill>
          <a:ln/>
        </p:spPr>
        <p:txBody>
          <a:bodyPr/>
          <a:p/>
        </p:txBody>
      </p:sp>
      <p:sp>
        <p:nvSpPr>
          <p:cNvPr id="8" name="Text 6"/>
          <p:cNvSpPr/>
          <p:nvPr/>
        </p:nvSpPr>
        <p:spPr>
          <a:xfrm>
            <a:off x="868680" y="18379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645920"/>
            <a:ext cx="630936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Vaccinul împotriva rujeolei, la un copil sănătos</a:t>
            </a:r>
            <a:endParaRPr lang="en-US" sz="1900" dirty="0"/>
          </a:p>
        </p:txBody>
      </p:sp>
      <p:sp>
        <p:nvSpPr>
          <p:cNvPr id="10" name="Shape 8"/>
          <p:cNvSpPr/>
          <p:nvPr/>
        </p:nvSpPr>
        <p:spPr>
          <a:xfrm>
            <a:off x="594360" y="260604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11" name="Shape 9"/>
          <p:cNvSpPr/>
          <p:nvPr/>
        </p:nvSpPr>
        <p:spPr>
          <a:xfrm>
            <a:off x="868680" y="2798064"/>
            <a:ext cx="420624" cy="420624"/>
          </a:xfrm>
          <a:prstGeom prst="ellipse">
            <a:avLst/>
          </a:prstGeom>
          <a:solidFill>
            <a:srgbClr val="FFC24B"/>
          </a:solidFill>
          <a:ln/>
        </p:spPr>
        <p:txBody>
          <a:bodyPr/>
          <a:p/>
        </p:txBody>
      </p:sp>
      <p:sp>
        <p:nvSpPr>
          <p:cNvPr id="12" name="Text 10"/>
          <p:cNvSpPr/>
          <p:nvPr/>
        </p:nvSpPr>
        <p:spPr>
          <a:xfrm>
            <a:off x="868680" y="27980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606040"/>
            <a:ext cx="630936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Mamografia, la o femeie fără niciun simptom</a:t>
            </a:r>
            <a:endParaRPr lang="en-US" sz="1900" dirty="0"/>
          </a:p>
        </p:txBody>
      </p:sp>
      <p:sp>
        <p:nvSpPr>
          <p:cNvPr id="14" name="Shape 12"/>
          <p:cNvSpPr/>
          <p:nvPr/>
        </p:nvSpPr>
        <p:spPr>
          <a:xfrm>
            <a:off x="594360" y="356616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15" name="Shape 13"/>
          <p:cNvSpPr/>
          <p:nvPr/>
        </p:nvSpPr>
        <p:spPr>
          <a:xfrm>
            <a:off x="868680" y="3758184"/>
            <a:ext cx="420624" cy="420624"/>
          </a:xfrm>
          <a:prstGeom prst="ellipse">
            <a:avLst/>
          </a:prstGeom>
          <a:solidFill>
            <a:srgbClr val="FFC24B"/>
          </a:solidFill>
          <a:ln/>
        </p:spPr>
        <p:txBody>
          <a:bodyPr/>
          <a:p/>
        </p:txBody>
      </p:sp>
      <p:sp>
        <p:nvSpPr>
          <p:cNvPr id="16" name="Text 14"/>
          <p:cNvSpPr/>
          <p:nvPr/>
        </p:nvSpPr>
        <p:spPr>
          <a:xfrm>
            <a:off x="868680" y="37581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566160"/>
            <a:ext cx="630936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Programul de exerciții după un infarct</a:t>
            </a:r>
            <a:endParaRPr lang="en-US" sz="1900" dirty="0"/>
          </a:p>
        </p:txBody>
      </p:sp>
      <p:sp>
        <p:nvSpPr>
          <p:cNvPr id="18" name="Text 16"/>
          <p:cNvSpPr/>
          <p:nvPr/>
        </p:nvSpPr>
        <p:spPr>
          <a:xfrm>
            <a:off x="594360" y="4663440"/>
            <a:ext cx="749808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De fiecare dată: primară · secundară · terțiară</a:t>
            </a:r>
            <a:endParaRPr lang="en-US" sz="1800" dirty="0"/>
          </a:p>
        </p:txBody>
      </p:sp>
      <p:sp>
        <p:nvSpPr>
          <p:cNvPr id="19" name="Shape 17"/>
          <p:cNvSpPr/>
          <p:nvPr/>
        </p:nvSpPr>
        <p:spPr>
          <a:xfrm>
            <a:off x="8549640" y="164592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21" name="Text 19"/>
          <p:cNvSpPr/>
          <p:nvPr/>
        </p:nvSpPr>
        <p:spPr>
          <a:xfrm>
            <a:off x="594360" y="5577840"/>
            <a:ext cx="768096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menti.com/al9puscrv22j</a:t>
            </a:r>
            <a:endParaRPr lang="en-US" sz="1500" dirty="0"/>
          </a:p>
        </p:txBody>
      </p:sp>
      <p:pic>
        <p:nvPicPr>
          <p:cNvPr id="22" name="Picture 21" descr="Mentimeter_UB_ISP_C02.png"/>
          <p:cNvPicPr>
            <a:picLocks noChangeAspect="1"/>
          </p:cNvPicPr>
          <p:nvPr/>
        </p:nvPicPr>
        <p:blipFill>
          <a:blip r:embed="rId3"/>
          <a:stretch>
            <a:fillRect/>
          </a:stretch>
        </p:blipFill>
        <p:spPr>
          <a:xfrm>
            <a:off x="8863330" y="1645920"/>
            <a:ext cx="2390140" cy="2390140"/>
          </a:xfrm>
          <a:prstGeom prst="rect">
            <a:avLst/>
          </a:prstGeom>
        </p:spPr>
      </p:pic>
      <p:sp>
        <p:nvSpPr>
          <p:cNvPr id="23" name="TextBox 22"/>
          <p:cNvSpPr txBox="1"/>
          <p:nvPr/>
        </p:nvSpPr>
        <p:spPr>
          <a:xfrm>
            <a:off x="8863330" y="4074160"/>
            <a:ext cx="23901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PRIMARĂ, SECUNDARĂ, TERȚIARĂ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Momentul îl dă starea omului</a:t>
            </a:r>
            <a:endParaRPr lang="en-US" sz="3200" dirty="0"/>
          </a:p>
        </p:txBody>
      </p:sp>
      <p:sp>
        <p:nvSpPr>
          <p:cNvPr id="4" name="Shape 2"/>
          <p:cNvSpPr/>
          <p:nvPr/>
        </p:nvSpPr>
        <p:spPr>
          <a:xfrm>
            <a:off x="594360" y="1600200"/>
            <a:ext cx="3520440" cy="1463040"/>
          </a:xfrm>
          <a:prstGeom prst="roundRect">
            <a:avLst>
              <a:gd name="adj" fmla="val 5625"/>
            </a:avLst>
          </a:prstGeom>
          <a:solidFill>
            <a:srgbClr val="ECEAE4"/>
          </a:solidFill>
          <a:ln w="12700">
            <a:solidFill>
              <a:srgbClr val="ECEAE4"/>
            </a:solidFill>
            <a:prstDash val="solid"/>
          </a:ln>
        </p:spPr>
        <p:txBody>
          <a:bodyPr/>
          <a:p/>
        </p:txBody>
      </p:sp>
      <p:sp>
        <p:nvSpPr>
          <p:cNvPr id="5" name="Text 3"/>
          <p:cNvSpPr/>
          <p:nvPr/>
        </p:nvSpPr>
        <p:spPr>
          <a:xfrm>
            <a:off x="822960" y="1691640"/>
            <a:ext cx="3063240" cy="6400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Vaccinul, la copilul sănătos</a:t>
            </a:r>
            <a:endParaRPr lang="en-US" sz="1600" dirty="0"/>
          </a:p>
        </p:txBody>
      </p:sp>
      <p:sp>
        <p:nvSpPr>
          <p:cNvPr id="6" name="Text 4"/>
          <p:cNvSpPr/>
          <p:nvPr/>
        </p:nvSpPr>
        <p:spPr>
          <a:xfrm>
            <a:off x="822960" y="2286000"/>
            <a:ext cx="3063240" cy="640080"/>
          </a:xfrm>
          <a:prstGeom prst="rect">
            <a:avLst/>
          </a:prstGeom>
          <a:noFill/>
          <a:ln/>
        </p:spPr>
        <p:txBody>
          <a:bodyPr wrap="square" lIns="0" tIns="0" rIns="0" bIns="0" rtlCol="0" anchor="t"/>
          <a:lstStyle/>
          <a:p>
            <a:pPr indent="0" marL="0">
              <a:buNone/>
            </a:pPr>
            <a:r>
              <a:rPr lang="en-US" sz="2600" b="1" dirty="0">
                <a:solidFill>
                  <a:srgbClr val="0E7C6B"/>
                </a:solidFill>
                <a:latin typeface="Palatino Linotype" pitchFamily="34" charset="0"/>
                <a:ea typeface="Palatino Linotype" pitchFamily="34" charset="-122"/>
                <a:cs typeface="Palatino Linotype" pitchFamily="34" charset="-120"/>
              </a:rPr>
              <a:t>primară</a:t>
            </a:r>
            <a:endParaRPr lang="en-US" sz="2600" dirty="0"/>
          </a:p>
        </p:txBody>
      </p:sp>
      <p:sp>
        <p:nvSpPr>
          <p:cNvPr id="7" name="Shape 5"/>
          <p:cNvSpPr/>
          <p:nvPr/>
        </p:nvSpPr>
        <p:spPr>
          <a:xfrm>
            <a:off x="4343400" y="1600200"/>
            <a:ext cx="3520440" cy="1463040"/>
          </a:xfrm>
          <a:prstGeom prst="roundRect">
            <a:avLst>
              <a:gd name="adj" fmla="val 5625"/>
            </a:avLst>
          </a:prstGeom>
          <a:solidFill>
            <a:srgbClr val="ECEAE4"/>
          </a:solidFill>
          <a:ln w="12700">
            <a:solidFill>
              <a:srgbClr val="ECEAE4"/>
            </a:solidFill>
            <a:prstDash val="solid"/>
          </a:ln>
        </p:spPr>
        <p:txBody>
          <a:bodyPr/>
          <a:p/>
        </p:txBody>
      </p:sp>
      <p:sp>
        <p:nvSpPr>
          <p:cNvPr id="8" name="Text 6"/>
          <p:cNvSpPr/>
          <p:nvPr/>
        </p:nvSpPr>
        <p:spPr>
          <a:xfrm>
            <a:off x="4572000" y="1691640"/>
            <a:ext cx="3063240" cy="6400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Mamografia, fără simptome</a:t>
            </a:r>
            <a:endParaRPr lang="en-US" sz="1600" dirty="0"/>
          </a:p>
        </p:txBody>
      </p:sp>
      <p:sp>
        <p:nvSpPr>
          <p:cNvPr id="9" name="Text 7"/>
          <p:cNvSpPr/>
          <p:nvPr/>
        </p:nvSpPr>
        <p:spPr>
          <a:xfrm>
            <a:off x="4572000" y="2286000"/>
            <a:ext cx="3063240" cy="640080"/>
          </a:xfrm>
          <a:prstGeom prst="rect">
            <a:avLst/>
          </a:prstGeom>
          <a:noFill/>
          <a:ln/>
        </p:spPr>
        <p:txBody>
          <a:bodyPr wrap="square" lIns="0" tIns="0" rIns="0" bIns="0" rtlCol="0" anchor="t"/>
          <a:lstStyle/>
          <a:p>
            <a:pPr indent="0" marL="0">
              <a:buNone/>
            </a:pPr>
            <a:r>
              <a:rPr lang="en-US" sz="2600" b="1" dirty="0">
                <a:solidFill>
                  <a:srgbClr val="8A6100"/>
                </a:solidFill>
                <a:latin typeface="Palatino Linotype" pitchFamily="34" charset="0"/>
                <a:ea typeface="Palatino Linotype" pitchFamily="34" charset="-122"/>
                <a:cs typeface="Palatino Linotype" pitchFamily="34" charset="-120"/>
              </a:rPr>
              <a:t>secundară</a:t>
            </a:r>
            <a:endParaRPr lang="en-US" sz="2600" dirty="0"/>
          </a:p>
        </p:txBody>
      </p:sp>
      <p:sp>
        <p:nvSpPr>
          <p:cNvPr id="10" name="Shape 8"/>
          <p:cNvSpPr/>
          <p:nvPr/>
        </p:nvSpPr>
        <p:spPr>
          <a:xfrm>
            <a:off x="8092440" y="1600200"/>
            <a:ext cx="3520440" cy="1463040"/>
          </a:xfrm>
          <a:prstGeom prst="roundRect">
            <a:avLst>
              <a:gd name="adj" fmla="val 5625"/>
            </a:avLst>
          </a:prstGeom>
          <a:solidFill>
            <a:srgbClr val="ECEAE4"/>
          </a:solidFill>
          <a:ln w="12700">
            <a:solidFill>
              <a:srgbClr val="ECEAE4"/>
            </a:solidFill>
            <a:prstDash val="solid"/>
          </a:ln>
        </p:spPr>
        <p:txBody>
          <a:bodyPr/>
          <a:p/>
        </p:txBody>
      </p:sp>
      <p:sp>
        <p:nvSpPr>
          <p:cNvPr id="11" name="Text 9"/>
          <p:cNvSpPr/>
          <p:nvPr/>
        </p:nvSpPr>
        <p:spPr>
          <a:xfrm>
            <a:off x="8321040" y="1691640"/>
            <a:ext cx="3063240" cy="6400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Exercițiile, după infarct</a:t>
            </a:r>
            <a:endParaRPr lang="en-US" sz="1600" dirty="0"/>
          </a:p>
        </p:txBody>
      </p:sp>
      <p:sp>
        <p:nvSpPr>
          <p:cNvPr id="12" name="Text 10"/>
          <p:cNvSpPr/>
          <p:nvPr/>
        </p:nvSpPr>
        <p:spPr>
          <a:xfrm>
            <a:off x="8321040" y="2286000"/>
            <a:ext cx="3063240" cy="640080"/>
          </a:xfrm>
          <a:prstGeom prst="rect">
            <a:avLst/>
          </a:prstGeom>
          <a:noFill/>
          <a:ln/>
        </p:spPr>
        <p:txBody>
          <a:bodyPr wrap="square" lIns="0" tIns="0" rIns="0" bIns="0" rtlCol="0" anchor="t"/>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terțiară</a:t>
            </a:r>
            <a:endParaRPr lang="en-US" sz="2600" dirty="0"/>
          </a:p>
        </p:txBody>
      </p:sp>
      <p:sp>
        <p:nvSpPr>
          <p:cNvPr id="13" name="Text 11"/>
          <p:cNvSpPr/>
          <p:nvPr/>
        </p:nvSpPr>
        <p:spPr>
          <a:xfrm>
            <a:off x="594360" y="3337560"/>
            <a:ext cx="10972800" cy="822960"/>
          </a:xfrm>
          <a:prstGeom prst="rect">
            <a:avLst/>
          </a:prstGeom>
          <a:noFill/>
          <a:ln/>
        </p:spPr>
        <p:txBody>
          <a:bodyPr wrap="square" lIns="0" tIns="0" rIns="0" bIns="0" rtlCol="0" anchor="t"/>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Momentul prevenției îl dă starea omului căruia i se adresează acțiunea, nu felul acțiunii.</a:t>
            </a:r>
            <a:endParaRPr lang="en-US" sz="2100" dirty="0"/>
          </a:p>
        </p:txBody>
      </p:sp>
      <p:sp>
        <p:nvSpPr>
          <p:cNvPr id="14" name="Text 12"/>
          <p:cNvSpPr/>
          <p:nvPr/>
        </p:nvSpPr>
        <p:spPr>
          <a:xfrm>
            <a:off x="594360" y="4297680"/>
            <a:ext cx="10972800" cy="118872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Bărbatul din primul caz se află deja în zona terțiară. Interdicția fumatului în spațiile publice închise lucrează în zona primară, pentru toți cei care nu s-au îmbolnăvit.</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1_jenner_vaccinare.jpg">    </p:cNvPr>
          <p:cNvPicPr>
            <a:picLocks noChangeAspect="1"/>
          </p:cNvPicPr>
          <p:nvPr/>
        </p:nvPicPr>
        <p:blipFill>
          <a:blip r:embed="rId1"/>
          <a:stretch>
            <a:fillRect/>
          </a:stretch>
        </p:blipFill>
        <p:spPr>
          <a:xfrm>
            <a:off x="365760" y="1223419"/>
            <a:ext cx="5760720" cy="4319721"/>
          </a:xfrm>
          <a:prstGeom prst="rect">
            <a:avLst/>
          </a:prstGeom>
        </p:spPr>
      </p:pic>
      <p:sp>
        <p:nvSpPr>
          <p:cNvPr id="3" name="Text 0"/>
          <p:cNvSpPr/>
          <p:nvPr/>
        </p:nvSpPr>
        <p:spPr>
          <a:xfrm>
            <a:off x="365760" y="5616293"/>
            <a:ext cx="576072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Edward Jenner vaccinând un băiat, pictură de E.-E. Hillemacher · Wellcome Collection · CC BY 4.0</a:t>
            </a:r>
            <a:endParaRPr lang="en-US" sz="850" dirty="0"/>
          </a:p>
        </p:txBody>
      </p:sp>
      <p:sp>
        <p:nvSpPr>
          <p:cNvPr id="4" name="Text 1"/>
          <p:cNvSpPr/>
          <p:nvPr/>
        </p:nvSpPr>
        <p:spPr>
          <a:xfrm>
            <a:off x="6492240" y="347472"/>
            <a:ext cx="51206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 REALIZARE FĂRĂ ECHIVOC</a:t>
            </a:r>
            <a:endParaRPr lang="en-US" sz="1300" dirty="0"/>
          </a:p>
        </p:txBody>
      </p:sp>
      <p:sp>
        <p:nvSpPr>
          <p:cNvPr id="5" name="Text 2"/>
          <p:cNvSpPr/>
          <p:nvPr/>
        </p:nvSpPr>
        <p:spPr>
          <a:xfrm>
            <a:off x="6492240" y="777240"/>
            <a:ext cx="5120640" cy="1463040"/>
          </a:xfrm>
          <a:prstGeom prst="rect">
            <a:avLst/>
          </a:prstGeom>
          <a:noFill/>
          <a:ln/>
        </p:spPr>
        <p:txBody>
          <a:bodyPr wrap="square" lIns="0" tIns="0" rIns="0" bIns="0" rtlCol="0" anchor="ctr"/>
          <a:lstStyle/>
          <a:p>
            <a:pPr indent="0" marL="0">
              <a:buNone/>
            </a:pPr>
            <a:r>
              <a:rPr lang="en-US" sz="9600" b="1" dirty="0">
                <a:solidFill>
                  <a:srgbClr val="FFC24B"/>
                </a:solidFill>
                <a:latin typeface="Palatino Linotype" pitchFamily="34" charset="0"/>
                <a:ea typeface="Palatino Linotype" pitchFamily="34" charset="-122"/>
                <a:cs typeface="Palatino Linotype" pitchFamily="34" charset="-120"/>
              </a:rPr>
              <a:t>1980</a:t>
            </a:r>
            <a:endParaRPr lang="en-US" sz="9600" dirty="0"/>
          </a:p>
        </p:txBody>
      </p:sp>
      <p:sp>
        <p:nvSpPr>
          <p:cNvPr id="6" name="Text 3"/>
          <p:cNvSpPr/>
          <p:nvPr/>
        </p:nvSpPr>
        <p:spPr>
          <a:xfrm>
            <a:off x="6492240" y="2286000"/>
            <a:ext cx="5120640" cy="100584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La 8 mai 1980, Adunarea Mondială a Sănătății a declarat lumea eliberată de variolă.</a:t>
            </a:r>
            <a:endParaRPr lang="en-US" sz="1900" dirty="0"/>
          </a:p>
        </p:txBody>
      </p:sp>
      <p:sp>
        <p:nvSpPr>
          <p:cNvPr id="7" name="Text 4"/>
          <p:cNvSpPr/>
          <p:nvPr/>
        </p:nvSpPr>
        <p:spPr>
          <a:xfrm>
            <a:off x="6492240" y="3429000"/>
            <a:ext cx="5120640" cy="173736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Boala omora până la 30% dintre bolnavi și a existat cel puțin 3 000 de ani. Ultimul caz natural cunoscut: Somalia, 1977. OMS o numește singura boală infecțioasă eradicată.</a:t>
            </a:r>
            <a:endParaRPr lang="en-US" sz="1700" dirty="0"/>
          </a:p>
        </p:txBody>
      </p:sp>
      <p:sp>
        <p:nvSpPr>
          <p:cNvPr id="8" name="Text 5"/>
          <p:cNvSpPr/>
          <p:nvPr/>
        </p:nvSpPr>
        <p:spPr>
          <a:xfrm>
            <a:off x="6492240" y="5349240"/>
            <a:ext cx="5120640" cy="54864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Povestea revine în cursul despre bolile infecțioase (C10).</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2_karelia_de_nord.jpg">    </p:cNvPr>
          <p:cNvPicPr>
            <a:picLocks noChangeAspect="1"/>
          </p:cNvPicPr>
          <p:nvPr/>
        </p:nvPicPr>
        <p:blipFill>
          <a:blip r:embed="rId1"/>
          <a:stretch>
            <a:fillRect/>
          </a:stretch>
        </p:blipFill>
        <p:spPr>
          <a:xfrm>
            <a:off x="0" y="0"/>
            <a:ext cx="5486400" cy="6858000"/>
          </a:xfrm>
          <a:prstGeom prst="rect">
            <a:avLst/>
          </a:prstGeom>
        </p:spPr>
      </p:pic>
      <p:sp>
        <p:nvSpPr>
          <p:cNvPr id="3" name="Shape 0"/>
          <p:cNvSpPr/>
          <p:nvPr/>
        </p:nvSpPr>
        <p:spPr>
          <a:xfrm>
            <a:off x="0" y="6053328"/>
            <a:ext cx="5486400" cy="804672"/>
          </a:xfrm>
          <a:prstGeom prst="rect">
            <a:avLst/>
          </a:prstGeom>
          <a:solidFill>
            <a:srgbClr val="11121A">
              <a:alpha val="80000"/>
            </a:srgbClr>
          </a:solidFill>
          <a:ln w="12700">
            <a:solidFill>
              <a:srgbClr val="11121A"/>
            </a:solidFill>
            <a:prstDash val="solid"/>
          </a:ln>
        </p:spPr>
        <p:txBody>
          <a:bodyPr/>
          <a:p/>
        </p:txBody>
      </p:sp>
      <p:sp>
        <p:nvSpPr>
          <p:cNvPr id="4" name="Text 1"/>
          <p:cNvSpPr/>
          <p:nvPr/>
        </p:nvSpPr>
        <p:spPr>
          <a:xfrm>
            <a:off x="274320"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Peisaj de toamnă în Karelia de Nord, estul Finlandei</a:t>
            </a:r>
            <a:endParaRPr lang="en-US" sz="1100" dirty="0"/>
          </a:p>
        </p:txBody>
      </p:sp>
      <p:sp>
        <p:nvSpPr>
          <p:cNvPr id="5" name="Text 2"/>
          <p:cNvSpPr/>
          <p:nvPr/>
        </p:nvSpPr>
        <p:spPr>
          <a:xfrm>
            <a:off x="274320"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foto Hemmo Vattulainen · CC BY 3.0 · Wikimedia Commons</a:t>
            </a:r>
            <a:endParaRPr lang="en-US" sz="850" dirty="0"/>
          </a:p>
        </p:txBody>
      </p:sp>
      <p:sp>
        <p:nvSpPr>
          <p:cNvPr id="6" name="Text 3"/>
          <p:cNvSpPr/>
          <p:nvPr/>
        </p:nvSpPr>
        <p:spPr>
          <a:xfrm>
            <a:off x="5897880" y="347472"/>
            <a:ext cx="2743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KARELIA DE NORD</a:t>
            </a:r>
            <a:endParaRPr lang="en-US" sz="1300" dirty="0"/>
          </a:p>
        </p:txBody>
      </p:sp>
      <p:sp>
        <p:nvSpPr>
          <p:cNvPr id="7" name="Shape 4"/>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8" name="Text 5"/>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9" name="Text 6"/>
          <p:cNvSpPr/>
          <p:nvPr/>
        </p:nvSpPr>
        <p:spPr>
          <a:xfrm>
            <a:off x="5897880" y="868680"/>
            <a:ext cx="5852160" cy="82296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Proiectul comunitar din 1972: alimentația, fumatul, tensiunea arterială.</a:t>
            </a:r>
            <a:endParaRPr lang="en-US" sz="1800" dirty="0"/>
          </a:p>
        </p:txBody>
      </p:sp>
      <p:sp>
        <p:nvSpPr>
          <p:cNvPr id="10" name="Text 7"/>
          <p:cNvSpPr/>
          <p:nvPr/>
        </p:nvSpPr>
        <p:spPr>
          <a:xfrm>
            <a:off x="5897880" y="1691640"/>
            <a:ext cx="5852160" cy="320040"/>
          </a:xfrm>
          <a:prstGeom prst="rect">
            <a:avLst/>
          </a:prstGeom>
          <a:noFill/>
          <a:ln/>
        </p:spPr>
        <p:txBody>
          <a:bodyPr wrap="square" lIns="0" tIns="0" rIns="0" bIns="0" rtlCol="0" anchor="t"/>
          <a:lstStyle/>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Decese cardiovasculare la 100 000 de bărbați de vârstă mijlocie</a:t>
            </a:r>
            <a:endParaRPr lang="en-US" sz="1400" dirty="0"/>
          </a:p>
        </p:txBody>
      </p:sp>
      <p:sp>
        <p:nvSpPr>
          <p:cNvPr id="11" name="Shape 8"/>
          <p:cNvSpPr/>
          <p:nvPr/>
        </p:nvSpPr>
        <p:spPr>
          <a:xfrm>
            <a:off x="6172200" y="2646274"/>
            <a:ext cx="2011680" cy="1514246"/>
          </a:xfrm>
          <a:prstGeom prst="rect">
            <a:avLst/>
          </a:prstGeom>
          <a:solidFill>
            <a:srgbClr val="FF4757"/>
          </a:solidFill>
          <a:ln w="12700">
            <a:solidFill>
              <a:srgbClr val="FF4757"/>
            </a:solidFill>
            <a:prstDash val="solid"/>
          </a:ln>
        </p:spPr>
        <p:txBody>
          <a:bodyPr/>
          <a:p/>
        </p:txBody>
      </p:sp>
      <p:sp>
        <p:nvSpPr>
          <p:cNvPr id="12" name="Text 9"/>
          <p:cNvSpPr/>
          <p:nvPr/>
        </p:nvSpPr>
        <p:spPr>
          <a:xfrm>
            <a:off x="5897880" y="2189074"/>
            <a:ext cx="2560320" cy="411480"/>
          </a:xfrm>
          <a:prstGeom prst="rect">
            <a:avLst/>
          </a:prstGeom>
          <a:noFill/>
          <a:ln/>
        </p:spPr>
        <p:txBody>
          <a:bodyPr wrap="square" lIns="0" tIns="0" rIns="0" bIns="0" rtlCol="0" anchor="t"/>
          <a:lstStyle/>
          <a:p>
            <a:pPr algn="ctr" indent="0" marL="0">
              <a:buNone/>
            </a:pPr>
            <a:r>
              <a:rPr lang="en-US" sz="2200" b="1" dirty="0">
                <a:solidFill>
                  <a:srgbClr val="FF4757"/>
                </a:solidFill>
                <a:latin typeface="Palatino Linotype" pitchFamily="34" charset="0"/>
                <a:ea typeface="Palatino Linotype" pitchFamily="34" charset="-122"/>
                <a:cs typeface="Palatino Linotype" pitchFamily="34" charset="-120"/>
              </a:rPr>
              <a:t>690</a:t>
            </a:r>
            <a:endParaRPr lang="en-US" sz="2200" dirty="0"/>
          </a:p>
        </p:txBody>
      </p:sp>
      <p:sp>
        <p:nvSpPr>
          <p:cNvPr id="13" name="Text 10"/>
          <p:cNvSpPr/>
          <p:nvPr/>
        </p:nvSpPr>
        <p:spPr>
          <a:xfrm>
            <a:off x="5897880" y="4206240"/>
            <a:ext cx="2560320" cy="320040"/>
          </a:xfrm>
          <a:prstGeom prst="rect">
            <a:avLst/>
          </a:prstGeom>
          <a:noFill/>
          <a:ln/>
        </p:spPr>
        <p:txBody>
          <a:bodyPr wrap="square" lIns="0" tIns="0" rIns="0" bIns="0" rtlCol="0" anchor="t"/>
          <a:lstStyle/>
          <a:p>
            <a:pPr algn="ctr" indent="0" marL="0">
              <a:buNone/>
            </a:pPr>
            <a:r>
              <a:rPr lang="en-US" sz="1400" dirty="0">
                <a:solidFill>
                  <a:srgbClr val="C9CCD8"/>
                </a:solidFill>
                <a:latin typeface="Palatino Linotype" pitchFamily="34" charset="0"/>
                <a:ea typeface="Palatino Linotype" pitchFamily="34" charset="-122"/>
                <a:cs typeface="Palatino Linotype" pitchFamily="34" charset="-120"/>
              </a:rPr>
              <a:t>la început</a:t>
            </a:r>
            <a:endParaRPr lang="en-US" sz="1400" dirty="0"/>
          </a:p>
        </p:txBody>
      </p:sp>
      <p:sp>
        <p:nvSpPr>
          <p:cNvPr id="14" name="Shape 11"/>
          <p:cNvSpPr/>
          <p:nvPr/>
        </p:nvSpPr>
        <p:spPr>
          <a:xfrm>
            <a:off x="8778240" y="3941064"/>
            <a:ext cx="2011680" cy="219456"/>
          </a:xfrm>
          <a:prstGeom prst="rect">
            <a:avLst/>
          </a:prstGeom>
          <a:solidFill>
            <a:srgbClr val="27D3BE"/>
          </a:solidFill>
          <a:ln w="12700">
            <a:solidFill>
              <a:srgbClr val="27D3BE"/>
            </a:solidFill>
            <a:prstDash val="solid"/>
          </a:ln>
        </p:spPr>
        <p:txBody>
          <a:bodyPr/>
          <a:p/>
        </p:txBody>
      </p:sp>
      <p:sp>
        <p:nvSpPr>
          <p:cNvPr id="15" name="Text 12"/>
          <p:cNvSpPr/>
          <p:nvPr/>
        </p:nvSpPr>
        <p:spPr>
          <a:xfrm>
            <a:off x="8503920" y="3483864"/>
            <a:ext cx="2560320" cy="411480"/>
          </a:xfrm>
          <a:prstGeom prst="rect">
            <a:avLst/>
          </a:prstGeom>
          <a:noFill/>
          <a:ln/>
        </p:spPr>
        <p:txBody>
          <a:bodyPr wrap="square" lIns="0" tIns="0" rIns="0" bIns="0" rtlCol="0" anchor="t"/>
          <a:lstStyle/>
          <a:p>
            <a:pPr algn="ctr" indent="0" marL="0">
              <a:buNone/>
            </a:pPr>
            <a:r>
              <a:rPr lang="en-US" sz="2200" b="1" dirty="0">
                <a:solidFill>
                  <a:srgbClr val="27D3BE"/>
                </a:solidFill>
                <a:latin typeface="Palatino Linotype" pitchFamily="34" charset="0"/>
                <a:ea typeface="Palatino Linotype" pitchFamily="34" charset="-122"/>
                <a:cs typeface="Palatino Linotype" pitchFamily="34" charset="-120"/>
              </a:rPr>
              <a:t>circa 100</a:t>
            </a:r>
            <a:endParaRPr lang="en-US" sz="2200" dirty="0"/>
          </a:p>
        </p:txBody>
      </p:sp>
      <p:sp>
        <p:nvSpPr>
          <p:cNvPr id="16" name="Text 13"/>
          <p:cNvSpPr/>
          <p:nvPr/>
        </p:nvSpPr>
        <p:spPr>
          <a:xfrm>
            <a:off x="8503920" y="4206240"/>
            <a:ext cx="2560320" cy="320040"/>
          </a:xfrm>
          <a:prstGeom prst="rect">
            <a:avLst/>
          </a:prstGeom>
          <a:noFill/>
          <a:ln/>
        </p:spPr>
        <p:txBody>
          <a:bodyPr wrap="square" lIns="0" tIns="0" rIns="0" bIns="0" rtlCol="0" anchor="t"/>
          <a:lstStyle/>
          <a:p>
            <a:pPr algn="ctr" indent="0" marL="0">
              <a:buNone/>
            </a:pPr>
            <a:r>
              <a:rPr lang="en-US" sz="1400" dirty="0">
                <a:solidFill>
                  <a:srgbClr val="C9CCD8"/>
                </a:solidFill>
                <a:latin typeface="Palatino Linotype" pitchFamily="34" charset="0"/>
                <a:ea typeface="Palatino Linotype" pitchFamily="34" charset="-122"/>
                <a:cs typeface="Palatino Linotype" pitchFamily="34" charset="-120"/>
              </a:rPr>
              <a:t>2011</a:t>
            </a:r>
            <a:endParaRPr lang="en-US" sz="1400" dirty="0"/>
          </a:p>
        </p:txBody>
      </p:sp>
      <p:sp>
        <p:nvSpPr>
          <p:cNvPr id="17" name="Text 14"/>
          <p:cNvSpPr/>
          <p:nvPr/>
        </p:nvSpPr>
        <p:spPr>
          <a:xfrm>
            <a:off x="5897880" y="4572000"/>
            <a:ext cx="5852160" cy="64008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Untul pe pâine: cu aproximativ 80% mai puțin. Colesterolul: cu peste 20% mai mic.</a:t>
            </a:r>
            <a:endParaRPr lang="en-US" sz="1600" dirty="0"/>
          </a:p>
        </p:txBody>
      </p:sp>
      <p:sp>
        <p:nvSpPr>
          <p:cNvPr id="18" name="Text 15"/>
          <p:cNvSpPr/>
          <p:nvPr/>
        </p:nvSpPr>
        <p:spPr>
          <a:xfrm>
            <a:off x="5897880" y="5257800"/>
            <a:ext cx="5852160" cy="86868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Ce întrebare ați pune înainte să credeți că proiectul a făcut asta?</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PRUDENȚA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S-a întâmplat după, nu neapărat din cauza</a:t>
            </a:r>
            <a:endParaRPr lang="en-US" sz="3000" dirty="0"/>
          </a:p>
        </p:txBody>
      </p:sp>
      <p:sp>
        <p:nvSpPr>
          <p:cNvPr id="4" name="Text 2"/>
          <p:cNvSpPr/>
          <p:nvPr/>
        </p:nvSpPr>
        <p:spPr>
          <a:xfrm>
            <a:off x="594360" y="1508760"/>
            <a:ext cx="5669280" cy="36576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Mortalitatea cardiovasculară, bărbați de 35–64 de ani, 1969–2011</a:t>
            </a:r>
            <a:endParaRPr lang="en-US" sz="1400" dirty="0"/>
          </a:p>
        </p:txBody>
      </p:sp>
      <p:sp>
        <p:nvSpPr>
          <p:cNvPr id="5" name="Text 3"/>
          <p:cNvSpPr/>
          <p:nvPr/>
        </p:nvSpPr>
        <p:spPr>
          <a:xfrm>
            <a:off x="594360" y="2057400"/>
            <a:ext cx="5486400" cy="36576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Karelia de Nord</a:t>
            </a:r>
            <a:endParaRPr lang="en-US" sz="1700" dirty="0"/>
          </a:p>
        </p:txBody>
      </p:sp>
      <p:sp>
        <p:nvSpPr>
          <p:cNvPr id="6" name="Shape 4"/>
          <p:cNvSpPr/>
          <p:nvPr/>
        </p:nvSpPr>
        <p:spPr>
          <a:xfrm>
            <a:off x="594360" y="2468880"/>
            <a:ext cx="4206240" cy="548640"/>
          </a:xfrm>
          <a:prstGeom prst="rect">
            <a:avLst/>
          </a:prstGeom>
          <a:solidFill>
            <a:srgbClr val="B02532"/>
          </a:solidFill>
          <a:ln w="12700">
            <a:solidFill>
              <a:srgbClr val="B02532"/>
            </a:solidFill>
            <a:prstDash val="solid"/>
          </a:ln>
        </p:spPr>
        <p:txBody>
          <a:bodyPr/>
          <a:p/>
        </p:txBody>
      </p:sp>
      <p:sp>
        <p:nvSpPr>
          <p:cNvPr id="7" name="Text 5"/>
          <p:cNvSpPr/>
          <p:nvPr/>
        </p:nvSpPr>
        <p:spPr>
          <a:xfrm>
            <a:off x="777240" y="2468880"/>
            <a:ext cx="3931920" cy="5486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peste 80% scădere</a:t>
            </a:r>
            <a:endParaRPr lang="en-US" sz="1700" dirty="0"/>
          </a:p>
        </p:txBody>
      </p:sp>
      <p:sp>
        <p:nvSpPr>
          <p:cNvPr id="8" name="Text 6"/>
          <p:cNvSpPr/>
          <p:nvPr/>
        </p:nvSpPr>
        <p:spPr>
          <a:xfrm>
            <a:off x="594360" y="3291840"/>
            <a:ext cx="5486400" cy="36576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Toată Finlanda</a:t>
            </a:r>
            <a:endParaRPr lang="en-US" sz="1700" dirty="0"/>
          </a:p>
        </p:txBody>
      </p:sp>
      <p:sp>
        <p:nvSpPr>
          <p:cNvPr id="9" name="Shape 7"/>
          <p:cNvSpPr/>
          <p:nvPr/>
        </p:nvSpPr>
        <p:spPr>
          <a:xfrm>
            <a:off x="594360" y="3703320"/>
            <a:ext cx="4206240" cy="548640"/>
          </a:xfrm>
          <a:prstGeom prst="rect">
            <a:avLst/>
          </a:prstGeom>
          <a:solidFill>
            <a:srgbClr val="4A2D8C"/>
          </a:solidFill>
          <a:ln w="12700">
            <a:solidFill>
              <a:srgbClr val="4A2D8C"/>
            </a:solidFill>
            <a:prstDash val="solid"/>
          </a:ln>
        </p:spPr>
        <p:txBody>
          <a:bodyPr/>
          <a:p/>
        </p:txBody>
      </p:sp>
      <p:sp>
        <p:nvSpPr>
          <p:cNvPr id="10" name="Text 8"/>
          <p:cNvSpPr/>
          <p:nvPr/>
        </p:nvSpPr>
        <p:spPr>
          <a:xfrm>
            <a:off x="777240" y="3703320"/>
            <a:ext cx="3931920" cy="5486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peste 80% scădere</a:t>
            </a:r>
            <a:endParaRPr lang="en-US" sz="1700" dirty="0"/>
          </a:p>
        </p:txBody>
      </p:sp>
      <p:sp>
        <p:nvSpPr>
          <p:cNvPr id="11" name="Text 9"/>
          <p:cNvSpPr/>
          <p:nvPr/>
        </p:nvSpPr>
        <p:spPr>
          <a:xfrm>
            <a:off x="6492240" y="1600200"/>
            <a:ext cx="5074920" cy="23774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În primii cinci ani, proiectul a avut o regiune de comparație: Kuopio. Apoi a fost extins în toată Finlanda. Pe termen lung nu mai există o regiune neatinsă de proiect.</a:t>
            </a:r>
            <a:endParaRPr lang="en-US" sz="1800" dirty="0"/>
          </a:p>
        </p:txBody>
      </p:sp>
      <p:sp>
        <p:nvSpPr>
          <p:cNvPr id="12" name="Shape 10"/>
          <p:cNvSpPr/>
          <p:nvPr/>
        </p:nvSpPr>
        <p:spPr>
          <a:xfrm>
            <a:off x="6492240" y="4114800"/>
            <a:ext cx="5074920" cy="1600200"/>
          </a:xfrm>
          <a:prstGeom prst="roundRect">
            <a:avLst>
              <a:gd name="adj" fmla="val 5143"/>
            </a:avLst>
          </a:prstGeom>
          <a:solidFill>
            <a:srgbClr val="ECEAE4"/>
          </a:solidFill>
          <a:ln w="12700">
            <a:solidFill>
              <a:srgbClr val="ECEAE4"/>
            </a:solidFill>
            <a:prstDash val="solid"/>
          </a:ln>
        </p:spPr>
        <p:txBody>
          <a:bodyPr/>
          <a:p/>
        </p:txBody>
      </p:sp>
      <p:sp>
        <p:nvSpPr>
          <p:cNvPr id="13" name="Text 11"/>
          <p:cNvSpPr/>
          <p:nvPr/>
        </p:nvSpPr>
        <p:spPr>
          <a:xfrm>
            <a:off x="6720840" y="4114800"/>
            <a:ext cx="4663440" cy="1600200"/>
          </a:xfrm>
          <a:prstGeom prst="rect">
            <a:avLst/>
          </a:prstGeom>
          <a:noFill/>
          <a:ln/>
        </p:spPr>
        <p:txBody>
          <a:bodyPr wrap="square" lIns="0" tIns="0" rIns="0" bIns="0" rtlCol="0" anchor="ctr"/>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Cifra de 80% spune ce s-a întâmplat, nu cât se datorează proiectului.</a:t>
            </a:r>
            <a:endParaRPr lang="en-US" sz="1900" dirty="0"/>
          </a:p>
        </p:txBody>
      </p:sp>
      <p:sp>
        <p:nvSpPr>
          <p:cNvPr id="14" name="Text 12"/>
          <p:cNvSpPr/>
          <p:nvPr/>
        </p:nvSpPr>
        <p:spPr>
          <a:xfrm>
            <a:off x="594360" y="5120640"/>
            <a:ext cx="5669280" cy="457200"/>
          </a:xfrm>
          <a:prstGeom prst="rect">
            <a:avLst/>
          </a:prstGeom>
          <a:noFill/>
          <a:ln/>
        </p:spPr>
        <p:txBody>
          <a:bodyPr wrap="square" lIns="0" tIns="0" rIns="0" bIns="0" rtlCol="0" anchor="t"/>
          <a:lstStyle/>
          <a:p>
            <a:pPr indent="0" marL="0">
              <a:buNone/>
            </a:pPr>
            <a:r>
              <a:rPr lang="en-US" sz="1500" i="1" dirty="0">
                <a:solidFill>
                  <a:srgbClr val="0E7C6B"/>
                </a:solidFill>
                <a:latin typeface="Palatino Linotype" pitchFamily="34" charset="0"/>
                <a:ea typeface="Palatino Linotype" pitchFamily="34" charset="-122"/>
                <a:cs typeface="Palatino Linotype" pitchFamily="34" charset="-120"/>
              </a:rPr>
              <a:t>„După” și „din cauza”: ședințele a patra și a cincea.</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Promovarea sănătății</a:t>
            </a:r>
            <a:endParaRPr lang="en-US" sz="3400" dirty="0"/>
          </a:p>
        </p:txBody>
      </p:sp>
      <p:sp>
        <p:nvSpPr>
          <p:cNvPr id="4" name="Shape 2"/>
          <p:cNvSpPr/>
          <p:nvPr/>
        </p:nvSpPr>
        <p:spPr>
          <a:xfrm>
            <a:off x="594360" y="1554480"/>
            <a:ext cx="10972800" cy="1234440"/>
          </a:xfrm>
          <a:prstGeom prst="roundRect">
            <a:avLst>
              <a:gd name="adj" fmla="val 6667"/>
            </a:avLst>
          </a:prstGeom>
          <a:solidFill>
            <a:srgbClr val="ECEAE4"/>
          </a:solidFill>
          <a:ln w="12700">
            <a:solidFill>
              <a:srgbClr val="ECEAE4"/>
            </a:solidFill>
            <a:prstDash val="solid"/>
          </a:ln>
        </p:spPr>
        <p:txBody>
          <a:bodyPr/>
          <a:p/>
        </p:txBody>
      </p:sp>
      <p:sp>
        <p:nvSpPr>
          <p:cNvPr id="5" name="Text 3"/>
          <p:cNvSpPr/>
          <p:nvPr/>
        </p:nvSpPr>
        <p:spPr>
          <a:xfrm>
            <a:off x="868680" y="1554480"/>
            <a:ext cx="10424160" cy="1234440"/>
          </a:xfrm>
          <a:prstGeom prst="rect">
            <a:avLst/>
          </a:prstGeom>
          <a:noFill/>
          <a:ln/>
        </p:spPr>
        <p:txBody>
          <a:bodyPr wrap="square" lIns="0" tIns="0" rIns="0" bIns="0" rtlCol="0" anchor="ctr"/>
          <a:lstStyle/>
          <a:p>
            <a:pPr indent="0" marL="0">
              <a:buNone/>
            </a:pPr>
            <a:r>
              <a:rPr lang="en-US" sz="2700" b="1" dirty="0">
                <a:solidFill>
                  <a:srgbClr val="0E7C6B"/>
                </a:solidFill>
                <a:latin typeface="Palatino Linotype" pitchFamily="34" charset="0"/>
                <a:ea typeface="Palatino Linotype" pitchFamily="34" charset="-122"/>
                <a:cs typeface="Palatino Linotype" pitchFamily="34" charset="-120"/>
              </a:rPr>
              <a:t>„Facem astfel încât alegerea sănătoasă să fie cea ușoară.”</a:t>
            </a:r>
            <a:endParaRPr lang="en-US" sz="2700" dirty="0"/>
          </a:p>
        </p:txBody>
      </p:sp>
      <p:sp>
        <p:nvSpPr>
          <p:cNvPr id="6" name="Shape 4"/>
          <p:cNvSpPr/>
          <p:nvPr/>
        </p:nvSpPr>
        <p:spPr>
          <a:xfrm>
            <a:off x="594360" y="3017520"/>
            <a:ext cx="5394960" cy="2057400"/>
          </a:xfrm>
          <a:prstGeom prst="roundRect">
            <a:avLst>
              <a:gd name="adj" fmla="val 4000"/>
            </a:avLst>
          </a:prstGeom>
          <a:solidFill>
            <a:srgbClr val="F9F8F5"/>
          </a:solidFill>
          <a:ln w="12700">
            <a:solidFill>
              <a:srgbClr val="F9F8F5"/>
            </a:solidFill>
            <a:prstDash val="solid"/>
          </a:ln>
        </p:spPr>
        <p:txBody>
          <a:bodyPr/>
          <a:p/>
        </p:txBody>
      </p:sp>
      <p:sp>
        <p:nvSpPr>
          <p:cNvPr id="7" name="Text 5"/>
          <p:cNvSpPr/>
          <p:nvPr/>
        </p:nvSpPr>
        <p:spPr>
          <a:xfrm>
            <a:off x="868680" y="3154680"/>
            <a:ext cx="4846320" cy="36576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OMS, glosarul din 2021</a:t>
            </a:r>
            <a:endParaRPr lang="en-US" sz="1500" dirty="0"/>
          </a:p>
        </p:txBody>
      </p:sp>
      <p:sp>
        <p:nvSpPr>
          <p:cNvPr id="8" name="Text 6"/>
          <p:cNvSpPr/>
          <p:nvPr/>
        </p:nvSpPr>
        <p:spPr>
          <a:xfrm>
            <a:off x="868680" y="3566160"/>
            <a:ext cx="484632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Procesul prin care oamenii devin capabili să își sporească controlul asupra sănătății lor și să și-o îmbunătățească.</a:t>
            </a:r>
            <a:endParaRPr lang="en-US" sz="1600" dirty="0"/>
          </a:p>
        </p:txBody>
      </p:sp>
      <p:sp>
        <p:nvSpPr>
          <p:cNvPr id="9" name="Shape 7"/>
          <p:cNvSpPr/>
          <p:nvPr/>
        </p:nvSpPr>
        <p:spPr>
          <a:xfrm>
            <a:off x="6172200" y="3017520"/>
            <a:ext cx="5394960" cy="2057400"/>
          </a:xfrm>
          <a:prstGeom prst="roundRect">
            <a:avLst>
              <a:gd name="adj" fmla="val 4000"/>
            </a:avLst>
          </a:prstGeom>
          <a:solidFill>
            <a:srgbClr val="F9F8F5"/>
          </a:solidFill>
          <a:ln w="12700">
            <a:solidFill>
              <a:srgbClr val="F9F8F5"/>
            </a:solidFill>
            <a:prstDash val="solid"/>
          </a:ln>
        </p:spPr>
        <p:txBody>
          <a:bodyPr/>
          <a:p/>
        </p:txBody>
      </p:sp>
      <p:sp>
        <p:nvSpPr>
          <p:cNvPr id="10" name="Text 8"/>
          <p:cNvSpPr/>
          <p:nvPr/>
        </p:nvSpPr>
        <p:spPr>
          <a:xfrm>
            <a:off x="6446520" y="3154680"/>
            <a:ext cx="4846320" cy="36576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Legea nr. 95/2006</a:t>
            </a:r>
            <a:endParaRPr lang="en-US" sz="1500" dirty="0"/>
          </a:p>
        </p:txBody>
      </p:sp>
      <p:sp>
        <p:nvSpPr>
          <p:cNvPr id="11" name="Text 9"/>
          <p:cNvSpPr/>
          <p:nvPr/>
        </p:nvSpPr>
        <p:spPr>
          <a:xfrm>
            <a:off x="6446520" y="3566160"/>
            <a:ext cx="484632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„Procesul care oferă individului și colectivităților posibilitatea de a-și controla și îmbunătăți sănătatea”; scopul: mai puține inechități.</a:t>
            </a:r>
            <a:endParaRPr lang="en-US" sz="1600" dirty="0"/>
          </a:p>
        </p:txBody>
      </p:sp>
      <p:sp>
        <p:nvSpPr>
          <p:cNvPr id="12" name="Text 10"/>
          <p:cNvSpPr/>
          <p:nvPr/>
        </p:nvSpPr>
        <p:spPr>
          <a:xfrm>
            <a:off x="594360" y="5349240"/>
            <a:ext cx="10972800" cy="45720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Textul fondator: Carta de la Ottawa, noiembrie 1986.</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CARTA DE LA OTTAWA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Afișul sau taxa?</a:t>
            </a:r>
            <a:endParaRPr lang="en-US" sz="3400" dirty="0"/>
          </a:p>
        </p:txBody>
      </p:sp>
      <p:sp>
        <p:nvSpPr>
          <p:cNvPr id="6" name="Text 4"/>
          <p:cNvSpPr/>
          <p:nvPr/>
        </p:nvSpPr>
        <p:spPr>
          <a:xfrm>
            <a:off x="594360" y="1463040"/>
            <a:ext cx="6035040" cy="36576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Cinci arii de acțiune</a:t>
            </a:r>
            <a:endParaRPr lang="en-US" sz="1600" dirty="0"/>
          </a:p>
        </p:txBody>
      </p:sp>
      <p:sp>
        <p:nvSpPr>
          <p:cNvPr id="7" name="Shape 5"/>
          <p:cNvSpPr/>
          <p:nvPr/>
        </p:nvSpPr>
        <p:spPr>
          <a:xfrm>
            <a:off x="594360" y="1874520"/>
            <a:ext cx="6035040" cy="457200"/>
          </a:xfrm>
          <a:prstGeom prst="roundRect">
            <a:avLst>
              <a:gd name="adj" fmla="val 18000"/>
            </a:avLst>
          </a:prstGeom>
          <a:solidFill>
            <a:srgbClr val="1D1F2B"/>
          </a:solidFill>
          <a:ln w="12700">
            <a:solidFill>
              <a:srgbClr val="1D1F2B"/>
            </a:solidFill>
            <a:prstDash val="solid"/>
          </a:ln>
        </p:spPr>
        <p:txBody>
          <a:bodyPr/>
          <a:p/>
        </p:txBody>
      </p:sp>
      <p:sp>
        <p:nvSpPr>
          <p:cNvPr id="8" name="Text 6"/>
          <p:cNvSpPr/>
          <p:nvPr/>
        </p:nvSpPr>
        <p:spPr>
          <a:xfrm>
            <a:off x="822960" y="1874520"/>
            <a:ext cx="5669280" cy="4572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politici publice sănătoase</a:t>
            </a:r>
            <a:endParaRPr lang="en-US" sz="1600" dirty="0"/>
          </a:p>
        </p:txBody>
      </p:sp>
      <p:sp>
        <p:nvSpPr>
          <p:cNvPr id="9" name="Shape 7"/>
          <p:cNvSpPr/>
          <p:nvPr/>
        </p:nvSpPr>
        <p:spPr>
          <a:xfrm>
            <a:off x="594360" y="2404872"/>
            <a:ext cx="6035040" cy="457200"/>
          </a:xfrm>
          <a:prstGeom prst="roundRect">
            <a:avLst>
              <a:gd name="adj" fmla="val 18000"/>
            </a:avLst>
          </a:prstGeom>
          <a:solidFill>
            <a:srgbClr val="1D1F2B"/>
          </a:solidFill>
          <a:ln w="12700">
            <a:solidFill>
              <a:srgbClr val="1D1F2B"/>
            </a:solidFill>
            <a:prstDash val="solid"/>
          </a:ln>
        </p:spPr>
        <p:txBody>
          <a:bodyPr/>
          <a:p/>
        </p:txBody>
      </p:sp>
      <p:sp>
        <p:nvSpPr>
          <p:cNvPr id="10" name="Text 8"/>
          <p:cNvSpPr/>
          <p:nvPr/>
        </p:nvSpPr>
        <p:spPr>
          <a:xfrm>
            <a:off x="822960" y="2404872"/>
            <a:ext cx="5669280" cy="4572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medii favorabile sănătății</a:t>
            </a:r>
            <a:endParaRPr lang="en-US" sz="1600" dirty="0"/>
          </a:p>
        </p:txBody>
      </p:sp>
      <p:sp>
        <p:nvSpPr>
          <p:cNvPr id="11" name="Shape 9"/>
          <p:cNvSpPr/>
          <p:nvPr/>
        </p:nvSpPr>
        <p:spPr>
          <a:xfrm>
            <a:off x="594360" y="2935224"/>
            <a:ext cx="6035040" cy="457200"/>
          </a:xfrm>
          <a:prstGeom prst="roundRect">
            <a:avLst>
              <a:gd name="adj" fmla="val 18000"/>
            </a:avLst>
          </a:prstGeom>
          <a:solidFill>
            <a:srgbClr val="1D1F2B"/>
          </a:solidFill>
          <a:ln w="12700">
            <a:solidFill>
              <a:srgbClr val="1D1F2B"/>
            </a:solidFill>
            <a:prstDash val="solid"/>
          </a:ln>
        </p:spPr>
        <p:txBody>
          <a:bodyPr/>
          <a:p/>
        </p:txBody>
      </p:sp>
      <p:sp>
        <p:nvSpPr>
          <p:cNvPr id="12" name="Text 10"/>
          <p:cNvSpPr/>
          <p:nvPr/>
        </p:nvSpPr>
        <p:spPr>
          <a:xfrm>
            <a:off x="822960" y="2935224"/>
            <a:ext cx="5669280" cy="4572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acțiunea comunității</a:t>
            </a:r>
            <a:endParaRPr lang="en-US" sz="1600" dirty="0"/>
          </a:p>
        </p:txBody>
      </p:sp>
      <p:sp>
        <p:nvSpPr>
          <p:cNvPr id="13" name="Shape 11"/>
          <p:cNvSpPr/>
          <p:nvPr/>
        </p:nvSpPr>
        <p:spPr>
          <a:xfrm>
            <a:off x="594360" y="3465576"/>
            <a:ext cx="6035040" cy="457200"/>
          </a:xfrm>
          <a:prstGeom prst="roundRect">
            <a:avLst>
              <a:gd name="adj" fmla="val 18000"/>
            </a:avLst>
          </a:prstGeom>
          <a:solidFill>
            <a:srgbClr val="1D1F2B"/>
          </a:solidFill>
          <a:ln w="12700">
            <a:solidFill>
              <a:srgbClr val="1D1F2B"/>
            </a:solidFill>
            <a:prstDash val="solid"/>
          </a:ln>
        </p:spPr>
        <p:txBody>
          <a:bodyPr/>
          <a:p/>
        </p:txBody>
      </p:sp>
      <p:sp>
        <p:nvSpPr>
          <p:cNvPr id="14" name="Text 12"/>
          <p:cNvSpPr/>
          <p:nvPr/>
        </p:nvSpPr>
        <p:spPr>
          <a:xfrm>
            <a:off x="822960" y="3465576"/>
            <a:ext cx="5669280" cy="4572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deprinderile personale</a:t>
            </a:r>
            <a:endParaRPr lang="en-US" sz="1600" dirty="0"/>
          </a:p>
        </p:txBody>
      </p:sp>
      <p:sp>
        <p:nvSpPr>
          <p:cNvPr id="15" name="Shape 13"/>
          <p:cNvSpPr/>
          <p:nvPr/>
        </p:nvSpPr>
        <p:spPr>
          <a:xfrm>
            <a:off x="594360" y="3995928"/>
            <a:ext cx="6035040" cy="457200"/>
          </a:xfrm>
          <a:prstGeom prst="roundRect">
            <a:avLst>
              <a:gd name="adj" fmla="val 18000"/>
            </a:avLst>
          </a:prstGeom>
          <a:solidFill>
            <a:srgbClr val="1D1F2B"/>
          </a:solidFill>
          <a:ln w="12700">
            <a:solidFill>
              <a:srgbClr val="1D1F2B"/>
            </a:solidFill>
            <a:prstDash val="solid"/>
          </a:ln>
        </p:spPr>
        <p:txBody>
          <a:bodyPr/>
          <a:p/>
        </p:txBody>
      </p:sp>
      <p:sp>
        <p:nvSpPr>
          <p:cNvPr id="16" name="Text 14"/>
          <p:cNvSpPr/>
          <p:nvPr/>
        </p:nvSpPr>
        <p:spPr>
          <a:xfrm>
            <a:off x="822960" y="3995928"/>
            <a:ext cx="5669280" cy="4572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reorientarea serviciilor de sănătate</a:t>
            </a:r>
            <a:endParaRPr lang="en-US" sz="1600" dirty="0"/>
          </a:p>
        </p:txBody>
      </p:sp>
      <p:sp>
        <p:nvSpPr>
          <p:cNvPr id="17" name="Text 15"/>
          <p:cNvSpPr/>
          <p:nvPr/>
        </p:nvSpPr>
        <p:spPr>
          <a:xfrm>
            <a:off x="6995160" y="1463040"/>
            <a:ext cx="4572000" cy="36576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Trei strategii</a:t>
            </a:r>
            <a:endParaRPr lang="en-US" sz="1600" dirty="0"/>
          </a:p>
        </p:txBody>
      </p:sp>
      <p:sp>
        <p:nvSpPr>
          <p:cNvPr id="18" name="Shape 16"/>
          <p:cNvSpPr/>
          <p:nvPr/>
        </p:nvSpPr>
        <p:spPr>
          <a:xfrm>
            <a:off x="6995160" y="1920240"/>
            <a:ext cx="1417320" cy="329184"/>
          </a:xfrm>
          <a:prstGeom prst="roundRect">
            <a:avLst>
              <a:gd name="adj" fmla="val 50000"/>
            </a:avLst>
          </a:prstGeom>
          <a:solidFill>
            <a:srgbClr val="272A38"/>
          </a:solidFill>
          <a:ln w="12700">
            <a:solidFill>
              <a:srgbClr val="272A38"/>
            </a:solidFill>
            <a:prstDash val="solid"/>
          </a:ln>
        </p:spPr>
        <p:txBody>
          <a:bodyPr/>
          <a:p/>
        </p:txBody>
      </p:sp>
      <p:sp>
        <p:nvSpPr>
          <p:cNvPr id="19" name="Text 17"/>
          <p:cNvSpPr/>
          <p:nvPr/>
        </p:nvSpPr>
        <p:spPr>
          <a:xfrm>
            <a:off x="6995160" y="1920240"/>
            <a:ext cx="141732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 pleda</a:t>
            </a:r>
            <a:endParaRPr lang="en-US" sz="1400" dirty="0"/>
          </a:p>
        </p:txBody>
      </p:sp>
      <p:sp>
        <p:nvSpPr>
          <p:cNvPr id="20" name="Shape 18"/>
          <p:cNvSpPr/>
          <p:nvPr/>
        </p:nvSpPr>
        <p:spPr>
          <a:xfrm>
            <a:off x="8549640" y="1920240"/>
            <a:ext cx="1417320" cy="329184"/>
          </a:xfrm>
          <a:prstGeom prst="roundRect">
            <a:avLst>
              <a:gd name="adj" fmla="val 50000"/>
            </a:avLst>
          </a:prstGeom>
          <a:solidFill>
            <a:srgbClr val="272A38"/>
          </a:solidFill>
          <a:ln w="12700">
            <a:solidFill>
              <a:srgbClr val="272A38"/>
            </a:solidFill>
            <a:prstDash val="solid"/>
          </a:ln>
        </p:spPr>
        <p:txBody>
          <a:bodyPr/>
          <a:p/>
        </p:txBody>
      </p:sp>
      <p:sp>
        <p:nvSpPr>
          <p:cNvPr id="21" name="Text 19"/>
          <p:cNvSpPr/>
          <p:nvPr/>
        </p:nvSpPr>
        <p:spPr>
          <a:xfrm>
            <a:off x="8549640" y="1920240"/>
            <a:ext cx="141732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 abilita</a:t>
            </a:r>
            <a:endParaRPr lang="en-US" sz="1400" dirty="0"/>
          </a:p>
        </p:txBody>
      </p:sp>
      <p:sp>
        <p:nvSpPr>
          <p:cNvPr id="22" name="Shape 20"/>
          <p:cNvSpPr/>
          <p:nvPr/>
        </p:nvSpPr>
        <p:spPr>
          <a:xfrm>
            <a:off x="10104120" y="1920240"/>
            <a:ext cx="1417320" cy="329184"/>
          </a:xfrm>
          <a:prstGeom prst="roundRect">
            <a:avLst>
              <a:gd name="adj" fmla="val 50000"/>
            </a:avLst>
          </a:prstGeom>
          <a:solidFill>
            <a:srgbClr val="272A38"/>
          </a:solidFill>
          <a:ln w="12700">
            <a:solidFill>
              <a:srgbClr val="272A38"/>
            </a:solidFill>
            <a:prstDash val="solid"/>
          </a:ln>
        </p:spPr>
        <p:txBody>
          <a:bodyPr/>
          <a:p/>
        </p:txBody>
      </p:sp>
      <p:sp>
        <p:nvSpPr>
          <p:cNvPr id="23" name="Text 21"/>
          <p:cNvSpPr/>
          <p:nvPr/>
        </p:nvSpPr>
        <p:spPr>
          <a:xfrm>
            <a:off x="10104120" y="1920240"/>
            <a:ext cx="141732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 media</a:t>
            </a:r>
            <a:endParaRPr lang="en-US" sz="1400" dirty="0"/>
          </a:p>
        </p:txBody>
      </p:sp>
      <p:sp>
        <p:nvSpPr>
          <p:cNvPr id="24" name="Shape 22"/>
          <p:cNvSpPr/>
          <p:nvPr/>
        </p:nvSpPr>
        <p:spPr>
          <a:xfrm>
            <a:off x="6995160" y="2514600"/>
            <a:ext cx="2194560" cy="1691640"/>
          </a:xfrm>
          <a:prstGeom prst="roundRect">
            <a:avLst>
              <a:gd name="adj" fmla="val 4865"/>
            </a:avLst>
          </a:prstGeom>
          <a:solidFill>
            <a:srgbClr val="FBF8F1"/>
          </a:solidFill>
          <a:ln w="12700">
            <a:solidFill>
              <a:srgbClr val="FBF8F1"/>
            </a:solidFill>
            <a:prstDash val="solid"/>
          </a:ln>
        </p:spPr>
        <p:txBody>
          <a:bodyPr/>
          <a:p/>
        </p:txBody>
      </p:sp>
      <p:sp>
        <p:nvSpPr>
          <p:cNvPr id="25" name="Text 23"/>
          <p:cNvSpPr/>
          <p:nvPr/>
        </p:nvSpPr>
        <p:spPr>
          <a:xfrm>
            <a:off x="7086600" y="2514600"/>
            <a:ext cx="2011680" cy="169164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AFIȘ</a:t>
            </a:r>
            <a:endParaRPr lang="en-US" sz="1500" dirty="0"/>
          </a:p>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„Nu mai mâncați dulciuri”</a:t>
            </a:r>
            <a:endParaRPr lang="en-US" sz="1500" dirty="0"/>
          </a:p>
        </p:txBody>
      </p:sp>
      <p:sp>
        <p:nvSpPr>
          <p:cNvPr id="26" name="Shape 24"/>
          <p:cNvSpPr/>
          <p:nvPr/>
        </p:nvSpPr>
        <p:spPr>
          <a:xfrm>
            <a:off x="9372600" y="2514600"/>
            <a:ext cx="2194560" cy="1691640"/>
          </a:xfrm>
          <a:prstGeom prst="roundRect">
            <a:avLst>
              <a:gd name="adj" fmla="val 4865"/>
            </a:avLst>
          </a:prstGeom>
          <a:solidFill>
            <a:srgbClr val="FBF8F1"/>
          </a:solidFill>
          <a:ln w="12700">
            <a:solidFill>
              <a:srgbClr val="FBF8F1"/>
            </a:solidFill>
            <a:prstDash val="solid"/>
          </a:ln>
        </p:spPr>
        <p:txBody>
          <a:bodyPr/>
          <a:p/>
        </p:txBody>
      </p:sp>
      <p:sp>
        <p:nvSpPr>
          <p:cNvPr id="27" name="Text 25"/>
          <p:cNvSpPr/>
          <p:nvPr/>
        </p:nvSpPr>
        <p:spPr>
          <a:xfrm>
            <a:off x="9464040" y="2514600"/>
            <a:ext cx="2011680" cy="169164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TAXĂ</a:t>
            </a:r>
            <a:endParaRPr lang="en-US" sz="1500" dirty="0"/>
          </a:p>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pe băuturile cu zahăr</a:t>
            </a:r>
            <a:endParaRPr lang="en-US" sz="1500" dirty="0"/>
          </a:p>
        </p:txBody>
      </p:sp>
      <p:sp>
        <p:nvSpPr>
          <p:cNvPr id="28" name="Text 26"/>
          <p:cNvSpPr/>
          <p:nvPr/>
        </p:nvSpPr>
        <p:spPr>
          <a:xfrm>
            <a:off x="6995160" y="4434840"/>
            <a:ext cx="4572000" cy="82296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În ce arie de acțiune intră fiecare?</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EXEMPLU REAL · MEXIC</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Taxa pe băuturile cu zahăr</a:t>
            </a:r>
            <a:endParaRPr lang="en-US" sz="3200" dirty="0"/>
          </a:p>
        </p:txBody>
      </p:sp>
      <p:sp>
        <p:nvSpPr>
          <p:cNvPr id="4" name="Text 2"/>
          <p:cNvSpPr/>
          <p:nvPr/>
        </p:nvSpPr>
        <p:spPr>
          <a:xfrm>
            <a:off x="594360" y="1508760"/>
            <a:ext cx="5669280" cy="36576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Cumpărăturile de băuturi taxate, față de tendința din 2012–2013</a:t>
            </a:r>
            <a:endParaRPr lang="en-US" sz="1400" dirty="0"/>
          </a:p>
        </p:txBody>
      </p:sp>
      <p:sp>
        <p:nvSpPr>
          <p:cNvPr id="5" name="Text 3"/>
          <p:cNvSpPr/>
          <p:nvPr/>
        </p:nvSpPr>
        <p:spPr>
          <a:xfrm>
            <a:off x="594360" y="2103120"/>
            <a:ext cx="822960" cy="73152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2014</a:t>
            </a:r>
            <a:endParaRPr lang="en-US" sz="2000" dirty="0"/>
          </a:p>
        </p:txBody>
      </p:sp>
      <p:sp>
        <p:nvSpPr>
          <p:cNvPr id="6" name="Shape 4"/>
          <p:cNvSpPr/>
          <p:nvPr/>
        </p:nvSpPr>
        <p:spPr>
          <a:xfrm>
            <a:off x="1463040" y="2194560"/>
            <a:ext cx="1508760" cy="548640"/>
          </a:xfrm>
          <a:prstGeom prst="rect">
            <a:avLst/>
          </a:prstGeom>
          <a:solidFill>
            <a:srgbClr val="B02532"/>
          </a:solidFill>
          <a:ln w="12700">
            <a:solidFill>
              <a:srgbClr val="B02532"/>
            </a:solidFill>
            <a:prstDash val="solid"/>
          </a:ln>
        </p:spPr>
        <p:txBody>
          <a:bodyPr/>
          <a:p/>
        </p:txBody>
      </p:sp>
      <p:sp>
        <p:nvSpPr>
          <p:cNvPr id="7" name="Text 5"/>
          <p:cNvSpPr/>
          <p:nvPr/>
        </p:nvSpPr>
        <p:spPr>
          <a:xfrm>
            <a:off x="3063240" y="2103120"/>
            <a:ext cx="2011680" cy="731520"/>
          </a:xfrm>
          <a:prstGeom prst="rect">
            <a:avLst/>
          </a:prstGeom>
          <a:noFill/>
          <a:ln/>
        </p:spPr>
        <p:txBody>
          <a:bodyPr wrap="square" lIns="0" tIns="0" rIns="0" bIns="0" rtlCol="0" anchor="ctr"/>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5,5% mai puțin</a:t>
            </a:r>
            <a:endParaRPr lang="en-US" sz="1900" dirty="0"/>
          </a:p>
        </p:txBody>
      </p:sp>
      <p:sp>
        <p:nvSpPr>
          <p:cNvPr id="8" name="Text 6"/>
          <p:cNvSpPr/>
          <p:nvPr/>
        </p:nvSpPr>
        <p:spPr>
          <a:xfrm>
            <a:off x="594360" y="3246120"/>
            <a:ext cx="822960" cy="73152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2015</a:t>
            </a:r>
            <a:endParaRPr lang="en-US" sz="2000" dirty="0"/>
          </a:p>
        </p:txBody>
      </p:sp>
      <p:sp>
        <p:nvSpPr>
          <p:cNvPr id="9" name="Shape 7"/>
          <p:cNvSpPr/>
          <p:nvPr/>
        </p:nvSpPr>
        <p:spPr>
          <a:xfrm>
            <a:off x="1463040" y="3337560"/>
            <a:ext cx="2660904" cy="548640"/>
          </a:xfrm>
          <a:prstGeom prst="rect">
            <a:avLst/>
          </a:prstGeom>
          <a:solidFill>
            <a:srgbClr val="B02532"/>
          </a:solidFill>
          <a:ln w="12700">
            <a:solidFill>
              <a:srgbClr val="B02532"/>
            </a:solidFill>
            <a:prstDash val="solid"/>
          </a:ln>
        </p:spPr>
        <p:txBody>
          <a:bodyPr/>
          <a:p/>
        </p:txBody>
      </p:sp>
      <p:sp>
        <p:nvSpPr>
          <p:cNvPr id="10" name="Text 8"/>
          <p:cNvSpPr/>
          <p:nvPr/>
        </p:nvSpPr>
        <p:spPr>
          <a:xfrm>
            <a:off x="4215384" y="3246120"/>
            <a:ext cx="2011680" cy="731520"/>
          </a:xfrm>
          <a:prstGeom prst="rect">
            <a:avLst/>
          </a:prstGeom>
          <a:noFill/>
          <a:ln/>
        </p:spPr>
        <p:txBody>
          <a:bodyPr wrap="square" lIns="0" tIns="0" rIns="0" bIns="0" rtlCol="0" anchor="ctr"/>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9,7% mai puțin</a:t>
            </a:r>
            <a:endParaRPr lang="en-US" sz="1900" dirty="0"/>
          </a:p>
        </p:txBody>
      </p:sp>
      <p:sp>
        <p:nvSpPr>
          <p:cNvPr id="11" name="Text 9"/>
          <p:cNvSpPr/>
          <p:nvPr/>
        </p:nvSpPr>
        <p:spPr>
          <a:xfrm>
            <a:off x="594360" y="4434840"/>
            <a:ext cx="576072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Gospodării din 53 de orașe. Scăderile cele mai mari: în grupul socioeconomic cel mai de jos.</a:t>
            </a:r>
            <a:endParaRPr lang="en-US" sz="1600" dirty="0"/>
          </a:p>
        </p:txBody>
      </p:sp>
      <p:sp>
        <p:nvSpPr>
          <p:cNvPr id="12" name="Shape 10"/>
          <p:cNvSpPr/>
          <p:nvPr/>
        </p:nvSpPr>
        <p:spPr>
          <a:xfrm>
            <a:off x="6675120" y="1600200"/>
            <a:ext cx="4892040" cy="4114800"/>
          </a:xfrm>
          <a:prstGeom prst="roundRect">
            <a:avLst>
              <a:gd name="adj" fmla="val 2000"/>
            </a:avLst>
          </a:prstGeom>
          <a:solidFill>
            <a:srgbClr val="ECEAE4"/>
          </a:solidFill>
          <a:ln w="12700">
            <a:solidFill>
              <a:srgbClr val="ECEAE4"/>
            </a:solidFill>
            <a:prstDash val="solid"/>
          </a:ln>
        </p:spPr>
        <p:txBody>
          <a:bodyPr/>
          <a:p/>
        </p:txBody>
      </p:sp>
      <p:sp>
        <p:nvSpPr>
          <p:cNvPr id="13" name="Text 11"/>
          <p:cNvSpPr/>
          <p:nvPr/>
        </p:nvSpPr>
        <p:spPr>
          <a:xfrm>
            <a:off x="6949440" y="1783080"/>
            <a:ext cx="4389120" cy="36576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Ce măsoară studiul</a:t>
            </a:r>
            <a:endParaRPr lang="en-US" sz="1700" dirty="0"/>
          </a:p>
        </p:txBody>
      </p:sp>
      <p:sp>
        <p:nvSpPr>
          <p:cNvPr id="14" name="Text 12"/>
          <p:cNvSpPr/>
          <p:nvPr/>
        </p:nvSpPr>
        <p:spPr>
          <a:xfrm>
            <a:off x="6949440" y="2194560"/>
            <a:ext cx="438912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Cumpărături. O politică publică schimbă cumpărăturile unei țări întregi fără ca cineva să fie convins individual.</a:t>
            </a:r>
            <a:endParaRPr lang="en-US" sz="1600" dirty="0"/>
          </a:p>
        </p:txBody>
      </p:sp>
      <p:sp>
        <p:nvSpPr>
          <p:cNvPr id="15" name="Text 13"/>
          <p:cNvSpPr/>
          <p:nvPr/>
        </p:nvSpPr>
        <p:spPr>
          <a:xfrm>
            <a:off x="6949440" y="3657600"/>
            <a:ext cx="4389120" cy="36576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Ce nu măsoară</a:t>
            </a:r>
            <a:endParaRPr lang="en-US" sz="1700" dirty="0"/>
          </a:p>
        </p:txBody>
      </p:sp>
      <p:sp>
        <p:nvSpPr>
          <p:cNvPr id="16" name="Text 14"/>
          <p:cNvSpPr/>
          <p:nvPr/>
        </p:nvSpPr>
        <p:spPr>
          <a:xfrm>
            <a:off x="6949440" y="4069080"/>
            <a:ext cx="4389120" cy="12801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Kilograme sau boli. Dacă taxa a redus obezitatea este o altă întrebare, cu alte date.</a:t>
            </a:r>
            <a:endParaRPr lang="en-US" sz="1600" dirty="0"/>
          </a:p>
        </p:txBody>
      </p:sp>
      <p:sp>
        <p:nvSpPr>
          <p:cNvPr id="17" name="Text 15"/>
          <p:cNvSpPr/>
          <p:nvPr/>
        </p:nvSpPr>
        <p:spPr>
          <a:xfrm>
            <a:off x="594360" y="5486400"/>
            <a:ext cx="5852160" cy="548640"/>
          </a:xfrm>
          <a:prstGeom prst="rect">
            <a:avLst/>
          </a:prstGeom>
          <a:noFill/>
          <a:ln/>
        </p:spPr>
        <p:txBody>
          <a:bodyPr wrap="square" lIns="0" tIns="0" rIns="0" bIns="0" rtlCol="0" anchor="t"/>
          <a:lstStyle/>
          <a:p>
            <a:pPr indent="0" marL="0">
              <a:buNone/>
            </a:pPr>
            <a:r>
              <a:rPr lang="en-US" sz="1500" i="1" dirty="0">
                <a:solidFill>
                  <a:srgbClr val="0E7C6B"/>
                </a:solidFill>
                <a:latin typeface="Palatino Linotype" pitchFamily="34" charset="0"/>
                <a:ea typeface="Palatino Linotype" pitchFamily="34" charset="-122"/>
                <a:cs typeface="Palatino Linotype" pitchFamily="34" charset="-120"/>
              </a:rPr>
              <a:t>Taxa ține de politicile publice. Taxele de sănătate revin în ședința a șasea.</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PENTRU CINE?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Echitatea: diferențele care se pot evita</a:t>
            </a:r>
            <a:endParaRPr lang="en-US" sz="3000" dirty="0"/>
          </a:p>
        </p:txBody>
      </p:sp>
      <p:sp>
        <p:nvSpPr>
          <p:cNvPr id="4" name="Shape 2"/>
          <p:cNvSpPr/>
          <p:nvPr/>
        </p:nvSpPr>
        <p:spPr>
          <a:xfrm>
            <a:off x="594360" y="1600200"/>
            <a:ext cx="5486400" cy="4206240"/>
          </a:xfrm>
          <a:prstGeom prst="roundRect">
            <a:avLst>
              <a:gd name="adj" fmla="val 1957"/>
            </a:avLst>
          </a:prstGeom>
          <a:solidFill>
            <a:srgbClr val="1D1F2B"/>
          </a:solidFill>
          <a:ln w="12700">
            <a:solidFill>
              <a:srgbClr val="1D1F2B"/>
            </a:solidFill>
            <a:prstDash val="solid"/>
          </a:ln>
        </p:spPr>
        <p:txBody>
          <a:bodyPr/>
          <a:p/>
        </p:txBody>
      </p:sp>
      <p:sp>
        <p:nvSpPr>
          <p:cNvPr id="5" name="Text 3"/>
          <p:cNvSpPr/>
          <p:nvPr/>
        </p:nvSpPr>
        <p:spPr>
          <a:xfrm>
            <a:off x="868680" y="1737360"/>
            <a:ext cx="4937760" cy="11887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OMS: absența diferențelor nedrepte, evitabile sau remediabile de sănătate între grupuri.</a:t>
            </a:r>
            <a:endParaRPr lang="en-US" sz="1700" dirty="0"/>
          </a:p>
        </p:txBody>
      </p:sp>
      <p:sp>
        <p:nvSpPr>
          <p:cNvPr id="6" name="Text 4"/>
          <p:cNvSpPr/>
          <p:nvPr/>
        </p:nvSpPr>
        <p:spPr>
          <a:xfrm>
            <a:off x="868680" y="3017520"/>
            <a:ext cx="4937760" cy="256032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O diferență: </a:t>
            </a:r>
            <a:pPr indent="0" marL="0">
              <a:buNone/>
            </a:pPr>
            <a:r>
              <a:rPr lang="en-US" sz="1700" dirty="0">
                <a:solidFill>
                  <a:srgbClr val="FFFFFF"/>
                </a:solidFill>
                <a:latin typeface="Palatino Linotype" pitchFamily="34" charset="0"/>
                <a:ea typeface="Palatino Linotype" pitchFamily="34" charset="-122"/>
                <a:cs typeface="Palatino Linotype" pitchFamily="34" charset="-120"/>
              </a:rPr>
              <a:t>bătrânii sunt mai bolnavi decât tinerii.</a:t>
            </a:r>
            <a:endParaRPr lang="en-US" sz="1700" dirty="0"/>
          </a:p>
          <a:p>
            <a:pPr indent="0" marL="0">
              <a:buNone/>
            </a:pPr>
            <a:r>
              <a:rPr lang="en-US" sz="800" dirty="0">
                <a:solidFill>
                  <a:srgbClr val="FFFFFF"/>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b="1" dirty="0">
                <a:solidFill>
                  <a:srgbClr val="FF4757"/>
                </a:solidFill>
                <a:latin typeface="Palatino Linotype" pitchFamily="34" charset="0"/>
                <a:ea typeface="Palatino Linotype" pitchFamily="34" charset="-122"/>
                <a:cs typeface="Palatino Linotype" pitchFamily="34" charset="-120"/>
              </a:rPr>
              <a:t>O nedreptate: </a:t>
            </a:r>
            <a:pPr indent="0" marL="0">
              <a:buNone/>
            </a:pPr>
            <a:r>
              <a:rPr lang="en-US" sz="1700" dirty="0">
                <a:solidFill>
                  <a:srgbClr val="FFFFFF"/>
                </a:solidFill>
                <a:latin typeface="Palatino Linotype" pitchFamily="34" charset="0"/>
                <a:ea typeface="Palatino Linotype" pitchFamily="34" charset="-122"/>
                <a:cs typeface="Palatino Linotype" pitchFamily="34" charset="-120"/>
              </a:rPr>
              <a:t>doi oameni de aceeași vârstă trăiesc ani diferiți doar pentru că s-au născut în județe diferite.</a:t>
            </a:r>
            <a:endParaRPr lang="en-US" sz="1700" dirty="0"/>
          </a:p>
        </p:txBody>
      </p:sp>
      <p:sp>
        <p:nvSpPr>
          <p:cNvPr id="7" name="Shape 5"/>
          <p:cNvSpPr/>
          <p:nvPr/>
        </p:nvSpPr>
        <p:spPr>
          <a:xfrm>
            <a:off x="6263640" y="1600200"/>
            <a:ext cx="5303520" cy="4206240"/>
          </a:xfrm>
          <a:prstGeom prst="roundRect">
            <a:avLst>
              <a:gd name="adj" fmla="val 1957"/>
            </a:avLst>
          </a:prstGeom>
          <a:solidFill>
            <a:srgbClr val="272A38"/>
          </a:solidFill>
          <a:ln w="12700">
            <a:solidFill>
              <a:srgbClr val="272A38"/>
            </a:solidFill>
            <a:prstDash val="solid"/>
          </a:ln>
        </p:spPr>
        <p:txBody>
          <a:bodyPr/>
          <a:p/>
        </p:txBody>
      </p:sp>
      <p:sp>
        <p:nvSpPr>
          <p:cNvPr id="8" name="Text 6"/>
          <p:cNvSpPr/>
          <p:nvPr/>
        </p:nvSpPr>
        <p:spPr>
          <a:xfrm>
            <a:off x="6537960" y="1737360"/>
            <a:ext cx="4754880" cy="41148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Sănătatea în toate politicile</a:t>
            </a:r>
            <a:endParaRPr lang="en-US" sz="1800" dirty="0"/>
          </a:p>
        </p:txBody>
      </p:sp>
      <p:sp>
        <p:nvSpPr>
          <p:cNvPr id="9" name="Text 7"/>
          <p:cNvSpPr/>
          <p:nvPr/>
        </p:nvSpPr>
        <p:spPr>
          <a:xfrm>
            <a:off x="6537960" y="2240280"/>
            <a:ext cx="4754880" cy="17373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Declarația de la Helsinki, 2013: politicile din toate sectoarele țin cont de consecințele lor asupra sănătății, caută sinergii și evită efectele nocive.</a:t>
            </a:r>
            <a:endParaRPr lang="en-US" sz="1600" dirty="0"/>
          </a:p>
        </p:txBody>
      </p:sp>
      <p:sp>
        <p:nvSpPr>
          <p:cNvPr id="10" name="Text 8"/>
          <p:cNvSpPr/>
          <p:nvPr/>
        </p:nvSpPr>
        <p:spPr>
          <a:xfrm>
            <a:off x="6537960" y="4114800"/>
            <a:ext cx="4754880" cy="1188720"/>
          </a:xfrm>
          <a:prstGeom prst="rect">
            <a:avLst/>
          </a:prstGeom>
          <a:noFill/>
          <a:ln/>
        </p:spPr>
        <p:txBody>
          <a:bodyPr wrap="square" lIns="0" tIns="0" rIns="0" bIns="0" rtlCol="0" anchor="t"/>
          <a:lstStyle/>
          <a:p>
            <a:pPr indent="0" marL="0">
              <a:buNone/>
            </a:pPr>
            <a:r>
              <a:rPr lang="en-US" sz="1600" i="1" dirty="0">
                <a:solidFill>
                  <a:srgbClr val="E6E8EF"/>
                </a:solidFill>
                <a:latin typeface="Palatino Linotype" pitchFamily="34" charset="0"/>
                <a:ea typeface="Palatino Linotype" pitchFamily="34" charset="-122"/>
                <a:cs typeface="Palatino Linotype" pitchFamily="34" charset="-120"/>
              </a:rPr>
              <a:t>Un drum nou, un program școlar, o regulă de urbanism: toate sunt decizii de sănătate.</a:t>
            </a:r>
            <a:endParaRPr lang="en-US" sz="1600" dirty="0"/>
          </a:p>
        </p:txBody>
      </p:sp>
      <p:sp>
        <p:nvSpPr>
          <p:cNvPr id="11" name="Text 9"/>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7E849A"/>
                </a:solidFill>
                <a:latin typeface="Palatino Linotype" pitchFamily="34" charset="0"/>
                <a:ea typeface="Palatino Linotype" pitchFamily="34" charset="-122"/>
                <a:cs typeface="Palatino Linotype" pitchFamily="34" charset="-120"/>
              </a:rPr>
              <a:t>De unde vin diferențele și cum se măsoară: ședința a șaptea.</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OMS, 2022 · VACCINAREA OBLIGATORIE ÎMPOTRIVA COVID-19</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Puterea de a impune cere reguli</a:t>
            </a:r>
            <a:endParaRPr lang="en-US" sz="3200" dirty="0"/>
          </a:p>
        </p:txBody>
      </p:sp>
      <p:sp>
        <p:nvSpPr>
          <p:cNvPr id="4" name="Text 2"/>
          <p:cNvSpPr/>
          <p:nvPr/>
        </p:nvSpPr>
        <p:spPr>
          <a:xfrm>
            <a:off x="594360" y="1463040"/>
            <a:ext cx="10972800" cy="5486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Sănătatea publică poate impune interdicții, obligații, izolări. Când este justificată o obligație?</a:t>
            </a:r>
            <a:endParaRPr lang="en-US" sz="1800" dirty="0"/>
          </a:p>
        </p:txBody>
      </p:sp>
      <p:sp>
        <p:nvSpPr>
          <p:cNvPr id="5" name="Shape 3"/>
          <p:cNvSpPr/>
          <p:nvPr/>
        </p:nvSpPr>
        <p:spPr>
          <a:xfrm>
            <a:off x="594360" y="2240280"/>
            <a:ext cx="5394960" cy="960120"/>
          </a:xfrm>
          <a:prstGeom prst="roundRect">
            <a:avLst>
              <a:gd name="adj" fmla="val 8571"/>
            </a:avLst>
          </a:prstGeom>
          <a:solidFill>
            <a:srgbClr val="ECEAE4"/>
          </a:solidFill>
          <a:ln w="12700">
            <a:solidFill>
              <a:srgbClr val="ECEAE4"/>
            </a:solidFill>
            <a:prstDash val="solid"/>
          </a:ln>
        </p:spPr>
        <p:txBody>
          <a:bodyPr/>
          <a:p/>
        </p:txBody>
      </p:sp>
      <p:sp>
        <p:nvSpPr>
          <p:cNvPr id="6" name="Shape 4"/>
          <p:cNvSpPr/>
          <p:nvPr/>
        </p:nvSpPr>
        <p:spPr>
          <a:xfrm>
            <a:off x="594360" y="2240280"/>
            <a:ext cx="82296" cy="960120"/>
          </a:xfrm>
          <a:prstGeom prst="rect">
            <a:avLst/>
          </a:prstGeom>
          <a:solidFill>
            <a:srgbClr val="4A2D8C"/>
          </a:solidFill>
          <a:ln w="12700">
            <a:solidFill>
              <a:srgbClr val="4A2D8C"/>
            </a:solidFill>
            <a:prstDash val="solid"/>
          </a:ln>
        </p:spPr>
        <p:txBody>
          <a:bodyPr/>
          <a:p/>
        </p:txBody>
      </p:sp>
      <p:sp>
        <p:nvSpPr>
          <p:cNvPr id="7" name="Text 5"/>
          <p:cNvSpPr/>
          <p:nvPr/>
        </p:nvSpPr>
        <p:spPr>
          <a:xfrm>
            <a:off x="914400" y="2240280"/>
            <a:ext cx="4937760" cy="9601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măsura este necesară și proporțională cu un scop important</a:t>
            </a:r>
            <a:endParaRPr lang="en-US" sz="1700" dirty="0"/>
          </a:p>
        </p:txBody>
      </p:sp>
      <p:sp>
        <p:nvSpPr>
          <p:cNvPr id="8" name="Shape 6"/>
          <p:cNvSpPr/>
          <p:nvPr/>
        </p:nvSpPr>
        <p:spPr>
          <a:xfrm>
            <a:off x="6172200" y="2240280"/>
            <a:ext cx="5394960" cy="960120"/>
          </a:xfrm>
          <a:prstGeom prst="roundRect">
            <a:avLst>
              <a:gd name="adj" fmla="val 8571"/>
            </a:avLst>
          </a:prstGeom>
          <a:solidFill>
            <a:srgbClr val="F9F8F5"/>
          </a:solidFill>
          <a:ln w="12700">
            <a:solidFill>
              <a:srgbClr val="F9F8F5"/>
            </a:solidFill>
            <a:prstDash val="solid"/>
          </a:ln>
        </p:spPr>
        <p:txBody>
          <a:bodyPr/>
          <a:p/>
        </p:txBody>
      </p:sp>
      <p:sp>
        <p:nvSpPr>
          <p:cNvPr id="9" name="Shape 7"/>
          <p:cNvSpPr/>
          <p:nvPr/>
        </p:nvSpPr>
        <p:spPr>
          <a:xfrm>
            <a:off x="6172200" y="2240280"/>
            <a:ext cx="82296" cy="960120"/>
          </a:xfrm>
          <a:prstGeom prst="rect">
            <a:avLst/>
          </a:prstGeom>
          <a:solidFill>
            <a:srgbClr val="4A2D8C"/>
          </a:solidFill>
          <a:ln w="12700">
            <a:solidFill>
              <a:srgbClr val="4A2D8C"/>
            </a:solidFill>
            <a:prstDash val="solid"/>
          </a:ln>
        </p:spPr>
        <p:txBody>
          <a:bodyPr/>
          <a:p/>
        </p:txBody>
      </p:sp>
      <p:sp>
        <p:nvSpPr>
          <p:cNvPr id="10" name="Text 8"/>
          <p:cNvSpPr/>
          <p:nvPr/>
        </p:nvSpPr>
        <p:spPr>
          <a:xfrm>
            <a:off x="6492240" y="2240280"/>
            <a:ext cx="4937760" cy="9601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dovezi suficiente că vaccinul este sigur</a:t>
            </a:r>
            <a:endParaRPr lang="en-US" sz="1700" dirty="0"/>
          </a:p>
        </p:txBody>
      </p:sp>
      <p:sp>
        <p:nvSpPr>
          <p:cNvPr id="11" name="Shape 9"/>
          <p:cNvSpPr/>
          <p:nvPr/>
        </p:nvSpPr>
        <p:spPr>
          <a:xfrm>
            <a:off x="594360" y="3383280"/>
            <a:ext cx="5394960" cy="960120"/>
          </a:xfrm>
          <a:prstGeom prst="roundRect">
            <a:avLst>
              <a:gd name="adj" fmla="val 8571"/>
            </a:avLst>
          </a:prstGeom>
          <a:solidFill>
            <a:srgbClr val="ECEAE4"/>
          </a:solidFill>
          <a:ln w="12700">
            <a:solidFill>
              <a:srgbClr val="ECEAE4"/>
            </a:solidFill>
            <a:prstDash val="solid"/>
          </a:ln>
        </p:spPr>
        <p:txBody>
          <a:bodyPr/>
          <a:p/>
        </p:txBody>
      </p:sp>
      <p:sp>
        <p:nvSpPr>
          <p:cNvPr id="12" name="Shape 10"/>
          <p:cNvSpPr/>
          <p:nvPr/>
        </p:nvSpPr>
        <p:spPr>
          <a:xfrm>
            <a:off x="594360" y="3383280"/>
            <a:ext cx="82296" cy="960120"/>
          </a:xfrm>
          <a:prstGeom prst="rect">
            <a:avLst/>
          </a:prstGeom>
          <a:solidFill>
            <a:srgbClr val="4A2D8C"/>
          </a:solidFill>
          <a:ln w="12700">
            <a:solidFill>
              <a:srgbClr val="4A2D8C"/>
            </a:solidFill>
            <a:prstDash val="solid"/>
          </a:ln>
        </p:spPr>
        <p:txBody>
          <a:bodyPr/>
          <a:p/>
        </p:txBody>
      </p:sp>
      <p:sp>
        <p:nvSpPr>
          <p:cNvPr id="13" name="Text 11"/>
          <p:cNvSpPr/>
          <p:nvPr/>
        </p:nvSpPr>
        <p:spPr>
          <a:xfrm>
            <a:off x="914400" y="3383280"/>
            <a:ext cx="4937760" cy="9601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dovezi suficiente că vaccinul funcționează</a:t>
            </a:r>
            <a:endParaRPr lang="en-US" sz="1700" dirty="0"/>
          </a:p>
        </p:txBody>
      </p:sp>
      <p:sp>
        <p:nvSpPr>
          <p:cNvPr id="14" name="Shape 12"/>
          <p:cNvSpPr/>
          <p:nvPr/>
        </p:nvSpPr>
        <p:spPr>
          <a:xfrm>
            <a:off x="6172200" y="3383280"/>
            <a:ext cx="5394960" cy="960120"/>
          </a:xfrm>
          <a:prstGeom prst="roundRect">
            <a:avLst>
              <a:gd name="adj" fmla="val 8571"/>
            </a:avLst>
          </a:prstGeom>
          <a:solidFill>
            <a:srgbClr val="F9F8F5"/>
          </a:solidFill>
          <a:ln w="12700">
            <a:solidFill>
              <a:srgbClr val="F9F8F5"/>
            </a:solidFill>
            <a:prstDash val="solid"/>
          </a:ln>
        </p:spPr>
        <p:txBody>
          <a:bodyPr/>
          <a:p/>
        </p:txBody>
      </p:sp>
      <p:sp>
        <p:nvSpPr>
          <p:cNvPr id="15" name="Shape 13"/>
          <p:cNvSpPr/>
          <p:nvPr/>
        </p:nvSpPr>
        <p:spPr>
          <a:xfrm>
            <a:off x="6172200" y="3383280"/>
            <a:ext cx="82296" cy="960120"/>
          </a:xfrm>
          <a:prstGeom prst="rect">
            <a:avLst/>
          </a:prstGeom>
          <a:solidFill>
            <a:srgbClr val="4A2D8C"/>
          </a:solidFill>
          <a:ln w="12700">
            <a:solidFill>
              <a:srgbClr val="4A2D8C"/>
            </a:solidFill>
            <a:prstDash val="solid"/>
          </a:ln>
        </p:spPr>
        <p:txBody>
          <a:bodyPr/>
          <a:p/>
        </p:txBody>
      </p:sp>
      <p:sp>
        <p:nvSpPr>
          <p:cNvPr id="16" name="Text 14"/>
          <p:cNvSpPr/>
          <p:nvPr/>
        </p:nvSpPr>
        <p:spPr>
          <a:xfrm>
            <a:off x="6492240" y="3383280"/>
            <a:ext cx="4937760" cy="9601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vaccinul este disponibil și ușor de obținut, fără cost</a:t>
            </a:r>
            <a:endParaRPr lang="en-US" sz="1700" dirty="0"/>
          </a:p>
        </p:txBody>
      </p:sp>
      <p:sp>
        <p:nvSpPr>
          <p:cNvPr id="17" name="Shape 15"/>
          <p:cNvSpPr/>
          <p:nvPr/>
        </p:nvSpPr>
        <p:spPr>
          <a:xfrm>
            <a:off x="594360" y="4526280"/>
            <a:ext cx="5394960" cy="960120"/>
          </a:xfrm>
          <a:prstGeom prst="roundRect">
            <a:avLst>
              <a:gd name="adj" fmla="val 8571"/>
            </a:avLst>
          </a:prstGeom>
          <a:solidFill>
            <a:srgbClr val="ECEAE4"/>
          </a:solidFill>
          <a:ln w="12700">
            <a:solidFill>
              <a:srgbClr val="ECEAE4"/>
            </a:solidFill>
            <a:prstDash val="solid"/>
          </a:ln>
        </p:spPr>
        <p:txBody>
          <a:bodyPr/>
          <a:p/>
        </p:txBody>
      </p:sp>
      <p:sp>
        <p:nvSpPr>
          <p:cNvPr id="18" name="Shape 16"/>
          <p:cNvSpPr/>
          <p:nvPr/>
        </p:nvSpPr>
        <p:spPr>
          <a:xfrm>
            <a:off x="594360" y="4526280"/>
            <a:ext cx="82296" cy="960120"/>
          </a:xfrm>
          <a:prstGeom prst="rect">
            <a:avLst/>
          </a:prstGeom>
          <a:solidFill>
            <a:srgbClr val="4A2D8C"/>
          </a:solidFill>
          <a:ln w="12700">
            <a:solidFill>
              <a:srgbClr val="4A2D8C"/>
            </a:solidFill>
            <a:prstDash val="solid"/>
          </a:ln>
        </p:spPr>
        <p:txBody>
          <a:bodyPr/>
          <a:p/>
        </p:txBody>
      </p:sp>
      <p:sp>
        <p:nvSpPr>
          <p:cNvPr id="19" name="Text 17"/>
          <p:cNvSpPr/>
          <p:nvPr/>
        </p:nvSpPr>
        <p:spPr>
          <a:xfrm>
            <a:off x="914400" y="4526280"/>
            <a:ext cx="4937760" cy="9601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se ține cont de efectul asupra încrederii publice</a:t>
            </a:r>
            <a:endParaRPr lang="en-US" sz="1700" dirty="0"/>
          </a:p>
        </p:txBody>
      </p:sp>
      <p:sp>
        <p:nvSpPr>
          <p:cNvPr id="20" name="Shape 18"/>
          <p:cNvSpPr/>
          <p:nvPr/>
        </p:nvSpPr>
        <p:spPr>
          <a:xfrm>
            <a:off x="6172200" y="4526280"/>
            <a:ext cx="5394960" cy="960120"/>
          </a:xfrm>
          <a:prstGeom prst="roundRect">
            <a:avLst>
              <a:gd name="adj" fmla="val 8571"/>
            </a:avLst>
          </a:prstGeom>
          <a:solidFill>
            <a:srgbClr val="F9F8F5"/>
          </a:solidFill>
          <a:ln w="12700">
            <a:solidFill>
              <a:srgbClr val="F9F8F5"/>
            </a:solidFill>
            <a:prstDash val="solid"/>
          </a:ln>
        </p:spPr>
        <p:txBody>
          <a:bodyPr/>
          <a:p/>
        </p:txBody>
      </p:sp>
      <p:sp>
        <p:nvSpPr>
          <p:cNvPr id="21" name="Shape 19"/>
          <p:cNvSpPr/>
          <p:nvPr/>
        </p:nvSpPr>
        <p:spPr>
          <a:xfrm>
            <a:off x="6172200" y="4526280"/>
            <a:ext cx="82296" cy="960120"/>
          </a:xfrm>
          <a:prstGeom prst="rect">
            <a:avLst/>
          </a:prstGeom>
          <a:solidFill>
            <a:srgbClr val="4A2D8C"/>
          </a:solidFill>
          <a:ln w="12700">
            <a:solidFill>
              <a:srgbClr val="4A2D8C"/>
            </a:solidFill>
            <a:prstDash val="solid"/>
          </a:ln>
        </p:spPr>
        <p:txBody>
          <a:bodyPr/>
          <a:p/>
        </p:txBody>
      </p:sp>
      <p:sp>
        <p:nvSpPr>
          <p:cNvPr id="22" name="Text 20"/>
          <p:cNvSpPr/>
          <p:nvPr/>
        </p:nvSpPr>
        <p:spPr>
          <a:xfrm>
            <a:off x="6492240" y="4526280"/>
            <a:ext cx="4937760" cy="9601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decizia se ia printr-un proces corect și transparent</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Proporționalitatea</a:t>
            </a:r>
            <a:endParaRPr lang="en-US" sz="3400" dirty="0"/>
          </a:p>
        </p:txBody>
      </p:sp>
      <p:sp>
        <p:nvSpPr>
          <p:cNvPr id="4" name="Text 2"/>
          <p:cNvSpPr/>
          <p:nvPr/>
        </p:nvSpPr>
        <p:spPr>
          <a:xfrm>
            <a:off x="594360" y="1417320"/>
            <a:ext cx="10972800" cy="914400"/>
          </a:xfrm>
          <a:prstGeom prst="rect">
            <a:avLst/>
          </a:prstGeom>
          <a:noFill/>
          <a:ln/>
        </p:spPr>
        <p:txBody>
          <a:bodyPr wrap="square" lIns="0" tIns="0" rIns="0" bIns="0" rtlCol="0" anchor="ctr"/>
          <a:lstStyle/>
          <a:p>
            <a:pPr indent="0" marL="0">
              <a:buNone/>
            </a:pPr>
            <a:r>
              <a:rPr lang="en-US" sz="3400" b="1" dirty="0">
                <a:solidFill>
                  <a:srgbClr val="27D3BE"/>
                </a:solidFill>
                <a:latin typeface="Palatino Linotype" pitchFamily="34" charset="0"/>
                <a:ea typeface="Palatino Linotype" pitchFamily="34" charset="-122"/>
                <a:cs typeface="Palatino Linotype" pitchFamily="34" charset="-120"/>
              </a:rPr>
              <a:t>„Nu tragi cu tunul în vrăbii.”</a:t>
            </a:r>
            <a:endParaRPr lang="en-US" sz="3400" dirty="0"/>
          </a:p>
        </p:txBody>
      </p:sp>
      <p:sp>
        <p:nvSpPr>
          <p:cNvPr id="5" name="Shape 3"/>
          <p:cNvSpPr/>
          <p:nvPr/>
        </p:nvSpPr>
        <p:spPr>
          <a:xfrm>
            <a:off x="594360" y="2560320"/>
            <a:ext cx="5486400" cy="3108960"/>
          </a:xfrm>
          <a:prstGeom prst="roundRect">
            <a:avLst>
              <a:gd name="adj" fmla="val 2647"/>
            </a:avLst>
          </a:prstGeom>
          <a:solidFill>
            <a:srgbClr val="1D1F2B"/>
          </a:solidFill>
          <a:ln w="12700">
            <a:solidFill>
              <a:srgbClr val="1D1F2B"/>
            </a:solidFill>
            <a:prstDash val="solid"/>
          </a:ln>
        </p:spPr>
        <p:txBody>
          <a:bodyPr/>
          <a:p/>
        </p:txBody>
      </p:sp>
      <p:sp>
        <p:nvSpPr>
          <p:cNvPr id="6" name="Text 4"/>
          <p:cNvSpPr/>
          <p:nvPr/>
        </p:nvSpPr>
        <p:spPr>
          <a:xfrm>
            <a:off x="868680" y="2697480"/>
            <a:ext cx="4937760" cy="28346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O obligație de sănătate publică trebuie să fie necesară pentru un scop important și proporțională cu el. OMS, 2022: dacă scopul se atinge la timp cu măsuri mai puțin intruzive, obligația are o justificare etică mai slabă.</a:t>
            </a:r>
            <a:endParaRPr lang="en-US" sz="1600" dirty="0"/>
          </a:p>
        </p:txBody>
      </p:sp>
      <p:sp>
        <p:nvSpPr>
          <p:cNvPr id="7" name="Shape 5"/>
          <p:cNvSpPr/>
          <p:nvPr/>
        </p:nvSpPr>
        <p:spPr>
          <a:xfrm>
            <a:off x="6263640" y="2560320"/>
            <a:ext cx="5303520" cy="3108960"/>
          </a:xfrm>
          <a:prstGeom prst="roundRect">
            <a:avLst>
              <a:gd name="adj" fmla="val 2647"/>
            </a:avLst>
          </a:prstGeom>
          <a:solidFill>
            <a:srgbClr val="272A38"/>
          </a:solidFill>
          <a:ln w="12700">
            <a:solidFill>
              <a:srgbClr val="272A38"/>
            </a:solidFill>
            <a:prstDash val="solid"/>
          </a:ln>
        </p:spPr>
        <p:txBody>
          <a:bodyPr/>
          <a:p/>
        </p:txBody>
      </p:sp>
      <p:sp>
        <p:nvSpPr>
          <p:cNvPr id="8" name="Text 6"/>
          <p:cNvSpPr/>
          <p:nvPr/>
        </p:nvSpPr>
        <p:spPr>
          <a:xfrm>
            <a:off x="6537960" y="2697480"/>
            <a:ext cx="4754880" cy="41148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Transparența</a:t>
            </a:r>
            <a:endParaRPr lang="en-US" sz="1800" dirty="0"/>
          </a:p>
        </p:txBody>
      </p:sp>
      <p:sp>
        <p:nvSpPr>
          <p:cNvPr id="9" name="Text 7"/>
          <p:cNvSpPr/>
          <p:nvPr/>
        </p:nvSpPr>
        <p:spPr>
          <a:xfrm>
            <a:off x="6537960" y="3154680"/>
            <a:ext cx="4754880" cy="23774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De ce o obligație, cum s-a decis, ce se întâmplă cu cei care nu o respectă. O măsură corectă, dar neexplicată, poate pierde încrederea de care va fi nevoie data viitoare.</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2_rujeola_copil.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80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Copil cu erupția tipică de rujeolă</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foto CDC/NIP/Barbara Rice · domeniu public · CDC PHIL</a:t>
            </a:r>
            <a:endParaRPr lang="en-US" sz="850" dirty="0"/>
          </a:p>
        </p:txBody>
      </p:sp>
      <p:sp>
        <p:nvSpPr>
          <p:cNvPr id="6" name="Text 3"/>
          <p:cNvSpPr/>
          <p:nvPr/>
        </p:nvSpPr>
        <p:spPr>
          <a:xfrm>
            <a:off x="594360" y="347472"/>
            <a:ext cx="59436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DOUĂ TABERE · SITUAȚIE CONSTRUITĂ PENTRU CURS</a:t>
            </a:r>
            <a:endParaRPr lang="en-US" sz="1300" dirty="0"/>
          </a:p>
        </p:txBody>
      </p:sp>
      <p:sp>
        <p:nvSpPr>
          <p:cNvPr id="7" name="Text 4"/>
          <p:cNvSpPr/>
          <p:nvPr/>
        </p:nvSpPr>
        <p:spPr>
          <a:xfrm>
            <a:off x="594360" y="731520"/>
            <a:ext cx="5943600" cy="7315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Focar de rujeolă la grădiniță</a:t>
            </a:r>
            <a:endParaRPr lang="en-US" sz="3000" dirty="0"/>
          </a:p>
        </p:txBody>
      </p:sp>
      <p:sp>
        <p:nvSpPr>
          <p:cNvPr id="8" name="Text 5"/>
          <p:cNvSpPr/>
          <p:nvPr/>
        </p:nvSpPr>
        <p:spPr>
          <a:xfrm>
            <a:off x="594360" y="1463040"/>
            <a:ext cx="5943600" cy="457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O parte dintre copiii unei grădinițe nu sunt vaccinați.</a:t>
            </a:r>
            <a:endParaRPr lang="en-US" sz="1700" dirty="0"/>
          </a:p>
        </p:txBody>
      </p:sp>
      <p:sp>
        <p:nvSpPr>
          <p:cNvPr id="9" name="Shape 6"/>
          <p:cNvSpPr/>
          <p:nvPr/>
        </p:nvSpPr>
        <p:spPr>
          <a:xfrm>
            <a:off x="594360" y="2057400"/>
            <a:ext cx="5943600" cy="1234440"/>
          </a:xfrm>
          <a:prstGeom prst="roundRect">
            <a:avLst>
              <a:gd name="adj" fmla="val 6667"/>
            </a:avLst>
          </a:prstGeom>
          <a:solidFill>
            <a:srgbClr val="1D1F2B"/>
          </a:solidFill>
          <a:ln w="12700">
            <a:solidFill>
              <a:srgbClr val="1D1F2B"/>
            </a:solidFill>
            <a:prstDash val="solid"/>
          </a:ln>
        </p:spPr>
        <p:txBody>
          <a:bodyPr/>
          <a:p/>
        </p:txBody>
      </p:sp>
      <p:sp>
        <p:nvSpPr>
          <p:cNvPr id="10" name="Shape 7"/>
          <p:cNvSpPr/>
          <p:nvPr/>
        </p:nvSpPr>
        <p:spPr>
          <a:xfrm>
            <a:off x="594360" y="2057400"/>
            <a:ext cx="82296" cy="1234440"/>
          </a:xfrm>
          <a:prstGeom prst="rect">
            <a:avLst/>
          </a:prstGeom>
          <a:solidFill>
            <a:srgbClr val="FF4757"/>
          </a:solidFill>
          <a:ln w="12700">
            <a:solidFill>
              <a:srgbClr val="FF4757"/>
            </a:solidFill>
            <a:prstDash val="solid"/>
          </a:ln>
        </p:spPr>
        <p:txBody>
          <a:bodyPr/>
          <a:p/>
        </p:txBody>
      </p:sp>
      <p:sp>
        <p:nvSpPr>
          <p:cNvPr id="11" name="Text 8"/>
          <p:cNvSpPr/>
          <p:nvPr/>
        </p:nvSpPr>
        <p:spPr>
          <a:xfrm>
            <a:off x="868680" y="2148840"/>
            <a:ext cx="2286000" cy="274320"/>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STÂNGA</a:t>
            </a:r>
            <a:endParaRPr lang="en-US" sz="1300" dirty="0"/>
          </a:p>
        </p:txBody>
      </p:sp>
      <p:sp>
        <p:nvSpPr>
          <p:cNvPr id="12" name="Text 9"/>
          <p:cNvSpPr/>
          <p:nvPr/>
        </p:nvSpPr>
        <p:spPr>
          <a:xfrm>
            <a:off x="868680" y="2441448"/>
            <a:ext cx="5486400" cy="8229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„Copiii nevaccinați nu mai intră în grădiniță până trece focarul.”</a:t>
            </a:r>
            <a:endParaRPr lang="en-US" sz="1600" dirty="0"/>
          </a:p>
        </p:txBody>
      </p:sp>
      <p:sp>
        <p:nvSpPr>
          <p:cNvPr id="13" name="Shape 10"/>
          <p:cNvSpPr/>
          <p:nvPr/>
        </p:nvSpPr>
        <p:spPr>
          <a:xfrm>
            <a:off x="594360" y="3429000"/>
            <a:ext cx="5943600" cy="1234440"/>
          </a:xfrm>
          <a:prstGeom prst="roundRect">
            <a:avLst>
              <a:gd name="adj" fmla="val 6667"/>
            </a:avLst>
          </a:prstGeom>
          <a:solidFill>
            <a:srgbClr val="1D1F2B"/>
          </a:solidFill>
          <a:ln w="12700">
            <a:solidFill>
              <a:srgbClr val="1D1F2B"/>
            </a:solidFill>
            <a:prstDash val="solid"/>
          </a:ln>
        </p:spPr>
        <p:txBody>
          <a:bodyPr/>
          <a:p/>
        </p:txBody>
      </p:sp>
      <p:sp>
        <p:nvSpPr>
          <p:cNvPr id="14" name="Shape 11"/>
          <p:cNvSpPr/>
          <p:nvPr/>
        </p:nvSpPr>
        <p:spPr>
          <a:xfrm>
            <a:off x="594360" y="3429000"/>
            <a:ext cx="82296" cy="1234440"/>
          </a:xfrm>
          <a:prstGeom prst="rect">
            <a:avLst/>
          </a:prstGeom>
          <a:solidFill>
            <a:srgbClr val="27D3BE"/>
          </a:solidFill>
          <a:ln w="12700">
            <a:solidFill>
              <a:srgbClr val="27D3BE"/>
            </a:solidFill>
            <a:prstDash val="solid"/>
          </a:ln>
        </p:spPr>
        <p:txBody>
          <a:bodyPr/>
          <a:p/>
        </p:txBody>
      </p:sp>
      <p:sp>
        <p:nvSpPr>
          <p:cNvPr id="15" name="Text 12"/>
          <p:cNvSpPr/>
          <p:nvPr/>
        </p:nvSpPr>
        <p:spPr>
          <a:xfrm>
            <a:off x="868680" y="3520440"/>
            <a:ext cx="2286000" cy="27432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DREAPTA</a:t>
            </a:r>
            <a:endParaRPr lang="en-US" sz="1300" dirty="0"/>
          </a:p>
        </p:txBody>
      </p:sp>
      <p:sp>
        <p:nvSpPr>
          <p:cNvPr id="16" name="Text 13"/>
          <p:cNvSpPr/>
          <p:nvPr/>
        </p:nvSpPr>
        <p:spPr>
          <a:xfrm>
            <a:off x="868680" y="3813048"/>
            <a:ext cx="5486400" cy="8229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„Mai întâi informare, vaccinare gratuită la grădiniță și discuții cu părinții.”</a:t>
            </a:r>
            <a:endParaRPr lang="en-US" sz="1600" dirty="0"/>
          </a:p>
        </p:txBody>
      </p:sp>
      <p:sp>
        <p:nvSpPr>
          <p:cNvPr id="17" name="Text 14"/>
          <p:cNvSpPr/>
          <p:nvPr/>
        </p:nvSpPr>
        <p:spPr>
          <a:xfrm>
            <a:off x="594360" y="4892040"/>
            <a:ext cx="4206240" cy="12801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Pregătiți un singur argument; apoi câte un minut pe tabără. La final, votul: ce măsură este mai proporțională?</a:t>
            </a:r>
            <a:endParaRPr lang="en-US" sz="1500" dirty="0"/>
          </a:p>
        </p:txBody>
      </p:sp>
      <p:sp>
        <p:nvSpPr>
          <p:cNvPr id="18" name="Shape 15"/>
          <p:cNvSpPr/>
          <p:nvPr/>
        </p:nvSpPr>
        <p:spPr>
          <a:xfrm>
            <a:off x="4983480" y="4709160"/>
            <a:ext cx="1554480" cy="1554480"/>
          </a:xfrm>
          <a:prstGeom prst="roundRect">
            <a:avLst>
              <a:gd name="adj" fmla="val 5294"/>
            </a:avLst>
          </a:prstGeom>
          <a:solidFill>
            <a:srgbClr val="FFFFFF"/>
          </a:solidFill>
          <a:ln w="12700">
            <a:solidFill>
              <a:srgbClr val="FFFFFF"/>
            </a:solidFill>
            <a:prstDash val="solid"/>
          </a:ln>
        </p:spPr>
        <p:txBody>
          <a:bodyPr/>
          <a:p/>
        </p:txBody>
      </p:sp>
      <p:pic>
        <p:nvPicPr>
          <p:cNvPr id="19" name="Picture 18" descr="Mentimeter_UB_ISP_C02.png"/>
          <p:cNvPicPr>
            <a:picLocks noChangeAspect="1"/>
          </p:cNvPicPr>
          <p:nvPr/>
        </p:nvPicPr>
        <p:blipFill>
          <a:blip r:embed="rId4"/>
          <a:stretch>
            <a:fillRect/>
          </a:stretch>
        </p:blipFill>
        <p:spPr>
          <a:xfrm>
            <a:off x="5297170" y="4709160"/>
            <a:ext cx="927100" cy="927100"/>
          </a:xfrm>
          <a:prstGeom prst="rect">
            <a:avLst/>
          </a:prstGeom>
        </p:spPr>
      </p:pic>
      <p:sp>
        <p:nvSpPr>
          <p:cNvPr id="20" name="TextBox 19"/>
          <p:cNvSpPr txBox="1"/>
          <p:nvPr/>
        </p:nvSpPr>
        <p:spPr>
          <a:xfrm>
            <a:off x="5297170" y="5674360"/>
            <a:ext cx="9271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DEZBATERE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Nicio tabără nu are, în abstract, dreptate</a:t>
            </a:r>
            <a:endParaRPr lang="en-US" sz="3000" dirty="0"/>
          </a:p>
        </p:txBody>
      </p:sp>
      <p:sp>
        <p:nvSpPr>
          <p:cNvPr id="4" name="Shape 2"/>
          <p:cNvSpPr/>
          <p:nvPr/>
        </p:nvSpPr>
        <p:spPr>
          <a:xfrm>
            <a:off x="594360" y="1600200"/>
            <a:ext cx="10972800" cy="1078992"/>
          </a:xfrm>
          <a:prstGeom prst="roundRect">
            <a:avLst>
              <a:gd name="adj" fmla="val 7627"/>
            </a:avLst>
          </a:prstGeom>
          <a:solidFill>
            <a:srgbClr val="ECEAE4"/>
          </a:solidFill>
          <a:ln w="12700">
            <a:solidFill>
              <a:srgbClr val="ECEAE4"/>
            </a:solidFill>
            <a:prstDash val="solid"/>
          </a:ln>
        </p:spPr>
        <p:txBody>
          <a:bodyPr/>
          <a:p/>
        </p:txBody>
      </p:sp>
      <p:sp>
        <p:nvSpPr>
          <p:cNvPr id="5" name="Text 3"/>
          <p:cNvSpPr/>
          <p:nvPr/>
        </p:nvSpPr>
        <p:spPr>
          <a:xfrm>
            <a:off x="868680" y="1600200"/>
            <a:ext cx="5852160" cy="1078992"/>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Focarul este în desfășurare și sunt copii mici expuși?</a:t>
            </a:r>
            <a:endParaRPr lang="en-US" sz="1700" dirty="0"/>
          </a:p>
        </p:txBody>
      </p:sp>
      <p:sp>
        <p:nvSpPr>
          <p:cNvPr id="6" name="Text 4"/>
          <p:cNvSpPr/>
          <p:nvPr/>
        </p:nvSpPr>
        <p:spPr>
          <a:xfrm>
            <a:off x="6903720" y="1600200"/>
            <a:ext cx="4480560" cy="1078992"/>
          </a:xfrm>
          <a:prstGeom prst="rect">
            <a:avLst/>
          </a:prstGeom>
          <a:noFill/>
          <a:ln/>
        </p:spPr>
        <p:txBody>
          <a:bodyPr wrap="square" lIns="0" tIns="0" rIns="0" bIns="0" rtlCol="0" anchor="ctr"/>
          <a:lstStyle/>
          <a:p>
            <a:pPr indent="0" marL="0">
              <a:buNone/>
            </a:pPr>
            <a:r>
              <a:rPr lang="en-US" sz="1700" dirty="0">
                <a:solidFill>
                  <a:srgbClr val="0E7C6B"/>
                </a:solidFill>
                <a:latin typeface="Palatino Linotype" pitchFamily="34" charset="0"/>
                <a:ea typeface="Palatino Linotype" pitchFamily="34" charset="-122"/>
                <a:cs typeface="Palatino Linotype" pitchFamily="34" charset="-120"/>
              </a:rPr>
              <a:t>O măsură temporară poate fi necesară.</a:t>
            </a:r>
            <a:endParaRPr lang="en-US" sz="1700" dirty="0"/>
          </a:p>
        </p:txBody>
      </p:sp>
      <p:sp>
        <p:nvSpPr>
          <p:cNvPr id="7" name="Shape 5"/>
          <p:cNvSpPr/>
          <p:nvPr/>
        </p:nvSpPr>
        <p:spPr>
          <a:xfrm>
            <a:off x="594360" y="2834640"/>
            <a:ext cx="10972800" cy="1078992"/>
          </a:xfrm>
          <a:prstGeom prst="roundRect">
            <a:avLst>
              <a:gd name="adj" fmla="val 7627"/>
            </a:avLst>
          </a:prstGeom>
          <a:solidFill>
            <a:srgbClr val="F9F8F5"/>
          </a:solidFill>
          <a:ln w="12700">
            <a:solidFill>
              <a:srgbClr val="F9F8F5"/>
            </a:solidFill>
            <a:prstDash val="solid"/>
          </a:ln>
        </p:spPr>
        <p:txBody>
          <a:bodyPr/>
          <a:p/>
        </p:txBody>
      </p:sp>
      <p:sp>
        <p:nvSpPr>
          <p:cNvPr id="8" name="Text 6"/>
          <p:cNvSpPr/>
          <p:nvPr/>
        </p:nvSpPr>
        <p:spPr>
          <a:xfrm>
            <a:off x="868680" y="2834640"/>
            <a:ext cx="5852160" cy="1078992"/>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Se ajunge la același rezultat, la timp, cu vaccinare gratuită și informare?</a:t>
            </a:r>
            <a:endParaRPr lang="en-US" sz="1700" dirty="0"/>
          </a:p>
        </p:txBody>
      </p:sp>
      <p:sp>
        <p:nvSpPr>
          <p:cNvPr id="9" name="Text 7"/>
          <p:cNvSpPr/>
          <p:nvPr/>
        </p:nvSpPr>
        <p:spPr>
          <a:xfrm>
            <a:off x="6903720" y="2834640"/>
            <a:ext cx="4480560" cy="1078992"/>
          </a:xfrm>
          <a:prstGeom prst="rect">
            <a:avLst/>
          </a:prstGeom>
          <a:noFill/>
          <a:ln/>
        </p:spPr>
        <p:txBody>
          <a:bodyPr wrap="square" lIns="0" tIns="0" rIns="0" bIns="0" rtlCol="0" anchor="ctr"/>
          <a:lstStyle/>
          <a:p>
            <a:pPr indent="0" marL="0">
              <a:buNone/>
            </a:pPr>
            <a:r>
              <a:rPr lang="en-US" sz="1700" dirty="0">
                <a:solidFill>
                  <a:srgbClr val="0E7C6B"/>
                </a:solidFill>
                <a:latin typeface="Palatino Linotype" pitchFamily="34" charset="0"/>
                <a:ea typeface="Palatino Linotype" pitchFamily="34" charset="-122"/>
                <a:cs typeface="Palatino Linotype" pitchFamily="34" charset="-120"/>
              </a:rPr>
              <a:t>După OMS (2022), obligația are o justificare mai slabă.</a:t>
            </a:r>
            <a:endParaRPr lang="en-US" sz="1700" dirty="0"/>
          </a:p>
        </p:txBody>
      </p:sp>
      <p:sp>
        <p:nvSpPr>
          <p:cNvPr id="10" name="Shape 8"/>
          <p:cNvSpPr/>
          <p:nvPr/>
        </p:nvSpPr>
        <p:spPr>
          <a:xfrm>
            <a:off x="594360" y="4069080"/>
            <a:ext cx="10972800" cy="1078992"/>
          </a:xfrm>
          <a:prstGeom prst="roundRect">
            <a:avLst>
              <a:gd name="adj" fmla="val 7627"/>
            </a:avLst>
          </a:prstGeom>
          <a:solidFill>
            <a:srgbClr val="ECEAE4"/>
          </a:solidFill>
          <a:ln w="12700">
            <a:solidFill>
              <a:srgbClr val="ECEAE4"/>
            </a:solidFill>
            <a:prstDash val="solid"/>
          </a:ln>
        </p:spPr>
        <p:txBody>
          <a:bodyPr/>
          <a:p/>
        </p:txBody>
      </p:sp>
      <p:sp>
        <p:nvSpPr>
          <p:cNvPr id="11" name="Text 9"/>
          <p:cNvSpPr/>
          <p:nvPr/>
        </p:nvSpPr>
        <p:spPr>
          <a:xfrm>
            <a:off x="868680" y="4069080"/>
            <a:ext cx="5852160" cy="1078992"/>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Va scădea încrederea părinților în vaccinare?</a:t>
            </a:r>
            <a:endParaRPr lang="en-US" sz="1700" dirty="0"/>
          </a:p>
        </p:txBody>
      </p:sp>
      <p:sp>
        <p:nvSpPr>
          <p:cNvPr id="12" name="Text 10"/>
          <p:cNvSpPr/>
          <p:nvPr/>
        </p:nvSpPr>
        <p:spPr>
          <a:xfrm>
            <a:off x="6903720" y="4069080"/>
            <a:ext cx="4480560" cy="1078992"/>
          </a:xfrm>
          <a:prstGeom prst="rect">
            <a:avLst/>
          </a:prstGeom>
          <a:noFill/>
          <a:ln/>
        </p:spPr>
        <p:txBody>
          <a:bodyPr wrap="square" lIns="0" tIns="0" rIns="0" bIns="0" rtlCol="0" anchor="ctr"/>
          <a:lstStyle/>
          <a:p>
            <a:pPr indent="0" marL="0">
              <a:buNone/>
            </a:pPr>
            <a:r>
              <a:rPr lang="en-US" sz="1700" dirty="0">
                <a:solidFill>
                  <a:srgbClr val="0E7C6B"/>
                </a:solidFill>
                <a:latin typeface="Palatino Linotype" pitchFamily="34" charset="0"/>
                <a:ea typeface="Palatino Linotype" pitchFamily="34" charset="-122"/>
                <a:cs typeface="Palatino Linotype" pitchFamily="34" charset="-120"/>
              </a:rPr>
              <a:t>Câștigul de azi se poate pierde mâine.</a:t>
            </a:r>
            <a:endParaRPr lang="en-US" sz="1700" dirty="0"/>
          </a:p>
        </p:txBody>
      </p:sp>
      <p:sp>
        <p:nvSpPr>
          <p:cNvPr id="13" name="Text 11"/>
          <p:cNvSpPr/>
          <p:nvPr/>
        </p:nvSpPr>
        <p:spPr>
          <a:xfrm>
            <a:off x="594360" y="5440680"/>
            <a:ext cx="10972800" cy="54864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Legislația vaccinării și datele despre rujeolă: ședința a șasea și cursul despre bolile infecțioase (C10).</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CUM VORBEȘTE SĂNĂTATEA PUBLICĂ CU OAMENII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Comunicarea riscului: un schimb, nu un comunicat</a:t>
            </a:r>
            <a:endParaRPr lang="en-US" sz="3000" dirty="0"/>
          </a:p>
        </p:txBody>
      </p:sp>
      <p:sp>
        <p:nvSpPr>
          <p:cNvPr id="4" name="Shape 2"/>
          <p:cNvSpPr/>
          <p:nvPr/>
        </p:nvSpPr>
        <p:spPr>
          <a:xfrm>
            <a:off x="594360" y="1691640"/>
            <a:ext cx="3291840" cy="1188720"/>
          </a:xfrm>
          <a:prstGeom prst="roundRect">
            <a:avLst>
              <a:gd name="adj" fmla="val 6923"/>
            </a:avLst>
          </a:prstGeom>
          <a:solidFill>
            <a:srgbClr val="272A38"/>
          </a:solidFill>
          <a:ln w="12700">
            <a:solidFill>
              <a:srgbClr val="272A38"/>
            </a:solidFill>
            <a:prstDash val="solid"/>
          </a:ln>
        </p:spPr>
        <p:txBody>
          <a:bodyPr/>
          <a:p/>
        </p:txBody>
      </p:sp>
      <p:sp>
        <p:nvSpPr>
          <p:cNvPr id="5" name="Text 3"/>
          <p:cNvSpPr/>
          <p:nvPr/>
        </p:nvSpPr>
        <p:spPr>
          <a:xfrm>
            <a:off x="594360" y="1691640"/>
            <a:ext cx="3291840" cy="118872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Experți și autorități</a:t>
            </a:r>
            <a:endParaRPr lang="en-US" sz="1900" dirty="0"/>
          </a:p>
        </p:txBody>
      </p:sp>
      <p:sp>
        <p:nvSpPr>
          <p:cNvPr id="6" name="Shape 4"/>
          <p:cNvSpPr/>
          <p:nvPr/>
        </p:nvSpPr>
        <p:spPr>
          <a:xfrm>
            <a:off x="8275320" y="1691640"/>
            <a:ext cx="3291840" cy="1188720"/>
          </a:xfrm>
          <a:prstGeom prst="roundRect">
            <a:avLst>
              <a:gd name="adj" fmla="val 6923"/>
            </a:avLst>
          </a:prstGeom>
          <a:solidFill>
            <a:srgbClr val="272A38"/>
          </a:solidFill>
          <a:ln w="12700">
            <a:solidFill>
              <a:srgbClr val="272A38"/>
            </a:solidFill>
            <a:prstDash val="solid"/>
          </a:ln>
        </p:spPr>
        <p:txBody>
          <a:bodyPr/>
          <a:p/>
        </p:txBody>
      </p:sp>
      <p:sp>
        <p:nvSpPr>
          <p:cNvPr id="7" name="Text 5"/>
          <p:cNvSpPr/>
          <p:nvPr/>
        </p:nvSpPr>
        <p:spPr>
          <a:xfrm>
            <a:off x="8275320" y="1691640"/>
            <a:ext cx="3291840" cy="118872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Oamenii expuși</a:t>
            </a:r>
            <a:endParaRPr lang="en-US" sz="1900" dirty="0"/>
          </a:p>
        </p:txBody>
      </p:sp>
      <p:sp>
        <p:nvSpPr>
          <p:cNvPr id="8" name="Shape 6"/>
          <p:cNvSpPr/>
          <p:nvPr/>
        </p:nvSpPr>
        <p:spPr>
          <a:xfrm>
            <a:off x="4069080" y="1965960"/>
            <a:ext cx="4023360" cy="640080"/>
          </a:xfrm>
          <a:prstGeom prst="leftRightArrow">
            <a:avLst/>
          </a:prstGeom>
          <a:solidFill>
            <a:srgbClr val="27D3BE"/>
          </a:solidFill>
          <a:ln w="12700">
            <a:solidFill>
              <a:srgbClr val="27D3BE"/>
            </a:solidFill>
            <a:prstDash val="solid"/>
          </a:ln>
        </p:spPr>
        <p:txBody>
          <a:bodyPr/>
          <a:p/>
        </p:txBody>
      </p:sp>
      <p:sp>
        <p:nvSpPr>
          <p:cNvPr id="9" name="Text 7"/>
          <p:cNvSpPr/>
          <p:nvPr/>
        </p:nvSpPr>
        <p:spPr>
          <a:xfrm>
            <a:off x="594360" y="3154680"/>
            <a:ext cx="10972800" cy="91440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OMS: un schimb în timp real de informații, sfaturi și opinii, ca toți cei aflați în risc să poată lua decizii informate și să se poată proteja.</a:t>
            </a:r>
            <a:endParaRPr lang="en-US" sz="1800" dirty="0"/>
          </a:p>
        </p:txBody>
      </p:sp>
      <p:sp>
        <p:nvSpPr>
          <p:cNvPr id="10" name="Text 8"/>
          <p:cNvSpPr/>
          <p:nvPr/>
        </p:nvSpPr>
        <p:spPr>
          <a:xfrm>
            <a:off x="594360" y="4160520"/>
            <a:ext cx="10972800" cy="100584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Înseamnă și ascultare: ce cred oamenii, de ce nu au încredere, ce nu au înțeles. Ascunderea informațiilor, „ca să nu se creeze panică”, contrazice chiar definiția.</a:t>
            </a:r>
            <a:endParaRPr lang="en-US" sz="1800" dirty="0"/>
          </a:p>
        </p:txBody>
      </p:sp>
      <p:sp>
        <p:nvSpPr>
          <p:cNvPr id="11" name="Text 9"/>
          <p:cNvSpPr/>
          <p:nvPr/>
        </p:nvSpPr>
        <p:spPr>
          <a:xfrm>
            <a:off x="594360" y="534924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Pe larg, în ședința a cincea.</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CIFRE DIN DECUL VECHI, SCOASE DIN CURS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nu putem afirma</a:t>
            </a:r>
            <a:endParaRPr lang="en-US" sz="3200" dirty="0"/>
          </a:p>
        </p:txBody>
      </p:sp>
      <p:sp>
        <p:nvSpPr>
          <p:cNvPr id="4" name="Shape 2"/>
          <p:cNvSpPr/>
          <p:nvPr/>
        </p:nvSpPr>
        <p:spPr>
          <a:xfrm>
            <a:off x="594360" y="1554480"/>
            <a:ext cx="10972800" cy="749808"/>
          </a:xfrm>
          <a:prstGeom prst="roundRect">
            <a:avLst>
              <a:gd name="adj" fmla="val 10976"/>
            </a:avLst>
          </a:prstGeom>
          <a:solidFill>
            <a:srgbClr val="ECEAE4"/>
          </a:solidFill>
          <a:ln w="12700">
            <a:solidFill>
              <a:srgbClr val="ECEAE4"/>
            </a:solidFill>
            <a:prstDash val="solid"/>
          </a:ln>
        </p:spPr>
        <p:txBody>
          <a:bodyPr/>
          <a:p/>
        </p:txBody>
      </p:sp>
      <p:sp>
        <p:nvSpPr>
          <p:cNvPr id="5" name="Shape 3"/>
          <p:cNvSpPr/>
          <p:nvPr/>
        </p:nvSpPr>
        <p:spPr>
          <a:xfrm>
            <a:off x="594360" y="1554480"/>
            <a:ext cx="82296" cy="749808"/>
          </a:xfrm>
          <a:prstGeom prst="rect">
            <a:avLst/>
          </a:prstGeom>
          <a:solidFill>
            <a:srgbClr val="B02532"/>
          </a:solidFill>
          <a:ln w="12700">
            <a:solidFill>
              <a:srgbClr val="B02532"/>
            </a:solidFill>
            <a:prstDash val="solid"/>
          </a:ln>
        </p:spPr>
        <p:txBody>
          <a:bodyPr/>
          <a:p/>
        </p:txBody>
      </p:sp>
      <p:sp>
        <p:nvSpPr>
          <p:cNvPr id="6" name="Text 4"/>
          <p:cNvSpPr/>
          <p:nvPr/>
        </p:nvSpPr>
        <p:spPr>
          <a:xfrm>
            <a:off x="868680" y="1554480"/>
            <a:ext cx="105156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Că proiectul Karelia de Nord a redus „cu 80%” mortalitatea prin el însuși: aceeași scădere s-a văzut în toată Finlanda.</a:t>
            </a:r>
            <a:endParaRPr lang="en-US" sz="1600" dirty="0"/>
          </a:p>
        </p:txBody>
      </p:sp>
      <p:sp>
        <p:nvSpPr>
          <p:cNvPr id="7" name="Shape 5"/>
          <p:cNvSpPr/>
          <p:nvPr/>
        </p:nvSpPr>
        <p:spPr>
          <a:xfrm>
            <a:off x="594360" y="2423160"/>
            <a:ext cx="10972800" cy="749808"/>
          </a:xfrm>
          <a:prstGeom prst="roundRect">
            <a:avLst>
              <a:gd name="adj" fmla="val 10976"/>
            </a:avLst>
          </a:prstGeom>
          <a:solidFill>
            <a:srgbClr val="F9F8F5"/>
          </a:solidFill>
          <a:ln w="12700">
            <a:solidFill>
              <a:srgbClr val="F9F8F5"/>
            </a:solidFill>
            <a:prstDash val="solid"/>
          </a:ln>
        </p:spPr>
        <p:txBody>
          <a:bodyPr/>
          <a:p/>
        </p:txBody>
      </p:sp>
      <p:sp>
        <p:nvSpPr>
          <p:cNvPr id="8" name="Shape 6"/>
          <p:cNvSpPr/>
          <p:nvPr/>
        </p:nvSpPr>
        <p:spPr>
          <a:xfrm>
            <a:off x="594360" y="2423160"/>
            <a:ext cx="82296" cy="749808"/>
          </a:xfrm>
          <a:prstGeom prst="rect">
            <a:avLst/>
          </a:prstGeom>
          <a:solidFill>
            <a:srgbClr val="B02532"/>
          </a:solidFill>
          <a:ln w="12700">
            <a:solidFill>
              <a:srgbClr val="B02532"/>
            </a:solidFill>
            <a:prstDash val="solid"/>
          </a:ln>
        </p:spPr>
        <p:txBody>
          <a:bodyPr/>
          <a:p/>
        </p:txBody>
      </p:sp>
      <p:sp>
        <p:nvSpPr>
          <p:cNvPr id="9" name="Text 7"/>
          <p:cNvSpPr/>
          <p:nvPr/>
        </p:nvSpPr>
        <p:spPr>
          <a:xfrm>
            <a:off x="868680" y="2423160"/>
            <a:ext cx="105156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Că taxa din Mexic a scăzut obezitatea cu 5,5%: cifra privește cumpărăturile de băuturi taxate.</a:t>
            </a:r>
            <a:endParaRPr lang="en-US" sz="1600" dirty="0"/>
          </a:p>
        </p:txBody>
      </p:sp>
      <p:sp>
        <p:nvSpPr>
          <p:cNvPr id="10" name="Shape 8"/>
          <p:cNvSpPr/>
          <p:nvPr/>
        </p:nvSpPr>
        <p:spPr>
          <a:xfrm>
            <a:off x="594360" y="3291840"/>
            <a:ext cx="10972800" cy="749808"/>
          </a:xfrm>
          <a:prstGeom prst="roundRect">
            <a:avLst>
              <a:gd name="adj" fmla="val 10976"/>
            </a:avLst>
          </a:prstGeom>
          <a:solidFill>
            <a:srgbClr val="ECEAE4"/>
          </a:solidFill>
          <a:ln w="12700">
            <a:solidFill>
              <a:srgbClr val="ECEAE4"/>
            </a:solidFill>
            <a:prstDash val="solid"/>
          </a:ln>
        </p:spPr>
        <p:txBody>
          <a:bodyPr/>
          <a:p/>
        </p:txBody>
      </p:sp>
      <p:sp>
        <p:nvSpPr>
          <p:cNvPr id="11" name="Shape 9"/>
          <p:cNvSpPr/>
          <p:nvPr/>
        </p:nvSpPr>
        <p:spPr>
          <a:xfrm>
            <a:off x="594360" y="3291840"/>
            <a:ext cx="82296" cy="749808"/>
          </a:xfrm>
          <a:prstGeom prst="rect">
            <a:avLst/>
          </a:prstGeom>
          <a:solidFill>
            <a:srgbClr val="B02532"/>
          </a:solidFill>
          <a:ln w="12700">
            <a:solidFill>
              <a:srgbClr val="B02532"/>
            </a:solidFill>
            <a:prstDash val="solid"/>
          </a:ln>
        </p:spPr>
        <p:txBody>
          <a:bodyPr/>
          <a:p/>
        </p:txBody>
      </p:sp>
      <p:sp>
        <p:nvSpPr>
          <p:cNvPr id="12" name="Text 10"/>
          <p:cNvSpPr/>
          <p:nvPr/>
        </p:nvSpPr>
        <p:spPr>
          <a:xfrm>
            <a:off x="868680" y="3291840"/>
            <a:ext cx="105156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Scăderile atribuite unor programe străine pentru cancerul de sân, sănătatea mintală a tinerilor sau malarie.</a:t>
            </a:r>
            <a:endParaRPr lang="en-US" sz="1600" dirty="0"/>
          </a:p>
        </p:txBody>
      </p:sp>
      <p:sp>
        <p:nvSpPr>
          <p:cNvPr id="13" name="Shape 11"/>
          <p:cNvSpPr/>
          <p:nvPr/>
        </p:nvSpPr>
        <p:spPr>
          <a:xfrm>
            <a:off x="594360" y="4160520"/>
            <a:ext cx="10972800" cy="749808"/>
          </a:xfrm>
          <a:prstGeom prst="roundRect">
            <a:avLst>
              <a:gd name="adj" fmla="val 10976"/>
            </a:avLst>
          </a:prstGeom>
          <a:solidFill>
            <a:srgbClr val="F9F8F5"/>
          </a:solidFill>
          <a:ln w="12700">
            <a:solidFill>
              <a:srgbClr val="F9F8F5"/>
            </a:solidFill>
            <a:prstDash val="solid"/>
          </a:ln>
        </p:spPr>
        <p:txBody>
          <a:bodyPr/>
          <a:p/>
        </p:txBody>
      </p:sp>
      <p:sp>
        <p:nvSpPr>
          <p:cNvPr id="14" name="Shape 12"/>
          <p:cNvSpPr/>
          <p:nvPr/>
        </p:nvSpPr>
        <p:spPr>
          <a:xfrm>
            <a:off x="594360" y="4160520"/>
            <a:ext cx="82296" cy="749808"/>
          </a:xfrm>
          <a:prstGeom prst="rect">
            <a:avLst/>
          </a:prstGeom>
          <a:solidFill>
            <a:srgbClr val="B02532"/>
          </a:solidFill>
          <a:ln w="12700">
            <a:solidFill>
              <a:srgbClr val="B02532"/>
            </a:solidFill>
            <a:prstDash val="solid"/>
          </a:ln>
        </p:spPr>
        <p:txBody>
          <a:bodyPr/>
          <a:p/>
        </p:txBody>
      </p:sp>
      <p:sp>
        <p:nvSpPr>
          <p:cNvPr id="15" name="Text 13"/>
          <p:cNvSpPr/>
          <p:nvPr/>
        </p:nvSpPr>
        <p:spPr>
          <a:xfrm>
            <a:off x="868680" y="4160520"/>
            <a:ext cx="105156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Efectele unor programe românești pentru care nu am găsit o evaluare publicată.</a:t>
            </a:r>
            <a:endParaRPr lang="en-US" sz="1600" dirty="0"/>
          </a:p>
        </p:txBody>
      </p:sp>
      <p:sp>
        <p:nvSpPr>
          <p:cNvPr id="16" name="Shape 14"/>
          <p:cNvSpPr/>
          <p:nvPr/>
        </p:nvSpPr>
        <p:spPr>
          <a:xfrm>
            <a:off x="594360" y="5029200"/>
            <a:ext cx="10972800" cy="749808"/>
          </a:xfrm>
          <a:prstGeom prst="roundRect">
            <a:avLst>
              <a:gd name="adj" fmla="val 10976"/>
            </a:avLst>
          </a:prstGeom>
          <a:solidFill>
            <a:srgbClr val="ECEAE4"/>
          </a:solidFill>
          <a:ln w="12700">
            <a:solidFill>
              <a:srgbClr val="ECEAE4"/>
            </a:solidFill>
            <a:prstDash val="solid"/>
          </a:ln>
        </p:spPr>
        <p:txBody>
          <a:bodyPr/>
          <a:p/>
        </p:txBody>
      </p:sp>
      <p:sp>
        <p:nvSpPr>
          <p:cNvPr id="17" name="Shape 15"/>
          <p:cNvSpPr/>
          <p:nvPr/>
        </p:nvSpPr>
        <p:spPr>
          <a:xfrm>
            <a:off x="594360" y="5029200"/>
            <a:ext cx="82296" cy="749808"/>
          </a:xfrm>
          <a:prstGeom prst="rect">
            <a:avLst/>
          </a:prstGeom>
          <a:solidFill>
            <a:srgbClr val="B02532"/>
          </a:solidFill>
          <a:ln w="12700">
            <a:solidFill>
              <a:srgbClr val="B02532"/>
            </a:solidFill>
            <a:prstDash val="solid"/>
          </a:ln>
        </p:spPr>
        <p:txBody>
          <a:bodyPr/>
          <a:p/>
        </p:txBody>
      </p:sp>
      <p:sp>
        <p:nvSpPr>
          <p:cNvPr id="18" name="Text 16"/>
          <p:cNvSpPr/>
          <p:nvPr/>
        </p:nvSpPr>
        <p:spPr>
          <a:xfrm>
            <a:off x="868680" y="5029200"/>
            <a:ext cx="105156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Ultimul caz de poliomielită din România și epidemia recentă de rujeolă: le verificăm pentru cursul despre bolile infecțioase.</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ALEGEȚI O ÎNTREBARE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FACEȚI DIFERIT DE MÂINE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Luni dimineață, în fața unei „măsuri de sănătate”</a:t>
            </a:r>
            <a:endParaRPr lang="en-US" sz="3000" dirty="0"/>
          </a:p>
        </p:txBody>
      </p:sp>
      <p:sp>
        <p:nvSpPr>
          <p:cNvPr id="6" name="Text 4"/>
          <p:cNvSpPr/>
          <p:nvPr/>
        </p:nvSpPr>
        <p:spPr>
          <a:xfrm>
            <a:off x="594360" y="1417320"/>
            <a:ext cx="10972800" cy="73152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Sănătatea publică este un fel de a lucra: organizat, pentru o populație întreagă, de preferință înainte de boală.</a:t>
            </a:r>
            <a:endParaRPr lang="en-US" sz="1800" dirty="0"/>
          </a:p>
        </p:txBody>
      </p:sp>
      <p:sp>
        <p:nvSpPr>
          <p:cNvPr id="7" name="Shape 5"/>
          <p:cNvSpPr/>
          <p:nvPr/>
        </p:nvSpPr>
        <p:spPr>
          <a:xfrm>
            <a:off x="594360" y="233172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8" name="Shape 6"/>
          <p:cNvSpPr/>
          <p:nvPr/>
        </p:nvSpPr>
        <p:spPr>
          <a:xfrm>
            <a:off x="868680" y="2487168"/>
            <a:ext cx="420624" cy="420624"/>
          </a:xfrm>
          <a:prstGeom prst="ellipse">
            <a:avLst/>
          </a:prstGeom>
          <a:solidFill>
            <a:srgbClr val="FFC24B"/>
          </a:solidFill>
          <a:ln/>
        </p:spPr>
        <p:txBody>
          <a:bodyPr/>
          <a:p/>
        </p:txBody>
      </p:sp>
      <p:sp>
        <p:nvSpPr>
          <p:cNvPr id="9" name="Text 7"/>
          <p:cNvSpPr/>
          <p:nvPr/>
        </p:nvSpPr>
        <p:spPr>
          <a:xfrm>
            <a:off x="868680" y="24871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508760" y="2331720"/>
            <a:ext cx="978408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Este o măsură pentru un om sau pentru o populație?</a:t>
            </a:r>
            <a:endParaRPr lang="en-US" sz="1900" dirty="0"/>
          </a:p>
        </p:txBody>
      </p:sp>
      <p:sp>
        <p:nvSpPr>
          <p:cNvPr id="11" name="Shape 9"/>
          <p:cNvSpPr/>
          <p:nvPr/>
        </p:nvSpPr>
        <p:spPr>
          <a:xfrm>
            <a:off x="594360" y="320040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2" name="Shape 10"/>
          <p:cNvSpPr/>
          <p:nvPr/>
        </p:nvSpPr>
        <p:spPr>
          <a:xfrm>
            <a:off x="868680" y="3355848"/>
            <a:ext cx="420624" cy="420624"/>
          </a:xfrm>
          <a:prstGeom prst="ellipse">
            <a:avLst/>
          </a:prstGeom>
          <a:solidFill>
            <a:srgbClr val="FFC24B"/>
          </a:solidFill>
          <a:ln/>
        </p:spPr>
        <p:txBody>
          <a:bodyPr/>
          <a:p/>
        </p:txBody>
      </p:sp>
      <p:sp>
        <p:nvSpPr>
          <p:cNvPr id="13" name="Text 11"/>
          <p:cNvSpPr/>
          <p:nvPr/>
        </p:nvSpPr>
        <p:spPr>
          <a:xfrm>
            <a:off x="868680" y="3355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508760" y="3200400"/>
            <a:ext cx="978408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Ține de deprinderile personale sau schimbă mediul în care alegem?</a:t>
            </a:r>
            <a:endParaRPr lang="en-US" sz="1900" dirty="0"/>
          </a:p>
        </p:txBody>
      </p:sp>
      <p:sp>
        <p:nvSpPr>
          <p:cNvPr id="15" name="Shape 13"/>
          <p:cNvSpPr/>
          <p:nvPr/>
        </p:nvSpPr>
        <p:spPr>
          <a:xfrm>
            <a:off x="594360" y="40690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6" name="Shape 14"/>
          <p:cNvSpPr/>
          <p:nvPr/>
        </p:nvSpPr>
        <p:spPr>
          <a:xfrm>
            <a:off x="868680" y="4224528"/>
            <a:ext cx="420624" cy="420624"/>
          </a:xfrm>
          <a:prstGeom prst="ellipse">
            <a:avLst/>
          </a:prstGeom>
          <a:solidFill>
            <a:srgbClr val="FFC24B"/>
          </a:solidFill>
          <a:ln/>
        </p:spPr>
        <p:txBody>
          <a:bodyPr/>
          <a:p/>
        </p:txBody>
      </p:sp>
      <p:sp>
        <p:nvSpPr>
          <p:cNvPr id="17" name="Text 15"/>
          <p:cNvSpPr/>
          <p:nvPr/>
        </p:nvSpPr>
        <p:spPr>
          <a:xfrm>
            <a:off x="868680" y="4224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508760" y="4069080"/>
            <a:ext cx="978408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Este proporțională cu problema și cine a explicat de ce?</a:t>
            </a:r>
            <a:endParaRPr lang="en-US" sz="1900" dirty="0"/>
          </a:p>
        </p:txBody>
      </p:sp>
      <p:sp>
        <p:nvSpPr>
          <p:cNvPr id="19" name="Text 17"/>
          <p:cNvSpPr/>
          <p:nvPr/>
        </p:nvSpPr>
        <p:spPr>
          <a:xfrm>
            <a:off x="594360" y="5120640"/>
            <a:ext cx="10972800" cy="822960"/>
          </a:xfrm>
          <a:prstGeom prst="rect">
            <a:avLst/>
          </a:prstGeom>
          <a:noFill/>
          <a:ln/>
        </p:spPr>
        <p:txBody>
          <a:bodyPr wrap="square" lIns="0" tIns="0" rIns="0" bIns="0" rtlCol="0" anchor="t"/>
          <a:lstStyle/>
          <a:p>
            <a:pPr indent="0" marL="0">
              <a:buNone/>
            </a:pPr>
            <a:r>
              <a:rPr lang="en-US" sz="1700" i="1" dirty="0">
                <a:solidFill>
                  <a:srgbClr val="27D3BE"/>
                </a:solidFill>
                <a:latin typeface="Palatino Linotype" pitchFamily="34" charset="0"/>
                <a:ea typeface="Palatino Linotype" pitchFamily="34" charset="-122"/>
                <a:cs typeface="Palatino Linotype" pitchFamily="34" charset="-120"/>
              </a:rPr>
              <a:t>Ședința a treia: dacă succesul este o absență, cum îl numărăm? Despre date: de unde vin, cine le strânge, cât ne putem baza pe ele.</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42062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33172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16" name="Text 14"/>
          <p:cNvSpPr/>
          <p:nvPr/>
        </p:nvSpPr>
        <p:spPr>
          <a:xfrm>
            <a:off x="594360" y="548640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Mentimeter, anonim. Răspunsurile stau la baza modificărilor anunțate la începutul ședinței următoare.</a:t>
            </a:r>
            <a:endParaRPr lang="en-US" sz="1700" dirty="0"/>
          </a:p>
        </p:txBody>
      </p:sp>
      <p:pic>
        <p:nvPicPr>
          <p:cNvPr id="17" name="Picture 16" descr="Mentimeter_UB_ISP_C02.png"/>
          <p:cNvPicPr>
            <a:picLocks noChangeAspect="1"/>
          </p:cNvPicPr>
          <p:nvPr/>
        </p:nvPicPr>
        <p:blipFill>
          <a:blip r:embed="rId3"/>
          <a:stretch>
            <a:fillRect/>
          </a:stretch>
        </p:blipFill>
        <p:spPr>
          <a:xfrm>
            <a:off x="8863330" y="2331720"/>
            <a:ext cx="2390140" cy="2390140"/>
          </a:xfrm>
          <a:prstGeom prst="rect">
            <a:avLst/>
          </a:prstGeom>
        </p:spPr>
      </p:pic>
      <p:sp>
        <p:nvSpPr>
          <p:cNvPr id="18" name="TextBox 17"/>
          <p:cNvSpPr txBox="1"/>
          <p:nvPr/>
        </p:nvSpPr>
        <p:spPr>
          <a:xfrm>
            <a:off x="8863330" y="4759960"/>
            <a:ext cx="23901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2 - Ce este sănătatea publică?</dc:title>
  <dc:subject>PptxGenJS Presentation</dc:subject>
  <dc:creator>Conf. Univ. Dr. Adrian Pana</dc:creator>
  <cp:lastModifiedBy>Conf. Univ. Dr. Adrian Pana</cp:lastModifiedBy>
  <cp:revision>1</cp:revision>
  <dcterms:created xsi:type="dcterms:W3CDTF">2026-10-11T10:02:35Z</dcterms:created>
  <dcterms:modified xsi:type="dcterms:W3CDTF">2026-10-11T10:02:35Z</dcterms:modified>
  <cp:keywords>sursa_amprenta=67f81aeea2ba573b; proiectie</cp:keywords>
</cp:coreProperties>
</file>